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1.xml" ContentType="application/inkml+xml"/>
  <Override PartName="/ppt/ink/ink2.xml" ContentType="application/inkml+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6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sldSz cx="9144000" cy="6858000" type="screen4x3"/>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12T13:03:16.45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0 166,'802'0,"-755"2,0 3,72 16,-67-10,81 5,244-15,-174-3,-86 3,137-3,-179-7,1-3,-2-3,74-25,-116 30,22-2,79-8,-68 11,7 3,101 2,15 0,-91-3,349-36,-87 16,-2 26,-243 2,229 28,-57-2,-221-26,-19 0,0 1,46 10,92 16,203 5,-269-28,148 12,-44-6,-200-11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12T13:03:19.93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0 247,'3'2,"1"0,-1 0,1 0,-1 0,1 0,0-1,0 1,-1-1,1 0,5 0,1 2,71 14,97 8,-69-12,-92-10,318 39,4-25,704-19,-634 2,-115-14,19 0,-298 15,1 1,-1 0,0 0,0 2,0 0,26 11,-32-12,0 0,0-1,0-1,0 0,0 0,1-1,-1 0,0 0,0-1,1 0,8-3,-6 2,259-46,-123 20,153-10,-138 35,-95 4,95-11,674-97,-711 91,300-44,-166 29,-153 21,493-28,-184 39,-393-1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44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180013" y="0"/>
            <a:ext cx="3962400" cy="3444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6513513"/>
            <a:ext cx="3962400" cy="3444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1: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3: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4: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 name="Google Shape;121;p5: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5: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6: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6: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7: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7: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8: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8: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9: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9: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0: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10: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1: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11: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3: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13: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4: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14: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5: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5: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6: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16: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7: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17: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8: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18: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9: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19: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0: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p20: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1: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0" name="Google Shape;250;p21: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2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3: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23: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4: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24: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5: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p25: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6: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7" name="Google Shape;287;p26: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7: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3" name="Google Shape;293;p27: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28: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p28: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28: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9: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p29: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30: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8" name="Google Shape;318;p30: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31: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31: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3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3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33: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1" name="Google Shape;341;p33: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34: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p34: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35: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3" name="Google Shape;353;p35: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36: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9" name="Google Shape;359;p36: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37: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5" name="Google Shape;365;p37: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38: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1" name="Google Shape;371;p38: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39: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39: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40: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4" name="Google Shape;384;p40: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41: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0" name="Google Shape;390;p41: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1" name="Google Shape;391;p41: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4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8" name="Google Shape;398;p4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43: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5" name="Google Shape;405;p43: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44: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2" name="Google Shape;412;p44: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45: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9" name="Google Shape;419;p45: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46: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6" name="Google Shape;426;p46: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47: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3" name="Google Shape;433;p47: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48: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9" name="Google Shape;439;p48: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49: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9: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50: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1" name="Google Shape;451;p50: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51: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8" name="Google Shape;458;p51: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5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5" name="Google Shape;465;p5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53: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2" name="Google Shape;472;p53: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54: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0" name="Google Shape;480;p54: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55: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7" name="Google Shape;487;p55: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56: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5" name="Google Shape;495;p56: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57: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2" name="Google Shape;502;p57: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58: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0" name="Google Shape;510;p58: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59: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8" name="Google Shape;518;p59: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60: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4" name="Google Shape;524;p60: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61: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1" name="Google Shape;531;p61: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6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0" name="Google Shape;560;p6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63: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6" name="Google Shape;566;p63: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64: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2" name="Google Shape;572;p64: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65: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8" name="Google Shape;578;p65: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66: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5" name="Google Shape;585;p66: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p67: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1" name="Google Shape;591;p67: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2"/>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9" name="Google Shape;19;p2"/>
          <p:cNvSpPr txBox="1">
            <a:spLocks noGrp="1"/>
          </p:cNvSpPr>
          <p:nvPr>
            <p:ph type="dt" idx="10"/>
          </p:nvPr>
        </p:nvSpPr>
        <p:spPr>
          <a:xfrm>
            <a:off x="768097" y="6470704"/>
            <a:ext cx="1615607"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ftr" idx="11"/>
          </p:nvPr>
        </p:nvSpPr>
        <p:spPr>
          <a:xfrm>
            <a:off x="3632200" y="6470704"/>
            <a:ext cx="4426094"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8128000" y="6470704"/>
            <a:ext cx="730250" cy="274320"/>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22"/>
        <p:cNvGrpSpPr/>
        <p:nvPr/>
      </p:nvGrpSpPr>
      <p:grpSpPr>
        <a:xfrm>
          <a:off x="0" y="0"/>
          <a:ext cx="0" cy="0"/>
          <a:chOff x="0" y="0"/>
          <a:chExt cx="0" cy="0"/>
        </a:xfrm>
      </p:grpSpPr>
      <p:sp>
        <p:nvSpPr>
          <p:cNvPr id="23" name="Google Shape;23;p3"/>
          <p:cNvSpPr txBox="1">
            <a:spLocks noGrp="1"/>
          </p:cNvSpPr>
          <p:nvPr>
            <p:ph type="dt" idx="10"/>
          </p:nvPr>
        </p:nvSpPr>
        <p:spPr>
          <a:xfrm>
            <a:off x="768097" y="6470704"/>
            <a:ext cx="1615607"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ftr" idx="11"/>
          </p:nvPr>
        </p:nvSpPr>
        <p:spPr>
          <a:xfrm>
            <a:off x="3632200" y="6470704"/>
            <a:ext cx="4426094"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8128000" y="6470704"/>
            <a:ext cx="730250" cy="274320"/>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4"/>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dt" idx="10"/>
          </p:nvPr>
        </p:nvSpPr>
        <p:spPr>
          <a:xfrm>
            <a:off x="768097" y="6470704"/>
            <a:ext cx="1615607"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3632200" y="6470704"/>
            <a:ext cx="4426094"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128000" y="6470704"/>
            <a:ext cx="730250" cy="274320"/>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31"/>
        <p:cNvGrpSpPr/>
        <p:nvPr/>
      </p:nvGrpSpPr>
      <p:grpSpPr>
        <a:xfrm>
          <a:off x="0" y="0"/>
          <a:ext cx="0" cy="0"/>
          <a:chOff x="0" y="0"/>
          <a:chExt cx="0" cy="0"/>
        </a:xfrm>
      </p:grpSpPr>
      <p:sp>
        <p:nvSpPr>
          <p:cNvPr id="32" name="Google Shape;32;p5"/>
          <p:cNvSpPr txBox="1">
            <a:spLocks noGrp="1"/>
          </p:cNvSpPr>
          <p:nvPr>
            <p:ph type="ctrTitle"/>
          </p:nvPr>
        </p:nvSpPr>
        <p:spPr>
          <a:xfrm>
            <a:off x="342900" y="4960137"/>
            <a:ext cx="5829300" cy="1463040"/>
          </a:xfrm>
          <a:prstGeom prst="rect">
            <a:avLst/>
          </a:prstGeom>
          <a:noFill/>
          <a:ln>
            <a:noFill/>
          </a:ln>
        </p:spPr>
        <p:txBody>
          <a:bodyPr spcFirstLastPara="1" wrap="square" lIns="91425" tIns="45700" rIns="91425" bIns="45700" anchor="ctr" anchorCtr="0">
            <a:normAutofit/>
          </a:bodyPr>
          <a:lstStyle>
            <a:lvl1pPr lvl="0" algn="r">
              <a:lnSpc>
                <a:spcPct val="80000"/>
              </a:lnSpc>
              <a:spcBef>
                <a:spcPts val="0"/>
              </a:spcBef>
              <a:spcAft>
                <a:spcPts val="0"/>
              </a:spcAft>
              <a:buClr>
                <a:srgbClr val="0C0C0C"/>
              </a:buClr>
              <a:buSzPts val="4400"/>
              <a:buFont typeface="Twentieth Century"/>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subTitle" idx="1"/>
          </p:nvPr>
        </p:nvSpPr>
        <p:spPr>
          <a:xfrm>
            <a:off x="6457950" y="4960137"/>
            <a:ext cx="2400300" cy="146304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SzPts val="1600"/>
              <a:buNone/>
              <a:defRPr sz="1600">
                <a:solidFill>
                  <a:srgbClr val="0C0C0C"/>
                </a:solidFill>
              </a:defRPr>
            </a:lvl1pPr>
            <a:lvl2pPr lvl="1" algn="ctr">
              <a:lnSpc>
                <a:spcPct val="90000"/>
              </a:lnSpc>
              <a:spcBef>
                <a:spcPts val="200"/>
              </a:spcBef>
              <a:spcAft>
                <a:spcPts val="0"/>
              </a:spcAft>
              <a:buSzPts val="1600"/>
              <a:buNone/>
              <a:defRPr sz="1600"/>
            </a:lvl2pPr>
            <a:lvl3pPr lvl="2" algn="ctr">
              <a:lnSpc>
                <a:spcPct val="90000"/>
              </a:lnSpc>
              <a:spcBef>
                <a:spcPts val="400"/>
              </a:spcBef>
              <a:spcAft>
                <a:spcPts val="0"/>
              </a:spcAft>
              <a:buSzPts val="1600"/>
              <a:buNone/>
              <a:defRPr sz="1600"/>
            </a:lvl3pPr>
            <a:lvl4pPr lvl="3" algn="ctr">
              <a:lnSpc>
                <a:spcPct val="90000"/>
              </a:lnSpc>
              <a:spcBef>
                <a:spcPts val="400"/>
              </a:spcBef>
              <a:spcAft>
                <a:spcPts val="0"/>
              </a:spcAft>
              <a:buSzPts val="1600"/>
              <a:buNone/>
              <a:defRPr sz="1600"/>
            </a:lvl4pPr>
            <a:lvl5pPr lvl="4" algn="ctr">
              <a:lnSpc>
                <a:spcPct val="90000"/>
              </a:lnSpc>
              <a:spcBef>
                <a:spcPts val="400"/>
              </a:spcBef>
              <a:spcAft>
                <a:spcPts val="0"/>
              </a:spcAft>
              <a:buSzPts val="1600"/>
              <a:buNone/>
              <a:defRPr sz="1600"/>
            </a:lvl5pPr>
            <a:lvl6pPr lvl="5" algn="ctr">
              <a:lnSpc>
                <a:spcPct val="90000"/>
              </a:lnSpc>
              <a:spcBef>
                <a:spcPts val="400"/>
              </a:spcBef>
              <a:spcAft>
                <a:spcPts val="0"/>
              </a:spcAft>
              <a:buSzPts val="1600"/>
              <a:buNone/>
              <a:defRPr sz="1600"/>
            </a:lvl6pPr>
            <a:lvl7pPr lvl="6" algn="ctr">
              <a:lnSpc>
                <a:spcPct val="90000"/>
              </a:lnSpc>
              <a:spcBef>
                <a:spcPts val="400"/>
              </a:spcBef>
              <a:spcAft>
                <a:spcPts val="0"/>
              </a:spcAft>
              <a:buSzPts val="1600"/>
              <a:buNone/>
              <a:defRPr sz="1600"/>
            </a:lvl7pPr>
            <a:lvl8pPr lvl="7" algn="ctr">
              <a:lnSpc>
                <a:spcPct val="90000"/>
              </a:lnSpc>
              <a:spcBef>
                <a:spcPts val="400"/>
              </a:spcBef>
              <a:spcAft>
                <a:spcPts val="0"/>
              </a:spcAft>
              <a:buSzPts val="1600"/>
              <a:buNone/>
              <a:defRPr sz="1600"/>
            </a:lvl8pPr>
            <a:lvl9pPr lvl="8" algn="ctr">
              <a:lnSpc>
                <a:spcPct val="90000"/>
              </a:lnSpc>
              <a:spcBef>
                <a:spcPts val="400"/>
              </a:spcBef>
              <a:spcAft>
                <a:spcPts val="400"/>
              </a:spcAft>
              <a:buSzPts val="1600"/>
              <a:buNone/>
              <a:defRPr sz="1600"/>
            </a:lvl9pPr>
          </a:lstStyle>
          <a:p>
            <a:endParaRPr/>
          </a:p>
        </p:txBody>
      </p:sp>
      <p:sp>
        <p:nvSpPr>
          <p:cNvPr id="34" name="Google Shape;34;p5"/>
          <p:cNvSpPr txBox="1">
            <a:spLocks noGrp="1"/>
          </p:cNvSpPr>
          <p:nvPr>
            <p:ph type="dt" idx="10"/>
          </p:nvPr>
        </p:nvSpPr>
        <p:spPr>
          <a:xfrm>
            <a:off x="768097" y="6470704"/>
            <a:ext cx="1615607"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3632200" y="6470704"/>
            <a:ext cx="4426094"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8128000" y="6470704"/>
            <a:ext cx="730250" cy="274320"/>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37" name="Google Shape;37;p5"/>
          <p:cNvSpPr/>
          <p:nvPr/>
        </p:nvSpPr>
        <p:spPr>
          <a:xfrm>
            <a:off x="0" y="0"/>
            <a:ext cx="9144000" cy="4572001"/>
          </a:xfrm>
          <a:prstGeom prst="rect">
            <a:avLst/>
          </a:prstGeom>
          <a:blipFill rotWithShape="1">
            <a:blip r:embed="rId2">
              <a:alphaModFix/>
            </a:blip>
            <a:tile tx="-165100" ty="-76200" sx="35000" sy="35000" flip="none" algn="tl"/>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8" name="Google Shape;38;p5"/>
          <p:cNvCxnSpPr/>
          <p:nvPr/>
        </p:nvCxnSpPr>
        <p:spPr>
          <a:xfrm rot="10800000">
            <a:off x="6290132" y="5264106"/>
            <a:ext cx="0" cy="914400"/>
          </a:xfrm>
          <a:prstGeom prst="straightConnector1">
            <a:avLst/>
          </a:prstGeom>
          <a:noFill/>
          <a:ln w="19050" cap="flat" cmpd="sng">
            <a:solidFill>
              <a:schemeClr val="accent2"/>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342900" y="4960137"/>
            <a:ext cx="5829300" cy="1463040"/>
          </a:xfrm>
          <a:prstGeom prst="rect">
            <a:avLst/>
          </a:prstGeom>
          <a:noFill/>
          <a:ln>
            <a:noFill/>
          </a:ln>
        </p:spPr>
        <p:txBody>
          <a:bodyPr spcFirstLastPara="1" wrap="square" lIns="91425" tIns="45700" rIns="91425" bIns="45700" anchor="ctr" anchorCtr="0">
            <a:normAutofit/>
          </a:bodyPr>
          <a:lstStyle>
            <a:lvl1pPr lvl="0" algn="r">
              <a:lnSpc>
                <a:spcPct val="80000"/>
              </a:lnSpc>
              <a:spcBef>
                <a:spcPts val="0"/>
              </a:spcBef>
              <a:spcAft>
                <a:spcPts val="0"/>
              </a:spcAft>
              <a:buClr>
                <a:srgbClr val="0C0C0C"/>
              </a:buClr>
              <a:buSzPts val="4400"/>
              <a:buFont typeface="Twentieth Century"/>
              <a:buNone/>
              <a:defRPr sz="44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6"/>
          <p:cNvSpPr txBox="1">
            <a:spLocks noGrp="1"/>
          </p:cNvSpPr>
          <p:nvPr>
            <p:ph type="body" idx="1"/>
          </p:nvPr>
        </p:nvSpPr>
        <p:spPr>
          <a:xfrm>
            <a:off x="6457950" y="4960137"/>
            <a:ext cx="2400300" cy="146304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SzPts val="1600"/>
              <a:buNone/>
              <a:defRPr sz="1600">
                <a:solidFill>
                  <a:srgbClr val="0C0C0C"/>
                </a:solidFill>
              </a:defRPr>
            </a:lvl1pPr>
            <a:lvl2pPr marL="914400" lvl="1" indent="-228600" algn="l">
              <a:lnSpc>
                <a:spcPct val="90000"/>
              </a:lnSpc>
              <a:spcBef>
                <a:spcPts val="200"/>
              </a:spcBef>
              <a:spcAft>
                <a:spcPts val="0"/>
              </a:spcAft>
              <a:buSzPts val="1600"/>
              <a:buNone/>
              <a:defRPr sz="16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42" name="Google Shape;42;p6"/>
          <p:cNvSpPr txBox="1">
            <a:spLocks noGrp="1"/>
          </p:cNvSpPr>
          <p:nvPr>
            <p:ph type="dt" idx="10"/>
          </p:nvPr>
        </p:nvSpPr>
        <p:spPr>
          <a:xfrm>
            <a:off x="768097" y="6470704"/>
            <a:ext cx="1615607"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3632200" y="6470704"/>
            <a:ext cx="4426094"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8128000" y="6470704"/>
            <a:ext cx="730250" cy="274320"/>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45" name="Google Shape;45;p6"/>
          <p:cNvSpPr/>
          <p:nvPr/>
        </p:nvSpPr>
        <p:spPr>
          <a:xfrm>
            <a:off x="0" y="0"/>
            <a:ext cx="9144000" cy="4572000"/>
          </a:xfrm>
          <a:prstGeom prst="rect">
            <a:avLst/>
          </a:prstGeom>
          <a:blipFill rotWithShape="1">
            <a:blip r:embed="rId2">
              <a:alphaModFix/>
            </a:blip>
            <a:tile tx="-165100" ty="-76200" sx="35000" sy="35000" flip="none" algn="tl"/>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 name="Google Shape;46;p6"/>
          <p:cNvCxnSpPr/>
          <p:nvPr/>
        </p:nvCxnSpPr>
        <p:spPr>
          <a:xfrm rot="10800000">
            <a:off x="6290132" y="5264106"/>
            <a:ext cx="0" cy="914400"/>
          </a:xfrm>
          <a:prstGeom prst="straightConnector1">
            <a:avLst/>
          </a:prstGeom>
          <a:noFill/>
          <a:ln w="19050" cap="flat" cmpd="sng">
            <a:solidFill>
              <a:schemeClr val="accent1"/>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7"/>
          <p:cNvSpPr txBox="1">
            <a:spLocks noGrp="1"/>
          </p:cNvSpPr>
          <p:nvPr>
            <p:ph type="body" idx="1"/>
          </p:nvPr>
        </p:nvSpPr>
        <p:spPr>
          <a:xfrm>
            <a:off x="768096" y="2286000"/>
            <a:ext cx="3566160" cy="402336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0" name="Google Shape;50;p7"/>
          <p:cNvSpPr txBox="1">
            <a:spLocks noGrp="1"/>
          </p:cNvSpPr>
          <p:nvPr>
            <p:ph type="body" idx="2"/>
          </p:nvPr>
        </p:nvSpPr>
        <p:spPr>
          <a:xfrm>
            <a:off x="4491990" y="2286000"/>
            <a:ext cx="3566160" cy="402336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1" name="Google Shape;51;p7"/>
          <p:cNvSpPr txBox="1">
            <a:spLocks noGrp="1"/>
          </p:cNvSpPr>
          <p:nvPr>
            <p:ph type="dt" idx="10"/>
          </p:nvPr>
        </p:nvSpPr>
        <p:spPr>
          <a:xfrm>
            <a:off x="768097" y="6470704"/>
            <a:ext cx="1615607"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632200" y="6470704"/>
            <a:ext cx="4426094"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128000" y="6470704"/>
            <a:ext cx="730250" cy="274320"/>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8"/>
          <p:cNvSpPr txBox="1">
            <a:spLocks noGrp="1"/>
          </p:cNvSpPr>
          <p:nvPr>
            <p:ph type="body" idx="1"/>
          </p:nvPr>
        </p:nvSpPr>
        <p:spPr>
          <a:xfrm>
            <a:off x="768096" y="2179636"/>
            <a:ext cx="3566160" cy="822960"/>
          </a:xfrm>
          <a:prstGeom prst="rect">
            <a:avLst/>
          </a:prstGeom>
          <a:noFill/>
          <a:ln>
            <a:noFill/>
          </a:ln>
        </p:spPr>
        <p:txBody>
          <a:bodyPr spcFirstLastPara="1" wrap="square" lIns="137150" tIns="45700" rIns="137150" bIns="45700" anchor="ctr" anchorCtr="0">
            <a:normAutofit/>
          </a:bodyPr>
          <a:lstStyle>
            <a:lvl1pPr marL="457200" lvl="0" indent="-228600" algn="l">
              <a:lnSpc>
                <a:spcPct val="90000"/>
              </a:lnSpc>
              <a:spcBef>
                <a:spcPts val="0"/>
              </a:spcBef>
              <a:spcAft>
                <a:spcPts val="0"/>
              </a:spcAft>
              <a:buSzPts val="2200"/>
              <a:buNone/>
              <a:defRPr sz="2200" b="0" cap="none">
                <a:solidFill>
                  <a:schemeClr val="accent2"/>
                </a:solidFill>
                <a:latin typeface="Twentieth Century"/>
                <a:ea typeface="Twentieth Century"/>
                <a:cs typeface="Twentieth Century"/>
                <a:sym typeface="Twentieth Century"/>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7" name="Google Shape;57;p8"/>
          <p:cNvSpPr txBox="1">
            <a:spLocks noGrp="1"/>
          </p:cNvSpPr>
          <p:nvPr>
            <p:ph type="body" idx="2"/>
          </p:nvPr>
        </p:nvSpPr>
        <p:spPr>
          <a:xfrm>
            <a:off x="768096" y="2967788"/>
            <a:ext cx="3566160" cy="3341572"/>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8" name="Google Shape;58;p8"/>
          <p:cNvSpPr txBox="1">
            <a:spLocks noGrp="1"/>
          </p:cNvSpPr>
          <p:nvPr>
            <p:ph type="body" idx="3"/>
          </p:nvPr>
        </p:nvSpPr>
        <p:spPr>
          <a:xfrm>
            <a:off x="4491990" y="2179636"/>
            <a:ext cx="3566160" cy="822960"/>
          </a:xfrm>
          <a:prstGeom prst="rect">
            <a:avLst/>
          </a:prstGeom>
          <a:noFill/>
          <a:ln>
            <a:noFill/>
          </a:ln>
        </p:spPr>
        <p:txBody>
          <a:bodyPr spcFirstLastPara="1" wrap="square" lIns="137150" tIns="45700" rIns="137150" bIns="45700" anchor="ctr" anchorCtr="0">
            <a:normAutofit/>
          </a:bodyPr>
          <a:lstStyle>
            <a:lvl1pPr marL="457200" lvl="0" indent="-228600" algn="l">
              <a:lnSpc>
                <a:spcPct val="90000"/>
              </a:lnSpc>
              <a:spcBef>
                <a:spcPts val="0"/>
              </a:spcBef>
              <a:spcAft>
                <a:spcPts val="0"/>
              </a:spcAft>
              <a:buSzPts val="2200"/>
              <a:buNone/>
              <a:defRPr sz="2200" b="0" cap="none">
                <a:solidFill>
                  <a:schemeClr val="accent2"/>
                </a:solidFill>
                <a:latin typeface="Twentieth Century"/>
                <a:ea typeface="Twentieth Century"/>
                <a:cs typeface="Twentieth Century"/>
                <a:sym typeface="Twentieth Century"/>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9" name="Google Shape;59;p8"/>
          <p:cNvSpPr txBox="1">
            <a:spLocks noGrp="1"/>
          </p:cNvSpPr>
          <p:nvPr>
            <p:ph type="body" idx="4"/>
          </p:nvPr>
        </p:nvSpPr>
        <p:spPr>
          <a:xfrm>
            <a:off x="4491990" y="2967788"/>
            <a:ext cx="3566160" cy="3341572"/>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0" name="Google Shape;60;p8"/>
          <p:cNvSpPr txBox="1">
            <a:spLocks noGrp="1"/>
          </p:cNvSpPr>
          <p:nvPr>
            <p:ph type="dt" idx="10"/>
          </p:nvPr>
        </p:nvSpPr>
        <p:spPr>
          <a:xfrm>
            <a:off x="768097" y="6470704"/>
            <a:ext cx="1615607"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8"/>
          <p:cNvSpPr txBox="1">
            <a:spLocks noGrp="1"/>
          </p:cNvSpPr>
          <p:nvPr>
            <p:ph type="ftr" idx="11"/>
          </p:nvPr>
        </p:nvSpPr>
        <p:spPr>
          <a:xfrm>
            <a:off x="3632200" y="6470704"/>
            <a:ext cx="4426094"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8"/>
          <p:cNvSpPr txBox="1">
            <a:spLocks noGrp="1"/>
          </p:cNvSpPr>
          <p:nvPr>
            <p:ph type="sldNum" idx="12"/>
          </p:nvPr>
        </p:nvSpPr>
        <p:spPr>
          <a:xfrm>
            <a:off x="8128000" y="6470704"/>
            <a:ext cx="730250" cy="274320"/>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3"/>
        <p:cNvGrpSpPr/>
        <p:nvPr/>
      </p:nvGrpSpPr>
      <p:grpSpPr>
        <a:xfrm>
          <a:off x="0" y="0"/>
          <a:ext cx="0" cy="0"/>
          <a:chOff x="0" y="0"/>
          <a:chExt cx="0" cy="0"/>
        </a:xfrm>
      </p:grpSpPr>
      <p:sp>
        <p:nvSpPr>
          <p:cNvPr id="64" name="Google Shape;64;p9"/>
          <p:cNvSpPr txBox="1">
            <a:spLocks noGrp="1"/>
          </p:cNvSpPr>
          <p:nvPr>
            <p:ph type="title"/>
          </p:nvPr>
        </p:nvSpPr>
        <p:spPr>
          <a:xfrm>
            <a:off x="768096" y="471509"/>
            <a:ext cx="3291840" cy="1737360"/>
          </a:xfrm>
          <a:prstGeom prst="rect">
            <a:avLst/>
          </a:prstGeom>
          <a:noFill/>
          <a:ln>
            <a:noFill/>
          </a:ln>
        </p:spPr>
        <p:txBody>
          <a:bodyPr spcFirstLastPara="1" wrap="square" lIns="91425" tIns="45700" rIns="91425" bIns="45700" anchor="ctr" anchorCtr="0">
            <a:noAutofit/>
          </a:bodyPr>
          <a:lstStyle>
            <a:lvl1pPr lvl="0" algn="l">
              <a:lnSpc>
                <a:spcPct val="80000"/>
              </a:lnSpc>
              <a:spcBef>
                <a:spcPts val="0"/>
              </a:spcBef>
              <a:spcAft>
                <a:spcPts val="0"/>
              </a:spcAft>
              <a:buClr>
                <a:srgbClr val="0C0C0C"/>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9"/>
          <p:cNvSpPr txBox="1">
            <a:spLocks noGrp="1"/>
          </p:cNvSpPr>
          <p:nvPr>
            <p:ph type="body" idx="1"/>
          </p:nvPr>
        </p:nvSpPr>
        <p:spPr>
          <a:xfrm>
            <a:off x="4286250" y="822960"/>
            <a:ext cx="4258818" cy="5184648"/>
          </a:xfrm>
          <a:prstGeom prst="rect">
            <a:avLst/>
          </a:prstGeom>
          <a:noFill/>
          <a:ln>
            <a:noFill/>
          </a:ln>
        </p:spPr>
        <p:txBody>
          <a:bodyPr spcFirstLastPara="1" wrap="square" lIns="45700" tIns="45700" rIns="45700" bIns="45700" anchor="t" anchorCtr="0">
            <a:normAutofit/>
          </a:bodyPr>
          <a:lstStyle>
            <a:lvl1pPr marL="457200" lvl="0" indent="-355600" algn="l">
              <a:lnSpc>
                <a:spcPct val="90000"/>
              </a:lnSpc>
              <a:spcBef>
                <a:spcPts val="1200"/>
              </a:spcBef>
              <a:spcAft>
                <a:spcPts val="0"/>
              </a:spcAft>
              <a:buSzPts val="2000"/>
              <a:buChar char=" "/>
              <a:defRPr sz="2000"/>
            </a:lvl1pPr>
            <a:lvl2pPr marL="914400" lvl="1" indent="-330200" algn="l">
              <a:lnSpc>
                <a:spcPct val="90000"/>
              </a:lnSpc>
              <a:spcBef>
                <a:spcPts val="200"/>
              </a:spcBef>
              <a:spcAft>
                <a:spcPts val="0"/>
              </a:spcAft>
              <a:buSzPts val="1600"/>
              <a:buChar char="🢝"/>
              <a:defRPr sz="1600"/>
            </a:lvl2pPr>
            <a:lvl3pPr marL="1371600" lvl="2" indent="-304800" algn="l">
              <a:lnSpc>
                <a:spcPct val="90000"/>
              </a:lnSpc>
              <a:spcBef>
                <a:spcPts val="400"/>
              </a:spcBef>
              <a:spcAft>
                <a:spcPts val="0"/>
              </a:spcAft>
              <a:buSzPts val="1200"/>
              <a:buChar char="🢝"/>
              <a:defRPr sz="1200"/>
            </a:lvl3pPr>
            <a:lvl4pPr marL="1828800" lvl="3" indent="-304800" algn="l">
              <a:lnSpc>
                <a:spcPct val="90000"/>
              </a:lnSpc>
              <a:spcBef>
                <a:spcPts val="400"/>
              </a:spcBef>
              <a:spcAft>
                <a:spcPts val="0"/>
              </a:spcAft>
              <a:buSzPts val="1200"/>
              <a:buChar char="🢝"/>
              <a:defRPr sz="1200"/>
            </a:lvl4pPr>
            <a:lvl5pPr marL="2286000" lvl="4" indent="-304800" algn="l">
              <a:lnSpc>
                <a:spcPct val="90000"/>
              </a:lnSpc>
              <a:spcBef>
                <a:spcPts val="400"/>
              </a:spcBef>
              <a:spcAft>
                <a:spcPts val="0"/>
              </a:spcAft>
              <a:buSzPts val="1200"/>
              <a:buChar char="🢝"/>
              <a:defRPr sz="1200"/>
            </a:lvl5pPr>
            <a:lvl6pPr marL="2743200" lvl="5" indent="-304800" algn="l">
              <a:lnSpc>
                <a:spcPct val="90000"/>
              </a:lnSpc>
              <a:spcBef>
                <a:spcPts val="400"/>
              </a:spcBef>
              <a:spcAft>
                <a:spcPts val="0"/>
              </a:spcAft>
              <a:buSzPts val="1200"/>
              <a:buChar char="🢝"/>
              <a:defRPr sz="1200"/>
            </a:lvl6pPr>
            <a:lvl7pPr marL="3200400" lvl="6" indent="-304800" algn="l">
              <a:lnSpc>
                <a:spcPct val="90000"/>
              </a:lnSpc>
              <a:spcBef>
                <a:spcPts val="400"/>
              </a:spcBef>
              <a:spcAft>
                <a:spcPts val="0"/>
              </a:spcAft>
              <a:buSzPts val="1200"/>
              <a:buChar char="🢝"/>
              <a:defRPr sz="1200"/>
            </a:lvl7pPr>
            <a:lvl8pPr marL="3657600" lvl="7" indent="-304800" algn="l">
              <a:lnSpc>
                <a:spcPct val="90000"/>
              </a:lnSpc>
              <a:spcBef>
                <a:spcPts val="400"/>
              </a:spcBef>
              <a:spcAft>
                <a:spcPts val="0"/>
              </a:spcAft>
              <a:buSzPts val="1200"/>
              <a:buChar char="🢝"/>
              <a:defRPr sz="1200"/>
            </a:lvl8pPr>
            <a:lvl9pPr marL="4114800" lvl="8" indent="-304800" algn="l">
              <a:lnSpc>
                <a:spcPct val="90000"/>
              </a:lnSpc>
              <a:spcBef>
                <a:spcPts val="400"/>
              </a:spcBef>
              <a:spcAft>
                <a:spcPts val="400"/>
              </a:spcAft>
              <a:buSzPts val="1200"/>
              <a:buChar char="🢝"/>
              <a:defRPr sz="1200"/>
            </a:lvl9pPr>
          </a:lstStyle>
          <a:p>
            <a:endParaRPr/>
          </a:p>
        </p:txBody>
      </p:sp>
      <p:sp>
        <p:nvSpPr>
          <p:cNvPr id="66" name="Google Shape;66;p9"/>
          <p:cNvSpPr txBox="1">
            <a:spLocks noGrp="1"/>
          </p:cNvSpPr>
          <p:nvPr>
            <p:ph type="body" idx="2"/>
          </p:nvPr>
        </p:nvSpPr>
        <p:spPr>
          <a:xfrm>
            <a:off x="768096" y="2257506"/>
            <a:ext cx="3291840" cy="3762294"/>
          </a:xfrm>
          <a:prstGeom prst="rect">
            <a:avLst/>
          </a:prstGeom>
          <a:noFill/>
          <a:ln>
            <a:noFill/>
          </a:ln>
        </p:spPr>
        <p:txBody>
          <a:bodyPr spcFirstLastPara="1" wrap="square" lIns="91425" tIns="45700" rIns="91425" bIns="45700" anchor="t" anchorCtr="0">
            <a:normAutofit/>
          </a:bodyPr>
          <a:lstStyle>
            <a:lvl1pPr marL="457200" lvl="0" indent="-228600" algn="l">
              <a:lnSpc>
                <a:spcPct val="108000"/>
              </a:lnSpc>
              <a:spcBef>
                <a:spcPts val="600"/>
              </a:spcBef>
              <a:spcAft>
                <a:spcPts val="0"/>
              </a:spcAft>
              <a:buSzPts val="1600"/>
              <a:buNone/>
              <a:defRPr sz="1600"/>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67" name="Google Shape;67;p9"/>
          <p:cNvSpPr txBox="1">
            <a:spLocks noGrp="1"/>
          </p:cNvSpPr>
          <p:nvPr>
            <p:ph type="dt" idx="10"/>
          </p:nvPr>
        </p:nvSpPr>
        <p:spPr>
          <a:xfrm>
            <a:off x="768097" y="6470704"/>
            <a:ext cx="1615607"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9"/>
          <p:cNvSpPr txBox="1">
            <a:spLocks noGrp="1"/>
          </p:cNvSpPr>
          <p:nvPr>
            <p:ph type="ftr" idx="11"/>
          </p:nvPr>
        </p:nvSpPr>
        <p:spPr>
          <a:xfrm>
            <a:off x="3632200" y="6470704"/>
            <a:ext cx="4426094"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9"/>
          <p:cNvSpPr txBox="1">
            <a:spLocks noGrp="1"/>
          </p:cNvSpPr>
          <p:nvPr>
            <p:ph type="sldNum" idx="12"/>
          </p:nvPr>
        </p:nvSpPr>
        <p:spPr>
          <a:xfrm>
            <a:off x="8128000" y="6470704"/>
            <a:ext cx="730250" cy="274320"/>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0"/>
        <p:cNvGrpSpPr/>
        <p:nvPr/>
      </p:nvGrpSpPr>
      <p:grpSpPr>
        <a:xfrm>
          <a:off x="0" y="0"/>
          <a:ext cx="0" cy="0"/>
          <a:chOff x="0" y="0"/>
          <a:chExt cx="0" cy="0"/>
        </a:xfrm>
      </p:grpSpPr>
      <p:sp>
        <p:nvSpPr>
          <p:cNvPr id="71" name="Google Shape;71;p10"/>
          <p:cNvSpPr txBox="1">
            <a:spLocks noGrp="1"/>
          </p:cNvSpPr>
          <p:nvPr>
            <p:ph type="title"/>
          </p:nvPr>
        </p:nvSpPr>
        <p:spPr>
          <a:xfrm>
            <a:off x="342900" y="4960138"/>
            <a:ext cx="5829300" cy="1463040"/>
          </a:xfrm>
          <a:prstGeom prst="rect">
            <a:avLst/>
          </a:prstGeom>
          <a:noFill/>
          <a:ln>
            <a:noFill/>
          </a:ln>
        </p:spPr>
        <p:txBody>
          <a:bodyPr spcFirstLastPara="1" wrap="square" lIns="91425" tIns="45700" rIns="91425" bIns="45700" anchor="ctr" anchorCtr="0">
            <a:normAutofit/>
          </a:bodyPr>
          <a:lstStyle>
            <a:lvl1pPr lvl="0" algn="r">
              <a:lnSpc>
                <a:spcPct val="80000"/>
              </a:lnSpc>
              <a:spcBef>
                <a:spcPts val="0"/>
              </a:spcBef>
              <a:spcAft>
                <a:spcPts val="0"/>
              </a:spcAft>
              <a:buClr>
                <a:srgbClr val="0C0C0C"/>
              </a:buClr>
              <a:buSzPts val="4400"/>
              <a:buFont typeface="Twentieth Century"/>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10"/>
          <p:cNvSpPr>
            <a:spLocks noGrp="1"/>
          </p:cNvSpPr>
          <p:nvPr>
            <p:ph type="pic" idx="2"/>
          </p:nvPr>
        </p:nvSpPr>
        <p:spPr>
          <a:xfrm>
            <a:off x="0" y="-1"/>
            <a:ext cx="9141714" cy="4572000"/>
          </a:xfrm>
          <a:prstGeom prst="rect">
            <a:avLst/>
          </a:prstGeom>
          <a:solidFill>
            <a:srgbClr val="9AD2D8"/>
          </a:solidFill>
          <a:ln>
            <a:noFill/>
          </a:ln>
        </p:spPr>
      </p:sp>
      <p:sp>
        <p:nvSpPr>
          <p:cNvPr id="73" name="Google Shape;73;p10"/>
          <p:cNvSpPr txBox="1">
            <a:spLocks noGrp="1"/>
          </p:cNvSpPr>
          <p:nvPr>
            <p:ph type="body" idx="1"/>
          </p:nvPr>
        </p:nvSpPr>
        <p:spPr>
          <a:xfrm>
            <a:off x="6457950" y="4960138"/>
            <a:ext cx="2400300" cy="146304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SzPts val="1600"/>
              <a:buNone/>
              <a:defRPr sz="1600">
                <a:solidFill>
                  <a:srgbClr val="0C0C0C"/>
                </a:solidFill>
              </a:defRPr>
            </a:lvl1pPr>
            <a:lvl2pPr marL="914400" lvl="1" indent="-228600" algn="l">
              <a:lnSpc>
                <a:spcPct val="90000"/>
              </a:lnSpc>
              <a:spcBef>
                <a:spcPts val="200"/>
              </a:spcBef>
              <a:spcAft>
                <a:spcPts val="0"/>
              </a:spcAft>
              <a:buSzPts val="1050"/>
              <a:buNone/>
              <a:defRPr sz="1050"/>
            </a:lvl2pPr>
            <a:lvl3pPr marL="1371600" lvl="2" indent="-228600" algn="l">
              <a:lnSpc>
                <a:spcPct val="90000"/>
              </a:lnSpc>
              <a:spcBef>
                <a:spcPts val="400"/>
              </a:spcBef>
              <a:spcAft>
                <a:spcPts val="0"/>
              </a:spcAft>
              <a:buSzPts val="900"/>
              <a:buNone/>
              <a:defRPr sz="900"/>
            </a:lvl3pPr>
            <a:lvl4pPr marL="1828800" lvl="3" indent="-228600" algn="l">
              <a:lnSpc>
                <a:spcPct val="90000"/>
              </a:lnSpc>
              <a:spcBef>
                <a:spcPts val="400"/>
              </a:spcBef>
              <a:spcAft>
                <a:spcPts val="0"/>
              </a:spcAft>
              <a:buSzPts val="750"/>
              <a:buNone/>
              <a:defRPr sz="750"/>
            </a:lvl4pPr>
            <a:lvl5pPr marL="2286000" lvl="4" indent="-228600" algn="l">
              <a:lnSpc>
                <a:spcPct val="90000"/>
              </a:lnSpc>
              <a:spcBef>
                <a:spcPts val="400"/>
              </a:spcBef>
              <a:spcAft>
                <a:spcPts val="0"/>
              </a:spcAft>
              <a:buSzPts val="750"/>
              <a:buNone/>
              <a:defRPr sz="750"/>
            </a:lvl5pPr>
            <a:lvl6pPr marL="2743200" lvl="5" indent="-228600" algn="l">
              <a:lnSpc>
                <a:spcPct val="90000"/>
              </a:lnSpc>
              <a:spcBef>
                <a:spcPts val="400"/>
              </a:spcBef>
              <a:spcAft>
                <a:spcPts val="0"/>
              </a:spcAft>
              <a:buSzPts val="750"/>
              <a:buNone/>
              <a:defRPr sz="750"/>
            </a:lvl6pPr>
            <a:lvl7pPr marL="3200400" lvl="6" indent="-228600" algn="l">
              <a:lnSpc>
                <a:spcPct val="90000"/>
              </a:lnSpc>
              <a:spcBef>
                <a:spcPts val="400"/>
              </a:spcBef>
              <a:spcAft>
                <a:spcPts val="0"/>
              </a:spcAft>
              <a:buSzPts val="750"/>
              <a:buNone/>
              <a:defRPr sz="750"/>
            </a:lvl7pPr>
            <a:lvl8pPr marL="3657600" lvl="7" indent="-228600" algn="l">
              <a:lnSpc>
                <a:spcPct val="90000"/>
              </a:lnSpc>
              <a:spcBef>
                <a:spcPts val="400"/>
              </a:spcBef>
              <a:spcAft>
                <a:spcPts val="0"/>
              </a:spcAft>
              <a:buSzPts val="750"/>
              <a:buNone/>
              <a:defRPr sz="750"/>
            </a:lvl8pPr>
            <a:lvl9pPr marL="4114800" lvl="8" indent="-228600" algn="l">
              <a:lnSpc>
                <a:spcPct val="90000"/>
              </a:lnSpc>
              <a:spcBef>
                <a:spcPts val="400"/>
              </a:spcBef>
              <a:spcAft>
                <a:spcPts val="400"/>
              </a:spcAft>
              <a:buSzPts val="750"/>
              <a:buNone/>
              <a:defRPr sz="750"/>
            </a:lvl9pPr>
          </a:lstStyle>
          <a:p>
            <a:endParaRPr/>
          </a:p>
        </p:txBody>
      </p:sp>
      <p:sp>
        <p:nvSpPr>
          <p:cNvPr id="74" name="Google Shape;74;p10"/>
          <p:cNvSpPr txBox="1">
            <a:spLocks noGrp="1"/>
          </p:cNvSpPr>
          <p:nvPr>
            <p:ph type="dt" idx="10"/>
          </p:nvPr>
        </p:nvSpPr>
        <p:spPr>
          <a:xfrm>
            <a:off x="768097" y="6470704"/>
            <a:ext cx="1615607"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0"/>
          <p:cNvSpPr txBox="1">
            <a:spLocks noGrp="1"/>
          </p:cNvSpPr>
          <p:nvPr>
            <p:ph type="ftr" idx="11"/>
          </p:nvPr>
        </p:nvSpPr>
        <p:spPr>
          <a:xfrm>
            <a:off x="3632200" y="6470704"/>
            <a:ext cx="4426094"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0"/>
          <p:cNvSpPr txBox="1">
            <a:spLocks noGrp="1"/>
          </p:cNvSpPr>
          <p:nvPr>
            <p:ph type="sldNum" idx="12"/>
          </p:nvPr>
        </p:nvSpPr>
        <p:spPr>
          <a:xfrm>
            <a:off x="8128000" y="6470704"/>
            <a:ext cx="730250" cy="274320"/>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cxnSp>
        <p:nvCxnSpPr>
          <p:cNvPr id="77" name="Google Shape;77;p10"/>
          <p:cNvCxnSpPr/>
          <p:nvPr/>
        </p:nvCxnSpPr>
        <p:spPr>
          <a:xfrm rot="10800000">
            <a:off x="6290132" y="5264106"/>
            <a:ext cx="0" cy="914400"/>
          </a:xfrm>
          <a:prstGeom prst="straightConnector1">
            <a:avLst/>
          </a:prstGeom>
          <a:noFill/>
          <a:ln w="19050" cap="flat" cmpd="sng">
            <a:solidFill>
              <a:schemeClr val="accent1"/>
            </a:solidFill>
            <a:prstDash val="solid"/>
            <a:round/>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8"/>
        <p:cNvGrpSpPr/>
        <p:nvPr/>
      </p:nvGrpSpPr>
      <p:grpSpPr>
        <a:xfrm>
          <a:off x="0" y="0"/>
          <a:ext cx="0" cy="0"/>
          <a:chOff x="0" y="0"/>
          <a:chExt cx="0" cy="0"/>
        </a:xfrm>
      </p:grpSpPr>
      <p:sp>
        <p:nvSpPr>
          <p:cNvPr id="79" name="Google Shape;79;p11"/>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1"/>
          <p:cNvSpPr txBox="1">
            <a:spLocks noGrp="1"/>
          </p:cNvSpPr>
          <p:nvPr>
            <p:ph type="body" idx="1"/>
          </p:nvPr>
        </p:nvSpPr>
        <p:spPr>
          <a:xfrm rot="5400000">
            <a:off x="2401444" y="652653"/>
            <a:ext cx="4023360" cy="7290055"/>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81" name="Google Shape;81;p11"/>
          <p:cNvSpPr txBox="1">
            <a:spLocks noGrp="1"/>
          </p:cNvSpPr>
          <p:nvPr>
            <p:ph type="dt" idx="10"/>
          </p:nvPr>
        </p:nvSpPr>
        <p:spPr>
          <a:xfrm>
            <a:off x="768097" y="6470704"/>
            <a:ext cx="1615607"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1"/>
          <p:cNvSpPr txBox="1">
            <a:spLocks noGrp="1"/>
          </p:cNvSpPr>
          <p:nvPr>
            <p:ph type="ftr" idx="11"/>
          </p:nvPr>
        </p:nvSpPr>
        <p:spPr>
          <a:xfrm>
            <a:off x="3632200" y="6470704"/>
            <a:ext cx="4426094"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1"/>
          <p:cNvSpPr txBox="1">
            <a:spLocks noGrp="1"/>
          </p:cNvSpPr>
          <p:nvPr>
            <p:ph type="sldNum" idx="12"/>
          </p:nvPr>
        </p:nvSpPr>
        <p:spPr>
          <a:xfrm>
            <a:off x="8128000" y="6470704"/>
            <a:ext cx="730250" cy="274320"/>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84"/>
        <p:cNvGrpSpPr/>
        <p:nvPr/>
      </p:nvGrpSpPr>
      <p:grpSpPr>
        <a:xfrm>
          <a:off x="0" y="0"/>
          <a:ext cx="0" cy="0"/>
          <a:chOff x="0" y="0"/>
          <a:chExt cx="0" cy="0"/>
        </a:xfrm>
      </p:grpSpPr>
      <p:sp>
        <p:nvSpPr>
          <p:cNvPr id="85" name="Google Shape;85;p12"/>
          <p:cNvSpPr txBox="1">
            <a:spLocks noGrp="1"/>
          </p:cNvSpPr>
          <p:nvPr>
            <p:ph type="title"/>
          </p:nvPr>
        </p:nvSpPr>
        <p:spPr>
          <a:xfrm rot="5400000">
            <a:off x="4824414" y="2481263"/>
            <a:ext cx="5410200" cy="1971675"/>
          </a:xfrm>
          <a:prstGeom prst="rect">
            <a:avLst/>
          </a:prstGeom>
          <a:noFill/>
          <a:ln>
            <a:noFill/>
          </a:ln>
        </p:spPr>
        <p:txBody>
          <a:bodyPr spcFirstLastPara="1" wrap="square" lIns="45700" tIns="91425" rIns="45700" bIns="91425" anchor="ctr" anchorCtr="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12"/>
          <p:cNvSpPr txBox="1">
            <a:spLocks noGrp="1"/>
          </p:cNvSpPr>
          <p:nvPr>
            <p:ph type="body" idx="1"/>
          </p:nvPr>
        </p:nvSpPr>
        <p:spPr>
          <a:xfrm rot="5400000">
            <a:off x="881064" y="623888"/>
            <a:ext cx="5410200" cy="5686425"/>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87" name="Google Shape;87;p12"/>
          <p:cNvSpPr txBox="1">
            <a:spLocks noGrp="1"/>
          </p:cNvSpPr>
          <p:nvPr>
            <p:ph type="dt" idx="10"/>
          </p:nvPr>
        </p:nvSpPr>
        <p:spPr>
          <a:xfrm>
            <a:off x="768097" y="6470704"/>
            <a:ext cx="1615607"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2"/>
          <p:cNvSpPr txBox="1">
            <a:spLocks noGrp="1"/>
          </p:cNvSpPr>
          <p:nvPr>
            <p:ph type="ftr" idx="11"/>
          </p:nvPr>
        </p:nvSpPr>
        <p:spPr>
          <a:xfrm>
            <a:off x="3632200" y="6470704"/>
            <a:ext cx="4426094"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2"/>
          <p:cNvSpPr txBox="1">
            <a:spLocks noGrp="1"/>
          </p:cNvSpPr>
          <p:nvPr>
            <p:ph type="sldNum" idx="12"/>
          </p:nvPr>
        </p:nvSpPr>
        <p:spPr>
          <a:xfrm>
            <a:off x="8128000" y="6470704"/>
            <a:ext cx="730250" cy="274320"/>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cxnSp>
        <p:nvCxnSpPr>
          <p:cNvPr id="90" name="Google Shape;90;p12"/>
          <p:cNvCxnSpPr/>
          <p:nvPr/>
        </p:nvCxnSpPr>
        <p:spPr>
          <a:xfrm rot="10800000">
            <a:off x="7543800" y="173563"/>
            <a:ext cx="0" cy="685800"/>
          </a:xfrm>
          <a:prstGeom prst="straightConnector1">
            <a:avLst/>
          </a:prstGeom>
          <a:noFill/>
          <a:ln w="19050" cap="flat" cmpd="sng">
            <a:solidFill>
              <a:schemeClr val="accent2"/>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lvl1pPr marR="0" lvl="0" algn="l" rtl="0">
              <a:lnSpc>
                <a:spcPct val="80000"/>
              </a:lnSpc>
              <a:spcBef>
                <a:spcPts val="0"/>
              </a:spcBef>
              <a:spcAft>
                <a:spcPts val="0"/>
              </a:spcAft>
              <a:buClr>
                <a:srgbClr val="0C0C0C"/>
              </a:buClr>
              <a:buSzPts val="4400"/>
              <a:buFont typeface="Twentieth Century"/>
              <a:buNone/>
              <a:defRPr sz="4400" b="0" i="0" u="none" strike="noStrike" cap="none">
                <a:solidFill>
                  <a:srgbClr val="0C0C0C"/>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lvl1pPr marL="457200" marR="0" lvl="0" indent="-355600" algn="l" rtl="0">
              <a:lnSpc>
                <a:spcPct val="90000"/>
              </a:lnSpc>
              <a:spcBef>
                <a:spcPts val="1200"/>
              </a:spcBef>
              <a:spcAft>
                <a:spcPts val="0"/>
              </a:spcAft>
              <a:buClr>
                <a:schemeClr val="accent2"/>
              </a:buClr>
              <a:buSzPts val="2000"/>
              <a:buFont typeface="Twentieth Century"/>
              <a:buChar char=" "/>
              <a:defRPr sz="2000" b="0" i="0" u="none" strike="noStrike" cap="none">
                <a:solidFill>
                  <a:schemeClr val="dk1"/>
                </a:solidFill>
                <a:latin typeface="Twentieth Century"/>
                <a:ea typeface="Twentieth Century"/>
                <a:cs typeface="Twentieth Century"/>
                <a:sym typeface="Twentieth Century"/>
              </a:defRPr>
            </a:lvl1pPr>
            <a:lvl2pPr marL="914400" marR="0" lvl="1" indent="-330200" algn="l" rtl="0">
              <a:lnSpc>
                <a:spcPct val="90000"/>
              </a:lnSpc>
              <a:spcBef>
                <a:spcPts val="200"/>
              </a:spcBef>
              <a:spcAft>
                <a:spcPts val="0"/>
              </a:spcAft>
              <a:buClr>
                <a:schemeClr val="accent2"/>
              </a:buClr>
              <a:buSzPts val="1600"/>
              <a:buFont typeface="Noto Sans Symbols"/>
              <a:buChar char="🢝"/>
              <a:defRPr sz="1600" b="0" i="0" u="none" strike="noStrike" cap="none">
                <a:solidFill>
                  <a:schemeClr val="dk1"/>
                </a:solidFill>
                <a:latin typeface="Twentieth Century"/>
                <a:ea typeface="Twentieth Century"/>
                <a:cs typeface="Twentieth Century"/>
                <a:sym typeface="Twentieth Century"/>
              </a:defRPr>
            </a:lvl2pPr>
            <a:lvl3pPr marL="1371600" marR="0" lvl="2" indent="-304800" algn="l" rtl="0">
              <a:lnSpc>
                <a:spcPct val="90000"/>
              </a:lnSpc>
              <a:spcBef>
                <a:spcPts val="400"/>
              </a:spcBef>
              <a:spcAft>
                <a:spcPts val="0"/>
              </a:spcAft>
              <a:buClr>
                <a:schemeClr val="accent2"/>
              </a:buClr>
              <a:buSzPts val="1200"/>
              <a:buFont typeface="Noto Sans Symbols"/>
              <a:buChar char="🢝"/>
              <a:defRPr sz="1200" b="0" i="0" u="none" strike="noStrike" cap="none">
                <a:solidFill>
                  <a:schemeClr val="dk1"/>
                </a:solidFill>
                <a:latin typeface="Twentieth Century"/>
                <a:ea typeface="Twentieth Century"/>
                <a:cs typeface="Twentieth Century"/>
                <a:sym typeface="Twentieth Century"/>
              </a:defRPr>
            </a:lvl3pPr>
            <a:lvl4pPr marL="1828800" marR="0" lvl="3" indent="-304800" algn="l" rtl="0">
              <a:lnSpc>
                <a:spcPct val="90000"/>
              </a:lnSpc>
              <a:spcBef>
                <a:spcPts val="400"/>
              </a:spcBef>
              <a:spcAft>
                <a:spcPts val="0"/>
              </a:spcAft>
              <a:buClr>
                <a:schemeClr val="accent2"/>
              </a:buClr>
              <a:buSzPts val="1200"/>
              <a:buFont typeface="Noto Sans Symbols"/>
              <a:buChar char="🢝"/>
              <a:defRPr sz="1200" b="0" i="0" u="none" strike="noStrike" cap="none">
                <a:solidFill>
                  <a:schemeClr val="dk1"/>
                </a:solidFill>
                <a:latin typeface="Twentieth Century"/>
                <a:ea typeface="Twentieth Century"/>
                <a:cs typeface="Twentieth Century"/>
                <a:sym typeface="Twentieth Century"/>
              </a:defRPr>
            </a:lvl4pPr>
            <a:lvl5pPr marL="2286000" marR="0" lvl="4" indent="-304800" algn="l" rtl="0">
              <a:lnSpc>
                <a:spcPct val="90000"/>
              </a:lnSpc>
              <a:spcBef>
                <a:spcPts val="400"/>
              </a:spcBef>
              <a:spcAft>
                <a:spcPts val="0"/>
              </a:spcAft>
              <a:buClr>
                <a:schemeClr val="accent2"/>
              </a:buClr>
              <a:buSzPts val="1200"/>
              <a:buFont typeface="Noto Sans Symbols"/>
              <a:buChar char="🢝"/>
              <a:defRPr sz="1200" b="0" i="0" u="none" strike="noStrike" cap="none">
                <a:solidFill>
                  <a:schemeClr val="dk1"/>
                </a:solidFill>
                <a:latin typeface="Twentieth Century"/>
                <a:ea typeface="Twentieth Century"/>
                <a:cs typeface="Twentieth Century"/>
                <a:sym typeface="Twentieth Century"/>
              </a:defRPr>
            </a:lvl5pPr>
            <a:lvl6pPr marL="2743200" marR="0" lvl="5" indent="-304800" algn="l" rtl="0">
              <a:lnSpc>
                <a:spcPct val="90000"/>
              </a:lnSpc>
              <a:spcBef>
                <a:spcPts val="400"/>
              </a:spcBef>
              <a:spcAft>
                <a:spcPts val="0"/>
              </a:spcAft>
              <a:buClr>
                <a:schemeClr val="accent2"/>
              </a:buClr>
              <a:buSzPts val="1200"/>
              <a:buFont typeface="Noto Sans Symbols"/>
              <a:buChar char="🢝"/>
              <a:defRPr sz="1200" b="0" i="0" u="none" strike="noStrike" cap="none">
                <a:solidFill>
                  <a:schemeClr val="dk1"/>
                </a:solidFill>
                <a:latin typeface="Twentieth Century"/>
                <a:ea typeface="Twentieth Century"/>
                <a:cs typeface="Twentieth Century"/>
                <a:sym typeface="Twentieth Century"/>
              </a:defRPr>
            </a:lvl6pPr>
            <a:lvl7pPr marL="3200400" marR="0" lvl="6" indent="-304800" algn="l" rtl="0">
              <a:lnSpc>
                <a:spcPct val="90000"/>
              </a:lnSpc>
              <a:spcBef>
                <a:spcPts val="400"/>
              </a:spcBef>
              <a:spcAft>
                <a:spcPts val="0"/>
              </a:spcAft>
              <a:buClr>
                <a:schemeClr val="accent2"/>
              </a:buClr>
              <a:buSzPts val="1200"/>
              <a:buFont typeface="Noto Sans Symbols"/>
              <a:buChar char="🢝"/>
              <a:defRPr sz="1200" b="0" i="0" u="none" strike="noStrike" cap="none">
                <a:solidFill>
                  <a:schemeClr val="dk1"/>
                </a:solidFill>
                <a:latin typeface="Twentieth Century"/>
                <a:ea typeface="Twentieth Century"/>
                <a:cs typeface="Twentieth Century"/>
                <a:sym typeface="Twentieth Century"/>
              </a:defRPr>
            </a:lvl7pPr>
            <a:lvl8pPr marL="3657600" marR="0" lvl="7" indent="-304800" algn="l" rtl="0">
              <a:lnSpc>
                <a:spcPct val="90000"/>
              </a:lnSpc>
              <a:spcBef>
                <a:spcPts val="400"/>
              </a:spcBef>
              <a:spcAft>
                <a:spcPts val="0"/>
              </a:spcAft>
              <a:buClr>
                <a:schemeClr val="accent2"/>
              </a:buClr>
              <a:buSzPts val="1200"/>
              <a:buFont typeface="Noto Sans Symbols"/>
              <a:buChar char="🢝"/>
              <a:defRPr sz="1200" b="0" i="0" u="none" strike="noStrike" cap="none">
                <a:solidFill>
                  <a:schemeClr val="dk1"/>
                </a:solidFill>
                <a:latin typeface="Twentieth Century"/>
                <a:ea typeface="Twentieth Century"/>
                <a:cs typeface="Twentieth Century"/>
                <a:sym typeface="Twentieth Century"/>
              </a:defRPr>
            </a:lvl8pPr>
            <a:lvl9pPr marL="4114800" marR="0" lvl="8" indent="-304800" algn="l" rtl="0">
              <a:lnSpc>
                <a:spcPct val="90000"/>
              </a:lnSpc>
              <a:spcBef>
                <a:spcPts val="400"/>
              </a:spcBef>
              <a:spcAft>
                <a:spcPts val="400"/>
              </a:spcAft>
              <a:buClr>
                <a:schemeClr val="accent2"/>
              </a:buClr>
              <a:buSzPts val="1200"/>
              <a:buFont typeface="Noto Sans Symbols"/>
              <a:buChar char="🢝"/>
              <a:defRPr sz="12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2" name="Google Shape;12;p1"/>
          <p:cNvSpPr txBox="1">
            <a:spLocks noGrp="1"/>
          </p:cNvSpPr>
          <p:nvPr>
            <p:ph type="dt" idx="10"/>
          </p:nvPr>
        </p:nvSpPr>
        <p:spPr>
          <a:xfrm>
            <a:off x="768097" y="6470704"/>
            <a:ext cx="1615607" cy="27432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rgbClr val="0C0C0C"/>
                </a:solidFill>
                <a:latin typeface="Twentieth Century"/>
                <a:ea typeface="Twentieth Century"/>
                <a:cs typeface="Twentieth Century"/>
                <a:sym typeface="Twentieth Century"/>
              </a:defRPr>
            </a:lvl1pPr>
            <a:lvl2pPr marR="0" lvl="1"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2pPr>
            <a:lvl3pPr marR="0" lvl="2"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3pPr>
            <a:lvl4pPr marR="0" lvl="3"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4pPr>
            <a:lvl5pPr marR="0" lvl="4"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5pPr>
            <a:lvl6pPr marR="0" lvl="5"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6pPr>
            <a:lvl7pPr marR="0" lvl="6"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7pPr>
            <a:lvl8pPr marR="0" lvl="7"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8pPr>
            <a:lvl9pPr marR="0" lvl="8"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3" name="Google Shape;13;p1"/>
          <p:cNvSpPr txBox="1">
            <a:spLocks noGrp="1"/>
          </p:cNvSpPr>
          <p:nvPr>
            <p:ph type="ftr" idx="11"/>
          </p:nvPr>
        </p:nvSpPr>
        <p:spPr>
          <a:xfrm>
            <a:off x="3632200" y="6470704"/>
            <a:ext cx="4426094" cy="274320"/>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rgbClr val="0C0C0C"/>
                </a:solidFill>
                <a:latin typeface="Twentieth Century"/>
                <a:ea typeface="Twentieth Century"/>
                <a:cs typeface="Twentieth Century"/>
                <a:sym typeface="Twentieth Century"/>
              </a:defRPr>
            </a:lvl1pPr>
            <a:lvl2pPr marR="0" lvl="1"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2pPr>
            <a:lvl3pPr marR="0" lvl="2"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3pPr>
            <a:lvl4pPr marR="0" lvl="3"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4pPr>
            <a:lvl5pPr marR="0" lvl="4"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5pPr>
            <a:lvl6pPr marR="0" lvl="5"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6pPr>
            <a:lvl7pPr marR="0" lvl="6"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7pPr>
            <a:lvl8pPr marR="0" lvl="7"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8pPr>
            <a:lvl9pPr marR="0" lvl="8"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4" name="Google Shape;14;p1"/>
          <p:cNvSpPr txBox="1">
            <a:spLocks noGrp="1"/>
          </p:cNvSpPr>
          <p:nvPr>
            <p:ph type="sldNum" idx="12"/>
          </p:nvPr>
        </p:nvSpPr>
        <p:spPr>
          <a:xfrm>
            <a:off x="8128000" y="6470704"/>
            <a:ext cx="730250" cy="274320"/>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rtl="0">
              <a:spcBef>
                <a:spcPts val="0"/>
              </a:spcBef>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rtl="0">
              <a:spcBef>
                <a:spcPts val="0"/>
              </a:spcBef>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rtl="0">
              <a:spcBef>
                <a:spcPts val="0"/>
              </a:spcBef>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rtl="0">
              <a:spcBef>
                <a:spcPts val="0"/>
              </a:spcBef>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rtl="0">
              <a:spcBef>
                <a:spcPts val="0"/>
              </a:spcBef>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rtl="0">
              <a:spcBef>
                <a:spcPts val="0"/>
              </a:spcBef>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rtl="0">
              <a:spcBef>
                <a:spcPts val="0"/>
              </a:spcBef>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rtl="0">
              <a:spcBef>
                <a:spcPts val="0"/>
              </a:spcBef>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en-US"/>
              <a:t>‹#›</a:t>
            </a:fld>
            <a:endParaRPr/>
          </a:p>
        </p:txBody>
      </p:sp>
      <p:cxnSp>
        <p:nvCxnSpPr>
          <p:cNvPr id="15" name="Google Shape;15;p1"/>
          <p:cNvCxnSpPr/>
          <p:nvPr/>
        </p:nvCxnSpPr>
        <p:spPr>
          <a:xfrm rot="10800000">
            <a:off x="571500" y="826324"/>
            <a:ext cx="0" cy="914400"/>
          </a:xfrm>
          <a:prstGeom prst="straightConnector1">
            <a:avLst/>
          </a:prstGeom>
          <a:noFill/>
          <a:ln w="19050" cap="flat" cmpd="sng">
            <a:solidFill>
              <a:schemeClr val="accent2"/>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4.png"/><Relationship Id="rId7" Type="http://schemas.openxmlformats.org/officeDocument/2006/relationships/customXml" Target="../ink/ink2.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customXml" Target="../ink/ink1.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
        <p:cNvGrpSpPr/>
        <p:nvPr/>
      </p:nvGrpSpPr>
      <p:grpSpPr>
        <a:xfrm>
          <a:off x="0" y="0"/>
          <a:ext cx="0" cy="0"/>
          <a:chOff x="0" y="0"/>
          <a:chExt cx="0" cy="0"/>
        </a:xfrm>
      </p:grpSpPr>
      <p:sp>
        <p:nvSpPr>
          <p:cNvPr id="95" name="Google Shape;95;p13"/>
          <p:cNvSpPr/>
          <p:nvPr/>
        </p:nvSpPr>
        <p:spPr>
          <a:xfrm>
            <a:off x="0" y="0"/>
            <a:ext cx="9144000" cy="4572001"/>
          </a:xfrm>
          <a:prstGeom prst="rect">
            <a:avLst/>
          </a:prstGeom>
          <a:blipFill rotWithShape="1">
            <a:blip r:embed="rId3">
              <a:alphaModFix/>
            </a:blip>
            <a:tile tx="-393700" ty="-82550" sx="35000" sy="35000" flip="none" algn="tl"/>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cxnSp>
        <p:nvCxnSpPr>
          <p:cNvPr id="96" name="Google Shape;96;p13"/>
          <p:cNvCxnSpPr/>
          <p:nvPr/>
        </p:nvCxnSpPr>
        <p:spPr>
          <a:xfrm rot="10800000">
            <a:off x="6290131" y="5264106"/>
            <a:ext cx="0" cy="914400"/>
          </a:xfrm>
          <a:prstGeom prst="straightConnector1">
            <a:avLst/>
          </a:prstGeom>
          <a:noFill/>
          <a:ln w="19050" cap="flat" cmpd="sng">
            <a:solidFill>
              <a:schemeClr val="accent2"/>
            </a:solidFill>
            <a:prstDash val="solid"/>
            <a:round/>
            <a:headEnd type="none" w="sm" len="sm"/>
            <a:tailEnd type="none" w="sm" len="sm"/>
          </a:ln>
        </p:spPr>
      </p:cxnSp>
      <p:sp>
        <p:nvSpPr>
          <p:cNvPr id="97" name="Google Shape;97;p13"/>
          <p:cNvSpPr txBox="1">
            <a:spLocks noGrp="1"/>
          </p:cNvSpPr>
          <p:nvPr>
            <p:ph type="title"/>
          </p:nvPr>
        </p:nvSpPr>
        <p:spPr>
          <a:xfrm>
            <a:off x="342900" y="4960137"/>
            <a:ext cx="5829300" cy="1463040"/>
          </a:xfrm>
          <a:prstGeom prst="rect">
            <a:avLst/>
          </a:prstGeom>
          <a:noFill/>
          <a:ln>
            <a:noFill/>
          </a:ln>
        </p:spPr>
        <p:txBody>
          <a:bodyPr spcFirstLastPara="1" wrap="square" lIns="91425" tIns="45700" rIns="91425" bIns="45700" anchor="ctr" anchorCtr="0">
            <a:normAutofit/>
          </a:bodyPr>
          <a:lstStyle/>
          <a:p>
            <a:pPr marL="368935" marR="5080" lvl="0" indent="-356869" algn="r" rtl="0">
              <a:lnSpc>
                <a:spcPct val="80000"/>
              </a:lnSpc>
              <a:spcBef>
                <a:spcPts val="0"/>
              </a:spcBef>
              <a:spcAft>
                <a:spcPts val="0"/>
              </a:spcAft>
              <a:buClr>
                <a:srgbClr val="0C0C0C"/>
              </a:buClr>
              <a:buSzPts val="5000"/>
              <a:buFont typeface="Twentieth Century"/>
              <a:buNone/>
            </a:pPr>
            <a:r>
              <a:rPr lang="en-US" sz="5000"/>
              <a:t>EXPLORATORY DATA ANALYSIS AND ETL </a:t>
            </a:r>
            <a:endParaRPr/>
          </a:p>
        </p:txBody>
      </p:sp>
      <p:sp>
        <p:nvSpPr>
          <p:cNvPr id="98" name="Google Shape;98;p13"/>
          <p:cNvSpPr txBox="1"/>
          <p:nvPr/>
        </p:nvSpPr>
        <p:spPr>
          <a:xfrm>
            <a:off x="6457950" y="4960137"/>
            <a:ext cx="2400300" cy="1463040"/>
          </a:xfrm>
          <a:prstGeom prst="rect">
            <a:avLst/>
          </a:prstGeom>
          <a:noFill/>
          <a:ln>
            <a:noFill/>
          </a:ln>
        </p:spPr>
        <p:txBody>
          <a:bodyPr spcFirstLastPara="1" wrap="square" lIns="91425" tIns="45700" rIns="91425" bIns="45700" anchor="ctr" anchorCtr="0">
            <a:normAutofit/>
          </a:bodyPr>
          <a:lstStyle/>
          <a:p>
            <a:pPr marL="0" marR="0" lvl="0" indent="0" algn="l" rtl="0">
              <a:spcBef>
                <a:spcPts val="0"/>
              </a:spcBef>
              <a:spcAft>
                <a:spcPts val="0"/>
              </a:spcAft>
              <a:buNone/>
            </a:pPr>
            <a:r>
              <a:rPr lang="en-US" sz="1800" b="1">
                <a:solidFill>
                  <a:srgbClr val="0C0C0C"/>
                </a:solidFill>
                <a:latin typeface="Twentieth Century"/>
                <a:ea typeface="Twentieth Century"/>
                <a:cs typeface="Twentieth Century"/>
                <a:sym typeface="Twentieth Century"/>
              </a:rPr>
              <a:t>Dr. Bhakti Palkar</a:t>
            </a:r>
            <a:endParaRPr sz="1800">
              <a:solidFill>
                <a:srgbClr val="0C0C0C"/>
              </a:solidFill>
              <a:latin typeface="Twentieth Century"/>
              <a:ea typeface="Twentieth Century"/>
              <a:cs typeface="Twentieth Century"/>
              <a:sym typeface="Twentieth Century"/>
            </a:endParaRPr>
          </a:p>
        </p:txBody>
      </p:sp>
      <p:pic>
        <p:nvPicPr>
          <p:cNvPr id="99" name="Google Shape;99;p13" descr="Graph"/>
          <p:cNvPicPr preferRelativeResize="0"/>
          <p:nvPr/>
        </p:nvPicPr>
        <p:blipFill rotWithShape="1">
          <a:blip r:embed="rId4">
            <a:alphaModFix/>
          </a:blip>
          <a:srcRect t="8187" b="11813"/>
          <a:stretch/>
        </p:blipFill>
        <p:spPr>
          <a:xfrm>
            <a:off x="20" y="10"/>
            <a:ext cx="9143980" cy="457199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97"/>
                                        </p:tgtEl>
                                        <p:attrNameLst>
                                          <p:attrName>style.visibility</p:attrName>
                                        </p:attrNameLst>
                                      </p:cBhvr>
                                      <p:to>
                                        <p:strVal val="visible"/>
                                      </p:to>
                                    </p:set>
                                    <p:animEffect transition="in" filter="fade">
                                      <p:cBhvr>
                                        <p:cTn id="7" dur="4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4"/>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en-US"/>
              <a:t>CONTENTS</a:t>
            </a:r>
            <a:endParaRPr/>
          </a:p>
        </p:txBody>
      </p:sp>
      <p:sp>
        <p:nvSpPr>
          <p:cNvPr id="105" name="Google Shape;105;p14"/>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0" algn="l" rtl="0">
              <a:lnSpc>
                <a:spcPct val="90000"/>
              </a:lnSpc>
              <a:spcBef>
                <a:spcPts val="0"/>
              </a:spcBef>
              <a:spcAft>
                <a:spcPts val="0"/>
              </a:spcAft>
              <a:buSzPts val="2000"/>
              <a:buNone/>
            </a:pPr>
            <a:endParaRPr/>
          </a:p>
        </p:txBody>
      </p:sp>
      <p:pic>
        <p:nvPicPr>
          <p:cNvPr id="106" name="Google Shape;106;p14"/>
          <p:cNvPicPr preferRelativeResize="0"/>
          <p:nvPr/>
        </p:nvPicPr>
        <p:blipFill rotWithShape="1">
          <a:blip r:embed="rId3">
            <a:alphaModFix/>
          </a:blip>
          <a:srcRect/>
          <a:stretch/>
        </p:blipFill>
        <p:spPr>
          <a:xfrm>
            <a:off x="533400" y="2286001"/>
            <a:ext cx="7811385" cy="2895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p:nvPr/>
        </p:nvSpPr>
        <p:spPr>
          <a:xfrm>
            <a:off x="676757" y="6402120"/>
            <a:ext cx="750570" cy="23939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00" b="1">
                <a:solidFill>
                  <a:srgbClr val="FFFFFF"/>
                </a:solidFill>
                <a:latin typeface="Times New Roman"/>
                <a:ea typeface="Times New Roman"/>
                <a:cs typeface="Times New Roman"/>
                <a:sym typeface="Times New Roman"/>
              </a:rPr>
              <a:t>4/26/2022</a:t>
            </a:r>
            <a:endParaRPr sz="1400">
              <a:solidFill>
                <a:schemeClr val="dk1"/>
              </a:solidFill>
              <a:latin typeface="Times New Roman"/>
              <a:ea typeface="Times New Roman"/>
              <a:cs typeface="Times New Roman"/>
              <a:sym typeface="Times New Roman"/>
            </a:endParaRPr>
          </a:p>
        </p:txBody>
      </p:sp>
      <p:pic>
        <p:nvPicPr>
          <p:cNvPr id="112" name="Google Shape;112;p15"/>
          <p:cNvPicPr preferRelativeResize="0"/>
          <p:nvPr/>
        </p:nvPicPr>
        <p:blipFill rotWithShape="1">
          <a:blip r:embed="rId3">
            <a:alphaModFix/>
          </a:blip>
          <a:srcRect/>
          <a:stretch/>
        </p:blipFill>
        <p:spPr>
          <a:xfrm>
            <a:off x="715312" y="1362016"/>
            <a:ext cx="8092984" cy="382504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6"/>
        <p:cNvGrpSpPr/>
        <p:nvPr/>
      </p:nvGrpSpPr>
      <p:grpSpPr>
        <a:xfrm>
          <a:off x="0" y="0"/>
          <a:ext cx="0" cy="0"/>
          <a:chOff x="0" y="0"/>
          <a:chExt cx="0" cy="0"/>
        </a:xfrm>
      </p:grpSpPr>
      <p:sp>
        <p:nvSpPr>
          <p:cNvPr id="117" name="Google Shape;117;p16"/>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374015" lvl="0" indent="0" algn="l" rtl="0">
              <a:lnSpc>
                <a:spcPct val="80000"/>
              </a:lnSpc>
              <a:spcBef>
                <a:spcPts val="0"/>
              </a:spcBef>
              <a:spcAft>
                <a:spcPts val="0"/>
              </a:spcAft>
              <a:buClr>
                <a:srgbClr val="0C0C0C"/>
              </a:buClr>
              <a:buSzPts val="5000"/>
              <a:buFont typeface="Twentieth Century"/>
              <a:buNone/>
            </a:pPr>
            <a:r>
              <a:rPr lang="en-US" sz="5000"/>
              <a:t>DATA PREPROCESSING</a:t>
            </a:r>
            <a:endParaRPr/>
          </a:p>
        </p:txBody>
      </p:sp>
      <p:sp>
        <p:nvSpPr>
          <p:cNvPr id="118" name="Google Shape;118;p16"/>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fontScale="92500" lnSpcReduction="10000"/>
          </a:bodyPr>
          <a:lstStyle/>
          <a:p>
            <a:pPr marL="240029" lvl="0" indent="-227329" algn="l" rtl="0">
              <a:lnSpc>
                <a:spcPct val="90000"/>
              </a:lnSpc>
              <a:spcBef>
                <a:spcPts val="0"/>
              </a:spcBef>
              <a:spcAft>
                <a:spcPts val="0"/>
              </a:spcAft>
              <a:buSzPct val="100000"/>
              <a:buFont typeface="Arial"/>
              <a:buChar char="•"/>
            </a:pPr>
            <a:r>
              <a:rPr lang="en-US" sz="2400">
                <a:latin typeface="Calibri"/>
                <a:ea typeface="Calibri"/>
                <a:cs typeface="Calibri"/>
                <a:sym typeface="Calibri"/>
              </a:rPr>
              <a:t>Data Preprocessing: An Overview</a:t>
            </a:r>
            <a:endParaRPr sz="2400">
              <a:latin typeface="Calibri"/>
              <a:ea typeface="Calibri"/>
              <a:cs typeface="Calibri"/>
              <a:sym typeface="Calibri"/>
            </a:endParaRPr>
          </a:p>
          <a:p>
            <a:pPr marL="696595" lvl="1" indent="-227328" algn="l" rtl="0">
              <a:lnSpc>
                <a:spcPct val="90000"/>
              </a:lnSpc>
              <a:spcBef>
                <a:spcPts val="2145"/>
              </a:spcBef>
              <a:spcAft>
                <a:spcPts val="0"/>
              </a:spcAft>
              <a:buSzPct val="100000"/>
              <a:buFont typeface="Arial"/>
              <a:buChar char="•"/>
            </a:pPr>
            <a:r>
              <a:rPr lang="en-US" sz="2400">
                <a:latin typeface="Calibri"/>
                <a:ea typeface="Calibri"/>
                <a:cs typeface="Calibri"/>
                <a:sym typeface="Calibri"/>
              </a:rPr>
              <a:t>Data Quality</a:t>
            </a:r>
            <a:endParaRPr sz="2400">
              <a:latin typeface="Calibri"/>
              <a:ea typeface="Calibri"/>
              <a:cs typeface="Calibri"/>
              <a:sym typeface="Calibri"/>
            </a:endParaRPr>
          </a:p>
          <a:p>
            <a:pPr marL="696595" lvl="1" indent="-227328" algn="l" rtl="0">
              <a:lnSpc>
                <a:spcPct val="90000"/>
              </a:lnSpc>
              <a:spcBef>
                <a:spcPts val="2335"/>
              </a:spcBef>
              <a:spcAft>
                <a:spcPts val="0"/>
              </a:spcAft>
              <a:buSzPct val="100000"/>
              <a:buFont typeface="Arial"/>
              <a:buChar char="•"/>
            </a:pPr>
            <a:r>
              <a:rPr lang="en-US" sz="2400">
                <a:latin typeface="Calibri"/>
                <a:ea typeface="Calibri"/>
                <a:cs typeface="Calibri"/>
                <a:sym typeface="Calibri"/>
              </a:rPr>
              <a:t>Major Tasks in Data Preprocessing</a:t>
            </a:r>
            <a:endParaRPr sz="2400">
              <a:latin typeface="Calibri"/>
              <a:ea typeface="Calibri"/>
              <a:cs typeface="Calibri"/>
              <a:sym typeface="Calibri"/>
            </a:endParaRPr>
          </a:p>
          <a:p>
            <a:pPr marL="240029" lvl="0" indent="-227329" algn="l" rtl="0">
              <a:lnSpc>
                <a:spcPct val="90000"/>
              </a:lnSpc>
              <a:spcBef>
                <a:spcPts val="2845"/>
              </a:spcBef>
              <a:spcAft>
                <a:spcPts val="0"/>
              </a:spcAft>
              <a:buSzPct val="100000"/>
              <a:buFont typeface="Arial"/>
              <a:buChar char="•"/>
            </a:pPr>
            <a:r>
              <a:rPr lang="en-US" sz="2400">
                <a:latin typeface="Calibri"/>
                <a:ea typeface="Calibri"/>
                <a:cs typeface="Calibri"/>
                <a:sym typeface="Calibri"/>
              </a:rPr>
              <a:t>Data Cleaning</a:t>
            </a:r>
            <a:endParaRPr sz="2400">
              <a:latin typeface="Calibri"/>
              <a:ea typeface="Calibri"/>
              <a:cs typeface="Calibri"/>
              <a:sym typeface="Calibri"/>
            </a:endParaRPr>
          </a:p>
          <a:p>
            <a:pPr marL="240029" lvl="0" indent="-227329" algn="l" rtl="0">
              <a:lnSpc>
                <a:spcPct val="90000"/>
              </a:lnSpc>
              <a:spcBef>
                <a:spcPts val="2640"/>
              </a:spcBef>
              <a:spcAft>
                <a:spcPts val="0"/>
              </a:spcAft>
              <a:buSzPct val="100000"/>
              <a:buFont typeface="Arial"/>
              <a:buChar char="•"/>
            </a:pPr>
            <a:r>
              <a:rPr lang="en-US" sz="2400">
                <a:latin typeface="Calibri"/>
                <a:ea typeface="Calibri"/>
                <a:cs typeface="Calibri"/>
                <a:sym typeface="Calibri"/>
              </a:rPr>
              <a:t>Data Integration</a:t>
            </a:r>
            <a:endParaRPr sz="2400">
              <a:latin typeface="Calibri"/>
              <a:ea typeface="Calibri"/>
              <a:cs typeface="Calibri"/>
              <a:sym typeface="Calibri"/>
            </a:endParaRPr>
          </a:p>
          <a:p>
            <a:pPr marL="240029" lvl="0" indent="-227329" algn="l" rtl="0">
              <a:lnSpc>
                <a:spcPct val="90000"/>
              </a:lnSpc>
              <a:spcBef>
                <a:spcPts val="2635"/>
              </a:spcBef>
              <a:spcAft>
                <a:spcPts val="0"/>
              </a:spcAft>
              <a:buSzPct val="100000"/>
              <a:buFont typeface="Arial"/>
              <a:buChar char="•"/>
            </a:pPr>
            <a:r>
              <a:rPr lang="en-US" sz="2400">
                <a:latin typeface="Calibri"/>
                <a:ea typeface="Calibri"/>
                <a:cs typeface="Calibri"/>
                <a:sym typeface="Calibri"/>
              </a:rPr>
              <a:t>Data Reduction</a:t>
            </a:r>
            <a:endParaRPr sz="2400">
              <a:latin typeface="Calibri"/>
              <a:ea typeface="Calibri"/>
              <a:cs typeface="Calibri"/>
              <a:sym typeface="Calibri"/>
            </a:endParaRPr>
          </a:p>
          <a:p>
            <a:pPr marL="240029" lvl="0" indent="-227329" algn="l" rtl="0">
              <a:lnSpc>
                <a:spcPct val="90000"/>
              </a:lnSpc>
              <a:spcBef>
                <a:spcPts val="2650"/>
              </a:spcBef>
              <a:spcAft>
                <a:spcPts val="0"/>
              </a:spcAft>
              <a:buSzPct val="100000"/>
              <a:buFont typeface="Arial"/>
              <a:buChar char="•"/>
            </a:pPr>
            <a:r>
              <a:rPr lang="en-US" sz="2400">
                <a:latin typeface="Calibri"/>
                <a:ea typeface="Calibri"/>
                <a:cs typeface="Calibri"/>
                <a:sym typeface="Calibri"/>
              </a:rPr>
              <a:t>Data Transformation and Data Discretization</a:t>
            </a:r>
            <a:endParaRPr sz="2400">
              <a:latin typeface="Calibri"/>
              <a:ea typeface="Calibri"/>
              <a:cs typeface="Calibri"/>
              <a:sym typeface="Calibri"/>
            </a:endParaRPr>
          </a:p>
          <a:p>
            <a:pPr marL="91440" lvl="0" indent="0" algn="l" rtl="0">
              <a:lnSpc>
                <a:spcPct val="90000"/>
              </a:lnSpc>
              <a:spcBef>
                <a:spcPts val="1400"/>
              </a:spcBef>
              <a:spcAft>
                <a:spcPts val="0"/>
              </a:spcAft>
              <a:buSzPct val="100000"/>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3"/>
        <p:cNvGrpSpPr/>
        <p:nvPr/>
      </p:nvGrpSpPr>
      <p:grpSpPr>
        <a:xfrm>
          <a:off x="0" y="0"/>
          <a:ext cx="0" cy="0"/>
          <a:chOff x="0" y="0"/>
          <a:chExt cx="0" cy="0"/>
        </a:xfrm>
      </p:grpSpPr>
      <p:sp>
        <p:nvSpPr>
          <p:cNvPr id="124" name="Google Shape;124;p17"/>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25" name="Google Shape;125;p17"/>
          <p:cNvSpPr txBox="1">
            <a:spLocks noGrp="1"/>
          </p:cNvSpPr>
          <p:nvPr>
            <p:ph type="title"/>
          </p:nvPr>
        </p:nvSpPr>
        <p:spPr>
          <a:xfrm>
            <a:off x="723591" y="804333"/>
            <a:ext cx="2543925" cy="5249334"/>
          </a:xfrm>
          <a:prstGeom prst="rect">
            <a:avLst/>
          </a:prstGeom>
          <a:noFill/>
          <a:ln>
            <a:noFill/>
          </a:ln>
        </p:spPr>
        <p:txBody>
          <a:bodyPr spcFirstLastPara="1" wrap="square" lIns="0" tIns="311975" rIns="0" bIns="0" anchor="ctr" anchorCtr="0">
            <a:normAutofit/>
          </a:bodyPr>
          <a:lstStyle/>
          <a:p>
            <a:pPr marL="1007744" lvl="0" indent="0" algn="r" rtl="0">
              <a:lnSpc>
                <a:spcPct val="80000"/>
              </a:lnSpc>
              <a:spcBef>
                <a:spcPts val="0"/>
              </a:spcBef>
              <a:spcAft>
                <a:spcPts val="0"/>
              </a:spcAft>
              <a:buClr>
                <a:srgbClr val="0C0C0C"/>
              </a:buClr>
              <a:buSzPts val="3100"/>
              <a:buFont typeface="Twentieth Century"/>
              <a:buNone/>
            </a:pPr>
            <a:r>
              <a:rPr lang="en-US" sz="3100"/>
              <a:t>DATA QUALITY: WHY PREPROCESS THE DATA?</a:t>
            </a:r>
            <a:endParaRPr sz="3100"/>
          </a:p>
        </p:txBody>
      </p:sp>
      <p:cxnSp>
        <p:nvCxnSpPr>
          <p:cNvPr id="126" name="Google Shape;126;p17"/>
          <p:cNvCxnSpPr/>
          <p:nvPr/>
        </p:nvCxnSpPr>
        <p:spPr>
          <a:xfrm>
            <a:off x="3508197" y="1600200"/>
            <a:ext cx="0" cy="3657600"/>
          </a:xfrm>
          <a:prstGeom prst="straightConnector1">
            <a:avLst/>
          </a:prstGeom>
          <a:noFill/>
          <a:ln w="19050" cap="flat" cmpd="sng">
            <a:solidFill>
              <a:schemeClr val="accent1"/>
            </a:solidFill>
            <a:prstDash val="solid"/>
            <a:round/>
            <a:headEnd type="none" w="sm" len="sm"/>
            <a:tailEnd type="none" w="sm" len="sm"/>
          </a:ln>
        </p:spPr>
      </p:cxnSp>
      <p:grpSp>
        <p:nvGrpSpPr>
          <p:cNvPr id="127" name="Google Shape;127;p17"/>
          <p:cNvGrpSpPr/>
          <p:nvPr/>
        </p:nvGrpSpPr>
        <p:grpSpPr>
          <a:xfrm>
            <a:off x="3749497" y="1082354"/>
            <a:ext cx="4693291" cy="4693291"/>
            <a:chOff x="0" y="278021"/>
            <a:chExt cx="4693291" cy="4693291"/>
          </a:xfrm>
        </p:grpSpPr>
        <p:sp>
          <p:nvSpPr>
            <p:cNvPr id="128" name="Google Shape;128;p17"/>
            <p:cNvSpPr/>
            <p:nvPr/>
          </p:nvSpPr>
          <p:spPr>
            <a:xfrm>
              <a:off x="0" y="278021"/>
              <a:ext cx="4693291" cy="469329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7"/>
            <p:cNvSpPr txBox="1"/>
            <p:nvPr/>
          </p:nvSpPr>
          <p:spPr>
            <a:xfrm>
              <a:off x="0" y="278021"/>
              <a:ext cx="4693291" cy="4693291"/>
            </a:xfrm>
            <a:prstGeom prst="rect">
              <a:avLst/>
            </a:prstGeom>
            <a:noFill/>
            <a:ln>
              <a:noFill/>
            </a:ln>
          </p:spPr>
          <p:txBody>
            <a:bodyPr spcFirstLastPara="1" wrap="square" lIns="39350" tIns="39350" rIns="39350" bIns="39350" anchor="ctr" anchorCtr="0">
              <a:noAutofit/>
            </a:bodyPr>
            <a:lstStyle/>
            <a:p>
              <a:pPr marL="0" marR="0" lvl="0" indent="0" algn="l" rtl="0">
                <a:lnSpc>
                  <a:spcPct val="90000"/>
                </a:lnSpc>
                <a:spcBef>
                  <a:spcPts val="0"/>
                </a:spcBef>
                <a:spcAft>
                  <a:spcPts val="0"/>
                </a:spcAft>
                <a:buClr>
                  <a:schemeClr val="dk1"/>
                </a:buClr>
                <a:buSzPts val="3100"/>
                <a:buFont typeface="Twentieth Century"/>
                <a:buNone/>
              </a:pPr>
              <a:r>
                <a:rPr lang="en-US" sz="3100" dirty="0">
                  <a:solidFill>
                    <a:schemeClr val="dk1"/>
                  </a:solidFill>
                  <a:latin typeface="Twentieth Century"/>
                  <a:ea typeface="Twentieth Century"/>
                  <a:cs typeface="Twentieth Century"/>
                  <a:sym typeface="Twentieth Century"/>
                </a:rPr>
                <a:t>Measures for data quality: A multidimensional view</a:t>
              </a:r>
              <a:endParaRPr dirty="0"/>
            </a:p>
            <a:p>
              <a:pPr marL="228600" marR="0" lvl="1" indent="-228600" algn="l" rtl="0">
                <a:lnSpc>
                  <a:spcPct val="90000"/>
                </a:lnSpc>
                <a:spcBef>
                  <a:spcPts val="1085"/>
                </a:spcBef>
                <a:spcAft>
                  <a:spcPts val="0"/>
                </a:spcAft>
                <a:buClr>
                  <a:schemeClr val="dk1"/>
                </a:buClr>
                <a:buSzPts val="2400"/>
                <a:buFont typeface="Twentieth Century"/>
                <a:buChar char="•"/>
              </a:pPr>
              <a:r>
                <a:rPr lang="en-US" sz="2400" b="0" i="0" u="none" strike="noStrike" cap="none" dirty="0">
                  <a:solidFill>
                    <a:schemeClr val="dk1"/>
                  </a:solidFill>
                  <a:latin typeface="Twentieth Century"/>
                  <a:ea typeface="Twentieth Century"/>
                  <a:cs typeface="Twentieth Century"/>
                  <a:sym typeface="Twentieth Century"/>
                </a:rPr>
                <a:t>o </a:t>
              </a:r>
              <a:r>
                <a:rPr lang="en-US" sz="2400" b="0" i="0" u="none" strike="noStrike" cap="none" dirty="0">
                  <a:solidFill>
                    <a:schemeClr val="dk1"/>
                  </a:solidFill>
                  <a:highlight>
                    <a:srgbClr val="FFFF00"/>
                  </a:highlight>
                  <a:latin typeface="Twentieth Century"/>
                  <a:ea typeface="Twentieth Century"/>
                  <a:cs typeface="Twentieth Century"/>
                  <a:sym typeface="Twentieth Century"/>
                </a:rPr>
                <a:t>Accuracy:</a:t>
              </a:r>
              <a:r>
                <a:rPr lang="en-US" sz="2400" b="0" i="0" u="none" strike="noStrike" cap="none" dirty="0">
                  <a:solidFill>
                    <a:schemeClr val="dk1"/>
                  </a:solidFill>
                  <a:latin typeface="Twentieth Century"/>
                  <a:ea typeface="Twentieth Century"/>
                  <a:cs typeface="Twentieth Century"/>
                  <a:sym typeface="Twentieth Century"/>
                </a:rPr>
                <a:t> correct or wrong, accurate or not</a:t>
              </a:r>
              <a:endParaRPr dirty="0"/>
            </a:p>
            <a:p>
              <a:pPr marL="457200" marR="0" lvl="2" indent="-228600" algn="l" rtl="0">
                <a:lnSpc>
                  <a:spcPct val="90000"/>
                </a:lnSpc>
                <a:spcBef>
                  <a:spcPts val="360"/>
                </a:spcBef>
                <a:spcAft>
                  <a:spcPts val="0"/>
                </a:spcAft>
                <a:buClr>
                  <a:schemeClr val="dk1"/>
                </a:buClr>
                <a:buSzPts val="2400"/>
                <a:buFont typeface="Twentieth Century"/>
                <a:buChar char="•"/>
              </a:pPr>
              <a:r>
                <a:rPr lang="en-US" sz="2400" b="0" i="0" u="none" strike="noStrike" cap="none" dirty="0">
                  <a:solidFill>
                    <a:schemeClr val="dk1"/>
                  </a:solidFill>
                  <a:highlight>
                    <a:srgbClr val="FFFF00"/>
                  </a:highlight>
                  <a:latin typeface="Twentieth Century"/>
                  <a:ea typeface="Twentieth Century"/>
                  <a:cs typeface="Twentieth Century"/>
                  <a:sym typeface="Twentieth Century"/>
                </a:rPr>
                <a:t>Completeness:</a:t>
              </a:r>
              <a:r>
                <a:rPr lang="en-US" sz="2400" b="0" i="0" u="none" strike="noStrike" cap="none" dirty="0">
                  <a:solidFill>
                    <a:schemeClr val="dk1"/>
                  </a:solidFill>
                  <a:latin typeface="Twentieth Century"/>
                  <a:ea typeface="Twentieth Century"/>
                  <a:cs typeface="Twentieth Century"/>
                  <a:sym typeface="Twentieth Century"/>
                </a:rPr>
                <a:t> not recorded, unavailable, …</a:t>
              </a:r>
              <a:endParaRPr dirty="0"/>
            </a:p>
            <a:p>
              <a:pPr marL="457200" marR="0" lvl="2" indent="-228600" algn="l" rtl="0">
                <a:lnSpc>
                  <a:spcPct val="90000"/>
                </a:lnSpc>
                <a:spcBef>
                  <a:spcPts val="360"/>
                </a:spcBef>
                <a:spcAft>
                  <a:spcPts val="0"/>
                </a:spcAft>
                <a:buClr>
                  <a:schemeClr val="dk1"/>
                </a:buClr>
                <a:buSzPts val="2400"/>
                <a:buFont typeface="Twentieth Century"/>
                <a:buChar char="•"/>
              </a:pPr>
              <a:r>
                <a:rPr lang="en-US" sz="2400" b="0" i="0" u="none" strike="noStrike" cap="none" dirty="0">
                  <a:solidFill>
                    <a:schemeClr val="dk1"/>
                  </a:solidFill>
                  <a:highlight>
                    <a:srgbClr val="FFFF00"/>
                  </a:highlight>
                  <a:latin typeface="Twentieth Century"/>
                  <a:ea typeface="Twentieth Century"/>
                  <a:cs typeface="Twentieth Century"/>
                  <a:sym typeface="Twentieth Century"/>
                </a:rPr>
                <a:t>Consistency: </a:t>
              </a:r>
              <a:r>
                <a:rPr lang="en-US" sz="2400" b="0" i="0" u="none" strike="noStrike" cap="none" dirty="0">
                  <a:solidFill>
                    <a:schemeClr val="dk1"/>
                  </a:solidFill>
                  <a:latin typeface="Twentieth Century"/>
                  <a:ea typeface="Twentieth Century"/>
                  <a:cs typeface="Twentieth Century"/>
                  <a:sym typeface="Twentieth Century"/>
                </a:rPr>
                <a:t>some modified but some not, dangling, …</a:t>
              </a:r>
              <a:endParaRPr dirty="0"/>
            </a:p>
            <a:p>
              <a:pPr marL="457200" marR="0" lvl="2" indent="-228600" algn="l" rtl="0">
                <a:lnSpc>
                  <a:spcPct val="90000"/>
                </a:lnSpc>
                <a:spcBef>
                  <a:spcPts val="360"/>
                </a:spcBef>
                <a:spcAft>
                  <a:spcPts val="0"/>
                </a:spcAft>
                <a:buClr>
                  <a:schemeClr val="dk1"/>
                </a:buClr>
                <a:buSzPts val="2400"/>
                <a:buFont typeface="Twentieth Century"/>
                <a:buChar char="•"/>
              </a:pPr>
              <a:r>
                <a:rPr lang="en-US" sz="2400" b="0" i="0" u="none" strike="noStrike" cap="none" dirty="0">
                  <a:solidFill>
                    <a:schemeClr val="dk1"/>
                  </a:solidFill>
                  <a:highlight>
                    <a:srgbClr val="FFFF00"/>
                  </a:highlight>
                  <a:latin typeface="Twentieth Century"/>
                  <a:ea typeface="Twentieth Century"/>
                  <a:cs typeface="Twentieth Century"/>
                  <a:sym typeface="Twentieth Century"/>
                </a:rPr>
                <a:t>Timeliness:</a:t>
              </a:r>
              <a:r>
                <a:rPr lang="en-US" sz="2400" b="0" i="0" u="none" strike="noStrike" cap="none" dirty="0">
                  <a:solidFill>
                    <a:schemeClr val="dk1"/>
                  </a:solidFill>
                  <a:latin typeface="Twentieth Century"/>
                  <a:ea typeface="Twentieth Century"/>
                  <a:cs typeface="Twentieth Century"/>
                  <a:sym typeface="Twentieth Century"/>
                </a:rPr>
                <a:t> timely update?</a:t>
              </a:r>
              <a:endParaRPr dirty="0"/>
            </a:p>
            <a:p>
              <a:pPr marL="457200" marR="0" lvl="2" indent="-228600" algn="l" rtl="0">
                <a:lnSpc>
                  <a:spcPct val="90000"/>
                </a:lnSpc>
                <a:spcBef>
                  <a:spcPts val="360"/>
                </a:spcBef>
                <a:spcAft>
                  <a:spcPts val="0"/>
                </a:spcAft>
                <a:buClr>
                  <a:schemeClr val="dk1"/>
                </a:buClr>
                <a:buSzPts val="2400"/>
                <a:buFont typeface="Twentieth Century"/>
                <a:buChar char="•"/>
              </a:pPr>
              <a:r>
                <a:rPr lang="en-US" sz="2400" b="0" i="0" u="none" strike="noStrike" cap="none" dirty="0">
                  <a:solidFill>
                    <a:schemeClr val="dk1"/>
                  </a:solidFill>
                  <a:highlight>
                    <a:srgbClr val="FFFF00"/>
                  </a:highlight>
                  <a:latin typeface="Twentieth Century"/>
                  <a:ea typeface="Twentieth Century"/>
                  <a:cs typeface="Twentieth Century"/>
                  <a:sym typeface="Twentieth Century"/>
                </a:rPr>
                <a:t>Believability: </a:t>
              </a:r>
              <a:r>
                <a:rPr lang="en-US" sz="2400" b="0" i="0" u="none" strike="noStrike" cap="none" dirty="0">
                  <a:solidFill>
                    <a:schemeClr val="dk1"/>
                  </a:solidFill>
                  <a:latin typeface="Twentieth Century"/>
                  <a:ea typeface="Twentieth Century"/>
                  <a:cs typeface="Twentieth Century"/>
                  <a:sym typeface="Twentieth Century"/>
                </a:rPr>
                <a:t>how trustable the data are correct?</a:t>
              </a:r>
              <a:endParaRPr dirty="0"/>
            </a:p>
            <a:p>
              <a:pPr marL="457200" marR="0" lvl="2" indent="-228600" algn="l" rtl="0">
                <a:lnSpc>
                  <a:spcPct val="90000"/>
                </a:lnSpc>
                <a:spcBef>
                  <a:spcPts val="360"/>
                </a:spcBef>
                <a:spcAft>
                  <a:spcPts val="0"/>
                </a:spcAft>
                <a:buClr>
                  <a:schemeClr val="dk1"/>
                </a:buClr>
                <a:buSzPts val="2400"/>
                <a:buFont typeface="Twentieth Century"/>
                <a:buChar char="•"/>
              </a:pPr>
              <a:r>
                <a:rPr lang="en-US" sz="2400" b="0" i="0" u="none" strike="noStrike" cap="none" dirty="0">
                  <a:solidFill>
                    <a:schemeClr val="dk1"/>
                  </a:solidFill>
                  <a:highlight>
                    <a:srgbClr val="FFFF00"/>
                  </a:highlight>
                  <a:latin typeface="Twentieth Century"/>
                  <a:ea typeface="Twentieth Century"/>
                  <a:cs typeface="Twentieth Century"/>
                  <a:sym typeface="Twentieth Century"/>
                </a:rPr>
                <a:t>Interpretability: </a:t>
              </a:r>
              <a:r>
                <a:rPr lang="en-US" sz="2400" b="0" i="0" u="none" strike="noStrike" cap="none" dirty="0">
                  <a:solidFill>
                    <a:schemeClr val="dk1"/>
                  </a:solidFill>
                  <a:latin typeface="Twentieth Century"/>
                  <a:ea typeface="Twentieth Century"/>
                  <a:cs typeface="Twentieth Century"/>
                  <a:sym typeface="Twentieth Century"/>
                </a:rPr>
                <a:t>how easily the data can be understood?</a:t>
              </a:r>
              <a:endParaRPr dirty="0"/>
            </a:p>
          </p:txBody>
        </p:sp>
      </p:grpSp>
      <p:sp>
        <p:nvSpPr>
          <p:cNvPr id="130" name="Google Shape;130;p17"/>
          <p:cNvSpPr txBox="1"/>
          <p:nvPr/>
        </p:nvSpPr>
        <p:spPr>
          <a:xfrm>
            <a:off x="689457" y="6434236"/>
            <a:ext cx="725170" cy="197485"/>
          </a:xfrm>
          <a:prstGeom prst="rect">
            <a:avLst/>
          </a:prstGeom>
          <a:noFill/>
          <a:ln>
            <a:noFill/>
          </a:ln>
        </p:spPr>
        <p:txBody>
          <a:bodyPr spcFirstLastPara="1" wrap="square" lIns="0" tIns="0" rIns="0" bIns="0" anchor="t" anchorCtr="0">
            <a:spAutoFit/>
          </a:bodyPr>
          <a:lstStyle/>
          <a:p>
            <a:pPr marL="0" marR="0" lvl="0" indent="0" algn="l" rtl="0">
              <a:lnSpc>
                <a:spcPct val="109285"/>
              </a:lnSpc>
              <a:spcBef>
                <a:spcPts val="0"/>
              </a:spcBef>
              <a:spcAft>
                <a:spcPts val="0"/>
              </a:spcAft>
              <a:buNone/>
            </a:pPr>
            <a:r>
              <a:rPr lang="en-US" sz="1400" b="1">
                <a:solidFill>
                  <a:srgbClr val="FFFFFF"/>
                </a:solidFill>
                <a:latin typeface="Times New Roman"/>
                <a:ea typeface="Times New Roman"/>
                <a:cs typeface="Times New Roman"/>
                <a:sym typeface="Times New Roman"/>
              </a:rPr>
              <a:t>4/26/2022</a:t>
            </a: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p:cNvGrpSpPr/>
        <p:nvPr/>
      </p:nvGrpSpPr>
      <p:grpSpPr>
        <a:xfrm>
          <a:off x="0" y="0"/>
          <a:ext cx="0" cy="0"/>
          <a:chOff x="0" y="0"/>
          <a:chExt cx="0" cy="0"/>
        </a:xfrm>
      </p:grpSpPr>
      <p:sp>
        <p:nvSpPr>
          <p:cNvPr id="136" name="Google Shape;136;p18"/>
          <p:cNvSpPr/>
          <p:nvPr/>
        </p:nvSpPr>
        <p:spPr>
          <a:xfrm>
            <a:off x="0" y="0"/>
            <a:ext cx="3486149" cy="6858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37" name="Google Shape;137;p18"/>
          <p:cNvSpPr txBox="1">
            <a:spLocks noGrp="1"/>
          </p:cNvSpPr>
          <p:nvPr>
            <p:ph type="title"/>
          </p:nvPr>
        </p:nvSpPr>
        <p:spPr>
          <a:xfrm>
            <a:off x="482601" y="643467"/>
            <a:ext cx="2561709" cy="5571066"/>
          </a:xfrm>
          <a:prstGeom prst="rect">
            <a:avLst/>
          </a:prstGeom>
          <a:noFill/>
          <a:ln>
            <a:noFill/>
          </a:ln>
        </p:spPr>
        <p:txBody>
          <a:bodyPr spcFirstLastPara="1" wrap="square" lIns="0" tIns="311975" rIns="0" bIns="0" anchor="ctr" anchorCtr="0">
            <a:normAutofit/>
          </a:bodyPr>
          <a:lstStyle/>
          <a:p>
            <a:pPr marL="1466850" lvl="0" indent="0" algn="l" rtl="0">
              <a:lnSpc>
                <a:spcPct val="80000"/>
              </a:lnSpc>
              <a:spcBef>
                <a:spcPts val="0"/>
              </a:spcBef>
              <a:spcAft>
                <a:spcPts val="0"/>
              </a:spcAft>
              <a:buClr>
                <a:srgbClr val="FFFFFF"/>
              </a:buClr>
              <a:buSzPts val="1800"/>
              <a:buFont typeface="Twentieth Century"/>
              <a:buNone/>
            </a:pPr>
            <a:r>
              <a:rPr lang="en-US" sz="1800">
                <a:solidFill>
                  <a:srgbClr val="FFFFFF"/>
                </a:solidFill>
              </a:rPr>
              <a:t>MAJOR TASKS IN DATA PREPROCESSING</a:t>
            </a:r>
            <a:endParaRPr sz="1800">
              <a:solidFill>
                <a:srgbClr val="FFFFFF"/>
              </a:solidFill>
            </a:endParaRPr>
          </a:p>
        </p:txBody>
      </p:sp>
      <p:sp>
        <p:nvSpPr>
          <p:cNvPr id="138" name="Google Shape;138;p18"/>
          <p:cNvSpPr txBox="1"/>
          <p:nvPr/>
        </p:nvSpPr>
        <p:spPr>
          <a:xfrm>
            <a:off x="689457" y="6434236"/>
            <a:ext cx="725170" cy="197485"/>
          </a:xfrm>
          <a:prstGeom prst="rect">
            <a:avLst/>
          </a:prstGeom>
          <a:noFill/>
          <a:ln>
            <a:noFill/>
          </a:ln>
        </p:spPr>
        <p:txBody>
          <a:bodyPr spcFirstLastPara="1" wrap="square" lIns="0" tIns="0" rIns="0" bIns="0" anchor="t" anchorCtr="0">
            <a:spAutoFit/>
          </a:bodyPr>
          <a:lstStyle/>
          <a:p>
            <a:pPr marL="0" marR="0" lvl="0" indent="0" algn="l" rtl="0">
              <a:lnSpc>
                <a:spcPct val="109285"/>
              </a:lnSpc>
              <a:spcBef>
                <a:spcPts val="0"/>
              </a:spcBef>
              <a:spcAft>
                <a:spcPts val="0"/>
              </a:spcAft>
              <a:buNone/>
            </a:pPr>
            <a:r>
              <a:rPr lang="en-US" sz="1400" b="1">
                <a:solidFill>
                  <a:srgbClr val="FFFFFF"/>
                </a:solidFill>
                <a:latin typeface="Times New Roman"/>
                <a:ea typeface="Times New Roman"/>
                <a:cs typeface="Times New Roman"/>
                <a:sym typeface="Times New Roman"/>
              </a:rPr>
              <a:t>4/26/2022</a:t>
            </a:r>
            <a:endParaRPr sz="1400">
              <a:solidFill>
                <a:schemeClr val="dk1"/>
              </a:solidFill>
              <a:latin typeface="Times New Roman"/>
              <a:ea typeface="Times New Roman"/>
              <a:cs typeface="Times New Roman"/>
              <a:sym typeface="Times New Roman"/>
            </a:endParaRPr>
          </a:p>
        </p:txBody>
      </p:sp>
      <p:grpSp>
        <p:nvGrpSpPr>
          <p:cNvPr id="139" name="Google Shape;139;p18"/>
          <p:cNvGrpSpPr/>
          <p:nvPr/>
        </p:nvGrpSpPr>
        <p:grpSpPr>
          <a:xfrm>
            <a:off x="4202906" y="995850"/>
            <a:ext cx="4231481" cy="4837725"/>
            <a:chOff x="0" y="41762"/>
            <a:chExt cx="4231481" cy="4837725"/>
          </a:xfrm>
        </p:grpSpPr>
        <p:sp>
          <p:nvSpPr>
            <p:cNvPr id="140" name="Google Shape;140;p18"/>
            <p:cNvSpPr/>
            <p:nvPr/>
          </p:nvSpPr>
          <p:spPr>
            <a:xfrm>
              <a:off x="0" y="263162"/>
              <a:ext cx="4231481" cy="1015875"/>
            </a:xfrm>
            <a:prstGeom prst="rect">
              <a:avLst/>
            </a:prstGeom>
            <a:solidFill>
              <a:schemeClr val="lt1">
                <a:alpha val="89803"/>
              </a:schemeClr>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8"/>
            <p:cNvSpPr txBox="1"/>
            <p:nvPr/>
          </p:nvSpPr>
          <p:spPr>
            <a:xfrm>
              <a:off x="0" y="263162"/>
              <a:ext cx="4231481" cy="1015875"/>
            </a:xfrm>
            <a:prstGeom prst="rect">
              <a:avLst/>
            </a:prstGeom>
            <a:noFill/>
            <a:ln>
              <a:noFill/>
            </a:ln>
          </p:spPr>
          <p:txBody>
            <a:bodyPr spcFirstLastPara="1" wrap="square" lIns="328400" tIns="312400" rIns="328400" bIns="106675" anchor="t" anchorCtr="0">
              <a:noAutofit/>
            </a:bodyPr>
            <a:lstStyle/>
            <a:p>
              <a:pPr marL="114300" marR="0" lvl="1" indent="-114300" algn="l" rtl="0">
                <a:lnSpc>
                  <a:spcPct val="90000"/>
                </a:lnSpc>
                <a:spcBef>
                  <a:spcPts val="0"/>
                </a:spcBef>
                <a:spcAft>
                  <a:spcPts val="0"/>
                </a:spcAft>
                <a:buClr>
                  <a:schemeClr val="dk1"/>
                </a:buClr>
                <a:buSzPts val="1500"/>
                <a:buFont typeface="Twentieth Century"/>
                <a:buChar char="•"/>
              </a:pPr>
              <a:r>
                <a:rPr lang="en-US" sz="1500" b="0" i="0" u="none" strike="noStrike" cap="none">
                  <a:solidFill>
                    <a:schemeClr val="dk1"/>
                  </a:solidFill>
                  <a:latin typeface="Twentieth Century"/>
                  <a:ea typeface="Twentieth Century"/>
                  <a:cs typeface="Twentieth Century"/>
                  <a:sym typeface="Twentieth Century"/>
                </a:rPr>
                <a:t>Fill in missing values, smooth noisy data, identify or remove outliers,</a:t>
              </a:r>
              <a:endParaRPr/>
            </a:p>
            <a:p>
              <a:pPr marL="114300" marR="0" lvl="1" indent="-114300" algn="l" rtl="0">
                <a:lnSpc>
                  <a:spcPct val="90000"/>
                </a:lnSpc>
                <a:spcBef>
                  <a:spcPts val="225"/>
                </a:spcBef>
                <a:spcAft>
                  <a:spcPts val="0"/>
                </a:spcAft>
                <a:buClr>
                  <a:schemeClr val="dk1"/>
                </a:buClr>
                <a:buSzPts val="1500"/>
                <a:buFont typeface="Twentieth Century"/>
                <a:buChar char="•"/>
              </a:pPr>
              <a:r>
                <a:rPr lang="en-US" sz="1500" b="0" i="0" u="none" strike="noStrike" cap="none">
                  <a:solidFill>
                    <a:schemeClr val="dk1"/>
                  </a:solidFill>
                  <a:latin typeface="Twentieth Century"/>
                  <a:ea typeface="Twentieth Century"/>
                  <a:cs typeface="Twentieth Century"/>
                  <a:sym typeface="Twentieth Century"/>
                </a:rPr>
                <a:t>and resolve inconsistencies</a:t>
              </a:r>
              <a:endParaRPr sz="1500" b="0" i="0" u="none" strike="noStrike" cap="none">
                <a:solidFill>
                  <a:schemeClr val="dk1"/>
                </a:solidFill>
                <a:latin typeface="Twentieth Century"/>
                <a:ea typeface="Twentieth Century"/>
                <a:cs typeface="Twentieth Century"/>
                <a:sym typeface="Twentieth Century"/>
              </a:endParaRPr>
            </a:p>
          </p:txBody>
        </p:sp>
        <p:sp>
          <p:nvSpPr>
            <p:cNvPr id="142" name="Google Shape;142;p18"/>
            <p:cNvSpPr/>
            <p:nvPr/>
          </p:nvSpPr>
          <p:spPr>
            <a:xfrm>
              <a:off x="211574" y="41762"/>
              <a:ext cx="2962036" cy="442800"/>
            </a:xfrm>
            <a:prstGeom prst="roundRect">
              <a:avLst>
                <a:gd name="adj" fmla="val 16667"/>
              </a:avLst>
            </a:prstGeom>
            <a:gradFill>
              <a:gsLst>
                <a:gs pos="0">
                  <a:srgbClr val="4FA9B2"/>
                </a:gs>
                <a:gs pos="100000">
                  <a:srgbClr val="63CFDB"/>
                </a:gs>
              </a:gsLst>
              <a:path path="circle">
                <a:fillToRect l="50000" t="50000" r="50000" b="50000"/>
              </a:path>
              <a:tileRect/>
            </a:gradFill>
            <a:ln>
              <a:noFill/>
            </a:ln>
            <a:effectLst>
              <a:outerShdw blurRad="50800" dist="12700" dir="5400000" algn="ctr" rotWithShape="0">
                <a:srgbClr val="000000">
                  <a:alpha val="4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8"/>
            <p:cNvSpPr txBox="1"/>
            <p:nvPr/>
          </p:nvSpPr>
          <p:spPr>
            <a:xfrm>
              <a:off x="233190" y="63378"/>
              <a:ext cx="2918804" cy="399568"/>
            </a:xfrm>
            <a:prstGeom prst="rect">
              <a:avLst/>
            </a:prstGeom>
            <a:noFill/>
            <a:ln>
              <a:noFill/>
            </a:ln>
          </p:spPr>
          <p:txBody>
            <a:bodyPr spcFirstLastPara="1" wrap="square" lIns="111950" tIns="0" rIns="111950" bIns="0" anchor="ctr" anchorCtr="0">
              <a:noAutofit/>
            </a:bodyPr>
            <a:lstStyle/>
            <a:p>
              <a:pPr marL="0" marR="0" lvl="0" indent="0" algn="l" rtl="0">
                <a:lnSpc>
                  <a:spcPct val="90000"/>
                </a:lnSpc>
                <a:spcBef>
                  <a:spcPts val="0"/>
                </a:spcBef>
                <a:spcAft>
                  <a:spcPts val="0"/>
                </a:spcAft>
                <a:buClr>
                  <a:schemeClr val="lt1"/>
                </a:buClr>
                <a:buSzPts val="1500"/>
                <a:buFont typeface="Twentieth Century"/>
                <a:buNone/>
              </a:pPr>
              <a:r>
                <a:rPr lang="en-US" sz="1500" b="1" dirty="0">
                  <a:solidFill>
                    <a:schemeClr val="lt1"/>
                  </a:solidFill>
                  <a:latin typeface="Twentieth Century"/>
                  <a:ea typeface="Twentieth Century"/>
                  <a:cs typeface="Twentieth Century"/>
                  <a:sym typeface="Twentieth Century"/>
                </a:rPr>
                <a:t>Data cleaning</a:t>
              </a:r>
              <a:endParaRPr sz="1500" dirty="0">
                <a:solidFill>
                  <a:schemeClr val="lt1"/>
                </a:solidFill>
                <a:latin typeface="Twentieth Century"/>
                <a:ea typeface="Twentieth Century"/>
                <a:cs typeface="Twentieth Century"/>
                <a:sym typeface="Twentieth Century"/>
              </a:endParaRPr>
            </a:p>
          </p:txBody>
        </p:sp>
        <p:sp>
          <p:nvSpPr>
            <p:cNvPr id="144" name="Google Shape;144;p18"/>
            <p:cNvSpPr/>
            <p:nvPr/>
          </p:nvSpPr>
          <p:spPr>
            <a:xfrm>
              <a:off x="0" y="1581437"/>
              <a:ext cx="4231481" cy="803250"/>
            </a:xfrm>
            <a:prstGeom prst="rect">
              <a:avLst/>
            </a:prstGeom>
            <a:solidFill>
              <a:schemeClr val="lt1">
                <a:alpha val="89803"/>
              </a:schemeClr>
            </a:solidFill>
            <a:ln w="9525" cap="flat" cmpd="sng">
              <a:solidFill>
                <a:srgbClr val="61BEB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8"/>
            <p:cNvSpPr txBox="1"/>
            <p:nvPr/>
          </p:nvSpPr>
          <p:spPr>
            <a:xfrm>
              <a:off x="0" y="1581437"/>
              <a:ext cx="4231481" cy="803250"/>
            </a:xfrm>
            <a:prstGeom prst="rect">
              <a:avLst/>
            </a:prstGeom>
            <a:noFill/>
            <a:ln>
              <a:noFill/>
            </a:ln>
          </p:spPr>
          <p:txBody>
            <a:bodyPr spcFirstLastPara="1" wrap="square" lIns="328400" tIns="312400" rIns="328400" bIns="106675" anchor="t" anchorCtr="0">
              <a:noAutofit/>
            </a:bodyPr>
            <a:lstStyle/>
            <a:p>
              <a:pPr marL="114300" marR="0" lvl="1" indent="-114300" algn="l" rtl="0">
                <a:lnSpc>
                  <a:spcPct val="90000"/>
                </a:lnSpc>
                <a:spcBef>
                  <a:spcPts val="0"/>
                </a:spcBef>
                <a:spcAft>
                  <a:spcPts val="0"/>
                </a:spcAft>
                <a:buClr>
                  <a:schemeClr val="dk1"/>
                </a:buClr>
                <a:buSzPts val="1500"/>
                <a:buFont typeface="Twentieth Century"/>
                <a:buChar char="•"/>
              </a:pPr>
              <a:r>
                <a:rPr lang="en-US" sz="1500" b="0" i="0" u="none" strike="noStrike" cap="none">
                  <a:solidFill>
                    <a:schemeClr val="dk1"/>
                  </a:solidFill>
                  <a:latin typeface="Twentieth Century"/>
                  <a:ea typeface="Twentieth Century"/>
                  <a:cs typeface="Twentieth Century"/>
                  <a:sym typeface="Twentieth Century"/>
                </a:rPr>
                <a:t>Integration of multiple databases, data cubes, or files</a:t>
              </a:r>
              <a:endParaRPr/>
            </a:p>
          </p:txBody>
        </p:sp>
        <p:sp>
          <p:nvSpPr>
            <p:cNvPr id="146" name="Google Shape;146;p18"/>
            <p:cNvSpPr/>
            <p:nvPr/>
          </p:nvSpPr>
          <p:spPr>
            <a:xfrm>
              <a:off x="211574" y="1360037"/>
              <a:ext cx="2962036" cy="442800"/>
            </a:xfrm>
            <a:prstGeom prst="roundRect">
              <a:avLst>
                <a:gd name="adj" fmla="val 16667"/>
              </a:avLst>
            </a:prstGeom>
            <a:gradFill>
              <a:gsLst>
                <a:gs pos="0">
                  <a:srgbClr val="5AB0AB"/>
                </a:gs>
                <a:gs pos="100000">
                  <a:srgbClr val="6AD7D1"/>
                </a:gs>
              </a:gsLst>
              <a:path path="circle">
                <a:fillToRect l="50000" t="50000" r="50000" b="50000"/>
              </a:path>
              <a:tileRect/>
            </a:gradFill>
            <a:ln>
              <a:noFill/>
            </a:ln>
            <a:effectLst>
              <a:outerShdw blurRad="50800" dist="12700" dir="5400000" algn="ctr" rotWithShape="0">
                <a:srgbClr val="000000">
                  <a:alpha val="4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8"/>
            <p:cNvSpPr txBox="1"/>
            <p:nvPr/>
          </p:nvSpPr>
          <p:spPr>
            <a:xfrm>
              <a:off x="233190" y="1381653"/>
              <a:ext cx="2918804" cy="399568"/>
            </a:xfrm>
            <a:prstGeom prst="rect">
              <a:avLst/>
            </a:prstGeom>
            <a:noFill/>
            <a:ln>
              <a:noFill/>
            </a:ln>
          </p:spPr>
          <p:txBody>
            <a:bodyPr spcFirstLastPara="1" wrap="square" lIns="111950" tIns="0" rIns="111950" bIns="0" anchor="ctr" anchorCtr="0">
              <a:noAutofit/>
            </a:bodyPr>
            <a:lstStyle/>
            <a:p>
              <a:pPr marL="0" marR="0" lvl="0" indent="0" algn="l" rtl="0">
                <a:lnSpc>
                  <a:spcPct val="90000"/>
                </a:lnSpc>
                <a:spcBef>
                  <a:spcPts val="0"/>
                </a:spcBef>
                <a:spcAft>
                  <a:spcPts val="0"/>
                </a:spcAft>
                <a:buClr>
                  <a:schemeClr val="lt1"/>
                </a:buClr>
                <a:buSzPts val="1500"/>
                <a:buFont typeface="Twentieth Century"/>
                <a:buNone/>
              </a:pPr>
              <a:r>
                <a:rPr lang="en-US" sz="1500" b="1">
                  <a:solidFill>
                    <a:schemeClr val="lt1"/>
                  </a:solidFill>
                  <a:latin typeface="Twentieth Century"/>
                  <a:ea typeface="Twentieth Century"/>
                  <a:cs typeface="Twentieth Century"/>
                  <a:sym typeface="Twentieth Century"/>
                </a:rPr>
                <a:t>Data integration</a:t>
              </a:r>
              <a:endParaRPr sz="1500">
                <a:solidFill>
                  <a:schemeClr val="lt1"/>
                </a:solidFill>
                <a:latin typeface="Twentieth Century"/>
                <a:ea typeface="Twentieth Century"/>
                <a:cs typeface="Twentieth Century"/>
                <a:sym typeface="Twentieth Century"/>
              </a:endParaRPr>
            </a:p>
          </p:txBody>
        </p:sp>
        <p:sp>
          <p:nvSpPr>
            <p:cNvPr id="148" name="Google Shape;148;p18"/>
            <p:cNvSpPr/>
            <p:nvPr/>
          </p:nvSpPr>
          <p:spPr>
            <a:xfrm>
              <a:off x="0" y="2687087"/>
              <a:ext cx="4231481" cy="1063125"/>
            </a:xfrm>
            <a:prstGeom prst="rect">
              <a:avLst/>
            </a:prstGeom>
            <a:solidFill>
              <a:schemeClr val="lt1">
                <a:alpha val="89803"/>
              </a:schemeClr>
            </a:solidFill>
            <a:ln w="9525" cap="flat" cmpd="sng">
              <a:solidFill>
                <a:srgbClr val="6BBDA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8"/>
            <p:cNvSpPr txBox="1"/>
            <p:nvPr/>
          </p:nvSpPr>
          <p:spPr>
            <a:xfrm>
              <a:off x="0" y="2687087"/>
              <a:ext cx="4231481" cy="1063125"/>
            </a:xfrm>
            <a:prstGeom prst="rect">
              <a:avLst/>
            </a:prstGeom>
            <a:noFill/>
            <a:ln>
              <a:noFill/>
            </a:ln>
          </p:spPr>
          <p:txBody>
            <a:bodyPr spcFirstLastPara="1" wrap="square" lIns="328400" tIns="312400" rIns="328400" bIns="106675" anchor="t" anchorCtr="0">
              <a:noAutofit/>
            </a:bodyPr>
            <a:lstStyle/>
            <a:p>
              <a:pPr marL="114300" marR="0" lvl="1" indent="-114300" algn="l" rtl="0">
                <a:lnSpc>
                  <a:spcPct val="90000"/>
                </a:lnSpc>
                <a:spcBef>
                  <a:spcPts val="0"/>
                </a:spcBef>
                <a:spcAft>
                  <a:spcPts val="0"/>
                </a:spcAft>
                <a:buClr>
                  <a:schemeClr val="dk1"/>
                </a:buClr>
                <a:buSzPts val="1500"/>
                <a:buFont typeface="Twentieth Century"/>
                <a:buChar char="•"/>
              </a:pPr>
              <a:r>
                <a:rPr lang="en-US" sz="1500" b="0" i="0" u="none" strike="noStrike" cap="none">
                  <a:solidFill>
                    <a:schemeClr val="dk1"/>
                  </a:solidFill>
                  <a:latin typeface="Twentieth Century"/>
                  <a:ea typeface="Twentieth Century"/>
                  <a:cs typeface="Twentieth Century"/>
                  <a:sym typeface="Twentieth Century"/>
                </a:rPr>
                <a:t>Dimensionality reduction</a:t>
              </a:r>
              <a:endParaRPr sz="1500" b="0" i="0" u="none" strike="noStrike" cap="none">
                <a:solidFill>
                  <a:schemeClr val="dk1"/>
                </a:solidFill>
                <a:latin typeface="Twentieth Century"/>
                <a:ea typeface="Twentieth Century"/>
                <a:cs typeface="Twentieth Century"/>
                <a:sym typeface="Twentieth Century"/>
              </a:endParaRPr>
            </a:p>
            <a:p>
              <a:pPr marL="114300" marR="0" lvl="1" indent="-114300" algn="l" rtl="0">
                <a:lnSpc>
                  <a:spcPct val="90000"/>
                </a:lnSpc>
                <a:spcBef>
                  <a:spcPts val="225"/>
                </a:spcBef>
                <a:spcAft>
                  <a:spcPts val="0"/>
                </a:spcAft>
                <a:buClr>
                  <a:schemeClr val="dk1"/>
                </a:buClr>
                <a:buSzPts val="1500"/>
                <a:buFont typeface="Twentieth Century"/>
                <a:buChar char="•"/>
              </a:pPr>
              <a:r>
                <a:rPr lang="en-US" sz="1500" b="0" i="0" u="none" strike="noStrike" cap="none">
                  <a:solidFill>
                    <a:schemeClr val="dk1"/>
                  </a:solidFill>
                  <a:latin typeface="Twentieth Century"/>
                  <a:ea typeface="Twentieth Century"/>
                  <a:cs typeface="Twentieth Century"/>
                  <a:sym typeface="Twentieth Century"/>
                </a:rPr>
                <a:t>Numerosity reduction</a:t>
              </a:r>
              <a:endParaRPr sz="1500" b="0" i="0" u="none" strike="noStrike" cap="none">
                <a:solidFill>
                  <a:schemeClr val="dk1"/>
                </a:solidFill>
                <a:latin typeface="Twentieth Century"/>
                <a:ea typeface="Twentieth Century"/>
                <a:cs typeface="Twentieth Century"/>
                <a:sym typeface="Twentieth Century"/>
              </a:endParaRPr>
            </a:p>
            <a:p>
              <a:pPr marL="114300" marR="0" lvl="1" indent="-114300" algn="l" rtl="0">
                <a:lnSpc>
                  <a:spcPct val="90000"/>
                </a:lnSpc>
                <a:spcBef>
                  <a:spcPts val="225"/>
                </a:spcBef>
                <a:spcAft>
                  <a:spcPts val="0"/>
                </a:spcAft>
                <a:buClr>
                  <a:schemeClr val="dk1"/>
                </a:buClr>
                <a:buSzPts val="1500"/>
                <a:buFont typeface="Twentieth Century"/>
                <a:buChar char="•"/>
              </a:pPr>
              <a:r>
                <a:rPr lang="en-US" sz="1500" b="0" i="0" u="none" strike="noStrike" cap="none">
                  <a:solidFill>
                    <a:schemeClr val="dk1"/>
                  </a:solidFill>
                  <a:latin typeface="Twentieth Century"/>
                  <a:ea typeface="Twentieth Century"/>
                  <a:cs typeface="Twentieth Century"/>
                  <a:sym typeface="Twentieth Century"/>
                </a:rPr>
                <a:t>Data compression</a:t>
              </a:r>
              <a:endParaRPr sz="1500" b="0" i="0" u="none" strike="noStrike" cap="none">
                <a:solidFill>
                  <a:schemeClr val="dk1"/>
                </a:solidFill>
                <a:latin typeface="Twentieth Century"/>
                <a:ea typeface="Twentieth Century"/>
                <a:cs typeface="Twentieth Century"/>
                <a:sym typeface="Twentieth Century"/>
              </a:endParaRPr>
            </a:p>
          </p:txBody>
        </p:sp>
        <p:sp>
          <p:nvSpPr>
            <p:cNvPr id="150" name="Google Shape;150;p18"/>
            <p:cNvSpPr/>
            <p:nvPr/>
          </p:nvSpPr>
          <p:spPr>
            <a:xfrm>
              <a:off x="211574" y="2465687"/>
              <a:ext cx="2962036" cy="442800"/>
            </a:xfrm>
            <a:prstGeom prst="roundRect">
              <a:avLst>
                <a:gd name="adj" fmla="val 16667"/>
              </a:avLst>
            </a:prstGeom>
            <a:gradFill>
              <a:gsLst>
                <a:gs pos="0">
                  <a:srgbClr val="63AFA1"/>
                </a:gs>
                <a:gs pos="100000">
                  <a:srgbClr val="72D5C3"/>
                </a:gs>
              </a:gsLst>
              <a:path path="circle">
                <a:fillToRect l="50000" t="50000" r="50000" b="50000"/>
              </a:path>
              <a:tileRect/>
            </a:gradFill>
            <a:ln>
              <a:noFill/>
            </a:ln>
            <a:effectLst>
              <a:outerShdw blurRad="50800" dist="12700" dir="5400000" algn="ctr" rotWithShape="0">
                <a:srgbClr val="000000">
                  <a:alpha val="4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8"/>
            <p:cNvSpPr txBox="1"/>
            <p:nvPr/>
          </p:nvSpPr>
          <p:spPr>
            <a:xfrm>
              <a:off x="233190" y="2487303"/>
              <a:ext cx="2918804" cy="399568"/>
            </a:xfrm>
            <a:prstGeom prst="rect">
              <a:avLst/>
            </a:prstGeom>
            <a:noFill/>
            <a:ln>
              <a:noFill/>
            </a:ln>
          </p:spPr>
          <p:txBody>
            <a:bodyPr spcFirstLastPara="1" wrap="square" lIns="111950" tIns="0" rIns="111950" bIns="0" anchor="ctr" anchorCtr="0">
              <a:noAutofit/>
            </a:bodyPr>
            <a:lstStyle/>
            <a:p>
              <a:pPr marL="0" marR="0" lvl="0" indent="0" algn="l" rtl="0">
                <a:lnSpc>
                  <a:spcPct val="90000"/>
                </a:lnSpc>
                <a:spcBef>
                  <a:spcPts val="0"/>
                </a:spcBef>
                <a:spcAft>
                  <a:spcPts val="0"/>
                </a:spcAft>
                <a:buClr>
                  <a:schemeClr val="lt1"/>
                </a:buClr>
                <a:buSzPts val="1500"/>
                <a:buFont typeface="Twentieth Century"/>
                <a:buNone/>
              </a:pPr>
              <a:r>
                <a:rPr lang="en-US" sz="1500" b="1">
                  <a:solidFill>
                    <a:schemeClr val="lt1"/>
                  </a:solidFill>
                  <a:latin typeface="Twentieth Century"/>
                  <a:ea typeface="Twentieth Century"/>
                  <a:cs typeface="Twentieth Century"/>
                  <a:sym typeface="Twentieth Century"/>
                </a:rPr>
                <a:t>Data reduction</a:t>
              </a:r>
              <a:endParaRPr sz="1500">
                <a:solidFill>
                  <a:schemeClr val="lt1"/>
                </a:solidFill>
                <a:latin typeface="Twentieth Century"/>
                <a:ea typeface="Twentieth Century"/>
                <a:cs typeface="Twentieth Century"/>
                <a:sym typeface="Twentieth Century"/>
              </a:endParaRPr>
            </a:p>
          </p:txBody>
        </p:sp>
        <p:sp>
          <p:nvSpPr>
            <p:cNvPr id="152" name="Google Shape;152;p18"/>
            <p:cNvSpPr/>
            <p:nvPr/>
          </p:nvSpPr>
          <p:spPr>
            <a:xfrm>
              <a:off x="0" y="4052612"/>
              <a:ext cx="4231481" cy="826875"/>
            </a:xfrm>
            <a:prstGeom prst="rect">
              <a:avLst/>
            </a:prstGeom>
            <a:solidFill>
              <a:schemeClr val="lt1">
                <a:alpha val="89803"/>
              </a:schemeClr>
            </a:solidFill>
            <a:ln w="9525" cap="flat" cmpd="sng">
              <a:solidFill>
                <a:srgbClr val="74BCA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8"/>
            <p:cNvSpPr txBox="1"/>
            <p:nvPr/>
          </p:nvSpPr>
          <p:spPr>
            <a:xfrm>
              <a:off x="0" y="4052612"/>
              <a:ext cx="4231481" cy="826875"/>
            </a:xfrm>
            <a:prstGeom prst="rect">
              <a:avLst/>
            </a:prstGeom>
            <a:noFill/>
            <a:ln>
              <a:noFill/>
            </a:ln>
          </p:spPr>
          <p:txBody>
            <a:bodyPr spcFirstLastPara="1" wrap="square" lIns="328400" tIns="312400" rIns="328400" bIns="106675" anchor="t" anchorCtr="0">
              <a:noAutofit/>
            </a:bodyPr>
            <a:lstStyle/>
            <a:p>
              <a:pPr marL="114300" marR="0" lvl="1" indent="-114300" algn="l" rtl="0">
                <a:lnSpc>
                  <a:spcPct val="90000"/>
                </a:lnSpc>
                <a:spcBef>
                  <a:spcPts val="0"/>
                </a:spcBef>
                <a:spcAft>
                  <a:spcPts val="0"/>
                </a:spcAft>
                <a:buClr>
                  <a:schemeClr val="dk1"/>
                </a:buClr>
                <a:buSzPts val="1500"/>
                <a:buFont typeface="Twentieth Century"/>
                <a:buChar char="•"/>
              </a:pPr>
              <a:r>
                <a:rPr lang="en-US" sz="1500" b="0" i="0" u="none" strike="noStrike" cap="none">
                  <a:solidFill>
                    <a:schemeClr val="dk1"/>
                  </a:solidFill>
                  <a:latin typeface="Twentieth Century"/>
                  <a:ea typeface="Twentieth Century"/>
                  <a:cs typeface="Twentieth Century"/>
                  <a:sym typeface="Twentieth Century"/>
                </a:rPr>
                <a:t>Normalization</a:t>
              </a:r>
              <a:endParaRPr sz="1500" b="0" i="0" u="none" strike="noStrike" cap="none">
                <a:solidFill>
                  <a:schemeClr val="dk1"/>
                </a:solidFill>
                <a:latin typeface="Twentieth Century"/>
                <a:ea typeface="Twentieth Century"/>
                <a:cs typeface="Twentieth Century"/>
                <a:sym typeface="Twentieth Century"/>
              </a:endParaRPr>
            </a:p>
            <a:p>
              <a:pPr marL="114300" marR="0" lvl="1" indent="-114300" algn="l" rtl="0">
                <a:lnSpc>
                  <a:spcPct val="90000"/>
                </a:lnSpc>
                <a:spcBef>
                  <a:spcPts val="225"/>
                </a:spcBef>
                <a:spcAft>
                  <a:spcPts val="0"/>
                </a:spcAft>
                <a:buClr>
                  <a:schemeClr val="dk1"/>
                </a:buClr>
                <a:buSzPts val="1500"/>
                <a:buFont typeface="Twentieth Century"/>
                <a:buChar char="•"/>
              </a:pPr>
              <a:r>
                <a:rPr lang="en-US" sz="1500" b="0" i="0" u="none" strike="noStrike" cap="none">
                  <a:solidFill>
                    <a:schemeClr val="dk1"/>
                  </a:solidFill>
                  <a:latin typeface="Twentieth Century"/>
                  <a:ea typeface="Twentieth Century"/>
                  <a:cs typeface="Twentieth Century"/>
                  <a:sym typeface="Twentieth Century"/>
                </a:rPr>
                <a:t>Concept hierarchy generation</a:t>
              </a:r>
              <a:endParaRPr sz="1500" b="0" i="0" u="none" strike="noStrike" cap="none">
                <a:solidFill>
                  <a:schemeClr val="dk1"/>
                </a:solidFill>
                <a:latin typeface="Twentieth Century"/>
                <a:ea typeface="Twentieth Century"/>
                <a:cs typeface="Twentieth Century"/>
                <a:sym typeface="Twentieth Century"/>
              </a:endParaRPr>
            </a:p>
          </p:txBody>
        </p:sp>
        <p:sp>
          <p:nvSpPr>
            <p:cNvPr id="154" name="Google Shape;154;p18"/>
            <p:cNvSpPr/>
            <p:nvPr/>
          </p:nvSpPr>
          <p:spPr>
            <a:xfrm>
              <a:off x="211574" y="3831212"/>
              <a:ext cx="2962036" cy="442800"/>
            </a:xfrm>
            <a:prstGeom prst="roundRect">
              <a:avLst>
                <a:gd name="adj" fmla="val 16667"/>
              </a:avLst>
            </a:prstGeom>
            <a:gradFill>
              <a:gsLst>
                <a:gs pos="0">
                  <a:srgbClr val="6AAE9A"/>
                </a:gs>
                <a:gs pos="100000">
                  <a:srgbClr val="7BD1B4"/>
                </a:gs>
              </a:gsLst>
              <a:path path="circle">
                <a:fillToRect l="50000" t="50000" r="50000" b="50000"/>
              </a:path>
              <a:tileRect/>
            </a:gradFill>
            <a:ln>
              <a:noFill/>
            </a:ln>
            <a:effectLst>
              <a:outerShdw blurRad="50800" dist="12700" dir="5400000" algn="ctr" rotWithShape="0">
                <a:srgbClr val="000000">
                  <a:alpha val="4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8"/>
            <p:cNvSpPr txBox="1"/>
            <p:nvPr/>
          </p:nvSpPr>
          <p:spPr>
            <a:xfrm>
              <a:off x="233190" y="3852828"/>
              <a:ext cx="2918804" cy="399568"/>
            </a:xfrm>
            <a:prstGeom prst="rect">
              <a:avLst/>
            </a:prstGeom>
            <a:noFill/>
            <a:ln>
              <a:noFill/>
            </a:ln>
          </p:spPr>
          <p:txBody>
            <a:bodyPr spcFirstLastPara="1" wrap="square" lIns="111950" tIns="0" rIns="111950" bIns="0" anchor="ctr" anchorCtr="0">
              <a:noAutofit/>
            </a:bodyPr>
            <a:lstStyle/>
            <a:p>
              <a:pPr marL="0" marR="0" lvl="0" indent="0" algn="l" rtl="0">
                <a:lnSpc>
                  <a:spcPct val="90000"/>
                </a:lnSpc>
                <a:spcBef>
                  <a:spcPts val="0"/>
                </a:spcBef>
                <a:spcAft>
                  <a:spcPts val="0"/>
                </a:spcAft>
                <a:buClr>
                  <a:schemeClr val="lt1"/>
                </a:buClr>
                <a:buSzPts val="1500"/>
                <a:buFont typeface="Twentieth Century"/>
                <a:buNone/>
              </a:pPr>
              <a:r>
                <a:rPr lang="en-US" sz="1500" b="1">
                  <a:solidFill>
                    <a:schemeClr val="lt1"/>
                  </a:solidFill>
                  <a:latin typeface="Twentieth Century"/>
                  <a:ea typeface="Twentieth Century"/>
                  <a:cs typeface="Twentieth Century"/>
                  <a:sym typeface="Twentieth Century"/>
                </a:rPr>
                <a:t>Data transformation and data discretization</a:t>
              </a:r>
              <a:endParaRPr sz="1500">
                <a:solidFill>
                  <a:schemeClr val="lt1"/>
                </a:solidFill>
                <a:latin typeface="Twentieth Century"/>
                <a:ea typeface="Twentieth Century"/>
                <a:cs typeface="Twentieth Century"/>
                <a:sym typeface="Twentieth Century"/>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9"/>
          <p:cNvSpPr txBox="1"/>
          <p:nvPr/>
        </p:nvSpPr>
        <p:spPr>
          <a:xfrm>
            <a:off x="689457" y="6434236"/>
            <a:ext cx="725170" cy="197485"/>
          </a:xfrm>
          <a:prstGeom prst="rect">
            <a:avLst/>
          </a:prstGeom>
          <a:noFill/>
          <a:ln>
            <a:noFill/>
          </a:ln>
        </p:spPr>
        <p:txBody>
          <a:bodyPr spcFirstLastPara="1" wrap="square" lIns="0" tIns="0" rIns="0" bIns="0" anchor="t" anchorCtr="0">
            <a:spAutoFit/>
          </a:bodyPr>
          <a:lstStyle/>
          <a:p>
            <a:pPr marL="0" marR="0" lvl="0" indent="0" algn="l" rtl="0">
              <a:lnSpc>
                <a:spcPct val="109285"/>
              </a:lnSpc>
              <a:spcBef>
                <a:spcPts val="0"/>
              </a:spcBef>
              <a:spcAft>
                <a:spcPts val="0"/>
              </a:spcAft>
              <a:buNone/>
            </a:pPr>
            <a:r>
              <a:rPr lang="en-US" sz="1400" b="1">
                <a:solidFill>
                  <a:srgbClr val="FFFFFF"/>
                </a:solidFill>
                <a:latin typeface="Times New Roman"/>
                <a:ea typeface="Times New Roman"/>
                <a:cs typeface="Times New Roman"/>
                <a:sym typeface="Times New Roman"/>
              </a:rPr>
              <a:t>4/26/2022</a:t>
            </a:r>
            <a:endParaRPr sz="1400">
              <a:solidFill>
                <a:schemeClr val="dk1"/>
              </a:solidFill>
              <a:latin typeface="Times New Roman"/>
              <a:ea typeface="Times New Roman"/>
              <a:cs typeface="Times New Roman"/>
              <a:sym typeface="Times New Roman"/>
            </a:endParaRPr>
          </a:p>
        </p:txBody>
      </p:sp>
      <p:sp>
        <p:nvSpPr>
          <p:cNvPr id="161" name="Google Shape;161;p19"/>
          <p:cNvSpPr txBox="1">
            <a:spLocks noGrp="1"/>
          </p:cNvSpPr>
          <p:nvPr>
            <p:ph type="title"/>
          </p:nvPr>
        </p:nvSpPr>
        <p:spPr>
          <a:xfrm>
            <a:off x="768096" y="979830"/>
            <a:ext cx="7290054" cy="710387"/>
          </a:xfrm>
          <a:prstGeom prst="rect">
            <a:avLst/>
          </a:prstGeom>
          <a:noFill/>
          <a:ln>
            <a:noFill/>
          </a:ln>
        </p:spPr>
        <p:txBody>
          <a:bodyPr spcFirstLastPara="1" wrap="square" lIns="0" tIns="74275" rIns="0" bIns="0" anchor="ctr" anchorCtr="0">
            <a:spAutoFit/>
          </a:bodyPr>
          <a:lstStyle/>
          <a:p>
            <a:pPr marL="374015" marR="5080" lvl="0" indent="0" algn="l" rtl="0">
              <a:lnSpc>
                <a:spcPct val="80000"/>
              </a:lnSpc>
              <a:spcBef>
                <a:spcPts val="0"/>
              </a:spcBef>
              <a:spcAft>
                <a:spcPts val="0"/>
              </a:spcAft>
              <a:buClr>
                <a:srgbClr val="0C0C0C"/>
              </a:buClr>
              <a:buSzPts val="5000"/>
              <a:buFont typeface="Twentieth Century"/>
              <a:buNone/>
            </a:pPr>
            <a:r>
              <a:rPr lang="en-US" sz="5000" dirty="0"/>
              <a:t>DATA CLEANING</a:t>
            </a:r>
            <a:endParaRPr dirty="0"/>
          </a:p>
        </p:txBody>
      </p:sp>
      <p:sp>
        <p:nvSpPr>
          <p:cNvPr id="162" name="Google Shape;162;p19"/>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fontScale="85000" lnSpcReduction="20000"/>
          </a:bodyPr>
          <a:lstStyle/>
          <a:p>
            <a:pPr marL="91440" lvl="0" indent="-91440" algn="l" rtl="0">
              <a:lnSpc>
                <a:spcPct val="120000"/>
              </a:lnSpc>
              <a:spcBef>
                <a:spcPts val="0"/>
              </a:spcBef>
              <a:spcAft>
                <a:spcPts val="0"/>
              </a:spcAft>
              <a:buSzPct val="100000"/>
              <a:buNone/>
            </a:pPr>
            <a:r>
              <a:rPr lang="en-US" b="1" dirty="0"/>
              <a:t>Steps in Data Cleaning:</a:t>
            </a:r>
            <a:endParaRPr dirty="0"/>
          </a:p>
          <a:p>
            <a:pPr marL="91440" lvl="0" indent="-107950" algn="l" rtl="0">
              <a:lnSpc>
                <a:spcPct val="120000"/>
              </a:lnSpc>
              <a:spcBef>
                <a:spcPts val="0"/>
              </a:spcBef>
              <a:spcAft>
                <a:spcPts val="0"/>
              </a:spcAft>
              <a:buSzPct val="100000"/>
              <a:buFont typeface="Twentieth Century"/>
              <a:buAutoNum type="arabicPeriod"/>
            </a:pPr>
            <a:r>
              <a:rPr lang="en-US" b="1" dirty="0">
                <a:highlight>
                  <a:srgbClr val="FFFF00"/>
                </a:highlight>
              </a:rPr>
              <a:t>Remove Duplicate Data</a:t>
            </a:r>
            <a:endParaRPr dirty="0">
              <a:highlight>
                <a:srgbClr val="FFFF00"/>
              </a:highlight>
            </a:endParaRPr>
          </a:p>
          <a:p>
            <a:pPr marL="742950" lvl="1" indent="-285750" algn="l" rtl="0">
              <a:lnSpc>
                <a:spcPct val="120000"/>
              </a:lnSpc>
              <a:spcBef>
                <a:spcPts val="0"/>
              </a:spcBef>
              <a:spcAft>
                <a:spcPts val="0"/>
              </a:spcAft>
              <a:buSzPct val="100000"/>
              <a:buFont typeface="Twentieth Century"/>
              <a:buAutoNum type="arabicPeriod"/>
            </a:pPr>
            <a:r>
              <a:rPr lang="en-US" dirty="0"/>
              <a:t>Identify and eliminate duplicate records that may exist due to multiple data entries.</a:t>
            </a:r>
            <a:endParaRPr dirty="0"/>
          </a:p>
          <a:p>
            <a:pPr marL="91440" lvl="0" indent="-107950" algn="l" rtl="0">
              <a:lnSpc>
                <a:spcPct val="120000"/>
              </a:lnSpc>
              <a:spcBef>
                <a:spcPts val="0"/>
              </a:spcBef>
              <a:spcAft>
                <a:spcPts val="0"/>
              </a:spcAft>
              <a:buSzPct val="100000"/>
              <a:buFont typeface="Twentieth Century"/>
              <a:buAutoNum type="arabicPeriod"/>
            </a:pPr>
            <a:r>
              <a:rPr lang="en-US" b="1" dirty="0">
                <a:highlight>
                  <a:srgbClr val="FFFF00"/>
                </a:highlight>
              </a:rPr>
              <a:t>Handle Missing Values</a:t>
            </a:r>
            <a:endParaRPr dirty="0">
              <a:highlight>
                <a:srgbClr val="FFFF00"/>
              </a:highlight>
            </a:endParaRPr>
          </a:p>
          <a:p>
            <a:pPr marL="742950" lvl="1" indent="-285750" algn="l" rtl="0">
              <a:lnSpc>
                <a:spcPct val="120000"/>
              </a:lnSpc>
              <a:spcBef>
                <a:spcPts val="0"/>
              </a:spcBef>
              <a:spcAft>
                <a:spcPts val="0"/>
              </a:spcAft>
              <a:buSzPct val="100000"/>
              <a:buFont typeface="Twentieth Century"/>
              <a:buAutoNum type="arabicPeriod"/>
            </a:pPr>
            <a:r>
              <a:rPr lang="en-US" dirty="0"/>
              <a:t>Fill missing values using techniques like mean, median, or mode imputation.</a:t>
            </a:r>
            <a:endParaRPr dirty="0"/>
          </a:p>
          <a:p>
            <a:pPr marL="742950" lvl="1" indent="-285750" algn="l" rtl="0">
              <a:lnSpc>
                <a:spcPct val="120000"/>
              </a:lnSpc>
              <a:spcBef>
                <a:spcPts val="0"/>
              </a:spcBef>
              <a:spcAft>
                <a:spcPts val="0"/>
              </a:spcAft>
              <a:buSzPct val="100000"/>
              <a:buFont typeface="Twentieth Century"/>
              <a:buAutoNum type="arabicPeriod"/>
            </a:pPr>
            <a:r>
              <a:rPr lang="en-US" dirty="0"/>
              <a:t>Remove records with excessive missing values if necessary.</a:t>
            </a:r>
            <a:endParaRPr dirty="0"/>
          </a:p>
          <a:p>
            <a:pPr marL="91440" lvl="0" indent="-107950" algn="l" rtl="0">
              <a:lnSpc>
                <a:spcPct val="120000"/>
              </a:lnSpc>
              <a:spcBef>
                <a:spcPts val="0"/>
              </a:spcBef>
              <a:spcAft>
                <a:spcPts val="0"/>
              </a:spcAft>
              <a:buSzPct val="100000"/>
              <a:buFont typeface="Twentieth Century"/>
              <a:buAutoNum type="arabicPeriod"/>
            </a:pPr>
            <a:r>
              <a:rPr lang="en-US" b="1" dirty="0">
                <a:highlight>
                  <a:srgbClr val="FFFF00"/>
                </a:highlight>
              </a:rPr>
              <a:t>Fix Structural Errors</a:t>
            </a:r>
            <a:endParaRPr dirty="0">
              <a:highlight>
                <a:srgbClr val="FFFF00"/>
              </a:highlight>
            </a:endParaRPr>
          </a:p>
          <a:p>
            <a:pPr marL="742950" lvl="1" indent="-285750" algn="l" rtl="0">
              <a:lnSpc>
                <a:spcPct val="120000"/>
              </a:lnSpc>
              <a:spcBef>
                <a:spcPts val="0"/>
              </a:spcBef>
              <a:spcAft>
                <a:spcPts val="0"/>
              </a:spcAft>
              <a:buSzPct val="100000"/>
              <a:buFont typeface="Twentieth Century"/>
              <a:buAutoNum type="arabicPeriod"/>
            </a:pPr>
            <a:r>
              <a:rPr lang="en-US" dirty="0"/>
              <a:t>Correct typos, inconsistent formatting, and incorrect categorizations.</a:t>
            </a:r>
            <a:endParaRPr dirty="0"/>
          </a:p>
          <a:p>
            <a:pPr marL="742950" lvl="1" indent="-285750" algn="l" rtl="0">
              <a:lnSpc>
                <a:spcPct val="120000"/>
              </a:lnSpc>
              <a:spcBef>
                <a:spcPts val="0"/>
              </a:spcBef>
              <a:spcAft>
                <a:spcPts val="0"/>
              </a:spcAft>
              <a:buSzPct val="100000"/>
              <a:buFont typeface="Twentieth Century"/>
              <a:buAutoNum type="arabicPeriod"/>
            </a:pPr>
            <a:r>
              <a:rPr lang="en-US" dirty="0"/>
              <a:t>Standardize text formats (e.g., "NY" vs. "New York").</a:t>
            </a:r>
            <a:endParaRPr dirty="0"/>
          </a:p>
          <a:p>
            <a:pPr marL="91440" lvl="0" indent="-107950" algn="l" rtl="0">
              <a:lnSpc>
                <a:spcPct val="120000"/>
              </a:lnSpc>
              <a:spcBef>
                <a:spcPts val="0"/>
              </a:spcBef>
              <a:spcAft>
                <a:spcPts val="0"/>
              </a:spcAft>
              <a:buSzPct val="100000"/>
              <a:buFont typeface="Twentieth Century"/>
              <a:buAutoNum type="arabicPeriod"/>
            </a:pPr>
            <a:r>
              <a:rPr lang="en-US" b="1" dirty="0">
                <a:highlight>
                  <a:srgbClr val="FFFF00"/>
                </a:highlight>
              </a:rPr>
              <a:t>Handle Outliers</a:t>
            </a:r>
            <a:endParaRPr dirty="0">
              <a:highlight>
                <a:srgbClr val="FFFF00"/>
              </a:highlight>
            </a:endParaRPr>
          </a:p>
          <a:p>
            <a:pPr marL="742950" lvl="1" indent="-285750" algn="l" rtl="0">
              <a:lnSpc>
                <a:spcPct val="120000"/>
              </a:lnSpc>
              <a:spcBef>
                <a:spcPts val="0"/>
              </a:spcBef>
              <a:spcAft>
                <a:spcPts val="0"/>
              </a:spcAft>
              <a:buSzPct val="100000"/>
              <a:buFont typeface="Twentieth Century"/>
              <a:buAutoNum type="arabicPeriod"/>
            </a:pPr>
            <a:r>
              <a:rPr lang="en-US" dirty="0"/>
              <a:t>Detect and address extreme values using statistical methods like Z-score or IQR.</a:t>
            </a:r>
            <a:endParaRPr dirty="0"/>
          </a:p>
          <a:p>
            <a:pPr marL="742950" lvl="1" indent="-285750" algn="l" rtl="0">
              <a:lnSpc>
                <a:spcPct val="120000"/>
              </a:lnSpc>
              <a:spcBef>
                <a:spcPts val="0"/>
              </a:spcBef>
              <a:spcAft>
                <a:spcPts val="0"/>
              </a:spcAft>
              <a:buSzPct val="100000"/>
              <a:buFont typeface="Twentieth Century"/>
              <a:buAutoNum type="arabicPeriod"/>
            </a:pPr>
            <a:r>
              <a:rPr lang="en-US" dirty="0"/>
              <a:t>Decide whether to remove or transform them.</a:t>
            </a:r>
            <a:endParaRPr dirty="0"/>
          </a:p>
          <a:p>
            <a:pPr marL="91440" lvl="0" indent="-107950" algn="l" rtl="0">
              <a:lnSpc>
                <a:spcPct val="120000"/>
              </a:lnSpc>
              <a:spcBef>
                <a:spcPts val="0"/>
              </a:spcBef>
              <a:spcAft>
                <a:spcPts val="0"/>
              </a:spcAft>
              <a:buSzPct val="100000"/>
              <a:buFont typeface="Twentieth Century"/>
              <a:buAutoNum type="arabicPeriod"/>
            </a:pPr>
            <a:r>
              <a:rPr lang="en-US" b="1" dirty="0">
                <a:highlight>
                  <a:srgbClr val="FFFF00"/>
                </a:highlight>
              </a:rPr>
              <a:t>Normalize and Standardize Data</a:t>
            </a:r>
            <a:endParaRPr dirty="0">
              <a:highlight>
                <a:srgbClr val="FFFF00"/>
              </a:highlight>
            </a:endParaRPr>
          </a:p>
          <a:p>
            <a:pPr marL="742950" lvl="1" indent="-285750" algn="l" rtl="0">
              <a:lnSpc>
                <a:spcPct val="120000"/>
              </a:lnSpc>
              <a:spcBef>
                <a:spcPts val="0"/>
              </a:spcBef>
              <a:spcAft>
                <a:spcPts val="0"/>
              </a:spcAft>
              <a:buSzPct val="100000"/>
              <a:buFont typeface="Twentieth Century"/>
              <a:buAutoNum type="arabicPeriod"/>
            </a:pPr>
            <a:r>
              <a:rPr lang="en-US" dirty="0"/>
              <a:t>Scale numerical values to a common range for consistency in analysis.</a:t>
            </a:r>
            <a:endParaRPr dirty="0"/>
          </a:p>
          <a:p>
            <a:pPr marL="91440" lvl="0" indent="-107950" algn="l" rtl="0">
              <a:lnSpc>
                <a:spcPct val="120000"/>
              </a:lnSpc>
              <a:spcBef>
                <a:spcPts val="0"/>
              </a:spcBef>
              <a:spcAft>
                <a:spcPts val="0"/>
              </a:spcAft>
              <a:buSzPct val="100000"/>
              <a:buFont typeface="Twentieth Century"/>
              <a:buAutoNum type="arabicPeriod"/>
            </a:pPr>
            <a:r>
              <a:rPr lang="en-US" b="1" dirty="0">
                <a:highlight>
                  <a:srgbClr val="FFFF00"/>
                </a:highlight>
              </a:rPr>
              <a:t>Validate Data Integrity</a:t>
            </a:r>
            <a:endParaRPr dirty="0">
              <a:highlight>
                <a:srgbClr val="FFFF00"/>
              </a:highlight>
            </a:endParaRPr>
          </a:p>
          <a:p>
            <a:pPr marL="742950" lvl="1" indent="-285750" algn="l" rtl="0">
              <a:lnSpc>
                <a:spcPct val="120000"/>
              </a:lnSpc>
              <a:spcBef>
                <a:spcPts val="0"/>
              </a:spcBef>
              <a:spcAft>
                <a:spcPts val="0"/>
              </a:spcAft>
              <a:buSzPct val="100000"/>
              <a:buFont typeface="Twentieth Century"/>
              <a:buAutoNum type="arabicPeriod"/>
            </a:pPr>
            <a:r>
              <a:rPr lang="en-US" dirty="0"/>
              <a:t>Ensure logical consistency (e.g., birthdate not in the future).</a:t>
            </a:r>
            <a:endParaRPr dirty="0"/>
          </a:p>
          <a:p>
            <a:pPr marL="91440" lvl="0" indent="0" algn="l" rtl="0">
              <a:lnSpc>
                <a:spcPct val="90000"/>
              </a:lnSpc>
              <a:spcBef>
                <a:spcPts val="1200"/>
              </a:spcBef>
              <a:spcAft>
                <a:spcPts val="0"/>
              </a:spcAft>
              <a:buSzPct val="100000"/>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0"/>
          <p:cNvSpPr txBox="1"/>
          <p:nvPr/>
        </p:nvSpPr>
        <p:spPr>
          <a:xfrm>
            <a:off x="689457" y="6434236"/>
            <a:ext cx="725170" cy="197485"/>
          </a:xfrm>
          <a:prstGeom prst="rect">
            <a:avLst/>
          </a:prstGeom>
          <a:noFill/>
          <a:ln>
            <a:noFill/>
          </a:ln>
        </p:spPr>
        <p:txBody>
          <a:bodyPr spcFirstLastPara="1" wrap="square" lIns="0" tIns="0" rIns="0" bIns="0" anchor="t" anchorCtr="0">
            <a:spAutoFit/>
          </a:bodyPr>
          <a:lstStyle/>
          <a:p>
            <a:pPr marL="0" marR="0" lvl="0" indent="0" algn="l" rtl="0">
              <a:lnSpc>
                <a:spcPct val="109285"/>
              </a:lnSpc>
              <a:spcBef>
                <a:spcPts val="0"/>
              </a:spcBef>
              <a:spcAft>
                <a:spcPts val="0"/>
              </a:spcAft>
              <a:buNone/>
            </a:pPr>
            <a:r>
              <a:rPr lang="en-US" sz="1400" b="1">
                <a:solidFill>
                  <a:srgbClr val="FFFFFF"/>
                </a:solidFill>
                <a:latin typeface="Times New Roman"/>
                <a:ea typeface="Times New Roman"/>
                <a:cs typeface="Times New Roman"/>
                <a:sym typeface="Times New Roman"/>
              </a:rPr>
              <a:t>4/26/2022</a:t>
            </a:r>
            <a:endParaRPr sz="1400">
              <a:solidFill>
                <a:schemeClr val="dk1"/>
              </a:solidFill>
              <a:latin typeface="Times New Roman"/>
              <a:ea typeface="Times New Roman"/>
              <a:cs typeface="Times New Roman"/>
              <a:sym typeface="Times New Roman"/>
            </a:endParaRPr>
          </a:p>
        </p:txBody>
      </p:sp>
      <p:sp>
        <p:nvSpPr>
          <p:cNvPr id="168" name="Google Shape;168;p20"/>
          <p:cNvSpPr txBox="1">
            <a:spLocks noGrp="1"/>
          </p:cNvSpPr>
          <p:nvPr>
            <p:ph type="title"/>
          </p:nvPr>
        </p:nvSpPr>
        <p:spPr>
          <a:xfrm>
            <a:off x="768096" y="901701"/>
            <a:ext cx="7290054" cy="866646"/>
          </a:xfrm>
          <a:prstGeom prst="rect">
            <a:avLst/>
          </a:prstGeom>
          <a:noFill/>
          <a:ln>
            <a:noFill/>
          </a:ln>
        </p:spPr>
        <p:txBody>
          <a:bodyPr spcFirstLastPara="1" wrap="square" lIns="0" tIns="187700" rIns="0" bIns="0" anchor="ctr" anchorCtr="0">
            <a:spAutoFit/>
          </a:bodyPr>
          <a:lstStyle/>
          <a:p>
            <a:pPr marL="0" lvl="0" indent="0" algn="l" rtl="0">
              <a:lnSpc>
                <a:spcPct val="100000"/>
              </a:lnSpc>
              <a:spcBef>
                <a:spcPts val="0"/>
              </a:spcBef>
              <a:spcAft>
                <a:spcPts val="0"/>
              </a:spcAft>
              <a:buClr>
                <a:srgbClr val="0C0C0C"/>
              </a:buClr>
              <a:buSzPts val="4400"/>
              <a:buFont typeface="Twentieth Century"/>
              <a:buNone/>
            </a:pPr>
            <a:r>
              <a:rPr lang="en-US"/>
              <a:t>INCOMPLETE (MISSING) DATA</a:t>
            </a:r>
            <a:endParaRPr/>
          </a:p>
        </p:txBody>
      </p:sp>
      <p:sp>
        <p:nvSpPr>
          <p:cNvPr id="169" name="Google Shape;169;p20"/>
          <p:cNvSpPr txBox="1">
            <a:spLocks noGrp="1"/>
          </p:cNvSpPr>
          <p:nvPr>
            <p:ph type="body" idx="1"/>
          </p:nvPr>
        </p:nvSpPr>
        <p:spPr>
          <a:xfrm>
            <a:off x="770724" y="2081728"/>
            <a:ext cx="7290055" cy="4023360"/>
          </a:xfrm>
          <a:prstGeom prst="rect">
            <a:avLst/>
          </a:prstGeom>
          <a:noFill/>
          <a:ln>
            <a:noFill/>
          </a:ln>
        </p:spPr>
        <p:txBody>
          <a:bodyPr spcFirstLastPara="1" wrap="square" lIns="45700" tIns="45700" rIns="45700" bIns="45700" anchor="t" anchorCtr="0">
            <a:normAutofit lnSpcReduction="10000"/>
          </a:bodyPr>
          <a:lstStyle/>
          <a:p>
            <a:pPr marL="299085" lvl="0" indent="-286385" algn="l" rtl="0">
              <a:lnSpc>
                <a:spcPct val="100000"/>
              </a:lnSpc>
              <a:spcBef>
                <a:spcPts val="0"/>
              </a:spcBef>
              <a:spcAft>
                <a:spcPts val="0"/>
              </a:spcAft>
              <a:buSzPts val="2000"/>
              <a:buFont typeface="Arial"/>
              <a:buChar char="•"/>
            </a:pPr>
            <a:r>
              <a:rPr lang="en-US" sz="2000" dirty="0">
                <a:latin typeface="Times New Roman"/>
                <a:ea typeface="Times New Roman"/>
                <a:cs typeface="Times New Roman"/>
                <a:sym typeface="Times New Roman"/>
              </a:rPr>
              <a:t>Data is not always available</a:t>
            </a:r>
            <a:endParaRPr sz="2000" dirty="0">
              <a:latin typeface="Times New Roman"/>
              <a:ea typeface="Times New Roman"/>
              <a:cs typeface="Times New Roman"/>
              <a:sym typeface="Times New Roman"/>
            </a:endParaRPr>
          </a:p>
          <a:p>
            <a:pPr marL="756285" marR="781685" lvl="0" indent="-287019" algn="l" rtl="0">
              <a:lnSpc>
                <a:spcPct val="100000"/>
              </a:lnSpc>
              <a:spcBef>
                <a:spcPts val="705"/>
              </a:spcBef>
              <a:spcAft>
                <a:spcPts val="0"/>
              </a:spcAft>
              <a:buSzPts val="2000"/>
              <a:buChar char=" "/>
            </a:pPr>
            <a:r>
              <a:rPr lang="en-US" sz="2000" dirty="0">
                <a:latin typeface="Courier New"/>
                <a:ea typeface="Courier New"/>
                <a:cs typeface="Courier New"/>
                <a:sym typeface="Courier New"/>
              </a:rPr>
              <a:t>o </a:t>
            </a:r>
            <a:r>
              <a:rPr lang="en-US" sz="2000" dirty="0">
                <a:latin typeface="Times New Roman"/>
                <a:ea typeface="Times New Roman"/>
                <a:cs typeface="Times New Roman"/>
                <a:sym typeface="Times New Roman"/>
              </a:rPr>
              <a:t>E.g., many tuples have no recorded value for several attributes, such as customer income in sales data</a:t>
            </a:r>
            <a:endParaRPr sz="2000" dirty="0">
              <a:latin typeface="Times New Roman"/>
              <a:ea typeface="Times New Roman"/>
              <a:cs typeface="Times New Roman"/>
              <a:sym typeface="Times New Roman"/>
            </a:endParaRPr>
          </a:p>
          <a:p>
            <a:pPr marL="299085" lvl="0" indent="-287019" algn="l" rtl="0">
              <a:lnSpc>
                <a:spcPct val="100000"/>
              </a:lnSpc>
              <a:spcBef>
                <a:spcPts val="1200"/>
              </a:spcBef>
              <a:spcAft>
                <a:spcPts val="0"/>
              </a:spcAft>
              <a:buSzPts val="2000"/>
              <a:buFont typeface="Arial"/>
              <a:buChar char="•"/>
            </a:pPr>
            <a:r>
              <a:rPr lang="en-US" sz="2000" dirty="0">
                <a:highlight>
                  <a:srgbClr val="FFFF00"/>
                </a:highlight>
                <a:latin typeface="Times New Roman"/>
                <a:ea typeface="Times New Roman"/>
                <a:cs typeface="Times New Roman"/>
                <a:sym typeface="Times New Roman"/>
              </a:rPr>
              <a:t>Missing data may be due to</a:t>
            </a:r>
            <a:endParaRPr sz="2000" dirty="0">
              <a:highlight>
                <a:srgbClr val="FFFF00"/>
              </a:highlight>
              <a:latin typeface="Times New Roman"/>
              <a:ea typeface="Times New Roman"/>
              <a:cs typeface="Times New Roman"/>
              <a:sym typeface="Times New Roman"/>
            </a:endParaRPr>
          </a:p>
          <a:p>
            <a:pPr marL="469265" lvl="0" indent="-127000" algn="l" rtl="0">
              <a:lnSpc>
                <a:spcPct val="100000"/>
              </a:lnSpc>
              <a:spcBef>
                <a:spcPts val="705"/>
              </a:spcBef>
              <a:spcAft>
                <a:spcPts val="0"/>
              </a:spcAft>
              <a:buSzPts val="2000"/>
              <a:buChar char=" "/>
            </a:pPr>
            <a:r>
              <a:rPr lang="en-US" sz="2000" dirty="0">
                <a:highlight>
                  <a:srgbClr val="FFFF00"/>
                </a:highlight>
                <a:latin typeface="Courier New"/>
                <a:ea typeface="Courier New"/>
                <a:cs typeface="Courier New"/>
                <a:sym typeface="Courier New"/>
              </a:rPr>
              <a:t>o </a:t>
            </a:r>
            <a:r>
              <a:rPr lang="en-US" sz="2000" dirty="0">
                <a:highlight>
                  <a:srgbClr val="FFFF00"/>
                </a:highlight>
                <a:latin typeface="Times New Roman"/>
                <a:ea typeface="Times New Roman"/>
                <a:cs typeface="Times New Roman"/>
                <a:sym typeface="Times New Roman"/>
              </a:rPr>
              <a:t>equipment malfunction</a:t>
            </a:r>
            <a:endParaRPr sz="2000" dirty="0">
              <a:highlight>
                <a:srgbClr val="FFFF00"/>
              </a:highlight>
              <a:latin typeface="Times New Roman"/>
              <a:ea typeface="Times New Roman"/>
              <a:cs typeface="Times New Roman"/>
              <a:sym typeface="Times New Roman"/>
            </a:endParaRPr>
          </a:p>
          <a:p>
            <a:pPr marL="469265" lvl="0" indent="-127000" algn="l" rtl="0">
              <a:lnSpc>
                <a:spcPct val="100000"/>
              </a:lnSpc>
              <a:spcBef>
                <a:spcPts val="695"/>
              </a:spcBef>
              <a:spcAft>
                <a:spcPts val="0"/>
              </a:spcAft>
              <a:buSzPts val="2000"/>
              <a:buChar char=" "/>
            </a:pPr>
            <a:r>
              <a:rPr lang="en-US" sz="2000" dirty="0">
                <a:highlight>
                  <a:srgbClr val="FFFF00"/>
                </a:highlight>
                <a:latin typeface="Courier New"/>
                <a:ea typeface="Courier New"/>
                <a:cs typeface="Courier New"/>
                <a:sym typeface="Courier New"/>
              </a:rPr>
              <a:t>o </a:t>
            </a:r>
            <a:r>
              <a:rPr lang="en-US" sz="2000" dirty="0">
                <a:highlight>
                  <a:srgbClr val="FFFF00"/>
                </a:highlight>
                <a:latin typeface="Times New Roman"/>
                <a:ea typeface="Times New Roman"/>
                <a:cs typeface="Times New Roman"/>
                <a:sym typeface="Times New Roman"/>
              </a:rPr>
              <a:t>inconsistent with other recorded data and thus deleted</a:t>
            </a:r>
            <a:endParaRPr sz="2000" dirty="0">
              <a:highlight>
                <a:srgbClr val="FFFF00"/>
              </a:highlight>
              <a:latin typeface="Times New Roman"/>
              <a:ea typeface="Times New Roman"/>
              <a:cs typeface="Times New Roman"/>
              <a:sym typeface="Times New Roman"/>
            </a:endParaRPr>
          </a:p>
          <a:p>
            <a:pPr marL="469265" lvl="0" indent="-127000" algn="l" rtl="0">
              <a:lnSpc>
                <a:spcPct val="100000"/>
              </a:lnSpc>
              <a:spcBef>
                <a:spcPts val="700"/>
              </a:spcBef>
              <a:spcAft>
                <a:spcPts val="0"/>
              </a:spcAft>
              <a:buSzPts val="2000"/>
              <a:buChar char=" "/>
            </a:pPr>
            <a:r>
              <a:rPr lang="en-US" sz="2000" dirty="0">
                <a:highlight>
                  <a:srgbClr val="FFFF00"/>
                </a:highlight>
                <a:latin typeface="Courier New"/>
                <a:ea typeface="Courier New"/>
                <a:cs typeface="Courier New"/>
                <a:sym typeface="Courier New"/>
              </a:rPr>
              <a:t>o </a:t>
            </a:r>
            <a:r>
              <a:rPr lang="en-US" sz="2000" dirty="0">
                <a:highlight>
                  <a:srgbClr val="FFFF00"/>
                </a:highlight>
                <a:latin typeface="Times New Roman"/>
                <a:ea typeface="Times New Roman"/>
                <a:cs typeface="Times New Roman"/>
                <a:sym typeface="Times New Roman"/>
              </a:rPr>
              <a:t>data not entered due to misunderstanding</a:t>
            </a:r>
            <a:endParaRPr sz="2000" dirty="0">
              <a:highlight>
                <a:srgbClr val="FFFF00"/>
              </a:highlight>
              <a:latin typeface="Times New Roman"/>
              <a:ea typeface="Times New Roman"/>
              <a:cs typeface="Times New Roman"/>
              <a:sym typeface="Times New Roman"/>
            </a:endParaRPr>
          </a:p>
          <a:p>
            <a:pPr marL="756285" marR="5080" lvl="0" indent="-287019" algn="l" rtl="0">
              <a:lnSpc>
                <a:spcPct val="100000"/>
              </a:lnSpc>
              <a:spcBef>
                <a:spcPts val="705"/>
              </a:spcBef>
              <a:spcAft>
                <a:spcPts val="0"/>
              </a:spcAft>
              <a:buSzPts val="2000"/>
              <a:buChar char=" "/>
            </a:pPr>
            <a:r>
              <a:rPr lang="en-US" sz="2000" dirty="0">
                <a:highlight>
                  <a:srgbClr val="FFFF00"/>
                </a:highlight>
                <a:latin typeface="Courier New"/>
                <a:ea typeface="Courier New"/>
                <a:cs typeface="Courier New"/>
                <a:sym typeface="Courier New"/>
              </a:rPr>
              <a:t>o </a:t>
            </a:r>
            <a:r>
              <a:rPr lang="en-US" sz="2000" dirty="0">
                <a:highlight>
                  <a:srgbClr val="FFFF00"/>
                </a:highlight>
                <a:latin typeface="Times New Roman"/>
                <a:ea typeface="Times New Roman"/>
                <a:cs typeface="Times New Roman"/>
                <a:sym typeface="Times New Roman"/>
              </a:rPr>
              <a:t>certain data may not be considered important at the time of entry</a:t>
            </a:r>
            <a:endParaRPr sz="2000" dirty="0">
              <a:highlight>
                <a:srgbClr val="FFFF00"/>
              </a:highlight>
              <a:latin typeface="Times New Roman"/>
              <a:ea typeface="Times New Roman"/>
              <a:cs typeface="Times New Roman"/>
              <a:sym typeface="Times New Roman"/>
            </a:endParaRPr>
          </a:p>
          <a:p>
            <a:pPr marL="469265" lvl="0" indent="-127000" algn="l" rtl="0">
              <a:lnSpc>
                <a:spcPct val="100000"/>
              </a:lnSpc>
              <a:spcBef>
                <a:spcPts val="695"/>
              </a:spcBef>
              <a:spcAft>
                <a:spcPts val="0"/>
              </a:spcAft>
              <a:buSzPts val="2000"/>
              <a:buChar char=" "/>
            </a:pPr>
            <a:r>
              <a:rPr lang="en-US" sz="2000" dirty="0">
                <a:highlight>
                  <a:srgbClr val="FFFF00"/>
                </a:highlight>
                <a:latin typeface="Courier New"/>
                <a:ea typeface="Courier New"/>
                <a:cs typeface="Courier New"/>
                <a:sym typeface="Courier New"/>
              </a:rPr>
              <a:t>o </a:t>
            </a:r>
            <a:r>
              <a:rPr lang="en-US" sz="2000" dirty="0">
                <a:highlight>
                  <a:srgbClr val="FFFF00"/>
                </a:highlight>
                <a:latin typeface="Times New Roman"/>
                <a:ea typeface="Times New Roman"/>
                <a:cs typeface="Times New Roman"/>
                <a:sym typeface="Times New Roman"/>
              </a:rPr>
              <a:t>not register history or changes of the data</a:t>
            </a:r>
            <a:endParaRPr sz="2000" dirty="0">
              <a:highlight>
                <a:srgbClr val="FFFF00"/>
              </a:highlight>
              <a:latin typeface="Times New Roman"/>
              <a:ea typeface="Times New Roman"/>
              <a:cs typeface="Times New Roman"/>
              <a:sym typeface="Times New Roman"/>
            </a:endParaRPr>
          </a:p>
          <a:p>
            <a:pPr marL="299085" lvl="0" indent="-286385" algn="l" rtl="0">
              <a:lnSpc>
                <a:spcPct val="100000"/>
              </a:lnSpc>
              <a:spcBef>
                <a:spcPts val="1210"/>
              </a:spcBef>
              <a:spcAft>
                <a:spcPts val="0"/>
              </a:spcAft>
              <a:buSzPts val="2000"/>
              <a:buFont typeface="Arial"/>
              <a:buChar char="•"/>
            </a:pPr>
            <a:r>
              <a:rPr lang="en-US" sz="2000" dirty="0">
                <a:latin typeface="Times New Roman"/>
                <a:ea typeface="Times New Roman"/>
                <a:cs typeface="Times New Roman"/>
                <a:sym typeface="Times New Roman"/>
              </a:rPr>
              <a:t>Missing data may need to be inferred</a:t>
            </a:r>
            <a:endParaRPr sz="2000" dirty="0">
              <a:latin typeface="Times New Roman"/>
              <a:ea typeface="Times New Roman"/>
              <a:cs typeface="Times New Roman"/>
              <a:sym typeface="Times New Roman"/>
            </a:endParaRPr>
          </a:p>
          <a:p>
            <a:pPr marL="91440" lvl="0" indent="0" algn="l" rtl="0">
              <a:lnSpc>
                <a:spcPct val="90000"/>
              </a:lnSpc>
              <a:spcBef>
                <a:spcPts val="1400"/>
              </a:spcBef>
              <a:spcAft>
                <a:spcPts val="0"/>
              </a:spcAft>
              <a:buSzPts val="2000"/>
              <a:buNone/>
            </a:pPr>
            <a:endParaRPr dirty="0"/>
          </a:p>
        </p:txBody>
      </p:sp>
      <p:pic>
        <p:nvPicPr>
          <p:cNvPr id="170" name="Google Shape;170;p20"/>
          <p:cNvPicPr preferRelativeResize="0"/>
          <p:nvPr/>
        </p:nvPicPr>
        <p:blipFill rotWithShape="1">
          <a:blip r:embed="rId3">
            <a:alphaModFix/>
          </a:blip>
          <a:srcRect/>
          <a:stretch/>
        </p:blipFill>
        <p:spPr>
          <a:xfrm>
            <a:off x="5990328" y="5254209"/>
            <a:ext cx="3062724" cy="118002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1"/>
          <p:cNvSpPr txBox="1"/>
          <p:nvPr/>
        </p:nvSpPr>
        <p:spPr>
          <a:xfrm>
            <a:off x="689457" y="6434236"/>
            <a:ext cx="725170" cy="197485"/>
          </a:xfrm>
          <a:prstGeom prst="rect">
            <a:avLst/>
          </a:prstGeom>
          <a:noFill/>
          <a:ln>
            <a:noFill/>
          </a:ln>
        </p:spPr>
        <p:txBody>
          <a:bodyPr spcFirstLastPara="1" wrap="square" lIns="0" tIns="0" rIns="0" bIns="0" anchor="t" anchorCtr="0">
            <a:spAutoFit/>
          </a:bodyPr>
          <a:lstStyle/>
          <a:p>
            <a:pPr marL="0" marR="0" lvl="0" indent="0" algn="l" rtl="0">
              <a:lnSpc>
                <a:spcPct val="109285"/>
              </a:lnSpc>
              <a:spcBef>
                <a:spcPts val="0"/>
              </a:spcBef>
              <a:spcAft>
                <a:spcPts val="0"/>
              </a:spcAft>
              <a:buNone/>
            </a:pPr>
            <a:r>
              <a:rPr lang="en-US" sz="1400" b="1">
                <a:solidFill>
                  <a:srgbClr val="FFFFFF"/>
                </a:solidFill>
                <a:latin typeface="Times New Roman"/>
                <a:ea typeface="Times New Roman"/>
                <a:cs typeface="Times New Roman"/>
                <a:sym typeface="Times New Roman"/>
              </a:rPr>
              <a:t>4/26/2022</a:t>
            </a:r>
            <a:endParaRPr sz="1400">
              <a:solidFill>
                <a:schemeClr val="dk1"/>
              </a:solidFill>
              <a:latin typeface="Times New Roman"/>
              <a:ea typeface="Times New Roman"/>
              <a:cs typeface="Times New Roman"/>
              <a:sym typeface="Times New Roman"/>
            </a:endParaRPr>
          </a:p>
        </p:txBody>
      </p:sp>
      <p:sp>
        <p:nvSpPr>
          <p:cNvPr id="176" name="Google Shape;176;p21"/>
          <p:cNvSpPr txBox="1">
            <a:spLocks noGrp="1"/>
          </p:cNvSpPr>
          <p:nvPr>
            <p:ph type="body" idx="4294967295"/>
          </p:nvPr>
        </p:nvSpPr>
        <p:spPr>
          <a:xfrm>
            <a:off x="673690" y="226279"/>
            <a:ext cx="8241709" cy="6631721"/>
          </a:xfrm>
          <a:prstGeom prst="rect">
            <a:avLst/>
          </a:prstGeom>
          <a:noFill/>
          <a:ln>
            <a:noFill/>
          </a:ln>
        </p:spPr>
        <p:txBody>
          <a:bodyPr spcFirstLastPara="1" wrap="square" lIns="45700" tIns="45700" rIns="45700" bIns="45700" anchor="t" anchorCtr="0">
            <a:normAutofit fontScale="85000" lnSpcReduction="20000"/>
          </a:bodyPr>
          <a:lstStyle/>
          <a:p>
            <a:pPr marL="91440" lvl="0" indent="-91440" algn="l" rtl="0">
              <a:lnSpc>
                <a:spcPct val="120000"/>
              </a:lnSpc>
              <a:spcBef>
                <a:spcPts val="0"/>
              </a:spcBef>
              <a:spcAft>
                <a:spcPts val="0"/>
              </a:spcAft>
              <a:buSzPct val="100000"/>
              <a:buNone/>
            </a:pPr>
            <a:r>
              <a:rPr lang="en-US" sz="3800" b="1" dirty="0">
                <a:solidFill>
                  <a:srgbClr val="002060"/>
                </a:solidFill>
              </a:rPr>
              <a:t>Handling Missing Values in Data</a:t>
            </a:r>
            <a:endParaRPr dirty="0"/>
          </a:p>
          <a:p>
            <a:pPr marL="91440" lvl="0" indent="-91440" algn="l" rtl="0">
              <a:lnSpc>
                <a:spcPct val="120000"/>
              </a:lnSpc>
              <a:spcBef>
                <a:spcPts val="0"/>
              </a:spcBef>
              <a:spcAft>
                <a:spcPts val="0"/>
              </a:spcAft>
              <a:buSzPct val="100000"/>
              <a:buNone/>
            </a:pPr>
            <a:r>
              <a:rPr lang="en-US" dirty="0"/>
              <a:t>Missing values can affect data quality and analysis accuracy. Here are common techniques to handle them:</a:t>
            </a:r>
            <a:endParaRPr dirty="0"/>
          </a:p>
          <a:p>
            <a:pPr marL="91440" lvl="0" indent="-91440" algn="l" rtl="0">
              <a:lnSpc>
                <a:spcPct val="120000"/>
              </a:lnSpc>
              <a:spcBef>
                <a:spcPts val="0"/>
              </a:spcBef>
              <a:spcAft>
                <a:spcPts val="0"/>
              </a:spcAft>
              <a:buSzPct val="100000"/>
              <a:buNone/>
            </a:pPr>
            <a:r>
              <a:rPr lang="en-US" b="1" dirty="0">
                <a:highlight>
                  <a:srgbClr val="FFFF00"/>
                </a:highlight>
              </a:rPr>
              <a:t>1. Deleting Missing Values</a:t>
            </a:r>
            <a:endParaRPr dirty="0">
              <a:highlight>
                <a:srgbClr val="FFFF00"/>
              </a:highlight>
            </a:endParaRPr>
          </a:p>
          <a:p>
            <a:pPr marL="91440" lvl="0" indent="-107950" algn="l" rtl="0">
              <a:lnSpc>
                <a:spcPct val="120000"/>
              </a:lnSpc>
              <a:spcBef>
                <a:spcPts val="0"/>
              </a:spcBef>
              <a:spcAft>
                <a:spcPts val="0"/>
              </a:spcAft>
              <a:buSzPct val="100000"/>
              <a:buFont typeface="Arial"/>
              <a:buChar char="•"/>
            </a:pPr>
            <a:r>
              <a:rPr lang="en-US" b="1" dirty="0">
                <a:highlight>
                  <a:srgbClr val="FFFF00"/>
                </a:highlight>
              </a:rPr>
              <a:t>Remove Rows</a:t>
            </a:r>
            <a:r>
              <a:rPr lang="en-US" dirty="0">
                <a:highlight>
                  <a:srgbClr val="FFFF00"/>
                </a:highlight>
              </a:rPr>
              <a:t>: If only a few records have missing values, drop them.</a:t>
            </a:r>
            <a:endParaRPr dirty="0">
              <a:highlight>
                <a:srgbClr val="FFFF00"/>
              </a:highlight>
            </a:endParaRPr>
          </a:p>
          <a:p>
            <a:pPr marL="91440" lvl="0" indent="-107950" algn="l" rtl="0">
              <a:lnSpc>
                <a:spcPct val="120000"/>
              </a:lnSpc>
              <a:spcBef>
                <a:spcPts val="0"/>
              </a:spcBef>
              <a:spcAft>
                <a:spcPts val="0"/>
              </a:spcAft>
              <a:buSzPct val="100000"/>
              <a:buFont typeface="Arial"/>
              <a:buChar char="•"/>
            </a:pPr>
            <a:r>
              <a:rPr lang="en-US" b="1" dirty="0">
                <a:highlight>
                  <a:srgbClr val="FFFF00"/>
                </a:highlight>
              </a:rPr>
              <a:t>Remove Columns</a:t>
            </a:r>
            <a:r>
              <a:rPr lang="en-US" dirty="0">
                <a:highlight>
                  <a:srgbClr val="FFFF00"/>
                </a:highlight>
              </a:rPr>
              <a:t>: If an entire column has too many missing values, consider removing it.</a:t>
            </a:r>
            <a:endParaRPr dirty="0">
              <a:highlight>
                <a:srgbClr val="FFFF00"/>
              </a:highlight>
            </a:endParaRPr>
          </a:p>
          <a:p>
            <a:pPr marL="91440" lvl="0" indent="-107950" algn="l" rtl="0">
              <a:lnSpc>
                <a:spcPct val="120000"/>
              </a:lnSpc>
              <a:spcBef>
                <a:spcPts val="0"/>
              </a:spcBef>
              <a:spcAft>
                <a:spcPts val="0"/>
              </a:spcAft>
              <a:buSzPct val="100000"/>
              <a:buFont typeface="Arial"/>
              <a:buChar char="•"/>
            </a:pPr>
            <a:r>
              <a:rPr lang="en-US" b="1" dirty="0">
                <a:highlight>
                  <a:srgbClr val="FFFF00"/>
                </a:highlight>
              </a:rPr>
              <a:t>Use with caution</a:t>
            </a:r>
            <a:r>
              <a:rPr lang="en-US" dirty="0">
                <a:highlight>
                  <a:srgbClr val="FFFF00"/>
                </a:highlight>
              </a:rPr>
              <a:t>: Works best when data loss is minimal.</a:t>
            </a:r>
            <a:endParaRPr dirty="0">
              <a:highlight>
                <a:srgbClr val="FFFF00"/>
              </a:highlight>
            </a:endParaRPr>
          </a:p>
          <a:p>
            <a:pPr marL="91440" lvl="0" indent="-91440" algn="l" rtl="0">
              <a:lnSpc>
                <a:spcPct val="120000"/>
              </a:lnSpc>
              <a:spcBef>
                <a:spcPts val="0"/>
              </a:spcBef>
              <a:spcAft>
                <a:spcPts val="0"/>
              </a:spcAft>
              <a:buSzPct val="100000"/>
              <a:buNone/>
            </a:pPr>
            <a:r>
              <a:rPr lang="en-US" b="1" dirty="0">
                <a:highlight>
                  <a:srgbClr val="FFFF00"/>
                </a:highlight>
              </a:rPr>
              <a:t>2. Imputation (Replacing Missing Values)</a:t>
            </a:r>
            <a:endParaRPr dirty="0">
              <a:highlight>
                <a:srgbClr val="FFFF00"/>
              </a:highlight>
            </a:endParaRPr>
          </a:p>
          <a:p>
            <a:pPr marL="91440" lvl="0" indent="-107950" algn="l" rtl="0">
              <a:lnSpc>
                <a:spcPct val="120000"/>
              </a:lnSpc>
              <a:spcBef>
                <a:spcPts val="0"/>
              </a:spcBef>
              <a:spcAft>
                <a:spcPts val="0"/>
              </a:spcAft>
              <a:buSzPct val="100000"/>
              <a:buFont typeface="Arial"/>
              <a:buChar char="•"/>
            </a:pPr>
            <a:r>
              <a:rPr lang="en-US" b="1" dirty="0">
                <a:highlight>
                  <a:srgbClr val="FFFF00"/>
                </a:highlight>
              </a:rPr>
              <a:t>Mean/Median/Mode Imputation</a:t>
            </a:r>
            <a:r>
              <a:rPr lang="en-US" dirty="0">
                <a:highlight>
                  <a:srgbClr val="FFFF00"/>
                </a:highlight>
              </a:rPr>
              <a:t> </a:t>
            </a:r>
            <a:endParaRPr dirty="0">
              <a:highlight>
                <a:srgbClr val="FFFF00"/>
              </a:highlight>
            </a:endParaRPr>
          </a:p>
          <a:p>
            <a:pPr marL="742950" lvl="1" indent="-285750" algn="l" rtl="0">
              <a:lnSpc>
                <a:spcPct val="120000"/>
              </a:lnSpc>
              <a:spcBef>
                <a:spcPts val="0"/>
              </a:spcBef>
              <a:spcAft>
                <a:spcPts val="0"/>
              </a:spcAft>
              <a:buSzPct val="100000"/>
              <a:buFont typeface="Arial"/>
              <a:buChar char="•"/>
            </a:pPr>
            <a:r>
              <a:rPr lang="en-US" dirty="0">
                <a:highlight>
                  <a:srgbClr val="FFFF00"/>
                </a:highlight>
              </a:rPr>
              <a:t>Numerical data: Replace missing values with </a:t>
            </a:r>
            <a:r>
              <a:rPr lang="en-US" b="1" dirty="0">
                <a:highlight>
                  <a:srgbClr val="FFFF00"/>
                </a:highlight>
              </a:rPr>
              <a:t>mean</a:t>
            </a:r>
            <a:r>
              <a:rPr lang="en-US" dirty="0">
                <a:highlight>
                  <a:srgbClr val="FFFF00"/>
                </a:highlight>
              </a:rPr>
              <a:t> (for normal distribution) or </a:t>
            </a:r>
            <a:r>
              <a:rPr lang="en-US" b="1" dirty="0">
                <a:highlight>
                  <a:srgbClr val="FFFF00"/>
                </a:highlight>
              </a:rPr>
              <a:t>median</a:t>
            </a:r>
            <a:r>
              <a:rPr lang="en-US" dirty="0">
                <a:highlight>
                  <a:srgbClr val="FFFF00"/>
                </a:highlight>
              </a:rPr>
              <a:t> (for skewed data).</a:t>
            </a:r>
            <a:endParaRPr dirty="0">
              <a:highlight>
                <a:srgbClr val="FFFF00"/>
              </a:highlight>
            </a:endParaRPr>
          </a:p>
          <a:p>
            <a:pPr marL="742950" lvl="1" indent="-285750" algn="l" rtl="0">
              <a:lnSpc>
                <a:spcPct val="120000"/>
              </a:lnSpc>
              <a:spcBef>
                <a:spcPts val="0"/>
              </a:spcBef>
              <a:spcAft>
                <a:spcPts val="0"/>
              </a:spcAft>
              <a:buSzPct val="100000"/>
              <a:buFont typeface="Arial"/>
              <a:buChar char="•"/>
            </a:pPr>
            <a:r>
              <a:rPr lang="en-US" dirty="0">
                <a:highlight>
                  <a:srgbClr val="FFFF00"/>
                </a:highlight>
              </a:rPr>
              <a:t>Categorical data: Use </a:t>
            </a:r>
            <a:r>
              <a:rPr lang="en-US" b="1" dirty="0">
                <a:highlight>
                  <a:srgbClr val="FFFF00"/>
                </a:highlight>
              </a:rPr>
              <a:t>mode</a:t>
            </a:r>
            <a:r>
              <a:rPr lang="en-US" dirty="0">
                <a:highlight>
                  <a:srgbClr val="FFFF00"/>
                </a:highlight>
              </a:rPr>
              <a:t> (most frequent value).</a:t>
            </a:r>
            <a:endParaRPr dirty="0">
              <a:highlight>
                <a:srgbClr val="FFFF00"/>
              </a:highlight>
            </a:endParaRPr>
          </a:p>
          <a:p>
            <a:pPr marL="91440" lvl="0" indent="-107950" algn="l" rtl="0">
              <a:lnSpc>
                <a:spcPct val="120000"/>
              </a:lnSpc>
              <a:spcBef>
                <a:spcPts val="0"/>
              </a:spcBef>
              <a:spcAft>
                <a:spcPts val="0"/>
              </a:spcAft>
              <a:buSzPct val="100000"/>
              <a:buFont typeface="Arial"/>
              <a:buChar char="•"/>
            </a:pPr>
            <a:r>
              <a:rPr lang="en-US" b="1" dirty="0">
                <a:highlight>
                  <a:srgbClr val="FFFF00"/>
                </a:highlight>
              </a:rPr>
              <a:t>Forward Fill / Backward Fill</a:t>
            </a:r>
            <a:r>
              <a:rPr lang="en-US" dirty="0">
                <a:highlight>
                  <a:srgbClr val="FFFF00"/>
                </a:highlight>
              </a:rPr>
              <a:t> </a:t>
            </a:r>
            <a:endParaRPr dirty="0">
              <a:highlight>
                <a:srgbClr val="FFFF00"/>
              </a:highlight>
            </a:endParaRPr>
          </a:p>
          <a:p>
            <a:pPr marL="742950" lvl="1" indent="-285750" algn="l" rtl="0">
              <a:lnSpc>
                <a:spcPct val="120000"/>
              </a:lnSpc>
              <a:spcBef>
                <a:spcPts val="0"/>
              </a:spcBef>
              <a:spcAft>
                <a:spcPts val="0"/>
              </a:spcAft>
              <a:buSzPct val="100000"/>
              <a:buFont typeface="Arial"/>
              <a:buChar char="•"/>
            </a:pPr>
            <a:r>
              <a:rPr lang="en-US" dirty="0">
                <a:highlight>
                  <a:srgbClr val="FFFF00"/>
                </a:highlight>
              </a:rPr>
              <a:t>Forward fill: Use previous value to fill missing data.</a:t>
            </a:r>
            <a:endParaRPr dirty="0">
              <a:highlight>
                <a:srgbClr val="FFFF00"/>
              </a:highlight>
            </a:endParaRPr>
          </a:p>
          <a:p>
            <a:pPr marL="742950" lvl="1" indent="-285750" algn="l" rtl="0">
              <a:lnSpc>
                <a:spcPct val="120000"/>
              </a:lnSpc>
              <a:spcBef>
                <a:spcPts val="0"/>
              </a:spcBef>
              <a:spcAft>
                <a:spcPts val="0"/>
              </a:spcAft>
              <a:buSzPct val="100000"/>
              <a:buFont typeface="Arial"/>
              <a:buChar char="•"/>
            </a:pPr>
            <a:r>
              <a:rPr lang="en-US" dirty="0">
                <a:highlight>
                  <a:srgbClr val="FFFF00"/>
                </a:highlight>
              </a:rPr>
              <a:t>Backward fill: Use the next available value.</a:t>
            </a:r>
            <a:endParaRPr dirty="0">
              <a:highlight>
                <a:srgbClr val="FFFF00"/>
              </a:highlight>
            </a:endParaRPr>
          </a:p>
          <a:p>
            <a:pPr marL="91440" lvl="0" indent="-107950" algn="l" rtl="0">
              <a:lnSpc>
                <a:spcPct val="120000"/>
              </a:lnSpc>
              <a:spcBef>
                <a:spcPts val="0"/>
              </a:spcBef>
              <a:spcAft>
                <a:spcPts val="0"/>
              </a:spcAft>
              <a:buSzPct val="100000"/>
              <a:buFont typeface="Arial"/>
              <a:buChar char="•"/>
            </a:pPr>
            <a:r>
              <a:rPr lang="en-US" b="1" dirty="0">
                <a:highlight>
                  <a:srgbClr val="FFFF00"/>
                </a:highlight>
              </a:rPr>
              <a:t>K-Nearest Neighbors (KNN) Imputation</a:t>
            </a:r>
            <a:r>
              <a:rPr lang="en-US" dirty="0">
                <a:highlight>
                  <a:srgbClr val="FFFF00"/>
                </a:highlight>
              </a:rPr>
              <a:t> </a:t>
            </a:r>
            <a:endParaRPr dirty="0">
              <a:highlight>
                <a:srgbClr val="FFFF00"/>
              </a:highlight>
            </a:endParaRPr>
          </a:p>
          <a:p>
            <a:pPr marL="742950" lvl="1" indent="-285750" algn="l" rtl="0">
              <a:lnSpc>
                <a:spcPct val="120000"/>
              </a:lnSpc>
              <a:spcBef>
                <a:spcPts val="0"/>
              </a:spcBef>
              <a:spcAft>
                <a:spcPts val="0"/>
              </a:spcAft>
              <a:buSzPct val="100000"/>
              <a:buFont typeface="Arial"/>
              <a:buChar char="•"/>
            </a:pPr>
            <a:r>
              <a:rPr lang="en-US" dirty="0">
                <a:highlight>
                  <a:srgbClr val="FFFF00"/>
                </a:highlight>
              </a:rPr>
              <a:t>Predicts missing values based on similar data points.</a:t>
            </a:r>
            <a:endParaRPr dirty="0">
              <a:highlight>
                <a:srgbClr val="FFFF00"/>
              </a:highlight>
            </a:endParaRPr>
          </a:p>
          <a:p>
            <a:pPr marL="91440" lvl="0" indent="-91440" algn="l" rtl="0">
              <a:lnSpc>
                <a:spcPct val="120000"/>
              </a:lnSpc>
              <a:spcBef>
                <a:spcPts val="0"/>
              </a:spcBef>
              <a:spcAft>
                <a:spcPts val="0"/>
              </a:spcAft>
              <a:buSzPct val="100000"/>
              <a:buNone/>
            </a:pPr>
            <a:r>
              <a:rPr lang="en-US" b="1" dirty="0">
                <a:highlight>
                  <a:srgbClr val="FFFF00"/>
                </a:highlight>
              </a:rPr>
              <a:t>3. Predictive Modeling</a:t>
            </a:r>
            <a:endParaRPr dirty="0">
              <a:highlight>
                <a:srgbClr val="FFFF00"/>
              </a:highlight>
            </a:endParaRPr>
          </a:p>
          <a:p>
            <a:pPr marL="91440" lvl="0" indent="-107950" algn="l" rtl="0">
              <a:lnSpc>
                <a:spcPct val="120000"/>
              </a:lnSpc>
              <a:spcBef>
                <a:spcPts val="0"/>
              </a:spcBef>
              <a:spcAft>
                <a:spcPts val="0"/>
              </a:spcAft>
              <a:buSzPct val="100000"/>
              <a:buFont typeface="Arial"/>
              <a:buChar char="•"/>
            </a:pPr>
            <a:r>
              <a:rPr lang="en-US" dirty="0">
                <a:highlight>
                  <a:srgbClr val="FFFF00"/>
                </a:highlight>
              </a:rPr>
              <a:t>Use machine learning models (like regression) to estimate missing values based on other features.</a:t>
            </a:r>
            <a:endParaRPr dirty="0">
              <a:highlight>
                <a:srgbClr val="FFFF00"/>
              </a:highlight>
            </a:endParaRPr>
          </a:p>
          <a:p>
            <a:pPr marL="91440" lvl="0" indent="-91440" algn="l" rtl="0">
              <a:lnSpc>
                <a:spcPct val="120000"/>
              </a:lnSpc>
              <a:spcBef>
                <a:spcPts val="0"/>
              </a:spcBef>
              <a:spcAft>
                <a:spcPts val="0"/>
              </a:spcAft>
              <a:buSzPct val="100000"/>
              <a:buNone/>
            </a:pPr>
            <a:r>
              <a:rPr lang="en-US" b="1" dirty="0">
                <a:highlight>
                  <a:srgbClr val="FFFF00"/>
                </a:highlight>
              </a:rPr>
              <a:t>4. Marking Missing Values</a:t>
            </a:r>
            <a:endParaRPr dirty="0">
              <a:highlight>
                <a:srgbClr val="FFFF00"/>
              </a:highlight>
            </a:endParaRPr>
          </a:p>
          <a:p>
            <a:pPr marL="91440" lvl="0" indent="-107950" algn="l" rtl="0">
              <a:lnSpc>
                <a:spcPct val="120000"/>
              </a:lnSpc>
              <a:spcBef>
                <a:spcPts val="0"/>
              </a:spcBef>
              <a:spcAft>
                <a:spcPts val="0"/>
              </a:spcAft>
              <a:buSzPct val="100000"/>
              <a:buFont typeface="Arial"/>
              <a:buChar char="•"/>
            </a:pPr>
            <a:r>
              <a:rPr lang="en-US" dirty="0">
                <a:highlight>
                  <a:srgbClr val="FFFF00"/>
                </a:highlight>
              </a:rPr>
              <a:t>Create a new categorical feature indicating whether a value was missing to retain useful patterns.</a:t>
            </a:r>
            <a:endParaRPr dirty="0">
              <a:highlight>
                <a:srgbClr val="FFFF00"/>
              </a:highlight>
            </a:endParaRPr>
          </a:p>
          <a:p>
            <a:pPr marL="91440" lvl="0" indent="-107950" algn="l" rtl="0">
              <a:lnSpc>
                <a:spcPct val="120000"/>
              </a:lnSpc>
              <a:spcBef>
                <a:spcPts val="0"/>
              </a:spcBef>
              <a:spcAft>
                <a:spcPts val="0"/>
              </a:spcAft>
              <a:buSzPct val="100000"/>
              <a:buChar char=" "/>
            </a:pPr>
            <a:r>
              <a:rPr lang="en-US" dirty="0"/>
              <a:t>Choosing the right method depends on the dataset and the nature of missing data.</a:t>
            </a:r>
            <a:endParaRPr dirty="0"/>
          </a:p>
          <a:p>
            <a:pPr marL="91440" lvl="0" indent="0" algn="l" rtl="0">
              <a:lnSpc>
                <a:spcPct val="90000"/>
              </a:lnSpc>
              <a:spcBef>
                <a:spcPts val="1200"/>
              </a:spcBef>
              <a:spcAft>
                <a:spcPts val="0"/>
              </a:spcAft>
              <a:buSzPct val="100000"/>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2"/>
          <p:cNvSpPr txBox="1">
            <a:spLocks noGrp="1"/>
          </p:cNvSpPr>
          <p:nvPr>
            <p:ph type="body" idx="1"/>
          </p:nvPr>
        </p:nvSpPr>
        <p:spPr>
          <a:xfrm>
            <a:off x="848705" y="90101"/>
            <a:ext cx="7715638" cy="5016758"/>
          </a:xfrm>
          <a:prstGeom prst="rect">
            <a:avLst/>
          </a:prstGeom>
          <a:noFill/>
          <a:ln>
            <a:noFill/>
          </a:ln>
        </p:spPr>
        <p:txBody>
          <a:bodyPr spcFirstLastPara="1" wrap="square" lIns="91425" tIns="45700" rIns="91425" bIns="45700" anchor="ctr" anchorCtr="0">
            <a:spAutoFit/>
          </a:bodyPr>
          <a:lstStyle/>
          <a:p>
            <a:pPr marL="91440" marR="0" lvl="0" indent="-91440" algn="l" rtl="0">
              <a:lnSpc>
                <a:spcPct val="100000"/>
              </a:lnSpc>
              <a:spcBef>
                <a:spcPts val="0"/>
              </a:spcBef>
              <a:spcAft>
                <a:spcPts val="0"/>
              </a:spcAft>
              <a:buSzPts val="3200"/>
              <a:buNone/>
            </a:pPr>
            <a:r>
              <a:rPr lang="en-US" sz="3200" b="1" dirty="0">
                <a:solidFill>
                  <a:srgbClr val="002060"/>
                </a:solidFill>
              </a:rPr>
              <a:t>Steps to Fix Structural Errors:</a:t>
            </a:r>
            <a:endParaRPr dirty="0"/>
          </a:p>
          <a:p>
            <a:pPr marL="0" lvl="0" indent="-114300" algn="l" rtl="0">
              <a:lnSpc>
                <a:spcPct val="100000"/>
              </a:lnSpc>
              <a:spcBef>
                <a:spcPts val="0"/>
              </a:spcBef>
              <a:spcAft>
                <a:spcPts val="0"/>
              </a:spcAft>
              <a:buClr>
                <a:schemeClr val="dk1"/>
              </a:buClr>
              <a:buSzPts val="1800"/>
              <a:buFont typeface="Arial"/>
              <a:buAutoNum type="arabicPeriod" startAt="2"/>
            </a:pPr>
            <a:r>
              <a:rPr lang="en-US" sz="1800" b="1" dirty="0">
                <a:highlight>
                  <a:srgbClr val="FFFF00"/>
                </a:highlight>
                <a:latin typeface="Arial"/>
                <a:ea typeface="Arial"/>
                <a:cs typeface="Arial"/>
                <a:sym typeface="Arial"/>
              </a:rPr>
              <a:t>Identify Inconsistencies</a:t>
            </a:r>
            <a:endParaRPr dirty="0">
              <a:highlight>
                <a:srgbClr val="FFFF00"/>
              </a:highlight>
            </a:endParaRPr>
          </a:p>
          <a:p>
            <a:pPr marL="457200" marR="0" lvl="1" indent="-1143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Check for typos, incorrect spellings, or misclassified data. </a:t>
            </a:r>
            <a:endParaRPr dirty="0"/>
          </a:p>
          <a:p>
            <a:pPr marL="457200" marR="0" lvl="1" indent="-1143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Example: "NYC" vs. "New York City" or "Male" vs. "M". </a:t>
            </a:r>
            <a:endParaRPr dirty="0"/>
          </a:p>
          <a:p>
            <a:pPr marL="0" marR="0" lvl="0" indent="-114300" algn="l" rtl="0">
              <a:lnSpc>
                <a:spcPct val="100000"/>
              </a:lnSpc>
              <a:spcBef>
                <a:spcPts val="0"/>
              </a:spcBef>
              <a:spcAft>
                <a:spcPts val="0"/>
              </a:spcAft>
              <a:buClr>
                <a:schemeClr val="dk1"/>
              </a:buClr>
              <a:buSzPts val="1800"/>
              <a:buFont typeface="Arial"/>
              <a:buAutoNum type="arabicPeriod" startAt="2"/>
            </a:pPr>
            <a:r>
              <a:rPr lang="en-US" sz="1800" b="1" i="0" u="none" strike="noStrike" cap="none" dirty="0">
                <a:solidFill>
                  <a:schemeClr val="dk1"/>
                </a:solidFill>
                <a:highlight>
                  <a:srgbClr val="FFFF00"/>
                </a:highlight>
                <a:latin typeface="Arial"/>
                <a:ea typeface="Arial"/>
                <a:cs typeface="Arial"/>
                <a:sym typeface="Arial"/>
              </a:rPr>
              <a:t>Standardize Formats</a:t>
            </a:r>
            <a:endParaRPr sz="1800" b="0" i="0" u="none" strike="noStrike" cap="none" dirty="0">
              <a:solidFill>
                <a:schemeClr val="dk1"/>
              </a:solidFill>
              <a:highlight>
                <a:srgbClr val="FFFF00"/>
              </a:highlight>
              <a:latin typeface="Arial"/>
              <a:ea typeface="Arial"/>
              <a:cs typeface="Arial"/>
              <a:sym typeface="Arial"/>
            </a:endParaRPr>
          </a:p>
          <a:p>
            <a:pPr marL="457200" marR="0" lvl="1" indent="-1143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Convert date formats to a uniform structure (e.g., YYYY-MM-DD). </a:t>
            </a:r>
            <a:endParaRPr dirty="0"/>
          </a:p>
          <a:p>
            <a:pPr marL="457200" marR="0" lvl="1" indent="-1143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Ensure consistent capitalization and naming conventions. </a:t>
            </a:r>
            <a:endParaRPr dirty="0"/>
          </a:p>
          <a:p>
            <a:pPr marL="0" marR="0" lvl="0" indent="-114300" algn="l" rtl="0">
              <a:lnSpc>
                <a:spcPct val="100000"/>
              </a:lnSpc>
              <a:spcBef>
                <a:spcPts val="0"/>
              </a:spcBef>
              <a:spcAft>
                <a:spcPts val="0"/>
              </a:spcAft>
              <a:buClr>
                <a:schemeClr val="dk1"/>
              </a:buClr>
              <a:buSzPts val="1800"/>
              <a:buFont typeface="Arial"/>
              <a:buAutoNum type="arabicPeriod" startAt="3"/>
            </a:pPr>
            <a:r>
              <a:rPr lang="en-US" sz="1800" b="1" i="0" u="none" strike="noStrike" cap="none" dirty="0">
                <a:solidFill>
                  <a:schemeClr val="dk1"/>
                </a:solidFill>
                <a:highlight>
                  <a:srgbClr val="FFFF00"/>
                </a:highlight>
                <a:latin typeface="Arial"/>
                <a:ea typeface="Arial"/>
                <a:cs typeface="Arial"/>
                <a:sym typeface="Arial"/>
              </a:rPr>
              <a:t>Correct Data Types</a:t>
            </a:r>
            <a:endParaRPr sz="1800" b="0" i="0" u="none" strike="noStrike" cap="none" dirty="0">
              <a:solidFill>
                <a:schemeClr val="dk1"/>
              </a:solidFill>
              <a:highlight>
                <a:srgbClr val="FFFF00"/>
              </a:highlight>
              <a:latin typeface="Arial"/>
              <a:ea typeface="Arial"/>
              <a:cs typeface="Arial"/>
              <a:sym typeface="Arial"/>
            </a:endParaRPr>
          </a:p>
          <a:p>
            <a:pPr marL="457200" marR="0" lvl="1" indent="-1143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Convert numerical data stored as text to proper numeric format. </a:t>
            </a:r>
            <a:endParaRPr dirty="0"/>
          </a:p>
          <a:p>
            <a:pPr marL="457200" marR="0" lvl="1" indent="-1143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Ensure categorical data is stored as category-type values. </a:t>
            </a:r>
            <a:endParaRPr dirty="0"/>
          </a:p>
          <a:p>
            <a:pPr marL="0" marR="0" lvl="0" indent="-114300" algn="l" rtl="0">
              <a:lnSpc>
                <a:spcPct val="100000"/>
              </a:lnSpc>
              <a:spcBef>
                <a:spcPts val="0"/>
              </a:spcBef>
              <a:spcAft>
                <a:spcPts val="0"/>
              </a:spcAft>
              <a:buClr>
                <a:schemeClr val="dk1"/>
              </a:buClr>
              <a:buSzPts val="1800"/>
              <a:buFont typeface="Arial"/>
              <a:buAutoNum type="arabicPeriod" startAt="3"/>
            </a:pPr>
            <a:r>
              <a:rPr lang="en-US" sz="1800" b="1" i="0" u="none" strike="noStrike" cap="none" dirty="0">
                <a:solidFill>
                  <a:schemeClr val="dk1"/>
                </a:solidFill>
                <a:highlight>
                  <a:srgbClr val="FFFF00"/>
                </a:highlight>
                <a:latin typeface="Arial"/>
                <a:ea typeface="Arial"/>
                <a:cs typeface="Arial"/>
                <a:sym typeface="Arial"/>
              </a:rPr>
              <a:t>Merge Similar Categories</a:t>
            </a:r>
            <a:endParaRPr sz="1800" b="0" i="0" u="none" strike="noStrike" cap="none" dirty="0">
              <a:solidFill>
                <a:schemeClr val="dk1"/>
              </a:solidFill>
              <a:highlight>
                <a:srgbClr val="FFFF00"/>
              </a:highlight>
              <a:latin typeface="Arial"/>
              <a:ea typeface="Arial"/>
              <a:cs typeface="Arial"/>
              <a:sym typeface="Arial"/>
            </a:endParaRPr>
          </a:p>
          <a:p>
            <a:pPr marL="457200" marR="0" lvl="1" indent="-1143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Group similar values into a single category (e.g., "USA", "U.S.", </a:t>
            </a:r>
            <a:endParaRPr dirty="0"/>
          </a:p>
          <a:p>
            <a:pPr marL="457200" marR="0" lvl="1" indent="-1143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and "United States" → "United States"). </a:t>
            </a:r>
            <a:endParaRPr dirty="0"/>
          </a:p>
          <a:p>
            <a:pPr marL="0" marR="0" lvl="0" indent="-114300" algn="l" rtl="0">
              <a:lnSpc>
                <a:spcPct val="100000"/>
              </a:lnSpc>
              <a:spcBef>
                <a:spcPts val="0"/>
              </a:spcBef>
              <a:spcAft>
                <a:spcPts val="0"/>
              </a:spcAft>
              <a:buClr>
                <a:schemeClr val="dk1"/>
              </a:buClr>
              <a:buSzPts val="1800"/>
              <a:buFont typeface="Arial"/>
              <a:buAutoNum type="arabicPeriod" startAt="3"/>
            </a:pPr>
            <a:r>
              <a:rPr lang="en-US" sz="1800" b="1" i="0" u="none" strike="noStrike" cap="none" dirty="0">
                <a:solidFill>
                  <a:schemeClr val="dk1"/>
                </a:solidFill>
                <a:highlight>
                  <a:srgbClr val="FFFF00"/>
                </a:highlight>
                <a:latin typeface="Arial"/>
                <a:ea typeface="Arial"/>
                <a:cs typeface="Arial"/>
                <a:sym typeface="Arial"/>
              </a:rPr>
              <a:t>Use Automation</a:t>
            </a:r>
            <a:endParaRPr sz="1800" b="0" i="0" u="none" strike="noStrike" cap="none" dirty="0">
              <a:solidFill>
                <a:schemeClr val="dk1"/>
              </a:solidFill>
              <a:highlight>
                <a:srgbClr val="FFFF00"/>
              </a:highlight>
              <a:latin typeface="Arial"/>
              <a:ea typeface="Arial"/>
              <a:cs typeface="Arial"/>
              <a:sym typeface="Arial"/>
            </a:endParaRPr>
          </a:p>
          <a:p>
            <a:pPr marL="457200" marR="0" lvl="1" indent="-1143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Arial"/>
                <a:ea typeface="Arial"/>
                <a:cs typeface="Arial"/>
                <a:sym typeface="Arial"/>
              </a:rPr>
              <a:t>Apply regex, scripting, or libraries like Pandas (</a:t>
            </a:r>
            <a:r>
              <a:rPr lang="en-US" sz="1800" dirty="0" err="1">
                <a:latin typeface="Arial"/>
                <a:ea typeface="Arial"/>
                <a:cs typeface="Arial"/>
                <a:sym typeface="Arial"/>
              </a:rPr>
              <a:t>str.lower</a:t>
            </a:r>
            <a:r>
              <a:rPr lang="en-US" sz="1800" dirty="0">
                <a:latin typeface="Arial"/>
                <a:ea typeface="Arial"/>
                <a:cs typeface="Arial"/>
                <a:sym typeface="Arial"/>
              </a:rPr>
              <a:t>(), replace(), </a:t>
            </a:r>
            <a:endParaRPr dirty="0"/>
          </a:p>
          <a:p>
            <a:pPr marL="457200" marR="0" lvl="1" indent="-114300" algn="l" rtl="0">
              <a:lnSpc>
                <a:spcPct val="100000"/>
              </a:lnSpc>
              <a:spcBef>
                <a:spcPts val="0"/>
              </a:spcBef>
              <a:spcAft>
                <a:spcPts val="0"/>
              </a:spcAft>
              <a:buClr>
                <a:schemeClr val="dk1"/>
              </a:buClr>
              <a:buSzPts val="1800"/>
              <a:buFont typeface="Arial"/>
              <a:buChar char="•"/>
            </a:pPr>
            <a:r>
              <a:rPr lang="en-US" sz="1800" dirty="0" err="1">
                <a:latin typeface="Arial"/>
                <a:ea typeface="Arial"/>
                <a:cs typeface="Arial"/>
                <a:sym typeface="Arial"/>
              </a:rPr>
              <a:t>astype</a:t>
            </a:r>
            <a:r>
              <a:rPr lang="en-US" sz="1800" dirty="0">
                <a:latin typeface="Arial"/>
                <a:ea typeface="Arial"/>
                <a:cs typeface="Arial"/>
                <a:sym typeface="Arial"/>
              </a:rPr>
              <a:t>()).</a:t>
            </a:r>
            <a:endParaRPr dirty="0"/>
          </a:p>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dirty="0">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3"/>
          <p:cNvSpPr txBox="1">
            <a:spLocks noGrp="1"/>
          </p:cNvSpPr>
          <p:nvPr>
            <p:ph type="body" idx="1"/>
          </p:nvPr>
        </p:nvSpPr>
        <p:spPr>
          <a:xfrm>
            <a:off x="768096" y="152400"/>
            <a:ext cx="7290055" cy="4023360"/>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en-US"/>
              <a:t>Sample Input (Original Data with Structural Errors)</a:t>
            </a:r>
            <a:endParaRPr/>
          </a:p>
          <a:p>
            <a:pPr marL="91440" lvl="0" indent="0" algn="l" rtl="0">
              <a:lnSpc>
                <a:spcPct val="90000"/>
              </a:lnSpc>
              <a:spcBef>
                <a:spcPts val="1400"/>
              </a:spcBef>
              <a:spcAft>
                <a:spcPts val="0"/>
              </a:spcAft>
              <a:buSzPts val="2000"/>
              <a:buNone/>
            </a:pPr>
            <a:endParaRPr/>
          </a:p>
          <a:p>
            <a:pPr marL="91440" lvl="0" indent="0" algn="l" rtl="0">
              <a:lnSpc>
                <a:spcPct val="90000"/>
              </a:lnSpc>
              <a:spcBef>
                <a:spcPts val="1400"/>
              </a:spcBef>
              <a:spcAft>
                <a:spcPts val="0"/>
              </a:spcAft>
              <a:buSzPts val="2000"/>
              <a:buNone/>
            </a:pPr>
            <a:endParaRPr/>
          </a:p>
          <a:p>
            <a:pPr marL="91440" lvl="0" indent="0" algn="l" rtl="0">
              <a:lnSpc>
                <a:spcPct val="90000"/>
              </a:lnSpc>
              <a:spcBef>
                <a:spcPts val="1400"/>
              </a:spcBef>
              <a:spcAft>
                <a:spcPts val="0"/>
              </a:spcAft>
              <a:buSzPts val="2000"/>
              <a:buNone/>
            </a:pPr>
            <a:endParaRPr/>
          </a:p>
          <a:p>
            <a:pPr marL="91440" lvl="0" indent="0" algn="l" rtl="0">
              <a:lnSpc>
                <a:spcPct val="90000"/>
              </a:lnSpc>
              <a:spcBef>
                <a:spcPts val="1400"/>
              </a:spcBef>
              <a:spcAft>
                <a:spcPts val="0"/>
              </a:spcAft>
              <a:buSzPts val="2000"/>
              <a:buNone/>
            </a:pPr>
            <a:endParaRPr/>
          </a:p>
          <a:p>
            <a:pPr marL="91440" lvl="0" indent="-127000" algn="l" rtl="0">
              <a:lnSpc>
                <a:spcPct val="90000"/>
              </a:lnSpc>
              <a:spcBef>
                <a:spcPts val="1400"/>
              </a:spcBef>
              <a:spcAft>
                <a:spcPts val="0"/>
              </a:spcAft>
              <a:buSzPts val="2000"/>
              <a:buChar char=" "/>
            </a:pPr>
            <a:r>
              <a:rPr lang="en-US"/>
              <a:t>Sample Output (After Fixing Structural Errors)</a:t>
            </a:r>
            <a:endParaRPr/>
          </a:p>
          <a:p>
            <a:pPr marL="91440" lvl="0" indent="0" algn="l" rtl="0">
              <a:lnSpc>
                <a:spcPct val="90000"/>
              </a:lnSpc>
              <a:spcBef>
                <a:spcPts val="1400"/>
              </a:spcBef>
              <a:spcAft>
                <a:spcPts val="0"/>
              </a:spcAft>
              <a:buSzPts val="2000"/>
              <a:buNone/>
            </a:pPr>
            <a:endParaRPr/>
          </a:p>
        </p:txBody>
      </p:sp>
      <p:pic>
        <p:nvPicPr>
          <p:cNvPr id="187" name="Google Shape;187;p23"/>
          <p:cNvPicPr preferRelativeResize="0"/>
          <p:nvPr/>
        </p:nvPicPr>
        <p:blipFill rotWithShape="1">
          <a:blip r:embed="rId3">
            <a:alphaModFix/>
          </a:blip>
          <a:srcRect/>
          <a:stretch/>
        </p:blipFill>
        <p:spPr>
          <a:xfrm>
            <a:off x="768097" y="457200"/>
            <a:ext cx="5556504" cy="2041623"/>
          </a:xfrm>
          <a:prstGeom prst="rect">
            <a:avLst/>
          </a:prstGeom>
          <a:noFill/>
          <a:ln>
            <a:noFill/>
          </a:ln>
        </p:spPr>
      </p:pic>
      <p:pic>
        <p:nvPicPr>
          <p:cNvPr id="188" name="Google Shape;188;p23"/>
          <p:cNvPicPr preferRelativeResize="0"/>
          <p:nvPr/>
        </p:nvPicPr>
        <p:blipFill rotWithShape="1">
          <a:blip r:embed="rId4">
            <a:alphaModFix/>
          </a:blip>
          <a:srcRect/>
          <a:stretch/>
        </p:blipFill>
        <p:spPr>
          <a:xfrm>
            <a:off x="802255" y="2803623"/>
            <a:ext cx="5556504" cy="2009005"/>
          </a:xfrm>
          <a:prstGeom prst="rect">
            <a:avLst/>
          </a:prstGeom>
          <a:noFill/>
          <a:ln>
            <a:noFill/>
          </a:ln>
        </p:spPr>
      </p:pic>
      <p:sp>
        <p:nvSpPr>
          <p:cNvPr id="189" name="Google Shape;189;p23"/>
          <p:cNvSpPr/>
          <p:nvPr/>
        </p:nvSpPr>
        <p:spPr>
          <a:xfrm>
            <a:off x="802255" y="4823924"/>
            <a:ext cx="7732145" cy="147732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1">
                <a:solidFill>
                  <a:schemeClr val="dk1"/>
                </a:solidFill>
                <a:latin typeface="Arial"/>
                <a:ea typeface="Arial"/>
                <a:cs typeface="Arial"/>
                <a:sym typeface="Arial"/>
              </a:rPr>
              <a:t>Fixes Applied:</a:t>
            </a:r>
            <a:endParaRPr/>
          </a:p>
          <a:p>
            <a:pPr marL="0" marR="0" lvl="0" indent="0" algn="l" rtl="0">
              <a:lnSpc>
                <a:spcPct val="100000"/>
              </a:lnSpc>
              <a:spcBef>
                <a:spcPts val="0"/>
              </a:spcBef>
              <a:spcAft>
                <a:spcPts val="0"/>
              </a:spcAft>
              <a:buClr>
                <a:schemeClr val="dk1"/>
              </a:buClr>
              <a:buSzPts val="1800"/>
              <a:buFont typeface="Arial"/>
              <a:buNone/>
            </a:pPr>
            <a:r>
              <a:rPr lang="en-US" sz="1800" b="1" i="0" u="none" strike="noStrike" cap="none">
                <a:solidFill>
                  <a:schemeClr val="dk1"/>
                </a:solidFill>
                <a:latin typeface="Arial"/>
                <a:ea typeface="Arial"/>
                <a:cs typeface="Arial"/>
                <a:sym typeface="Arial"/>
              </a:rPr>
              <a:t>City Names Standardized</a:t>
            </a:r>
            <a:r>
              <a:rPr lang="en-US" sz="1800" b="0" i="0" u="none" strike="noStrike" cap="none">
                <a:solidFill>
                  <a:schemeClr val="dk1"/>
                </a:solidFill>
                <a:latin typeface="Arial"/>
                <a:ea typeface="Arial"/>
                <a:cs typeface="Arial"/>
                <a:sym typeface="Arial"/>
              </a:rPr>
              <a:t> → "new york", "NYC" → "New York"; "LA" → "Los Angeles"; "San fran" → "San Francisco".</a:t>
            </a:r>
            <a:br>
              <a:rPr lang="en-US" sz="1800" b="0" i="0" u="none" strike="noStrike" cap="none">
                <a:solidFill>
                  <a:schemeClr val="dk1"/>
                </a:solidFill>
                <a:latin typeface="Arial"/>
                <a:ea typeface="Arial"/>
                <a:cs typeface="Arial"/>
                <a:sym typeface="Arial"/>
              </a:rPr>
            </a:br>
            <a:r>
              <a:rPr lang="en-US" sz="1800" b="1" i="0" u="none" strike="noStrike" cap="none">
                <a:solidFill>
                  <a:schemeClr val="dk1"/>
                </a:solidFill>
                <a:latin typeface="Arial"/>
                <a:ea typeface="Arial"/>
                <a:cs typeface="Arial"/>
                <a:sym typeface="Arial"/>
              </a:rPr>
              <a:t>Date Formats Unified</a:t>
            </a:r>
            <a:r>
              <a:rPr lang="en-US" sz="1800" b="0" i="0" u="none" strike="noStrike" cap="none">
                <a:solidFill>
                  <a:schemeClr val="dk1"/>
                </a:solidFill>
                <a:latin typeface="Arial"/>
                <a:ea typeface="Arial"/>
                <a:cs typeface="Arial"/>
                <a:sym typeface="Arial"/>
              </a:rPr>
              <a:t> → </a:t>
            </a:r>
            <a:r>
              <a:rPr lang="en-US" sz="1800">
                <a:solidFill>
                  <a:schemeClr val="dk1"/>
                </a:solidFill>
                <a:latin typeface="Arial"/>
                <a:ea typeface="Arial"/>
                <a:cs typeface="Arial"/>
                <a:sym typeface="Arial"/>
              </a:rPr>
              <a:t>Converted all date formats to YYYY-MM-DD.</a:t>
            </a:r>
            <a:endParaRPr/>
          </a:p>
          <a:p>
            <a:pPr marL="0" marR="0" lvl="0" indent="0" algn="l" rtl="0">
              <a:lnSpc>
                <a:spcPct val="100000"/>
              </a:lnSpc>
              <a:spcBef>
                <a:spcPts val="0"/>
              </a:spcBef>
              <a:spcAft>
                <a:spcPts val="0"/>
              </a:spcAft>
              <a:buClr>
                <a:schemeClr val="dk1"/>
              </a:buClr>
              <a:buSzPts val="800"/>
              <a:buFont typeface="Twentieth Century"/>
              <a:buNone/>
            </a:pPr>
            <a:r>
              <a:rPr lang="en-US" sz="800" b="0" i="0" u="none" strike="noStrike" cap="none">
                <a:solidFill>
                  <a:schemeClr val="dk1"/>
                </a:solidFill>
                <a:latin typeface="Twentieth Century"/>
                <a:ea typeface="Twentieth Century"/>
                <a:cs typeface="Twentieth Century"/>
                <a:sym typeface="Twentieth Century"/>
              </a:rPr>
              <a:t> </a:t>
            </a:r>
            <a:r>
              <a:rPr lang="en-US" sz="1800" b="1" i="0" u="none" strike="noStrike" cap="none">
                <a:solidFill>
                  <a:schemeClr val="dk1"/>
                </a:solidFill>
                <a:latin typeface="Arial"/>
                <a:ea typeface="Arial"/>
                <a:cs typeface="Arial"/>
                <a:sym typeface="Arial"/>
              </a:rPr>
              <a:t>Salary Column Cleaned</a:t>
            </a:r>
            <a:r>
              <a:rPr lang="en-US" sz="1800" b="0" i="0" u="none" strike="noStrike" cap="none">
                <a:solidFill>
                  <a:schemeClr val="dk1"/>
                </a:solidFill>
                <a:latin typeface="Arial"/>
                <a:ea typeface="Arial"/>
                <a:cs typeface="Arial"/>
                <a:sym typeface="Arial"/>
              </a:rPr>
              <a:t> → </a:t>
            </a:r>
            <a:r>
              <a:rPr lang="en-US" sz="1800">
                <a:solidFill>
                  <a:schemeClr val="dk1"/>
                </a:solidFill>
                <a:latin typeface="Arial"/>
                <a:ea typeface="Arial"/>
                <a:cs typeface="Arial"/>
                <a:sym typeface="Arial"/>
              </a:rPr>
              <a:t>Removed $, converted to numeric values.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4"/>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en-US"/>
              <a:t>OUTLIERS</a:t>
            </a:r>
            <a:endParaRPr/>
          </a:p>
        </p:txBody>
      </p:sp>
      <p:sp>
        <p:nvSpPr>
          <p:cNvPr id="195" name="Google Shape;195;p24"/>
          <p:cNvSpPr txBox="1">
            <a:spLocks noGrp="1"/>
          </p:cNvSpPr>
          <p:nvPr>
            <p:ph type="body" idx="1"/>
          </p:nvPr>
        </p:nvSpPr>
        <p:spPr>
          <a:xfrm>
            <a:off x="768096" y="2286000"/>
            <a:ext cx="7290055" cy="838200"/>
          </a:xfrm>
          <a:prstGeom prst="rect">
            <a:avLst/>
          </a:prstGeom>
          <a:noFill/>
          <a:ln>
            <a:noFill/>
          </a:ln>
        </p:spPr>
        <p:txBody>
          <a:bodyPr spcFirstLastPara="1" wrap="square" lIns="45700" tIns="45700" rIns="45700" bIns="45700" anchor="t" anchorCtr="0">
            <a:normAutofit fontScale="92500" lnSpcReduction="10000"/>
          </a:bodyPr>
          <a:lstStyle/>
          <a:p>
            <a:pPr marL="91440" lvl="0" indent="-117475" algn="l" rtl="0">
              <a:lnSpc>
                <a:spcPct val="90000"/>
              </a:lnSpc>
              <a:spcBef>
                <a:spcPts val="0"/>
              </a:spcBef>
              <a:spcAft>
                <a:spcPts val="0"/>
              </a:spcAft>
              <a:buSzPct val="100000"/>
              <a:buChar char=" "/>
            </a:pPr>
            <a:r>
              <a:rPr lang="en-US" dirty="0">
                <a:highlight>
                  <a:srgbClr val="FFFF00"/>
                </a:highlight>
              </a:rPr>
              <a:t>Outliers are extreme values that differ significantly from the majority of the data. They can distort statistical analysis, so handling them properly is crucial.</a:t>
            </a:r>
            <a:endParaRPr dirty="0">
              <a:highlight>
                <a:srgbClr val="FFFF00"/>
              </a:highlight>
            </a:endParaRPr>
          </a:p>
          <a:p>
            <a:pPr marL="91440" lvl="0" indent="0" algn="l" rtl="0">
              <a:lnSpc>
                <a:spcPct val="90000"/>
              </a:lnSpc>
              <a:spcBef>
                <a:spcPts val="1400"/>
              </a:spcBef>
              <a:spcAft>
                <a:spcPts val="0"/>
              </a:spcAft>
              <a:buSzPct val="100000"/>
              <a:buNone/>
            </a:pPr>
            <a:endParaRPr dirty="0"/>
          </a:p>
        </p:txBody>
      </p:sp>
      <p:sp>
        <p:nvSpPr>
          <p:cNvPr id="196" name="Google Shape;196;p24"/>
          <p:cNvSpPr/>
          <p:nvPr/>
        </p:nvSpPr>
        <p:spPr>
          <a:xfrm>
            <a:off x="768096" y="3083417"/>
            <a:ext cx="8657056" cy="3756926"/>
          </a:xfrm>
          <a:prstGeom prst="rect">
            <a:avLst/>
          </a:prstGeom>
          <a:noFill/>
          <a:ln>
            <a:noFill/>
          </a:ln>
        </p:spPr>
        <p:txBody>
          <a:bodyPr spcFirstLastPara="1" wrap="square" lIns="91425" tIns="45700" rIns="91425" bIns="45700" anchor="ctr" anchorCtr="0">
            <a:noAutofit/>
          </a:bodyPr>
          <a:lstStyle/>
          <a:p>
            <a:pPr marL="91440" marR="0" lvl="0" indent="-120650" algn="l" rtl="0">
              <a:lnSpc>
                <a:spcPct val="80000"/>
              </a:lnSpc>
              <a:spcBef>
                <a:spcPts val="0"/>
              </a:spcBef>
              <a:spcAft>
                <a:spcPts val="0"/>
              </a:spcAft>
              <a:buClr>
                <a:schemeClr val="accent2"/>
              </a:buClr>
              <a:buSzPts val="1900"/>
              <a:buFont typeface="Twentieth Century"/>
              <a:buChar char=" "/>
            </a:pPr>
            <a:r>
              <a:rPr lang="en-US" sz="1900" b="1">
                <a:solidFill>
                  <a:schemeClr val="dk1"/>
                </a:solidFill>
                <a:latin typeface="Twentieth Century"/>
                <a:ea typeface="Twentieth Century"/>
                <a:cs typeface="Twentieth Century"/>
                <a:sym typeface="Twentieth Century"/>
              </a:rPr>
              <a:t>1. Identify Outliers</a:t>
            </a:r>
            <a:endParaRPr/>
          </a:p>
          <a:p>
            <a:pPr marL="91440" marR="0" lvl="0" indent="-120650" algn="l" rtl="0">
              <a:lnSpc>
                <a:spcPct val="80000"/>
              </a:lnSpc>
              <a:spcBef>
                <a:spcPts val="1400"/>
              </a:spcBef>
              <a:spcAft>
                <a:spcPts val="0"/>
              </a:spcAft>
              <a:buClr>
                <a:schemeClr val="accent2"/>
              </a:buClr>
              <a:buSzPts val="1900"/>
              <a:buFont typeface="Twentieth Century"/>
              <a:buChar char=" "/>
            </a:pPr>
            <a:r>
              <a:rPr lang="en-US" sz="1900" b="1">
                <a:solidFill>
                  <a:schemeClr val="dk1"/>
                </a:solidFill>
                <a:latin typeface="Twentieth Century"/>
                <a:ea typeface="Twentieth Century"/>
                <a:cs typeface="Twentieth Century"/>
                <a:sym typeface="Twentieth Century"/>
              </a:rPr>
              <a:t>Using Visualization:</a:t>
            </a:r>
            <a:endParaRPr/>
          </a:p>
          <a:p>
            <a:pPr marL="548640" marR="0" lvl="2" indent="-120650" algn="l" rtl="0">
              <a:lnSpc>
                <a:spcPct val="80000"/>
              </a:lnSpc>
              <a:spcBef>
                <a:spcPts val="1400"/>
              </a:spcBef>
              <a:spcAft>
                <a:spcPts val="0"/>
              </a:spcAft>
              <a:buClr>
                <a:schemeClr val="accent2"/>
              </a:buClr>
              <a:buSzPts val="1900"/>
              <a:buFont typeface="Twentieth Century"/>
              <a:buChar char=" "/>
            </a:pPr>
            <a:r>
              <a:rPr lang="en-US" sz="1900" b="0" i="0" u="none" strike="noStrike" cap="none">
                <a:solidFill>
                  <a:schemeClr val="dk1"/>
                </a:solidFill>
                <a:latin typeface="Twentieth Century"/>
                <a:ea typeface="Twentieth Century"/>
                <a:cs typeface="Twentieth Century"/>
                <a:sym typeface="Twentieth Century"/>
              </a:rPr>
              <a:t>Box Plot (seaborn.boxplot()) </a:t>
            </a:r>
            <a:endParaRPr/>
          </a:p>
          <a:p>
            <a:pPr marL="548640" marR="0" lvl="2" indent="-120650" algn="l" rtl="0">
              <a:lnSpc>
                <a:spcPct val="80000"/>
              </a:lnSpc>
              <a:spcBef>
                <a:spcPts val="1400"/>
              </a:spcBef>
              <a:spcAft>
                <a:spcPts val="0"/>
              </a:spcAft>
              <a:buClr>
                <a:schemeClr val="accent2"/>
              </a:buClr>
              <a:buSzPts val="1900"/>
              <a:buFont typeface="Twentieth Century"/>
              <a:buChar char=" "/>
            </a:pPr>
            <a:r>
              <a:rPr lang="en-US" sz="1900" b="0" i="0" u="none" strike="noStrike" cap="none">
                <a:solidFill>
                  <a:schemeClr val="dk1"/>
                </a:solidFill>
                <a:latin typeface="Twentieth Century"/>
                <a:ea typeface="Twentieth Century"/>
                <a:cs typeface="Twentieth Century"/>
                <a:sym typeface="Twentieth Century"/>
              </a:rPr>
              <a:t>Histogram (matplotlib.hist()) </a:t>
            </a:r>
            <a:endParaRPr/>
          </a:p>
          <a:p>
            <a:pPr marL="548640" marR="0" lvl="2" indent="-120650" algn="l" rtl="0">
              <a:lnSpc>
                <a:spcPct val="80000"/>
              </a:lnSpc>
              <a:spcBef>
                <a:spcPts val="1400"/>
              </a:spcBef>
              <a:spcAft>
                <a:spcPts val="0"/>
              </a:spcAft>
              <a:buClr>
                <a:schemeClr val="accent2"/>
              </a:buClr>
              <a:buSzPts val="1900"/>
              <a:buFont typeface="Twentieth Century"/>
              <a:buChar char=" "/>
            </a:pPr>
            <a:r>
              <a:rPr lang="en-US" sz="1900" b="0" i="0" u="none" strike="noStrike" cap="none">
                <a:solidFill>
                  <a:schemeClr val="dk1"/>
                </a:solidFill>
                <a:latin typeface="Twentieth Century"/>
                <a:ea typeface="Twentieth Century"/>
                <a:cs typeface="Twentieth Century"/>
                <a:sym typeface="Twentieth Century"/>
              </a:rPr>
              <a:t>Scatter Plot (matplotlib.scatter()) </a:t>
            </a:r>
            <a:endParaRPr/>
          </a:p>
          <a:p>
            <a:pPr marL="91440" marR="0" lvl="0" indent="-120650" algn="l" rtl="0">
              <a:lnSpc>
                <a:spcPct val="80000"/>
              </a:lnSpc>
              <a:spcBef>
                <a:spcPts val="1400"/>
              </a:spcBef>
              <a:spcAft>
                <a:spcPts val="0"/>
              </a:spcAft>
              <a:buClr>
                <a:schemeClr val="accent2"/>
              </a:buClr>
              <a:buSzPts val="1900"/>
              <a:buFont typeface="Twentieth Century"/>
              <a:buChar char=" "/>
            </a:pPr>
            <a:r>
              <a:rPr lang="en-US" sz="1900" b="1">
                <a:solidFill>
                  <a:schemeClr val="dk1"/>
                </a:solidFill>
                <a:latin typeface="Twentieth Century"/>
                <a:ea typeface="Twentieth Century"/>
                <a:cs typeface="Twentieth Century"/>
                <a:sym typeface="Twentieth Century"/>
              </a:rPr>
              <a:t>Using Statistical Methods:</a:t>
            </a:r>
            <a:endParaRPr/>
          </a:p>
          <a:p>
            <a:pPr marL="548640" marR="0" lvl="2" indent="-120650" algn="l" rtl="0">
              <a:lnSpc>
                <a:spcPct val="80000"/>
              </a:lnSpc>
              <a:spcBef>
                <a:spcPts val="1400"/>
              </a:spcBef>
              <a:spcAft>
                <a:spcPts val="0"/>
              </a:spcAft>
              <a:buClr>
                <a:schemeClr val="accent2"/>
              </a:buClr>
              <a:buSzPts val="1900"/>
              <a:buFont typeface="Twentieth Century"/>
              <a:buChar char=" "/>
            </a:pPr>
            <a:r>
              <a:rPr lang="en-US" sz="1900" b="0" i="0" u="none" strike="noStrike" cap="none">
                <a:solidFill>
                  <a:schemeClr val="dk1"/>
                </a:solidFill>
                <a:latin typeface="Twentieth Century"/>
                <a:ea typeface="Twentieth Century"/>
                <a:cs typeface="Twentieth Century"/>
                <a:sym typeface="Twentieth Century"/>
              </a:rPr>
              <a:t>Z-Score Method: Outliers have Z-scores &gt; 3 or &lt; -3 </a:t>
            </a:r>
            <a:endParaRPr/>
          </a:p>
          <a:p>
            <a:pPr marL="548640" marR="0" lvl="2" indent="-120650" algn="l" rtl="0">
              <a:lnSpc>
                <a:spcPct val="80000"/>
              </a:lnSpc>
              <a:spcBef>
                <a:spcPts val="1400"/>
              </a:spcBef>
              <a:spcAft>
                <a:spcPts val="0"/>
              </a:spcAft>
              <a:buClr>
                <a:schemeClr val="accent2"/>
              </a:buClr>
              <a:buSzPts val="1900"/>
              <a:buFont typeface="Twentieth Century"/>
              <a:buChar char=" "/>
            </a:pPr>
            <a:r>
              <a:rPr lang="en-US" sz="1900" b="0" i="0" u="none" strike="noStrike" cap="none">
                <a:solidFill>
                  <a:schemeClr val="dk1"/>
                </a:solidFill>
                <a:latin typeface="Twentieth Century"/>
                <a:ea typeface="Twentieth Century"/>
                <a:cs typeface="Twentieth Century"/>
                <a:sym typeface="Twentieth Century"/>
              </a:rPr>
              <a:t>IQR (Interquartile Range) Method: Outliers fall below Q1 - 1.5*IQR or above Q3 + 1.5*IQR</a:t>
            </a:r>
            <a:endParaRPr/>
          </a:p>
          <a:p>
            <a:pPr marL="0" marR="0" lvl="0" indent="0" algn="l" rtl="0">
              <a:lnSpc>
                <a:spcPct val="100000"/>
              </a:lnSpc>
              <a:spcBef>
                <a:spcPts val="200"/>
              </a:spcBef>
              <a:spcAft>
                <a:spcPts val="0"/>
              </a:spcAft>
              <a:buClr>
                <a:schemeClr val="dk1"/>
              </a:buClr>
              <a:buSzPts val="1800"/>
              <a:buFont typeface="Twentieth Century"/>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5"/>
          <p:cNvSpPr txBox="1"/>
          <p:nvPr/>
        </p:nvSpPr>
        <p:spPr>
          <a:xfrm>
            <a:off x="676757" y="6402120"/>
            <a:ext cx="750570" cy="23939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00" b="1">
                <a:solidFill>
                  <a:srgbClr val="FFFFFF"/>
                </a:solidFill>
                <a:latin typeface="Times New Roman"/>
                <a:ea typeface="Times New Roman"/>
                <a:cs typeface="Times New Roman"/>
                <a:sym typeface="Times New Roman"/>
              </a:rPr>
              <a:t>4/26/2022</a:t>
            </a:r>
            <a:endParaRPr sz="1400">
              <a:solidFill>
                <a:schemeClr val="dk1"/>
              </a:solidFill>
              <a:latin typeface="Times New Roman"/>
              <a:ea typeface="Times New Roman"/>
              <a:cs typeface="Times New Roman"/>
              <a:sym typeface="Times New Roman"/>
            </a:endParaRPr>
          </a:p>
        </p:txBody>
      </p:sp>
      <p:pic>
        <p:nvPicPr>
          <p:cNvPr id="202" name="Google Shape;202;p25"/>
          <p:cNvPicPr preferRelativeResize="0"/>
          <p:nvPr/>
        </p:nvPicPr>
        <p:blipFill rotWithShape="1">
          <a:blip r:embed="rId3">
            <a:alphaModFix/>
          </a:blip>
          <a:srcRect/>
          <a:stretch/>
        </p:blipFill>
        <p:spPr>
          <a:xfrm>
            <a:off x="838200" y="762000"/>
            <a:ext cx="7773896" cy="4876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6"/>
          <p:cNvSpPr txBox="1"/>
          <p:nvPr/>
        </p:nvSpPr>
        <p:spPr>
          <a:xfrm>
            <a:off x="676757" y="6402120"/>
            <a:ext cx="750570" cy="23939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00" b="1">
                <a:solidFill>
                  <a:srgbClr val="FFFFFF"/>
                </a:solidFill>
                <a:latin typeface="Times New Roman"/>
                <a:ea typeface="Times New Roman"/>
                <a:cs typeface="Times New Roman"/>
                <a:sym typeface="Times New Roman"/>
              </a:rPr>
              <a:t>4/26/2022</a:t>
            </a:r>
            <a:endParaRPr sz="1400">
              <a:solidFill>
                <a:schemeClr val="dk1"/>
              </a:solidFill>
              <a:latin typeface="Times New Roman"/>
              <a:ea typeface="Times New Roman"/>
              <a:cs typeface="Times New Roman"/>
              <a:sym typeface="Times New Roman"/>
            </a:endParaRPr>
          </a:p>
        </p:txBody>
      </p:sp>
      <p:pic>
        <p:nvPicPr>
          <p:cNvPr id="208" name="Google Shape;208;p26"/>
          <p:cNvPicPr preferRelativeResize="0"/>
          <p:nvPr/>
        </p:nvPicPr>
        <p:blipFill rotWithShape="1">
          <a:blip r:embed="rId3">
            <a:alphaModFix/>
          </a:blip>
          <a:srcRect/>
          <a:stretch/>
        </p:blipFill>
        <p:spPr>
          <a:xfrm>
            <a:off x="1052021" y="692696"/>
            <a:ext cx="7545273" cy="4953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7"/>
          <p:cNvSpPr txBox="1"/>
          <p:nvPr/>
        </p:nvSpPr>
        <p:spPr>
          <a:xfrm>
            <a:off x="676757" y="6402120"/>
            <a:ext cx="750570" cy="23939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00" b="1">
                <a:solidFill>
                  <a:srgbClr val="FFFFFF"/>
                </a:solidFill>
                <a:latin typeface="Times New Roman"/>
                <a:ea typeface="Times New Roman"/>
                <a:cs typeface="Times New Roman"/>
                <a:sym typeface="Times New Roman"/>
              </a:rPr>
              <a:t>4/26/2022</a:t>
            </a:r>
            <a:endParaRPr sz="1400">
              <a:solidFill>
                <a:schemeClr val="dk1"/>
              </a:solidFill>
              <a:latin typeface="Times New Roman"/>
              <a:ea typeface="Times New Roman"/>
              <a:cs typeface="Times New Roman"/>
              <a:sym typeface="Times New Roman"/>
            </a:endParaRPr>
          </a:p>
        </p:txBody>
      </p:sp>
      <p:pic>
        <p:nvPicPr>
          <p:cNvPr id="214" name="Google Shape;214;p27"/>
          <p:cNvPicPr preferRelativeResize="0"/>
          <p:nvPr/>
        </p:nvPicPr>
        <p:blipFill rotWithShape="1">
          <a:blip r:embed="rId3">
            <a:alphaModFix/>
          </a:blip>
          <a:srcRect/>
          <a:stretch/>
        </p:blipFill>
        <p:spPr>
          <a:xfrm>
            <a:off x="903797" y="552830"/>
            <a:ext cx="7545270" cy="50006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8"/>
          <p:cNvSpPr txBox="1"/>
          <p:nvPr/>
        </p:nvSpPr>
        <p:spPr>
          <a:xfrm>
            <a:off x="676757" y="6402120"/>
            <a:ext cx="750570" cy="23939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00" b="1">
                <a:solidFill>
                  <a:srgbClr val="FFFFFF"/>
                </a:solidFill>
                <a:latin typeface="Times New Roman"/>
                <a:ea typeface="Times New Roman"/>
                <a:cs typeface="Times New Roman"/>
                <a:sym typeface="Times New Roman"/>
              </a:rPr>
              <a:t>4/26/2022</a:t>
            </a:r>
            <a:endParaRPr sz="1400">
              <a:solidFill>
                <a:schemeClr val="dk1"/>
              </a:solidFill>
              <a:latin typeface="Times New Roman"/>
              <a:ea typeface="Times New Roman"/>
              <a:cs typeface="Times New Roman"/>
              <a:sym typeface="Times New Roman"/>
            </a:endParaRPr>
          </a:p>
        </p:txBody>
      </p:sp>
      <p:pic>
        <p:nvPicPr>
          <p:cNvPr id="220" name="Google Shape;220;p28"/>
          <p:cNvPicPr preferRelativeResize="0"/>
          <p:nvPr/>
        </p:nvPicPr>
        <p:blipFill rotWithShape="1">
          <a:blip r:embed="rId3">
            <a:alphaModFix/>
          </a:blip>
          <a:srcRect/>
          <a:stretch/>
        </p:blipFill>
        <p:spPr>
          <a:xfrm>
            <a:off x="955896" y="773672"/>
            <a:ext cx="7850063"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9"/>
          <p:cNvSpPr txBox="1"/>
          <p:nvPr/>
        </p:nvSpPr>
        <p:spPr>
          <a:xfrm>
            <a:off x="676757" y="6402120"/>
            <a:ext cx="750570" cy="23939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00" b="1">
                <a:solidFill>
                  <a:srgbClr val="FFFFFF"/>
                </a:solidFill>
                <a:latin typeface="Times New Roman"/>
                <a:ea typeface="Times New Roman"/>
                <a:cs typeface="Times New Roman"/>
                <a:sym typeface="Times New Roman"/>
              </a:rPr>
              <a:t>4/26/2022</a:t>
            </a:r>
            <a:endParaRPr sz="1400">
              <a:solidFill>
                <a:schemeClr val="dk1"/>
              </a:solidFill>
              <a:latin typeface="Times New Roman"/>
              <a:ea typeface="Times New Roman"/>
              <a:cs typeface="Times New Roman"/>
              <a:sym typeface="Times New Roman"/>
            </a:endParaRPr>
          </a:p>
        </p:txBody>
      </p:sp>
      <p:pic>
        <p:nvPicPr>
          <p:cNvPr id="226" name="Google Shape;226;p29"/>
          <p:cNvPicPr preferRelativeResize="0"/>
          <p:nvPr/>
        </p:nvPicPr>
        <p:blipFill rotWithShape="1">
          <a:blip r:embed="rId3">
            <a:alphaModFix/>
          </a:blip>
          <a:srcRect/>
          <a:stretch/>
        </p:blipFill>
        <p:spPr>
          <a:xfrm>
            <a:off x="856097" y="528040"/>
            <a:ext cx="7783362" cy="50958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0"/>
          <p:cNvSpPr txBox="1"/>
          <p:nvPr/>
        </p:nvSpPr>
        <p:spPr>
          <a:xfrm>
            <a:off x="457200" y="-31531"/>
            <a:ext cx="45720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wentieth Century"/>
                <a:ea typeface="Twentieth Century"/>
                <a:cs typeface="Twentieth Century"/>
                <a:sym typeface="Twentieth Century"/>
              </a:rPr>
              <a:t>Sample Input (Original Data with Outliers)</a:t>
            </a:r>
            <a:endParaRPr sz="1800">
              <a:solidFill>
                <a:schemeClr val="dk1"/>
              </a:solidFill>
              <a:latin typeface="Twentieth Century"/>
              <a:ea typeface="Twentieth Century"/>
              <a:cs typeface="Twentieth Century"/>
              <a:sym typeface="Twentieth Century"/>
            </a:endParaRPr>
          </a:p>
        </p:txBody>
      </p:sp>
      <p:pic>
        <p:nvPicPr>
          <p:cNvPr id="232" name="Google Shape;232;p30"/>
          <p:cNvPicPr preferRelativeResize="0"/>
          <p:nvPr/>
        </p:nvPicPr>
        <p:blipFill rotWithShape="1">
          <a:blip r:embed="rId3">
            <a:alphaModFix/>
          </a:blip>
          <a:srcRect/>
          <a:stretch/>
        </p:blipFill>
        <p:spPr>
          <a:xfrm>
            <a:off x="609600" y="337801"/>
            <a:ext cx="743054" cy="2562583"/>
          </a:xfrm>
          <a:prstGeom prst="rect">
            <a:avLst/>
          </a:prstGeom>
          <a:noFill/>
          <a:ln>
            <a:noFill/>
          </a:ln>
        </p:spPr>
      </p:pic>
      <p:sp>
        <p:nvSpPr>
          <p:cNvPr id="233" name="Google Shape;233;p30"/>
          <p:cNvSpPr txBox="1"/>
          <p:nvPr/>
        </p:nvSpPr>
        <p:spPr>
          <a:xfrm>
            <a:off x="1714500" y="337801"/>
            <a:ext cx="6972300" cy="61863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Twentieth Century"/>
              <a:buNone/>
            </a:pPr>
            <a:r>
              <a:rPr lang="en-US" sz="1800">
                <a:solidFill>
                  <a:schemeClr val="dk1"/>
                </a:solidFill>
                <a:latin typeface="Twentieth Century"/>
                <a:ea typeface="Twentieth Century"/>
                <a:cs typeface="Twentieth Century"/>
                <a:sym typeface="Twentieth Century"/>
              </a:rPr>
              <a:t>calculate the </a:t>
            </a:r>
            <a:r>
              <a:rPr lang="en-US" sz="1800" b="1">
                <a:solidFill>
                  <a:schemeClr val="dk1"/>
                </a:solidFill>
                <a:latin typeface="Twentieth Century"/>
                <a:ea typeface="Twentieth Century"/>
                <a:cs typeface="Twentieth Century"/>
                <a:sym typeface="Twentieth Century"/>
              </a:rPr>
              <a:t>Interquartile Range (IQR)</a:t>
            </a:r>
            <a:r>
              <a:rPr lang="en-US" sz="1800">
                <a:solidFill>
                  <a:schemeClr val="dk1"/>
                </a:solidFill>
                <a:latin typeface="Twentieth Century"/>
                <a:ea typeface="Twentieth Century"/>
                <a:cs typeface="Twentieth Century"/>
                <a:sym typeface="Twentieth Century"/>
              </a:rPr>
              <a:t> for the given salary dataset.</a:t>
            </a:r>
            <a:endParaRPr/>
          </a:p>
          <a:p>
            <a:pPr marL="0" marR="0" lvl="0" indent="0" algn="l" rtl="0">
              <a:spcBef>
                <a:spcPts val="0"/>
              </a:spcBef>
              <a:spcAft>
                <a:spcPts val="0"/>
              </a:spcAft>
              <a:buClr>
                <a:schemeClr val="dk1"/>
              </a:buClr>
              <a:buSzPts val="1800"/>
              <a:buFont typeface="Twentieth Century"/>
              <a:buNone/>
            </a:pPr>
            <a:r>
              <a:rPr lang="en-US" sz="1800" b="1">
                <a:solidFill>
                  <a:schemeClr val="dk1"/>
                </a:solidFill>
                <a:latin typeface="Twentieth Century"/>
                <a:ea typeface="Twentieth Century"/>
                <a:cs typeface="Twentieth Century"/>
                <a:sym typeface="Twentieth Century"/>
              </a:rPr>
              <a:t>Step-by-Step Calculation of IQR</a:t>
            </a:r>
            <a:endParaRPr/>
          </a:p>
          <a:p>
            <a:pPr marL="0" marR="0" lvl="0" indent="0" algn="l" rtl="0">
              <a:spcBef>
                <a:spcPts val="0"/>
              </a:spcBef>
              <a:spcAft>
                <a:spcPts val="0"/>
              </a:spcAft>
              <a:buClr>
                <a:schemeClr val="dk1"/>
              </a:buClr>
              <a:buSzPts val="1800"/>
              <a:buFont typeface="Twentieth Century"/>
              <a:buNone/>
            </a:pPr>
            <a:r>
              <a:rPr lang="en-US" sz="1800">
                <a:solidFill>
                  <a:schemeClr val="dk1"/>
                </a:solidFill>
                <a:latin typeface="Twentieth Century"/>
                <a:ea typeface="Twentieth Century"/>
                <a:cs typeface="Twentieth Century"/>
                <a:sym typeface="Twentieth Century"/>
              </a:rPr>
              <a:t>Given the dataset:</a:t>
            </a:r>
            <a:br>
              <a:rPr lang="en-US" sz="1800">
                <a:solidFill>
                  <a:schemeClr val="dk1"/>
                </a:solidFill>
                <a:latin typeface="Twentieth Century"/>
                <a:ea typeface="Twentieth Century"/>
                <a:cs typeface="Twentieth Century"/>
                <a:sym typeface="Twentieth Century"/>
              </a:rPr>
            </a:br>
            <a:r>
              <a:rPr lang="en-US" sz="1800" b="1">
                <a:solidFill>
                  <a:schemeClr val="dk1"/>
                </a:solidFill>
                <a:latin typeface="Twentieth Century"/>
                <a:ea typeface="Twentieth Century"/>
                <a:cs typeface="Twentieth Century"/>
                <a:sym typeface="Twentieth Century"/>
              </a:rPr>
              <a:t>Salaries</a:t>
            </a:r>
            <a:r>
              <a:rPr lang="en-US" sz="1800">
                <a:solidFill>
                  <a:schemeClr val="dk1"/>
                </a:solidFill>
                <a:latin typeface="Twentieth Century"/>
                <a:ea typeface="Twentieth Century"/>
                <a:cs typeface="Twentieth Century"/>
                <a:sym typeface="Twentieth Century"/>
              </a:rPr>
              <a:t> → [30000, 35000, 40000, 45000, 50000, 120000, 150000]</a:t>
            </a:r>
            <a:endParaRPr/>
          </a:p>
          <a:p>
            <a:pPr marL="0" marR="0" lvl="0" indent="0" algn="l" rtl="0">
              <a:spcBef>
                <a:spcPts val="0"/>
              </a:spcBef>
              <a:spcAft>
                <a:spcPts val="0"/>
              </a:spcAft>
              <a:buClr>
                <a:schemeClr val="dk1"/>
              </a:buClr>
              <a:buSzPts val="1800"/>
              <a:buFont typeface="Twentieth Century"/>
              <a:buNone/>
            </a:pPr>
            <a:r>
              <a:rPr lang="en-US" sz="1800" b="1">
                <a:solidFill>
                  <a:schemeClr val="dk1"/>
                </a:solidFill>
                <a:latin typeface="Twentieth Century"/>
                <a:ea typeface="Twentieth Century"/>
                <a:cs typeface="Twentieth Century"/>
                <a:sym typeface="Twentieth Century"/>
              </a:rPr>
              <a:t>1. Calculate Q1 (25th percentile) and Q3 (75th percentile)</a:t>
            </a:r>
            <a:endParaRPr/>
          </a:p>
          <a:p>
            <a:pPr marL="0" marR="0" lvl="0" indent="-114300" algn="l" rtl="0">
              <a:spcBef>
                <a:spcPts val="0"/>
              </a:spcBef>
              <a:spcAft>
                <a:spcPts val="0"/>
              </a:spcAft>
              <a:buClr>
                <a:schemeClr val="dk1"/>
              </a:buClr>
              <a:buSzPts val="1800"/>
              <a:buFont typeface="Arial"/>
              <a:buChar char="•"/>
            </a:pPr>
            <a:r>
              <a:rPr lang="en-US" sz="1800" b="1">
                <a:solidFill>
                  <a:schemeClr val="dk1"/>
                </a:solidFill>
                <a:latin typeface="Twentieth Century"/>
                <a:ea typeface="Twentieth Century"/>
                <a:cs typeface="Twentieth Century"/>
                <a:sym typeface="Twentieth Century"/>
              </a:rPr>
              <a:t>Q1 (First Quartile)</a:t>
            </a:r>
            <a:r>
              <a:rPr lang="en-US" sz="1800">
                <a:solidFill>
                  <a:schemeClr val="dk1"/>
                </a:solidFill>
                <a:latin typeface="Twentieth Century"/>
                <a:ea typeface="Twentieth Century"/>
                <a:cs typeface="Twentieth Century"/>
                <a:sym typeface="Twentieth Century"/>
              </a:rPr>
              <a:t> = 35000</a:t>
            </a:r>
            <a:endParaRPr/>
          </a:p>
          <a:p>
            <a:pPr marL="0" marR="0" lvl="0" indent="-114300" algn="l" rtl="0">
              <a:spcBef>
                <a:spcPts val="0"/>
              </a:spcBef>
              <a:spcAft>
                <a:spcPts val="0"/>
              </a:spcAft>
              <a:buClr>
                <a:schemeClr val="dk1"/>
              </a:buClr>
              <a:buSzPts val="1800"/>
              <a:buFont typeface="Arial"/>
              <a:buChar char="•"/>
            </a:pPr>
            <a:r>
              <a:rPr lang="en-US" sz="1800" b="1">
                <a:solidFill>
                  <a:schemeClr val="dk1"/>
                </a:solidFill>
                <a:latin typeface="Twentieth Century"/>
                <a:ea typeface="Twentieth Century"/>
                <a:cs typeface="Twentieth Century"/>
                <a:sym typeface="Twentieth Century"/>
              </a:rPr>
              <a:t>Q3 (Third Quartile)</a:t>
            </a:r>
            <a:r>
              <a:rPr lang="en-US" sz="1800">
                <a:solidFill>
                  <a:schemeClr val="dk1"/>
                </a:solidFill>
                <a:latin typeface="Twentieth Century"/>
                <a:ea typeface="Twentieth Century"/>
                <a:cs typeface="Twentieth Century"/>
                <a:sym typeface="Twentieth Century"/>
              </a:rPr>
              <a:t> = 50000</a:t>
            </a:r>
            <a:endParaRPr/>
          </a:p>
          <a:p>
            <a:pPr marL="0" marR="0" lvl="0" indent="0" algn="l" rtl="0">
              <a:spcBef>
                <a:spcPts val="0"/>
              </a:spcBef>
              <a:spcAft>
                <a:spcPts val="0"/>
              </a:spcAft>
              <a:buClr>
                <a:schemeClr val="dk1"/>
              </a:buClr>
              <a:buSzPts val="1800"/>
              <a:buFont typeface="Twentieth Century"/>
              <a:buNone/>
            </a:pPr>
            <a:r>
              <a:rPr lang="en-US" sz="1800" b="1">
                <a:solidFill>
                  <a:schemeClr val="dk1"/>
                </a:solidFill>
                <a:latin typeface="Twentieth Century"/>
                <a:ea typeface="Twentieth Century"/>
                <a:cs typeface="Twentieth Century"/>
                <a:sym typeface="Twentieth Century"/>
              </a:rPr>
              <a:t>2. Compute IQR</a:t>
            </a:r>
            <a:endParaRPr/>
          </a:p>
          <a:p>
            <a:pPr marL="0" marR="0" lvl="0" indent="0" algn="l" rtl="0">
              <a:spcBef>
                <a:spcPts val="0"/>
              </a:spcBef>
              <a:spcAft>
                <a:spcPts val="0"/>
              </a:spcAft>
              <a:buClr>
                <a:schemeClr val="dk1"/>
              </a:buClr>
              <a:buSzPts val="1800"/>
              <a:buFont typeface="Twentieth Century"/>
              <a:buNone/>
            </a:pPr>
            <a:r>
              <a:rPr lang="en-US" sz="1800">
                <a:solidFill>
                  <a:schemeClr val="dk1"/>
                </a:solidFill>
                <a:latin typeface="Twentieth Century"/>
                <a:ea typeface="Twentieth Century"/>
                <a:cs typeface="Twentieth Century"/>
                <a:sym typeface="Twentieth Century"/>
              </a:rPr>
              <a:t>IQR=Q3−Q1=50000−35000=15000I</a:t>
            </a:r>
            <a:endParaRPr/>
          </a:p>
          <a:p>
            <a:pPr marL="0" marR="0" lvl="0" indent="0" algn="l" rtl="0">
              <a:spcBef>
                <a:spcPts val="0"/>
              </a:spcBef>
              <a:spcAft>
                <a:spcPts val="0"/>
              </a:spcAft>
              <a:buClr>
                <a:schemeClr val="dk1"/>
              </a:buClr>
              <a:buSzPts val="1800"/>
              <a:buFont typeface="Twentieth Century"/>
              <a:buNone/>
            </a:pPr>
            <a:r>
              <a:rPr lang="en-US" sz="1800" b="1">
                <a:solidFill>
                  <a:schemeClr val="dk1"/>
                </a:solidFill>
                <a:latin typeface="Twentieth Century"/>
                <a:ea typeface="Twentieth Century"/>
                <a:cs typeface="Twentieth Century"/>
                <a:sym typeface="Twentieth Century"/>
              </a:rPr>
              <a:t>3. Define Outlier Bounds</a:t>
            </a:r>
            <a:endParaRPr/>
          </a:p>
          <a:p>
            <a:pPr marL="0" marR="0" lvl="0" indent="0" algn="l" rtl="0">
              <a:spcBef>
                <a:spcPts val="0"/>
              </a:spcBef>
              <a:spcAft>
                <a:spcPts val="0"/>
              </a:spcAft>
              <a:buClr>
                <a:schemeClr val="dk1"/>
              </a:buClr>
              <a:buSzPts val="1800"/>
              <a:buFont typeface="Twentieth Century"/>
              <a:buNone/>
            </a:pPr>
            <a:endParaRPr sz="1800" b="1">
              <a:solidFill>
                <a:schemeClr val="dk1"/>
              </a:solidFill>
              <a:latin typeface="Twentieth Century"/>
              <a:ea typeface="Twentieth Century"/>
              <a:cs typeface="Twentieth Century"/>
              <a:sym typeface="Twentieth Century"/>
            </a:endParaRPr>
          </a:p>
          <a:p>
            <a:pPr marL="0" marR="0" lvl="0" indent="0" algn="l" rtl="0">
              <a:spcBef>
                <a:spcPts val="0"/>
              </a:spcBef>
              <a:spcAft>
                <a:spcPts val="0"/>
              </a:spcAft>
              <a:buClr>
                <a:schemeClr val="dk1"/>
              </a:buClr>
              <a:buSzPts val="1800"/>
              <a:buFont typeface="Twentieth Century"/>
              <a:buNone/>
            </a:pPr>
            <a:endParaRPr sz="1800" b="1">
              <a:solidFill>
                <a:schemeClr val="dk1"/>
              </a:solidFill>
              <a:latin typeface="Twentieth Century"/>
              <a:ea typeface="Twentieth Century"/>
              <a:cs typeface="Twentieth Century"/>
              <a:sym typeface="Twentieth Century"/>
            </a:endParaRPr>
          </a:p>
          <a:p>
            <a:pPr marL="0" marR="0" lvl="0" indent="0" algn="l" rtl="0">
              <a:spcBef>
                <a:spcPts val="0"/>
              </a:spcBef>
              <a:spcAft>
                <a:spcPts val="0"/>
              </a:spcAft>
              <a:buClr>
                <a:schemeClr val="dk1"/>
              </a:buClr>
              <a:buSzPts val="1800"/>
              <a:buFont typeface="Twentieth Century"/>
              <a:buNone/>
            </a:pPr>
            <a:endParaRPr sz="1800" b="1">
              <a:solidFill>
                <a:schemeClr val="dk1"/>
              </a:solidFill>
              <a:latin typeface="Twentieth Century"/>
              <a:ea typeface="Twentieth Century"/>
              <a:cs typeface="Twentieth Century"/>
              <a:sym typeface="Twentieth Century"/>
            </a:endParaRPr>
          </a:p>
          <a:p>
            <a:pPr marL="0" marR="0" lvl="0" indent="0" algn="l" rtl="0">
              <a:spcBef>
                <a:spcPts val="0"/>
              </a:spcBef>
              <a:spcAft>
                <a:spcPts val="0"/>
              </a:spcAft>
              <a:buClr>
                <a:schemeClr val="dk1"/>
              </a:buClr>
              <a:buSzPts val="1800"/>
              <a:buFont typeface="Twentieth Century"/>
              <a:buNone/>
            </a:pPr>
            <a:endParaRPr sz="1800" b="1">
              <a:solidFill>
                <a:schemeClr val="dk1"/>
              </a:solidFill>
              <a:latin typeface="Twentieth Century"/>
              <a:ea typeface="Twentieth Century"/>
              <a:cs typeface="Twentieth Century"/>
              <a:sym typeface="Twentieth Century"/>
            </a:endParaRPr>
          </a:p>
          <a:p>
            <a:pPr marL="0" marR="0" lvl="0" indent="0" algn="l" rtl="0">
              <a:spcBef>
                <a:spcPts val="0"/>
              </a:spcBef>
              <a:spcAft>
                <a:spcPts val="0"/>
              </a:spcAft>
              <a:buClr>
                <a:schemeClr val="dk1"/>
              </a:buClr>
              <a:buSzPts val="1800"/>
              <a:buFont typeface="Twentieth Century"/>
              <a:buNone/>
            </a:pPr>
            <a:endParaRPr sz="1800" b="1">
              <a:solidFill>
                <a:schemeClr val="dk1"/>
              </a:solidFill>
              <a:latin typeface="Twentieth Century"/>
              <a:ea typeface="Twentieth Century"/>
              <a:cs typeface="Twentieth Century"/>
              <a:sym typeface="Twentieth Century"/>
            </a:endParaRPr>
          </a:p>
          <a:p>
            <a:pPr marL="0" marR="0" lvl="0" indent="0" algn="l" rtl="0">
              <a:spcBef>
                <a:spcPts val="0"/>
              </a:spcBef>
              <a:spcAft>
                <a:spcPts val="0"/>
              </a:spcAft>
              <a:buClr>
                <a:schemeClr val="dk1"/>
              </a:buClr>
              <a:buSzPts val="1800"/>
              <a:buFont typeface="Twentieth Century"/>
              <a:buNone/>
            </a:pPr>
            <a:endParaRPr sz="1800" b="1">
              <a:solidFill>
                <a:schemeClr val="dk1"/>
              </a:solidFill>
              <a:latin typeface="Twentieth Century"/>
              <a:ea typeface="Twentieth Century"/>
              <a:cs typeface="Twentieth Century"/>
              <a:sym typeface="Twentieth Century"/>
            </a:endParaRPr>
          </a:p>
          <a:p>
            <a:pPr marL="0" marR="0" lvl="0" indent="0" algn="l" rtl="0">
              <a:spcBef>
                <a:spcPts val="0"/>
              </a:spcBef>
              <a:spcAft>
                <a:spcPts val="0"/>
              </a:spcAft>
              <a:buClr>
                <a:schemeClr val="dk1"/>
              </a:buClr>
              <a:buSzPts val="1800"/>
              <a:buFont typeface="Twentieth Century"/>
              <a:buNone/>
            </a:pPr>
            <a:endParaRPr sz="1800" b="1">
              <a:solidFill>
                <a:schemeClr val="dk1"/>
              </a:solidFill>
              <a:latin typeface="Twentieth Century"/>
              <a:ea typeface="Twentieth Century"/>
              <a:cs typeface="Twentieth Century"/>
              <a:sym typeface="Twentieth Century"/>
            </a:endParaRPr>
          </a:p>
          <a:p>
            <a:pPr marL="0" marR="0" lvl="0" indent="0" algn="l" rtl="0">
              <a:spcBef>
                <a:spcPts val="0"/>
              </a:spcBef>
              <a:spcAft>
                <a:spcPts val="0"/>
              </a:spcAft>
              <a:buClr>
                <a:schemeClr val="dk1"/>
              </a:buClr>
              <a:buSzPts val="1800"/>
              <a:buFont typeface="Twentieth Century"/>
              <a:buNone/>
            </a:pPr>
            <a:endParaRPr sz="1800" b="1">
              <a:solidFill>
                <a:schemeClr val="dk1"/>
              </a:solidFill>
              <a:latin typeface="Twentieth Century"/>
              <a:ea typeface="Twentieth Century"/>
              <a:cs typeface="Twentieth Century"/>
              <a:sym typeface="Twentieth Century"/>
            </a:endParaRPr>
          </a:p>
          <a:p>
            <a:pPr marL="0" marR="0" lvl="0" indent="0" algn="l" rtl="0">
              <a:spcBef>
                <a:spcPts val="0"/>
              </a:spcBef>
              <a:spcAft>
                <a:spcPts val="0"/>
              </a:spcAft>
              <a:buClr>
                <a:schemeClr val="dk1"/>
              </a:buClr>
              <a:buSzPts val="1800"/>
              <a:buFont typeface="Twentieth Century"/>
              <a:buNone/>
            </a:pPr>
            <a:endParaRPr sz="1800" b="1">
              <a:solidFill>
                <a:schemeClr val="dk1"/>
              </a:solidFill>
              <a:latin typeface="Twentieth Century"/>
              <a:ea typeface="Twentieth Century"/>
              <a:cs typeface="Twentieth Century"/>
              <a:sym typeface="Twentieth Century"/>
            </a:endParaRPr>
          </a:p>
          <a:p>
            <a:pPr marL="0" marR="0" lvl="0" indent="0" algn="l" rtl="0">
              <a:spcBef>
                <a:spcPts val="0"/>
              </a:spcBef>
              <a:spcAft>
                <a:spcPts val="0"/>
              </a:spcAft>
              <a:buClr>
                <a:schemeClr val="dk1"/>
              </a:buClr>
              <a:buSzPts val="1800"/>
              <a:buFont typeface="Twentieth Century"/>
              <a:buNone/>
            </a:pPr>
            <a:r>
              <a:rPr lang="en-US" sz="1800" b="1">
                <a:solidFill>
                  <a:schemeClr val="dk1"/>
                </a:solidFill>
                <a:latin typeface="Twentieth Century"/>
                <a:ea typeface="Twentieth Century"/>
                <a:cs typeface="Twentieth Century"/>
                <a:sym typeface="Twentieth Century"/>
              </a:rPr>
              <a:t>4. Identify Outliers</a:t>
            </a:r>
            <a:endParaRPr/>
          </a:p>
          <a:p>
            <a:pPr marL="0" marR="0" lvl="0" indent="-114300" algn="l" rtl="0">
              <a:spcBef>
                <a:spcPts val="0"/>
              </a:spcBef>
              <a:spcAft>
                <a:spcPts val="0"/>
              </a:spcAft>
              <a:buClr>
                <a:schemeClr val="dk1"/>
              </a:buClr>
              <a:buSzPts val="1800"/>
              <a:buFont typeface="Arial"/>
              <a:buChar char="•"/>
            </a:pPr>
            <a:r>
              <a:rPr lang="en-US" sz="1800">
                <a:solidFill>
                  <a:schemeClr val="dk1"/>
                </a:solidFill>
                <a:latin typeface="Twentieth Century"/>
                <a:ea typeface="Twentieth Century"/>
                <a:cs typeface="Twentieth Century"/>
                <a:sym typeface="Twentieth Century"/>
              </a:rPr>
              <a:t>Values </a:t>
            </a:r>
            <a:r>
              <a:rPr lang="en-US" sz="1800" b="1">
                <a:solidFill>
                  <a:schemeClr val="dk1"/>
                </a:solidFill>
                <a:latin typeface="Twentieth Century"/>
                <a:ea typeface="Twentieth Century"/>
                <a:cs typeface="Twentieth Century"/>
                <a:sym typeface="Twentieth Century"/>
              </a:rPr>
              <a:t>below 12500</a:t>
            </a:r>
            <a:r>
              <a:rPr lang="en-US" sz="1800">
                <a:solidFill>
                  <a:schemeClr val="dk1"/>
                </a:solidFill>
                <a:latin typeface="Twentieth Century"/>
                <a:ea typeface="Twentieth Century"/>
                <a:cs typeface="Twentieth Century"/>
                <a:sym typeface="Twentieth Century"/>
              </a:rPr>
              <a:t> or </a:t>
            </a:r>
            <a:r>
              <a:rPr lang="en-US" sz="1800" b="1">
                <a:solidFill>
                  <a:schemeClr val="dk1"/>
                </a:solidFill>
                <a:latin typeface="Twentieth Century"/>
                <a:ea typeface="Twentieth Century"/>
                <a:cs typeface="Twentieth Century"/>
                <a:sym typeface="Twentieth Century"/>
              </a:rPr>
              <a:t>above 72500</a:t>
            </a:r>
            <a:r>
              <a:rPr lang="en-US" sz="1800">
                <a:solidFill>
                  <a:schemeClr val="dk1"/>
                </a:solidFill>
                <a:latin typeface="Twentieth Century"/>
                <a:ea typeface="Twentieth Century"/>
                <a:cs typeface="Twentieth Century"/>
                <a:sym typeface="Twentieth Century"/>
              </a:rPr>
              <a:t> are considered outliers.</a:t>
            </a:r>
            <a:endParaRPr/>
          </a:p>
          <a:p>
            <a:pPr marL="0" marR="0" lvl="0" indent="-114300" algn="l" rtl="0">
              <a:spcBef>
                <a:spcPts val="0"/>
              </a:spcBef>
              <a:spcAft>
                <a:spcPts val="0"/>
              </a:spcAft>
              <a:buClr>
                <a:schemeClr val="dk1"/>
              </a:buClr>
              <a:buSzPts val="1800"/>
              <a:buFont typeface="Arial"/>
              <a:buChar char="•"/>
            </a:pPr>
            <a:r>
              <a:rPr lang="en-US" sz="1800" b="1">
                <a:solidFill>
                  <a:schemeClr val="dk1"/>
                </a:solidFill>
                <a:latin typeface="Twentieth Century"/>
                <a:ea typeface="Twentieth Century"/>
                <a:cs typeface="Twentieth Century"/>
                <a:sym typeface="Twentieth Century"/>
              </a:rPr>
              <a:t>Outliers:</a:t>
            </a:r>
            <a:r>
              <a:rPr lang="en-US" sz="1800">
                <a:solidFill>
                  <a:schemeClr val="dk1"/>
                </a:solidFill>
                <a:latin typeface="Twentieth Century"/>
                <a:ea typeface="Twentieth Century"/>
                <a:cs typeface="Twentieth Century"/>
                <a:sym typeface="Twentieth Century"/>
              </a:rPr>
              <a:t> </a:t>
            </a:r>
            <a:r>
              <a:rPr lang="en-US" sz="1800" b="1">
                <a:solidFill>
                  <a:schemeClr val="dk1"/>
                </a:solidFill>
                <a:latin typeface="Twentieth Century"/>
                <a:ea typeface="Twentieth Century"/>
                <a:cs typeface="Twentieth Century"/>
                <a:sym typeface="Twentieth Century"/>
              </a:rPr>
              <a:t>120000, 150000</a:t>
            </a:r>
            <a:r>
              <a:rPr lang="en-US" sz="1800">
                <a:solidFill>
                  <a:schemeClr val="dk1"/>
                </a:solidFill>
                <a:latin typeface="Twentieth Century"/>
                <a:ea typeface="Twentieth Century"/>
                <a:cs typeface="Twentieth Century"/>
                <a:sym typeface="Twentieth Century"/>
              </a:rPr>
              <a:t> (since they exceed 72500).</a:t>
            </a:r>
            <a:endParaRPr/>
          </a:p>
        </p:txBody>
      </p:sp>
      <p:pic>
        <p:nvPicPr>
          <p:cNvPr id="234" name="Google Shape;234;p30"/>
          <p:cNvPicPr preferRelativeResize="0"/>
          <p:nvPr/>
        </p:nvPicPr>
        <p:blipFill rotWithShape="1">
          <a:blip r:embed="rId4">
            <a:alphaModFix/>
          </a:blip>
          <a:srcRect/>
          <a:stretch/>
        </p:blipFill>
        <p:spPr>
          <a:xfrm>
            <a:off x="2406172" y="3457183"/>
            <a:ext cx="4991797" cy="1438476"/>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07894B29-B165-6F0F-7CF0-B567F1966798}"/>
                  </a:ext>
                </a:extLst>
              </p14:cNvPr>
              <p14:cNvContentPartPr/>
              <p14:nvPr/>
            </p14:nvContentPartPr>
            <p14:xfrm>
              <a:off x="2703770" y="3617644"/>
              <a:ext cx="2409120" cy="80280"/>
            </p14:xfrm>
          </p:contentPart>
        </mc:Choice>
        <mc:Fallback>
          <p:pic>
            <p:nvPicPr>
              <p:cNvPr id="2" name="Ink 1">
                <a:extLst>
                  <a:ext uri="{FF2B5EF4-FFF2-40B4-BE49-F238E27FC236}">
                    <a16:creationId xmlns:a16="http://schemas.microsoft.com/office/drawing/2014/main" id="{07894B29-B165-6F0F-7CF0-B567F1966798}"/>
                  </a:ext>
                </a:extLst>
              </p:cNvPr>
              <p:cNvPicPr/>
              <p:nvPr/>
            </p:nvPicPr>
            <p:blipFill>
              <a:blip r:embed="rId6"/>
              <a:stretch>
                <a:fillRect/>
              </a:stretch>
            </p:blipFill>
            <p:spPr>
              <a:xfrm>
                <a:off x="2649770" y="3509644"/>
                <a:ext cx="2516760" cy="2959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E65F4D0A-A5BF-8B96-4BA7-09951BFB1CDD}"/>
                  </a:ext>
                </a:extLst>
              </p14:cNvPr>
              <p14:cNvContentPartPr/>
              <p14:nvPr/>
            </p14:nvContentPartPr>
            <p14:xfrm>
              <a:off x="2694050" y="4247284"/>
              <a:ext cx="2644560" cy="142920"/>
            </p14:xfrm>
          </p:contentPart>
        </mc:Choice>
        <mc:Fallback>
          <p:pic>
            <p:nvPicPr>
              <p:cNvPr id="3" name="Ink 2">
                <a:extLst>
                  <a:ext uri="{FF2B5EF4-FFF2-40B4-BE49-F238E27FC236}">
                    <a16:creationId xmlns:a16="http://schemas.microsoft.com/office/drawing/2014/main" id="{E65F4D0A-A5BF-8B96-4BA7-09951BFB1CDD}"/>
                  </a:ext>
                </a:extLst>
              </p:cNvPr>
              <p:cNvPicPr/>
              <p:nvPr/>
            </p:nvPicPr>
            <p:blipFill>
              <a:blip r:embed="rId8"/>
              <a:stretch>
                <a:fillRect/>
              </a:stretch>
            </p:blipFill>
            <p:spPr>
              <a:xfrm>
                <a:off x="2640050" y="4139284"/>
                <a:ext cx="2752200" cy="358560"/>
              </a:xfrm>
              <a:prstGeom prst="rect">
                <a:avLst/>
              </a:prstGeom>
            </p:spPr>
          </p:pic>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8"/>
        <p:cNvGrpSpPr/>
        <p:nvPr/>
      </p:nvGrpSpPr>
      <p:grpSpPr>
        <a:xfrm>
          <a:off x="0" y="0"/>
          <a:ext cx="0" cy="0"/>
          <a:chOff x="0" y="0"/>
          <a:chExt cx="0" cy="0"/>
        </a:xfrm>
      </p:grpSpPr>
      <p:sp>
        <p:nvSpPr>
          <p:cNvPr id="239" name="Google Shape;239;p31"/>
          <p:cNvSpPr/>
          <p:nvPr/>
        </p:nvSpPr>
        <p:spPr>
          <a:xfrm>
            <a:off x="0" y="0"/>
            <a:ext cx="9143999" cy="4572002"/>
          </a:xfrm>
          <a:prstGeom prst="rect">
            <a:avLst/>
          </a:prstGeom>
          <a:solidFill>
            <a:srgbClr val="266F8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40" name="Google Shape;240;p31"/>
          <p:cNvSpPr/>
          <p:nvPr/>
        </p:nvSpPr>
        <p:spPr>
          <a:xfrm>
            <a:off x="482600" y="643467"/>
            <a:ext cx="8178799" cy="5571066"/>
          </a:xfrm>
          <a:prstGeom prst="rect">
            <a:avLst/>
          </a:prstGeom>
          <a:solidFill>
            <a:srgbClr val="FFFFFF"/>
          </a:solidFill>
          <a:ln>
            <a:noFill/>
          </a:ln>
          <a:effectLst>
            <a:outerShdw blurRad="63500" dist="17780" dir="5400000" algn="t" rotWithShape="0">
              <a:srgbClr val="000000">
                <a:alpha val="4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pic>
        <p:nvPicPr>
          <p:cNvPr id="241" name="Google Shape;241;p31"/>
          <p:cNvPicPr preferRelativeResize="0"/>
          <p:nvPr/>
        </p:nvPicPr>
        <p:blipFill rotWithShape="1">
          <a:blip r:embed="rId3">
            <a:alphaModFix/>
          </a:blip>
          <a:srcRect/>
          <a:stretch/>
        </p:blipFill>
        <p:spPr>
          <a:xfrm>
            <a:off x="761468" y="1866682"/>
            <a:ext cx="7621064" cy="312463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2"/>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en-US"/>
              <a:t>NOISY DATA</a:t>
            </a:r>
            <a:endParaRPr/>
          </a:p>
        </p:txBody>
      </p:sp>
      <p:sp>
        <p:nvSpPr>
          <p:cNvPr id="247" name="Google Shape;247;p32"/>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91440" algn="l" rtl="0">
              <a:lnSpc>
                <a:spcPct val="90000"/>
              </a:lnSpc>
              <a:spcBef>
                <a:spcPts val="0"/>
              </a:spcBef>
              <a:spcAft>
                <a:spcPts val="0"/>
              </a:spcAft>
              <a:buSzPts val="2000"/>
              <a:buNone/>
            </a:pPr>
            <a:r>
              <a:rPr lang="en-US" b="1" dirty="0">
                <a:highlight>
                  <a:srgbClr val="FFFF00"/>
                </a:highlight>
              </a:rPr>
              <a:t>Noisy data</a:t>
            </a:r>
            <a:r>
              <a:rPr lang="en-US" dirty="0">
                <a:highlight>
                  <a:srgbClr val="FFFF00"/>
                </a:highlight>
              </a:rPr>
              <a:t> refers to </a:t>
            </a:r>
            <a:r>
              <a:rPr lang="en-US" b="1" dirty="0">
                <a:highlight>
                  <a:srgbClr val="FFFF00"/>
                </a:highlight>
              </a:rPr>
              <a:t>irrelevant, incorrect, or random variations</a:t>
            </a:r>
            <a:r>
              <a:rPr lang="en-US" dirty="0">
                <a:highlight>
                  <a:srgbClr val="FFFF00"/>
                </a:highlight>
              </a:rPr>
              <a:t> in data that can distort analysis and predictions. </a:t>
            </a:r>
            <a:r>
              <a:rPr lang="en-US" dirty="0"/>
              <a:t>It often includes:</a:t>
            </a:r>
            <a:endParaRPr dirty="0"/>
          </a:p>
          <a:p>
            <a:pPr marL="91440" lvl="0" indent="-127000" algn="l" rtl="0">
              <a:lnSpc>
                <a:spcPct val="90000"/>
              </a:lnSpc>
              <a:spcBef>
                <a:spcPts val="1400"/>
              </a:spcBef>
              <a:spcAft>
                <a:spcPts val="0"/>
              </a:spcAft>
              <a:buSzPts val="2000"/>
              <a:buChar char=" "/>
            </a:pPr>
            <a:r>
              <a:rPr lang="en-US" dirty="0"/>
              <a:t>🔹 </a:t>
            </a:r>
            <a:r>
              <a:rPr lang="en-US" b="1" dirty="0">
                <a:highlight>
                  <a:srgbClr val="FFFF00"/>
                </a:highlight>
              </a:rPr>
              <a:t>Random errors</a:t>
            </a:r>
            <a:r>
              <a:rPr lang="en-US" dirty="0">
                <a:highlight>
                  <a:srgbClr val="FFFF00"/>
                </a:highlight>
              </a:rPr>
              <a:t> </a:t>
            </a:r>
            <a:r>
              <a:rPr lang="en-US" dirty="0"/>
              <a:t>– Mistakes in data entry (e.g., "50000" instead of "50,000").</a:t>
            </a:r>
            <a:br>
              <a:rPr lang="en-US" dirty="0"/>
            </a:br>
            <a:r>
              <a:rPr lang="en-US" dirty="0"/>
              <a:t>🔹 </a:t>
            </a:r>
            <a:r>
              <a:rPr lang="en-US" b="1" dirty="0">
                <a:highlight>
                  <a:srgbClr val="FFFF00"/>
                </a:highlight>
              </a:rPr>
              <a:t>Outliers</a:t>
            </a:r>
            <a:r>
              <a:rPr lang="en-US" dirty="0">
                <a:highlight>
                  <a:srgbClr val="FFFF00"/>
                </a:highlight>
              </a:rPr>
              <a:t> </a:t>
            </a:r>
            <a:r>
              <a:rPr lang="en-US" dirty="0"/>
              <a:t>– Extreme values that don’t fit the pattern (e.g., age = 500).</a:t>
            </a:r>
            <a:br>
              <a:rPr lang="en-US" dirty="0"/>
            </a:br>
            <a:r>
              <a:rPr lang="en-US" dirty="0"/>
              <a:t>🔹 </a:t>
            </a:r>
            <a:r>
              <a:rPr lang="en-US" b="1" dirty="0">
                <a:highlight>
                  <a:srgbClr val="FFFF00"/>
                </a:highlight>
              </a:rPr>
              <a:t>Inconsistent data</a:t>
            </a:r>
            <a:r>
              <a:rPr lang="en-US" dirty="0">
                <a:highlight>
                  <a:srgbClr val="FFFF00"/>
                </a:highlight>
              </a:rPr>
              <a:t> </a:t>
            </a:r>
            <a:r>
              <a:rPr lang="en-US" dirty="0"/>
              <a:t>– Different formats or naming conventions (e.g., "NYC" vs. "New York").</a:t>
            </a:r>
            <a:br>
              <a:rPr lang="en-US" dirty="0"/>
            </a:br>
            <a:r>
              <a:rPr lang="en-US" dirty="0"/>
              <a:t>🔹 </a:t>
            </a:r>
            <a:r>
              <a:rPr lang="en-US" b="1" dirty="0">
                <a:highlight>
                  <a:srgbClr val="FFFF00"/>
                </a:highlight>
              </a:rPr>
              <a:t>Duplicate data</a:t>
            </a:r>
            <a:r>
              <a:rPr lang="en-US" dirty="0">
                <a:highlight>
                  <a:srgbClr val="FFFF00"/>
                </a:highlight>
              </a:rPr>
              <a:t> </a:t>
            </a:r>
            <a:r>
              <a:rPr lang="en-US" dirty="0"/>
              <a:t>– Repeated entries that add redundancy.</a:t>
            </a:r>
            <a:endParaRPr dirty="0"/>
          </a:p>
          <a:p>
            <a:pPr marL="91440" lvl="0" indent="0" algn="l" rtl="0">
              <a:lnSpc>
                <a:spcPct val="90000"/>
              </a:lnSpc>
              <a:spcBef>
                <a:spcPts val="1400"/>
              </a:spcBef>
              <a:spcAft>
                <a:spcPts val="0"/>
              </a:spcAft>
              <a:buSzPts val="2000"/>
              <a:buNone/>
            </a:pP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3"/>
          <p:cNvSpPr txBox="1"/>
          <p:nvPr/>
        </p:nvSpPr>
        <p:spPr>
          <a:xfrm>
            <a:off x="689457" y="6434236"/>
            <a:ext cx="725170" cy="197485"/>
          </a:xfrm>
          <a:prstGeom prst="rect">
            <a:avLst/>
          </a:prstGeom>
          <a:noFill/>
          <a:ln>
            <a:noFill/>
          </a:ln>
        </p:spPr>
        <p:txBody>
          <a:bodyPr spcFirstLastPara="1" wrap="square" lIns="0" tIns="0" rIns="0" bIns="0" anchor="t" anchorCtr="0">
            <a:spAutoFit/>
          </a:bodyPr>
          <a:lstStyle/>
          <a:p>
            <a:pPr marL="0" marR="0" lvl="0" indent="0" algn="l" rtl="0">
              <a:lnSpc>
                <a:spcPct val="109285"/>
              </a:lnSpc>
              <a:spcBef>
                <a:spcPts val="0"/>
              </a:spcBef>
              <a:spcAft>
                <a:spcPts val="0"/>
              </a:spcAft>
              <a:buNone/>
            </a:pPr>
            <a:r>
              <a:rPr lang="en-US" sz="1400" b="1">
                <a:solidFill>
                  <a:srgbClr val="FFFFFF"/>
                </a:solidFill>
                <a:latin typeface="Times New Roman"/>
                <a:ea typeface="Times New Roman"/>
                <a:cs typeface="Times New Roman"/>
                <a:sym typeface="Times New Roman"/>
              </a:rPr>
              <a:t>4/26/2022</a:t>
            </a:r>
            <a:endParaRPr sz="1400">
              <a:solidFill>
                <a:schemeClr val="dk1"/>
              </a:solidFill>
              <a:latin typeface="Times New Roman"/>
              <a:ea typeface="Times New Roman"/>
              <a:cs typeface="Times New Roman"/>
              <a:sym typeface="Times New Roman"/>
            </a:endParaRPr>
          </a:p>
        </p:txBody>
      </p:sp>
      <p:sp>
        <p:nvSpPr>
          <p:cNvPr id="253" name="Google Shape;253;p33"/>
          <p:cNvSpPr txBox="1">
            <a:spLocks noGrp="1"/>
          </p:cNvSpPr>
          <p:nvPr>
            <p:ph type="title"/>
          </p:nvPr>
        </p:nvSpPr>
        <p:spPr>
          <a:xfrm>
            <a:off x="768096" y="902110"/>
            <a:ext cx="7290054" cy="865827"/>
          </a:xfrm>
          <a:prstGeom prst="rect">
            <a:avLst/>
          </a:prstGeom>
          <a:noFill/>
          <a:ln>
            <a:noFill/>
          </a:ln>
        </p:spPr>
        <p:txBody>
          <a:bodyPr spcFirstLastPara="1" wrap="square" lIns="0" tIns="303725" rIns="0" bIns="0" anchor="ctr" anchorCtr="0">
            <a:spAutoFit/>
          </a:bodyPr>
          <a:lstStyle/>
          <a:p>
            <a:pPr marL="0" lvl="0" indent="0" algn="l" rtl="0">
              <a:lnSpc>
                <a:spcPct val="80000"/>
              </a:lnSpc>
              <a:spcBef>
                <a:spcPts val="0"/>
              </a:spcBef>
              <a:spcAft>
                <a:spcPts val="0"/>
              </a:spcAft>
              <a:buClr>
                <a:srgbClr val="0C0C0C"/>
              </a:buClr>
              <a:buSzPts val="4400"/>
              <a:buFont typeface="Twentieth Century"/>
              <a:buNone/>
            </a:pPr>
            <a:r>
              <a:rPr lang="en-US"/>
              <a:t>HOW TO HANDLE NOISY DATA?</a:t>
            </a:r>
            <a:endParaRPr/>
          </a:p>
        </p:txBody>
      </p:sp>
      <p:sp>
        <p:nvSpPr>
          <p:cNvPr id="254" name="Google Shape;254;p33"/>
          <p:cNvSpPr txBox="1">
            <a:spLocks noGrp="1"/>
          </p:cNvSpPr>
          <p:nvPr>
            <p:ph type="body" idx="1"/>
          </p:nvPr>
        </p:nvSpPr>
        <p:spPr>
          <a:xfrm>
            <a:off x="768096" y="1767937"/>
            <a:ext cx="7290055" cy="4541423"/>
          </a:xfrm>
          <a:prstGeom prst="rect">
            <a:avLst/>
          </a:prstGeom>
          <a:noFill/>
          <a:ln>
            <a:noFill/>
          </a:ln>
        </p:spPr>
        <p:txBody>
          <a:bodyPr spcFirstLastPara="1" wrap="square" lIns="45700" tIns="45700" rIns="45700" bIns="45700" anchor="t" anchorCtr="0">
            <a:normAutofit fontScale="85000" lnSpcReduction="20000"/>
          </a:bodyPr>
          <a:lstStyle/>
          <a:p>
            <a:pPr marL="91440" lvl="0" indent="-91440" algn="l" rtl="0">
              <a:lnSpc>
                <a:spcPct val="120000"/>
              </a:lnSpc>
              <a:spcBef>
                <a:spcPts val="0"/>
              </a:spcBef>
              <a:spcAft>
                <a:spcPts val="0"/>
              </a:spcAft>
              <a:buSzPct val="100000"/>
              <a:buNone/>
            </a:pPr>
            <a:r>
              <a:rPr lang="en-US" sz="2100" b="1" dirty="0">
                <a:highlight>
                  <a:srgbClr val="FFFF00"/>
                </a:highlight>
              </a:rPr>
              <a:t>1. Binning (Smoothing)</a:t>
            </a:r>
            <a:endParaRPr dirty="0">
              <a:highlight>
                <a:srgbClr val="FFFF00"/>
              </a:highlight>
            </a:endParaRPr>
          </a:p>
          <a:p>
            <a:pPr marL="91440" lvl="0" indent="-107950" algn="l" rtl="0">
              <a:lnSpc>
                <a:spcPct val="120000"/>
              </a:lnSpc>
              <a:spcBef>
                <a:spcPts val="0"/>
              </a:spcBef>
              <a:spcAft>
                <a:spcPts val="0"/>
              </a:spcAft>
              <a:buSzPct val="100000"/>
              <a:buFont typeface="Arial"/>
              <a:buChar char="•"/>
            </a:pPr>
            <a:r>
              <a:rPr lang="en-US" b="1" dirty="0">
                <a:highlight>
                  <a:srgbClr val="FFFF00"/>
                </a:highlight>
              </a:rPr>
              <a:t>Equal-width binning</a:t>
            </a:r>
            <a:r>
              <a:rPr lang="en-US" dirty="0">
                <a:highlight>
                  <a:srgbClr val="FFFF00"/>
                </a:highlight>
              </a:rPr>
              <a:t>: Divide data into equal-sized bins and replace values with the mean or median of the bin.</a:t>
            </a:r>
            <a:endParaRPr dirty="0">
              <a:highlight>
                <a:srgbClr val="FFFF00"/>
              </a:highlight>
            </a:endParaRPr>
          </a:p>
          <a:p>
            <a:pPr marL="91440" lvl="0" indent="-107950" algn="l" rtl="0">
              <a:lnSpc>
                <a:spcPct val="120000"/>
              </a:lnSpc>
              <a:spcBef>
                <a:spcPts val="0"/>
              </a:spcBef>
              <a:spcAft>
                <a:spcPts val="0"/>
              </a:spcAft>
              <a:buSzPct val="100000"/>
              <a:buFont typeface="Arial"/>
              <a:buChar char="•"/>
            </a:pPr>
            <a:r>
              <a:rPr lang="en-US" b="1" dirty="0">
                <a:highlight>
                  <a:srgbClr val="FFFF00"/>
                </a:highlight>
              </a:rPr>
              <a:t>Equal-frequency binning</a:t>
            </a:r>
            <a:r>
              <a:rPr lang="en-US" dirty="0">
                <a:highlight>
                  <a:srgbClr val="FFFF00"/>
                </a:highlight>
              </a:rPr>
              <a:t>: Group values so each bin has an equal number of data points.</a:t>
            </a:r>
            <a:endParaRPr dirty="0">
              <a:highlight>
                <a:srgbClr val="FFFF00"/>
              </a:highlight>
            </a:endParaRPr>
          </a:p>
          <a:p>
            <a:pPr marL="91440" lvl="0" indent="-91440" algn="l" rtl="0">
              <a:lnSpc>
                <a:spcPct val="120000"/>
              </a:lnSpc>
              <a:spcBef>
                <a:spcPts val="0"/>
              </a:spcBef>
              <a:spcAft>
                <a:spcPts val="0"/>
              </a:spcAft>
              <a:buSzPct val="100000"/>
              <a:buNone/>
            </a:pPr>
            <a:r>
              <a:rPr lang="en-US" b="1" dirty="0">
                <a:highlight>
                  <a:srgbClr val="FFFF00"/>
                </a:highlight>
              </a:rPr>
              <a:t>2. Regression (Trend Fitting)</a:t>
            </a:r>
            <a:endParaRPr dirty="0">
              <a:highlight>
                <a:srgbClr val="FFFF00"/>
              </a:highlight>
            </a:endParaRPr>
          </a:p>
          <a:p>
            <a:pPr marL="91440" lvl="0" indent="-107950" algn="l" rtl="0">
              <a:lnSpc>
                <a:spcPct val="120000"/>
              </a:lnSpc>
              <a:spcBef>
                <a:spcPts val="0"/>
              </a:spcBef>
              <a:spcAft>
                <a:spcPts val="0"/>
              </a:spcAft>
              <a:buSzPct val="100000"/>
              <a:buFont typeface="Arial"/>
              <a:buChar char="•"/>
            </a:pPr>
            <a:r>
              <a:rPr lang="en-US" dirty="0">
                <a:highlight>
                  <a:srgbClr val="FFFF00"/>
                </a:highlight>
              </a:rPr>
              <a:t>Fit a regression line (linear or polynomial) to smooth the data.</a:t>
            </a:r>
            <a:endParaRPr dirty="0">
              <a:highlight>
                <a:srgbClr val="FFFF00"/>
              </a:highlight>
            </a:endParaRPr>
          </a:p>
          <a:p>
            <a:pPr marL="91440" lvl="0" indent="-107950" algn="l" rtl="0">
              <a:lnSpc>
                <a:spcPct val="120000"/>
              </a:lnSpc>
              <a:spcBef>
                <a:spcPts val="0"/>
              </a:spcBef>
              <a:spcAft>
                <a:spcPts val="0"/>
              </a:spcAft>
              <a:buSzPct val="100000"/>
              <a:buFont typeface="Arial"/>
              <a:buChar char="•"/>
            </a:pPr>
            <a:r>
              <a:rPr lang="en-US" dirty="0">
                <a:highlight>
                  <a:srgbClr val="FFFF00"/>
                </a:highlight>
              </a:rPr>
              <a:t>Replace noisy values with predicted values from the regression model.</a:t>
            </a:r>
            <a:endParaRPr dirty="0">
              <a:highlight>
                <a:srgbClr val="FFFF00"/>
              </a:highlight>
            </a:endParaRPr>
          </a:p>
          <a:p>
            <a:pPr marL="91440" lvl="0" indent="-91440" algn="l" rtl="0">
              <a:lnSpc>
                <a:spcPct val="120000"/>
              </a:lnSpc>
              <a:spcBef>
                <a:spcPts val="0"/>
              </a:spcBef>
              <a:spcAft>
                <a:spcPts val="0"/>
              </a:spcAft>
              <a:buSzPct val="100000"/>
              <a:buNone/>
            </a:pPr>
            <a:r>
              <a:rPr lang="en-US" b="1" dirty="0">
                <a:highlight>
                  <a:srgbClr val="FFFF00"/>
                </a:highlight>
              </a:rPr>
              <a:t>3. Moving Average (Rolling Window)</a:t>
            </a:r>
            <a:endParaRPr dirty="0">
              <a:highlight>
                <a:srgbClr val="FFFF00"/>
              </a:highlight>
            </a:endParaRPr>
          </a:p>
          <a:p>
            <a:pPr marL="91440" lvl="0" indent="-107950" algn="l" rtl="0">
              <a:lnSpc>
                <a:spcPct val="120000"/>
              </a:lnSpc>
              <a:spcBef>
                <a:spcPts val="0"/>
              </a:spcBef>
              <a:spcAft>
                <a:spcPts val="0"/>
              </a:spcAft>
              <a:buSzPct val="100000"/>
              <a:buFont typeface="Arial"/>
              <a:buChar char="•"/>
            </a:pPr>
            <a:r>
              <a:rPr lang="en-US" dirty="0">
                <a:highlight>
                  <a:srgbClr val="FFFF00"/>
                </a:highlight>
              </a:rPr>
              <a:t>Use a sliding window over the data and replace each value with the mean or median of the window.</a:t>
            </a:r>
            <a:endParaRPr dirty="0">
              <a:highlight>
                <a:srgbClr val="FFFF00"/>
              </a:highlight>
            </a:endParaRPr>
          </a:p>
          <a:p>
            <a:pPr marL="91440" lvl="0" indent="-107950" algn="l" rtl="0">
              <a:lnSpc>
                <a:spcPct val="120000"/>
              </a:lnSpc>
              <a:spcBef>
                <a:spcPts val="0"/>
              </a:spcBef>
              <a:spcAft>
                <a:spcPts val="0"/>
              </a:spcAft>
              <a:buSzPct val="100000"/>
              <a:buFont typeface="Arial"/>
              <a:buChar char="•"/>
            </a:pPr>
            <a:r>
              <a:rPr lang="en-US" dirty="0">
                <a:highlight>
                  <a:srgbClr val="FFFF00"/>
                </a:highlight>
              </a:rPr>
              <a:t>Example: 3-point or 5-point moving average.</a:t>
            </a:r>
            <a:endParaRPr dirty="0">
              <a:highlight>
                <a:srgbClr val="FFFF00"/>
              </a:highlight>
            </a:endParaRPr>
          </a:p>
          <a:p>
            <a:pPr marL="91440" lvl="0" indent="-91440" algn="l" rtl="0">
              <a:lnSpc>
                <a:spcPct val="120000"/>
              </a:lnSpc>
              <a:spcBef>
                <a:spcPts val="0"/>
              </a:spcBef>
              <a:spcAft>
                <a:spcPts val="0"/>
              </a:spcAft>
              <a:buSzPct val="100000"/>
              <a:buNone/>
            </a:pPr>
            <a:r>
              <a:rPr lang="en-US" b="1" dirty="0">
                <a:highlight>
                  <a:srgbClr val="FFFF00"/>
                </a:highlight>
              </a:rPr>
              <a:t>4. Outlier Removal</a:t>
            </a:r>
            <a:endParaRPr dirty="0">
              <a:highlight>
                <a:srgbClr val="FFFF00"/>
              </a:highlight>
            </a:endParaRPr>
          </a:p>
          <a:p>
            <a:pPr marL="91440" lvl="0" indent="-107950" algn="l" rtl="0">
              <a:lnSpc>
                <a:spcPct val="120000"/>
              </a:lnSpc>
              <a:spcBef>
                <a:spcPts val="0"/>
              </a:spcBef>
              <a:spcAft>
                <a:spcPts val="0"/>
              </a:spcAft>
              <a:buSzPct val="100000"/>
              <a:buFont typeface="Arial"/>
              <a:buChar char="•"/>
            </a:pPr>
            <a:r>
              <a:rPr lang="en-US" dirty="0">
                <a:highlight>
                  <a:srgbClr val="FFFF00"/>
                </a:highlight>
              </a:rPr>
              <a:t>Use </a:t>
            </a:r>
            <a:r>
              <a:rPr lang="en-US" b="1" dirty="0">
                <a:highlight>
                  <a:srgbClr val="FFFF00"/>
                </a:highlight>
              </a:rPr>
              <a:t>Interquartile Range (IQR)</a:t>
            </a:r>
            <a:r>
              <a:rPr lang="en-US" dirty="0">
                <a:highlight>
                  <a:srgbClr val="FFFF00"/>
                </a:highlight>
              </a:rPr>
              <a:t> or </a:t>
            </a:r>
            <a:r>
              <a:rPr lang="en-US" b="1" dirty="0">
                <a:highlight>
                  <a:srgbClr val="FFFF00"/>
                </a:highlight>
              </a:rPr>
              <a:t>Z-score</a:t>
            </a:r>
            <a:r>
              <a:rPr lang="en-US" dirty="0">
                <a:highlight>
                  <a:srgbClr val="FFFF00"/>
                </a:highlight>
              </a:rPr>
              <a:t> to identify and remove extreme values.</a:t>
            </a:r>
            <a:endParaRPr dirty="0">
              <a:highlight>
                <a:srgbClr val="FFFF00"/>
              </a:highlight>
            </a:endParaRPr>
          </a:p>
          <a:p>
            <a:pPr marL="91440" lvl="0" indent="-91440" algn="l" rtl="0">
              <a:lnSpc>
                <a:spcPct val="120000"/>
              </a:lnSpc>
              <a:spcBef>
                <a:spcPts val="0"/>
              </a:spcBef>
              <a:spcAft>
                <a:spcPts val="0"/>
              </a:spcAft>
              <a:buSzPct val="100000"/>
              <a:buNone/>
            </a:pPr>
            <a:r>
              <a:rPr lang="en-US" b="1" dirty="0">
                <a:highlight>
                  <a:srgbClr val="FFFF00"/>
                </a:highlight>
              </a:rPr>
              <a:t>5. Clustering</a:t>
            </a:r>
            <a:endParaRPr dirty="0">
              <a:highlight>
                <a:srgbClr val="FFFF00"/>
              </a:highlight>
            </a:endParaRPr>
          </a:p>
          <a:p>
            <a:pPr marL="91440" lvl="0" indent="-107950" algn="l" rtl="0">
              <a:lnSpc>
                <a:spcPct val="120000"/>
              </a:lnSpc>
              <a:spcBef>
                <a:spcPts val="0"/>
              </a:spcBef>
              <a:spcAft>
                <a:spcPts val="0"/>
              </a:spcAft>
              <a:buSzPct val="100000"/>
              <a:buFont typeface="Arial"/>
              <a:buChar char="•"/>
            </a:pPr>
            <a:r>
              <a:rPr lang="en-US" dirty="0">
                <a:highlight>
                  <a:srgbClr val="FFFF00"/>
                </a:highlight>
              </a:rPr>
              <a:t>Use </a:t>
            </a:r>
            <a:r>
              <a:rPr lang="en-US" b="1" dirty="0">
                <a:highlight>
                  <a:srgbClr val="FFFF00"/>
                </a:highlight>
              </a:rPr>
              <a:t>K-Means or DBSCAN</a:t>
            </a:r>
            <a:r>
              <a:rPr lang="en-US" dirty="0">
                <a:highlight>
                  <a:srgbClr val="FFFF00"/>
                </a:highlight>
              </a:rPr>
              <a:t> to detect and remove noise by identifying data points that do not belong to any meaningful cluster.</a:t>
            </a:r>
            <a:endParaRPr dirty="0">
              <a:highlight>
                <a:srgbClr val="FFFF00"/>
              </a:highlight>
            </a:endParaRPr>
          </a:p>
          <a:p>
            <a:pPr marL="91440" lvl="0" indent="0" algn="l" rtl="0">
              <a:lnSpc>
                <a:spcPct val="90000"/>
              </a:lnSpc>
              <a:spcBef>
                <a:spcPts val="1200"/>
              </a:spcBef>
              <a:spcAft>
                <a:spcPts val="0"/>
              </a:spcAft>
              <a:buSzPct val="100000"/>
              <a:buNone/>
            </a:pPr>
            <a:endParaRPr dirty="0">
              <a:highlight>
                <a:srgbClr val="FFFF00"/>
              </a:high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4"/>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en-US"/>
              <a:t>HOW TO HANDLE NOISY DATA?</a:t>
            </a:r>
            <a:endParaRPr/>
          </a:p>
        </p:txBody>
      </p:sp>
      <p:sp>
        <p:nvSpPr>
          <p:cNvPr id="260" name="Google Shape;260;p34"/>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fontScale="77500" lnSpcReduction="20000"/>
          </a:bodyPr>
          <a:lstStyle/>
          <a:p>
            <a:pPr marL="91440" lvl="0" indent="-91440" algn="l" rtl="0">
              <a:lnSpc>
                <a:spcPct val="90000"/>
              </a:lnSpc>
              <a:spcBef>
                <a:spcPts val="0"/>
              </a:spcBef>
              <a:spcAft>
                <a:spcPts val="0"/>
              </a:spcAft>
              <a:buSzPct val="100000"/>
              <a:buNone/>
            </a:pPr>
            <a:r>
              <a:rPr lang="en-US" b="1"/>
              <a:t>Steps for Binning:</a:t>
            </a:r>
            <a:endParaRPr/>
          </a:p>
          <a:p>
            <a:pPr marL="91440" lvl="0" indent="-98425" algn="l" rtl="0">
              <a:lnSpc>
                <a:spcPct val="90000"/>
              </a:lnSpc>
              <a:spcBef>
                <a:spcPts val="1400"/>
              </a:spcBef>
              <a:spcAft>
                <a:spcPts val="0"/>
              </a:spcAft>
              <a:buSzPct val="100000"/>
              <a:buFont typeface="Twentieth Century"/>
              <a:buAutoNum type="arabicPeriod"/>
            </a:pPr>
            <a:r>
              <a:rPr lang="en-US" b="1"/>
              <a:t>Sort the Data:</a:t>
            </a:r>
            <a:r>
              <a:rPr lang="en-US"/>
              <a:t> Arrange the dataset in ascending order.</a:t>
            </a:r>
            <a:endParaRPr/>
          </a:p>
          <a:p>
            <a:pPr marL="91440" lvl="0" indent="-98425" algn="l" rtl="0">
              <a:lnSpc>
                <a:spcPct val="90000"/>
              </a:lnSpc>
              <a:spcBef>
                <a:spcPts val="1400"/>
              </a:spcBef>
              <a:spcAft>
                <a:spcPts val="0"/>
              </a:spcAft>
              <a:buSzPct val="100000"/>
              <a:buFont typeface="Twentieth Century"/>
              <a:buAutoNum type="arabicPeriod"/>
            </a:pPr>
            <a:r>
              <a:rPr lang="en-US" b="1"/>
              <a:t>Divide into Bins:</a:t>
            </a:r>
            <a:r>
              <a:rPr lang="en-US"/>
              <a:t> Split the data into equal-sized bins (e.g., fixed-width or frequency-based).</a:t>
            </a:r>
            <a:endParaRPr/>
          </a:p>
          <a:p>
            <a:pPr marL="91440" lvl="0" indent="-98425" algn="l" rtl="0">
              <a:lnSpc>
                <a:spcPct val="90000"/>
              </a:lnSpc>
              <a:spcBef>
                <a:spcPts val="1400"/>
              </a:spcBef>
              <a:spcAft>
                <a:spcPts val="0"/>
              </a:spcAft>
              <a:buSzPct val="100000"/>
              <a:buFont typeface="Twentieth Century"/>
              <a:buAutoNum type="arabicPeriod"/>
            </a:pPr>
            <a:r>
              <a:rPr lang="en-US" b="1"/>
              <a:t>Smooth the Data:</a:t>
            </a:r>
            <a:r>
              <a:rPr lang="en-US"/>
              <a:t> Replace bin values using one of the following methods: </a:t>
            </a:r>
            <a:endParaRPr/>
          </a:p>
          <a:p>
            <a:pPr marL="742950" lvl="1" indent="-285750" algn="l" rtl="0">
              <a:lnSpc>
                <a:spcPct val="90000"/>
              </a:lnSpc>
              <a:spcBef>
                <a:spcPts val="400"/>
              </a:spcBef>
              <a:spcAft>
                <a:spcPts val="0"/>
              </a:spcAft>
              <a:buSzPct val="100000"/>
              <a:buFont typeface="Twentieth Century"/>
              <a:buAutoNum type="arabicPeriod"/>
            </a:pPr>
            <a:r>
              <a:rPr lang="en-US" b="1"/>
              <a:t>Bin Mean:</a:t>
            </a:r>
            <a:r>
              <a:rPr lang="en-US"/>
              <a:t> Replace all values in a bin with the mean of the bin.</a:t>
            </a:r>
            <a:endParaRPr/>
          </a:p>
          <a:p>
            <a:pPr marL="742950" lvl="1" indent="-285750" algn="l" rtl="0">
              <a:lnSpc>
                <a:spcPct val="90000"/>
              </a:lnSpc>
              <a:spcBef>
                <a:spcPts val="600"/>
              </a:spcBef>
              <a:spcAft>
                <a:spcPts val="0"/>
              </a:spcAft>
              <a:buSzPct val="100000"/>
              <a:buFont typeface="Twentieth Century"/>
              <a:buAutoNum type="arabicPeriod"/>
            </a:pPr>
            <a:r>
              <a:rPr lang="en-US" b="1"/>
              <a:t>Bin Median:</a:t>
            </a:r>
            <a:r>
              <a:rPr lang="en-US"/>
              <a:t> Replace values with the median of the bin.</a:t>
            </a:r>
            <a:endParaRPr/>
          </a:p>
          <a:p>
            <a:pPr marL="742950" lvl="1" indent="-285750" algn="l" rtl="0">
              <a:lnSpc>
                <a:spcPct val="90000"/>
              </a:lnSpc>
              <a:spcBef>
                <a:spcPts val="600"/>
              </a:spcBef>
              <a:spcAft>
                <a:spcPts val="0"/>
              </a:spcAft>
              <a:buSzPct val="100000"/>
              <a:buFont typeface="Twentieth Century"/>
              <a:buAutoNum type="arabicPeriod"/>
            </a:pPr>
            <a:r>
              <a:rPr lang="en-US" b="1"/>
              <a:t>Bin Boundary:</a:t>
            </a:r>
            <a:r>
              <a:rPr lang="en-US"/>
              <a:t> Replace values with the closest minimum or maximum value in the bin.</a:t>
            </a:r>
            <a:endParaRPr/>
          </a:p>
          <a:p>
            <a:pPr marL="91440" lvl="0" indent="-91440" algn="l" rtl="0">
              <a:lnSpc>
                <a:spcPct val="90000"/>
              </a:lnSpc>
              <a:spcBef>
                <a:spcPts val="1600"/>
              </a:spcBef>
              <a:spcAft>
                <a:spcPts val="0"/>
              </a:spcAft>
              <a:buSzPct val="100000"/>
              <a:buNone/>
            </a:pPr>
            <a:r>
              <a:rPr lang="en-US" b="1"/>
              <a:t>Example:</a:t>
            </a:r>
            <a:endParaRPr/>
          </a:p>
          <a:p>
            <a:pPr marL="91440" lvl="0" indent="-91440" algn="l" rtl="0">
              <a:lnSpc>
                <a:spcPct val="90000"/>
              </a:lnSpc>
              <a:spcBef>
                <a:spcPts val="1400"/>
              </a:spcBef>
              <a:spcAft>
                <a:spcPts val="0"/>
              </a:spcAft>
              <a:buSzPct val="100000"/>
              <a:buNone/>
            </a:pPr>
            <a:r>
              <a:rPr lang="en-US"/>
              <a:t>Given data: </a:t>
            </a:r>
            <a:r>
              <a:rPr lang="en-US" b="1"/>
              <a:t>[5, 7, 8, 10, 12, 15, 18, 22, 25]</a:t>
            </a:r>
            <a:endParaRPr/>
          </a:p>
          <a:p>
            <a:pPr marL="91440" lvl="0" indent="-98425" algn="l" rtl="0">
              <a:lnSpc>
                <a:spcPct val="90000"/>
              </a:lnSpc>
              <a:spcBef>
                <a:spcPts val="1400"/>
              </a:spcBef>
              <a:spcAft>
                <a:spcPts val="0"/>
              </a:spcAft>
              <a:buSzPct val="100000"/>
              <a:buFont typeface="Arial"/>
              <a:buChar char="•"/>
            </a:pPr>
            <a:r>
              <a:rPr lang="en-US"/>
              <a:t>Divide into bins: </a:t>
            </a:r>
            <a:r>
              <a:rPr lang="en-US" b="1"/>
              <a:t>[5,7,8], [10,12,15], [18,22,25]</a:t>
            </a:r>
            <a:endParaRPr/>
          </a:p>
          <a:p>
            <a:pPr marL="91440" lvl="0" indent="-98425" algn="l" rtl="0">
              <a:lnSpc>
                <a:spcPct val="90000"/>
              </a:lnSpc>
              <a:spcBef>
                <a:spcPts val="1400"/>
              </a:spcBef>
              <a:spcAft>
                <a:spcPts val="0"/>
              </a:spcAft>
              <a:buSzPct val="100000"/>
              <a:buFont typeface="Arial"/>
              <a:buChar char="•"/>
            </a:pPr>
            <a:r>
              <a:rPr lang="en-US"/>
              <a:t>Apply </a:t>
            </a:r>
            <a:r>
              <a:rPr lang="en-US" b="1"/>
              <a:t>Bin Mean:</a:t>
            </a:r>
            <a:r>
              <a:rPr lang="en-US"/>
              <a:t> </a:t>
            </a:r>
            <a:r>
              <a:rPr lang="en-US" b="1"/>
              <a:t>[6.67, 6.67, 6.67], [12.33, 12.33, 12.33], [21.67, 21.67, 21.67]</a:t>
            </a:r>
            <a:endParaRPr/>
          </a:p>
          <a:p>
            <a:pPr marL="91440" lvl="0" indent="-98425" algn="l" rtl="0">
              <a:lnSpc>
                <a:spcPct val="90000"/>
              </a:lnSpc>
              <a:spcBef>
                <a:spcPts val="1400"/>
              </a:spcBef>
              <a:spcAft>
                <a:spcPts val="0"/>
              </a:spcAft>
              <a:buSzPct val="100000"/>
              <a:buChar char=" "/>
            </a:pPr>
            <a:r>
              <a:rPr lang="en-US"/>
              <a:t>Binning effectively smooths fluctuations and reduces noise in data.</a:t>
            </a:r>
            <a:endParaRPr/>
          </a:p>
          <a:p>
            <a:pPr marL="91440" lvl="0" indent="0" algn="l" rtl="0">
              <a:lnSpc>
                <a:spcPct val="90000"/>
              </a:lnSpc>
              <a:spcBef>
                <a:spcPts val="1400"/>
              </a:spcBef>
              <a:spcAft>
                <a:spcPts val="0"/>
              </a:spcAft>
              <a:buSzPct val="100000"/>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4"/>
        <p:cNvGrpSpPr/>
        <p:nvPr/>
      </p:nvGrpSpPr>
      <p:grpSpPr>
        <a:xfrm>
          <a:off x="0" y="0"/>
          <a:ext cx="0" cy="0"/>
          <a:chOff x="0" y="0"/>
          <a:chExt cx="0" cy="0"/>
        </a:xfrm>
      </p:grpSpPr>
      <p:sp>
        <p:nvSpPr>
          <p:cNvPr id="265" name="Google Shape;265;p35"/>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en-US"/>
              <a:t>HOW TO HANDLE NOISY DATA?</a:t>
            </a:r>
            <a:endParaRPr/>
          </a:p>
        </p:txBody>
      </p:sp>
      <p:sp>
        <p:nvSpPr>
          <p:cNvPr id="266" name="Google Shape;266;p35"/>
          <p:cNvSpPr txBox="1">
            <a:spLocks noGrp="1"/>
          </p:cNvSpPr>
          <p:nvPr>
            <p:ph type="body" idx="1"/>
          </p:nvPr>
        </p:nvSpPr>
        <p:spPr>
          <a:xfrm>
            <a:off x="384048" y="4876800"/>
            <a:ext cx="8375904" cy="2499360"/>
          </a:xfrm>
          <a:prstGeom prst="rect">
            <a:avLst/>
          </a:prstGeom>
          <a:noFill/>
          <a:ln>
            <a:noFill/>
          </a:ln>
        </p:spPr>
        <p:txBody>
          <a:bodyPr spcFirstLastPara="1" wrap="square" lIns="45700" tIns="45700" rIns="45700" bIns="45700" anchor="t" anchorCtr="0">
            <a:normAutofit/>
          </a:bodyPr>
          <a:lstStyle/>
          <a:p>
            <a:pPr marL="91440" lvl="0" indent="-91440" algn="l" rtl="0">
              <a:lnSpc>
                <a:spcPct val="90000"/>
              </a:lnSpc>
              <a:spcBef>
                <a:spcPts val="0"/>
              </a:spcBef>
              <a:spcAft>
                <a:spcPts val="0"/>
              </a:spcAft>
              <a:buSzPts val="2000"/>
              <a:buNone/>
            </a:pPr>
            <a:r>
              <a:rPr lang="en-US"/>
              <a:t>how </a:t>
            </a:r>
            <a:r>
              <a:rPr lang="en-US" b="1"/>
              <a:t>Regression helps remove noisy data (outliers):</a:t>
            </a:r>
            <a:endParaRPr/>
          </a:p>
          <a:p>
            <a:pPr marL="91440" lvl="0" indent="-127000" algn="l" rtl="0">
              <a:lnSpc>
                <a:spcPct val="90000"/>
              </a:lnSpc>
              <a:spcBef>
                <a:spcPts val="1400"/>
              </a:spcBef>
              <a:spcAft>
                <a:spcPts val="0"/>
              </a:spcAft>
              <a:buSzPts val="2000"/>
              <a:buFont typeface="Arial"/>
              <a:buChar char="•"/>
            </a:pPr>
            <a:r>
              <a:rPr lang="en-US" b="1"/>
              <a:t>🔴 Red Points</a:t>
            </a:r>
            <a:r>
              <a:rPr lang="en-US"/>
              <a:t> → Noisy Data (Outliers) like 120000 &amp; 150000.</a:t>
            </a:r>
            <a:endParaRPr/>
          </a:p>
          <a:p>
            <a:pPr marL="91440" lvl="0" indent="-127000" algn="l" rtl="0">
              <a:lnSpc>
                <a:spcPct val="90000"/>
              </a:lnSpc>
              <a:spcBef>
                <a:spcPts val="1400"/>
              </a:spcBef>
              <a:spcAft>
                <a:spcPts val="0"/>
              </a:spcAft>
              <a:buSzPts val="2000"/>
              <a:buFont typeface="Arial"/>
              <a:buChar char="•"/>
            </a:pPr>
            <a:r>
              <a:rPr lang="en-US" b="1"/>
              <a:t>🔵 Blue Line</a:t>
            </a:r>
            <a:r>
              <a:rPr lang="en-US"/>
              <a:t> → Regression Trend Line (Best Fit).</a:t>
            </a:r>
            <a:endParaRPr/>
          </a:p>
          <a:p>
            <a:pPr marL="91440" lvl="0" indent="-127000" algn="l" rtl="0">
              <a:lnSpc>
                <a:spcPct val="90000"/>
              </a:lnSpc>
              <a:spcBef>
                <a:spcPts val="1400"/>
              </a:spcBef>
              <a:spcAft>
                <a:spcPts val="0"/>
              </a:spcAft>
              <a:buSzPts val="2000"/>
              <a:buFont typeface="Arial"/>
              <a:buChar char="•"/>
            </a:pPr>
            <a:r>
              <a:rPr lang="en-US" b="1"/>
              <a:t>🟢 Green Points</a:t>
            </a:r>
            <a:r>
              <a:rPr lang="en-US"/>
              <a:t> → Cleaned Data (Closer to the trend).</a:t>
            </a:r>
            <a:endParaRPr/>
          </a:p>
          <a:p>
            <a:pPr marL="91440" lvl="0" indent="0" algn="l" rtl="0">
              <a:lnSpc>
                <a:spcPct val="90000"/>
              </a:lnSpc>
              <a:spcBef>
                <a:spcPts val="1400"/>
              </a:spcBef>
              <a:spcAft>
                <a:spcPts val="0"/>
              </a:spcAft>
              <a:buSzPts val="2000"/>
              <a:buNone/>
            </a:pPr>
            <a:endParaRPr/>
          </a:p>
        </p:txBody>
      </p:sp>
      <p:sp>
        <p:nvSpPr>
          <p:cNvPr id="267" name="Google Shape;267;p35" descr="Output image"/>
          <p:cNvSpPr/>
          <p:nvPr/>
        </p:nvSpPr>
        <p:spPr>
          <a:xfrm>
            <a:off x="4419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wentieth Century"/>
              <a:ea typeface="Twentieth Century"/>
              <a:cs typeface="Twentieth Century"/>
              <a:sym typeface="Twentieth Century"/>
            </a:endParaRPr>
          </a:p>
        </p:txBody>
      </p:sp>
      <p:pic>
        <p:nvPicPr>
          <p:cNvPr id="268" name="Google Shape;268;p35"/>
          <p:cNvPicPr preferRelativeResize="0"/>
          <p:nvPr/>
        </p:nvPicPr>
        <p:blipFill rotWithShape="1">
          <a:blip r:embed="rId3">
            <a:alphaModFix/>
          </a:blip>
          <a:srcRect/>
          <a:stretch/>
        </p:blipFill>
        <p:spPr>
          <a:xfrm>
            <a:off x="880547" y="1976235"/>
            <a:ext cx="7382905" cy="290553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6"/>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en-US"/>
              <a:t>HOW TO HANDLE NOISY DATA?</a:t>
            </a:r>
            <a:endParaRPr/>
          </a:p>
        </p:txBody>
      </p:sp>
      <p:sp>
        <p:nvSpPr>
          <p:cNvPr id="274" name="Google Shape;274;p36"/>
          <p:cNvSpPr txBox="1">
            <a:spLocks noGrp="1"/>
          </p:cNvSpPr>
          <p:nvPr>
            <p:ph type="body" idx="1"/>
          </p:nvPr>
        </p:nvSpPr>
        <p:spPr>
          <a:xfrm>
            <a:off x="228600" y="4538267"/>
            <a:ext cx="8686800" cy="2194560"/>
          </a:xfrm>
          <a:prstGeom prst="rect">
            <a:avLst/>
          </a:prstGeom>
          <a:noFill/>
          <a:ln>
            <a:noFill/>
          </a:ln>
        </p:spPr>
        <p:txBody>
          <a:bodyPr spcFirstLastPara="1" wrap="square" lIns="45700" tIns="45700" rIns="45700" bIns="45700" anchor="t" anchorCtr="0">
            <a:normAutofit fontScale="85000" lnSpcReduction="20000"/>
          </a:bodyPr>
          <a:lstStyle/>
          <a:p>
            <a:pPr marL="91440" lvl="0" indent="-91440" algn="l" rtl="0">
              <a:lnSpc>
                <a:spcPct val="90000"/>
              </a:lnSpc>
              <a:spcBef>
                <a:spcPts val="0"/>
              </a:spcBef>
              <a:spcAft>
                <a:spcPts val="0"/>
              </a:spcAft>
              <a:buSzPct val="100000"/>
              <a:buNone/>
            </a:pPr>
            <a:r>
              <a:rPr lang="en-US"/>
              <a:t>how </a:t>
            </a:r>
            <a:r>
              <a:rPr lang="en-US" b="1"/>
              <a:t>Moving Average (Rolling Window) helps smooth noisy data:</a:t>
            </a:r>
            <a:endParaRPr/>
          </a:p>
          <a:p>
            <a:pPr marL="91440" lvl="0" indent="-107950" algn="l" rtl="0">
              <a:lnSpc>
                <a:spcPct val="90000"/>
              </a:lnSpc>
              <a:spcBef>
                <a:spcPts val="1400"/>
              </a:spcBef>
              <a:spcAft>
                <a:spcPts val="0"/>
              </a:spcAft>
              <a:buSzPct val="100000"/>
              <a:buFont typeface="Arial"/>
              <a:buChar char="•"/>
            </a:pPr>
            <a:r>
              <a:rPr lang="en-US" b="1"/>
              <a:t>🔴 Red Line</a:t>
            </a:r>
            <a:r>
              <a:rPr lang="en-US"/>
              <a:t> → Original </a:t>
            </a:r>
            <a:r>
              <a:rPr lang="en-US" b="1"/>
              <a:t>Noisy Salaries</a:t>
            </a:r>
            <a:r>
              <a:rPr lang="en-US"/>
              <a:t> (with outliers).</a:t>
            </a:r>
            <a:endParaRPr/>
          </a:p>
          <a:p>
            <a:pPr marL="91440" lvl="0" indent="-107950" algn="l" rtl="0">
              <a:lnSpc>
                <a:spcPct val="90000"/>
              </a:lnSpc>
              <a:spcBef>
                <a:spcPts val="1400"/>
              </a:spcBef>
              <a:spcAft>
                <a:spcPts val="0"/>
              </a:spcAft>
              <a:buSzPct val="100000"/>
              <a:buFont typeface="Arial"/>
              <a:buChar char="•"/>
            </a:pPr>
            <a:r>
              <a:rPr lang="en-US" b="1"/>
              <a:t>🔵 Blue Line</a:t>
            </a:r>
            <a:r>
              <a:rPr lang="en-US"/>
              <a:t> → </a:t>
            </a:r>
            <a:r>
              <a:rPr lang="en-US" b="1"/>
              <a:t>Smoothed Salaries</a:t>
            </a:r>
            <a:r>
              <a:rPr lang="en-US"/>
              <a:t> using a </a:t>
            </a:r>
            <a:r>
              <a:rPr lang="en-US" b="1"/>
              <a:t>3-month moving average</a:t>
            </a:r>
            <a:r>
              <a:rPr lang="en-US"/>
              <a:t>.</a:t>
            </a:r>
            <a:endParaRPr/>
          </a:p>
          <a:p>
            <a:pPr marL="91440" lvl="0" indent="-91440" algn="l" rtl="0">
              <a:lnSpc>
                <a:spcPct val="90000"/>
              </a:lnSpc>
              <a:spcBef>
                <a:spcPts val="1400"/>
              </a:spcBef>
              <a:spcAft>
                <a:spcPts val="0"/>
              </a:spcAft>
              <a:buSzPct val="100000"/>
              <a:buNone/>
            </a:pPr>
            <a:r>
              <a:rPr lang="en-US"/>
              <a:t>💡 </a:t>
            </a:r>
            <a:r>
              <a:rPr lang="en-US" b="1"/>
              <a:t>How it works:</a:t>
            </a:r>
            <a:endParaRPr/>
          </a:p>
          <a:p>
            <a:pPr marL="91440" lvl="0" indent="-107950" algn="l" rtl="0">
              <a:lnSpc>
                <a:spcPct val="90000"/>
              </a:lnSpc>
              <a:spcBef>
                <a:spcPts val="1400"/>
              </a:spcBef>
              <a:spcAft>
                <a:spcPts val="0"/>
              </a:spcAft>
              <a:buSzPct val="100000"/>
              <a:buFont typeface="Twentieth Century"/>
              <a:buAutoNum type="arabicPeriod"/>
            </a:pPr>
            <a:r>
              <a:rPr lang="en-US"/>
              <a:t>Each data point is replaced with the </a:t>
            </a:r>
            <a:r>
              <a:rPr lang="en-US" b="1"/>
              <a:t>average of itself and its neighbors</a:t>
            </a:r>
            <a:r>
              <a:rPr lang="en-US"/>
              <a:t> (3-point window).</a:t>
            </a:r>
            <a:endParaRPr/>
          </a:p>
          <a:p>
            <a:pPr marL="91440" lvl="0" indent="-107950" algn="l" rtl="0">
              <a:lnSpc>
                <a:spcPct val="90000"/>
              </a:lnSpc>
              <a:spcBef>
                <a:spcPts val="1400"/>
              </a:spcBef>
              <a:spcAft>
                <a:spcPts val="0"/>
              </a:spcAft>
              <a:buSzPct val="100000"/>
              <a:buFont typeface="Twentieth Century"/>
              <a:buAutoNum type="arabicPeriod"/>
            </a:pPr>
            <a:r>
              <a:rPr lang="en-US"/>
              <a:t>This reduces fluctuations and smooths trends</a:t>
            </a:r>
            <a:endParaRPr/>
          </a:p>
        </p:txBody>
      </p:sp>
      <p:pic>
        <p:nvPicPr>
          <p:cNvPr id="275" name="Google Shape;275;p36" descr="Output image"/>
          <p:cNvPicPr preferRelativeResize="0"/>
          <p:nvPr/>
        </p:nvPicPr>
        <p:blipFill rotWithShape="1">
          <a:blip r:embed="rId3">
            <a:alphaModFix/>
          </a:blip>
          <a:srcRect/>
          <a:stretch/>
        </p:blipFill>
        <p:spPr>
          <a:xfrm>
            <a:off x="3266930" y="1335024"/>
            <a:ext cx="5648470" cy="302036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37"/>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en-US"/>
              <a:t>HOW TO HANDLE NOISY DATA?</a:t>
            </a:r>
            <a:endParaRPr/>
          </a:p>
        </p:txBody>
      </p:sp>
      <p:sp>
        <p:nvSpPr>
          <p:cNvPr id="281" name="Google Shape;281;p37"/>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0" algn="l" rtl="0">
              <a:lnSpc>
                <a:spcPct val="90000"/>
              </a:lnSpc>
              <a:spcBef>
                <a:spcPts val="0"/>
              </a:spcBef>
              <a:spcAft>
                <a:spcPts val="0"/>
              </a:spcAft>
              <a:buSzPts val="2000"/>
              <a:buNone/>
            </a:pPr>
            <a:endParaRPr/>
          </a:p>
        </p:txBody>
      </p:sp>
      <p:pic>
        <p:nvPicPr>
          <p:cNvPr id="282" name="Google Shape;282;p37"/>
          <p:cNvPicPr preferRelativeResize="0"/>
          <p:nvPr/>
        </p:nvPicPr>
        <p:blipFill rotWithShape="1">
          <a:blip r:embed="rId3">
            <a:alphaModFix/>
          </a:blip>
          <a:srcRect/>
          <a:stretch/>
        </p:blipFill>
        <p:spPr>
          <a:xfrm>
            <a:off x="736565" y="1809683"/>
            <a:ext cx="6820852" cy="952633"/>
          </a:xfrm>
          <a:prstGeom prst="rect">
            <a:avLst/>
          </a:prstGeom>
          <a:noFill/>
          <a:ln>
            <a:noFill/>
          </a:ln>
        </p:spPr>
      </p:pic>
      <p:pic>
        <p:nvPicPr>
          <p:cNvPr id="283" name="Google Shape;283;p37"/>
          <p:cNvPicPr preferRelativeResize="0"/>
          <p:nvPr/>
        </p:nvPicPr>
        <p:blipFill rotWithShape="1">
          <a:blip r:embed="rId4">
            <a:alphaModFix/>
          </a:blip>
          <a:srcRect/>
          <a:stretch/>
        </p:blipFill>
        <p:spPr>
          <a:xfrm>
            <a:off x="768095" y="2963483"/>
            <a:ext cx="7386757" cy="2585287"/>
          </a:xfrm>
          <a:prstGeom prst="rect">
            <a:avLst/>
          </a:prstGeom>
          <a:noFill/>
          <a:ln>
            <a:noFill/>
          </a:ln>
        </p:spPr>
      </p:pic>
      <p:sp>
        <p:nvSpPr>
          <p:cNvPr id="284" name="Google Shape;284;p37"/>
          <p:cNvSpPr txBox="1"/>
          <p:nvPr/>
        </p:nvSpPr>
        <p:spPr>
          <a:xfrm>
            <a:off x="647746" y="5749939"/>
            <a:ext cx="7728157"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Twentieth Century"/>
              <a:buNone/>
            </a:pPr>
            <a:r>
              <a:rPr lang="en-US" sz="1800">
                <a:solidFill>
                  <a:schemeClr val="dk1"/>
                </a:solidFill>
                <a:latin typeface="Twentieth Century"/>
                <a:ea typeface="Twentieth Century"/>
                <a:cs typeface="Twentieth Century"/>
                <a:sym typeface="Twentieth Century"/>
              </a:rPr>
              <a:t>🔴 </a:t>
            </a:r>
            <a:r>
              <a:rPr lang="en-US" sz="1800" b="1">
                <a:solidFill>
                  <a:schemeClr val="dk1"/>
                </a:solidFill>
                <a:latin typeface="Twentieth Century"/>
                <a:ea typeface="Twentieth Century"/>
                <a:cs typeface="Twentieth Century"/>
                <a:sym typeface="Twentieth Century"/>
              </a:rPr>
              <a:t>Outliers:</a:t>
            </a:r>
            <a:r>
              <a:rPr lang="en-US" sz="1800">
                <a:solidFill>
                  <a:schemeClr val="dk1"/>
                </a:solidFill>
                <a:latin typeface="Twentieth Century"/>
                <a:ea typeface="Twentieth Century"/>
                <a:cs typeface="Twentieth Century"/>
                <a:sym typeface="Twentieth Century"/>
              </a:rPr>
              <a:t> Salaries </a:t>
            </a:r>
            <a:r>
              <a:rPr lang="en-US" sz="1800" b="1">
                <a:solidFill>
                  <a:schemeClr val="dk1"/>
                </a:solidFill>
                <a:latin typeface="Twentieth Century"/>
                <a:ea typeface="Twentieth Century"/>
                <a:cs typeface="Twentieth Century"/>
                <a:sym typeface="Twentieth Century"/>
              </a:rPr>
              <a:t>120000 &amp; 150000</a:t>
            </a:r>
            <a:r>
              <a:rPr lang="en-US" sz="1800">
                <a:solidFill>
                  <a:schemeClr val="dk1"/>
                </a:solidFill>
                <a:latin typeface="Twentieth Century"/>
                <a:ea typeface="Twentieth Century"/>
                <a:cs typeface="Twentieth Century"/>
                <a:sym typeface="Twentieth Century"/>
              </a:rPr>
              <a:t> have high Z-scores (</a:t>
            </a:r>
            <a:r>
              <a:rPr lang="en-US" sz="1800" b="1">
                <a:solidFill>
                  <a:schemeClr val="dk1"/>
                </a:solidFill>
                <a:latin typeface="Twentieth Century"/>
                <a:ea typeface="Twentieth Century"/>
                <a:cs typeface="Twentieth Century"/>
                <a:sym typeface="Twentieth Century"/>
              </a:rPr>
              <a:t>&gt; 3 is typically an outlier</a:t>
            </a:r>
            <a:r>
              <a:rPr lang="en-US" sz="1800">
                <a:solidFill>
                  <a:schemeClr val="dk1"/>
                </a:solidFill>
                <a:latin typeface="Twentieth Century"/>
                <a:ea typeface="Twentieth Century"/>
                <a:cs typeface="Twentieth Century"/>
                <a:sym typeface="Twentieth Century"/>
              </a:rPr>
              <a:t>).</a:t>
            </a:r>
            <a:endParaRPr/>
          </a:p>
          <a:p>
            <a:pPr marL="0" marR="0" lvl="0" indent="0" algn="l" rtl="0">
              <a:spcBef>
                <a:spcPts val="0"/>
              </a:spcBef>
              <a:spcAft>
                <a:spcPts val="0"/>
              </a:spcAft>
              <a:buNone/>
            </a:pPr>
            <a:r>
              <a:rPr lang="en-US" sz="1800">
                <a:solidFill>
                  <a:schemeClr val="dk1"/>
                </a:solidFill>
                <a:latin typeface="Twentieth Century"/>
                <a:ea typeface="Twentieth Century"/>
                <a:cs typeface="Twentieth Century"/>
                <a:sym typeface="Twentieth Century"/>
              </a:rPr>
              <a:t>✅ </a:t>
            </a:r>
            <a:r>
              <a:rPr lang="en-US" sz="1800" b="1">
                <a:solidFill>
                  <a:schemeClr val="dk1"/>
                </a:solidFill>
                <a:latin typeface="Twentieth Century"/>
                <a:ea typeface="Twentieth Century"/>
                <a:cs typeface="Twentieth Century"/>
                <a:sym typeface="Twentieth Century"/>
              </a:rPr>
              <a:t>Now we can remove these extreme values to clean the data!</a:t>
            </a:r>
            <a:endParaRPr sz="18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8"/>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en-US"/>
              <a:t>DATA INTEGRATION</a:t>
            </a:r>
            <a:endParaRPr/>
          </a:p>
        </p:txBody>
      </p:sp>
      <p:sp>
        <p:nvSpPr>
          <p:cNvPr id="290" name="Google Shape;290;p38"/>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en-US" b="1" dirty="0">
                <a:highlight>
                  <a:srgbClr val="FFFF00"/>
                </a:highlight>
              </a:rPr>
              <a:t>Data Integration</a:t>
            </a:r>
            <a:r>
              <a:rPr lang="en-US" dirty="0">
                <a:highlight>
                  <a:srgbClr val="FFFF00"/>
                </a:highlight>
              </a:rPr>
              <a:t> is the process of combining data from multiple sources into a unified, consistent, and meaningful dataset. It is essential in data cleaning to ensure that data from different systems can be used together effectively.</a:t>
            </a:r>
            <a:endParaRPr dirty="0">
              <a:highlight>
                <a:srgbClr val="FFFF00"/>
              </a:highlight>
            </a:endParaRPr>
          </a:p>
          <a:p>
            <a:pPr marL="91440" lvl="0" indent="-91440" algn="l" rtl="0">
              <a:lnSpc>
                <a:spcPct val="90000"/>
              </a:lnSpc>
              <a:spcBef>
                <a:spcPts val="1400"/>
              </a:spcBef>
              <a:spcAft>
                <a:spcPts val="0"/>
              </a:spcAft>
              <a:buSzPts val="2000"/>
              <a:buNone/>
            </a:pPr>
            <a:r>
              <a:rPr lang="en-US" b="1" dirty="0"/>
              <a:t>Why is Data Integration Important?</a:t>
            </a:r>
            <a:endParaRPr dirty="0"/>
          </a:p>
          <a:p>
            <a:pPr marL="91440" lvl="0" indent="-127000" algn="l" rtl="0">
              <a:lnSpc>
                <a:spcPct val="90000"/>
              </a:lnSpc>
              <a:spcBef>
                <a:spcPts val="1400"/>
              </a:spcBef>
              <a:spcAft>
                <a:spcPts val="0"/>
              </a:spcAft>
              <a:buSzPts val="2000"/>
              <a:buFont typeface="Arial"/>
              <a:buChar char="•"/>
            </a:pPr>
            <a:r>
              <a:rPr lang="en-US" dirty="0">
                <a:highlight>
                  <a:srgbClr val="FFFF00"/>
                </a:highlight>
              </a:rPr>
              <a:t>Data often comes from </a:t>
            </a:r>
            <a:r>
              <a:rPr lang="en-US" b="1" dirty="0">
                <a:highlight>
                  <a:srgbClr val="FFFF00"/>
                </a:highlight>
              </a:rPr>
              <a:t>multiple sources</a:t>
            </a:r>
            <a:r>
              <a:rPr lang="en-US" dirty="0">
                <a:highlight>
                  <a:srgbClr val="FFFF00"/>
                </a:highlight>
              </a:rPr>
              <a:t> (databases, spreadsheets, APIs, cloud storage, etc.).</a:t>
            </a:r>
            <a:endParaRPr dirty="0">
              <a:highlight>
                <a:srgbClr val="FFFF00"/>
              </a:highlight>
            </a:endParaRPr>
          </a:p>
          <a:p>
            <a:pPr marL="91440" lvl="0" indent="-127000" algn="l" rtl="0">
              <a:lnSpc>
                <a:spcPct val="90000"/>
              </a:lnSpc>
              <a:spcBef>
                <a:spcPts val="1400"/>
              </a:spcBef>
              <a:spcAft>
                <a:spcPts val="0"/>
              </a:spcAft>
              <a:buSzPts val="2000"/>
              <a:buFont typeface="Arial"/>
              <a:buChar char="•"/>
            </a:pPr>
            <a:r>
              <a:rPr lang="en-US" dirty="0">
                <a:highlight>
                  <a:srgbClr val="FFFF00"/>
                </a:highlight>
              </a:rPr>
              <a:t>Different datasets may have </a:t>
            </a:r>
            <a:r>
              <a:rPr lang="en-US" b="1" dirty="0">
                <a:highlight>
                  <a:srgbClr val="FFFF00"/>
                </a:highlight>
              </a:rPr>
              <a:t>overlapping information</a:t>
            </a:r>
            <a:r>
              <a:rPr lang="en-US" dirty="0">
                <a:highlight>
                  <a:srgbClr val="FFFF00"/>
                </a:highlight>
              </a:rPr>
              <a:t> (e.g., customer data from CRM &amp; sales reports).</a:t>
            </a:r>
            <a:endParaRPr dirty="0">
              <a:highlight>
                <a:srgbClr val="FFFF00"/>
              </a:highlight>
            </a:endParaRPr>
          </a:p>
          <a:p>
            <a:pPr marL="91440" lvl="0" indent="-127000" algn="l" rtl="0">
              <a:lnSpc>
                <a:spcPct val="90000"/>
              </a:lnSpc>
              <a:spcBef>
                <a:spcPts val="1400"/>
              </a:spcBef>
              <a:spcAft>
                <a:spcPts val="0"/>
              </a:spcAft>
              <a:buSzPts val="2000"/>
              <a:buFont typeface="Arial"/>
              <a:buChar char="•"/>
            </a:pPr>
            <a:r>
              <a:rPr lang="en-US" b="1" dirty="0">
                <a:highlight>
                  <a:srgbClr val="FFFF00"/>
                </a:highlight>
              </a:rPr>
              <a:t>Inconsistencies and redundancies</a:t>
            </a:r>
            <a:r>
              <a:rPr lang="en-US" dirty="0">
                <a:highlight>
                  <a:srgbClr val="FFFF00"/>
                </a:highlight>
              </a:rPr>
              <a:t> must be resolved to ensure high-quality data.</a:t>
            </a:r>
            <a:endParaRPr dirty="0">
              <a:highlight>
                <a:srgbClr val="FFFF00"/>
              </a:highlight>
            </a:endParaRPr>
          </a:p>
          <a:p>
            <a:pPr marL="91440" lvl="0" indent="0" algn="l" rtl="0">
              <a:lnSpc>
                <a:spcPct val="90000"/>
              </a:lnSpc>
              <a:spcBef>
                <a:spcPts val="1400"/>
              </a:spcBef>
              <a:spcAft>
                <a:spcPts val="0"/>
              </a:spcAft>
              <a:buSzPts val="2000"/>
              <a:buNone/>
            </a:pP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9"/>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endParaRPr/>
          </a:p>
        </p:txBody>
      </p:sp>
      <p:sp>
        <p:nvSpPr>
          <p:cNvPr id="296" name="Google Shape;296;p39"/>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0" algn="l" rtl="0">
              <a:lnSpc>
                <a:spcPct val="90000"/>
              </a:lnSpc>
              <a:spcBef>
                <a:spcPts val="0"/>
              </a:spcBef>
              <a:spcAft>
                <a:spcPts val="0"/>
              </a:spcAft>
              <a:buSzPts val="2000"/>
              <a:buNone/>
            </a:pPr>
            <a:endParaRPr/>
          </a:p>
        </p:txBody>
      </p:sp>
      <p:pic>
        <p:nvPicPr>
          <p:cNvPr id="297" name="Google Shape;297;p39"/>
          <p:cNvPicPr preferRelativeResize="0"/>
          <p:nvPr/>
        </p:nvPicPr>
        <p:blipFill rotWithShape="1">
          <a:blip r:embed="rId3">
            <a:alphaModFix/>
          </a:blip>
          <a:srcRect/>
          <a:stretch/>
        </p:blipFill>
        <p:spPr>
          <a:xfrm>
            <a:off x="799626" y="1065626"/>
            <a:ext cx="7702327" cy="434457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40"/>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en-US"/>
              <a:t>HANDLING REDUNDANCY IN DATA INTEGRATION</a:t>
            </a:r>
            <a:endParaRPr/>
          </a:p>
        </p:txBody>
      </p:sp>
      <p:sp>
        <p:nvSpPr>
          <p:cNvPr id="304" name="Google Shape;304;p40"/>
          <p:cNvSpPr txBox="1">
            <a:spLocks noGrp="1"/>
          </p:cNvSpPr>
          <p:nvPr>
            <p:ph type="body" idx="1"/>
          </p:nvPr>
        </p:nvSpPr>
        <p:spPr>
          <a:xfrm>
            <a:off x="768095" y="1752600"/>
            <a:ext cx="7290055" cy="914400"/>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en-US" b="1" dirty="0">
                <a:highlight>
                  <a:srgbClr val="FFFF00"/>
                </a:highlight>
              </a:rPr>
              <a:t>Redundancy</a:t>
            </a:r>
            <a:r>
              <a:rPr lang="en-US" dirty="0">
                <a:highlight>
                  <a:srgbClr val="FFFF00"/>
                </a:highlight>
              </a:rPr>
              <a:t> in data integration occurs when the same data is stored multiple times across different sources. It can lead to </a:t>
            </a:r>
            <a:r>
              <a:rPr lang="en-US" b="1" dirty="0">
                <a:highlight>
                  <a:srgbClr val="FFFF00"/>
                </a:highlight>
              </a:rPr>
              <a:t>inconsistencies, increased storage costs, and incorrect analysis</a:t>
            </a:r>
            <a:r>
              <a:rPr lang="en-US" dirty="0">
                <a:highlight>
                  <a:srgbClr val="FFFF00"/>
                </a:highlight>
              </a:rPr>
              <a:t>.</a:t>
            </a:r>
            <a:endParaRPr dirty="0">
              <a:highlight>
                <a:srgbClr val="FFFF00"/>
              </a:highlight>
            </a:endParaRPr>
          </a:p>
        </p:txBody>
      </p:sp>
      <p:sp>
        <p:nvSpPr>
          <p:cNvPr id="305" name="Google Shape;305;p40"/>
          <p:cNvSpPr txBox="1"/>
          <p:nvPr/>
        </p:nvSpPr>
        <p:spPr>
          <a:xfrm>
            <a:off x="768094" y="2715441"/>
            <a:ext cx="729005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Twentieth Century"/>
              <a:buNone/>
            </a:pPr>
            <a:r>
              <a:rPr lang="en-US" sz="1800" b="1">
                <a:solidFill>
                  <a:schemeClr val="dk1"/>
                </a:solidFill>
                <a:latin typeface="Twentieth Century"/>
                <a:ea typeface="Twentieth Century"/>
                <a:cs typeface="Twentieth Century"/>
                <a:sym typeface="Twentieth Century"/>
              </a:rPr>
              <a:t>Types of Redundancy in Data Integration</a:t>
            </a:r>
            <a:endParaRPr/>
          </a:p>
        </p:txBody>
      </p:sp>
      <p:sp>
        <p:nvSpPr>
          <p:cNvPr id="306" name="Google Shape;306;p40"/>
          <p:cNvSpPr/>
          <p:nvPr/>
        </p:nvSpPr>
        <p:spPr>
          <a:xfrm>
            <a:off x="768094" y="2957287"/>
            <a:ext cx="7797837" cy="3631763"/>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1" i="0" u="none" strike="noStrike" cap="none" dirty="0">
                <a:solidFill>
                  <a:schemeClr val="dk1"/>
                </a:solidFill>
                <a:latin typeface="Arial"/>
                <a:ea typeface="Arial"/>
                <a:cs typeface="Arial"/>
                <a:sym typeface="Arial"/>
              </a:rPr>
              <a:t>1. Duplicate Features</a:t>
            </a:r>
            <a:r>
              <a:rPr lang="en-US" sz="1800" b="0" i="0" u="none" strike="noStrike" cap="none" dirty="0">
                <a:solidFill>
                  <a:schemeClr val="dk1"/>
                </a:solidFill>
                <a:latin typeface="Arial"/>
                <a:ea typeface="Arial"/>
                <a:cs typeface="Arial"/>
                <a:sym typeface="Arial"/>
              </a:rPr>
              <a:t> – </a:t>
            </a:r>
            <a:r>
              <a:rPr lang="en-US" sz="2000" dirty="0">
                <a:solidFill>
                  <a:schemeClr val="dk1"/>
                </a:solidFill>
                <a:latin typeface="Twentieth Century"/>
                <a:ea typeface="Twentieth Century"/>
                <a:cs typeface="Twentieth Century"/>
                <a:sym typeface="Twentieth Century"/>
              </a:rPr>
              <a:t>Two or more features providing the same information.</a:t>
            </a:r>
            <a:endParaRPr dirty="0"/>
          </a:p>
          <a:p>
            <a:pPr marL="0" marR="0" lvl="0" indent="-101600" algn="l" rtl="0">
              <a:lnSpc>
                <a:spcPct val="100000"/>
              </a:lnSpc>
              <a:spcBef>
                <a:spcPts val="0"/>
              </a:spcBef>
              <a:spcAft>
                <a:spcPts val="0"/>
              </a:spcAft>
              <a:buClr>
                <a:schemeClr val="dk1"/>
              </a:buClr>
              <a:buSzPts val="1600"/>
              <a:buFont typeface="Twentieth Century"/>
              <a:buChar char="•"/>
            </a:pPr>
            <a:r>
              <a:rPr lang="en-US" sz="1600" dirty="0">
                <a:solidFill>
                  <a:schemeClr val="dk1"/>
                </a:solidFill>
                <a:latin typeface="Twentieth Century"/>
                <a:ea typeface="Twentieth Century"/>
                <a:cs typeface="Twentieth Century"/>
                <a:sym typeface="Twentieth Century"/>
              </a:rPr>
              <a:t>Example: </a:t>
            </a:r>
            <a:r>
              <a:rPr lang="en-US" sz="1600" dirty="0" err="1">
                <a:solidFill>
                  <a:schemeClr val="dk1"/>
                </a:solidFill>
                <a:latin typeface="Twentieth Century"/>
                <a:ea typeface="Twentieth Century"/>
                <a:cs typeface="Twentieth Century"/>
                <a:sym typeface="Twentieth Century"/>
              </a:rPr>
              <a:t>total_price</a:t>
            </a:r>
            <a:r>
              <a:rPr lang="en-US" sz="1600" dirty="0">
                <a:solidFill>
                  <a:schemeClr val="dk1"/>
                </a:solidFill>
                <a:latin typeface="Twentieth Century"/>
                <a:ea typeface="Twentieth Century"/>
                <a:cs typeface="Twentieth Century"/>
                <a:sym typeface="Twentieth Century"/>
              </a:rPr>
              <a:t> = quantity * </a:t>
            </a:r>
            <a:r>
              <a:rPr lang="en-US" sz="1600" dirty="0" err="1">
                <a:solidFill>
                  <a:schemeClr val="dk1"/>
                </a:solidFill>
                <a:latin typeface="Twentieth Century"/>
                <a:ea typeface="Twentieth Century"/>
                <a:cs typeface="Twentieth Century"/>
                <a:sym typeface="Twentieth Century"/>
              </a:rPr>
              <a:t>price_per_unit</a:t>
            </a:r>
            <a:r>
              <a:rPr lang="en-US" sz="1600" dirty="0">
                <a:solidFill>
                  <a:schemeClr val="dk1"/>
                </a:solidFill>
                <a:latin typeface="Twentieth Century"/>
                <a:ea typeface="Twentieth Century"/>
                <a:cs typeface="Twentieth Century"/>
                <a:sym typeface="Twentieth Century"/>
              </a:rPr>
              <a:t>, where </a:t>
            </a:r>
            <a:r>
              <a:rPr lang="en-US" sz="1600" dirty="0" err="1">
                <a:solidFill>
                  <a:schemeClr val="dk1"/>
                </a:solidFill>
                <a:latin typeface="Twentieth Century"/>
                <a:ea typeface="Twentieth Century"/>
                <a:cs typeface="Twentieth Century"/>
                <a:sym typeface="Twentieth Century"/>
              </a:rPr>
              <a:t>total_price</a:t>
            </a:r>
            <a:r>
              <a:rPr lang="en-US" sz="1600" dirty="0">
                <a:solidFill>
                  <a:schemeClr val="dk1"/>
                </a:solidFill>
                <a:latin typeface="Twentieth Century"/>
                <a:ea typeface="Twentieth Century"/>
                <a:cs typeface="Twentieth Century"/>
                <a:sym typeface="Twentieth Century"/>
              </a:rPr>
              <a:t> is redundant</a:t>
            </a:r>
            <a:r>
              <a:rPr lang="en-US" sz="2000" dirty="0">
                <a:solidFill>
                  <a:schemeClr val="dk1"/>
                </a:solidFill>
                <a:latin typeface="Twentieth Century"/>
                <a:ea typeface="Twentieth Century"/>
                <a:cs typeface="Twentieth Century"/>
                <a:sym typeface="Twentieth Century"/>
              </a:rPr>
              <a:t>. </a:t>
            </a:r>
            <a:endParaRPr dirty="0"/>
          </a:p>
          <a:p>
            <a:pPr marL="0" marR="0" lvl="0" indent="0" algn="l" rtl="0">
              <a:lnSpc>
                <a:spcPct val="100000"/>
              </a:lnSpc>
              <a:spcBef>
                <a:spcPts val="0"/>
              </a:spcBef>
              <a:spcAft>
                <a:spcPts val="0"/>
              </a:spcAft>
              <a:buClr>
                <a:schemeClr val="dk1"/>
              </a:buClr>
              <a:buSzPts val="1800"/>
              <a:buFont typeface="Arial"/>
              <a:buNone/>
            </a:pPr>
            <a:r>
              <a:rPr lang="en-US" sz="1800" b="1" dirty="0">
                <a:solidFill>
                  <a:schemeClr val="dk1"/>
                </a:solidFill>
                <a:latin typeface="Arial"/>
                <a:ea typeface="Arial"/>
                <a:cs typeface="Arial"/>
                <a:sym typeface="Arial"/>
              </a:rPr>
              <a:t>2. Highly Correlated Features </a:t>
            </a:r>
            <a:r>
              <a:rPr lang="en-US" sz="2000" dirty="0">
                <a:solidFill>
                  <a:schemeClr val="dk1"/>
                </a:solidFill>
                <a:latin typeface="Twentieth Century"/>
                <a:ea typeface="Twentieth Century"/>
                <a:cs typeface="Twentieth Century"/>
                <a:sym typeface="Twentieth Century"/>
              </a:rPr>
              <a:t>– One feature can be predicted from another.</a:t>
            </a:r>
            <a:endParaRPr dirty="0"/>
          </a:p>
          <a:p>
            <a:pPr marL="0" marR="0" lvl="0" indent="-101600" algn="l" rtl="0">
              <a:lnSpc>
                <a:spcPct val="100000"/>
              </a:lnSpc>
              <a:spcBef>
                <a:spcPts val="0"/>
              </a:spcBef>
              <a:spcAft>
                <a:spcPts val="0"/>
              </a:spcAft>
              <a:buClr>
                <a:schemeClr val="dk1"/>
              </a:buClr>
              <a:buSzPts val="1600"/>
              <a:buFont typeface="Twentieth Century"/>
              <a:buChar char="•"/>
            </a:pPr>
            <a:r>
              <a:rPr lang="en-US" sz="1600" dirty="0">
                <a:solidFill>
                  <a:schemeClr val="dk1"/>
                </a:solidFill>
                <a:latin typeface="Twentieth Century"/>
                <a:ea typeface="Twentieth Century"/>
                <a:cs typeface="Twentieth Century"/>
                <a:sym typeface="Twentieth Century"/>
              </a:rPr>
              <a:t>Example: </a:t>
            </a:r>
            <a:r>
              <a:rPr lang="en-US" sz="1600" dirty="0" err="1">
                <a:solidFill>
                  <a:schemeClr val="dk1"/>
                </a:solidFill>
                <a:latin typeface="Twentieth Century"/>
                <a:ea typeface="Twentieth Century"/>
                <a:cs typeface="Twentieth Century"/>
                <a:sym typeface="Twentieth Century"/>
              </a:rPr>
              <a:t>height_cm</a:t>
            </a:r>
            <a:r>
              <a:rPr lang="en-US" sz="1600" dirty="0">
                <a:solidFill>
                  <a:schemeClr val="dk1"/>
                </a:solidFill>
                <a:latin typeface="Twentieth Century"/>
                <a:ea typeface="Twentieth Century"/>
                <a:cs typeface="Twentieth Century"/>
                <a:sym typeface="Twentieth Century"/>
              </a:rPr>
              <a:t> and </a:t>
            </a:r>
            <a:r>
              <a:rPr lang="en-US" sz="1600" dirty="0" err="1">
                <a:solidFill>
                  <a:schemeClr val="dk1"/>
                </a:solidFill>
                <a:latin typeface="Twentieth Century"/>
                <a:ea typeface="Twentieth Century"/>
                <a:cs typeface="Twentieth Century"/>
                <a:sym typeface="Twentieth Century"/>
              </a:rPr>
              <a:t>height_inches</a:t>
            </a:r>
            <a:r>
              <a:rPr lang="en-US" sz="1600" dirty="0">
                <a:solidFill>
                  <a:schemeClr val="dk1"/>
                </a:solidFill>
                <a:latin typeface="Twentieth Century"/>
                <a:ea typeface="Twentieth Century"/>
                <a:cs typeface="Twentieth Century"/>
                <a:sym typeface="Twentieth Century"/>
              </a:rPr>
              <a:t> (one can be derived from the other). </a:t>
            </a:r>
            <a:endParaRPr dirty="0"/>
          </a:p>
          <a:p>
            <a:pPr marL="0" marR="0" lvl="0" indent="0" algn="l" rtl="0">
              <a:lnSpc>
                <a:spcPct val="100000"/>
              </a:lnSpc>
              <a:spcBef>
                <a:spcPts val="0"/>
              </a:spcBef>
              <a:spcAft>
                <a:spcPts val="0"/>
              </a:spcAft>
              <a:buClr>
                <a:schemeClr val="dk1"/>
              </a:buClr>
              <a:buSzPts val="1800"/>
              <a:buFont typeface="Arial"/>
              <a:buNone/>
            </a:pPr>
            <a:r>
              <a:rPr lang="en-US" sz="1800" b="1" dirty="0">
                <a:solidFill>
                  <a:schemeClr val="dk1"/>
                </a:solidFill>
                <a:latin typeface="Arial"/>
                <a:ea typeface="Arial"/>
                <a:cs typeface="Arial"/>
                <a:sym typeface="Arial"/>
              </a:rPr>
              <a:t>3. Derived/Dependent Features </a:t>
            </a:r>
            <a:r>
              <a:rPr lang="en-US" sz="2000" dirty="0">
                <a:solidFill>
                  <a:schemeClr val="dk1"/>
                </a:solidFill>
                <a:latin typeface="Twentieth Century"/>
                <a:ea typeface="Twentieth Century"/>
                <a:cs typeface="Twentieth Century"/>
                <a:sym typeface="Twentieth Century"/>
              </a:rPr>
              <a:t>– Features that store calculated values instead of raw data.</a:t>
            </a:r>
            <a:endParaRPr dirty="0"/>
          </a:p>
          <a:p>
            <a:pPr marL="0" marR="0" lvl="0" indent="-101600" algn="l" rtl="0">
              <a:lnSpc>
                <a:spcPct val="100000"/>
              </a:lnSpc>
              <a:spcBef>
                <a:spcPts val="0"/>
              </a:spcBef>
              <a:spcAft>
                <a:spcPts val="0"/>
              </a:spcAft>
              <a:buClr>
                <a:schemeClr val="dk1"/>
              </a:buClr>
              <a:buSzPts val="1600"/>
              <a:buFont typeface="Twentieth Century"/>
              <a:buChar char="•"/>
            </a:pPr>
            <a:r>
              <a:rPr lang="en-US" sz="1600" dirty="0">
                <a:solidFill>
                  <a:schemeClr val="dk1"/>
                </a:solidFill>
                <a:latin typeface="Twentieth Century"/>
                <a:ea typeface="Twentieth Century"/>
                <a:cs typeface="Twentieth Century"/>
                <a:sym typeface="Twentieth Century"/>
              </a:rPr>
              <a:t>Example: age and </a:t>
            </a:r>
            <a:r>
              <a:rPr lang="en-US" sz="1600" dirty="0" err="1">
                <a:solidFill>
                  <a:schemeClr val="dk1"/>
                </a:solidFill>
                <a:latin typeface="Twentieth Century"/>
                <a:ea typeface="Twentieth Century"/>
                <a:cs typeface="Twentieth Century"/>
                <a:sym typeface="Twentieth Century"/>
              </a:rPr>
              <a:t>date_of_birth</a:t>
            </a:r>
            <a:r>
              <a:rPr lang="en-US" sz="1600" dirty="0">
                <a:solidFill>
                  <a:schemeClr val="dk1"/>
                </a:solidFill>
                <a:latin typeface="Twentieth Century"/>
                <a:ea typeface="Twentieth Century"/>
                <a:cs typeface="Twentieth Century"/>
                <a:sym typeface="Twentieth Century"/>
              </a:rPr>
              <a:t> (age can be derived from </a:t>
            </a:r>
            <a:r>
              <a:rPr lang="en-US" sz="1600" dirty="0" err="1">
                <a:solidFill>
                  <a:schemeClr val="dk1"/>
                </a:solidFill>
                <a:latin typeface="Twentieth Century"/>
                <a:ea typeface="Twentieth Century"/>
                <a:cs typeface="Twentieth Century"/>
                <a:sym typeface="Twentieth Century"/>
              </a:rPr>
              <a:t>date_of_birth</a:t>
            </a:r>
            <a:r>
              <a:rPr lang="en-US" sz="1600" dirty="0">
                <a:solidFill>
                  <a:schemeClr val="dk1"/>
                </a:solidFill>
                <a:latin typeface="Twentieth Century"/>
                <a:ea typeface="Twentieth Century"/>
                <a:cs typeface="Twentieth Century"/>
                <a:sym typeface="Twentieth Century"/>
              </a:rPr>
              <a:t>). </a:t>
            </a:r>
            <a:endParaRPr dirty="0"/>
          </a:p>
          <a:p>
            <a:pPr marL="0" marR="0" lvl="0" indent="0" algn="l" rtl="0">
              <a:lnSpc>
                <a:spcPct val="100000"/>
              </a:lnSpc>
              <a:spcBef>
                <a:spcPts val="0"/>
              </a:spcBef>
              <a:spcAft>
                <a:spcPts val="0"/>
              </a:spcAft>
              <a:buClr>
                <a:schemeClr val="dk1"/>
              </a:buClr>
              <a:buSzPts val="1800"/>
              <a:buFont typeface="Arial"/>
              <a:buNone/>
            </a:pPr>
            <a:r>
              <a:rPr lang="en-US" sz="1800" b="1" dirty="0">
                <a:solidFill>
                  <a:schemeClr val="dk1"/>
                </a:solidFill>
                <a:latin typeface="Arial"/>
                <a:ea typeface="Arial"/>
                <a:cs typeface="Arial"/>
                <a:sym typeface="Arial"/>
              </a:rPr>
              <a:t>4. Multi-Collinearity </a:t>
            </a:r>
            <a:r>
              <a:rPr lang="en-US" sz="2000" dirty="0">
                <a:solidFill>
                  <a:schemeClr val="dk1"/>
                </a:solidFill>
                <a:latin typeface="Twentieth Century"/>
                <a:ea typeface="Twentieth Century"/>
                <a:cs typeface="Twentieth Century"/>
                <a:sym typeface="Twentieth Century"/>
              </a:rPr>
              <a:t>– When independent variables are highly correlated.</a:t>
            </a:r>
            <a:endParaRPr dirty="0"/>
          </a:p>
          <a:p>
            <a:pPr marL="0" marR="0" lvl="0" indent="-101600" algn="l" rtl="0">
              <a:spcBef>
                <a:spcPts val="0"/>
              </a:spcBef>
              <a:spcAft>
                <a:spcPts val="0"/>
              </a:spcAft>
              <a:buClr>
                <a:schemeClr val="dk1"/>
              </a:buClr>
              <a:buSzPts val="1600"/>
              <a:buFont typeface="Twentieth Century"/>
              <a:buChar char="•"/>
            </a:pPr>
            <a:r>
              <a:rPr lang="en-US" sz="1600" dirty="0">
                <a:solidFill>
                  <a:schemeClr val="dk1"/>
                </a:solidFill>
                <a:latin typeface="Twentieth Century"/>
                <a:ea typeface="Twentieth Century"/>
                <a:cs typeface="Twentieth Century"/>
                <a:sym typeface="Twentieth Century"/>
              </a:rPr>
              <a:t>Example: salary and </a:t>
            </a:r>
            <a:r>
              <a:rPr lang="en-US" sz="1600" dirty="0" err="1">
                <a:solidFill>
                  <a:schemeClr val="dk1"/>
                </a:solidFill>
                <a:latin typeface="Twentieth Century"/>
                <a:ea typeface="Twentieth Century"/>
                <a:cs typeface="Twentieth Century"/>
                <a:sym typeface="Twentieth Century"/>
              </a:rPr>
              <a:t>income_after_tax</a:t>
            </a:r>
            <a:r>
              <a:rPr lang="en-US" sz="1600" dirty="0">
                <a:solidFill>
                  <a:schemeClr val="dk1"/>
                </a:solidFill>
                <a:latin typeface="Twentieth Century"/>
                <a:ea typeface="Twentieth Century"/>
                <a:cs typeface="Twentieth Century"/>
                <a:sym typeface="Twentieth Century"/>
              </a:rPr>
              <a:t>, where tax can be estimated.</a:t>
            </a:r>
            <a:endParaRPr dirty="0"/>
          </a:p>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dirty="0">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41"/>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en-US"/>
              <a:t>REDUNDANCY REMOVAL </a:t>
            </a:r>
            <a:endParaRPr/>
          </a:p>
        </p:txBody>
      </p:sp>
      <p:sp>
        <p:nvSpPr>
          <p:cNvPr id="312" name="Google Shape;312;p41"/>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91440" algn="l" rtl="0">
              <a:lnSpc>
                <a:spcPct val="90000"/>
              </a:lnSpc>
              <a:spcBef>
                <a:spcPts val="0"/>
              </a:spcBef>
              <a:spcAft>
                <a:spcPts val="0"/>
              </a:spcAft>
              <a:buSzPts val="2000"/>
              <a:buNone/>
            </a:pPr>
            <a:r>
              <a:rPr lang="en-US" b="1"/>
              <a:t>Chi-Square Test (For Categorical Features)</a:t>
            </a:r>
            <a:endParaRPr/>
          </a:p>
          <a:p>
            <a:pPr marL="91440" lvl="0" indent="-127000" algn="l" rtl="0">
              <a:lnSpc>
                <a:spcPct val="90000"/>
              </a:lnSpc>
              <a:spcBef>
                <a:spcPts val="1400"/>
              </a:spcBef>
              <a:spcAft>
                <a:spcPts val="0"/>
              </a:spcAft>
              <a:buSzPts val="2000"/>
              <a:buChar char=" "/>
            </a:pPr>
            <a:r>
              <a:rPr lang="en-US"/>
              <a:t>The </a:t>
            </a:r>
            <a:r>
              <a:rPr lang="en-US" b="1"/>
              <a:t>Chi-Square test</a:t>
            </a:r>
            <a:r>
              <a:rPr lang="en-US"/>
              <a:t> measures whether a categorical feature is independent of the target variable. If a feature has </a:t>
            </a:r>
            <a:r>
              <a:rPr lang="en-US" b="1"/>
              <a:t>high p-value (above 0.05)</a:t>
            </a:r>
            <a:r>
              <a:rPr lang="en-US"/>
              <a:t>, it does not contribute significantly and can be removed.</a:t>
            </a:r>
            <a:endParaRPr/>
          </a:p>
        </p:txBody>
      </p:sp>
      <p:pic>
        <p:nvPicPr>
          <p:cNvPr id="313" name="Google Shape;313;p41"/>
          <p:cNvPicPr preferRelativeResize="0"/>
          <p:nvPr/>
        </p:nvPicPr>
        <p:blipFill rotWithShape="1">
          <a:blip r:embed="rId3">
            <a:alphaModFix/>
          </a:blip>
          <a:srcRect/>
          <a:stretch/>
        </p:blipFill>
        <p:spPr>
          <a:xfrm>
            <a:off x="3175819" y="3755923"/>
            <a:ext cx="5650427" cy="1817611"/>
          </a:xfrm>
          <a:prstGeom prst="rect">
            <a:avLst/>
          </a:prstGeom>
          <a:noFill/>
          <a:ln>
            <a:noFill/>
          </a:ln>
        </p:spPr>
      </p:pic>
      <p:sp>
        <p:nvSpPr>
          <p:cNvPr id="314" name="Google Shape;314;p41"/>
          <p:cNvSpPr/>
          <p:nvPr/>
        </p:nvSpPr>
        <p:spPr>
          <a:xfrm>
            <a:off x="4876799" y="5716926"/>
            <a:ext cx="3949447" cy="1015663"/>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000"/>
              <a:buFont typeface="Twentieth Century"/>
              <a:buNone/>
            </a:pPr>
            <a:r>
              <a:rPr lang="en-US" sz="2000">
                <a:solidFill>
                  <a:schemeClr val="dk1"/>
                </a:solidFill>
                <a:latin typeface="Twentieth Century"/>
                <a:ea typeface="Twentieth Century"/>
                <a:cs typeface="Twentieth Century"/>
                <a:sym typeface="Twentieth Century"/>
              </a:rPr>
              <a:t>Brand has a high p-value (&gt; 0.05), it does not significantly impact Will_Buy, so we remove it. </a:t>
            </a:r>
            <a:endParaRPr/>
          </a:p>
        </p:txBody>
      </p:sp>
      <p:pic>
        <p:nvPicPr>
          <p:cNvPr id="315" name="Google Shape;315;p41"/>
          <p:cNvPicPr preferRelativeResize="0"/>
          <p:nvPr/>
        </p:nvPicPr>
        <p:blipFill rotWithShape="1">
          <a:blip r:embed="rId4">
            <a:alphaModFix/>
          </a:blip>
          <a:srcRect/>
          <a:stretch/>
        </p:blipFill>
        <p:spPr>
          <a:xfrm>
            <a:off x="0" y="5674118"/>
            <a:ext cx="4753638" cy="110505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42"/>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endParaRPr/>
          </a:p>
        </p:txBody>
      </p:sp>
      <p:sp>
        <p:nvSpPr>
          <p:cNvPr id="321" name="Google Shape;321;p42"/>
          <p:cNvSpPr txBox="1">
            <a:spLocks noGrp="1"/>
          </p:cNvSpPr>
          <p:nvPr>
            <p:ph type="body" idx="1"/>
          </p:nvPr>
        </p:nvSpPr>
        <p:spPr>
          <a:xfrm>
            <a:off x="768096" y="2301766"/>
            <a:ext cx="7290055" cy="4023360"/>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en-US" b="1"/>
              <a:t>Variance Threshold (For Low-Variance Features)</a:t>
            </a:r>
            <a:endParaRPr/>
          </a:p>
          <a:p>
            <a:pPr marL="91440" lvl="0" indent="-127000" algn="l" rtl="0">
              <a:lnSpc>
                <a:spcPct val="90000"/>
              </a:lnSpc>
              <a:spcBef>
                <a:spcPts val="1400"/>
              </a:spcBef>
              <a:spcAft>
                <a:spcPts val="0"/>
              </a:spcAft>
              <a:buSzPts val="2000"/>
              <a:buChar char=" "/>
            </a:pPr>
            <a:r>
              <a:rPr lang="en-US"/>
              <a:t>If a feature has </a:t>
            </a:r>
            <a:r>
              <a:rPr lang="en-US" b="1"/>
              <a:t>almost the same value for all records</a:t>
            </a:r>
            <a:r>
              <a:rPr lang="en-US"/>
              <a:t>, it does not provide useful information. The </a:t>
            </a:r>
            <a:r>
              <a:rPr lang="en-US" b="1"/>
              <a:t>Variance Threshold</a:t>
            </a:r>
            <a:r>
              <a:rPr lang="en-US"/>
              <a:t> method removes such features.</a:t>
            </a:r>
            <a:endParaRPr b="1"/>
          </a:p>
        </p:txBody>
      </p:sp>
      <p:pic>
        <p:nvPicPr>
          <p:cNvPr id="322" name="Google Shape;322;p42"/>
          <p:cNvPicPr preferRelativeResize="0"/>
          <p:nvPr/>
        </p:nvPicPr>
        <p:blipFill rotWithShape="1">
          <a:blip r:embed="rId3">
            <a:alphaModFix/>
          </a:blip>
          <a:srcRect/>
          <a:stretch/>
        </p:blipFill>
        <p:spPr>
          <a:xfrm>
            <a:off x="802255" y="3657600"/>
            <a:ext cx="5706271" cy="1810003"/>
          </a:xfrm>
          <a:prstGeom prst="rect">
            <a:avLst/>
          </a:prstGeom>
          <a:noFill/>
          <a:ln>
            <a:noFill/>
          </a:ln>
        </p:spPr>
      </p:pic>
      <p:sp>
        <p:nvSpPr>
          <p:cNvPr id="323" name="Google Shape;323;p42"/>
          <p:cNvSpPr/>
          <p:nvPr/>
        </p:nvSpPr>
        <p:spPr>
          <a:xfrm>
            <a:off x="3867801" y="5523516"/>
            <a:ext cx="4833918" cy="70788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000"/>
              <a:buFont typeface="Twentieth Century"/>
              <a:buNone/>
            </a:pPr>
            <a:r>
              <a:rPr lang="en-US" sz="2000">
                <a:solidFill>
                  <a:schemeClr val="dk1"/>
                </a:solidFill>
                <a:latin typeface="Twentieth Century"/>
                <a:ea typeface="Twentieth Century"/>
                <a:cs typeface="Twentieth Century"/>
                <a:sym typeface="Twentieth Century"/>
              </a:rPr>
              <a:t>Feature1 is removed because it has no variance (same value for all records). </a:t>
            </a:r>
            <a:endParaRPr/>
          </a:p>
        </p:txBody>
      </p:sp>
      <p:pic>
        <p:nvPicPr>
          <p:cNvPr id="324" name="Google Shape;324;p42"/>
          <p:cNvPicPr preferRelativeResize="0"/>
          <p:nvPr/>
        </p:nvPicPr>
        <p:blipFill rotWithShape="1">
          <a:blip r:embed="rId4">
            <a:alphaModFix/>
          </a:blip>
          <a:srcRect/>
          <a:stretch/>
        </p:blipFill>
        <p:spPr>
          <a:xfrm>
            <a:off x="124528" y="5578056"/>
            <a:ext cx="3505689" cy="109552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3"/>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endParaRPr/>
          </a:p>
        </p:txBody>
      </p:sp>
      <p:sp>
        <p:nvSpPr>
          <p:cNvPr id="330" name="Google Shape;330;p43"/>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en-US" b="1"/>
              <a:t>Correlation Analysis (For Highly Correlated Features)</a:t>
            </a:r>
            <a:endParaRPr/>
          </a:p>
          <a:p>
            <a:pPr marL="91440" lvl="0" indent="-127000" algn="l" rtl="0">
              <a:lnSpc>
                <a:spcPct val="90000"/>
              </a:lnSpc>
              <a:spcBef>
                <a:spcPts val="1400"/>
              </a:spcBef>
              <a:spcAft>
                <a:spcPts val="0"/>
              </a:spcAft>
              <a:buSzPts val="2000"/>
              <a:buChar char=" "/>
            </a:pPr>
            <a:r>
              <a:rPr lang="en-US"/>
              <a:t>Features that are </a:t>
            </a:r>
            <a:r>
              <a:rPr lang="en-US" b="1"/>
              <a:t>highly correlated (&gt; 0.9)</a:t>
            </a:r>
            <a:r>
              <a:rPr lang="en-US"/>
              <a:t> provide duplicate information. One of them should be removed to avoid multicollinearity.</a:t>
            </a:r>
            <a:endParaRPr b="1"/>
          </a:p>
        </p:txBody>
      </p:sp>
      <p:pic>
        <p:nvPicPr>
          <p:cNvPr id="331" name="Google Shape;331;p43"/>
          <p:cNvPicPr preferRelativeResize="0"/>
          <p:nvPr/>
        </p:nvPicPr>
        <p:blipFill rotWithShape="1">
          <a:blip r:embed="rId3">
            <a:alphaModFix/>
          </a:blip>
          <a:srcRect/>
          <a:stretch/>
        </p:blipFill>
        <p:spPr>
          <a:xfrm>
            <a:off x="768096" y="3619250"/>
            <a:ext cx="5725324" cy="1790950"/>
          </a:xfrm>
          <a:prstGeom prst="rect">
            <a:avLst/>
          </a:prstGeom>
          <a:noFill/>
          <a:ln>
            <a:noFill/>
          </a:ln>
        </p:spPr>
      </p:pic>
      <p:sp>
        <p:nvSpPr>
          <p:cNvPr id="332" name="Google Shape;332;p43"/>
          <p:cNvSpPr/>
          <p:nvPr/>
        </p:nvSpPr>
        <p:spPr>
          <a:xfrm>
            <a:off x="768096" y="5790248"/>
            <a:ext cx="8399031" cy="40011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dirty="0">
                <a:solidFill>
                  <a:schemeClr val="dk1"/>
                </a:solidFill>
                <a:latin typeface="Arial"/>
                <a:ea typeface="Arial"/>
                <a:cs typeface="Arial"/>
                <a:sym typeface="Arial"/>
              </a:rPr>
              <a:t>If </a:t>
            </a:r>
            <a:r>
              <a:rPr lang="en-US" sz="2000" dirty="0">
                <a:solidFill>
                  <a:schemeClr val="dk1"/>
                </a:solidFill>
                <a:latin typeface="Twentieth Century"/>
                <a:ea typeface="Twentieth Century"/>
                <a:cs typeface="Twentieth Century"/>
                <a:sym typeface="Twentieth Century"/>
              </a:rPr>
              <a:t>Salary and </a:t>
            </a:r>
            <a:r>
              <a:rPr lang="en-US" sz="2000" dirty="0" err="1">
                <a:solidFill>
                  <a:schemeClr val="dk1"/>
                </a:solidFill>
                <a:latin typeface="Twentieth Century"/>
                <a:ea typeface="Twentieth Century"/>
                <a:cs typeface="Twentieth Century"/>
                <a:sym typeface="Twentieth Century"/>
              </a:rPr>
              <a:t>Income_After_Tax</a:t>
            </a:r>
            <a:r>
              <a:rPr lang="en-US" sz="2000" dirty="0">
                <a:solidFill>
                  <a:schemeClr val="dk1"/>
                </a:solidFill>
                <a:latin typeface="Twentieth Century"/>
                <a:ea typeface="Twentieth Century"/>
                <a:cs typeface="Twentieth Century"/>
                <a:sym typeface="Twentieth Century"/>
              </a:rPr>
              <a:t> have a correlation &gt; 0.9, we drop one of them. </a:t>
            </a:r>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44"/>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80000"/>
              </a:lnSpc>
              <a:spcBef>
                <a:spcPts val="0"/>
              </a:spcBef>
              <a:spcAft>
                <a:spcPts val="0"/>
              </a:spcAft>
              <a:buClr>
                <a:srgbClr val="242424"/>
              </a:buClr>
              <a:buSzPct val="100000"/>
              <a:buFont typeface="Arial"/>
              <a:buNone/>
            </a:pPr>
            <a:r>
              <a:rPr lang="en-US" b="1" i="0">
                <a:solidFill>
                  <a:srgbClr val="242424"/>
                </a:solidFill>
                <a:latin typeface="Arial"/>
                <a:ea typeface="Arial"/>
                <a:cs typeface="Arial"/>
                <a:sym typeface="Arial"/>
              </a:rPr>
              <a:t>CATEGORICAL DATA ENCODING TECHNIQUES</a:t>
            </a:r>
            <a:br>
              <a:rPr lang="en-US" b="1" i="0">
                <a:solidFill>
                  <a:srgbClr val="242424"/>
                </a:solidFill>
                <a:latin typeface="Arial"/>
                <a:ea typeface="Arial"/>
                <a:cs typeface="Arial"/>
                <a:sym typeface="Arial"/>
              </a:rPr>
            </a:br>
            <a:r>
              <a:rPr lang="en-US" b="1" i="0">
                <a:solidFill>
                  <a:srgbClr val="242424"/>
                </a:solidFill>
                <a:latin typeface="Arial"/>
                <a:ea typeface="Arial"/>
                <a:cs typeface="Arial"/>
                <a:sym typeface="Arial"/>
              </a:rPr>
              <a:t>           	</a:t>
            </a:r>
            <a:endParaRPr/>
          </a:p>
        </p:txBody>
      </p:sp>
      <p:sp>
        <p:nvSpPr>
          <p:cNvPr id="338" name="Google Shape;338;p44"/>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en-US" b="1" dirty="0">
                <a:highlight>
                  <a:srgbClr val="FFFF00"/>
                </a:highlight>
                <a:latin typeface="Arial"/>
                <a:ea typeface="Arial"/>
                <a:cs typeface="Arial"/>
                <a:sym typeface="Arial"/>
              </a:rPr>
              <a:t>Data Encoding</a:t>
            </a:r>
            <a:r>
              <a:rPr lang="en-US" dirty="0">
                <a:highlight>
                  <a:srgbClr val="FFFF00"/>
                </a:highlight>
              </a:rPr>
              <a:t> is an important pre-processing step in Machine Learning. It refers to the process of converting categorical or textual data into numerical format, so that it can be used as input for algorithms to process. The reason for encoding is that most machine learning algorithms work with numbers and not with text or categorical variables.</a:t>
            </a:r>
            <a:endParaRPr dirty="0">
              <a:highlight>
                <a:srgbClr val="FFFF00"/>
              </a:highligh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45"/>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900"/>
              <a:buFont typeface="Twentieth Century"/>
              <a:buNone/>
            </a:pPr>
            <a:r>
              <a:rPr lang="en-US" sz="4900"/>
              <a:t>WHY DATA ENCODING IS IMPORTANT?</a:t>
            </a:r>
            <a:endParaRPr/>
          </a:p>
        </p:txBody>
      </p:sp>
      <p:sp>
        <p:nvSpPr>
          <p:cNvPr id="344" name="Google Shape;344;p45"/>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91440" algn="l" rtl="0">
              <a:lnSpc>
                <a:spcPct val="90000"/>
              </a:lnSpc>
              <a:spcBef>
                <a:spcPts val="0"/>
              </a:spcBef>
              <a:spcAft>
                <a:spcPts val="0"/>
              </a:spcAft>
              <a:buSzPts val="2000"/>
              <a:buNone/>
            </a:pPr>
            <a:r>
              <a:rPr lang="en-US" b="0" i="0">
                <a:solidFill>
                  <a:srgbClr val="242424"/>
                </a:solidFill>
                <a:latin typeface="Arial"/>
                <a:ea typeface="Arial"/>
                <a:cs typeface="Arial"/>
                <a:sym typeface="Arial"/>
              </a:rPr>
              <a:t> Most machine learning algorithms work only with numerical data, so categorical variables (such as text labels) must be transformed into numerical values.</a:t>
            </a:r>
            <a:endParaRPr/>
          </a:p>
          <a:p>
            <a:pPr marL="91440" lvl="0" indent="-91440" algn="l" rtl="0">
              <a:lnSpc>
                <a:spcPct val="90000"/>
              </a:lnSpc>
              <a:spcBef>
                <a:spcPts val="1400"/>
              </a:spcBef>
              <a:spcAft>
                <a:spcPts val="0"/>
              </a:spcAft>
              <a:buSzPts val="2000"/>
              <a:buNone/>
            </a:pPr>
            <a:r>
              <a:rPr lang="en-US" b="0" i="0">
                <a:solidFill>
                  <a:srgbClr val="242424"/>
                </a:solidFill>
                <a:latin typeface="Arial"/>
                <a:ea typeface="Arial"/>
                <a:cs typeface="Arial"/>
                <a:sym typeface="Arial"/>
              </a:rPr>
              <a:t>• This allows the model to identify patterns in the data and make predictions based on those patterns.</a:t>
            </a:r>
            <a:endParaRPr/>
          </a:p>
          <a:p>
            <a:pPr marL="91440" lvl="0" indent="-91440" algn="l" rtl="0">
              <a:lnSpc>
                <a:spcPct val="90000"/>
              </a:lnSpc>
              <a:spcBef>
                <a:spcPts val="1400"/>
              </a:spcBef>
              <a:spcAft>
                <a:spcPts val="0"/>
              </a:spcAft>
              <a:buSzPts val="2000"/>
              <a:buNone/>
            </a:pPr>
            <a:r>
              <a:rPr lang="en-US" b="0" i="0">
                <a:solidFill>
                  <a:srgbClr val="242424"/>
                </a:solidFill>
                <a:latin typeface="Arial"/>
                <a:ea typeface="Arial"/>
                <a:cs typeface="Arial"/>
                <a:sym typeface="Arial"/>
              </a:rPr>
              <a:t>• Encoding also helps to prevent bias in the model by ensuring that all features are equally weighted.</a:t>
            </a:r>
            <a:endParaRPr/>
          </a:p>
          <a:p>
            <a:pPr marL="91440" lvl="0" indent="-127000" algn="l" rtl="0">
              <a:lnSpc>
                <a:spcPct val="90000"/>
              </a:lnSpc>
              <a:spcBef>
                <a:spcPts val="1400"/>
              </a:spcBef>
              <a:spcAft>
                <a:spcPts val="0"/>
              </a:spcAft>
              <a:buSzPts val="2000"/>
              <a:buChar char=" "/>
            </a:pPr>
            <a:r>
              <a:rPr lang="en-US" b="0" i="0">
                <a:solidFill>
                  <a:srgbClr val="242424"/>
                </a:solidFill>
                <a:latin typeface="Arial"/>
                <a:ea typeface="Arial"/>
                <a:cs typeface="Arial"/>
                <a:sym typeface="Arial"/>
              </a:rPr>
              <a:t>• The choice of encoding method can have a significant impact on model performance, so it is important to choose an appropriate encoding technique based on the nature of the data and the specific requirements of the model</a:t>
            </a:r>
            <a:endParaRPr/>
          </a:p>
          <a:p>
            <a:pPr marL="91440" lvl="0" indent="0" algn="l" rtl="0">
              <a:lnSpc>
                <a:spcPct val="90000"/>
              </a:lnSpc>
              <a:spcBef>
                <a:spcPts val="1400"/>
              </a:spcBef>
              <a:spcAft>
                <a:spcPts val="0"/>
              </a:spcAft>
              <a:buSzPts val="2000"/>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46"/>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900"/>
              <a:buFont typeface="Twentieth Century"/>
              <a:buNone/>
            </a:pPr>
            <a:r>
              <a:rPr lang="en-US" sz="4900"/>
              <a:t>WHAT IS CATEGORICAL DATA?</a:t>
            </a:r>
            <a:br>
              <a:rPr lang="en-US" sz="4900"/>
            </a:br>
            <a:r>
              <a:rPr lang="en-US" b="1" i="0">
                <a:solidFill>
                  <a:srgbClr val="242424"/>
                </a:solidFill>
                <a:latin typeface="Arial"/>
                <a:ea typeface="Arial"/>
                <a:cs typeface="Arial"/>
                <a:sym typeface="Arial"/>
              </a:rPr>
              <a:t> 	</a:t>
            </a:r>
            <a:endParaRPr/>
          </a:p>
        </p:txBody>
      </p:sp>
      <p:sp>
        <p:nvSpPr>
          <p:cNvPr id="350" name="Google Shape;350;p46"/>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91440" algn="l" rtl="0">
              <a:lnSpc>
                <a:spcPct val="90000"/>
              </a:lnSpc>
              <a:spcBef>
                <a:spcPts val="0"/>
              </a:spcBef>
              <a:spcAft>
                <a:spcPts val="0"/>
              </a:spcAft>
              <a:buSzPts val="2000"/>
              <a:buNone/>
            </a:pPr>
            <a:r>
              <a:rPr lang="en-US" b="0" i="0">
                <a:solidFill>
                  <a:srgbClr val="242424"/>
                </a:solidFill>
                <a:latin typeface="Arial"/>
                <a:ea typeface="Arial"/>
                <a:cs typeface="Arial"/>
                <a:sym typeface="Arial"/>
              </a:rPr>
              <a:t>When we collect data, we often encounter different types of variables. One such type is categorical variables. Categorical variables are usually represented as ‘strings’ or ‘categories’ and are finite in number.</a:t>
            </a:r>
            <a:endParaRPr/>
          </a:p>
          <a:p>
            <a:pPr marL="91440" lvl="0" indent="-91440" algn="l" rtl="0">
              <a:lnSpc>
                <a:spcPct val="90000"/>
              </a:lnSpc>
              <a:spcBef>
                <a:spcPts val="1400"/>
              </a:spcBef>
              <a:spcAft>
                <a:spcPts val="0"/>
              </a:spcAft>
              <a:buSzPts val="2000"/>
              <a:buNone/>
            </a:pPr>
            <a:r>
              <a:rPr lang="en-US" b="0" i="0">
                <a:solidFill>
                  <a:srgbClr val="242424"/>
                </a:solidFill>
                <a:latin typeface="Arial"/>
                <a:ea typeface="Arial"/>
                <a:cs typeface="Arial"/>
                <a:sym typeface="Arial"/>
              </a:rPr>
              <a:t>There are two types of categorical data -</a:t>
            </a:r>
            <a:endParaRPr/>
          </a:p>
          <a:p>
            <a:pPr marL="91440" lvl="0" indent="-91440" algn="l" rtl="0">
              <a:lnSpc>
                <a:spcPct val="90000"/>
              </a:lnSpc>
              <a:spcBef>
                <a:spcPts val="1400"/>
              </a:spcBef>
              <a:spcAft>
                <a:spcPts val="0"/>
              </a:spcAft>
              <a:buSzPts val="2000"/>
              <a:buNone/>
            </a:pPr>
            <a:r>
              <a:rPr lang="en-US" b="0" i="0">
                <a:solidFill>
                  <a:srgbClr val="242424"/>
                </a:solidFill>
                <a:latin typeface="Arial"/>
                <a:ea typeface="Arial"/>
                <a:cs typeface="Arial"/>
                <a:sym typeface="Arial"/>
              </a:rPr>
              <a:t>• </a:t>
            </a:r>
            <a:r>
              <a:rPr lang="en-US" b="1" i="1">
                <a:solidFill>
                  <a:srgbClr val="242424"/>
                </a:solidFill>
                <a:latin typeface="Arial"/>
                <a:ea typeface="Arial"/>
                <a:cs typeface="Arial"/>
                <a:sym typeface="Arial"/>
              </a:rPr>
              <a:t>Ordinal Data</a:t>
            </a:r>
            <a:endParaRPr b="0" i="0">
              <a:solidFill>
                <a:srgbClr val="242424"/>
              </a:solidFill>
              <a:latin typeface="Arial"/>
              <a:ea typeface="Arial"/>
              <a:cs typeface="Arial"/>
              <a:sym typeface="Arial"/>
            </a:endParaRPr>
          </a:p>
          <a:p>
            <a:pPr marL="91440" lvl="0" indent="-91440" algn="l" rtl="0">
              <a:lnSpc>
                <a:spcPct val="90000"/>
              </a:lnSpc>
              <a:spcBef>
                <a:spcPts val="1400"/>
              </a:spcBef>
              <a:spcAft>
                <a:spcPts val="0"/>
              </a:spcAft>
              <a:buSzPts val="2000"/>
              <a:buNone/>
            </a:pPr>
            <a:r>
              <a:rPr lang="en-US" b="0" i="1">
                <a:solidFill>
                  <a:srgbClr val="242424"/>
                </a:solidFill>
                <a:latin typeface="Arial"/>
                <a:ea typeface="Arial"/>
                <a:cs typeface="Arial"/>
                <a:sym typeface="Arial"/>
              </a:rPr>
              <a:t>• </a:t>
            </a:r>
            <a:r>
              <a:rPr lang="en-US" b="1" i="1">
                <a:solidFill>
                  <a:srgbClr val="242424"/>
                </a:solidFill>
                <a:latin typeface="Arial"/>
                <a:ea typeface="Arial"/>
                <a:cs typeface="Arial"/>
                <a:sym typeface="Arial"/>
              </a:rPr>
              <a:t>Nominal Data</a:t>
            </a:r>
            <a:endParaRPr b="0" i="0">
              <a:solidFill>
                <a:srgbClr val="242424"/>
              </a:solidFill>
              <a:latin typeface="Arial"/>
              <a:ea typeface="Arial"/>
              <a:cs typeface="Arial"/>
              <a:sym typeface="Arial"/>
            </a:endParaRPr>
          </a:p>
          <a:p>
            <a:pPr marL="91440" lvl="0" indent="-91440" algn="l" rtl="0">
              <a:lnSpc>
                <a:spcPct val="84400"/>
              </a:lnSpc>
              <a:spcBef>
                <a:spcPts val="1400"/>
              </a:spcBef>
              <a:spcAft>
                <a:spcPts val="0"/>
              </a:spcAft>
              <a:buSzPts val="2000"/>
              <a:buNone/>
            </a:pPr>
            <a:r>
              <a:rPr lang="en-US" b="1" i="0">
                <a:solidFill>
                  <a:srgbClr val="242424"/>
                </a:solidFill>
                <a:latin typeface="Arial"/>
                <a:ea typeface="Arial"/>
                <a:cs typeface="Arial"/>
                <a:sym typeface="Arial"/>
              </a:rPr>
              <a:t>Here are a few examples of categorical variables:</a:t>
            </a:r>
            <a:endParaRPr/>
          </a:p>
          <a:p>
            <a:pPr marL="91440" lvl="0" indent="-91440" algn="l" rtl="0">
              <a:lnSpc>
                <a:spcPct val="90000"/>
              </a:lnSpc>
              <a:spcBef>
                <a:spcPts val="1400"/>
              </a:spcBef>
              <a:spcAft>
                <a:spcPts val="0"/>
              </a:spcAft>
              <a:buSzPts val="2000"/>
              <a:buNone/>
            </a:pPr>
            <a:r>
              <a:rPr lang="en-US" b="0" i="0">
                <a:solidFill>
                  <a:srgbClr val="242424"/>
                </a:solidFill>
                <a:latin typeface="Arial"/>
                <a:ea typeface="Arial"/>
                <a:cs typeface="Arial"/>
                <a:sym typeface="Arial"/>
              </a:rPr>
              <a:t>• </a:t>
            </a:r>
            <a:r>
              <a:rPr lang="en-US" b="1" i="0">
                <a:solidFill>
                  <a:srgbClr val="242424"/>
                </a:solidFill>
                <a:latin typeface="Arial"/>
                <a:ea typeface="Arial"/>
                <a:cs typeface="Arial"/>
                <a:sym typeface="Arial"/>
              </a:rPr>
              <a:t>Places</a:t>
            </a:r>
            <a:r>
              <a:rPr lang="en-US" b="0" i="0">
                <a:solidFill>
                  <a:srgbClr val="242424"/>
                </a:solidFill>
                <a:latin typeface="Arial"/>
                <a:ea typeface="Arial"/>
                <a:cs typeface="Arial"/>
                <a:sym typeface="Arial"/>
              </a:rPr>
              <a:t>: Delhi, Mumbai, Ahmedabad, Bangalore, etc.</a:t>
            </a:r>
            <a:endParaRPr/>
          </a:p>
          <a:p>
            <a:pPr marL="91440" lvl="0" indent="-91440" algn="l" rtl="0">
              <a:lnSpc>
                <a:spcPct val="90000"/>
              </a:lnSpc>
              <a:spcBef>
                <a:spcPts val="1400"/>
              </a:spcBef>
              <a:spcAft>
                <a:spcPts val="0"/>
              </a:spcAft>
              <a:buSzPts val="2000"/>
              <a:buNone/>
            </a:pPr>
            <a:r>
              <a:rPr lang="en-US" b="0" i="0">
                <a:solidFill>
                  <a:srgbClr val="242424"/>
                </a:solidFill>
                <a:latin typeface="Arial"/>
                <a:ea typeface="Arial"/>
                <a:cs typeface="Arial"/>
                <a:sym typeface="Arial"/>
              </a:rPr>
              <a:t>• </a:t>
            </a:r>
            <a:r>
              <a:rPr lang="en-US" b="1" i="0">
                <a:solidFill>
                  <a:srgbClr val="242424"/>
                </a:solidFill>
                <a:latin typeface="Arial"/>
                <a:ea typeface="Arial"/>
                <a:cs typeface="Arial"/>
                <a:sym typeface="Arial"/>
              </a:rPr>
              <a:t>Departments</a:t>
            </a:r>
            <a:r>
              <a:rPr lang="en-US" b="0" i="0">
                <a:solidFill>
                  <a:srgbClr val="242424"/>
                </a:solidFill>
                <a:latin typeface="Arial"/>
                <a:ea typeface="Arial"/>
                <a:cs typeface="Arial"/>
                <a:sym typeface="Arial"/>
              </a:rPr>
              <a:t>: Finance, Human resources, IT, Production.</a:t>
            </a:r>
            <a:endParaRPr/>
          </a:p>
          <a:p>
            <a:pPr marL="91440" lvl="0" indent="-127000" algn="l" rtl="0">
              <a:lnSpc>
                <a:spcPct val="90000"/>
              </a:lnSpc>
              <a:spcBef>
                <a:spcPts val="1400"/>
              </a:spcBef>
              <a:spcAft>
                <a:spcPts val="0"/>
              </a:spcAft>
              <a:buSzPts val="2000"/>
              <a:buChar char=" "/>
            </a:pPr>
            <a:r>
              <a:rPr lang="en-US" b="0" i="0">
                <a:solidFill>
                  <a:srgbClr val="242424"/>
                </a:solidFill>
                <a:latin typeface="Arial"/>
                <a:ea typeface="Arial"/>
                <a:cs typeface="Arial"/>
                <a:sym typeface="Arial"/>
              </a:rPr>
              <a:t>• </a:t>
            </a:r>
            <a:r>
              <a:rPr lang="en-US" b="1" i="0">
                <a:solidFill>
                  <a:srgbClr val="242424"/>
                </a:solidFill>
                <a:latin typeface="Arial"/>
                <a:ea typeface="Arial"/>
                <a:cs typeface="Arial"/>
                <a:sym typeface="Arial"/>
              </a:rPr>
              <a:t>Grades</a:t>
            </a:r>
            <a:r>
              <a:rPr lang="en-US" b="0" i="0">
                <a:solidFill>
                  <a:srgbClr val="242424"/>
                </a:solidFill>
                <a:latin typeface="Arial"/>
                <a:ea typeface="Arial"/>
                <a:cs typeface="Arial"/>
                <a:sym typeface="Arial"/>
              </a:rPr>
              <a:t>: A, A-, B+, B, B- etc.</a:t>
            </a:r>
            <a:endParaRPr/>
          </a:p>
          <a:p>
            <a:pPr marL="91440" lvl="0" indent="0" algn="l" rtl="0">
              <a:lnSpc>
                <a:spcPct val="90000"/>
              </a:lnSpc>
              <a:spcBef>
                <a:spcPts val="1400"/>
              </a:spcBef>
              <a:spcAft>
                <a:spcPts val="0"/>
              </a:spcAft>
              <a:buSzPts val="2000"/>
              <a:buNone/>
            </a:pP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47"/>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91440" algn="l" rtl="0">
              <a:lnSpc>
                <a:spcPct val="90000"/>
              </a:lnSpc>
              <a:spcBef>
                <a:spcPts val="0"/>
              </a:spcBef>
              <a:spcAft>
                <a:spcPts val="0"/>
              </a:spcAft>
              <a:buSzPts val="2000"/>
              <a:buNone/>
            </a:pPr>
            <a:r>
              <a:rPr lang="en-US" b="1" i="0" dirty="0">
                <a:solidFill>
                  <a:srgbClr val="242424"/>
                </a:solidFill>
                <a:latin typeface="Arial"/>
                <a:ea typeface="Arial"/>
                <a:cs typeface="Arial"/>
                <a:sym typeface="Arial"/>
              </a:rPr>
              <a:t>Ordinal Data:</a:t>
            </a:r>
            <a:endParaRPr b="0" i="0" dirty="0">
              <a:solidFill>
                <a:srgbClr val="242424"/>
              </a:solidFill>
              <a:latin typeface="Arial"/>
              <a:ea typeface="Arial"/>
              <a:cs typeface="Arial"/>
              <a:sym typeface="Arial"/>
            </a:endParaRPr>
          </a:p>
          <a:p>
            <a:pPr marL="91440" lvl="0" indent="-91440" algn="l" rtl="0">
              <a:lnSpc>
                <a:spcPct val="90000"/>
              </a:lnSpc>
              <a:spcBef>
                <a:spcPts val="1400"/>
              </a:spcBef>
              <a:spcAft>
                <a:spcPts val="0"/>
              </a:spcAft>
              <a:buSzPts val="2000"/>
              <a:buNone/>
            </a:pPr>
            <a:r>
              <a:rPr lang="en-US" b="0" i="0" dirty="0">
                <a:solidFill>
                  <a:srgbClr val="242424"/>
                </a:solidFill>
                <a:highlight>
                  <a:srgbClr val="FFFF00"/>
                </a:highlight>
                <a:latin typeface="Arial"/>
                <a:ea typeface="Arial"/>
                <a:cs typeface="Arial"/>
                <a:sym typeface="Arial"/>
              </a:rPr>
              <a:t>The categories of ordinal data have an </a:t>
            </a:r>
            <a:r>
              <a:rPr lang="en-US" b="1" i="0" dirty="0">
                <a:solidFill>
                  <a:srgbClr val="242424"/>
                </a:solidFill>
                <a:highlight>
                  <a:srgbClr val="FFFF00"/>
                </a:highlight>
                <a:latin typeface="Arial"/>
                <a:ea typeface="Arial"/>
                <a:cs typeface="Arial"/>
                <a:sym typeface="Arial"/>
              </a:rPr>
              <a:t>Inherent Order</a:t>
            </a:r>
            <a:r>
              <a:rPr lang="en-US" b="0" i="0" dirty="0">
                <a:solidFill>
                  <a:srgbClr val="242424"/>
                </a:solidFill>
                <a:highlight>
                  <a:srgbClr val="FFFF00"/>
                </a:highlight>
                <a:latin typeface="Arial"/>
                <a:ea typeface="Arial"/>
                <a:cs typeface="Arial"/>
                <a:sym typeface="Arial"/>
              </a:rPr>
              <a:t>. This means that the categories can be </a:t>
            </a:r>
            <a:r>
              <a:rPr lang="en-US" b="1" i="0" dirty="0">
                <a:solidFill>
                  <a:srgbClr val="242424"/>
                </a:solidFill>
                <a:highlight>
                  <a:srgbClr val="FFFF00"/>
                </a:highlight>
                <a:latin typeface="Arial"/>
                <a:ea typeface="Arial"/>
                <a:cs typeface="Arial"/>
                <a:sym typeface="Arial"/>
              </a:rPr>
              <a:t>Ranked</a:t>
            </a:r>
            <a:r>
              <a:rPr lang="en-US" b="0" i="0" dirty="0">
                <a:solidFill>
                  <a:srgbClr val="242424"/>
                </a:solidFill>
                <a:highlight>
                  <a:srgbClr val="FFFF00"/>
                </a:highlight>
                <a:latin typeface="Arial"/>
                <a:ea typeface="Arial"/>
                <a:cs typeface="Arial"/>
                <a:sym typeface="Arial"/>
              </a:rPr>
              <a:t> or ordered from highest to lowest or vice versa.</a:t>
            </a:r>
            <a:endParaRPr dirty="0">
              <a:highlight>
                <a:srgbClr val="FFFF00"/>
              </a:highlight>
            </a:endParaRPr>
          </a:p>
          <a:p>
            <a:pPr marL="91440" lvl="0" indent="-127000" algn="l" rtl="0">
              <a:lnSpc>
                <a:spcPct val="90000"/>
              </a:lnSpc>
              <a:spcBef>
                <a:spcPts val="1400"/>
              </a:spcBef>
              <a:spcAft>
                <a:spcPts val="0"/>
              </a:spcAft>
              <a:buSzPts val="2000"/>
              <a:buChar char=" "/>
            </a:pPr>
            <a:r>
              <a:rPr lang="en-US" b="0" i="0" dirty="0">
                <a:solidFill>
                  <a:srgbClr val="242424"/>
                </a:solidFill>
                <a:latin typeface="Arial"/>
                <a:ea typeface="Arial"/>
                <a:cs typeface="Arial"/>
                <a:sym typeface="Arial"/>
              </a:rPr>
              <a:t>For example, the variable “highest degree a person has” is an ordinal variable. The categories (High school, Diploma, Bachelors, Masters, PhD) can be ranked in order of the level of education attained.</a:t>
            </a:r>
            <a:endParaRPr dirty="0"/>
          </a:p>
          <a:p>
            <a:pPr marL="91440" lvl="0" indent="0" algn="l" rtl="0">
              <a:lnSpc>
                <a:spcPct val="90000"/>
              </a:lnSpc>
              <a:spcBef>
                <a:spcPts val="1400"/>
              </a:spcBef>
              <a:spcAft>
                <a:spcPts val="0"/>
              </a:spcAft>
              <a:buSzPts val="2000"/>
              <a:buNone/>
            </a:pPr>
            <a:endParaRPr dirty="0"/>
          </a:p>
        </p:txBody>
      </p:sp>
      <p:sp>
        <p:nvSpPr>
          <p:cNvPr id="356" name="Google Shape;356;p47"/>
          <p:cNvSpPr txBox="1">
            <a:spLocks noGrp="1"/>
          </p:cNvSpPr>
          <p:nvPr>
            <p:ph type="title"/>
          </p:nvPr>
        </p:nvSpPr>
        <p:spPr>
          <a:xfrm>
            <a:off x="628650" y="1131094"/>
            <a:ext cx="7886700" cy="99417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80000"/>
              </a:lnSpc>
              <a:spcBef>
                <a:spcPts val="0"/>
              </a:spcBef>
              <a:spcAft>
                <a:spcPts val="0"/>
              </a:spcAft>
              <a:buClr>
                <a:srgbClr val="0C0C0C"/>
              </a:buClr>
              <a:buSzPct val="100000"/>
              <a:buFont typeface="Twentieth Century"/>
              <a:buNone/>
            </a:pPr>
            <a:r>
              <a:rPr lang="en-US" sz="5400"/>
              <a:t>WHAT IS CATEGORICAL DATA?</a:t>
            </a:r>
            <a:br>
              <a:rPr lang="en-US" sz="5400"/>
            </a:br>
            <a:r>
              <a:rPr lang="en-US" b="1" i="0">
                <a:solidFill>
                  <a:srgbClr val="242424"/>
                </a:solidFill>
                <a:latin typeface="Arial"/>
                <a:ea typeface="Arial"/>
                <a:cs typeface="Arial"/>
                <a:sym typeface="Arial"/>
              </a:rPr>
              <a:t>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48"/>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91440" algn="l" rtl="0">
              <a:lnSpc>
                <a:spcPct val="90000"/>
              </a:lnSpc>
              <a:spcBef>
                <a:spcPts val="0"/>
              </a:spcBef>
              <a:spcAft>
                <a:spcPts val="0"/>
              </a:spcAft>
              <a:buSzPts val="2000"/>
              <a:buNone/>
            </a:pPr>
            <a:r>
              <a:rPr lang="en-US" b="1" i="0" dirty="0">
                <a:solidFill>
                  <a:srgbClr val="242424"/>
                </a:solidFill>
                <a:latin typeface="Arial"/>
                <a:ea typeface="Arial"/>
                <a:cs typeface="Arial"/>
                <a:sym typeface="Arial"/>
              </a:rPr>
              <a:t>Nominal Data:</a:t>
            </a:r>
            <a:endParaRPr b="0" i="0" dirty="0">
              <a:solidFill>
                <a:srgbClr val="242424"/>
              </a:solidFill>
              <a:latin typeface="Arial"/>
              <a:ea typeface="Arial"/>
              <a:cs typeface="Arial"/>
              <a:sym typeface="Arial"/>
            </a:endParaRPr>
          </a:p>
          <a:p>
            <a:pPr marL="91440" lvl="0" indent="-91440" algn="l" rtl="0">
              <a:lnSpc>
                <a:spcPct val="90000"/>
              </a:lnSpc>
              <a:spcBef>
                <a:spcPts val="1400"/>
              </a:spcBef>
              <a:spcAft>
                <a:spcPts val="0"/>
              </a:spcAft>
              <a:buSzPts val="2000"/>
              <a:buNone/>
            </a:pPr>
            <a:r>
              <a:rPr lang="en-US" b="0" i="0" dirty="0">
                <a:solidFill>
                  <a:srgbClr val="242424"/>
                </a:solidFill>
                <a:highlight>
                  <a:srgbClr val="FFFF00"/>
                </a:highlight>
                <a:latin typeface="Arial"/>
                <a:ea typeface="Arial"/>
                <a:cs typeface="Arial"/>
                <a:sym typeface="Arial"/>
              </a:rPr>
              <a:t>The categories of nominal data </a:t>
            </a:r>
            <a:r>
              <a:rPr lang="en-US" b="1" i="0" dirty="0">
                <a:solidFill>
                  <a:srgbClr val="242424"/>
                </a:solidFill>
                <a:highlight>
                  <a:srgbClr val="FFFF00"/>
                </a:highlight>
                <a:latin typeface="Arial"/>
                <a:ea typeface="Arial"/>
                <a:cs typeface="Arial"/>
                <a:sym typeface="Arial"/>
              </a:rPr>
              <a:t>do not have an Inherent Order</a:t>
            </a:r>
            <a:r>
              <a:rPr lang="en-US" b="0" i="0" dirty="0">
                <a:solidFill>
                  <a:srgbClr val="242424"/>
                </a:solidFill>
                <a:highlight>
                  <a:srgbClr val="FFFF00"/>
                </a:highlight>
                <a:latin typeface="Arial"/>
                <a:ea typeface="Arial"/>
                <a:cs typeface="Arial"/>
                <a:sym typeface="Arial"/>
              </a:rPr>
              <a:t>. This means that the categories cannot be ranked or ordered.</a:t>
            </a:r>
            <a:endParaRPr dirty="0">
              <a:highlight>
                <a:srgbClr val="FFFF00"/>
              </a:highlight>
            </a:endParaRPr>
          </a:p>
          <a:p>
            <a:pPr marL="91440" lvl="0" indent="-127000" algn="l" rtl="0">
              <a:lnSpc>
                <a:spcPct val="90000"/>
              </a:lnSpc>
              <a:spcBef>
                <a:spcPts val="1400"/>
              </a:spcBef>
              <a:spcAft>
                <a:spcPts val="0"/>
              </a:spcAft>
              <a:buSzPts val="2000"/>
              <a:buChar char=" "/>
            </a:pPr>
            <a:r>
              <a:rPr lang="en-US" b="0" i="0" dirty="0">
                <a:solidFill>
                  <a:srgbClr val="242424"/>
                </a:solidFill>
                <a:latin typeface="Arial"/>
                <a:ea typeface="Arial"/>
                <a:cs typeface="Arial"/>
                <a:sym typeface="Arial"/>
              </a:rPr>
              <a:t>For example, the variable “city where a person lives” is a nominal variable. The categories (Delhi, Mumbai, Ahmedabad, Bangalore, etc.) cannot be ranked or ordered.</a:t>
            </a:r>
            <a:endParaRPr dirty="0"/>
          </a:p>
          <a:p>
            <a:pPr marL="91440" lvl="0" indent="0" algn="l" rtl="0">
              <a:lnSpc>
                <a:spcPct val="90000"/>
              </a:lnSpc>
              <a:spcBef>
                <a:spcPts val="1400"/>
              </a:spcBef>
              <a:spcAft>
                <a:spcPts val="0"/>
              </a:spcAft>
              <a:buSzPts val="2000"/>
              <a:buNone/>
            </a:pPr>
            <a:endParaRPr dirty="0"/>
          </a:p>
        </p:txBody>
      </p:sp>
      <p:sp>
        <p:nvSpPr>
          <p:cNvPr id="362" name="Google Shape;362;p48"/>
          <p:cNvSpPr txBox="1">
            <a:spLocks noGrp="1"/>
          </p:cNvSpPr>
          <p:nvPr>
            <p:ph type="title"/>
          </p:nvPr>
        </p:nvSpPr>
        <p:spPr>
          <a:xfrm>
            <a:off x="628650" y="1131094"/>
            <a:ext cx="7886700" cy="99417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80000"/>
              </a:lnSpc>
              <a:spcBef>
                <a:spcPts val="0"/>
              </a:spcBef>
              <a:spcAft>
                <a:spcPts val="0"/>
              </a:spcAft>
              <a:buClr>
                <a:srgbClr val="0C0C0C"/>
              </a:buClr>
              <a:buSzPct val="100000"/>
              <a:buFont typeface="Twentieth Century"/>
              <a:buNone/>
            </a:pPr>
            <a:r>
              <a:rPr lang="en-US" sz="5400"/>
              <a:t>WHAT IS CATEGORICAL DATA?</a:t>
            </a:r>
            <a:br>
              <a:rPr lang="en-US" sz="5400"/>
            </a:br>
            <a:r>
              <a:rPr lang="en-US" b="1" i="0">
                <a:solidFill>
                  <a:srgbClr val="242424"/>
                </a:solidFill>
                <a:latin typeface="Arial"/>
                <a:ea typeface="Arial"/>
                <a:cs typeface="Arial"/>
                <a:sym typeface="Arial"/>
              </a:rPr>
              <a:t>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49"/>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900"/>
              <a:buFont typeface="Twentieth Century"/>
              <a:buNone/>
            </a:pPr>
            <a:r>
              <a:rPr lang="en-US" sz="4900"/>
              <a:t>SEVERAL METHODS FOR ENCODING CATEGORICAL VARIABLES</a:t>
            </a:r>
            <a:endParaRPr/>
          </a:p>
        </p:txBody>
      </p:sp>
      <p:sp>
        <p:nvSpPr>
          <p:cNvPr id="368" name="Google Shape;368;p49"/>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91440" algn="l" rtl="0">
              <a:lnSpc>
                <a:spcPct val="90000"/>
              </a:lnSpc>
              <a:spcBef>
                <a:spcPts val="0"/>
              </a:spcBef>
              <a:spcAft>
                <a:spcPts val="0"/>
              </a:spcAft>
              <a:buSzPts val="2000"/>
              <a:buNone/>
            </a:pPr>
            <a:r>
              <a:rPr lang="en-US" b="0" i="1">
                <a:solidFill>
                  <a:srgbClr val="242424"/>
                </a:solidFill>
                <a:latin typeface="Arial"/>
                <a:ea typeface="Arial"/>
                <a:cs typeface="Arial"/>
                <a:sym typeface="Arial"/>
              </a:rPr>
              <a:t>1. One-Hot Encoding</a:t>
            </a:r>
            <a:endParaRPr b="0" i="0">
              <a:solidFill>
                <a:srgbClr val="242424"/>
              </a:solidFill>
              <a:latin typeface="Arial"/>
              <a:ea typeface="Arial"/>
              <a:cs typeface="Arial"/>
              <a:sym typeface="Arial"/>
            </a:endParaRPr>
          </a:p>
          <a:p>
            <a:pPr marL="91440" lvl="0" indent="-91440" algn="l" rtl="0">
              <a:lnSpc>
                <a:spcPct val="90000"/>
              </a:lnSpc>
              <a:spcBef>
                <a:spcPts val="1400"/>
              </a:spcBef>
              <a:spcAft>
                <a:spcPts val="0"/>
              </a:spcAft>
              <a:buSzPts val="2000"/>
              <a:buNone/>
            </a:pPr>
            <a:r>
              <a:rPr lang="en-US" b="0" i="1">
                <a:solidFill>
                  <a:srgbClr val="242424"/>
                </a:solidFill>
                <a:latin typeface="Arial"/>
                <a:ea typeface="Arial"/>
                <a:cs typeface="Arial"/>
                <a:sym typeface="Arial"/>
              </a:rPr>
              <a:t>2. Dummy Encoding</a:t>
            </a:r>
            <a:endParaRPr b="0" i="0">
              <a:solidFill>
                <a:srgbClr val="242424"/>
              </a:solidFill>
              <a:latin typeface="Arial"/>
              <a:ea typeface="Arial"/>
              <a:cs typeface="Arial"/>
              <a:sym typeface="Arial"/>
            </a:endParaRPr>
          </a:p>
          <a:p>
            <a:pPr marL="91440" lvl="0" indent="-91440" algn="l" rtl="0">
              <a:lnSpc>
                <a:spcPct val="90000"/>
              </a:lnSpc>
              <a:spcBef>
                <a:spcPts val="1400"/>
              </a:spcBef>
              <a:spcAft>
                <a:spcPts val="0"/>
              </a:spcAft>
              <a:buSzPts val="2000"/>
              <a:buNone/>
            </a:pPr>
            <a:r>
              <a:rPr lang="en-US" b="0" i="1">
                <a:solidFill>
                  <a:srgbClr val="242424"/>
                </a:solidFill>
                <a:latin typeface="Arial"/>
                <a:ea typeface="Arial"/>
                <a:cs typeface="Arial"/>
                <a:sym typeface="Arial"/>
              </a:rPr>
              <a:t>3.Ordinal Encoding</a:t>
            </a:r>
            <a:endParaRPr b="0" i="0">
              <a:solidFill>
                <a:srgbClr val="242424"/>
              </a:solidFill>
              <a:latin typeface="Arial"/>
              <a:ea typeface="Arial"/>
              <a:cs typeface="Arial"/>
              <a:sym typeface="Arial"/>
            </a:endParaRPr>
          </a:p>
          <a:p>
            <a:pPr marL="91440" lvl="0" indent="-91440" algn="l" rtl="0">
              <a:lnSpc>
                <a:spcPct val="90000"/>
              </a:lnSpc>
              <a:spcBef>
                <a:spcPts val="1400"/>
              </a:spcBef>
              <a:spcAft>
                <a:spcPts val="0"/>
              </a:spcAft>
              <a:buSzPts val="2000"/>
              <a:buNone/>
            </a:pPr>
            <a:r>
              <a:rPr lang="en-US" b="0" i="1">
                <a:solidFill>
                  <a:srgbClr val="242424"/>
                </a:solidFill>
                <a:latin typeface="Arial"/>
                <a:ea typeface="Arial"/>
                <a:cs typeface="Arial"/>
                <a:sym typeface="Arial"/>
              </a:rPr>
              <a:t>4. Binary Encoding</a:t>
            </a:r>
            <a:endParaRPr b="0" i="0">
              <a:solidFill>
                <a:srgbClr val="242424"/>
              </a:solidFill>
              <a:latin typeface="Arial"/>
              <a:ea typeface="Arial"/>
              <a:cs typeface="Arial"/>
              <a:sym typeface="Arial"/>
            </a:endParaRPr>
          </a:p>
          <a:p>
            <a:pPr marL="91440" lvl="0" indent="-91440" algn="l" rtl="0">
              <a:lnSpc>
                <a:spcPct val="90000"/>
              </a:lnSpc>
              <a:spcBef>
                <a:spcPts val="1400"/>
              </a:spcBef>
              <a:spcAft>
                <a:spcPts val="0"/>
              </a:spcAft>
              <a:buSzPts val="2000"/>
              <a:buNone/>
            </a:pPr>
            <a:r>
              <a:rPr lang="en-US" b="0" i="1">
                <a:solidFill>
                  <a:srgbClr val="242424"/>
                </a:solidFill>
                <a:latin typeface="Arial"/>
                <a:ea typeface="Arial"/>
                <a:cs typeface="Arial"/>
                <a:sym typeface="Arial"/>
              </a:rPr>
              <a:t>5. Count Encoding</a:t>
            </a:r>
            <a:endParaRPr b="0" i="0">
              <a:solidFill>
                <a:srgbClr val="242424"/>
              </a:solidFill>
              <a:latin typeface="Arial"/>
              <a:ea typeface="Arial"/>
              <a:cs typeface="Arial"/>
              <a:sym typeface="Arial"/>
            </a:endParaRPr>
          </a:p>
          <a:p>
            <a:pPr marL="91440" lvl="0" indent="-127000" algn="l" rtl="0">
              <a:lnSpc>
                <a:spcPct val="90000"/>
              </a:lnSpc>
              <a:spcBef>
                <a:spcPts val="1400"/>
              </a:spcBef>
              <a:spcAft>
                <a:spcPts val="0"/>
              </a:spcAft>
              <a:buSzPts val="2000"/>
              <a:buChar char=" "/>
            </a:pPr>
            <a:r>
              <a:rPr lang="en-US" b="0" i="1">
                <a:solidFill>
                  <a:srgbClr val="242424"/>
                </a:solidFill>
                <a:latin typeface="Arial"/>
                <a:ea typeface="Arial"/>
                <a:cs typeface="Arial"/>
                <a:sym typeface="Arial"/>
              </a:rPr>
              <a:t>6. Target Encoding</a:t>
            </a:r>
            <a:endParaRPr b="0" i="0">
              <a:solidFill>
                <a:srgbClr val="242424"/>
              </a:solidFill>
              <a:latin typeface="Arial"/>
              <a:ea typeface="Arial"/>
              <a:cs typeface="Arial"/>
              <a:sym typeface="Arial"/>
            </a:endParaRPr>
          </a:p>
          <a:p>
            <a:pPr marL="91440" lvl="0" indent="0" algn="l" rtl="0">
              <a:lnSpc>
                <a:spcPct val="90000"/>
              </a:lnSpc>
              <a:spcBef>
                <a:spcPts val="1400"/>
              </a:spcBef>
              <a:spcAft>
                <a:spcPts val="0"/>
              </a:spcAft>
              <a:buSzPts val="2000"/>
              <a:buNone/>
            </a:pP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50"/>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en-US"/>
              <a:t>ONE HOT ENCODING</a:t>
            </a:r>
            <a:endParaRPr/>
          </a:p>
        </p:txBody>
      </p:sp>
      <p:sp>
        <p:nvSpPr>
          <p:cNvPr id="374" name="Google Shape;374;p50"/>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91440" algn="l" rtl="0">
              <a:lnSpc>
                <a:spcPct val="90000"/>
              </a:lnSpc>
              <a:spcBef>
                <a:spcPts val="0"/>
              </a:spcBef>
              <a:spcAft>
                <a:spcPts val="0"/>
              </a:spcAft>
              <a:buSzPts val="2000"/>
              <a:buNone/>
            </a:pPr>
            <a:r>
              <a:rPr lang="en-US" b="0" i="0" dirty="0">
                <a:solidFill>
                  <a:srgbClr val="242424"/>
                </a:solidFill>
                <a:highlight>
                  <a:srgbClr val="FFFF00"/>
                </a:highlight>
                <a:latin typeface="Arial"/>
                <a:ea typeface="Arial"/>
                <a:cs typeface="Arial"/>
                <a:sym typeface="Arial"/>
              </a:rPr>
              <a:t>One-Hot Encoding is the </a:t>
            </a:r>
            <a:r>
              <a:rPr lang="en-US" b="1" i="0" dirty="0">
                <a:solidFill>
                  <a:srgbClr val="242424"/>
                </a:solidFill>
                <a:highlight>
                  <a:srgbClr val="FFFF00"/>
                </a:highlight>
                <a:latin typeface="Arial"/>
                <a:ea typeface="Arial"/>
                <a:cs typeface="Arial"/>
                <a:sym typeface="Arial"/>
              </a:rPr>
              <a:t>Most Common</a:t>
            </a:r>
            <a:r>
              <a:rPr lang="en-US" b="0" i="0" dirty="0">
                <a:solidFill>
                  <a:srgbClr val="242424"/>
                </a:solidFill>
                <a:highlight>
                  <a:srgbClr val="FFFF00"/>
                </a:highlight>
                <a:latin typeface="Arial"/>
                <a:ea typeface="Arial"/>
                <a:cs typeface="Arial"/>
                <a:sym typeface="Arial"/>
              </a:rPr>
              <a:t> method for encoding </a:t>
            </a:r>
            <a:r>
              <a:rPr lang="en-US" b="1" i="0" dirty="0">
                <a:solidFill>
                  <a:srgbClr val="242424"/>
                </a:solidFill>
                <a:highlight>
                  <a:srgbClr val="FFFF00"/>
                </a:highlight>
                <a:latin typeface="Arial"/>
                <a:ea typeface="Arial"/>
                <a:cs typeface="Arial"/>
                <a:sym typeface="Arial"/>
              </a:rPr>
              <a:t>Categorical</a:t>
            </a:r>
            <a:r>
              <a:rPr lang="en-US" b="0" i="0" dirty="0">
                <a:solidFill>
                  <a:srgbClr val="242424"/>
                </a:solidFill>
                <a:highlight>
                  <a:srgbClr val="FFFF00"/>
                </a:highlight>
                <a:latin typeface="Arial"/>
                <a:ea typeface="Arial"/>
                <a:cs typeface="Arial"/>
                <a:sym typeface="Arial"/>
              </a:rPr>
              <a:t> variables.</a:t>
            </a:r>
            <a:endParaRPr dirty="0">
              <a:highlight>
                <a:srgbClr val="FFFF00"/>
              </a:highlight>
            </a:endParaRPr>
          </a:p>
          <a:p>
            <a:pPr marL="91440" lvl="0" indent="-91440" algn="l" rtl="0">
              <a:lnSpc>
                <a:spcPct val="90000"/>
              </a:lnSpc>
              <a:spcBef>
                <a:spcPts val="1400"/>
              </a:spcBef>
              <a:spcAft>
                <a:spcPts val="0"/>
              </a:spcAft>
              <a:buSzPts val="2000"/>
              <a:buNone/>
            </a:pPr>
            <a:r>
              <a:rPr lang="en-US" b="0" i="0" dirty="0">
                <a:solidFill>
                  <a:srgbClr val="242424"/>
                </a:solidFill>
                <a:highlight>
                  <a:srgbClr val="FFFF00"/>
                </a:highlight>
                <a:latin typeface="Arial"/>
                <a:ea typeface="Arial"/>
                <a:cs typeface="Arial"/>
                <a:sym typeface="Arial"/>
              </a:rPr>
              <a:t>• a </a:t>
            </a:r>
            <a:r>
              <a:rPr lang="en-US" b="1" i="0" dirty="0">
                <a:solidFill>
                  <a:srgbClr val="242424"/>
                </a:solidFill>
                <a:highlight>
                  <a:srgbClr val="FFFF00"/>
                </a:highlight>
                <a:latin typeface="Arial"/>
                <a:ea typeface="Arial"/>
                <a:cs typeface="Arial"/>
                <a:sym typeface="Arial"/>
              </a:rPr>
              <a:t>Binary Column</a:t>
            </a:r>
            <a:r>
              <a:rPr lang="en-US" b="0" i="0" dirty="0">
                <a:solidFill>
                  <a:srgbClr val="242424"/>
                </a:solidFill>
                <a:highlight>
                  <a:srgbClr val="FFFF00"/>
                </a:highlight>
                <a:latin typeface="Arial"/>
                <a:ea typeface="Arial"/>
                <a:cs typeface="Arial"/>
                <a:sym typeface="Arial"/>
              </a:rPr>
              <a:t> is created for each </a:t>
            </a:r>
            <a:r>
              <a:rPr lang="en-US" b="1" i="0" dirty="0">
                <a:solidFill>
                  <a:srgbClr val="242424"/>
                </a:solidFill>
                <a:highlight>
                  <a:srgbClr val="FFFF00"/>
                </a:highlight>
                <a:latin typeface="Arial"/>
                <a:ea typeface="Arial"/>
                <a:cs typeface="Arial"/>
                <a:sym typeface="Arial"/>
              </a:rPr>
              <a:t>Unique Category</a:t>
            </a:r>
            <a:r>
              <a:rPr lang="en-US" b="0" i="0" dirty="0">
                <a:solidFill>
                  <a:srgbClr val="242424"/>
                </a:solidFill>
                <a:highlight>
                  <a:srgbClr val="FFFF00"/>
                </a:highlight>
                <a:latin typeface="Arial"/>
                <a:ea typeface="Arial"/>
                <a:cs typeface="Arial"/>
                <a:sym typeface="Arial"/>
              </a:rPr>
              <a:t> in the variable.</a:t>
            </a:r>
            <a:endParaRPr dirty="0">
              <a:highlight>
                <a:srgbClr val="FFFF00"/>
              </a:highlight>
            </a:endParaRPr>
          </a:p>
          <a:p>
            <a:pPr marL="91440" lvl="0" indent="-91440" algn="l" rtl="0">
              <a:lnSpc>
                <a:spcPct val="90000"/>
              </a:lnSpc>
              <a:spcBef>
                <a:spcPts val="1400"/>
              </a:spcBef>
              <a:spcAft>
                <a:spcPts val="0"/>
              </a:spcAft>
              <a:buSzPts val="2000"/>
              <a:buNone/>
            </a:pPr>
            <a:r>
              <a:rPr lang="en-US" b="0" i="0" dirty="0">
                <a:solidFill>
                  <a:srgbClr val="242424"/>
                </a:solidFill>
                <a:highlight>
                  <a:srgbClr val="FFFF00"/>
                </a:highlight>
                <a:latin typeface="Arial"/>
                <a:ea typeface="Arial"/>
                <a:cs typeface="Arial"/>
                <a:sym typeface="Arial"/>
              </a:rPr>
              <a:t>• If a category is present in a sample, the corresponding column is set to 1, and all other columns are set to 0.</a:t>
            </a:r>
            <a:endParaRPr dirty="0">
              <a:highlight>
                <a:srgbClr val="FFFF00"/>
              </a:highlight>
            </a:endParaRPr>
          </a:p>
          <a:p>
            <a:pPr marL="91440" lvl="0" indent="-127000" algn="l" rtl="0">
              <a:lnSpc>
                <a:spcPct val="90000"/>
              </a:lnSpc>
              <a:spcBef>
                <a:spcPts val="1400"/>
              </a:spcBef>
              <a:spcAft>
                <a:spcPts val="0"/>
              </a:spcAft>
              <a:buSzPts val="2000"/>
              <a:buChar char=" "/>
            </a:pPr>
            <a:r>
              <a:rPr lang="en-US" b="0" i="0" dirty="0">
                <a:solidFill>
                  <a:srgbClr val="242424"/>
                </a:solidFill>
                <a:latin typeface="Arial"/>
                <a:ea typeface="Arial"/>
                <a:cs typeface="Arial"/>
                <a:sym typeface="Arial"/>
              </a:rPr>
              <a:t>• For example, if a variable has three categories ‘A’, ‘B’ and ‘C’, three columns will be created and a sample with category ‘B’ will have the value [0,1,0].</a:t>
            </a:r>
            <a:endParaRPr dirty="0"/>
          </a:p>
          <a:p>
            <a:pPr marL="91440" lvl="0" indent="0" algn="l" rtl="0">
              <a:lnSpc>
                <a:spcPct val="90000"/>
              </a:lnSpc>
              <a:spcBef>
                <a:spcPts val="1400"/>
              </a:spcBef>
              <a:spcAft>
                <a:spcPts val="0"/>
              </a:spcAft>
              <a:buSzPts val="2000"/>
              <a:buNone/>
            </a:pPr>
            <a:endParaRP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51"/>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endParaRPr/>
          </a:p>
        </p:txBody>
      </p:sp>
      <p:sp>
        <p:nvSpPr>
          <p:cNvPr id="380" name="Google Shape;380;p51"/>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0" algn="l" rtl="0">
              <a:lnSpc>
                <a:spcPct val="90000"/>
              </a:lnSpc>
              <a:spcBef>
                <a:spcPts val="0"/>
              </a:spcBef>
              <a:spcAft>
                <a:spcPts val="0"/>
              </a:spcAft>
              <a:buSzPts val="2000"/>
              <a:buNone/>
            </a:pPr>
            <a:endParaRPr/>
          </a:p>
        </p:txBody>
      </p:sp>
      <p:pic>
        <p:nvPicPr>
          <p:cNvPr id="381" name="Google Shape;381;p51"/>
          <p:cNvPicPr preferRelativeResize="0"/>
          <p:nvPr/>
        </p:nvPicPr>
        <p:blipFill rotWithShape="1">
          <a:blip r:embed="rId3">
            <a:alphaModFix/>
          </a:blip>
          <a:srcRect/>
          <a:stretch/>
        </p:blipFill>
        <p:spPr>
          <a:xfrm>
            <a:off x="628650" y="2828595"/>
            <a:ext cx="7136021" cy="205925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2"/>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38363"/>
              </a:lnSpc>
              <a:spcBef>
                <a:spcPts val="0"/>
              </a:spcBef>
              <a:spcAft>
                <a:spcPts val="0"/>
              </a:spcAft>
              <a:buClr>
                <a:srgbClr val="0C0C0C"/>
              </a:buClr>
              <a:buSzPts val="4400"/>
              <a:buFont typeface="Twentieth Century"/>
              <a:buNone/>
            </a:pPr>
            <a:r>
              <a:rPr lang="en-US"/>
              <a:t>DUMMY ENCODING</a:t>
            </a:r>
            <a:br>
              <a:rPr lang="en-US" b="1" i="0">
                <a:solidFill>
                  <a:srgbClr val="242424"/>
                </a:solidFill>
                <a:latin typeface="Arial"/>
                <a:ea typeface="Arial"/>
                <a:cs typeface="Arial"/>
                <a:sym typeface="Arial"/>
              </a:rPr>
            </a:br>
            <a:br>
              <a:rPr lang="en-US"/>
            </a:br>
            <a:endParaRPr/>
          </a:p>
        </p:txBody>
      </p:sp>
      <p:sp>
        <p:nvSpPr>
          <p:cNvPr id="387" name="Google Shape;387;p52"/>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91440" algn="l" rtl="0">
              <a:lnSpc>
                <a:spcPct val="90000"/>
              </a:lnSpc>
              <a:spcBef>
                <a:spcPts val="0"/>
              </a:spcBef>
              <a:spcAft>
                <a:spcPts val="0"/>
              </a:spcAft>
              <a:buSzPts val="2000"/>
              <a:buNone/>
            </a:pPr>
            <a:r>
              <a:rPr lang="en-US" b="0" i="0" dirty="0">
                <a:solidFill>
                  <a:srgbClr val="242424"/>
                </a:solidFill>
                <a:latin typeface="Arial"/>
                <a:ea typeface="Arial"/>
                <a:cs typeface="Arial"/>
                <a:sym typeface="Arial"/>
              </a:rPr>
              <a:t>Dummy coding scheme is </a:t>
            </a:r>
            <a:r>
              <a:rPr lang="en-US" b="1" i="0" dirty="0">
                <a:solidFill>
                  <a:srgbClr val="242424"/>
                </a:solidFill>
                <a:latin typeface="Arial"/>
                <a:ea typeface="Arial"/>
                <a:cs typeface="Arial"/>
                <a:sym typeface="Arial"/>
              </a:rPr>
              <a:t>similar to one-hot encoding</a:t>
            </a:r>
            <a:r>
              <a:rPr lang="en-US" b="0" i="0" dirty="0">
                <a:solidFill>
                  <a:srgbClr val="242424"/>
                </a:solidFill>
                <a:latin typeface="Arial"/>
                <a:ea typeface="Arial"/>
                <a:cs typeface="Arial"/>
                <a:sym typeface="Arial"/>
              </a:rPr>
              <a:t>.</a:t>
            </a:r>
            <a:endParaRPr dirty="0"/>
          </a:p>
          <a:p>
            <a:pPr marL="91440" lvl="0" indent="-91440" algn="l" rtl="0">
              <a:lnSpc>
                <a:spcPct val="90000"/>
              </a:lnSpc>
              <a:spcBef>
                <a:spcPts val="1400"/>
              </a:spcBef>
              <a:spcAft>
                <a:spcPts val="0"/>
              </a:spcAft>
              <a:buSzPts val="2000"/>
              <a:buNone/>
            </a:pPr>
            <a:r>
              <a:rPr lang="en-US" b="0" i="0" dirty="0">
                <a:solidFill>
                  <a:srgbClr val="242424"/>
                </a:solidFill>
                <a:latin typeface="Arial"/>
                <a:ea typeface="Arial"/>
                <a:cs typeface="Arial"/>
                <a:sym typeface="Arial"/>
              </a:rPr>
              <a:t>• This categorical data encoding method transforms the categorical variable into a set of binary variables [0/1].</a:t>
            </a:r>
            <a:endParaRPr dirty="0"/>
          </a:p>
          <a:p>
            <a:pPr marL="91440" lvl="0" indent="-91440" algn="l" rtl="0">
              <a:lnSpc>
                <a:spcPct val="90000"/>
              </a:lnSpc>
              <a:spcBef>
                <a:spcPts val="1400"/>
              </a:spcBef>
              <a:spcAft>
                <a:spcPts val="0"/>
              </a:spcAft>
              <a:buSzPts val="2000"/>
              <a:buNone/>
            </a:pPr>
            <a:r>
              <a:rPr lang="en-US" b="0" i="0" dirty="0">
                <a:solidFill>
                  <a:srgbClr val="242424"/>
                </a:solidFill>
                <a:latin typeface="Arial"/>
                <a:ea typeface="Arial"/>
                <a:cs typeface="Arial"/>
                <a:sym typeface="Arial"/>
              </a:rPr>
              <a:t>• In the case of </a:t>
            </a:r>
            <a:r>
              <a:rPr lang="en-US" b="1" i="0" dirty="0">
                <a:solidFill>
                  <a:srgbClr val="242424"/>
                </a:solidFill>
                <a:latin typeface="Arial"/>
                <a:ea typeface="Arial"/>
                <a:cs typeface="Arial"/>
                <a:sym typeface="Arial"/>
              </a:rPr>
              <a:t>one-hot encoding</a:t>
            </a:r>
            <a:r>
              <a:rPr lang="en-US" b="0" i="0" dirty="0">
                <a:solidFill>
                  <a:srgbClr val="242424"/>
                </a:solidFill>
                <a:latin typeface="Arial"/>
                <a:ea typeface="Arial"/>
                <a:cs typeface="Arial"/>
                <a:sym typeface="Arial"/>
              </a:rPr>
              <a:t>, for N categories in a variable, it uses N binary variables.</a:t>
            </a:r>
            <a:endParaRPr dirty="0"/>
          </a:p>
          <a:p>
            <a:pPr marL="91440" lvl="0" indent="-127000" algn="l" rtl="0">
              <a:lnSpc>
                <a:spcPct val="90000"/>
              </a:lnSpc>
              <a:spcBef>
                <a:spcPts val="1400"/>
              </a:spcBef>
              <a:spcAft>
                <a:spcPts val="0"/>
              </a:spcAft>
              <a:buSzPts val="2000"/>
              <a:buChar char=" "/>
            </a:pPr>
            <a:r>
              <a:rPr lang="en-US" b="0" i="0" dirty="0">
                <a:solidFill>
                  <a:srgbClr val="242424"/>
                </a:solidFill>
                <a:latin typeface="Arial"/>
                <a:ea typeface="Arial"/>
                <a:cs typeface="Arial"/>
                <a:sym typeface="Arial"/>
              </a:rPr>
              <a:t>• </a:t>
            </a:r>
            <a:r>
              <a:rPr lang="en-US" b="0" i="0" dirty="0">
                <a:solidFill>
                  <a:srgbClr val="242424"/>
                </a:solidFill>
                <a:highlight>
                  <a:srgbClr val="FFFF00"/>
                </a:highlight>
                <a:latin typeface="Arial"/>
                <a:ea typeface="Arial"/>
                <a:cs typeface="Arial"/>
                <a:sym typeface="Arial"/>
              </a:rPr>
              <a:t>The dummy encoding is a small improvement over one-hot-encoding. Dummy encoding uses N-1 features to represent N labels/categories.</a:t>
            </a:r>
            <a:endParaRPr dirty="0">
              <a:highlight>
                <a:srgbClr val="FFFF00"/>
              </a:highlight>
            </a:endParaRPr>
          </a:p>
          <a:p>
            <a:pPr marL="91440" lvl="0" indent="0" algn="l" rtl="0">
              <a:lnSpc>
                <a:spcPct val="90000"/>
              </a:lnSpc>
              <a:spcBef>
                <a:spcPts val="1400"/>
              </a:spcBef>
              <a:spcAft>
                <a:spcPts val="0"/>
              </a:spcAft>
              <a:buSzPts val="2000"/>
              <a:buNone/>
            </a:pP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53"/>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endParaRPr/>
          </a:p>
        </p:txBody>
      </p:sp>
      <p:sp>
        <p:nvSpPr>
          <p:cNvPr id="394" name="Google Shape;394;p53"/>
          <p:cNvSpPr txBox="1">
            <a:spLocks noGrp="1"/>
          </p:cNvSpPr>
          <p:nvPr>
            <p:ph type="body" idx="1"/>
          </p:nvPr>
        </p:nvSpPr>
        <p:spPr>
          <a:xfrm>
            <a:off x="729834" y="3429000"/>
            <a:ext cx="7886700" cy="1733745"/>
          </a:xfrm>
          <a:prstGeom prst="rect">
            <a:avLst/>
          </a:prstGeom>
          <a:noFill/>
          <a:ln>
            <a:noFill/>
          </a:ln>
        </p:spPr>
        <p:txBody>
          <a:bodyPr spcFirstLastPara="1" wrap="square" lIns="45700" tIns="45700" rIns="45700" bIns="45700" anchor="t" anchorCtr="0">
            <a:normAutofit/>
          </a:bodyPr>
          <a:lstStyle/>
          <a:p>
            <a:pPr marL="91440" lvl="0" indent="-91440" algn="l" rtl="0">
              <a:lnSpc>
                <a:spcPct val="90000"/>
              </a:lnSpc>
              <a:spcBef>
                <a:spcPts val="0"/>
              </a:spcBef>
              <a:spcAft>
                <a:spcPts val="0"/>
              </a:spcAft>
              <a:buSzPts val="2000"/>
              <a:buNone/>
            </a:pPr>
            <a:r>
              <a:rPr lang="en-US" b="0" i="1">
                <a:solidFill>
                  <a:srgbClr val="242424"/>
                </a:solidFill>
                <a:latin typeface="Arial"/>
                <a:ea typeface="Arial"/>
                <a:cs typeface="Arial"/>
                <a:sym typeface="Arial"/>
              </a:rPr>
              <a:t>One-Hot Encoding vs Dummy Encoding:</a:t>
            </a:r>
            <a:endParaRPr/>
          </a:p>
          <a:p>
            <a:pPr marL="91440" lvl="0" indent="-91440" algn="l" rtl="0">
              <a:lnSpc>
                <a:spcPct val="90000"/>
              </a:lnSpc>
              <a:spcBef>
                <a:spcPts val="1400"/>
              </a:spcBef>
              <a:spcAft>
                <a:spcPts val="0"/>
              </a:spcAft>
              <a:buSzPts val="2000"/>
              <a:buNone/>
            </a:pPr>
            <a:r>
              <a:rPr lang="en-US" b="1" i="1">
                <a:solidFill>
                  <a:srgbClr val="242424"/>
                </a:solidFill>
                <a:latin typeface="Arial"/>
                <a:ea typeface="Arial"/>
                <a:cs typeface="Arial"/>
                <a:sym typeface="Arial"/>
              </a:rPr>
              <a:t>One-Hot Encoding</a:t>
            </a:r>
            <a:r>
              <a:rPr lang="en-US" b="0" i="1">
                <a:solidFill>
                  <a:srgbClr val="242424"/>
                </a:solidFill>
                <a:latin typeface="Arial"/>
                <a:ea typeface="Arial"/>
                <a:cs typeface="Arial"/>
                <a:sym typeface="Arial"/>
              </a:rPr>
              <a:t> — N categories in a variable, </a:t>
            </a:r>
            <a:r>
              <a:rPr lang="en-US" b="1" i="1">
                <a:solidFill>
                  <a:srgbClr val="242424"/>
                </a:solidFill>
                <a:latin typeface="Arial"/>
                <a:ea typeface="Arial"/>
                <a:cs typeface="Arial"/>
                <a:sym typeface="Arial"/>
              </a:rPr>
              <a:t>N</a:t>
            </a:r>
            <a:r>
              <a:rPr lang="en-US" b="0" i="1">
                <a:solidFill>
                  <a:srgbClr val="242424"/>
                </a:solidFill>
                <a:latin typeface="Arial"/>
                <a:ea typeface="Arial"/>
                <a:cs typeface="Arial"/>
                <a:sym typeface="Arial"/>
              </a:rPr>
              <a:t> binary variables.</a:t>
            </a:r>
            <a:endParaRPr/>
          </a:p>
          <a:p>
            <a:pPr marL="91440" lvl="0" indent="-127000" algn="l" rtl="0">
              <a:lnSpc>
                <a:spcPct val="90000"/>
              </a:lnSpc>
              <a:spcBef>
                <a:spcPts val="1400"/>
              </a:spcBef>
              <a:spcAft>
                <a:spcPts val="0"/>
              </a:spcAft>
              <a:buSzPts val="2000"/>
              <a:buChar char=" "/>
            </a:pPr>
            <a:r>
              <a:rPr lang="en-US" b="1" i="1">
                <a:solidFill>
                  <a:srgbClr val="242424"/>
                </a:solidFill>
                <a:latin typeface="Arial"/>
                <a:ea typeface="Arial"/>
                <a:cs typeface="Arial"/>
                <a:sym typeface="Arial"/>
              </a:rPr>
              <a:t>Dummy encoding</a:t>
            </a:r>
            <a:r>
              <a:rPr lang="en-US" b="0" i="1">
                <a:solidFill>
                  <a:srgbClr val="242424"/>
                </a:solidFill>
                <a:latin typeface="Arial"/>
                <a:ea typeface="Arial"/>
                <a:cs typeface="Arial"/>
                <a:sym typeface="Arial"/>
              </a:rPr>
              <a:t> — N categories in a variable, </a:t>
            </a:r>
            <a:r>
              <a:rPr lang="en-US" b="1" i="1">
                <a:solidFill>
                  <a:srgbClr val="242424"/>
                </a:solidFill>
                <a:latin typeface="Arial"/>
                <a:ea typeface="Arial"/>
                <a:cs typeface="Arial"/>
                <a:sym typeface="Arial"/>
              </a:rPr>
              <a:t>N-1</a:t>
            </a:r>
            <a:r>
              <a:rPr lang="en-US" b="0" i="1">
                <a:solidFill>
                  <a:srgbClr val="242424"/>
                </a:solidFill>
                <a:latin typeface="Arial"/>
                <a:ea typeface="Arial"/>
                <a:cs typeface="Arial"/>
                <a:sym typeface="Arial"/>
              </a:rPr>
              <a:t> binary variables.</a:t>
            </a:r>
            <a:endParaRPr/>
          </a:p>
          <a:p>
            <a:pPr marL="91440" lvl="0" indent="0" algn="l" rtl="0">
              <a:lnSpc>
                <a:spcPct val="90000"/>
              </a:lnSpc>
              <a:spcBef>
                <a:spcPts val="1400"/>
              </a:spcBef>
              <a:spcAft>
                <a:spcPts val="0"/>
              </a:spcAft>
              <a:buSzPts val="2000"/>
              <a:buNone/>
            </a:pPr>
            <a:endParaRPr/>
          </a:p>
        </p:txBody>
      </p:sp>
      <p:pic>
        <p:nvPicPr>
          <p:cNvPr id="395" name="Google Shape;395;p53"/>
          <p:cNvPicPr preferRelativeResize="0"/>
          <p:nvPr/>
        </p:nvPicPr>
        <p:blipFill rotWithShape="1">
          <a:blip r:embed="rId3">
            <a:alphaModFix/>
          </a:blip>
          <a:srcRect/>
          <a:stretch/>
        </p:blipFill>
        <p:spPr>
          <a:xfrm>
            <a:off x="924939" y="888168"/>
            <a:ext cx="6180398" cy="1774657"/>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54"/>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242424"/>
              </a:buClr>
              <a:buSzPts val="4400"/>
              <a:buFont typeface="Arial"/>
              <a:buNone/>
            </a:pPr>
            <a:r>
              <a:rPr lang="en-US" b="1" i="0">
                <a:solidFill>
                  <a:srgbClr val="242424"/>
                </a:solidFill>
                <a:latin typeface="Arial"/>
                <a:ea typeface="Arial"/>
                <a:cs typeface="Arial"/>
                <a:sym typeface="Arial"/>
              </a:rPr>
              <a:t>LABEL ENCODING:</a:t>
            </a:r>
            <a:br>
              <a:rPr lang="en-US" b="1" i="0">
                <a:solidFill>
                  <a:srgbClr val="242424"/>
                </a:solidFill>
                <a:latin typeface="Arial"/>
                <a:ea typeface="Arial"/>
                <a:cs typeface="Arial"/>
                <a:sym typeface="Arial"/>
              </a:rPr>
            </a:br>
            <a:endParaRPr/>
          </a:p>
        </p:txBody>
      </p:sp>
      <p:sp>
        <p:nvSpPr>
          <p:cNvPr id="401" name="Google Shape;401;p54"/>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Font typeface="Arial"/>
              <a:buChar char="•"/>
            </a:pPr>
            <a:r>
              <a:rPr lang="en-US" b="0" i="0" dirty="0">
                <a:solidFill>
                  <a:srgbClr val="242424"/>
                </a:solidFill>
                <a:highlight>
                  <a:srgbClr val="FFFF00"/>
                </a:highlight>
                <a:latin typeface="Arial"/>
                <a:ea typeface="Arial"/>
                <a:cs typeface="Arial"/>
                <a:sym typeface="Arial"/>
              </a:rPr>
              <a:t>Each unique category is assigned a </a:t>
            </a:r>
            <a:r>
              <a:rPr lang="en-US" b="1" i="0" dirty="0">
                <a:solidFill>
                  <a:srgbClr val="242424"/>
                </a:solidFill>
                <a:highlight>
                  <a:srgbClr val="FFFF00"/>
                </a:highlight>
                <a:latin typeface="Arial"/>
                <a:ea typeface="Arial"/>
                <a:cs typeface="Arial"/>
                <a:sym typeface="Arial"/>
              </a:rPr>
              <a:t>Unique Integer</a:t>
            </a:r>
            <a:r>
              <a:rPr lang="en-US" b="0" i="0" dirty="0">
                <a:solidFill>
                  <a:srgbClr val="242424"/>
                </a:solidFill>
                <a:highlight>
                  <a:srgbClr val="FFFF00"/>
                </a:highlight>
                <a:latin typeface="Arial"/>
                <a:ea typeface="Arial"/>
                <a:cs typeface="Arial"/>
                <a:sym typeface="Arial"/>
              </a:rPr>
              <a:t> value.</a:t>
            </a:r>
            <a:endParaRPr dirty="0">
              <a:highlight>
                <a:srgbClr val="FFFF00"/>
              </a:highlight>
            </a:endParaRPr>
          </a:p>
          <a:p>
            <a:pPr marL="91440" lvl="0" indent="-127000" algn="l" rtl="0">
              <a:lnSpc>
                <a:spcPct val="90000"/>
              </a:lnSpc>
              <a:spcBef>
                <a:spcPts val="1400"/>
              </a:spcBef>
              <a:spcAft>
                <a:spcPts val="0"/>
              </a:spcAft>
              <a:buSzPts val="2000"/>
              <a:buFont typeface="Arial"/>
              <a:buChar char="•"/>
            </a:pPr>
            <a:r>
              <a:rPr lang="en-US" b="0" i="0" dirty="0">
                <a:solidFill>
                  <a:srgbClr val="242424"/>
                </a:solidFill>
                <a:highlight>
                  <a:srgbClr val="FFFF00"/>
                </a:highlight>
                <a:latin typeface="Arial"/>
                <a:ea typeface="Arial"/>
                <a:cs typeface="Arial"/>
                <a:sym typeface="Arial"/>
              </a:rPr>
              <a:t>This is a simpler encoding method, but it has a </a:t>
            </a:r>
            <a:r>
              <a:rPr lang="en-US" b="1" i="0" dirty="0">
                <a:solidFill>
                  <a:srgbClr val="242424"/>
                </a:solidFill>
                <a:highlight>
                  <a:srgbClr val="FFFF00"/>
                </a:highlight>
                <a:latin typeface="Arial"/>
                <a:ea typeface="Arial"/>
                <a:cs typeface="Arial"/>
                <a:sym typeface="Arial"/>
              </a:rPr>
              <a:t>Drawback</a:t>
            </a:r>
            <a:r>
              <a:rPr lang="en-US" b="0" i="0" dirty="0">
                <a:solidFill>
                  <a:srgbClr val="242424"/>
                </a:solidFill>
                <a:highlight>
                  <a:srgbClr val="FFFF00"/>
                </a:highlight>
                <a:latin typeface="Arial"/>
                <a:ea typeface="Arial"/>
                <a:cs typeface="Arial"/>
                <a:sym typeface="Arial"/>
              </a:rPr>
              <a:t> in that the assigned integers may be </a:t>
            </a:r>
            <a:r>
              <a:rPr lang="en-US" b="1" i="0" dirty="0">
                <a:solidFill>
                  <a:srgbClr val="242424"/>
                </a:solidFill>
                <a:highlight>
                  <a:srgbClr val="FFFF00"/>
                </a:highlight>
                <a:latin typeface="Arial"/>
                <a:ea typeface="Arial"/>
                <a:cs typeface="Arial"/>
                <a:sym typeface="Arial"/>
              </a:rPr>
              <a:t>misinterpreted</a:t>
            </a:r>
            <a:r>
              <a:rPr lang="en-US" b="0" i="0" dirty="0">
                <a:solidFill>
                  <a:srgbClr val="242424"/>
                </a:solidFill>
                <a:highlight>
                  <a:srgbClr val="FFFF00"/>
                </a:highlight>
                <a:latin typeface="Arial"/>
                <a:ea typeface="Arial"/>
                <a:cs typeface="Arial"/>
                <a:sym typeface="Arial"/>
              </a:rPr>
              <a:t> by the machine learning algorithm </a:t>
            </a:r>
            <a:r>
              <a:rPr lang="en-US" b="1" i="0" dirty="0">
                <a:solidFill>
                  <a:srgbClr val="242424"/>
                </a:solidFill>
                <a:highlight>
                  <a:srgbClr val="FFFF00"/>
                </a:highlight>
                <a:latin typeface="Arial"/>
                <a:ea typeface="Arial"/>
                <a:cs typeface="Arial"/>
                <a:sym typeface="Arial"/>
              </a:rPr>
              <a:t>as having an Ordered Relationship</a:t>
            </a:r>
            <a:r>
              <a:rPr lang="en-US" b="0" i="0" dirty="0">
                <a:solidFill>
                  <a:srgbClr val="242424"/>
                </a:solidFill>
                <a:highlight>
                  <a:srgbClr val="FFFF00"/>
                </a:highlight>
                <a:latin typeface="Arial"/>
                <a:ea typeface="Arial"/>
                <a:cs typeface="Arial"/>
                <a:sym typeface="Arial"/>
              </a:rPr>
              <a:t> when in fact they </a:t>
            </a:r>
            <a:r>
              <a:rPr lang="en-US" b="1" i="0" dirty="0">
                <a:solidFill>
                  <a:srgbClr val="242424"/>
                </a:solidFill>
                <a:highlight>
                  <a:srgbClr val="FFFF00"/>
                </a:highlight>
                <a:latin typeface="Arial"/>
                <a:ea typeface="Arial"/>
                <a:cs typeface="Arial"/>
                <a:sym typeface="Arial"/>
              </a:rPr>
              <a:t>do not</a:t>
            </a:r>
            <a:r>
              <a:rPr lang="en-US" b="0" i="0" dirty="0">
                <a:solidFill>
                  <a:srgbClr val="242424"/>
                </a:solidFill>
                <a:highlight>
                  <a:srgbClr val="FFFF00"/>
                </a:highlight>
                <a:latin typeface="Arial"/>
                <a:ea typeface="Arial"/>
                <a:cs typeface="Arial"/>
                <a:sym typeface="Arial"/>
              </a:rPr>
              <a:t>.</a:t>
            </a:r>
            <a:endParaRPr dirty="0">
              <a:highlight>
                <a:srgbClr val="FFFF00"/>
              </a:highlight>
            </a:endParaRPr>
          </a:p>
          <a:p>
            <a:pPr marL="91440" lvl="0" indent="-91440" algn="l" rtl="0">
              <a:lnSpc>
                <a:spcPct val="90000"/>
              </a:lnSpc>
              <a:spcBef>
                <a:spcPts val="1400"/>
              </a:spcBef>
              <a:spcAft>
                <a:spcPts val="0"/>
              </a:spcAft>
              <a:buSzPts val="2000"/>
              <a:buNone/>
            </a:pPr>
            <a:br>
              <a:rPr lang="en-US" dirty="0"/>
            </a:br>
            <a:endParaRPr dirty="0"/>
          </a:p>
        </p:txBody>
      </p:sp>
      <p:pic>
        <p:nvPicPr>
          <p:cNvPr id="402" name="Google Shape;402;p54"/>
          <p:cNvPicPr preferRelativeResize="0"/>
          <p:nvPr/>
        </p:nvPicPr>
        <p:blipFill rotWithShape="1">
          <a:blip r:embed="rId3">
            <a:alphaModFix/>
          </a:blip>
          <a:srcRect/>
          <a:stretch/>
        </p:blipFill>
        <p:spPr>
          <a:xfrm>
            <a:off x="768096" y="4067655"/>
            <a:ext cx="6461463" cy="154152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55"/>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242424"/>
              </a:buClr>
              <a:buSzPts val="4400"/>
              <a:buFont typeface="Arial"/>
              <a:buNone/>
            </a:pPr>
            <a:r>
              <a:rPr lang="en-US" b="1" i="0">
                <a:solidFill>
                  <a:srgbClr val="242424"/>
                </a:solidFill>
                <a:latin typeface="Arial"/>
                <a:ea typeface="Arial"/>
                <a:cs typeface="Arial"/>
                <a:sym typeface="Arial"/>
              </a:rPr>
              <a:t>ORDINAL ENCODING:</a:t>
            </a:r>
            <a:br>
              <a:rPr lang="en-US" b="1" i="0">
                <a:solidFill>
                  <a:srgbClr val="242424"/>
                </a:solidFill>
                <a:latin typeface="Arial"/>
                <a:ea typeface="Arial"/>
                <a:cs typeface="Arial"/>
                <a:sym typeface="Arial"/>
              </a:rPr>
            </a:br>
            <a:endParaRPr/>
          </a:p>
        </p:txBody>
      </p:sp>
      <p:sp>
        <p:nvSpPr>
          <p:cNvPr id="408" name="Google Shape;408;p55"/>
          <p:cNvSpPr txBox="1">
            <a:spLocks noGrp="1"/>
          </p:cNvSpPr>
          <p:nvPr>
            <p:ph type="body" idx="1"/>
          </p:nvPr>
        </p:nvSpPr>
        <p:spPr>
          <a:xfrm>
            <a:off x="392555" y="1797248"/>
            <a:ext cx="7886700" cy="3263504"/>
          </a:xfrm>
          <a:prstGeom prst="rect">
            <a:avLst/>
          </a:prstGeom>
          <a:noFill/>
          <a:ln>
            <a:noFill/>
          </a:ln>
        </p:spPr>
        <p:txBody>
          <a:bodyPr spcFirstLastPara="1" wrap="square" lIns="45700" tIns="45700" rIns="45700" bIns="45700" anchor="t" anchorCtr="0">
            <a:normAutofit/>
          </a:bodyPr>
          <a:lstStyle/>
          <a:p>
            <a:pPr marL="91440" lvl="0" indent="-91440" algn="l" rtl="0">
              <a:lnSpc>
                <a:spcPct val="90000"/>
              </a:lnSpc>
              <a:spcBef>
                <a:spcPts val="0"/>
              </a:spcBef>
              <a:spcAft>
                <a:spcPts val="0"/>
              </a:spcAft>
              <a:buSzPts val="2000"/>
              <a:buNone/>
            </a:pPr>
            <a:r>
              <a:rPr lang="en-US" b="0" i="0" dirty="0">
                <a:solidFill>
                  <a:srgbClr val="242424"/>
                </a:solidFill>
                <a:highlight>
                  <a:srgbClr val="FFFF00"/>
                </a:highlight>
                <a:latin typeface="Arial"/>
                <a:ea typeface="Arial"/>
                <a:cs typeface="Arial"/>
                <a:sym typeface="Arial"/>
              </a:rPr>
              <a:t>Ordinal Encoding is used when the </a:t>
            </a:r>
            <a:r>
              <a:rPr lang="en-US" b="1" i="0" dirty="0">
                <a:solidFill>
                  <a:srgbClr val="242424"/>
                </a:solidFill>
                <a:highlight>
                  <a:srgbClr val="FFFF00"/>
                </a:highlight>
                <a:latin typeface="Arial"/>
                <a:ea typeface="Arial"/>
                <a:cs typeface="Arial"/>
                <a:sym typeface="Arial"/>
              </a:rPr>
              <a:t>categories</a:t>
            </a:r>
            <a:r>
              <a:rPr lang="en-US" b="0" i="0" dirty="0">
                <a:solidFill>
                  <a:srgbClr val="242424"/>
                </a:solidFill>
                <a:highlight>
                  <a:srgbClr val="FFFF00"/>
                </a:highlight>
                <a:latin typeface="Arial"/>
                <a:ea typeface="Arial"/>
                <a:cs typeface="Arial"/>
                <a:sym typeface="Arial"/>
              </a:rPr>
              <a:t> in a variable have a </a:t>
            </a:r>
            <a:r>
              <a:rPr lang="en-US" b="1" i="0" dirty="0">
                <a:solidFill>
                  <a:srgbClr val="242424"/>
                </a:solidFill>
                <a:highlight>
                  <a:srgbClr val="FFFF00"/>
                </a:highlight>
                <a:latin typeface="Arial"/>
                <a:ea typeface="Arial"/>
                <a:cs typeface="Arial"/>
                <a:sym typeface="Arial"/>
              </a:rPr>
              <a:t>Natural Ordering</a:t>
            </a:r>
            <a:r>
              <a:rPr lang="en-US" b="0" i="0" dirty="0">
                <a:solidFill>
                  <a:srgbClr val="242424"/>
                </a:solidFill>
                <a:highlight>
                  <a:srgbClr val="FFFF00"/>
                </a:highlight>
                <a:latin typeface="Arial"/>
                <a:ea typeface="Arial"/>
                <a:cs typeface="Arial"/>
                <a:sym typeface="Arial"/>
              </a:rPr>
              <a:t>.</a:t>
            </a:r>
            <a:endParaRPr dirty="0">
              <a:highlight>
                <a:srgbClr val="FFFF00"/>
              </a:highlight>
            </a:endParaRPr>
          </a:p>
          <a:p>
            <a:pPr marL="91440" lvl="0" indent="-91440" algn="l" rtl="0">
              <a:lnSpc>
                <a:spcPct val="90000"/>
              </a:lnSpc>
              <a:spcBef>
                <a:spcPts val="1400"/>
              </a:spcBef>
              <a:spcAft>
                <a:spcPts val="0"/>
              </a:spcAft>
              <a:buSzPts val="2000"/>
              <a:buNone/>
            </a:pPr>
            <a:r>
              <a:rPr lang="en-US" b="0" i="0" dirty="0">
                <a:solidFill>
                  <a:srgbClr val="242424"/>
                </a:solidFill>
                <a:latin typeface="Arial"/>
                <a:ea typeface="Arial"/>
                <a:cs typeface="Arial"/>
                <a:sym typeface="Arial"/>
              </a:rPr>
              <a:t>• In this method, the </a:t>
            </a:r>
            <a:r>
              <a:rPr lang="en-US" b="1" i="0" dirty="0">
                <a:solidFill>
                  <a:srgbClr val="242424"/>
                </a:solidFill>
                <a:latin typeface="Arial"/>
                <a:ea typeface="Arial"/>
                <a:cs typeface="Arial"/>
                <a:sym typeface="Arial"/>
              </a:rPr>
              <a:t>categories are assigned a numerical value</a:t>
            </a:r>
            <a:r>
              <a:rPr lang="en-US" b="0" i="0" dirty="0">
                <a:solidFill>
                  <a:srgbClr val="242424"/>
                </a:solidFill>
                <a:latin typeface="Arial"/>
                <a:ea typeface="Arial"/>
                <a:cs typeface="Arial"/>
                <a:sym typeface="Arial"/>
              </a:rPr>
              <a:t> based on their order, such as 1, 2, 3, etc.</a:t>
            </a:r>
            <a:endParaRPr dirty="0"/>
          </a:p>
          <a:p>
            <a:pPr marL="91440" lvl="0" indent="-127000" algn="l" rtl="0">
              <a:lnSpc>
                <a:spcPct val="90000"/>
              </a:lnSpc>
              <a:spcBef>
                <a:spcPts val="1400"/>
              </a:spcBef>
              <a:spcAft>
                <a:spcPts val="0"/>
              </a:spcAft>
              <a:buSzPts val="2000"/>
              <a:buChar char=" "/>
            </a:pPr>
            <a:r>
              <a:rPr lang="en-US" b="0" i="0" dirty="0">
                <a:solidFill>
                  <a:srgbClr val="242424"/>
                </a:solidFill>
                <a:latin typeface="Arial"/>
                <a:ea typeface="Arial"/>
                <a:cs typeface="Arial"/>
                <a:sym typeface="Arial"/>
              </a:rPr>
              <a:t>For example, if a variable has categories </a:t>
            </a:r>
            <a:r>
              <a:rPr lang="en-US" b="1" i="0" dirty="0">
                <a:solidFill>
                  <a:srgbClr val="242424"/>
                </a:solidFill>
                <a:latin typeface="Arial"/>
                <a:ea typeface="Arial"/>
                <a:cs typeface="Arial"/>
                <a:sym typeface="Arial"/>
              </a:rPr>
              <a:t>‘Low’, ‘Medium’ and ‘High’</a:t>
            </a:r>
            <a:r>
              <a:rPr lang="en-US" b="0" i="0" dirty="0">
                <a:solidFill>
                  <a:srgbClr val="242424"/>
                </a:solidFill>
                <a:latin typeface="Arial"/>
                <a:ea typeface="Arial"/>
                <a:cs typeface="Arial"/>
                <a:sym typeface="Arial"/>
              </a:rPr>
              <a:t>, they can be assigned the values </a:t>
            </a:r>
            <a:r>
              <a:rPr lang="en-US" b="1" i="0" dirty="0">
                <a:solidFill>
                  <a:srgbClr val="242424"/>
                </a:solidFill>
                <a:latin typeface="Arial"/>
                <a:ea typeface="Arial"/>
                <a:cs typeface="Arial"/>
                <a:sym typeface="Arial"/>
              </a:rPr>
              <a:t>1, 2, and 3</a:t>
            </a:r>
            <a:r>
              <a:rPr lang="en-US" b="0" i="0" dirty="0">
                <a:solidFill>
                  <a:srgbClr val="242424"/>
                </a:solidFill>
                <a:latin typeface="Arial"/>
                <a:ea typeface="Arial"/>
                <a:cs typeface="Arial"/>
                <a:sym typeface="Arial"/>
              </a:rPr>
              <a:t>, respectively.</a:t>
            </a:r>
            <a:endParaRPr dirty="0"/>
          </a:p>
          <a:p>
            <a:pPr marL="91440" lvl="0" indent="0" algn="l" rtl="0">
              <a:lnSpc>
                <a:spcPct val="90000"/>
              </a:lnSpc>
              <a:spcBef>
                <a:spcPts val="1400"/>
              </a:spcBef>
              <a:spcAft>
                <a:spcPts val="0"/>
              </a:spcAft>
              <a:buSzPts val="2000"/>
              <a:buNone/>
            </a:pPr>
            <a:endParaRPr dirty="0"/>
          </a:p>
        </p:txBody>
      </p:sp>
      <p:pic>
        <p:nvPicPr>
          <p:cNvPr id="409" name="Google Shape;409;p55"/>
          <p:cNvPicPr preferRelativeResize="0"/>
          <p:nvPr/>
        </p:nvPicPr>
        <p:blipFill rotWithShape="1">
          <a:blip r:embed="rId3">
            <a:alphaModFix/>
          </a:blip>
          <a:srcRect/>
          <a:stretch/>
        </p:blipFill>
        <p:spPr>
          <a:xfrm>
            <a:off x="2164205" y="3967007"/>
            <a:ext cx="4343400" cy="19145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56"/>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242424"/>
              </a:buClr>
              <a:buSzPts val="4400"/>
              <a:buFont typeface="Arial"/>
              <a:buNone/>
            </a:pPr>
            <a:r>
              <a:rPr lang="en-US" b="1" i="0">
                <a:solidFill>
                  <a:srgbClr val="242424"/>
                </a:solidFill>
                <a:latin typeface="Arial"/>
                <a:ea typeface="Arial"/>
                <a:cs typeface="Arial"/>
                <a:sym typeface="Arial"/>
              </a:rPr>
              <a:t>BINARY ENCODING:</a:t>
            </a:r>
            <a:br>
              <a:rPr lang="en-US" b="1" i="0">
                <a:solidFill>
                  <a:srgbClr val="242424"/>
                </a:solidFill>
                <a:latin typeface="Arial"/>
                <a:ea typeface="Arial"/>
                <a:cs typeface="Arial"/>
                <a:sym typeface="Arial"/>
              </a:rPr>
            </a:br>
            <a:endParaRPr/>
          </a:p>
        </p:txBody>
      </p:sp>
      <p:sp>
        <p:nvSpPr>
          <p:cNvPr id="415" name="Google Shape;415;p56"/>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91440" algn="l" rtl="0">
              <a:lnSpc>
                <a:spcPct val="90000"/>
              </a:lnSpc>
              <a:spcBef>
                <a:spcPts val="0"/>
              </a:spcBef>
              <a:spcAft>
                <a:spcPts val="0"/>
              </a:spcAft>
              <a:buSzPts val="2000"/>
              <a:buNone/>
            </a:pPr>
            <a:r>
              <a:rPr lang="en-US" b="0" i="0" dirty="0">
                <a:solidFill>
                  <a:srgbClr val="242424"/>
                </a:solidFill>
                <a:highlight>
                  <a:srgbClr val="FFFF00"/>
                </a:highlight>
                <a:latin typeface="Arial"/>
                <a:ea typeface="Arial"/>
                <a:cs typeface="Arial"/>
                <a:sym typeface="Arial"/>
              </a:rPr>
              <a:t>Binary Encoding is </a:t>
            </a:r>
            <a:r>
              <a:rPr lang="en-US" b="1" i="0" dirty="0">
                <a:solidFill>
                  <a:srgbClr val="242424"/>
                </a:solidFill>
                <a:highlight>
                  <a:srgbClr val="FFFF00"/>
                </a:highlight>
                <a:latin typeface="Arial"/>
                <a:ea typeface="Arial"/>
                <a:cs typeface="Arial"/>
                <a:sym typeface="Arial"/>
              </a:rPr>
              <a:t>similar</a:t>
            </a:r>
            <a:r>
              <a:rPr lang="en-US" b="0" i="0" dirty="0">
                <a:solidFill>
                  <a:srgbClr val="242424"/>
                </a:solidFill>
                <a:highlight>
                  <a:srgbClr val="FFFF00"/>
                </a:highlight>
                <a:latin typeface="Arial"/>
                <a:ea typeface="Arial"/>
                <a:cs typeface="Arial"/>
                <a:sym typeface="Arial"/>
              </a:rPr>
              <a:t> to </a:t>
            </a:r>
            <a:r>
              <a:rPr lang="en-US" b="1" i="0" dirty="0">
                <a:solidFill>
                  <a:srgbClr val="242424"/>
                </a:solidFill>
                <a:highlight>
                  <a:srgbClr val="FFFF00"/>
                </a:highlight>
                <a:latin typeface="Arial"/>
                <a:ea typeface="Arial"/>
                <a:cs typeface="Arial"/>
                <a:sym typeface="Arial"/>
              </a:rPr>
              <a:t>One-Hot Encoding</a:t>
            </a:r>
            <a:r>
              <a:rPr lang="en-US" b="0" i="0" dirty="0">
                <a:solidFill>
                  <a:srgbClr val="242424"/>
                </a:solidFill>
                <a:highlight>
                  <a:srgbClr val="FFFF00"/>
                </a:highlight>
                <a:latin typeface="Arial"/>
                <a:ea typeface="Arial"/>
                <a:cs typeface="Arial"/>
                <a:sym typeface="Arial"/>
              </a:rPr>
              <a:t>, but </a:t>
            </a:r>
            <a:r>
              <a:rPr lang="en-US" b="1" i="0" dirty="0">
                <a:solidFill>
                  <a:srgbClr val="242424"/>
                </a:solidFill>
                <a:highlight>
                  <a:srgbClr val="FFFF00"/>
                </a:highlight>
                <a:latin typeface="Arial"/>
                <a:ea typeface="Arial"/>
                <a:cs typeface="Arial"/>
                <a:sym typeface="Arial"/>
              </a:rPr>
              <a:t>instead of creating a separate column</a:t>
            </a:r>
            <a:r>
              <a:rPr lang="en-US" b="0" i="0" dirty="0">
                <a:solidFill>
                  <a:srgbClr val="242424"/>
                </a:solidFill>
                <a:highlight>
                  <a:srgbClr val="FFFF00"/>
                </a:highlight>
                <a:latin typeface="Arial"/>
                <a:ea typeface="Arial"/>
                <a:cs typeface="Arial"/>
                <a:sym typeface="Arial"/>
              </a:rPr>
              <a:t> for each category, the categories are represented as </a:t>
            </a:r>
            <a:r>
              <a:rPr lang="en-US" b="1" i="0" dirty="0">
                <a:solidFill>
                  <a:srgbClr val="242424"/>
                </a:solidFill>
                <a:highlight>
                  <a:srgbClr val="FFFF00"/>
                </a:highlight>
                <a:latin typeface="Arial"/>
                <a:ea typeface="Arial"/>
                <a:cs typeface="Arial"/>
                <a:sym typeface="Arial"/>
              </a:rPr>
              <a:t>binary digits</a:t>
            </a:r>
            <a:r>
              <a:rPr lang="en-US" b="0" i="0" dirty="0">
                <a:solidFill>
                  <a:srgbClr val="242424"/>
                </a:solidFill>
                <a:highlight>
                  <a:srgbClr val="FFFF00"/>
                </a:highlight>
                <a:latin typeface="Arial"/>
                <a:ea typeface="Arial"/>
                <a:cs typeface="Arial"/>
                <a:sym typeface="Arial"/>
              </a:rPr>
              <a:t>.</a:t>
            </a:r>
            <a:endParaRPr dirty="0">
              <a:highlight>
                <a:srgbClr val="FFFF00"/>
              </a:highlight>
            </a:endParaRPr>
          </a:p>
          <a:p>
            <a:pPr marL="91440" lvl="0" indent="-127000" algn="l" rtl="0">
              <a:lnSpc>
                <a:spcPct val="90000"/>
              </a:lnSpc>
              <a:spcBef>
                <a:spcPts val="1400"/>
              </a:spcBef>
              <a:spcAft>
                <a:spcPts val="0"/>
              </a:spcAft>
              <a:buSzPts val="2000"/>
              <a:buFont typeface="Arial"/>
              <a:buChar char="•"/>
            </a:pPr>
            <a:r>
              <a:rPr lang="en-US" b="0" i="0" dirty="0">
                <a:solidFill>
                  <a:srgbClr val="242424"/>
                </a:solidFill>
                <a:latin typeface="Arial"/>
                <a:ea typeface="Arial"/>
                <a:cs typeface="Arial"/>
                <a:sym typeface="Arial"/>
              </a:rPr>
              <a:t>For example, if a variable has four categories ‘A’, ‘B’, ‘C’ and ‘D’, they can be represented as 0001, 0010, 0100 and 1000, respectively.</a:t>
            </a:r>
            <a:endParaRPr dirty="0"/>
          </a:p>
          <a:p>
            <a:pPr marL="91440" lvl="0" indent="0" algn="l" rtl="0">
              <a:lnSpc>
                <a:spcPct val="90000"/>
              </a:lnSpc>
              <a:spcBef>
                <a:spcPts val="1400"/>
              </a:spcBef>
              <a:spcAft>
                <a:spcPts val="0"/>
              </a:spcAft>
              <a:buSzPts val="2000"/>
              <a:buNone/>
            </a:pPr>
            <a:endParaRPr dirty="0"/>
          </a:p>
        </p:txBody>
      </p:sp>
      <p:pic>
        <p:nvPicPr>
          <p:cNvPr id="416" name="Google Shape;416;p56"/>
          <p:cNvPicPr preferRelativeResize="0"/>
          <p:nvPr/>
        </p:nvPicPr>
        <p:blipFill rotWithShape="1">
          <a:blip r:embed="rId3">
            <a:alphaModFix/>
          </a:blip>
          <a:srcRect/>
          <a:stretch/>
        </p:blipFill>
        <p:spPr>
          <a:xfrm>
            <a:off x="768096" y="4297680"/>
            <a:ext cx="5415899" cy="1214709"/>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57"/>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38363"/>
              </a:lnSpc>
              <a:spcBef>
                <a:spcPts val="0"/>
              </a:spcBef>
              <a:spcAft>
                <a:spcPts val="0"/>
              </a:spcAft>
              <a:buClr>
                <a:srgbClr val="242424"/>
              </a:buClr>
              <a:buSzPts val="4400"/>
              <a:buFont typeface="Arial"/>
              <a:buNone/>
            </a:pPr>
            <a:r>
              <a:rPr lang="en-US" b="1" i="0">
                <a:solidFill>
                  <a:srgbClr val="242424"/>
                </a:solidFill>
                <a:latin typeface="Arial"/>
                <a:ea typeface="Arial"/>
                <a:cs typeface="Arial"/>
                <a:sym typeface="Arial"/>
              </a:rPr>
              <a:t>COUNT ENCODING:</a:t>
            </a:r>
            <a:br>
              <a:rPr lang="en-US" b="1" i="0">
                <a:solidFill>
                  <a:srgbClr val="242424"/>
                </a:solidFill>
                <a:latin typeface="Arial"/>
                <a:ea typeface="Arial"/>
                <a:cs typeface="Arial"/>
                <a:sym typeface="Arial"/>
              </a:rPr>
            </a:br>
            <a:br>
              <a:rPr lang="en-US"/>
            </a:br>
            <a:endParaRPr/>
          </a:p>
        </p:txBody>
      </p:sp>
      <p:sp>
        <p:nvSpPr>
          <p:cNvPr id="422" name="Google Shape;422;p57"/>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91440" algn="l" rtl="0">
              <a:lnSpc>
                <a:spcPct val="90000"/>
              </a:lnSpc>
              <a:spcBef>
                <a:spcPts val="0"/>
              </a:spcBef>
              <a:spcAft>
                <a:spcPts val="0"/>
              </a:spcAft>
              <a:buSzPts val="2000"/>
              <a:buNone/>
            </a:pPr>
            <a:r>
              <a:rPr lang="en-US" b="0" i="0" dirty="0">
                <a:solidFill>
                  <a:srgbClr val="242424"/>
                </a:solidFill>
                <a:latin typeface="Arial"/>
                <a:ea typeface="Arial"/>
                <a:cs typeface="Arial"/>
                <a:sym typeface="Arial"/>
              </a:rPr>
              <a:t>• </a:t>
            </a:r>
            <a:r>
              <a:rPr lang="en-US" b="0" i="0" dirty="0">
                <a:solidFill>
                  <a:srgbClr val="242424"/>
                </a:solidFill>
                <a:highlight>
                  <a:srgbClr val="FFFF00"/>
                </a:highlight>
                <a:latin typeface="Arial"/>
                <a:ea typeface="Arial"/>
                <a:cs typeface="Arial"/>
                <a:sym typeface="Arial"/>
              </a:rPr>
              <a:t>Count Encoding is a method for encoding categorical variables by </a:t>
            </a:r>
            <a:r>
              <a:rPr lang="en-US" b="1" i="0" dirty="0">
                <a:solidFill>
                  <a:srgbClr val="242424"/>
                </a:solidFill>
                <a:highlight>
                  <a:srgbClr val="FFFF00"/>
                </a:highlight>
                <a:latin typeface="Arial"/>
                <a:ea typeface="Arial"/>
                <a:cs typeface="Arial"/>
                <a:sym typeface="Arial"/>
              </a:rPr>
              <a:t>counting the number of times a category appears</a:t>
            </a:r>
            <a:r>
              <a:rPr lang="en-US" b="0" i="0" dirty="0">
                <a:solidFill>
                  <a:srgbClr val="242424"/>
                </a:solidFill>
                <a:highlight>
                  <a:srgbClr val="FFFF00"/>
                </a:highlight>
                <a:latin typeface="Arial"/>
                <a:ea typeface="Arial"/>
                <a:cs typeface="Arial"/>
                <a:sym typeface="Arial"/>
              </a:rPr>
              <a:t> in the dataset.</a:t>
            </a:r>
            <a:endParaRPr dirty="0">
              <a:highlight>
                <a:srgbClr val="FFFF00"/>
              </a:highlight>
            </a:endParaRPr>
          </a:p>
          <a:p>
            <a:pPr marL="91440" lvl="0" indent="-127000" algn="l" rtl="0">
              <a:lnSpc>
                <a:spcPct val="90000"/>
              </a:lnSpc>
              <a:spcBef>
                <a:spcPts val="1400"/>
              </a:spcBef>
              <a:spcAft>
                <a:spcPts val="0"/>
              </a:spcAft>
              <a:buSzPts val="2000"/>
              <a:buFont typeface="Arial"/>
              <a:buChar char="•"/>
            </a:pPr>
            <a:r>
              <a:rPr lang="en-US" b="0" i="0" dirty="0">
                <a:solidFill>
                  <a:srgbClr val="242424"/>
                </a:solidFill>
                <a:latin typeface="Arial"/>
                <a:ea typeface="Arial"/>
                <a:cs typeface="Arial"/>
                <a:sym typeface="Arial"/>
              </a:rPr>
              <a:t>For example, if a variable has categories ‘A’, ‘B’ and ‘C’ and category ‘A’ appears 10 times in the dataset, it will be assigned a value of 10.</a:t>
            </a:r>
            <a:endParaRPr dirty="0"/>
          </a:p>
          <a:p>
            <a:pPr marL="91440" lvl="0" indent="0" algn="l" rtl="0">
              <a:lnSpc>
                <a:spcPct val="90000"/>
              </a:lnSpc>
              <a:spcBef>
                <a:spcPts val="1400"/>
              </a:spcBef>
              <a:spcAft>
                <a:spcPts val="0"/>
              </a:spcAft>
              <a:buSzPts val="2000"/>
              <a:buNone/>
            </a:pPr>
            <a:endParaRPr dirty="0"/>
          </a:p>
        </p:txBody>
      </p:sp>
      <p:pic>
        <p:nvPicPr>
          <p:cNvPr id="423" name="Google Shape;423;p57"/>
          <p:cNvPicPr preferRelativeResize="0"/>
          <p:nvPr/>
        </p:nvPicPr>
        <p:blipFill rotWithShape="1">
          <a:blip r:embed="rId3">
            <a:alphaModFix/>
          </a:blip>
          <a:srcRect/>
          <a:stretch/>
        </p:blipFill>
        <p:spPr>
          <a:xfrm>
            <a:off x="768096" y="4297680"/>
            <a:ext cx="5899332" cy="1855979"/>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58"/>
          <p:cNvSpPr txBox="1">
            <a:spLocks noGrp="1"/>
          </p:cNvSpPr>
          <p:nvPr>
            <p:ph type="title"/>
          </p:nvPr>
        </p:nvSpPr>
        <p:spPr>
          <a:xfrm>
            <a:off x="628650" y="692635"/>
            <a:ext cx="7886700" cy="994172"/>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242424"/>
              </a:buClr>
              <a:buSzPts val="4400"/>
              <a:buFont typeface="Arial"/>
              <a:buNone/>
            </a:pPr>
            <a:r>
              <a:rPr lang="en-US" b="1" i="0">
                <a:solidFill>
                  <a:srgbClr val="242424"/>
                </a:solidFill>
                <a:latin typeface="Arial"/>
                <a:ea typeface="Arial"/>
                <a:cs typeface="Arial"/>
                <a:sym typeface="Arial"/>
              </a:rPr>
              <a:t>TARGET ENCODING:</a:t>
            </a:r>
            <a:endParaRPr/>
          </a:p>
        </p:txBody>
      </p:sp>
      <p:sp>
        <p:nvSpPr>
          <p:cNvPr id="429" name="Google Shape;429;p58"/>
          <p:cNvSpPr txBox="1">
            <a:spLocks noGrp="1"/>
          </p:cNvSpPr>
          <p:nvPr>
            <p:ph type="body" idx="1"/>
          </p:nvPr>
        </p:nvSpPr>
        <p:spPr>
          <a:xfrm>
            <a:off x="269354" y="1797248"/>
            <a:ext cx="8605291" cy="3263504"/>
          </a:xfrm>
          <a:prstGeom prst="rect">
            <a:avLst/>
          </a:prstGeom>
          <a:noFill/>
          <a:ln>
            <a:noFill/>
          </a:ln>
        </p:spPr>
        <p:txBody>
          <a:bodyPr spcFirstLastPara="1" wrap="square" lIns="45700" tIns="45700" rIns="45700" bIns="45700" anchor="t" anchorCtr="0">
            <a:normAutofit/>
          </a:bodyPr>
          <a:lstStyle/>
          <a:p>
            <a:pPr marL="91440" lvl="0" indent="-91440" algn="l" rtl="0">
              <a:lnSpc>
                <a:spcPct val="90000"/>
              </a:lnSpc>
              <a:spcBef>
                <a:spcPts val="0"/>
              </a:spcBef>
              <a:spcAft>
                <a:spcPts val="0"/>
              </a:spcAft>
              <a:buSzPts val="2000"/>
              <a:buNone/>
            </a:pPr>
            <a:r>
              <a:rPr lang="en-US" b="0" i="0" dirty="0">
                <a:solidFill>
                  <a:srgbClr val="242424"/>
                </a:solidFill>
                <a:highlight>
                  <a:srgbClr val="FFFF00"/>
                </a:highlight>
                <a:latin typeface="Arial"/>
                <a:ea typeface="Arial"/>
                <a:cs typeface="Arial"/>
                <a:sym typeface="Arial"/>
              </a:rPr>
              <a:t> This is a more </a:t>
            </a:r>
            <a:r>
              <a:rPr lang="en-US" b="1" i="0" dirty="0">
                <a:solidFill>
                  <a:srgbClr val="242424"/>
                </a:solidFill>
                <a:highlight>
                  <a:srgbClr val="FFFF00"/>
                </a:highlight>
                <a:latin typeface="Arial"/>
                <a:ea typeface="Arial"/>
                <a:cs typeface="Arial"/>
                <a:sym typeface="Arial"/>
              </a:rPr>
              <a:t>advanced encoding technique</a:t>
            </a:r>
            <a:r>
              <a:rPr lang="en-US" b="0" i="0" dirty="0">
                <a:solidFill>
                  <a:srgbClr val="242424"/>
                </a:solidFill>
                <a:highlight>
                  <a:srgbClr val="FFFF00"/>
                </a:highlight>
                <a:latin typeface="Arial"/>
                <a:ea typeface="Arial"/>
                <a:cs typeface="Arial"/>
                <a:sym typeface="Arial"/>
              </a:rPr>
              <a:t> used for dealing with </a:t>
            </a:r>
            <a:r>
              <a:rPr lang="en-US" b="1" i="0" dirty="0">
                <a:solidFill>
                  <a:srgbClr val="242424"/>
                </a:solidFill>
                <a:highlight>
                  <a:srgbClr val="FFFF00"/>
                </a:highlight>
                <a:latin typeface="Arial"/>
                <a:ea typeface="Arial"/>
                <a:cs typeface="Arial"/>
                <a:sym typeface="Arial"/>
              </a:rPr>
              <a:t>high cardinality categorical features</a:t>
            </a:r>
            <a:r>
              <a:rPr lang="en-US" b="0" i="0" dirty="0">
                <a:solidFill>
                  <a:srgbClr val="242424"/>
                </a:solidFill>
                <a:highlight>
                  <a:srgbClr val="FFFF00"/>
                </a:highlight>
                <a:latin typeface="Arial"/>
                <a:ea typeface="Arial"/>
                <a:cs typeface="Arial"/>
                <a:sym typeface="Arial"/>
              </a:rPr>
              <a:t>, i.e., features with many unique categories.</a:t>
            </a:r>
            <a:endParaRPr dirty="0">
              <a:highlight>
                <a:srgbClr val="FFFF00"/>
              </a:highlight>
            </a:endParaRPr>
          </a:p>
          <a:p>
            <a:pPr marL="91440" lvl="0" indent="-91440" algn="l" rtl="0">
              <a:lnSpc>
                <a:spcPct val="90000"/>
              </a:lnSpc>
              <a:spcBef>
                <a:spcPts val="1400"/>
              </a:spcBef>
              <a:spcAft>
                <a:spcPts val="0"/>
              </a:spcAft>
              <a:buSzPts val="2000"/>
              <a:buNone/>
            </a:pPr>
            <a:r>
              <a:rPr lang="en-US" b="0" i="0" dirty="0">
                <a:solidFill>
                  <a:srgbClr val="242424"/>
                </a:solidFill>
                <a:latin typeface="Arial"/>
                <a:ea typeface="Arial"/>
                <a:cs typeface="Arial"/>
                <a:sym typeface="Arial"/>
              </a:rPr>
              <a:t>• </a:t>
            </a:r>
            <a:r>
              <a:rPr lang="en-US" b="0" i="0" dirty="0">
                <a:solidFill>
                  <a:srgbClr val="242424"/>
                </a:solidFill>
                <a:highlight>
                  <a:srgbClr val="FFFF00"/>
                </a:highlight>
                <a:latin typeface="Arial"/>
                <a:ea typeface="Arial"/>
                <a:cs typeface="Arial"/>
                <a:sym typeface="Arial"/>
              </a:rPr>
              <a:t>The average target value for each category is calculated and this average value is used to replace the categorical feature.</a:t>
            </a:r>
            <a:endParaRPr dirty="0">
              <a:highlight>
                <a:srgbClr val="FFFF00"/>
              </a:highlight>
            </a:endParaRPr>
          </a:p>
          <a:p>
            <a:pPr marL="91440" lvl="0" indent="-127000" algn="l" rtl="0">
              <a:lnSpc>
                <a:spcPct val="90000"/>
              </a:lnSpc>
              <a:spcBef>
                <a:spcPts val="1400"/>
              </a:spcBef>
              <a:spcAft>
                <a:spcPts val="0"/>
              </a:spcAft>
              <a:buSzPts val="2000"/>
              <a:buFont typeface="Arial"/>
              <a:buChar char="•"/>
            </a:pPr>
            <a:r>
              <a:rPr lang="en-US" b="0" i="0" dirty="0">
                <a:solidFill>
                  <a:srgbClr val="242424"/>
                </a:solidFill>
                <a:highlight>
                  <a:srgbClr val="FFFF00"/>
                </a:highlight>
                <a:latin typeface="Arial"/>
                <a:ea typeface="Arial"/>
                <a:cs typeface="Arial"/>
                <a:sym typeface="Arial"/>
              </a:rPr>
              <a:t>This has the </a:t>
            </a:r>
            <a:r>
              <a:rPr lang="en-US" b="1" i="0" dirty="0">
                <a:solidFill>
                  <a:srgbClr val="242424"/>
                </a:solidFill>
                <a:highlight>
                  <a:srgbClr val="FFFF00"/>
                </a:highlight>
                <a:latin typeface="Arial"/>
                <a:ea typeface="Arial"/>
                <a:cs typeface="Arial"/>
                <a:sym typeface="Arial"/>
              </a:rPr>
              <a:t>advantage of considering the relationship between the target and the categorical feature</a:t>
            </a:r>
            <a:r>
              <a:rPr lang="en-US" b="0" i="0" dirty="0">
                <a:solidFill>
                  <a:srgbClr val="242424"/>
                </a:solidFill>
                <a:highlight>
                  <a:srgbClr val="FFFF00"/>
                </a:highlight>
                <a:latin typeface="Arial"/>
                <a:ea typeface="Arial"/>
                <a:cs typeface="Arial"/>
                <a:sym typeface="Arial"/>
              </a:rPr>
              <a:t>, but it can also </a:t>
            </a:r>
            <a:r>
              <a:rPr lang="en-US" b="1" i="0" dirty="0">
                <a:solidFill>
                  <a:srgbClr val="242424"/>
                </a:solidFill>
                <a:highlight>
                  <a:srgbClr val="FFFF00"/>
                </a:highlight>
                <a:latin typeface="Arial"/>
                <a:ea typeface="Arial"/>
                <a:cs typeface="Arial"/>
                <a:sym typeface="Arial"/>
              </a:rPr>
              <a:t>lead to overfitting</a:t>
            </a:r>
            <a:r>
              <a:rPr lang="en-US" b="0" i="0" dirty="0">
                <a:solidFill>
                  <a:srgbClr val="242424"/>
                </a:solidFill>
                <a:highlight>
                  <a:srgbClr val="FFFF00"/>
                </a:highlight>
                <a:latin typeface="Arial"/>
                <a:ea typeface="Arial"/>
                <a:cs typeface="Arial"/>
                <a:sym typeface="Arial"/>
              </a:rPr>
              <a:t> if not used with caution.</a:t>
            </a:r>
            <a:endParaRPr dirty="0">
              <a:highlight>
                <a:srgbClr val="FFFF00"/>
              </a:highlight>
            </a:endParaRPr>
          </a:p>
          <a:p>
            <a:pPr marL="91440" lvl="0" indent="0" algn="l" rtl="0">
              <a:lnSpc>
                <a:spcPct val="90000"/>
              </a:lnSpc>
              <a:spcBef>
                <a:spcPts val="1400"/>
              </a:spcBef>
              <a:spcAft>
                <a:spcPts val="0"/>
              </a:spcAft>
              <a:buSzPts val="2000"/>
              <a:buNone/>
            </a:pPr>
            <a:endParaRPr dirty="0"/>
          </a:p>
        </p:txBody>
      </p:sp>
      <p:pic>
        <p:nvPicPr>
          <p:cNvPr id="430" name="Google Shape;430;p58"/>
          <p:cNvPicPr preferRelativeResize="0"/>
          <p:nvPr/>
        </p:nvPicPr>
        <p:blipFill rotWithShape="1">
          <a:blip r:embed="rId3">
            <a:alphaModFix/>
          </a:blip>
          <a:srcRect/>
          <a:stretch/>
        </p:blipFill>
        <p:spPr>
          <a:xfrm>
            <a:off x="968782" y="4950927"/>
            <a:ext cx="5000625" cy="1214438"/>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59"/>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en-US"/>
              <a:t>IMPORTANCE OF DATA TYPE SELECTION FOR MODELING</a:t>
            </a:r>
            <a:endParaRPr/>
          </a:p>
        </p:txBody>
      </p:sp>
      <p:sp>
        <p:nvSpPr>
          <p:cNvPr id="436" name="Google Shape;436;p59"/>
          <p:cNvSpPr/>
          <p:nvPr/>
        </p:nvSpPr>
        <p:spPr>
          <a:xfrm>
            <a:off x="768096" y="1895664"/>
            <a:ext cx="7290054" cy="437042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000"/>
              <a:buFont typeface="Twentieth Century"/>
              <a:buNone/>
            </a:pPr>
            <a:r>
              <a:rPr lang="en-US" sz="2000">
                <a:solidFill>
                  <a:schemeClr val="dk1"/>
                </a:solidFill>
                <a:latin typeface="Twentieth Century"/>
                <a:ea typeface="Twentieth Century"/>
                <a:cs typeface="Twentieth Century"/>
                <a:sym typeface="Twentieth Century"/>
              </a:rPr>
              <a:t>Selecting the appropriate data type is crucial in modeling as it directly impacts accuracy, efficiency, and interpretability. Below are key reasons why data type selection matters:</a:t>
            </a:r>
            <a:endParaRPr/>
          </a:p>
          <a:p>
            <a:pPr marL="0" marR="0" lvl="0" indent="-127000" algn="l" rtl="0">
              <a:lnSpc>
                <a:spcPct val="100000"/>
              </a:lnSpc>
              <a:spcBef>
                <a:spcPts val="0"/>
              </a:spcBef>
              <a:spcAft>
                <a:spcPts val="0"/>
              </a:spcAft>
              <a:buClr>
                <a:schemeClr val="dk1"/>
              </a:buClr>
              <a:buSzPts val="2000"/>
              <a:buFont typeface="Twentieth Century"/>
              <a:buAutoNum type="arabicPeriod"/>
            </a:pPr>
            <a:r>
              <a:rPr lang="en-US" sz="2000" b="1">
                <a:solidFill>
                  <a:schemeClr val="dk1"/>
                </a:solidFill>
                <a:latin typeface="Twentieth Century"/>
                <a:ea typeface="Twentieth Century"/>
                <a:cs typeface="Twentieth Century"/>
                <a:sym typeface="Twentieth Century"/>
              </a:rPr>
              <a:t>Accuracy and Precision</a:t>
            </a:r>
            <a:endParaRPr/>
          </a:p>
          <a:p>
            <a:pPr marL="457200" marR="0" lvl="1" indent="-127000" algn="l" rtl="0">
              <a:lnSpc>
                <a:spcPct val="100000"/>
              </a:lnSpc>
              <a:spcBef>
                <a:spcPts val="0"/>
              </a:spcBef>
              <a:spcAft>
                <a:spcPts val="0"/>
              </a:spcAft>
              <a:buClr>
                <a:schemeClr val="dk1"/>
              </a:buClr>
              <a:buSzPts val="2000"/>
              <a:buFont typeface="Twentieth Century"/>
              <a:buChar char="•"/>
            </a:pPr>
            <a:r>
              <a:rPr lang="en-US" sz="2000" b="0" i="0" u="none" strike="noStrike" cap="none">
                <a:solidFill>
                  <a:schemeClr val="dk1"/>
                </a:solidFill>
                <a:latin typeface="Twentieth Century"/>
                <a:ea typeface="Twentieth Century"/>
                <a:cs typeface="Twentieth Century"/>
                <a:sym typeface="Twentieth Century"/>
              </a:rPr>
              <a:t>Incorrect data types can lead to loss of precision (e.g., using an integer instead of a float for continuous values). </a:t>
            </a:r>
            <a:endParaRPr/>
          </a:p>
          <a:p>
            <a:pPr marL="457200" marR="0" lvl="1" indent="-127000" algn="l" rtl="0">
              <a:lnSpc>
                <a:spcPct val="100000"/>
              </a:lnSpc>
              <a:spcBef>
                <a:spcPts val="0"/>
              </a:spcBef>
              <a:spcAft>
                <a:spcPts val="0"/>
              </a:spcAft>
              <a:buClr>
                <a:schemeClr val="dk1"/>
              </a:buClr>
              <a:buSzPts val="2000"/>
              <a:buFont typeface="Twentieth Century"/>
              <a:buChar char="•"/>
            </a:pPr>
            <a:r>
              <a:rPr lang="en-US" sz="2000" b="0" i="0" u="none" strike="noStrike" cap="none">
                <a:solidFill>
                  <a:schemeClr val="dk1"/>
                </a:solidFill>
                <a:latin typeface="Twentieth Century"/>
                <a:ea typeface="Twentieth Century"/>
                <a:cs typeface="Twentieth Century"/>
                <a:sym typeface="Twentieth Century"/>
              </a:rPr>
              <a:t>Choosing the right type prevents rounding errors and ensures correct computations. </a:t>
            </a:r>
            <a:endParaRPr/>
          </a:p>
          <a:p>
            <a:pPr marL="0" marR="0" lvl="0" indent="-127000" algn="l" rtl="0">
              <a:spcBef>
                <a:spcPts val="0"/>
              </a:spcBef>
              <a:spcAft>
                <a:spcPts val="0"/>
              </a:spcAft>
              <a:buClr>
                <a:schemeClr val="dk1"/>
              </a:buClr>
              <a:buSzPts val="2000"/>
              <a:buFont typeface="Twentieth Century"/>
              <a:buAutoNum type="arabicPeriod"/>
            </a:pPr>
            <a:r>
              <a:rPr lang="en-US" sz="2000" b="1">
                <a:solidFill>
                  <a:schemeClr val="dk1"/>
                </a:solidFill>
                <a:latin typeface="Twentieth Century"/>
                <a:ea typeface="Twentieth Century"/>
                <a:cs typeface="Twentieth Century"/>
                <a:sym typeface="Twentieth Century"/>
              </a:rPr>
              <a:t>Memory and Computational Efficiency</a:t>
            </a:r>
            <a:endParaRPr/>
          </a:p>
          <a:p>
            <a:pPr marL="457200" marR="0" lvl="1" indent="-127000" algn="l" rtl="0">
              <a:spcBef>
                <a:spcPts val="0"/>
              </a:spcBef>
              <a:spcAft>
                <a:spcPts val="0"/>
              </a:spcAft>
              <a:buClr>
                <a:schemeClr val="dk1"/>
              </a:buClr>
              <a:buSzPts val="2000"/>
              <a:buFont typeface="Twentieth Century"/>
              <a:buChar char="•"/>
            </a:pPr>
            <a:r>
              <a:rPr lang="en-US" sz="2000" b="0" i="0" u="none" strike="noStrike" cap="none">
                <a:solidFill>
                  <a:schemeClr val="dk1"/>
                </a:solidFill>
                <a:latin typeface="Twentieth Century"/>
                <a:ea typeface="Twentieth Century"/>
                <a:cs typeface="Twentieth Century"/>
                <a:sym typeface="Twentieth Century"/>
              </a:rPr>
              <a:t>Large datasets benefit from optimized data types (e.g., using int8 instead of int64 for small numbers reduces memory usage). </a:t>
            </a:r>
            <a:endParaRPr/>
          </a:p>
          <a:p>
            <a:pPr marL="457200" marR="0" lvl="1" indent="-127000" algn="l" rtl="0">
              <a:spcBef>
                <a:spcPts val="0"/>
              </a:spcBef>
              <a:spcAft>
                <a:spcPts val="0"/>
              </a:spcAft>
              <a:buClr>
                <a:schemeClr val="dk1"/>
              </a:buClr>
              <a:buSzPts val="2000"/>
              <a:buFont typeface="Twentieth Century"/>
              <a:buChar char="•"/>
            </a:pPr>
            <a:r>
              <a:rPr lang="en-US" sz="2000" b="0" i="0" u="none" strike="noStrike" cap="none">
                <a:solidFill>
                  <a:schemeClr val="dk1"/>
                </a:solidFill>
                <a:latin typeface="Twentieth Century"/>
                <a:ea typeface="Twentieth Century"/>
                <a:cs typeface="Twentieth Century"/>
                <a:sym typeface="Twentieth Century"/>
              </a:rPr>
              <a:t>Efficient data types improve processing speed, especially in machine learning and big data applications.</a:t>
            </a:r>
            <a:endParaRPr/>
          </a:p>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60"/>
          <p:cNvSpPr txBox="1">
            <a:spLocks noGrp="1"/>
          </p:cNvSpPr>
          <p:nvPr>
            <p:ph type="body" idx="1"/>
          </p:nvPr>
        </p:nvSpPr>
        <p:spPr>
          <a:xfrm>
            <a:off x="797000" y="1239562"/>
            <a:ext cx="7290053" cy="4678204"/>
          </a:xfrm>
          <a:prstGeom prst="rect">
            <a:avLst/>
          </a:prstGeom>
          <a:noFill/>
          <a:ln>
            <a:noFill/>
          </a:ln>
        </p:spPr>
        <p:txBody>
          <a:bodyPr spcFirstLastPara="1" wrap="square" lIns="91425" tIns="45700" rIns="91425" bIns="45700" anchor="ctr" anchorCtr="0">
            <a:spAutoFit/>
          </a:bodyPr>
          <a:lstStyle/>
          <a:p>
            <a:pPr marL="0" lvl="0" indent="0" algn="l" rtl="0">
              <a:lnSpc>
                <a:spcPct val="100000"/>
              </a:lnSpc>
              <a:spcBef>
                <a:spcPts val="0"/>
              </a:spcBef>
              <a:spcAft>
                <a:spcPts val="0"/>
              </a:spcAft>
              <a:buClr>
                <a:schemeClr val="dk1"/>
              </a:buClr>
              <a:buSzPts val="2000"/>
              <a:buNone/>
            </a:pPr>
            <a:r>
              <a:rPr lang="en-US" b="1"/>
              <a:t>3. Data Integrity and Validation</a:t>
            </a:r>
            <a:endParaRPr/>
          </a:p>
          <a:p>
            <a:pPr marL="283464" lvl="0" indent="-127000" algn="l" rtl="0">
              <a:lnSpc>
                <a:spcPct val="100000"/>
              </a:lnSpc>
              <a:spcBef>
                <a:spcPts val="0"/>
              </a:spcBef>
              <a:spcAft>
                <a:spcPts val="0"/>
              </a:spcAft>
              <a:buClr>
                <a:schemeClr val="dk1"/>
              </a:buClr>
              <a:buSzPts val="2000"/>
              <a:buFont typeface="Twentieth Century"/>
              <a:buChar char="•"/>
            </a:pPr>
            <a:r>
              <a:rPr lang="en-US"/>
              <a:t>Ensures consistency and prevents errors (e.g., storing categorical data as integers vs. strings can affect how algorithms process them). </a:t>
            </a:r>
            <a:endParaRPr/>
          </a:p>
          <a:p>
            <a:pPr marL="283464" lvl="0" indent="-127000" algn="l" rtl="0">
              <a:lnSpc>
                <a:spcPct val="100000"/>
              </a:lnSpc>
              <a:spcBef>
                <a:spcPts val="0"/>
              </a:spcBef>
              <a:spcAft>
                <a:spcPts val="0"/>
              </a:spcAft>
              <a:buClr>
                <a:schemeClr val="dk1"/>
              </a:buClr>
              <a:buSzPts val="2000"/>
              <a:buFont typeface="Twentieth Century"/>
              <a:buChar char="•"/>
            </a:pPr>
            <a:r>
              <a:rPr lang="en-US"/>
              <a:t>Type mismatches can cause unintended behaviors in models. </a:t>
            </a:r>
            <a:endParaRPr/>
          </a:p>
          <a:p>
            <a:pPr marL="0" lvl="0" indent="0" algn="l" rtl="0">
              <a:lnSpc>
                <a:spcPct val="100000"/>
              </a:lnSpc>
              <a:spcBef>
                <a:spcPts val="0"/>
              </a:spcBef>
              <a:spcAft>
                <a:spcPts val="0"/>
              </a:spcAft>
              <a:buClr>
                <a:schemeClr val="dk1"/>
              </a:buClr>
              <a:buSzPts val="2000"/>
              <a:buNone/>
            </a:pPr>
            <a:r>
              <a:rPr lang="en-US" b="1"/>
              <a:t>4. Algorithm Compatibility</a:t>
            </a:r>
            <a:endParaRPr/>
          </a:p>
          <a:p>
            <a:pPr marL="283464" marR="0" lvl="0" indent="-127000" algn="l" rtl="0">
              <a:lnSpc>
                <a:spcPct val="100000"/>
              </a:lnSpc>
              <a:spcBef>
                <a:spcPts val="0"/>
              </a:spcBef>
              <a:spcAft>
                <a:spcPts val="0"/>
              </a:spcAft>
              <a:buClr>
                <a:schemeClr val="dk1"/>
              </a:buClr>
              <a:buSzPts val="2000"/>
              <a:buFont typeface="Twentieth Century"/>
              <a:buChar char="•"/>
            </a:pPr>
            <a:r>
              <a:rPr lang="en-US"/>
              <a:t>Some machine learning models require specific data types (e.g., decision trees work better with categorical data encoded as integers). </a:t>
            </a:r>
            <a:endParaRPr/>
          </a:p>
          <a:p>
            <a:pPr marL="283464" marR="0" lvl="0" indent="-127000" algn="l" rtl="0">
              <a:lnSpc>
                <a:spcPct val="100000"/>
              </a:lnSpc>
              <a:spcBef>
                <a:spcPts val="0"/>
              </a:spcBef>
              <a:spcAft>
                <a:spcPts val="0"/>
              </a:spcAft>
              <a:buClr>
                <a:schemeClr val="dk1"/>
              </a:buClr>
              <a:buSzPts val="2000"/>
              <a:buFont typeface="Twentieth Century"/>
              <a:buChar char="•"/>
            </a:pPr>
            <a:r>
              <a:rPr lang="en-US"/>
              <a:t>Incorrect data types can lead to errors or suboptimal performance.</a:t>
            </a:r>
            <a:endParaRPr/>
          </a:p>
          <a:p>
            <a:pPr marL="0" lvl="0" indent="0" algn="l" rtl="0">
              <a:lnSpc>
                <a:spcPct val="100000"/>
              </a:lnSpc>
              <a:spcBef>
                <a:spcPts val="0"/>
              </a:spcBef>
              <a:spcAft>
                <a:spcPts val="0"/>
              </a:spcAft>
              <a:buClr>
                <a:schemeClr val="dk1"/>
              </a:buClr>
              <a:buSzPts val="2000"/>
              <a:buNone/>
            </a:pPr>
            <a:r>
              <a:rPr lang="en-US" b="1"/>
              <a:t>5. Interpretability and Feature Engineering</a:t>
            </a:r>
            <a:endParaRPr/>
          </a:p>
          <a:p>
            <a:pPr marL="283464" lvl="0" indent="-127000" algn="l" rtl="0">
              <a:lnSpc>
                <a:spcPct val="100000"/>
              </a:lnSpc>
              <a:spcBef>
                <a:spcPts val="0"/>
              </a:spcBef>
              <a:spcAft>
                <a:spcPts val="0"/>
              </a:spcAft>
              <a:buClr>
                <a:schemeClr val="dk1"/>
              </a:buClr>
              <a:buSzPts val="2000"/>
              <a:buFont typeface="Twentieth Century"/>
              <a:buChar char="•"/>
            </a:pPr>
            <a:r>
              <a:rPr lang="en-US"/>
              <a:t>Properly defining categorical vs. numerical data helps in feature selection and transformation.</a:t>
            </a:r>
            <a:endParaRPr/>
          </a:p>
          <a:p>
            <a:pPr marL="283464" lvl="0" indent="-127000" algn="l" rtl="0">
              <a:lnSpc>
                <a:spcPct val="100000"/>
              </a:lnSpc>
              <a:spcBef>
                <a:spcPts val="0"/>
              </a:spcBef>
              <a:spcAft>
                <a:spcPts val="0"/>
              </a:spcAft>
              <a:buClr>
                <a:schemeClr val="dk1"/>
              </a:buClr>
              <a:buSzPts val="2000"/>
              <a:buFont typeface="Twentieth Century"/>
              <a:buChar char="•"/>
            </a:pPr>
            <a:r>
              <a:rPr lang="en-US"/>
              <a:t>Using appropriate types allows for meaningful statistical analysis.</a:t>
            </a:r>
            <a:endParaRPr/>
          </a:p>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61"/>
          <p:cNvSpPr txBox="1"/>
          <p:nvPr/>
        </p:nvSpPr>
        <p:spPr>
          <a:xfrm>
            <a:off x="689457" y="6434236"/>
            <a:ext cx="725170" cy="197485"/>
          </a:xfrm>
          <a:prstGeom prst="rect">
            <a:avLst/>
          </a:prstGeom>
          <a:noFill/>
          <a:ln>
            <a:noFill/>
          </a:ln>
        </p:spPr>
        <p:txBody>
          <a:bodyPr spcFirstLastPara="1" wrap="square" lIns="0" tIns="0" rIns="0" bIns="0" anchor="t" anchorCtr="0">
            <a:spAutoFit/>
          </a:bodyPr>
          <a:lstStyle/>
          <a:p>
            <a:pPr marL="0" marR="0" lvl="0" indent="0" algn="l" rtl="0">
              <a:lnSpc>
                <a:spcPct val="109285"/>
              </a:lnSpc>
              <a:spcBef>
                <a:spcPts val="0"/>
              </a:spcBef>
              <a:spcAft>
                <a:spcPts val="0"/>
              </a:spcAft>
              <a:buNone/>
            </a:pPr>
            <a:r>
              <a:rPr lang="en-US" sz="1400" b="1">
                <a:solidFill>
                  <a:srgbClr val="FFFFFF"/>
                </a:solidFill>
                <a:latin typeface="Times New Roman"/>
                <a:ea typeface="Times New Roman"/>
                <a:cs typeface="Times New Roman"/>
                <a:sym typeface="Times New Roman"/>
              </a:rPr>
              <a:t>4/26/2022</a:t>
            </a:r>
            <a:endParaRPr sz="1400">
              <a:solidFill>
                <a:schemeClr val="dk1"/>
              </a:solidFill>
              <a:latin typeface="Times New Roman"/>
              <a:ea typeface="Times New Roman"/>
              <a:cs typeface="Times New Roman"/>
              <a:sym typeface="Times New Roman"/>
            </a:endParaRPr>
          </a:p>
        </p:txBody>
      </p:sp>
      <p:sp>
        <p:nvSpPr>
          <p:cNvPr id="447" name="Google Shape;447;p61"/>
          <p:cNvSpPr txBox="1">
            <a:spLocks noGrp="1"/>
          </p:cNvSpPr>
          <p:nvPr>
            <p:ph type="title"/>
          </p:nvPr>
        </p:nvSpPr>
        <p:spPr>
          <a:xfrm>
            <a:off x="768096" y="1082070"/>
            <a:ext cx="7290054" cy="505908"/>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Clr>
                <a:schemeClr val="dk1"/>
              </a:buClr>
              <a:buSzPts val="3200"/>
              <a:buFont typeface="Twentieth Century"/>
              <a:buNone/>
            </a:pPr>
            <a:r>
              <a:rPr lang="en-US" sz="3200">
                <a:solidFill>
                  <a:schemeClr val="dk1"/>
                </a:solidFill>
              </a:rPr>
              <a:t>DATA REDUCTION STRATEGIES</a:t>
            </a:r>
            <a:endParaRPr sz="3200">
              <a:solidFill>
                <a:schemeClr val="dk1"/>
              </a:solidFill>
            </a:endParaRPr>
          </a:p>
        </p:txBody>
      </p:sp>
      <p:sp>
        <p:nvSpPr>
          <p:cNvPr id="448" name="Google Shape;448;p61"/>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fontScale="70000" lnSpcReduction="20000"/>
          </a:bodyPr>
          <a:lstStyle/>
          <a:p>
            <a:pPr marL="295910" marR="324485" lvl="0" indent="-283844" algn="just" rtl="0">
              <a:lnSpc>
                <a:spcPct val="108000"/>
              </a:lnSpc>
              <a:spcBef>
                <a:spcPts val="0"/>
              </a:spcBef>
              <a:spcAft>
                <a:spcPts val="0"/>
              </a:spcAft>
              <a:buSzPct val="100000"/>
              <a:buFont typeface="Arial"/>
              <a:buChar char="•"/>
            </a:pPr>
            <a:r>
              <a:rPr lang="en-US" sz="2000" b="1">
                <a:latin typeface="Times New Roman"/>
                <a:ea typeface="Times New Roman"/>
                <a:cs typeface="Times New Roman"/>
                <a:sym typeface="Times New Roman"/>
              </a:rPr>
              <a:t>Data reduction</a:t>
            </a:r>
            <a:r>
              <a:rPr lang="en-US" sz="2000">
                <a:latin typeface="Times New Roman"/>
                <a:ea typeface="Times New Roman"/>
                <a:cs typeface="Times New Roman"/>
                <a:sym typeface="Times New Roman"/>
              </a:rPr>
              <a:t>: Obtain a reduced representation of the data set that is much 	smaller in volume but yet produces the same (or almost the same) analytical 	results</a:t>
            </a:r>
            <a:endParaRPr sz="2000">
              <a:latin typeface="Times New Roman"/>
              <a:ea typeface="Times New Roman"/>
              <a:cs typeface="Times New Roman"/>
              <a:sym typeface="Times New Roman"/>
            </a:endParaRPr>
          </a:p>
          <a:p>
            <a:pPr marL="299085" marR="5080" lvl="0" indent="-287019" algn="l" rtl="0">
              <a:lnSpc>
                <a:spcPct val="108000"/>
              </a:lnSpc>
              <a:spcBef>
                <a:spcPts val="1200"/>
              </a:spcBef>
              <a:spcAft>
                <a:spcPts val="0"/>
              </a:spcAft>
              <a:buSzPct val="100000"/>
              <a:buFont typeface="Arial"/>
              <a:buChar char="•"/>
            </a:pPr>
            <a:r>
              <a:rPr lang="en-US" sz="2000">
                <a:latin typeface="Times New Roman"/>
                <a:ea typeface="Times New Roman"/>
                <a:cs typeface="Times New Roman"/>
                <a:sym typeface="Times New Roman"/>
              </a:rPr>
              <a:t>Why data reduction? — A database/data warehouse may store terabytes of data. Complex data analysis may take a very long time to run on the complete data set.</a:t>
            </a:r>
            <a:endParaRPr sz="2000">
              <a:latin typeface="Times New Roman"/>
              <a:ea typeface="Times New Roman"/>
              <a:cs typeface="Times New Roman"/>
              <a:sym typeface="Times New Roman"/>
            </a:endParaRPr>
          </a:p>
          <a:p>
            <a:pPr marL="299085" lvl="0" indent="-286385" algn="l" rtl="0">
              <a:lnSpc>
                <a:spcPct val="100000"/>
              </a:lnSpc>
              <a:spcBef>
                <a:spcPts val="935"/>
              </a:spcBef>
              <a:spcAft>
                <a:spcPts val="0"/>
              </a:spcAft>
              <a:buSzPct val="100000"/>
              <a:buFont typeface="Arial"/>
              <a:buChar char="•"/>
            </a:pPr>
            <a:r>
              <a:rPr lang="en-US" sz="2000">
                <a:latin typeface="Times New Roman"/>
                <a:ea typeface="Times New Roman"/>
                <a:cs typeface="Times New Roman"/>
                <a:sym typeface="Times New Roman"/>
              </a:rPr>
              <a:t>Data reduction strategies</a:t>
            </a:r>
            <a:endParaRPr sz="2000">
              <a:latin typeface="Times New Roman"/>
              <a:ea typeface="Times New Roman"/>
              <a:cs typeface="Times New Roman"/>
              <a:sym typeface="Times New Roman"/>
            </a:endParaRPr>
          </a:p>
          <a:p>
            <a:pPr marL="756285" lvl="1" indent="-286385" algn="l" rtl="0">
              <a:lnSpc>
                <a:spcPct val="100000"/>
              </a:lnSpc>
              <a:spcBef>
                <a:spcPts val="454"/>
              </a:spcBef>
              <a:spcAft>
                <a:spcPts val="0"/>
              </a:spcAft>
              <a:buSzPct val="100000"/>
              <a:buFont typeface="Courier New"/>
              <a:buChar char="o"/>
            </a:pPr>
            <a:r>
              <a:rPr lang="en-US" sz="2000">
                <a:solidFill>
                  <a:srgbClr val="0462C1"/>
                </a:solidFill>
                <a:latin typeface="Times New Roman"/>
                <a:ea typeface="Times New Roman"/>
                <a:cs typeface="Times New Roman"/>
                <a:sym typeface="Times New Roman"/>
              </a:rPr>
              <a:t>Dimensionality reduction</a:t>
            </a:r>
            <a:r>
              <a:rPr lang="en-US" sz="2000">
                <a:solidFill>
                  <a:srgbClr val="944F71"/>
                </a:solidFill>
                <a:latin typeface="Times New Roman"/>
                <a:ea typeface="Times New Roman"/>
                <a:cs typeface="Times New Roman"/>
                <a:sym typeface="Times New Roman"/>
              </a:rPr>
              <a:t>, </a:t>
            </a:r>
            <a:r>
              <a:rPr lang="en-US" sz="2000">
                <a:latin typeface="Times New Roman"/>
                <a:ea typeface="Times New Roman"/>
                <a:cs typeface="Times New Roman"/>
                <a:sym typeface="Times New Roman"/>
              </a:rPr>
              <a:t>e.g., remove unimportant attributes</a:t>
            </a:r>
            <a:endParaRPr sz="2000">
              <a:latin typeface="Times New Roman"/>
              <a:ea typeface="Times New Roman"/>
              <a:cs typeface="Times New Roman"/>
              <a:sym typeface="Times New Roman"/>
            </a:endParaRPr>
          </a:p>
          <a:p>
            <a:pPr marL="1076325" lvl="0" indent="-91439" algn="l" rtl="0">
              <a:lnSpc>
                <a:spcPct val="100000"/>
              </a:lnSpc>
              <a:spcBef>
                <a:spcPts val="660"/>
              </a:spcBef>
              <a:spcAft>
                <a:spcPts val="0"/>
              </a:spcAft>
              <a:buSzPct val="100000"/>
              <a:buChar char=" "/>
            </a:pPr>
            <a:r>
              <a:rPr lang="en-US" sz="2000">
                <a:solidFill>
                  <a:srgbClr val="944F71"/>
                </a:solidFill>
                <a:latin typeface="Calibri"/>
                <a:ea typeface="Calibri"/>
                <a:cs typeface="Calibri"/>
                <a:sym typeface="Calibri"/>
              </a:rPr>
              <a:t>−</a:t>
            </a:r>
            <a:r>
              <a:rPr lang="en-US" sz="2000">
                <a:solidFill>
                  <a:srgbClr val="944F71"/>
                </a:solidFill>
                <a:latin typeface="Times New Roman"/>
                <a:ea typeface="Times New Roman"/>
                <a:cs typeface="Times New Roman"/>
                <a:sym typeface="Times New Roman"/>
              </a:rPr>
              <a:t>Wavelet transforms</a:t>
            </a:r>
            <a:endParaRPr sz="2000">
              <a:latin typeface="Times New Roman"/>
              <a:ea typeface="Times New Roman"/>
              <a:cs typeface="Times New Roman"/>
              <a:sym typeface="Times New Roman"/>
            </a:endParaRPr>
          </a:p>
          <a:p>
            <a:pPr marL="1076325" lvl="0" indent="-91439" algn="l" rtl="0">
              <a:lnSpc>
                <a:spcPct val="100000"/>
              </a:lnSpc>
              <a:spcBef>
                <a:spcPts val="465"/>
              </a:spcBef>
              <a:spcAft>
                <a:spcPts val="0"/>
              </a:spcAft>
              <a:buSzPct val="100000"/>
              <a:buChar char=" "/>
            </a:pPr>
            <a:r>
              <a:rPr lang="en-US" sz="2000">
                <a:solidFill>
                  <a:srgbClr val="944F71"/>
                </a:solidFill>
                <a:latin typeface="Calibri"/>
                <a:ea typeface="Calibri"/>
                <a:cs typeface="Calibri"/>
                <a:sym typeface="Calibri"/>
              </a:rPr>
              <a:t>−</a:t>
            </a:r>
            <a:r>
              <a:rPr lang="en-US" sz="2000">
                <a:solidFill>
                  <a:srgbClr val="944F71"/>
                </a:solidFill>
                <a:latin typeface="Times New Roman"/>
                <a:ea typeface="Times New Roman"/>
                <a:cs typeface="Times New Roman"/>
                <a:sym typeface="Times New Roman"/>
              </a:rPr>
              <a:t>Principal Components Analysis (PCA)</a:t>
            </a:r>
            <a:endParaRPr sz="2000">
              <a:latin typeface="Times New Roman"/>
              <a:ea typeface="Times New Roman"/>
              <a:cs typeface="Times New Roman"/>
              <a:sym typeface="Times New Roman"/>
            </a:endParaRPr>
          </a:p>
          <a:p>
            <a:pPr marL="1076325" lvl="0" indent="-91439" algn="l" rtl="0">
              <a:lnSpc>
                <a:spcPct val="100000"/>
              </a:lnSpc>
              <a:spcBef>
                <a:spcPts val="454"/>
              </a:spcBef>
              <a:spcAft>
                <a:spcPts val="0"/>
              </a:spcAft>
              <a:buSzPct val="100000"/>
              <a:buChar char=" "/>
            </a:pPr>
            <a:r>
              <a:rPr lang="en-US" sz="2000">
                <a:solidFill>
                  <a:srgbClr val="944F71"/>
                </a:solidFill>
                <a:latin typeface="Calibri"/>
                <a:ea typeface="Calibri"/>
                <a:cs typeface="Calibri"/>
                <a:sym typeface="Calibri"/>
              </a:rPr>
              <a:t>−</a:t>
            </a:r>
            <a:r>
              <a:rPr lang="en-US" sz="2000">
                <a:solidFill>
                  <a:srgbClr val="944F71"/>
                </a:solidFill>
                <a:latin typeface="Times New Roman"/>
                <a:ea typeface="Times New Roman"/>
                <a:cs typeface="Times New Roman"/>
                <a:sym typeface="Times New Roman"/>
              </a:rPr>
              <a:t>Feature subset selection, feature creation</a:t>
            </a:r>
            <a:endParaRPr sz="2000">
              <a:latin typeface="Times New Roman"/>
              <a:ea typeface="Times New Roman"/>
              <a:cs typeface="Times New Roman"/>
              <a:sym typeface="Times New Roman"/>
            </a:endParaRPr>
          </a:p>
          <a:p>
            <a:pPr marL="756285" lvl="1" indent="-286385" algn="l" rtl="0">
              <a:lnSpc>
                <a:spcPct val="100000"/>
              </a:lnSpc>
              <a:spcBef>
                <a:spcPts val="465"/>
              </a:spcBef>
              <a:spcAft>
                <a:spcPts val="0"/>
              </a:spcAft>
              <a:buSzPct val="100000"/>
              <a:buFont typeface="Courier New"/>
              <a:buChar char="o"/>
            </a:pPr>
            <a:r>
              <a:rPr lang="en-US" sz="2000">
                <a:solidFill>
                  <a:srgbClr val="0462C1"/>
                </a:solidFill>
                <a:latin typeface="Times New Roman"/>
                <a:ea typeface="Times New Roman"/>
                <a:cs typeface="Times New Roman"/>
                <a:sym typeface="Times New Roman"/>
              </a:rPr>
              <a:t>Numerosity reduction </a:t>
            </a:r>
            <a:r>
              <a:rPr lang="en-US" sz="2000">
                <a:solidFill>
                  <a:srgbClr val="944F71"/>
                </a:solidFill>
                <a:latin typeface="Times New Roman"/>
                <a:ea typeface="Times New Roman"/>
                <a:cs typeface="Times New Roman"/>
                <a:sym typeface="Times New Roman"/>
              </a:rPr>
              <a:t>(some simply call it: Data Reduction)</a:t>
            </a:r>
            <a:endParaRPr sz="2000">
              <a:latin typeface="Times New Roman"/>
              <a:ea typeface="Times New Roman"/>
              <a:cs typeface="Times New Roman"/>
              <a:sym typeface="Times New Roman"/>
            </a:endParaRPr>
          </a:p>
          <a:p>
            <a:pPr marL="1076325" lvl="0" indent="-91439" algn="l" rtl="0">
              <a:lnSpc>
                <a:spcPct val="100000"/>
              </a:lnSpc>
              <a:spcBef>
                <a:spcPts val="665"/>
              </a:spcBef>
              <a:spcAft>
                <a:spcPts val="0"/>
              </a:spcAft>
              <a:buSzPct val="100000"/>
              <a:buChar char=" "/>
            </a:pPr>
            <a:r>
              <a:rPr lang="en-US" sz="2000">
                <a:solidFill>
                  <a:srgbClr val="944F71"/>
                </a:solidFill>
                <a:latin typeface="Calibri"/>
                <a:ea typeface="Calibri"/>
                <a:cs typeface="Calibri"/>
                <a:sym typeface="Calibri"/>
              </a:rPr>
              <a:t>−</a:t>
            </a:r>
            <a:r>
              <a:rPr lang="en-US" sz="2000">
                <a:solidFill>
                  <a:srgbClr val="944F71"/>
                </a:solidFill>
                <a:latin typeface="Times New Roman"/>
                <a:ea typeface="Times New Roman"/>
                <a:cs typeface="Times New Roman"/>
                <a:sym typeface="Times New Roman"/>
              </a:rPr>
              <a:t>Regression and Log-Linear Models</a:t>
            </a:r>
            <a:endParaRPr sz="2000">
              <a:latin typeface="Times New Roman"/>
              <a:ea typeface="Times New Roman"/>
              <a:cs typeface="Times New Roman"/>
              <a:sym typeface="Times New Roman"/>
            </a:endParaRPr>
          </a:p>
          <a:p>
            <a:pPr marL="1076325" lvl="0" indent="-91439" algn="l" rtl="0">
              <a:lnSpc>
                <a:spcPct val="100000"/>
              </a:lnSpc>
              <a:spcBef>
                <a:spcPts val="450"/>
              </a:spcBef>
              <a:spcAft>
                <a:spcPts val="0"/>
              </a:spcAft>
              <a:buSzPct val="100000"/>
              <a:buChar char=" "/>
            </a:pPr>
            <a:r>
              <a:rPr lang="en-US" sz="2000">
                <a:solidFill>
                  <a:srgbClr val="944F71"/>
                </a:solidFill>
                <a:latin typeface="Calibri"/>
                <a:ea typeface="Calibri"/>
                <a:cs typeface="Calibri"/>
                <a:sym typeface="Calibri"/>
              </a:rPr>
              <a:t>−</a:t>
            </a:r>
            <a:r>
              <a:rPr lang="en-US" sz="2000">
                <a:solidFill>
                  <a:srgbClr val="944F71"/>
                </a:solidFill>
                <a:latin typeface="Times New Roman"/>
                <a:ea typeface="Times New Roman"/>
                <a:cs typeface="Times New Roman"/>
                <a:sym typeface="Times New Roman"/>
              </a:rPr>
              <a:t>Histograms, clustering, sampling</a:t>
            </a:r>
            <a:endParaRPr sz="2000">
              <a:latin typeface="Times New Roman"/>
              <a:ea typeface="Times New Roman"/>
              <a:cs typeface="Times New Roman"/>
              <a:sym typeface="Times New Roman"/>
            </a:endParaRPr>
          </a:p>
          <a:p>
            <a:pPr marL="1076325" lvl="0" indent="-91439" algn="l" rtl="0">
              <a:lnSpc>
                <a:spcPct val="100000"/>
              </a:lnSpc>
              <a:spcBef>
                <a:spcPts val="465"/>
              </a:spcBef>
              <a:spcAft>
                <a:spcPts val="0"/>
              </a:spcAft>
              <a:buSzPct val="100000"/>
              <a:buChar char=" "/>
            </a:pPr>
            <a:r>
              <a:rPr lang="en-US" sz="2000">
                <a:solidFill>
                  <a:srgbClr val="944F71"/>
                </a:solidFill>
                <a:latin typeface="Calibri"/>
                <a:ea typeface="Calibri"/>
                <a:cs typeface="Calibri"/>
                <a:sym typeface="Calibri"/>
              </a:rPr>
              <a:t>−</a:t>
            </a:r>
            <a:r>
              <a:rPr lang="en-US" sz="2000">
                <a:solidFill>
                  <a:srgbClr val="944F71"/>
                </a:solidFill>
                <a:latin typeface="Times New Roman"/>
                <a:ea typeface="Times New Roman"/>
                <a:cs typeface="Times New Roman"/>
                <a:sym typeface="Times New Roman"/>
              </a:rPr>
              <a:t>Data cube aggregation</a:t>
            </a:r>
            <a:endParaRPr sz="2000">
              <a:latin typeface="Times New Roman"/>
              <a:ea typeface="Times New Roman"/>
              <a:cs typeface="Times New Roman"/>
              <a:sym typeface="Times New Roman"/>
            </a:endParaRPr>
          </a:p>
          <a:p>
            <a:pPr marL="756285" lvl="1" indent="-286385" algn="l" rtl="0">
              <a:lnSpc>
                <a:spcPct val="100000"/>
              </a:lnSpc>
              <a:spcBef>
                <a:spcPts val="465"/>
              </a:spcBef>
              <a:spcAft>
                <a:spcPts val="0"/>
              </a:spcAft>
              <a:buSzPct val="100000"/>
              <a:buFont typeface="Courier New"/>
              <a:buChar char="o"/>
            </a:pPr>
            <a:r>
              <a:rPr lang="en-US" sz="2000">
                <a:solidFill>
                  <a:srgbClr val="0462C1"/>
                </a:solidFill>
                <a:latin typeface="Times New Roman"/>
                <a:ea typeface="Times New Roman"/>
                <a:cs typeface="Times New Roman"/>
                <a:sym typeface="Times New Roman"/>
              </a:rPr>
              <a:t>Data compression</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62"/>
          <p:cNvSpPr txBox="1"/>
          <p:nvPr/>
        </p:nvSpPr>
        <p:spPr>
          <a:xfrm>
            <a:off x="689457" y="6434236"/>
            <a:ext cx="725170" cy="197485"/>
          </a:xfrm>
          <a:prstGeom prst="rect">
            <a:avLst/>
          </a:prstGeom>
          <a:noFill/>
          <a:ln>
            <a:noFill/>
          </a:ln>
        </p:spPr>
        <p:txBody>
          <a:bodyPr spcFirstLastPara="1" wrap="square" lIns="0" tIns="0" rIns="0" bIns="0" anchor="t" anchorCtr="0">
            <a:spAutoFit/>
          </a:bodyPr>
          <a:lstStyle/>
          <a:p>
            <a:pPr marL="0" marR="0" lvl="0" indent="0" algn="l" rtl="0">
              <a:lnSpc>
                <a:spcPct val="109285"/>
              </a:lnSpc>
              <a:spcBef>
                <a:spcPts val="0"/>
              </a:spcBef>
              <a:spcAft>
                <a:spcPts val="0"/>
              </a:spcAft>
              <a:buNone/>
            </a:pPr>
            <a:r>
              <a:rPr lang="en-US" sz="1400" b="1">
                <a:solidFill>
                  <a:srgbClr val="FFFFFF"/>
                </a:solidFill>
                <a:latin typeface="Times New Roman"/>
                <a:ea typeface="Times New Roman"/>
                <a:cs typeface="Times New Roman"/>
                <a:sym typeface="Times New Roman"/>
              </a:rPr>
              <a:t>4/26/2022</a:t>
            </a:r>
            <a:endParaRPr sz="1400">
              <a:solidFill>
                <a:schemeClr val="dk1"/>
              </a:solidFill>
              <a:latin typeface="Times New Roman"/>
              <a:ea typeface="Times New Roman"/>
              <a:cs typeface="Times New Roman"/>
              <a:sym typeface="Times New Roman"/>
            </a:endParaRPr>
          </a:p>
        </p:txBody>
      </p:sp>
      <p:sp>
        <p:nvSpPr>
          <p:cNvPr id="454" name="Google Shape;454;p62"/>
          <p:cNvSpPr txBox="1">
            <a:spLocks noGrp="1"/>
          </p:cNvSpPr>
          <p:nvPr>
            <p:ph type="title"/>
          </p:nvPr>
        </p:nvSpPr>
        <p:spPr>
          <a:xfrm>
            <a:off x="768096" y="585216"/>
            <a:ext cx="7290054" cy="149961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00000"/>
              </a:buClr>
              <a:buSzPts val="4400"/>
              <a:buFont typeface="Calibri"/>
              <a:buNone/>
            </a:pPr>
            <a:r>
              <a:rPr lang="en-US">
                <a:solidFill>
                  <a:srgbClr val="000000"/>
                </a:solidFill>
                <a:latin typeface="Calibri"/>
                <a:ea typeface="Calibri"/>
                <a:cs typeface="Calibri"/>
                <a:sym typeface="Calibri"/>
              </a:rPr>
              <a:t>DATA REDUCTION 1: DIMENSIONALITY REDUCTION</a:t>
            </a:r>
            <a:endParaRPr/>
          </a:p>
        </p:txBody>
      </p:sp>
      <p:sp>
        <p:nvSpPr>
          <p:cNvPr id="455" name="Google Shape;455;p62"/>
          <p:cNvSpPr txBox="1">
            <a:spLocks noGrp="1"/>
          </p:cNvSpPr>
          <p:nvPr>
            <p:ph type="body" idx="1"/>
          </p:nvPr>
        </p:nvSpPr>
        <p:spPr>
          <a:xfrm>
            <a:off x="228600" y="2286000"/>
            <a:ext cx="8610600" cy="4572000"/>
          </a:xfrm>
          <a:prstGeom prst="rect">
            <a:avLst/>
          </a:prstGeom>
          <a:noFill/>
          <a:ln>
            <a:noFill/>
          </a:ln>
        </p:spPr>
        <p:txBody>
          <a:bodyPr spcFirstLastPara="1" wrap="square" lIns="45700" tIns="45700" rIns="45700" bIns="45700" anchor="t" anchorCtr="0">
            <a:normAutofit fontScale="70000" lnSpcReduction="20000"/>
          </a:bodyPr>
          <a:lstStyle/>
          <a:p>
            <a:pPr marL="240665" lvl="0" indent="-227965" algn="l" rtl="0">
              <a:lnSpc>
                <a:spcPct val="100000"/>
              </a:lnSpc>
              <a:spcBef>
                <a:spcPts val="0"/>
              </a:spcBef>
              <a:spcAft>
                <a:spcPts val="0"/>
              </a:spcAft>
              <a:buSzPct val="100000"/>
              <a:buFont typeface="Arial"/>
              <a:buChar char="•"/>
            </a:pPr>
            <a:r>
              <a:rPr lang="en-US" sz="2200" b="1">
                <a:latin typeface="Calibri"/>
                <a:ea typeface="Calibri"/>
                <a:cs typeface="Calibri"/>
                <a:sym typeface="Calibri"/>
              </a:rPr>
              <a:t>Curse of dimensionality</a:t>
            </a:r>
            <a:endParaRPr sz="2200">
              <a:latin typeface="Calibri"/>
              <a:ea typeface="Calibri"/>
              <a:cs typeface="Calibri"/>
              <a:sym typeface="Calibri"/>
            </a:endParaRPr>
          </a:p>
          <a:p>
            <a:pPr marL="697865" lvl="1" indent="-227965" algn="l" rtl="0">
              <a:lnSpc>
                <a:spcPct val="100000"/>
              </a:lnSpc>
              <a:spcBef>
                <a:spcPts val="910"/>
              </a:spcBef>
              <a:spcAft>
                <a:spcPts val="0"/>
              </a:spcAft>
              <a:buSzPct val="100000"/>
              <a:buFont typeface="Arial"/>
              <a:buChar char="•"/>
            </a:pPr>
            <a:r>
              <a:rPr lang="en-US" sz="2200">
                <a:latin typeface="Calibri"/>
                <a:ea typeface="Calibri"/>
                <a:cs typeface="Calibri"/>
                <a:sym typeface="Calibri"/>
              </a:rPr>
              <a:t>When dimensionality increases, data becomes increasingly sparse</a:t>
            </a:r>
            <a:endParaRPr sz="2200">
              <a:latin typeface="Calibri"/>
              <a:ea typeface="Calibri"/>
              <a:cs typeface="Calibri"/>
              <a:sym typeface="Calibri"/>
            </a:endParaRPr>
          </a:p>
          <a:p>
            <a:pPr marL="697865" lvl="1" indent="-227965" algn="l" rtl="0">
              <a:lnSpc>
                <a:spcPct val="100000"/>
              </a:lnSpc>
              <a:spcBef>
                <a:spcPts val="1125"/>
              </a:spcBef>
              <a:spcAft>
                <a:spcPts val="0"/>
              </a:spcAft>
              <a:buSzPct val="100000"/>
              <a:buFont typeface="Arial"/>
              <a:buChar char="•"/>
            </a:pPr>
            <a:r>
              <a:rPr lang="en-US" sz="2200">
                <a:latin typeface="Calibri"/>
                <a:ea typeface="Calibri"/>
                <a:cs typeface="Calibri"/>
                <a:sym typeface="Calibri"/>
              </a:rPr>
              <a:t>Density and distance between points, which is critical to clustering, outlier</a:t>
            </a:r>
            <a:endParaRPr sz="2200">
              <a:latin typeface="Calibri"/>
              <a:ea typeface="Calibri"/>
              <a:cs typeface="Calibri"/>
              <a:sym typeface="Calibri"/>
            </a:endParaRPr>
          </a:p>
          <a:p>
            <a:pPr marL="698500" lvl="0" indent="-97790" algn="l" rtl="0">
              <a:lnSpc>
                <a:spcPct val="100000"/>
              </a:lnSpc>
              <a:spcBef>
                <a:spcPts val="615"/>
              </a:spcBef>
              <a:spcAft>
                <a:spcPts val="0"/>
              </a:spcAft>
              <a:buSzPct val="100000"/>
              <a:buChar char=" "/>
            </a:pPr>
            <a:r>
              <a:rPr lang="en-US" sz="2200">
                <a:latin typeface="Calibri"/>
                <a:ea typeface="Calibri"/>
                <a:cs typeface="Calibri"/>
                <a:sym typeface="Calibri"/>
              </a:rPr>
              <a:t>analysis, becomes less meaningful</a:t>
            </a:r>
            <a:endParaRPr sz="2200">
              <a:latin typeface="Calibri"/>
              <a:ea typeface="Calibri"/>
              <a:cs typeface="Calibri"/>
              <a:sym typeface="Calibri"/>
            </a:endParaRPr>
          </a:p>
          <a:p>
            <a:pPr marL="697865" lvl="1" indent="-227965" algn="l" rtl="0">
              <a:lnSpc>
                <a:spcPct val="100000"/>
              </a:lnSpc>
              <a:spcBef>
                <a:spcPts val="920"/>
              </a:spcBef>
              <a:spcAft>
                <a:spcPts val="0"/>
              </a:spcAft>
              <a:buSzPct val="100000"/>
              <a:buFont typeface="Arial"/>
              <a:buChar char="•"/>
            </a:pPr>
            <a:r>
              <a:rPr lang="en-US" sz="2200">
                <a:latin typeface="Calibri"/>
                <a:ea typeface="Calibri"/>
                <a:cs typeface="Calibri"/>
                <a:sym typeface="Calibri"/>
              </a:rPr>
              <a:t>The possible combinations of subspaces will grow exponentially</a:t>
            </a:r>
            <a:endParaRPr sz="2200">
              <a:latin typeface="Calibri"/>
              <a:ea typeface="Calibri"/>
              <a:cs typeface="Calibri"/>
              <a:sym typeface="Calibri"/>
            </a:endParaRPr>
          </a:p>
          <a:p>
            <a:pPr marL="240665" lvl="0" indent="-227965" algn="l" rtl="0">
              <a:lnSpc>
                <a:spcPct val="100000"/>
              </a:lnSpc>
              <a:spcBef>
                <a:spcPts val="1615"/>
              </a:spcBef>
              <a:spcAft>
                <a:spcPts val="0"/>
              </a:spcAft>
              <a:buSzPct val="100000"/>
              <a:buFont typeface="Arial"/>
              <a:buChar char="•"/>
            </a:pPr>
            <a:r>
              <a:rPr lang="en-US" sz="2200" b="1">
                <a:latin typeface="Calibri"/>
                <a:ea typeface="Calibri"/>
                <a:cs typeface="Calibri"/>
                <a:sym typeface="Calibri"/>
              </a:rPr>
              <a:t>Dimensionality reduction</a:t>
            </a:r>
            <a:endParaRPr sz="2200">
              <a:latin typeface="Calibri"/>
              <a:ea typeface="Calibri"/>
              <a:cs typeface="Calibri"/>
              <a:sym typeface="Calibri"/>
            </a:endParaRPr>
          </a:p>
          <a:p>
            <a:pPr marL="697865" lvl="1" indent="-227965" algn="l" rtl="0">
              <a:lnSpc>
                <a:spcPct val="100000"/>
              </a:lnSpc>
              <a:spcBef>
                <a:spcPts val="920"/>
              </a:spcBef>
              <a:spcAft>
                <a:spcPts val="0"/>
              </a:spcAft>
              <a:buSzPct val="100000"/>
              <a:buFont typeface="Arial"/>
              <a:buChar char="•"/>
            </a:pPr>
            <a:r>
              <a:rPr lang="en-US" sz="2200">
                <a:latin typeface="Calibri"/>
                <a:ea typeface="Calibri"/>
                <a:cs typeface="Calibri"/>
                <a:sym typeface="Calibri"/>
              </a:rPr>
              <a:t>Avoid the curse of dimensionality</a:t>
            </a:r>
            <a:endParaRPr sz="2200">
              <a:latin typeface="Calibri"/>
              <a:ea typeface="Calibri"/>
              <a:cs typeface="Calibri"/>
              <a:sym typeface="Calibri"/>
            </a:endParaRPr>
          </a:p>
          <a:p>
            <a:pPr marL="697865" lvl="1" indent="-227965" algn="l" rtl="0">
              <a:lnSpc>
                <a:spcPct val="100000"/>
              </a:lnSpc>
              <a:spcBef>
                <a:spcPts val="1105"/>
              </a:spcBef>
              <a:spcAft>
                <a:spcPts val="0"/>
              </a:spcAft>
              <a:buSzPct val="100000"/>
              <a:buFont typeface="Arial"/>
              <a:buChar char="•"/>
            </a:pPr>
            <a:r>
              <a:rPr lang="en-US" sz="2200">
                <a:latin typeface="Calibri"/>
                <a:ea typeface="Calibri"/>
                <a:cs typeface="Calibri"/>
                <a:sym typeface="Calibri"/>
              </a:rPr>
              <a:t>Help eliminate irrelevant features and reduce noise</a:t>
            </a:r>
            <a:endParaRPr sz="2200">
              <a:latin typeface="Calibri"/>
              <a:ea typeface="Calibri"/>
              <a:cs typeface="Calibri"/>
              <a:sym typeface="Calibri"/>
            </a:endParaRPr>
          </a:p>
          <a:p>
            <a:pPr marL="697865" lvl="1" indent="-227965" algn="l" rtl="0">
              <a:lnSpc>
                <a:spcPct val="100000"/>
              </a:lnSpc>
              <a:spcBef>
                <a:spcPts val="1120"/>
              </a:spcBef>
              <a:spcAft>
                <a:spcPts val="0"/>
              </a:spcAft>
              <a:buSzPct val="100000"/>
              <a:buFont typeface="Arial"/>
              <a:buChar char="•"/>
            </a:pPr>
            <a:r>
              <a:rPr lang="en-US" sz="2200">
                <a:latin typeface="Calibri"/>
                <a:ea typeface="Calibri"/>
                <a:cs typeface="Calibri"/>
                <a:sym typeface="Calibri"/>
              </a:rPr>
              <a:t>Reduce time and space required in data mining</a:t>
            </a:r>
            <a:endParaRPr sz="2200">
              <a:latin typeface="Calibri"/>
              <a:ea typeface="Calibri"/>
              <a:cs typeface="Calibri"/>
              <a:sym typeface="Calibri"/>
            </a:endParaRPr>
          </a:p>
          <a:p>
            <a:pPr marL="697865" lvl="1" indent="-227965" algn="l" rtl="0">
              <a:lnSpc>
                <a:spcPct val="100000"/>
              </a:lnSpc>
              <a:spcBef>
                <a:spcPts val="1125"/>
              </a:spcBef>
              <a:spcAft>
                <a:spcPts val="0"/>
              </a:spcAft>
              <a:buSzPct val="100000"/>
              <a:buFont typeface="Arial"/>
              <a:buChar char="•"/>
            </a:pPr>
            <a:r>
              <a:rPr lang="en-US" sz="2200">
                <a:latin typeface="Calibri"/>
                <a:ea typeface="Calibri"/>
                <a:cs typeface="Calibri"/>
                <a:sym typeface="Calibri"/>
              </a:rPr>
              <a:t>Allow easier visualization</a:t>
            </a:r>
            <a:endParaRPr sz="2200">
              <a:latin typeface="Calibri"/>
              <a:ea typeface="Calibri"/>
              <a:cs typeface="Calibri"/>
              <a:sym typeface="Calibri"/>
            </a:endParaRPr>
          </a:p>
          <a:p>
            <a:pPr marL="240665" lvl="0" indent="-227965" algn="l" rtl="0">
              <a:lnSpc>
                <a:spcPct val="100000"/>
              </a:lnSpc>
              <a:spcBef>
                <a:spcPts val="1610"/>
              </a:spcBef>
              <a:spcAft>
                <a:spcPts val="0"/>
              </a:spcAft>
              <a:buSzPct val="100000"/>
              <a:buFont typeface="Arial"/>
              <a:buChar char="•"/>
            </a:pPr>
            <a:r>
              <a:rPr lang="en-US" sz="2200" b="1">
                <a:latin typeface="Calibri"/>
                <a:ea typeface="Calibri"/>
                <a:cs typeface="Calibri"/>
                <a:sym typeface="Calibri"/>
              </a:rPr>
              <a:t>Dimensionality reduction techniques</a:t>
            </a:r>
            <a:endParaRPr sz="2200">
              <a:latin typeface="Calibri"/>
              <a:ea typeface="Calibri"/>
              <a:cs typeface="Calibri"/>
              <a:sym typeface="Calibri"/>
            </a:endParaRPr>
          </a:p>
          <a:p>
            <a:pPr marL="697865" lvl="1" indent="-227965" algn="l" rtl="0">
              <a:lnSpc>
                <a:spcPct val="100000"/>
              </a:lnSpc>
              <a:spcBef>
                <a:spcPts val="920"/>
              </a:spcBef>
              <a:spcAft>
                <a:spcPts val="0"/>
              </a:spcAft>
              <a:buSzPct val="100000"/>
              <a:buFont typeface="Arial"/>
              <a:buChar char="•"/>
            </a:pPr>
            <a:r>
              <a:rPr lang="en-US" sz="2200">
                <a:latin typeface="Calibri"/>
                <a:ea typeface="Calibri"/>
                <a:cs typeface="Calibri"/>
                <a:sym typeface="Calibri"/>
              </a:rPr>
              <a:t>Wavelet transforms</a:t>
            </a:r>
            <a:endParaRPr sz="2200">
              <a:latin typeface="Calibri"/>
              <a:ea typeface="Calibri"/>
              <a:cs typeface="Calibri"/>
              <a:sym typeface="Calibri"/>
            </a:endParaRPr>
          </a:p>
          <a:p>
            <a:pPr marL="697865" lvl="1" indent="-227965" algn="l" rtl="0">
              <a:lnSpc>
                <a:spcPct val="100000"/>
              </a:lnSpc>
              <a:spcBef>
                <a:spcPts val="1110"/>
              </a:spcBef>
              <a:spcAft>
                <a:spcPts val="0"/>
              </a:spcAft>
              <a:buSzPct val="100000"/>
              <a:buFont typeface="Arial"/>
              <a:buChar char="•"/>
            </a:pPr>
            <a:r>
              <a:rPr lang="en-US" sz="2200">
                <a:latin typeface="Calibri"/>
                <a:ea typeface="Calibri"/>
                <a:cs typeface="Calibri"/>
                <a:sym typeface="Calibri"/>
              </a:rPr>
              <a:t>Principal Component Analysis</a:t>
            </a:r>
            <a:endParaRPr sz="2200">
              <a:latin typeface="Calibri"/>
              <a:ea typeface="Calibri"/>
              <a:cs typeface="Calibri"/>
              <a:sym typeface="Calibri"/>
            </a:endParaRPr>
          </a:p>
          <a:p>
            <a:pPr marL="697865" lvl="1" indent="-227965" algn="l" rtl="0">
              <a:lnSpc>
                <a:spcPct val="100000"/>
              </a:lnSpc>
              <a:spcBef>
                <a:spcPts val="1120"/>
              </a:spcBef>
              <a:spcAft>
                <a:spcPts val="0"/>
              </a:spcAft>
              <a:buSzPct val="100000"/>
              <a:buFont typeface="Arial"/>
              <a:buChar char="•"/>
            </a:pPr>
            <a:r>
              <a:rPr lang="en-US" sz="2200">
                <a:latin typeface="Calibri"/>
                <a:ea typeface="Calibri"/>
                <a:cs typeface="Calibri"/>
                <a:sym typeface="Calibri"/>
              </a:rPr>
              <a:t>Supervised and nonlinear techniques (e.g., feature selection)</a:t>
            </a:r>
            <a:endParaRPr sz="2200">
              <a:latin typeface="Calibri"/>
              <a:ea typeface="Calibri"/>
              <a:cs typeface="Calibri"/>
              <a:sym typeface="Calibri"/>
            </a:endParaRPr>
          </a:p>
          <a:p>
            <a:pPr marL="91440" lvl="0" indent="-2539" algn="l" rtl="0">
              <a:lnSpc>
                <a:spcPct val="90000"/>
              </a:lnSpc>
              <a:spcBef>
                <a:spcPts val="1600"/>
              </a:spcBef>
              <a:spcAft>
                <a:spcPts val="0"/>
              </a:spcAft>
              <a:buSzPct val="100000"/>
              <a:buNone/>
            </a:pP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63"/>
          <p:cNvSpPr txBox="1"/>
          <p:nvPr/>
        </p:nvSpPr>
        <p:spPr>
          <a:xfrm>
            <a:off x="689457" y="6434236"/>
            <a:ext cx="725170" cy="197485"/>
          </a:xfrm>
          <a:prstGeom prst="rect">
            <a:avLst/>
          </a:prstGeom>
          <a:noFill/>
          <a:ln>
            <a:noFill/>
          </a:ln>
        </p:spPr>
        <p:txBody>
          <a:bodyPr spcFirstLastPara="1" wrap="square" lIns="0" tIns="0" rIns="0" bIns="0" anchor="t" anchorCtr="0">
            <a:spAutoFit/>
          </a:bodyPr>
          <a:lstStyle/>
          <a:p>
            <a:pPr marL="0" marR="0" lvl="0" indent="0" algn="l" rtl="0">
              <a:lnSpc>
                <a:spcPct val="109285"/>
              </a:lnSpc>
              <a:spcBef>
                <a:spcPts val="0"/>
              </a:spcBef>
              <a:spcAft>
                <a:spcPts val="0"/>
              </a:spcAft>
              <a:buNone/>
            </a:pPr>
            <a:r>
              <a:rPr lang="en-US" sz="1400" b="1">
                <a:solidFill>
                  <a:srgbClr val="FFFFFF"/>
                </a:solidFill>
                <a:latin typeface="Times New Roman"/>
                <a:ea typeface="Times New Roman"/>
                <a:cs typeface="Times New Roman"/>
                <a:sym typeface="Times New Roman"/>
              </a:rPr>
              <a:t>4/26/2022</a:t>
            </a:r>
            <a:endParaRPr sz="1400">
              <a:solidFill>
                <a:schemeClr val="dk1"/>
              </a:solidFill>
              <a:latin typeface="Times New Roman"/>
              <a:ea typeface="Times New Roman"/>
              <a:cs typeface="Times New Roman"/>
              <a:sym typeface="Times New Roman"/>
            </a:endParaRPr>
          </a:p>
        </p:txBody>
      </p:sp>
      <p:sp>
        <p:nvSpPr>
          <p:cNvPr id="461" name="Google Shape;461;p63"/>
          <p:cNvSpPr txBox="1">
            <a:spLocks noGrp="1"/>
          </p:cNvSpPr>
          <p:nvPr>
            <p:ph type="title"/>
          </p:nvPr>
        </p:nvSpPr>
        <p:spPr>
          <a:xfrm>
            <a:off x="768096" y="980825"/>
            <a:ext cx="7290054" cy="708398"/>
          </a:xfrm>
          <a:prstGeom prst="rect">
            <a:avLst/>
          </a:prstGeom>
          <a:noFill/>
          <a:ln>
            <a:noFill/>
          </a:ln>
        </p:spPr>
        <p:txBody>
          <a:bodyPr spcFirstLastPara="1" wrap="square" lIns="0" tIns="213850" rIns="0" bIns="0" anchor="ctr" anchorCtr="0">
            <a:spAutoFit/>
          </a:bodyPr>
          <a:lstStyle/>
          <a:p>
            <a:pPr marL="12700" lvl="0" indent="0" algn="l" rtl="0">
              <a:lnSpc>
                <a:spcPct val="100000"/>
              </a:lnSpc>
              <a:spcBef>
                <a:spcPts val="0"/>
              </a:spcBef>
              <a:spcAft>
                <a:spcPts val="0"/>
              </a:spcAft>
              <a:buClr>
                <a:schemeClr val="dk1"/>
              </a:buClr>
              <a:buSzPts val="3200"/>
              <a:buFont typeface="Twentieth Century"/>
              <a:buNone/>
            </a:pPr>
            <a:r>
              <a:rPr lang="en-US" sz="3200">
                <a:solidFill>
                  <a:schemeClr val="dk1"/>
                </a:solidFill>
              </a:rPr>
              <a:t>DATA NORMALIZATION</a:t>
            </a:r>
            <a:endParaRPr/>
          </a:p>
        </p:txBody>
      </p:sp>
      <p:sp>
        <p:nvSpPr>
          <p:cNvPr id="462" name="Google Shape;462;p63"/>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299085" marR="5080" lvl="0" indent="-287019" algn="l" rtl="0">
              <a:lnSpc>
                <a:spcPct val="151000"/>
              </a:lnSpc>
              <a:spcBef>
                <a:spcPts val="0"/>
              </a:spcBef>
              <a:spcAft>
                <a:spcPts val="0"/>
              </a:spcAft>
              <a:buSzPts val="2000"/>
              <a:buFont typeface="Arial"/>
              <a:buChar char="•"/>
            </a:pPr>
            <a:r>
              <a:rPr lang="en-US" sz="2000" b="1">
                <a:latin typeface="Times New Roman"/>
                <a:ea typeface="Times New Roman"/>
                <a:cs typeface="Times New Roman"/>
                <a:sym typeface="Times New Roman"/>
              </a:rPr>
              <a:t>Normalization </a:t>
            </a:r>
            <a:r>
              <a:rPr lang="en-US" sz="2000">
                <a:latin typeface="Times New Roman"/>
                <a:ea typeface="Times New Roman"/>
                <a:cs typeface="Times New Roman"/>
                <a:sym typeface="Times New Roman"/>
              </a:rPr>
              <a:t>is used to scale the data of an attribute so that it falls in a smaller range, such as -1.0 to 1.0 or 0.0 to 1.0.</a:t>
            </a:r>
            <a:endParaRPr sz="2000">
              <a:latin typeface="Times New Roman"/>
              <a:ea typeface="Times New Roman"/>
              <a:cs typeface="Times New Roman"/>
              <a:sym typeface="Times New Roman"/>
            </a:endParaRPr>
          </a:p>
          <a:p>
            <a:pPr marL="299085" lvl="0" indent="-286385" algn="l" rtl="0">
              <a:lnSpc>
                <a:spcPct val="100000"/>
              </a:lnSpc>
              <a:spcBef>
                <a:spcPts val="870"/>
              </a:spcBef>
              <a:spcAft>
                <a:spcPts val="0"/>
              </a:spcAft>
              <a:buSzPts val="2000"/>
              <a:buFont typeface="Arial"/>
              <a:buChar char="•"/>
            </a:pPr>
            <a:r>
              <a:rPr lang="en-US" sz="2000">
                <a:latin typeface="Times New Roman"/>
                <a:ea typeface="Times New Roman"/>
                <a:cs typeface="Times New Roman"/>
                <a:sym typeface="Times New Roman"/>
              </a:rPr>
              <a:t>It is generally useful for classification algorithms.</a:t>
            </a:r>
            <a:endParaRPr sz="2000">
              <a:latin typeface="Times New Roman"/>
              <a:ea typeface="Times New Roman"/>
              <a:cs typeface="Times New Roman"/>
              <a:sym typeface="Times New Roman"/>
            </a:endParaRPr>
          </a:p>
          <a:p>
            <a:pPr marL="91440" lvl="0" indent="0" algn="l" rtl="0">
              <a:lnSpc>
                <a:spcPct val="90000"/>
              </a:lnSpc>
              <a:spcBef>
                <a:spcPts val="1400"/>
              </a:spcBef>
              <a:spcAft>
                <a:spcPts val="0"/>
              </a:spcAft>
              <a:buSzPts val="2000"/>
              <a:buNone/>
            </a:pP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64"/>
          <p:cNvSpPr txBox="1"/>
          <p:nvPr/>
        </p:nvSpPr>
        <p:spPr>
          <a:xfrm>
            <a:off x="689457" y="6434236"/>
            <a:ext cx="725170" cy="197485"/>
          </a:xfrm>
          <a:prstGeom prst="rect">
            <a:avLst/>
          </a:prstGeom>
          <a:noFill/>
          <a:ln>
            <a:noFill/>
          </a:ln>
        </p:spPr>
        <p:txBody>
          <a:bodyPr spcFirstLastPara="1" wrap="square" lIns="0" tIns="0" rIns="0" bIns="0" anchor="t" anchorCtr="0">
            <a:spAutoFit/>
          </a:bodyPr>
          <a:lstStyle/>
          <a:p>
            <a:pPr marL="0" marR="0" lvl="0" indent="0" algn="l" rtl="0">
              <a:lnSpc>
                <a:spcPct val="109285"/>
              </a:lnSpc>
              <a:spcBef>
                <a:spcPts val="0"/>
              </a:spcBef>
              <a:spcAft>
                <a:spcPts val="0"/>
              </a:spcAft>
              <a:buNone/>
            </a:pPr>
            <a:r>
              <a:rPr lang="en-US" sz="1400" b="1">
                <a:solidFill>
                  <a:srgbClr val="FFFFFF"/>
                </a:solidFill>
                <a:latin typeface="Times New Roman"/>
                <a:ea typeface="Times New Roman"/>
                <a:cs typeface="Times New Roman"/>
                <a:sym typeface="Times New Roman"/>
              </a:rPr>
              <a:t>4/26/2022</a:t>
            </a:r>
            <a:endParaRPr sz="1400">
              <a:solidFill>
                <a:schemeClr val="dk1"/>
              </a:solidFill>
              <a:latin typeface="Times New Roman"/>
              <a:ea typeface="Times New Roman"/>
              <a:cs typeface="Times New Roman"/>
              <a:sym typeface="Times New Roman"/>
            </a:endParaRPr>
          </a:p>
        </p:txBody>
      </p:sp>
      <p:sp>
        <p:nvSpPr>
          <p:cNvPr id="468" name="Google Shape;468;p64"/>
          <p:cNvSpPr txBox="1">
            <a:spLocks noGrp="1"/>
          </p:cNvSpPr>
          <p:nvPr>
            <p:ph type="title"/>
          </p:nvPr>
        </p:nvSpPr>
        <p:spPr>
          <a:xfrm>
            <a:off x="768096" y="980825"/>
            <a:ext cx="7290054" cy="708398"/>
          </a:xfrm>
          <a:prstGeom prst="rect">
            <a:avLst/>
          </a:prstGeom>
          <a:noFill/>
          <a:ln>
            <a:noFill/>
          </a:ln>
        </p:spPr>
        <p:txBody>
          <a:bodyPr spcFirstLastPara="1" wrap="square" lIns="0" tIns="213850" rIns="0" bIns="0" anchor="ctr" anchorCtr="0">
            <a:spAutoFit/>
          </a:bodyPr>
          <a:lstStyle/>
          <a:p>
            <a:pPr marL="0" lvl="0" indent="0" algn="l" rtl="0">
              <a:lnSpc>
                <a:spcPct val="100000"/>
              </a:lnSpc>
              <a:spcBef>
                <a:spcPts val="0"/>
              </a:spcBef>
              <a:spcAft>
                <a:spcPts val="0"/>
              </a:spcAft>
              <a:buClr>
                <a:schemeClr val="dk1"/>
              </a:buClr>
              <a:buSzPts val="3200"/>
              <a:buFont typeface="Twentieth Century"/>
              <a:buNone/>
            </a:pPr>
            <a:r>
              <a:rPr lang="en-US" sz="3200">
                <a:solidFill>
                  <a:schemeClr val="dk1"/>
                </a:solidFill>
              </a:rPr>
              <a:t>NEED OF  NORMALIZATION</a:t>
            </a:r>
            <a:endParaRPr/>
          </a:p>
        </p:txBody>
      </p:sp>
      <p:sp>
        <p:nvSpPr>
          <p:cNvPr id="469" name="Google Shape;469;p64"/>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299085" marR="80010" lvl="0" indent="-287019" algn="l" rtl="0">
              <a:lnSpc>
                <a:spcPct val="80000"/>
              </a:lnSpc>
              <a:spcBef>
                <a:spcPts val="0"/>
              </a:spcBef>
              <a:spcAft>
                <a:spcPts val="0"/>
              </a:spcAft>
              <a:buSzPts val="2000"/>
              <a:buFont typeface="Arial"/>
              <a:buChar char="•"/>
            </a:pPr>
            <a:r>
              <a:rPr lang="en-US" sz="2000">
                <a:latin typeface="Times New Roman"/>
                <a:ea typeface="Times New Roman"/>
                <a:cs typeface="Times New Roman"/>
                <a:sym typeface="Times New Roman"/>
              </a:rPr>
              <a:t>Normalization is generally required when we are dealing with attributes on a different scale, otherwise, it may lead to a dilution in effectiveness of an important equally important attribute(on lower scale) because of other attribute having values on larger scale.</a:t>
            </a:r>
            <a:endParaRPr sz="2000">
              <a:latin typeface="Times New Roman"/>
              <a:ea typeface="Times New Roman"/>
              <a:cs typeface="Times New Roman"/>
              <a:sym typeface="Times New Roman"/>
            </a:endParaRPr>
          </a:p>
          <a:p>
            <a:pPr marL="91440" lvl="0" indent="0" algn="l" rtl="0">
              <a:lnSpc>
                <a:spcPct val="100000"/>
              </a:lnSpc>
              <a:spcBef>
                <a:spcPts val="675"/>
              </a:spcBef>
              <a:spcAft>
                <a:spcPts val="0"/>
              </a:spcAft>
              <a:buSzPts val="2000"/>
              <a:buFont typeface="Arial"/>
              <a:buNone/>
            </a:pPr>
            <a:endParaRPr sz="2000">
              <a:latin typeface="Times New Roman"/>
              <a:ea typeface="Times New Roman"/>
              <a:cs typeface="Times New Roman"/>
              <a:sym typeface="Times New Roman"/>
            </a:endParaRPr>
          </a:p>
          <a:p>
            <a:pPr marL="299085" marR="5080" lvl="0" indent="-287019" algn="l" rtl="0">
              <a:lnSpc>
                <a:spcPct val="80000"/>
              </a:lnSpc>
              <a:spcBef>
                <a:spcPts val="205"/>
              </a:spcBef>
              <a:spcAft>
                <a:spcPts val="0"/>
              </a:spcAft>
              <a:buSzPts val="2000"/>
              <a:buFont typeface="Arial"/>
              <a:buChar char="•"/>
            </a:pPr>
            <a:r>
              <a:rPr lang="en-US" sz="2000">
                <a:latin typeface="Times New Roman"/>
                <a:ea typeface="Times New Roman"/>
                <a:cs typeface="Times New Roman"/>
                <a:sym typeface="Times New Roman"/>
              </a:rPr>
              <a:t>In simple words, when multiple attributes are there but attributes have values on different scales, this may lead to poor data models while performing data mining operations. So they are normalized to bring all the attributes on the same scale.</a:t>
            </a:r>
            <a:endParaRPr sz="2000">
              <a:latin typeface="Times New Roman"/>
              <a:ea typeface="Times New Roman"/>
              <a:cs typeface="Times New Roman"/>
              <a:sym typeface="Times New Roman"/>
            </a:endParaRPr>
          </a:p>
          <a:p>
            <a:pPr marL="91440" lvl="0" indent="0" algn="l" rtl="0">
              <a:lnSpc>
                <a:spcPct val="90000"/>
              </a:lnSpc>
              <a:spcBef>
                <a:spcPts val="1400"/>
              </a:spcBef>
              <a:spcAft>
                <a:spcPts val="0"/>
              </a:spcAft>
              <a:buSzPts val="2000"/>
              <a:buNone/>
            </a:pP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65"/>
          <p:cNvSpPr txBox="1"/>
          <p:nvPr/>
        </p:nvSpPr>
        <p:spPr>
          <a:xfrm>
            <a:off x="676757" y="6402120"/>
            <a:ext cx="750570" cy="23939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00" b="1">
                <a:solidFill>
                  <a:srgbClr val="FFFFFF"/>
                </a:solidFill>
                <a:latin typeface="Times New Roman"/>
                <a:ea typeface="Times New Roman"/>
                <a:cs typeface="Times New Roman"/>
                <a:sym typeface="Times New Roman"/>
              </a:rPr>
              <a:t>4/26/2022</a:t>
            </a:r>
            <a:endParaRPr sz="1400">
              <a:solidFill>
                <a:schemeClr val="dk1"/>
              </a:solidFill>
              <a:latin typeface="Times New Roman"/>
              <a:ea typeface="Times New Roman"/>
              <a:cs typeface="Times New Roman"/>
              <a:sym typeface="Times New Roman"/>
            </a:endParaRPr>
          </a:p>
        </p:txBody>
      </p:sp>
      <p:grpSp>
        <p:nvGrpSpPr>
          <p:cNvPr id="475" name="Google Shape;475;p65"/>
          <p:cNvGrpSpPr/>
          <p:nvPr/>
        </p:nvGrpSpPr>
        <p:grpSpPr>
          <a:xfrm>
            <a:off x="0" y="301625"/>
            <a:ext cx="8799830" cy="6556375"/>
            <a:chOff x="173926" y="135509"/>
            <a:chExt cx="8799830" cy="6556375"/>
          </a:xfrm>
        </p:grpSpPr>
        <p:sp>
          <p:nvSpPr>
            <p:cNvPr id="476" name="Google Shape;476;p65"/>
            <p:cNvSpPr/>
            <p:nvPr/>
          </p:nvSpPr>
          <p:spPr>
            <a:xfrm>
              <a:off x="173926" y="135509"/>
              <a:ext cx="8799830" cy="6556375"/>
            </a:xfrm>
            <a:custGeom>
              <a:avLst/>
              <a:gdLst/>
              <a:ahLst/>
              <a:cxnLst/>
              <a:rect l="l" t="t" r="r" b="b"/>
              <a:pathLst>
                <a:path w="8799830" h="6556375" extrusionOk="0">
                  <a:moveTo>
                    <a:pt x="0" y="388874"/>
                  </a:moveTo>
                  <a:lnTo>
                    <a:pt x="15024" y="6262801"/>
                  </a:lnTo>
                </a:path>
                <a:path w="8799830" h="6556375" extrusionOk="0">
                  <a:moveTo>
                    <a:pt x="8784907" y="0"/>
                  </a:moveTo>
                  <a:lnTo>
                    <a:pt x="8799258" y="6100902"/>
                  </a:lnTo>
                </a:path>
                <a:path w="8799830" h="6556375" extrusionOk="0">
                  <a:moveTo>
                    <a:pt x="255346" y="0"/>
                  </a:moveTo>
                  <a:lnTo>
                    <a:pt x="8792019" y="0"/>
                  </a:lnTo>
                </a:path>
                <a:path w="8799830" h="6556375" extrusionOk="0">
                  <a:moveTo>
                    <a:pt x="15024" y="6262801"/>
                  </a:moveTo>
                  <a:lnTo>
                    <a:pt x="59148" y="6275392"/>
                  </a:lnTo>
                  <a:lnTo>
                    <a:pt x="97639" y="6308585"/>
                  </a:lnTo>
                  <a:lnTo>
                    <a:pt x="124864" y="6355513"/>
                  </a:lnTo>
                  <a:lnTo>
                    <a:pt x="135191" y="6409309"/>
                  </a:lnTo>
                  <a:lnTo>
                    <a:pt x="145516" y="6463097"/>
                  </a:lnTo>
                  <a:lnTo>
                    <a:pt x="172737" y="6510021"/>
                  </a:lnTo>
                  <a:lnTo>
                    <a:pt x="211224" y="6543213"/>
                  </a:lnTo>
                  <a:lnTo>
                    <a:pt x="255346" y="6555803"/>
                  </a:lnTo>
                </a:path>
                <a:path w="8799830" h="6556375" extrusionOk="0">
                  <a:moveTo>
                    <a:pt x="8799258" y="6100902"/>
                  </a:moveTo>
                  <a:lnTo>
                    <a:pt x="8793990" y="6157234"/>
                  </a:lnTo>
                  <a:lnTo>
                    <a:pt x="8779427" y="6210409"/>
                  </a:lnTo>
                  <a:lnTo>
                    <a:pt x="8757427" y="6257267"/>
                  </a:lnTo>
                  <a:lnTo>
                    <a:pt x="8729850" y="6294649"/>
                  </a:lnTo>
                  <a:lnTo>
                    <a:pt x="8698555" y="6319395"/>
                  </a:lnTo>
                  <a:lnTo>
                    <a:pt x="8665400" y="6328346"/>
                  </a:lnTo>
                  <a:lnTo>
                    <a:pt x="8632245" y="6337297"/>
                  </a:lnTo>
                  <a:lnTo>
                    <a:pt x="8600950" y="6362043"/>
                  </a:lnTo>
                  <a:lnTo>
                    <a:pt x="8573373" y="6399426"/>
                  </a:lnTo>
                  <a:lnTo>
                    <a:pt x="8551373" y="6446287"/>
                  </a:lnTo>
                  <a:lnTo>
                    <a:pt x="8536810" y="6499465"/>
                  </a:lnTo>
                  <a:lnTo>
                    <a:pt x="8531542" y="6555803"/>
                  </a:lnTo>
                </a:path>
              </a:pathLst>
            </a:custGeom>
            <a:noFill/>
            <a:ln w="9525" cap="flat" cmpd="sng">
              <a:solidFill>
                <a:srgbClr val="EC7C3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Twentieth Century"/>
                <a:ea typeface="Twentieth Century"/>
                <a:cs typeface="Twentieth Century"/>
                <a:sym typeface="Twentieth Century"/>
              </a:endParaRPr>
            </a:p>
          </p:txBody>
        </p:sp>
        <p:pic>
          <p:nvPicPr>
            <p:cNvPr id="477" name="Google Shape;477;p65"/>
            <p:cNvPicPr preferRelativeResize="0"/>
            <p:nvPr/>
          </p:nvPicPr>
          <p:blipFill rotWithShape="1">
            <a:blip r:embed="rId3">
              <a:alphaModFix/>
            </a:blip>
            <a:srcRect/>
            <a:stretch/>
          </p:blipFill>
          <p:spPr>
            <a:xfrm>
              <a:off x="1097330" y="1774829"/>
              <a:ext cx="7758807" cy="4018002"/>
            </a:xfrm>
            <a:prstGeom prst="rect">
              <a:avLst/>
            </a:prstGeom>
            <a:noFill/>
            <a:ln>
              <a:noFill/>
            </a:ln>
          </p:spPr>
        </p:pic>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66"/>
          <p:cNvSpPr txBox="1"/>
          <p:nvPr/>
        </p:nvSpPr>
        <p:spPr>
          <a:xfrm>
            <a:off x="689457" y="6434236"/>
            <a:ext cx="725170" cy="197485"/>
          </a:xfrm>
          <a:prstGeom prst="rect">
            <a:avLst/>
          </a:prstGeom>
          <a:noFill/>
          <a:ln>
            <a:noFill/>
          </a:ln>
        </p:spPr>
        <p:txBody>
          <a:bodyPr spcFirstLastPara="1" wrap="square" lIns="0" tIns="0" rIns="0" bIns="0" anchor="t" anchorCtr="0">
            <a:spAutoFit/>
          </a:bodyPr>
          <a:lstStyle/>
          <a:p>
            <a:pPr marL="0" marR="0" lvl="0" indent="0" algn="l" rtl="0">
              <a:lnSpc>
                <a:spcPct val="109285"/>
              </a:lnSpc>
              <a:spcBef>
                <a:spcPts val="0"/>
              </a:spcBef>
              <a:spcAft>
                <a:spcPts val="0"/>
              </a:spcAft>
              <a:buNone/>
            </a:pPr>
            <a:r>
              <a:rPr lang="en-US" sz="1400" b="1">
                <a:solidFill>
                  <a:srgbClr val="FFFFFF"/>
                </a:solidFill>
                <a:latin typeface="Times New Roman"/>
                <a:ea typeface="Times New Roman"/>
                <a:cs typeface="Times New Roman"/>
                <a:sym typeface="Times New Roman"/>
              </a:rPr>
              <a:t>4/26/2022</a:t>
            </a:r>
            <a:endParaRPr sz="1400">
              <a:solidFill>
                <a:schemeClr val="dk1"/>
              </a:solidFill>
              <a:latin typeface="Times New Roman"/>
              <a:ea typeface="Times New Roman"/>
              <a:cs typeface="Times New Roman"/>
              <a:sym typeface="Times New Roman"/>
            </a:endParaRPr>
          </a:p>
        </p:txBody>
      </p:sp>
      <p:sp>
        <p:nvSpPr>
          <p:cNvPr id="483" name="Google Shape;483;p66"/>
          <p:cNvSpPr txBox="1"/>
          <p:nvPr/>
        </p:nvSpPr>
        <p:spPr>
          <a:xfrm>
            <a:off x="778865" y="1303147"/>
            <a:ext cx="7882255" cy="2243455"/>
          </a:xfrm>
          <a:prstGeom prst="rect">
            <a:avLst/>
          </a:prstGeom>
          <a:noFill/>
          <a:ln>
            <a:noFill/>
          </a:ln>
        </p:spPr>
        <p:txBody>
          <a:bodyPr spcFirstLastPara="1" wrap="square" lIns="0" tIns="60950" rIns="0" bIns="0" anchor="t" anchorCtr="0">
            <a:spAutoFit/>
          </a:bodyPr>
          <a:lstStyle/>
          <a:p>
            <a:pPr marL="299085" marR="879475" lvl="0" indent="-287019" algn="l" rtl="0">
              <a:lnSpc>
                <a:spcPct val="107857"/>
              </a:lnSpc>
              <a:spcBef>
                <a:spcPts val="0"/>
              </a:spcBef>
              <a:spcAft>
                <a:spcPts val="0"/>
              </a:spcAft>
              <a:buClr>
                <a:schemeClr val="dk1"/>
              </a:buClr>
              <a:buSzPts val="2800"/>
              <a:buFont typeface="Arial"/>
              <a:buChar char="•"/>
            </a:pPr>
            <a:r>
              <a:rPr lang="en-US" sz="2800" b="1">
                <a:solidFill>
                  <a:schemeClr val="dk1"/>
                </a:solidFill>
                <a:latin typeface="Times New Roman"/>
                <a:ea typeface="Times New Roman"/>
                <a:cs typeface="Times New Roman"/>
                <a:sym typeface="Times New Roman"/>
              </a:rPr>
              <a:t>Min-Max Normalization: </a:t>
            </a:r>
            <a:r>
              <a:rPr lang="en-US" sz="2800">
                <a:solidFill>
                  <a:schemeClr val="dk1"/>
                </a:solidFill>
                <a:latin typeface="Times New Roman"/>
                <a:ea typeface="Times New Roman"/>
                <a:cs typeface="Times New Roman"/>
                <a:sym typeface="Times New Roman"/>
              </a:rPr>
              <a:t>This transforms the original data linearly.</a:t>
            </a:r>
            <a:endParaRPr sz="2800">
              <a:solidFill>
                <a:schemeClr val="dk1"/>
              </a:solidFill>
              <a:latin typeface="Times New Roman"/>
              <a:ea typeface="Times New Roman"/>
              <a:cs typeface="Times New Roman"/>
              <a:sym typeface="Times New Roman"/>
            </a:endParaRPr>
          </a:p>
          <a:p>
            <a:pPr marL="299085" marR="5080" lvl="0" indent="-287019" algn="l" rtl="0">
              <a:lnSpc>
                <a:spcPct val="107857"/>
              </a:lnSpc>
              <a:spcBef>
                <a:spcPts val="1015"/>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Suppose that: min_A is the minima and max_A is the maxima of an attribute, P</a:t>
            </a:r>
            <a:endParaRPr sz="2800">
              <a:solidFill>
                <a:schemeClr val="dk1"/>
              </a:solidFill>
              <a:latin typeface="Times New Roman"/>
              <a:ea typeface="Times New Roman"/>
              <a:cs typeface="Times New Roman"/>
              <a:sym typeface="Times New Roman"/>
            </a:endParaRPr>
          </a:p>
          <a:p>
            <a:pPr marL="299085" marR="0" lvl="0" indent="-286385" algn="l" rtl="0">
              <a:lnSpc>
                <a:spcPct val="100000"/>
              </a:lnSpc>
              <a:spcBef>
                <a:spcPts val="625"/>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We Have the Formula:</a:t>
            </a:r>
            <a:endParaRPr sz="2800">
              <a:solidFill>
                <a:schemeClr val="dk1"/>
              </a:solidFill>
              <a:latin typeface="Times New Roman"/>
              <a:ea typeface="Times New Roman"/>
              <a:cs typeface="Times New Roman"/>
              <a:sym typeface="Times New Roman"/>
            </a:endParaRPr>
          </a:p>
        </p:txBody>
      </p:sp>
      <p:pic>
        <p:nvPicPr>
          <p:cNvPr id="484" name="Google Shape;484;p66"/>
          <p:cNvPicPr preferRelativeResize="0"/>
          <p:nvPr/>
        </p:nvPicPr>
        <p:blipFill rotWithShape="1">
          <a:blip r:embed="rId3">
            <a:alphaModFix/>
          </a:blip>
          <a:srcRect/>
          <a:stretch/>
        </p:blipFill>
        <p:spPr>
          <a:xfrm>
            <a:off x="917993" y="4110326"/>
            <a:ext cx="7603998" cy="432054"/>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67"/>
          <p:cNvSpPr txBox="1"/>
          <p:nvPr/>
        </p:nvSpPr>
        <p:spPr>
          <a:xfrm>
            <a:off x="689457" y="6434236"/>
            <a:ext cx="725170" cy="197485"/>
          </a:xfrm>
          <a:prstGeom prst="rect">
            <a:avLst/>
          </a:prstGeom>
          <a:noFill/>
          <a:ln>
            <a:noFill/>
          </a:ln>
        </p:spPr>
        <p:txBody>
          <a:bodyPr spcFirstLastPara="1" wrap="square" lIns="0" tIns="0" rIns="0" bIns="0" anchor="t" anchorCtr="0">
            <a:spAutoFit/>
          </a:bodyPr>
          <a:lstStyle/>
          <a:p>
            <a:pPr marL="0" marR="0" lvl="0" indent="0" algn="l" rtl="0">
              <a:lnSpc>
                <a:spcPct val="109285"/>
              </a:lnSpc>
              <a:spcBef>
                <a:spcPts val="0"/>
              </a:spcBef>
              <a:spcAft>
                <a:spcPts val="0"/>
              </a:spcAft>
              <a:buNone/>
            </a:pPr>
            <a:r>
              <a:rPr lang="en-US" sz="1400" b="1">
                <a:solidFill>
                  <a:srgbClr val="FFFFFF"/>
                </a:solidFill>
                <a:latin typeface="Times New Roman"/>
                <a:ea typeface="Times New Roman"/>
                <a:cs typeface="Times New Roman"/>
                <a:sym typeface="Times New Roman"/>
              </a:rPr>
              <a:t>4/26/2022</a:t>
            </a:r>
            <a:endParaRPr sz="1400">
              <a:solidFill>
                <a:schemeClr val="dk1"/>
              </a:solidFill>
              <a:latin typeface="Times New Roman"/>
              <a:ea typeface="Times New Roman"/>
              <a:cs typeface="Times New Roman"/>
              <a:sym typeface="Times New Roman"/>
            </a:endParaRPr>
          </a:p>
        </p:txBody>
      </p:sp>
      <p:sp>
        <p:nvSpPr>
          <p:cNvPr id="490" name="Google Shape;490;p67"/>
          <p:cNvSpPr txBox="1"/>
          <p:nvPr/>
        </p:nvSpPr>
        <p:spPr>
          <a:xfrm>
            <a:off x="778865" y="382904"/>
            <a:ext cx="7720330" cy="4163695"/>
          </a:xfrm>
          <a:prstGeom prst="rect">
            <a:avLst/>
          </a:prstGeom>
          <a:noFill/>
          <a:ln>
            <a:noFill/>
          </a:ln>
        </p:spPr>
        <p:txBody>
          <a:bodyPr spcFirstLastPara="1" wrap="square" lIns="0" tIns="59675" rIns="0" bIns="0" anchor="t" anchorCtr="0">
            <a:spAutoFit/>
          </a:bodyPr>
          <a:lstStyle/>
          <a:p>
            <a:pPr marL="299085" marR="523240" lvl="0" indent="-287019" algn="l" rtl="0">
              <a:lnSpc>
                <a:spcPct val="108214"/>
              </a:lnSpc>
              <a:spcBef>
                <a:spcPts val="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Where v is the value you want to plot in the new range.</a:t>
            </a:r>
            <a:endParaRPr sz="2800">
              <a:solidFill>
                <a:schemeClr val="dk1"/>
              </a:solidFill>
              <a:latin typeface="Times New Roman"/>
              <a:ea typeface="Times New Roman"/>
              <a:cs typeface="Times New Roman"/>
              <a:sym typeface="Times New Roman"/>
            </a:endParaRPr>
          </a:p>
          <a:p>
            <a:pPr marL="299085" marR="5080" lvl="0" indent="-287019" algn="l" rtl="0">
              <a:lnSpc>
                <a:spcPct val="107857"/>
              </a:lnSpc>
              <a:spcBef>
                <a:spcPts val="101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v’ is the new value you get after normalizing the old value.</a:t>
            </a:r>
            <a:endParaRPr sz="2800">
              <a:solidFill>
                <a:schemeClr val="dk1"/>
              </a:solidFill>
              <a:latin typeface="Times New Roman"/>
              <a:ea typeface="Times New Roman"/>
              <a:cs typeface="Times New Roman"/>
              <a:sym typeface="Times New Roman"/>
            </a:endParaRPr>
          </a:p>
          <a:p>
            <a:pPr marL="299085" marR="0" lvl="0" indent="-286385" algn="l" rtl="0">
              <a:lnSpc>
                <a:spcPct val="113928"/>
              </a:lnSpc>
              <a:spcBef>
                <a:spcPts val="62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Solved </a:t>
            </a:r>
            <a:r>
              <a:rPr lang="en-US" sz="2800" b="1">
                <a:solidFill>
                  <a:schemeClr val="dk1"/>
                </a:solidFill>
                <a:latin typeface="Times New Roman"/>
                <a:ea typeface="Times New Roman"/>
                <a:cs typeface="Times New Roman"/>
                <a:sym typeface="Times New Roman"/>
              </a:rPr>
              <a:t>example</a:t>
            </a:r>
            <a:r>
              <a:rPr lang="en-US" sz="2800">
                <a:solidFill>
                  <a:schemeClr val="dk1"/>
                </a:solidFill>
                <a:latin typeface="Times New Roman"/>
                <a:ea typeface="Times New Roman"/>
                <a:cs typeface="Times New Roman"/>
                <a:sym typeface="Times New Roman"/>
              </a:rPr>
              <a:t>:</a:t>
            </a:r>
            <a:endParaRPr sz="2800">
              <a:solidFill>
                <a:schemeClr val="dk1"/>
              </a:solidFill>
              <a:latin typeface="Times New Roman"/>
              <a:ea typeface="Times New Roman"/>
              <a:cs typeface="Times New Roman"/>
              <a:sym typeface="Times New Roman"/>
            </a:endParaRPr>
          </a:p>
          <a:p>
            <a:pPr marL="299085" marR="92075" lvl="0" indent="0" algn="l" rtl="0">
              <a:lnSpc>
                <a:spcPct val="90000"/>
              </a:lnSpc>
              <a:spcBef>
                <a:spcPts val="170"/>
              </a:spcBef>
              <a:spcAft>
                <a:spcPts val="0"/>
              </a:spcAft>
              <a:buNone/>
            </a:pPr>
            <a:r>
              <a:rPr lang="en-US" sz="2800">
                <a:solidFill>
                  <a:schemeClr val="dk1"/>
                </a:solidFill>
                <a:latin typeface="Times New Roman"/>
                <a:ea typeface="Times New Roman"/>
                <a:cs typeface="Times New Roman"/>
                <a:sym typeface="Times New Roman"/>
              </a:rPr>
              <a:t>Suppose the minimum and maximum value for an attribute profit(P) are Rs. 10, 000 and Rs. 100, 000. We want to plot the profit in the range [0, 1]. Using min-max normalization the value of Rs. 20, 000 for attribute profit can be plotted to:</a:t>
            </a:r>
            <a:endParaRPr sz="2800">
              <a:solidFill>
                <a:schemeClr val="dk1"/>
              </a:solidFill>
              <a:latin typeface="Times New Roman"/>
              <a:ea typeface="Times New Roman"/>
              <a:cs typeface="Times New Roman"/>
              <a:sym typeface="Times New Roman"/>
            </a:endParaRPr>
          </a:p>
        </p:txBody>
      </p:sp>
      <p:pic>
        <p:nvPicPr>
          <p:cNvPr id="491" name="Google Shape;491;p67"/>
          <p:cNvPicPr preferRelativeResize="0"/>
          <p:nvPr/>
        </p:nvPicPr>
        <p:blipFill rotWithShape="1">
          <a:blip r:embed="rId3">
            <a:alphaModFix/>
          </a:blip>
          <a:srcRect/>
          <a:stretch/>
        </p:blipFill>
        <p:spPr>
          <a:xfrm>
            <a:off x="2651251" y="5024425"/>
            <a:ext cx="3312414" cy="465992"/>
          </a:xfrm>
          <a:prstGeom prst="rect">
            <a:avLst/>
          </a:prstGeom>
          <a:noFill/>
          <a:ln>
            <a:noFill/>
          </a:ln>
        </p:spPr>
      </p:pic>
      <p:sp>
        <p:nvSpPr>
          <p:cNvPr id="492" name="Google Shape;492;p67"/>
          <p:cNvSpPr txBox="1"/>
          <p:nvPr/>
        </p:nvSpPr>
        <p:spPr>
          <a:xfrm>
            <a:off x="2651251" y="5608421"/>
            <a:ext cx="383286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And hence, we get the value of v’ as 0.11</a:t>
            </a:r>
            <a:endParaRPr sz="180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68"/>
          <p:cNvSpPr txBox="1"/>
          <p:nvPr/>
        </p:nvSpPr>
        <p:spPr>
          <a:xfrm>
            <a:off x="689457" y="6434236"/>
            <a:ext cx="725170" cy="197485"/>
          </a:xfrm>
          <a:prstGeom prst="rect">
            <a:avLst/>
          </a:prstGeom>
          <a:noFill/>
          <a:ln>
            <a:noFill/>
          </a:ln>
        </p:spPr>
        <p:txBody>
          <a:bodyPr spcFirstLastPara="1" wrap="square" lIns="0" tIns="0" rIns="0" bIns="0" anchor="t" anchorCtr="0">
            <a:spAutoFit/>
          </a:bodyPr>
          <a:lstStyle/>
          <a:p>
            <a:pPr marL="0" marR="0" lvl="0" indent="0" algn="l" rtl="0">
              <a:lnSpc>
                <a:spcPct val="109285"/>
              </a:lnSpc>
              <a:spcBef>
                <a:spcPts val="0"/>
              </a:spcBef>
              <a:spcAft>
                <a:spcPts val="0"/>
              </a:spcAft>
              <a:buNone/>
            </a:pPr>
            <a:r>
              <a:rPr lang="en-US" sz="1400" b="1">
                <a:solidFill>
                  <a:srgbClr val="FFFFFF"/>
                </a:solidFill>
                <a:latin typeface="Times New Roman"/>
                <a:ea typeface="Times New Roman"/>
                <a:cs typeface="Times New Roman"/>
                <a:sym typeface="Times New Roman"/>
              </a:rPr>
              <a:t>4/26/2022</a:t>
            </a:r>
            <a:endParaRPr sz="1400">
              <a:solidFill>
                <a:schemeClr val="dk1"/>
              </a:solidFill>
              <a:latin typeface="Times New Roman"/>
              <a:ea typeface="Times New Roman"/>
              <a:cs typeface="Times New Roman"/>
              <a:sym typeface="Times New Roman"/>
            </a:endParaRPr>
          </a:p>
        </p:txBody>
      </p:sp>
      <p:sp>
        <p:nvSpPr>
          <p:cNvPr id="498" name="Google Shape;498;p68"/>
          <p:cNvSpPr txBox="1"/>
          <p:nvPr/>
        </p:nvSpPr>
        <p:spPr>
          <a:xfrm>
            <a:off x="778865" y="1303147"/>
            <a:ext cx="7884795" cy="2500630"/>
          </a:xfrm>
          <a:prstGeom prst="rect">
            <a:avLst/>
          </a:prstGeom>
          <a:noFill/>
          <a:ln>
            <a:noFill/>
          </a:ln>
        </p:spPr>
        <p:txBody>
          <a:bodyPr spcFirstLastPara="1" wrap="square" lIns="0" tIns="54600" rIns="0" bIns="0" anchor="t" anchorCtr="0">
            <a:spAutoFit/>
          </a:bodyPr>
          <a:lstStyle/>
          <a:p>
            <a:pPr marL="299085" marR="5080" lvl="0" indent="-287019" algn="l" rtl="0">
              <a:lnSpc>
                <a:spcPct val="90000"/>
              </a:lnSpc>
              <a:spcBef>
                <a:spcPts val="0"/>
              </a:spcBef>
              <a:spcAft>
                <a:spcPts val="0"/>
              </a:spcAft>
              <a:buClr>
                <a:schemeClr val="dk1"/>
              </a:buClr>
              <a:buSzPts val="2800"/>
              <a:buFont typeface="Arial"/>
              <a:buChar char="•"/>
            </a:pPr>
            <a:r>
              <a:rPr lang="en-US" sz="2800" b="1">
                <a:solidFill>
                  <a:schemeClr val="dk1"/>
                </a:solidFill>
                <a:latin typeface="Times New Roman"/>
                <a:ea typeface="Times New Roman"/>
                <a:cs typeface="Times New Roman"/>
                <a:sym typeface="Times New Roman"/>
              </a:rPr>
              <a:t>Z-Score Normalization:</a:t>
            </a:r>
            <a:r>
              <a:rPr lang="en-US" sz="2800">
                <a:solidFill>
                  <a:schemeClr val="dk1"/>
                </a:solidFill>
                <a:latin typeface="Times New Roman"/>
                <a:ea typeface="Times New Roman"/>
                <a:cs typeface="Times New Roman"/>
                <a:sym typeface="Times New Roman"/>
              </a:rPr>
              <a:t>In z-score normalization (or zero-mean normalization) the values of an attribute (A), are normalized based on the mean of A and its standard deviation</a:t>
            </a:r>
            <a:endParaRPr sz="2800">
              <a:solidFill>
                <a:schemeClr val="dk1"/>
              </a:solidFill>
              <a:latin typeface="Times New Roman"/>
              <a:ea typeface="Times New Roman"/>
              <a:cs typeface="Times New Roman"/>
              <a:sym typeface="Times New Roman"/>
            </a:endParaRPr>
          </a:p>
          <a:p>
            <a:pPr marL="299085" marR="920750" lvl="0" indent="-287019" algn="l" rtl="0">
              <a:lnSpc>
                <a:spcPct val="107857"/>
              </a:lnSpc>
              <a:spcBef>
                <a:spcPts val="106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A value, v, of attribute A is normalized to v’ by computing</a:t>
            </a:r>
            <a:endParaRPr sz="2800">
              <a:solidFill>
                <a:schemeClr val="dk1"/>
              </a:solidFill>
              <a:latin typeface="Times New Roman"/>
              <a:ea typeface="Times New Roman"/>
              <a:cs typeface="Times New Roman"/>
              <a:sym typeface="Times New Roman"/>
            </a:endParaRPr>
          </a:p>
        </p:txBody>
      </p:sp>
      <p:pic>
        <p:nvPicPr>
          <p:cNvPr id="499" name="Google Shape;499;p68"/>
          <p:cNvPicPr preferRelativeResize="0"/>
          <p:nvPr/>
        </p:nvPicPr>
        <p:blipFill rotWithShape="1">
          <a:blip r:embed="rId3">
            <a:alphaModFix/>
          </a:blip>
          <a:srcRect/>
          <a:stretch/>
        </p:blipFill>
        <p:spPr>
          <a:xfrm>
            <a:off x="3563873" y="4077068"/>
            <a:ext cx="1980819" cy="756297"/>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69"/>
          <p:cNvSpPr txBox="1"/>
          <p:nvPr/>
        </p:nvSpPr>
        <p:spPr>
          <a:xfrm>
            <a:off x="689457" y="6434236"/>
            <a:ext cx="725170" cy="197485"/>
          </a:xfrm>
          <a:prstGeom prst="rect">
            <a:avLst/>
          </a:prstGeom>
          <a:noFill/>
          <a:ln>
            <a:noFill/>
          </a:ln>
        </p:spPr>
        <p:txBody>
          <a:bodyPr spcFirstLastPara="1" wrap="square" lIns="0" tIns="0" rIns="0" bIns="0" anchor="t" anchorCtr="0">
            <a:spAutoFit/>
          </a:bodyPr>
          <a:lstStyle/>
          <a:p>
            <a:pPr marL="0" marR="0" lvl="0" indent="0" algn="l" rtl="0">
              <a:lnSpc>
                <a:spcPct val="109285"/>
              </a:lnSpc>
              <a:spcBef>
                <a:spcPts val="0"/>
              </a:spcBef>
              <a:spcAft>
                <a:spcPts val="0"/>
              </a:spcAft>
              <a:buNone/>
            </a:pPr>
            <a:r>
              <a:rPr lang="en-US" sz="1400" b="1">
                <a:solidFill>
                  <a:srgbClr val="FFFFFF"/>
                </a:solidFill>
                <a:latin typeface="Times New Roman"/>
                <a:ea typeface="Times New Roman"/>
                <a:cs typeface="Times New Roman"/>
                <a:sym typeface="Times New Roman"/>
              </a:rPr>
              <a:t>4/26/2022</a:t>
            </a:r>
            <a:endParaRPr sz="1400">
              <a:solidFill>
                <a:schemeClr val="dk1"/>
              </a:solidFill>
              <a:latin typeface="Times New Roman"/>
              <a:ea typeface="Times New Roman"/>
              <a:cs typeface="Times New Roman"/>
              <a:sym typeface="Times New Roman"/>
            </a:endParaRPr>
          </a:p>
        </p:txBody>
      </p:sp>
      <p:sp>
        <p:nvSpPr>
          <p:cNvPr id="505" name="Google Shape;505;p69"/>
          <p:cNvSpPr txBox="1"/>
          <p:nvPr/>
        </p:nvSpPr>
        <p:spPr>
          <a:xfrm>
            <a:off x="778865" y="1303147"/>
            <a:ext cx="7935595" cy="1988185"/>
          </a:xfrm>
          <a:prstGeom prst="rect">
            <a:avLst/>
          </a:prstGeom>
          <a:noFill/>
          <a:ln>
            <a:noFill/>
          </a:ln>
        </p:spPr>
        <p:txBody>
          <a:bodyPr spcFirstLastPara="1" wrap="square" lIns="0" tIns="12050" rIns="0" bIns="0" anchor="t" anchorCtr="0">
            <a:spAutoFit/>
          </a:bodyPr>
          <a:lstStyle/>
          <a:p>
            <a:pPr marL="299085" marR="0" lvl="0" indent="-286385" algn="l" rtl="0">
              <a:lnSpc>
                <a:spcPct val="113928"/>
              </a:lnSpc>
              <a:spcBef>
                <a:spcPts val="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For </a:t>
            </a:r>
            <a:r>
              <a:rPr lang="en-US" sz="2800" b="1">
                <a:solidFill>
                  <a:schemeClr val="dk1"/>
                </a:solidFill>
                <a:latin typeface="Times New Roman"/>
                <a:ea typeface="Times New Roman"/>
                <a:cs typeface="Times New Roman"/>
                <a:sym typeface="Times New Roman"/>
              </a:rPr>
              <a:t>example</a:t>
            </a:r>
            <a:r>
              <a:rPr lang="en-US" sz="2800">
                <a:solidFill>
                  <a:schemeClr val="dk1"/>
                </a:solidFill>
                <a:latin typeface="Times New Roman"/>
                <a:ea typeface="Times New Roman"/>
                <a:cs typeface="Times New Roman"/>
                <a:sym typeface="Times New Roman"/>
              </a:rPr>
              <a:t>:</a:t>
            </a:r>
            <a:endParaRPr sz="2800">
              <a:solidFill>
                <a:schemeClr val="dk1"/>
              </a:solidFill>
              <a:latin typeface="Times New Roman"/>
              <a:ea typeface="Times New Roman"/>
              <a:cs typeface="Times New Roman"/>
              <a:sym typeface="Times New Roman"/>
            </a:endParaRPr>
          </a:p>
          <a:p>
            <a:pPr marL="299085" marR="5080" lvl="0" indent="0" algn="l" rtl="0">
              <a:lnSpc>
                <a:spcPct val="90000"/>
              </a:lnSpc>
              <a:spcBef>
                <a:spcPts val="165"/>
              </a:spcBef>
              <a:spcAft>
                <a:spcPts val="0"/>
              </a:spcAft>
              <a:buNone/>
            </a:pPr>
            <a:r>
              <a:rPr lang="en-US" sz="2800">
                <a:solidFill>
                  <a:schemeClr val="dk1"/>
                </a:solidFill>
                <a:latin typeface="Times New Roman"/>
                <a:ea typeface="Times New Roman"/>
                <a:cs typeface="Times New Roman"/>
                <a:sym typeface="Times New Roman"/>
              </a:rPr>
              <a:t>Let mean of an attribute P = 60, 000, Standard Deviation = 10, 000, for the attribute P. Using z-score normalization, a value of 85000 for P can be transformed to:</a:t>
            </a:r>
            <a:endParaRPr sz="2800">
              <a:solidFill>
                <a:schemeClr val="dk1"/>
              </a:solidFill>
              <a:latin typeface="Times New Roman"/>
              <a:ea typeface="Times New Roman"/>
              <a:cs typeface="Times New Roman"/>
              <a:sym typeface="Times New Roman"/>
            </a:endParaRPr>
          </a:p>
        </p:txBody>
      </p:sp>
      <p:pic>
        <p:nvPicPr>
          <p:cNvPr id="506" name="Google Shape;506;p69"/>
          <p:cNvPicPr preferRelativeResize="0"/>
          <p:nvPr/>
        </p:nvPicPr>
        <p:blipFill rotWithShape="1">
          <a:blip r:embed="rId3">
            <a:alphaModFix/>
          </a:blip>
          <a:srcRect/>
          <a:stretch/>
        </p:blipFill>
        <p:spPr>
          <a:xfrm>
            <a:off x="3635883" y="3861053"/>
            <a:ext cx="1619250" cy="361950"/>
          </a:xfrm>
          <a:prstGeom prst="rect">
            <a:avLst/>
          </a:prstGeom>
          <a:noFill/>
          <a:ln>
            <a:noFill/>
          </a:ln>
        </p:spPr>
      </p:pic>
      <p:sp>
        <p:nvSpPr>
          <p:cNvPr id="507" name="Google Shape;507;p69"/>
          <p:cNvSpPr txBox="1"/>
          <p:nvPr/>
        </p:nvSpPr>
        <p:spPr>
          <a:xfrm>
            <a:off x="2454020" y="4888229"/>
            <a:ext cx="394462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And hence we get the value of v’ to be 2.5</a:t>
            </a:r>
            <a:endParaRPr sz="1800">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70"/>
          <p:cNvSpPr txBox="1"/>
          <p:nvPr/>
        </p:nvSpPr>
        <p:spPr>
          <a:xfrm>
            <a:off x="689457" y="6434236"/>
            <a:ext cx="725170" cy="197485"/>
          </a:xfrm>
          <a:prstGeom prst="rect">
            <a:avLst/>
          </a:prstGeom>
          <a:noFill/>
          <a:ln>
            <a:noFill/>
          </a:ln>
        </p:spPr>
        <p:txBody>
          <a:bodyPr spcFirstLastPara="1" wrap="square" lIns="0" tIns="0" rIns="0" bIns="0" anchor="t" anchorCtr="0">
            <a:spAutoFit/>
          </a:bodyPr>
          <a:lstStyle/>
          <a:p>
            <a:pPr marL="0" marR="0" lvl="0" indent="0" algn="l" rtl="0">
              <a:lnSpc>
                <a:spcPct val="109285"/>
              </a:lnSpc>
              <a:spcBef>
                <a:spcPts val="0"/>
              </a:spcBef>
              <a:spcAft>
                <a:spcPts val="0"/>
              </a:spcAft>
              <a:buNone/>
            </a:pPr>
            <a:r>
              <a:rPr lang="en-US" sz="1400" b="1">
                <a:solidFill>
                  <a:srgbClr val="FFFFFF"/>
                </a:solidFill>
                <a:latin typeface="Times New Roman"/>
                <a:ea typeface="Times New Roman"/>
                <a:cs typeface="Times New Roman"/>
                <a:sym typeface="Times New Roman"/>
              </a:rPr>
              <a:t>4/26/2022</a:t>
            </a:r>
            <a:endParaRPr sz="1400">
              <a:solidFill>
                <a:schemeClr val="dk1"/>
              </a:solidFill>
              <a:latin typeface="Times New Roman"/>
              <a:ea typeface="Times New Roman"/>
              <a:cs typeface="Times New Roman"/>
              <a:sym typeface="Times New Roman"/>
            </a:endParaRPr>
          </a:p>
        </p:txBody>
      </p:sp>
      <p:sp>
        <p:nvSpPr>
          <p:cNvPr id="513" name="Google Shape;513;p70"/>
          <p:cNvSpPr txBox="1"/>
          <p:nvPr/>
        </p:nvSpPr>
        <p:spPr>
          <a:xfrm>
            <a:off x="778865" y="296948"/>
            <a:ext cx="7731125" cy="3608070"/>
          </a:xfrm>
          <a:prstGeom prst="rect">
            <a:avLst/>
          </a:prstGeom>
          <a:noFill/>
          <a:ln>
            <a:noFill/>
          </a:ln>
        </p:spPr>
        <p:txBody>
          <a:bodyPr spcFirstLastPara="1" wrap="square" lIns="0" tIns="97775" rIns="0" bIns="0" anchor="t" anchorCtr="0">
            <a:spAutoFit/>
          </a:bodyPr>
          <a:lstStyle/>
          <a:p>
            <a:pPr marL="297815" marR="0" lvl="0" indent="-285115" algn="just" rtl="0">
              <a:lnSpc>
                <a:spcPct val="100000"/>
              </a:lnSpc>
              <a:spcBef>
                <a:spcPts val="0"/>
              </a:spcBef>
              <a:spcAft>
                <a:spcPts val="0"/>
              </a:spcAft>
              <a:buClr>
                <a:schemeClr val="dk1"/>
              </a:buClr>
              <a:buSzPts val="2800"/>
              <a:buFont typeface="Arial"/>
              <a:buChar char="•"/>
            </a:pPr>
            <a:r>
              <a:rPr lang="en-US" sz="2800" b="1">
                <a:solidFill>
                  <a:schemeClr val="dk1"/>
                </a:solidFill>
                <a:latin typeface="Times New Roman"/>
                <a:ea typeface="Times New Roman"/>
                <a:cs typeface="Times New Roman"/>
                <a:sym typeface="Times New Roman"/>
              </a:rPr>
              <a:t>Decimal Scaling:</a:t>
            </a:r>
            <a:endParaRPr sz="2800">
              <a:solidFill>
                <a:schemeClr val="dk1"/>
              </a:solidFill>
              <a:latin typeface="Times New Roman"/>
              <a:ea typeface="Times New Roman"/>
              <a:cs typeface="Times New Roman"/>
              <a:sym typeface="Times New Roman"/>
            </a:endParaRPr>
          </a:p>
          <a:p>
            <a:pPr marL="297180" marR="128904" lvl="0" indent="-285115" algn="just" rtl="0">
              <a:lnSpc>
                <a:spcPct val="107857"/>
              </a:lnSpc>
              <a:spcBef>
                <a:spcPts val="106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It normalizes the values of an attribute by changing 	the position of their decimal points</a:t>
            </a:r>
            <a:endParaRPr sz="2800">
              <a:solidFill>
                <a:schemeClr val="dk1"/>
              </a:solidFill>
              <a:latin typeface="Times New Roman"/>
              <a:ea typeface="Times New Roman"/>
              <a:cs typeface="Times New Roman"/>
              <a:sym typeface="Times New Roman"/>
            </a:endParaRPr>
          </a:p>
          <a:p>
            <a:pPr marL="297180" marR="5080" lvl="0" indent="-285115" algn="just" rtl="0">
              <a:lnSpc>
                <a:spcPct val="90000"/>
              </a:lnSpc>
              <a:spcBef>
                <a:spcPts val="955"/>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The number of points by which the decimal point is 	moved can be determined by the absolute maximum 	value of attribute A.</a:t>
            </a:r>
            <a:endParaRPr sz="2800">
              <a:solidFill>
                <a:schemeClr val="dk1"/>
              </a:solidFill>
              <a:latin typeface="Times New Roman"/>
              <a:ea typeface="Times New Roman"/>
              <a:cs typeface="Times New Roman"/>
              <a:sym typeface="Times New Roman"/>
            </a:endParaRPr>
          </a:p>
          <a:p>
            <a:pPr marL="297180" marR="767080" lvl="0" indent="-285115" algn="just" rtl="0">
              <a:lnSpc>
                <a:spcPct val="108214"/>
              </a:lnSpc>
              <a:spcBef>
                <a:spcPts val="1035"/>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A value, v, of attribute A is normalized to v’ by 	computing</a:t>
            </a:r>
            <a:endParaRPr sz="2800">
              <a:solidFill>
                <a:schemeClr val="dk1"/>
              </a:solidFill>
              <a:latin typeface="Times New Roman"/>
              <a:ea typeface="Times New Roman"/>
              <a:cs typeface="Times New Roman"/>
              <a:sym typeface="Times New Roman"/>
            </a:endParaRPr>
          </a:p>
        </p:txBody>
      </p:sp>
      <p:pic>
        <p:nvPicPr>
          <p:cNvPr id="514" name="Google Shape;514;p70"/>
          <p:cNvPicPr preferRelativeResize="0"/>
          <p:nvPr/>
        </p:nvPicPr>
        <p:blipFill rotWithShape="1">
          <a:blip r:embed="rId3">
            <a:alphaModFix/>
          </a:blip>
          <a:srcRect/>
          <a:stretch/>
        </p:blipFill>
        <p:spPr>
          <a:xfrm>
            <a:off x="3751071" y="4509122"/>
            <a:ext cx="1457325" cy="1076325"/>
          </a:xfrm>
          <a:prstGeom prst="rect">
            <a:avLst/>
          </a:prstGeom>
          <a:noFill/>
          <a:ln>
            <a:noFill/>
          </a:ln>
        </p:spPr>
      </p:pic>
      <p:sp>
        <p:nvSpPr>
          <p:cNvPr id="515" name="Google Shape;515;p70"/>
          <p:cNvSpPr txBox="1"/>
          <p:nvPr/>
        </p:nvSpPr>
        <p:spPr>
          <a:xfrm>
            <a:off x="2391917" y="5680354"/>
            <a:ext cx="3716654" cy="57404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where j is the smallest integer such that Max(|v’|) &lt; 1.</a:t>
            </a:r>
            <a:endParaRPr sz="1800">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71"/>
          <p:cNvSpPr txBox="1"/>
          <p:nvPr/>
        </p:nvSpPr>
        <p:spPr>
          <a:xfrm>
            <a:off x="689457" y="6434236"/>
            <a:ext cx="725170" cy="197485"/>
          </a:xfrm>
          <a:prstGeom prst="rect">
            <a:avLst/>
          </a:prstGeom>
          <a:noFill/>
          <a:ln>
            <a:noFill/>
          </a:ln>
        </p:spPr>
        <p:txBody>
          <a:bodyPr spcFirstLastPara="1" wrap="square" lIns="0" tIns="0" rIns="0" bIns="0" anchor="t" anchorCtr="0">
            <a:spAutoFit/>
          </a:bodyPr>
          <a:lstStyle/>
          <a:p>
            <a:pPr marL="0" marR="0" lvl="0" indent="0" algn="l" rtl="0">
              <a:lnSpc>
                <a:spcPct val="109285"/>
              </a:lnSpc>
              <a:spcBef>
                <a:spcPts val="0"/>
              </a:spcBef>
              <a:spcAft>
                <a:spcPts val="0"/>
              </a:spcAft>
              <a:buNone/>
            </a:pPr>
            <a:r>
              <a:rPr lang="en-US" sz="1400" b="1">
                <a:solidFill>
                  <a:srgbClr val="FFFFFF"/>
                </a:solidFill>
                <a:latin typeface="Times New Roman"/>
                <a:ea typeface="Times New Roman"/>
                <a:cs typeface="Times New Roman"/>
                <a:sym typeface="Times New Roman"/>
              </a:rPr>
              <a:t>4/26/2022</a:t>
            </a:r>
            <a:endParaRPr sz="1400">
              <a:solidFill>
                <a:schemeClr val="dk1"/>
              </a:solidFill>
              <a:latin typeface="Times New Roman"/>
              <a:ea typeface="Times New Roman"/>
              <a:cs typeface="Times New Roman"/>
              <a:sym typeface="Times New Roman"/>
            </a:endParaRPr>
          </a:p>
        </p:txBody>
      </p:sp>
      <p:sp>
        <p:nvSpPr>
          <p:cNvPr id="521" name="Google Shape;521;p71"/>
          <p:cNvSpPr txBox="1"/>
          <p:nvPr/>
        </p:nvSpPr>
        <p:spPr>
          <a:xfrm>
            <a:off x="778865" y="1217318"/>
            <a:ext cx="7886700" cy="3608070"/>
          </a:xfrm>
          <a:prstGeom prst="rect">
            <a:avLst/>
          </a:prstGeom>
          <a:noFill/>
          <a:ln>
            <a:noFill/>
          </a:ln>
        </p:spPr>
        <p:txBody>
          <a:bodyPr spcFirstLastPara="1" wrap="square" lIns="0" tIns="97775" rIns="0" bIns="0" anchor="t" anchorCtr="0">
            <a:spAutoFit/>
          </a:bodyPr>
          <a:lstStyle/>
          <a:p>
            <a:pPr marL="299085" marR="0" lvl="0" indent="-286385" algn="l" rtl="0">
              <a:lnSpc>
                <a:spcPct val="100000"/>
              </a:lnSpc>
              <a:spcBef>
                <a:spcPts val="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For </a:t>
            </a:r>
            <a:r>
              <a:rPr lang="en-US" sz="2800" b="1">
                <a:solidFill>
                  <a:schemeClr val="dk1"/>
                </a:solidFill>
                <a:latin typeface="Times New Roman"/>
                <a:ea typeface="Times New Roman"/>
                <a:cs typeface="Times New Roman"/>
                <a:sym typeface="Times New Roman"/>
              </a:rPr>
              <a:t>example</a:t>
            </a:r>
            <a:r>
              <a:rPr lang="en-US" sz="2800">
                <a:solidFill>
                  <a:schemeClr val="dk1"/>
                </a:solidFill>
                <a:latin typeface="Times New Roman"/>
                <a:ea typeface="Times New Roman"/>
                <a:cs typeface="Times New Roman"/>
                <a:sym typeface="Times New Roman"/>
              </a:rPr>
              <a:t>:</a:t>
            </a:r>
            <a:endParaRPr sz="2800">
              <a:solidFill>
                <a:schemeClr val="dk1"/>
              </a:solidFill>
              <a:latin typeface="Times New Roman"/>
              <a:ea typeface="Times New Roman"/>
              <a:cs typeface="Times New Roman"/>
              <a:sym typeface="Times New Roman"/>
            </a:endParaRPr>
          </a:p>
          <a:p>
            <a:pPr marL="299085" marR="243840" lvl="0" indent="-287019" algn="l" rtl="0">
              <a:lnSpc>
                <a:spcPct val="107857"/>
              </a:lnSpc>
              <a:spcBef>
                <a:spcPts val="106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Suppose: Values of an attribute P varies from -99 to 99.</a:t>
            </a:r>
            <a:endParaRPr sz="2800">
              <a:solidFill>
                <a:schemeClr val="dk1"/>
              </a:solidFill>
              <a:latin typeface="Times New Roman"/>
              <a:ea typeface="Times New Roman"/>
              <a:cs typeface="Times New Roman"/>
              <a:sym typeface="Times New Roman"/>
            </a:endParaRPr>
          </a:p>
          <a:p>
            <a:pPr marL="299085" marR="0" lvl="0" indent="-286385" algn="l" rtl="0">
              <a:lnSpc>
                <a:spcPct val="100000"/>
              </a:lnSpc>
              <a:spcBef>
                <a:spcPts val="62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The maximum absolute value of P is 99.</a:t>
            </a:r>
            <a:endParaRPr sz="2800">
              <a:solidFill>
                <a:schemeClr val="dk1"/>
              </a:solidFill>
              <a:latin typeface="Times New Roman"/>
              <a:ea typeface="Times New Roman"/>
              <a:cs typeface="Times New Roman"/>
              <a:sym typeface="Times New Roman"/>
            </a:endParaRPr>
          </a:p>
          <a:p>
            <a:pPr marL="299085" marR="5080" lvl="0" indent="-287019" algn="l" rtl="0">
              <a:lnSpc>
                <a:spcPct val="90000"/>
              </a:lnSpc>
              <a:spcBef>
                <a:spcPts val="994"/>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For normalizing the values we divide the numbers by 100 (i.e., j = 2) or (number of integers in the largest number) so that values come out to be as 0.98, 0.97 and so on.</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72"/>
          <p:cNvSpPr txBox="1"/>
          <p:nvPr/>
        </p:nvSpPr>
        <p:spPr>
          <a:xfrm>
            <a:off x="676757" y="6402120"/>
            <a:ext cx="750570" cy="23939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00" b="1">
                <a:solidFill>
                  <a:srgbClr val="FFFFFF"/>
                </a:solidFill>
                <a:latin typeface="Times New Roman"/>
                <a:ea typeface="Times New Roman"/>
                <a:cs typeface="Times New Roman"/>
                <a:sym typeface="Times New Roman"/>
              </a:rPr>
              <a:t>4/26/2022</a:t>
            </a:r>
            <a:endParaRPr sz="1400">
              <a:solidFill>
                <a:schemeClr val="dk1"/>
              </a:solidFill>
              <a:latin typeface="Times New Roman"/>
              <a:ea typeface="Times New Roman"/>
              <a:cs typeface="Times New Roman"/>
              <a:sym typeface="Times New Roman"/>
            </a:endParaRPr>
          </a:p>
        </p:txBody>
      </p:sp>
      <p:sp>
        <p:nvSpPr>
          <p:cNvPr id="527" name="Google Shape;527;p72"/>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en-US"/>
              <a:t>FEATURE ENGINEERING AND ITS ROLE IN DATA PROCESSING</a:t>
            </a:r>
            <a:endParaRPr/>
          </a:p>
        </p:txBody>
      </p:sp>
      <p:sp>
        <p:nvSpPr>
          <p:cNvPr id="528" name="Google Shape;528;p72"/>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91440" algn="l" rtl="0">
              <a:lnSpc>
                <a:spcPct val="90000"/>
              </a:lnSpc>
              <a:spcBef>
                <a:spcPts val="0"/>
              </a:spcBef>
              <a:spcAft>
                <a:spcPts val="0"/>
              </a:spcAft>
              <a:buSzPts val="2000"/>
              <a:buNone/>
            </a:pPr>
            <a:r>
              <a:rPr lang="en-US" b="1" dirty="0">
                <a:highlight>
                  <a:srgbClr val="FFFF00"/>
                </a:highlight>
              </a:rPr>
              <a:t>What is Feature Engineering?</a:t>
            </a:r>
            <a:endParaRPr dirty="0">
              <a:highlight>
                <a:srgbClr val="FFFF00"/>
              </a:highlight>
            </a:endParaRPr>
          </a:p>
          <a:p>
            <a:pPr marL="91440" lvl="0" indent="-127000" algn="l" rtl="0">
              <a:lnSpc>
                <a:spcPct val="90000"/>
              </a:lnSpc>
              <a:spcBef>
                <a:spcPts val="1400"/>
              </a:spcBef>
              <a:spcAft>
                <a:spcPts val="0"/>
              </a:spcAft>
              <a:buSzPts val="2000"/>
              <a:buChar char=" "/>
            </a:pPr>
            <a:r>
              <a:rPr lang="en-US" dirty="0">
                <a:highlight>
                  <a:srgbClr val="FFFF00"/>
                </a:highlight>
              </a:rPr>
              <a:t>Feature engineering is the process of transforming raw data into meaningful features that improve the performance of machine learning models. It involves selecting, creating, modifying, or encoding features to make them more useful for model training.</a:t>
            </a:r>
            <a:endParaRPr dirty="0">
              <a:highlight>
                <a:srgbClr val="FFFF00"/>
              </a:highlight>
            </a:endParaRPr>
          </a:p>
          <a:p>
            <a:pPr marL="91440" lvl="0" indent="0" algn="l" rtl="0">
              <a:lnSpc>
                <a:spcPct val="90000"/>
              </a:lnSpc>
              <a:spcBef>
                <a:spcPts val="1400"/>
              </a:spcBef>
              <a:spcAft>
                <a:spcPts val="0"/>
              </a:spcAft>
              <a:buSzPts val="2000"/>
              <a:buNone/>
            </a:pPr>
            <a:endParaRPr dirty="0">
              <a:highlight>
                <a:srgbClr val="FFFF00"/>
              </a:highlight>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73"/>
          <p:cNvSpPr txBox="1"/>
          <p:nvPr/>
        </p:nvSpPr>
        <p:spPr>
          <a:xfrm>
            <a:off x="676757" y="6402120"/>
            <a:ext cx="750570" cy="23939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00" b="1">
                <a:solidFill>
                  <a:srgbClr val="FFFFFF"/>
                </a:solidFill>
                <a:latin typeface="Times New Roman"/>
                <a:ea typeface="Times New Roman"/>
                <a:cs typeface="Times New Roman"/>
                <a:sym typeface="Times New Roman"/>
              </a:rPr>
              <a:t>4/26/2022</a:t>
            </a:r>
            <a:endParaRPr sz="1400">
              <a:solidFill>
                <a:schemeClr val="dk1"/>
              </a:solidFill>
              <a:latin typeface="Times New Roman"/>
              <a:ea typeface="Times New Roman"/>
              <a:cs typeface="Times New Roman"/>
              <a:sym typeface="Times New Roman"/>
            </a:endParaRPr>
          </a:p>
        </p:txBody>
      </p:sp>
      <p:sp>
        <p:nvSpPr>
          <p:cNvPr id="534" name="Google Shape;534;p73"/>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en-US"/>
              <a:t>ROLE OF FEATURE ENGINEERING IN DATA PROCESSING</a:t>
            </a:r>
            <a:endParaRPr/>
          </a:p>
        </p:txBody>
      </p:sp>
      <p:sp>
        <p:nvSpPr>
          <p:cNvPr id="535" name="Google Shape;535;p73"/>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en-US"/>
              <a:t>Feature engineering plays a crucial role in the data processing pipeline, ensuring that the data fed into machine learning models is structured, relevant, and optimized for performance.</a:t>
            </a:r>
            <a:endParaRPr/>
          </a:p>
        </p:txBody>
      </p:sp>
      <p:grpSp>
        <p:nvGrpSpPr>
          <p:cNvPr id="536" name="Google Shape;536;p73"/>
          <p:cNvGrpSpPr/>
          <p:nvPr/>
        </p:nvGrpSpPr>
        <p:grpSpPr>
          <a:xfrm>
            <a:off x="1835755" y="3271345"/>
            <a:ext cx="4849268" cy="3568261"/>
            <a:chOff x="842440" y="0"/>
            <a:chExt cx="4849268" cy="3568261"/>
          </a:xfrm>
        </p:grpSpPr>
        <p:sp>
          <p:nvSpPr>
            <p:cNvPr id="537" name="Google Shape;537;p73"/>
            <p:cNvSpPr/>
            <p:nvPr/>
          </p:nvSpPr>
          <p:spPr>
            <a:xfrm>
              <a:off x="2685162" y="908479"/>
              <a:ext cx="1163824" cy="1163967"/>
            </a:xfrm>
            <a:prstGeom prst="ellipse">
              <a:avLst/>
            </a:prstGeom>
            <a:solidFill>
              <a:srgbClr val="3194BA">
                <a:alpha val="49803"/>
              </a:srgbClr>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73"/>
            <p:cNvSpPr/>
            <p:nvPr/>
          </p:nvSpPr>
          <p:spPr>
            <a:xfrm>
              <a:off x="2600300" y="0"/>
              <a:ext cx="1333548" cy="71365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73"/>
            <p:cNvSpPr txBox="1"/>
            <p:nvPr/>
          </p:nvSpPr>
          <p:spPr>
            <a:xfrm>
              <a:off x="2600300" y="0"/>
              <a:ext cx="1333548" cy="713652"/>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700"/>
                <a:buFont typeface="Twentieth Century"/>
                <a:buNone/>
              </a:pPr>
              <a:r>
                <a:rPr lang="en-US" sz="1700">
                  <a:solidFill>
                    <a:schemeClr val="dk1"/>
                  </a:solidFill>
                  <a:latin typeface="Twentieth Century"/>
                  <a:ea typeface="Twentieth Century"/>
                  <a:cs typeface="Twentieth Century"/>
                  <a:sym typeface="Twentieth Century"/>
                </a:rPr>
                <a:t>Handling Raw Data</a:t>
              </a:r>
              <a:endParaRPr/>
            </a:p>
          </p:txBody>
        </p:sp>
        <p:sp>
          <p:nvSpPr>
            <p:cNvPr id="540" name="Google Shape;540;p73"/>
            <p:cNvSpPr/>
            <p:nvPr/>
          </p:nvSpPr>
          <p:spPr>
            <a:xfrm>
              <a:off x="3026551" y="1072619"/>
              <a:ext cx="1163824" cy="1163967"/>
            </a:xfrm>
            <a:prstGeom prst="ellipse">
              <a:avLst/>
            </a:prstGeom>
            <a:solidFill>
              <a:srgbClr val="3194BA">
                <a:alpha val="49803"/>
              </a:srgbClr>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73"/>
            <p:cNvSpPr/>
            <p:nvPr/>
          </p:nvSpPr>
          <p:spPr>
            <a:xfrm>
              <a:off x="4333913" y="677969"/>
              <a:ext cx="1260809" cy="78501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73"/>
            <p:cNvSpPr txBox="1"/>
            <p:nvPr/>
          </p:nvSpPr>
          <p:spPr>
            <a:xfrm>
              <a:off x="4333913" y="677969"/>
              <a:ext cx="1260809" cy="785017"/>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700"/>
                <a:buFont typeface="Twentieth Century"/>
                <a:buNone/>
              </a:pPr>
              <a:r>
                <a:rPr lang="en-US" sz="1700">
                  <a:solidFill>
                    <a:schemeClr val="dk1"/>
                  </a:solidFill>
                  <a:latin typeface="Twentieth Century"/>
                  <a:ea typeface="Twentieth Century"/>
                  <a:cs typeface="Twentieth Century"/>
                  <a:sym typeface="Twentieth Century"/>
                </a:rPr>
                <a:t>Improving Model Performance</a:t>
              </a:r>
              <a:endParaRPr/>
            </a:p>
          </p:txBody>
        </p:sp>
        <p:sp>
          <p:nvSpPr>
            <p:cNvPr id="543" name="Google Shape;543;p73"/>
            <p:cNvSpPr/>
            <p:nvPr/>
          </p:nvSpPr>
          <p:spPr>
            <a:xfrm>
              <a:off x="3110443" y="1441934"/>
              <a:ext cx="1163824" cy="1163967"/>
            </a:xfrm>
            <a:prstGeom prst="ellipse">
              <a:avLst/>
            </a:prstGeom>
            <a:solidFill>
              <a:srgbClr val="3194BA">
                <a:alpha val="49803"/>
              </a:srgbClr>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73"/>
            <p:cNvSpPr/>
            <p:nvPr/>
          </p:nvSpPr>
          <p:spPr>
            <a:xfrm>
              <a:off x="4455145" y="1677083"/>
              <a:ext cx="1236563" cy="83854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73"/>
            <p:cNvSpPr txBox="1"/>
            <p:nvPr/>
          </p:nvSpPr>
          <p:spPr>
            <a:xfrm>
              <a:off x="4455145" y="1677083"/>
              <a:ext cx="1236563" cy="838541"/>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700"/>
                <a:buFont typeface="Twentieth Century"/>
                <a:buNone/>
              </a:pPr>
              <a:r>
                <a:rPr lang="en-US" sz="1700">
                  <a:solidFill>
                    <a:schemeClr val="dk1"/>
                  </a:solidFill>
                  <a:latin typeface="Twentieth Century"/>
                  <a:ea typeface="Twentieth Century"/>
                  <a:cs typeface="Twentieth Century"/>
                  <a:sym typeface="Twentieth Century"/>
                </a:rPr>
                <a:t>Reducing Dimensionality</a:t>
              </a:r>
              <a:endParaRPr/>
            </a:p>
          </p:txBody>
        </p:sp>
        <p:sp>
          <p:nvSpPr>
            <p:cNvPr id="546" name="Google Shape;546;p73"/>
            <p:cNvSpPr/>
            <p:nvPr/>
          </p:nvSpPr>
          <p:spPr>
            <a:xfrm>
              <a:off x="2874284" y="1738100"/>
              <a:ext cx="1163824" cy="1163967"/>
            </a:xfrm>
            <a:prstGeom prst="ellipse">
              <a:avLst/>
            </a:prstGeom>
            <a:solidFill>
              <a:srgbClr val="3194BA">
                <a:alpha val="49803"/>
              </a:srgbClr>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73"/>
            <p:cNvSpPr/>
            <p:nvPr/>
          </p:nvSpPr>
          <p:spPr>
            <a:xfrm>
              <a:off x="3921726" y="2801085"/>
              <a:ext cx="1333548" cy="76717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73"/>
            <p:cNvSpPr txBox="1"/>
            <p:nvPr/>
          </p:nvSpPr>
          <p:spPr>
            <a:xfrm>
              <a:off x="3921726" y="2801085"/>
              <a:ext cx="1333548" cy="767176"/>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700"/>
                <a:buFont typeface="Twentieth Century"/>
                <a:buNone/>
              </a:pPr>
              <a:r>
                <a:rPr lang="en-US" sz="1700">
                  <a:solidFill>
                    <a:schemeClr val="dk1"/>
                  </a:solidFill>
                  <a:latin typeface="Twentieth Century"/>
                  <a:ea typeface="Twentieth Century"/>
                  <a:cs typeface="Twentieth Century"/>
                  <a:sym typeface="Twentieth Century"/>
                </a:rPr>
                <a:t>Handling Missing Values</a:t>
              </a:r>
              <a:endParaRPr/>
            </a:p>
          </p:txBody>
        </p:sp>
        <p:sp>
          <p:nvSpPr>
            <p:cNvPr id="549" name="Google Shape;549;p73"/>
            <p:cNvSpPr/>
            <p:nvPr/>
          </p:nvSpPr>
          <p:spPr>
            <a:xfrm>
              <a:off x="2496041" y="1738100"/>
              <a:ext cx="1163824" cy="1163967"/>
            </a:xfrm>
            <a:prstGeom prst="ellipse">
              <a:avLst/>
            </a:prstGeom>
            <a:solidFill>
              <a:srgbClr val="3194BA">
                <a:alpha val="49803"/>
              </a:srgbClr>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73"/>
            <p:cNvSpPr/>
            <p:nvPr/>
          </p:nvSpPr>
          <p:spPr>
            <a:xfrm>
              <a:off x="1278875" y="2801085"/>
              <a:ext cx="1333548" cy="76717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73"/>
            <p:cNvSpPr txBox="1"/>
            <p:nvPr/>
          </p:nvSpPr>
          <p:spPr>
            <a:xfrm>
              <a:off x="1278875" y="2801085"/>
              <a:ext cx="1333548" cy="767176"/>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700"/>
                <a:buFont typeface="Twentieth Century"/>
                <a:buNone/>
              </a:pPr>
              <a:r>
                <a:rPr lang="en-US" sz="1700">
                  <a:solidFill>
                    <a:schemeClr val="dk1"/>
                  </a:solidFill>
                  <a:latin typeface="Twentieth Century"/>
                  <a:ea typeface="Twentieth Century"/>
                  <a:cs typeface="Twentieth Century"/>
                  <a:sym typeface="Twentieth Century"/>
                </a:rPr>
                <a:t>Encoding Categorical Data</a:t>
              </a:r>
              <a:endParaRPr/>
            </a:p>
          </p:txBody>
        </p:sp>
        <p:sp>
          <p:nvSpPr>
            <p:cNvPr id="552" name="Google Shape;552;p73"/>
            <p:cNvSpPr/>
            <p:nvPr/>
          </p:nvSpPr>
          <p:spPr>
            <a:xfrm>
              <a:off x="2259882" y="1441934"/>
              <a:ext cx="1163824" cy="1163967"/>
            </a:xfrm>
            <a:prstGeom prst="ellipse">
              <a:avLst/>
            </a:prstGeom>
            <a:solidFill>
              <a:srgbClr val="3194BA">
                <a:alpha val="49803"/>
              </a:srgbClr>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73"/>
            <p:cNvSpPr/>
            <p:nvPr/>
          </p:nvSpPr>
          <p:spPr>
            <a:xfrm>
              <a:off x="842440" y="1677083"/>
              <a:ext cx="1236563" cy="83854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73"/>
            <p:cNvSpPr txBox="1"/>
            <p:nvPr/>
          </p:nvSpPr>
          <p:spPr>
            <a:xfrm>
              <a:off x="842440" y="1677083"/>
              <a:ext cx="1236563" cy="838541"/>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700"/>
                <a:buFont typeface="Twentieth Century"/>
                <a:buNone/>
              </a:pPr>
              <a:r>
                <a:rPr lang="en-US" sz="1700">
                  <a:solidFill>
                    <a:schemeClr val="dk1"/>
                  </a:solidFill>
                  <a:latin typeface="Twentieth Century"/>
                  <a:ea typeface="Twentieth Century"/>
                  <a:cs typeface="Twentieth Century"/>
                  <a:sym typeface="Twentieth Century"/>
                </a:rPr>
                <a:t>Scaling &amp; Normalization</a:t>
              </a:r>
              <a:endParaRPr/>
            </a:p>
          </p:txBody>
        </p:sp>
        <p:sp>
          <p:nvSpPr>
            <p:cNvPr id="555" name="Google Shape;555;p73"/>
            <p:cNvSpPr/>
            <p:nvPr/>
          </p:nvSpPr>
          <p:spPr>
            <a:xfrm>
              <a:off x="2343774" y="1072619"/>
              <a:ext cx="1163824" cy="1163967"/>
            </a:xfrm>
            <a:prstGeom prst="ellipse">
              <a:avLst/>
            </a:prstGeom>
            <a:solidFill>
              <a:srgbClr val="3194BA">
                <a:alpha val="49803"/>
              </a:srgbClr>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73"/>
            <p:cNvSpPr/>
            <p:nvPr/>
          </p:nvSpPr>
          <p:spPr>
            <a:xfrm>
              <a:off x="939426" y="677969"/>
              <a:ext cx="1260809" cy="78501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73"/>
            <p:cNvSpPr txBox="1"/>
            <p:nvPr/>
          </p:nvSpPr>
          <p:spPr>
            <a:xfrm>
              <a:off x="939426" y="677969"/>
              <a:ext cx="1260809" cy="785017"/>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700"/>
                <a:buFont typeface="Twentieth Century"/>
                <a:buNone/>
              </a:pPr>
              <a:r>
                <a:rPr lang="en-US" sz="1700">
                  <a:solidFill>
                    <a:schemeClr val="dk1"/>
                  </a:solidFill>
                  <a:latin typeface="Twentieth Century"/>
                  <a:ea typeface="Twentieth Century"/>
                  <a:cs typeface="Twentieth Century"/>
                  <a:sym typeface="Twentieth Century"/>
                </a:rPr>
                <a:t>Creating Interaction Features</a:t>
              </a:r>
              <a:endParaRP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74"/>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en-US"/>
              <a:t>WHY IS FEATURE ENGINEERING IMPORTANT?</a:t>
            </a:r>
            <a:endParaRPr/>
          </a:p>
        </p:txBody>
      </p:sp>
      <p:sp>
        <p:nvSpPr>
          <p:cNvPr id="563" name="Google Shape;563;p74"/>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457200" lvl="0" indent="-457200" algn="l" rtl="0">
              <a:lnSpc>
                <a:spcPct val="90000"/>
              </a:lnSpc>
              <a:spcBef>
                <a:spcPts val="0"/>
              </a:spcBef>
              <a:spcAft>
                <a:spcPts val="0"/>
              </a:spcAft>
              <a:buSzPts val="2000"/>
              <a:buFont typeface="Twentieth Century"/>
              <a:buAutoNum type="arabicPeriod"/>
            </a:pPr>
            <a:r>
              <a:rPr lang="en-US" b="1" dirty="0">
                <a:highlight>
                  <a:srgbClr val="FFFF00"/>
                </a:highlight>
              </a:rPr>
              <a:t>Better Model Accuracy:</a:t>
            </a:r>
            <a:r>
              <a:rPr lang="en-US" dirty="0">
                <a:highlight>
                  <a:srgbClr val="FFFF00"/>
                </a:highlight>
              </a:rPr>
              <a:t> Enhances the quality of input data, leading to improved predictive performance.</a:t>
            </a:r>
            <a:endParaRPr dirty="0">
              <a:highlight>
                <a:srgbClr val="FFFF00"/>
              </a:highlight>
            </a:endParaRPr>
          </a:p>
          <a:p>
            <a:pPr marL="457200" lvl="0" indent="-457200" algn="l" rtl="0">
              <a:lnSpc>
                <a:spcPct val="90000"/>
              </a:lnSpc>
              <a:spcBef>
                <a:spcPts val="1400"/>
              </a:spcBef>
              <a:spcAft>
                <a:spcPts val="0"/>
              </a:spcAft>
              <a:buSzPts val="2000"/>
              <a:buFont typeface="Twentieth Century"/>
              <a:buAutoNum type="arabicPeriod"/>
            </a:pPr>
            <a:r>
              <a:rPr lang="en-US" b="1" dirty="0">
                <a:highlight>
                  <a:srgbClr val="FFFF00"/>
                </a:highlight>
              </a:rPr>
              <a:t>Faster Training &amp; Inference:</a:t>
            </a:r>
            <a:r>
              <a:rPr lang="en-US" dirty="0">
                <a:highlight>
                  <a:srgbClr val="FFFF00"/>
                </a:highlight>
              </a:rPr>
              <a:t> Reduces complexity and training time by eliminating redundant features.</a:t>
            </a:r>
            <a:endParaRPr dirty="0">
              <a:highlight>
                <a:srgbClr val="FFFF00"/>
              </a:highlight>
            </a:endParaRPr>
          </a:p>
          <a:p>
            <a:pPr marL="457200" lvl="0" indent="-457200" algn="l" rtl="0">
              <a:lnSpc>
                <a:spcPct val="90000"/>
              </a:lnSpc>
              <a:spcBef>
                <a:spcPts val="1400"/>
              </a:spcBef>
              <a:spcAft>
                <a:spcPts val="0"/>
              </a:spcAft>
              <a:buSzPts val="2000"/>
              <a:buFont typeface="Twentieth Century"/>
              <a:buAutoNum type="arabicPeriod"/>
            </a:pPr>
            <a:r>
              <a:rPr lang="en-US" b="1" dirty="0">
                <a:highlight>
                  <a:srgbClr val="FFFF00"/>
                </a:highlight>
              </a:rPr>
              <a:t>Reduces Overfitting:</a:t>
            </a:r>
            <a:r>
              <a:rPr lang="en-US" dirty="0">
                <a:highlight>
                  <a:srgbClr val="FFFF00"/>
                </a:highlight>
              </a:rPr>
              <a:t> Ensures models generalize well to unseen data.</a:t>
            </a:r>
            <a:endParaRPr dirty="0">
              <a:highlight>
                <a:srgbClr val="FFFF00"/>
              </a:highlight>
            </a:endParaRPr>
          </a:p>
          <a:p>
            <a:pPr marL="457200" lvl="0" indent="-457200" algn="l" rtl="0">
              <a:lnSpc>
                <a:spcPct val="90000"/>
              </a:lnSpc>
              <a:spcBef>
                <a:spcPts val="1400"/>
              </a:spcBef>
              <a:spcAft>
                <a:spcPts val="0"/>
              </a:spcAft>
              <a:buSzPts val="2000"/>
              <a:buFont typeface="Twentieth Century"/>
              <a:buAutoNum type="arabicPeriod"/>
            </a:pPr>
            <a:r>
              <a:rPr lang="en-US" b="1" dirty="0">
                <a:highlight>
                  <a:srgbClr val="FFFF00"/>
                </a:highlight>
              </a:rPr>
              <a:t>Makes Data More Understandable:</a:t>
            </a:r>
            <a:r>
              <a:rPr lang="en-US" dirty="0">
                <a:highlight>
                  <a:srgbClr val="FFFF00"/>
                </a:highlight>
              </a:rPr>
              <a:t> Helps data scientists and stakeholders interpret model</a:t>
            </a:r>
            <a:endParaRPr dirty="0">
              <a:highlight>
                <a:srgbClr val="FFFF00"/>
              </a:highlight>
            </a:endParaRPr>
          </a:p>
          <a:p>
            <a:pPr marL="91440" lvl="0" indent="0" algn="l" rtl="0">
              <a:lnSpc>
                <a:spcPct val="90000"/>
              </a:lnSpc>
              <a:spcBef>
                <a:spcPts val="1400"/>
              </a:spcBef>
              <a:spcAft>
                <a:spcPts val="0"/>
              </a:spcAft>
              <a:buSzPts val="2000"/>
              <a:buNone/>
            </a:pPr>
            <a:endParaRPr dirty="0">
              <a:highlight>
                <a:srgbClr val="FFFF00"/>
              </a:highlight>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75"/>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en-US"/>
              <a:t>ETL IN FEATURE ENGINEERING</a:t>
            </a:r>
            <a:endParaRPr/>
          </a:p>
        </p:txBody>
      </p:sp>
      <p:sp>
        <p:nvSpPr>
          <p:cNvPr id="569" name="Google Shape;569;p75"/>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en-US" b="1" dirty="0">
                <a:highlight>
                  <a:srgbClr val="FFFF00"/>
                </a:highlight>
              </a:rPr>
              <a:t>ETL (Extract, Transform, Load) </a:t>
            </a:r>
            <a:r>
              <a:rPr lang="en-US" dirty="0">
                <a:highlight>
                  <a:srgbClr val="FFFF00"/>
                </a:highlight>
              </a:rPr>
              <a:t>is a critical process in feature engineering that prepares raw data for machine learning models. It involves extracting data from multiple sources, transforming it into a structured and usable format, and loading it into a data repository for analysis.</a:t>
            </a:r>
            <a:endParaRPr dirty="0">
              <a:highlight>
                <a:srgbClr val="FFFF00"/>
              </a:highlight>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76"/>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en-US"/>
              <a:t>STEPS OF ETL IN FEATURE ENGINEERING</a:t>
            </a:r>
            <a:endParaRPr/>
          </a:p>
        </p:txBody>
      </p:sp>
      <p:sp>
        <p:nvSpPr>
          <p:cNvPr id="575" name="Google Shape;575;p76"/>
          <p:cNvSpPr txBox="1">
            <a:spLocks noGrp="1"/>
          </p:cNvSpPr>
          <p:nvPr>
            <p:ph type="body" idx="1"/>
          </p:nvPr>
        </p:nvSpPr>
        <p:spPr>
          <a:xfrm>
            <a:off x="768096" y="2296721"/>
            <a:ext cx="7290055" cy="4023360"/>
          </a:xfrm>
          <a:prstGeom prst="rect">
            <a:avLst/>
          </a:prstGeom>
          <a:noFill/>
          <a:ln>
            <a:noFill/>
          </a:ln>
        </p:spPr>
        <p:txBody>
          <a:bodyPr spcFirstLastPara="1" wrap="square" lIns="45700" tIns="45700" rIns="45700" bIns="45700" anchor="t" anchorCtr="0">
            <a:normAutofit/>
          </a:bodyPr>
          <a:lstStyle/>
          <a:p>
            <a:pPr marL="91440" lvl="0" indent="-91440" algn="l" rtl="0">
              <a:lnSpc>
                <a:spcPct val="90000"/>
              </a:lnSpc>
              <a:spcBef>
                <a:spcPts val="0"/>
              </a:spcBef>
              <a:spcAft>
                <a:spcPts val="0"/>
              </a:spcAft>
              <a:buSzPts val="2000"/>
              <a:buNone/>
            </a:pPr>
            <a:r>
              <a:rPr lang="en-US" b="1" dirty="0">
                <a:highlight>
                  <a:srgbClr val="FFFF00"/>
                </a:highlight>
              </a:rPr>
              <a:t>Step 1: Extract (E) – Collecting Raw Data</a:t>
            </a:r>
            <a:endParaRPr dirty="0">
              <a:highlight>
                <a:srgbClr val="FFFF00"/>
              </a:highlight>
            </a:endParaRPr>
          </a:p>
          <a:p>
            <a:pPr marL="91440" lvl="0" indent="-127000" algn="l" rtl="0">
              <a:lnSpc>
                <a:spcPct val="90000"/>
              </a:lnSpc>
              <a:spcBef>
                <a:spcPts val="1400"/>
              </a:spcBef>
              <a:spcAft>
                <a:spcPts val="0"/>
              </a:spcAft>
              <a:buSzPts val="2000"/>
              <a:buFont typeface="Arial"/>
              <a:buChar char="•"/>
            </a:pPr>
            <a:r>
              <a:rPr lang="en-US" dirty="0"/>
              <a:t>Data is gathered from various sources such as databases, APIs, files (CSV, JSON, XML), web scraping, or logs.</a:t>
            </a:r>
            <a:endParaRPr dirty="0"/>
          </a:p>
          <a:p>
            <a:pPr marL="91440" lvl="0" indent="-127000" algn="l" rtl="0">
              <a:lnSpc>
                <a:spcPct val="90000"/>
              </a:lnSpc>
              <a:spcBef>
                <a:spcPts val="1400"/>
              </a:spcBef>
              <a:spcAft>
                <a:spcPts val="0"/>
              </a:spcAft>
              <a:buSzPts val="2000"/>
              <a:buFont typeface="Arial"/>
              <a:buChar char="•"/>
            </a:pPr>
            <a:r>
              <a:rPr lang="en-US" dirty="0"/>
              <a:t>Handles structured, semi-structured, and unstructured data.</a:t>
            </a:r>
            <a:endParaRPr dirty="0"/>
          </a:p>
          <a:p>
            <a:pPr marL="91440" lvl="0" indent="-127000" algn="l" rtl="0">
              <a:lnSpc>
                <a:spcPct val="90000"/>
              </a:lnSpc>
              <a:spcBef>
                <a:spcPts val="1400"/>
              </a:spcBef>
              <a:spcAft>
                <a:spcPts val="0"/>
              </a:spcAft>
              <a:buSzPts val="2000"/>
              <a:buFont typeface="Arial"/>
              <a:buChar char="•"/>
            </a:pPr>
            <a:r>
              <a:rPr lang="en-US" dirty="0"/>
              <a:t>Ensures data consistency and removes duplicates.</a:t>
            </a:r>
            <a:endParaRPr dirty="0"/>
          </a:p>
          <a:p>
            <a:pPr marL="91440" lvl="0" indent="-127000" algn="l" rtl="0">
              <a:lnSpc>
                <a:spcPct val="90000"/>
              </a:lnSpc>
              <a:spcBef>
                <a:spcPts val="1400"/>
              </a:spcBef>
              <a:spcAft>
                <a:spcPts val="0"/>
              </a:spcAft>
              <a:buSzPts val="2000"/>
              <a:buChar char=" "/>
            </a:pPr>
            <a:r>
              <a:rPr lang="en-US" b="1" dirty="0"/>
              <a:t>Example:</a:t>
            </a:r>
            <a:br>
              <a:rPr lang="en-US" dirty="0"/>
            </a:br>
            <a:r>
              <a:rPr lang="en-US" dirty="0"/>
              <a:t>Extracting customer transaction data from a SQL database and social media engagement data from an API.</a:t>
            </a:r>
            <a:endParaRPr dirty="0"/>
          </a:p>
          <a:p>
            <a:pPr marL="91440" lvl="0" indent="0" algn="l" rtl="0">
              <a:lnSpc>
                <a:spcPct val="90000"/>
              </a:lnSpc>
              <a:spcBef>
                <a:spcPts val="1400"/>
              </a:spcBef>
              <a:spcAft>
                <a:spcPts val="0"/>
              </a:spcAft>
              <a:buSzPts val="2000"/>
              <a:buNone/>
            </a:pPr>
            <a:endParaRPr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77"/>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en-US"/>
              <a:t>STEPS OF ETL IN FEATURE ENGINEERING</a:t>
            </a:r>
            <a:endParaRPr/>
          </a:p>
        </p:txBody>
      </p:sp>
      <p:sp>
        <p:nvSpPr>
          <p:cNvPr id="581" name="Google Shape;581;p77"/>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91440" algn="l" rtl="0">
              <a:lnSpc>
                <a:spcPct val="90000"/>
              </a:lnSpc>
              <a:spcBef>
                <a:spcPts val="0"/>
              </a:spcBef>
              <a:spcAft>
                <a:spcPts val="0"/>
              </a:spcAft>
              <a:buSzPts val="2000"/>
              <a:buNone/>
            </a:pPr>
            <a:r>
              <a:rPr lang="en-US" b="1"/>
              <a:t>Step 2: Transform (T) – Cleaning &amp; Feature Engineering</a:t>
            </a:r>
            <a:endParaRPr/>
          </a:p>
          <a:p>
            <a:pPr marL="91440" lvl="0" indent="-127000" algn="l" rtl="0">
              <a:lnSpc>
                <a:spcPct val="90000"/>
              </a:lnSpc>
              <a:spcBef>
                <a:spcPts val="1400"/>
              </a:spcBef>
              <a:spcAft>
                <a:spcPts val="0"/>
              </a:spcAft>
              <a:buSzPts val="2000"/>
              <a:buFont typeface="Arial"/>
              <a:buChar char="•"/>
            </a:pPr>
            <a:r>
              <a:rPr lang="en-US"/>
              <a:t>Converts raw data into a format suitable for machine learning.</a:t>
            </a:r>
            <a:endParaRPr/>
          </a:p>
          <a:p>
            <a:pPr marL="91440" lvl="0" indent="-127000" algn="l" rtl="0">
              <a:lnSpc>
                <a:spcPct val="90000"/>
              </a:lnSpc>
              <a:spcBef>
                <a:spcPts val="1400"/>
              </a:spcBef>
              <a:spcAft>
                <a:spcPts val="0"/>
              </a:spcAft>
              <a:buSzPts val="2000"/>
              <a:buFont typeface="Arial"/>
              <a:buChar char="•"/>
            </a:pPr>
            <a:r>
              <a:rPr lang="en-US"/>
              <a:t>Key feature engineering techniques applied in this step include:</a:t>
            </a:r>
            <a:endParaRPr/>
          </a:p>
          <a:p>
            <a:pPr marL="91440" lvl="0" indent="-91440" algn="l" rtl="0">
              <a:lnSpc>
                <a:spcPct val="90000"/>
              </a:lnSpc>
              <a:spcBef>
                <a:spcPts val="1400"/>
              </a:spcBef>
              <a:spcAft>
                <a:spcPts val="0"/>
              </a:spcAft>
              <a:buSzPts val="2000"/>
              <a:buNone/>
            </a:pPr>
            <a:r>
              <a:rPr lang="en-US" b="1"/>
              <a:t>Example:</a:t>
            </a:r>
            <a:endParaRPr/>
          </a:p>
          <a:p>
            <a:pPr marL="91440" lvl="0" indent="-127000" algn="l" rtl="0">
              <a:lnSpc>
                <a:spcPct val="90000"/>
              </a:lnSpc>
              <a:spcBef>
                <a:spcPts val="1400"/>
              </a:spcBef>
              <a:spcAft>
                <a:spcPts val="0"/>
              </a:spcAft>
              <a:buSzPts val="2000"/>
              <a:buFont typeface="Arial"/>
              <a:buChar char="•"/>
            </a:pPr>
            <a:r>
              <a:rPr lang="en-US"/>
              <a:t>Converting timestamps into day-of-week and hour-of-day features.</a:t>
            </a:r>
            <a:endParaRPr/>
          </a:p>
          <a:p>
            <a:pPr marL="91440" lvl="0" indent="-127000" algn="l" rtl="0">
              <a:lnSpc>
                <a:spcPct val="90000"/>
              </a:lnSpc>
              <a:spcBef>
                <a:spcPts val="1400"/>
              </a:spcBef>
              <a:spcAft>
                <a:spcPts val="0"/>
              </a:spcAft>
              <a:buSzPts val="2000"/>
              <a:buFont typeface="Arial"/>
              <a:buChar char="•"/>
            </a:pPr>
            <a:r>
              <a:rPr lang="en-US"/>
              <a:t>Binning customer age into groups (Young, Middle-Aged, Senior).</a:t>
            </a:r>
            <a:endParaRPr/>
          </a:p>
          <a:p>
            <a:pPr marL="91440" lvl="0" indent="0" algn="l" rtl="0">
              <a:lnSpc>
                <a:spcPct val="90000"/>
              </a:lnSpc>
              <a:spcBef>
                <a:spcPts val="1400"/>
              </a:spcBef>
              <a:spcAft>
                <a:spcPts val="0"/>
              </a:spcAft>
              <a:buSzPts val="2000"/>
              <a:buNone/>
            </a:pPr>
            <a:endParaRPr/>
          </a:p>
        </p:txBody>
      </p:sp>
      <p:pic>
        <p:nvPicPr>
          <p:cNvPr id="582" name="Google Shape;582;p77"/>
          <p:cNvPicPr preferRelativeResize="0"/>
          <p:nvPr/>
        </p:nvPicPr>
        <p:blipFill rotWithShape="1">
          <a:blip r:embed="rId3">
            <a:alphaModFix/>
          </a:blip>
          <a:srcRect/>
          <a:stretch/>
        </p:blipFill>
        <p:spPr>
          <a:xfrm>
            <a:off x="1559987" y="4961936"/>
            <a:ext cx="5706271" cy="1867161"/>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78"/>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en-US"/>
              <a:t>STEPS OF ETL IN FEATURE ENGINEERING</a:t>
            </a:r>
            <a:endParaRPr/>
          </a:p>
        </p:txBody>
      </p:sp>
      <p:sp>
        <p:nvSpPr>
          <p:cNvPr id="588" name="Google Shape;588;p78"/>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en-US" b="1"/>
              <a:t>Step 3: Load (L) – Storing Processed Data</a:t>
            </a:r>
            <a:endParaRPr/>
          </a:p>
          <a:p>
            <a:pPr marL="91440" lvl="0" indent="-127000" algn="l" rtl="0">
              <a:lnSpc>
                <a:spcPct val="90000"/>
              </a:lnSpc>
              <a:spcBef>
                <a:spcPts val="1400"/>
              </a:spcBef>
              <a:spcAft>
                <a:spcPts val="0"/>
              </a:spcAft>
              <a:buSzPts val="2000"/>
              <a:buFont typeface="Arial"/>
              <a:buChar char="•"/>
            </a:pPr>
            <a:r>
              <a:rPr lang="en-US"/>
              <a:t>Stores transformed data in a </a:t>
            </a:r>
            <a:r>
              <a:rPr lang="en-US" b="1"/>
              <a:t>data warehouse, data lake, or ML pipeline</a:t>
            </a:r>
            <a:r>
              <a:rPr lang="en-US"/>
              <a:t> for further analysis.</a:t>
            </a:r>
            <a:endParaRPr/>
          </a:p>
          <a:p>
            <a:pPr marL="91440" lvl="0" indent="-127000" algn="l" rtl="0">
              <a:lnSpc>
                <a:spcPct val="90000"/>
              </a:lnSpc>
              <a:spcBef>
                <a:spcPts val="1400"/>
              </a:spcBef>
              <a:spcAft>
                <a:spcPts val="0"/>
              </a:spcAft>
              <a:buSzPts val="2000"/>
              <a:buFont typeface="Arial"/>
              <a:buChar char="•"/>
            </a:pPr>
            <a:r>
              <a:rPr lang="en-US"/>
              <a:t>Ensures data is </a:t>
            </a:r>
            <a:r>
              <a:rPr lang="en-US" b="1"/>
              <a:t>ready for model training</a:t>
            </a:r>
            <a:r>
              <a:rPr lang="en-US"/>
              <a:t> by organizing it efficiently.</a:t>
            </a:r>
            <a:endParaRPr/>
          </a:p>
          <a:p>
            <a:pPr marL="91440" lvl="0" indent="-91440" algn="l" rtl="0">
              <a:lnSpc>
                <a:spcPct val="90000"/>
              </a:lnSpc>
              <a:spcBef>
                <a:spcPts val="1400"/>
              </a:spcBef>
              <a:spcAft>
                <a:spcPts val="0"/>
              </a:spcAft>
              <a:buSzPts val="2000"/>
              <a:buNone/>
            </a:pPr>
            <a:r>
              <a:rPr lang="en-US" b="1"/>
              <a:t>Example:</a:t>
            </a:r>
            <a:endParaRPr/>
          </a:p>
          <a:p>
            <a:pPr marL="91440" lvl="0" indent="-127000" algn="l" rtl="0">
              <a:lnSpc>
                <a:spcPct val="90000"/>
              </a:lnSpc>
              <a:spcBef>
                <a:spcPts val="1400"/>
              </a:spcBef>
              <a:spcAft>
                <a:spcPts val="0"/>
              </a:spcAft>
              <a:buSzPts val="2000"/>
              <a:buFont typeface="Arial"/>
              <a:buChar char="•"/>
            </a:pPr>
            <a:r>
              <a:rPr lang="en-US"/>
              <a:t>Saving the final dataset into a PostgreSQL database for machine learning.</a:t>
            </a:r>
            <a:endParaRPr/>
          </a:p>
          <a:p>
            <a:pPr marL="91440" lvl="0" indent="-127000" algn="l" rtl="0">
              <a:lnSpc>
                <a:spcPct val="90000"/>
              </a:lnSpc>
              <a:spcBef>
                <a:spcPts val="1400"/>
              </a:spcBef>
              <a:spcAft>
                <a:spcPts val="0"/>
              </a:spcAft>
              <a:buSzPts val="2000"/>
              <a:buFont typeface="Arial"/>
              <a:buChar char="•"/>
            </a:pPr>
            <a:r>
              <a:rPr lang="en-US"/>
              <a:t>Exporting data as a Parquet or CSV file for further processing in Pandas or Spark.</a:t>
            </a:r>
            <a:endParaRPr/>
          </a:p>
          <a:p>
            <a:pPr marL="91440" lvl="0" indent="0" algn="l" rtl="0">
              <a:lnSpc>
                <a:spcPct val="90000"/>
              </a:lnSpc>
              <a:spcBef>
                <a:spcPts val="1400"/>
              </a:spcBef>
              <a:spcAft>
                <a:spcPts val="0"/>
              </a:spcAft>
              <a:buSzPts val="2000"/>
              <a:buNone/>
            </a:pPr>
            <a:endParaRPr b="1"/>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79"/>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en-US"/>
              <a:t>IMPORTANCE OF ETL IN FEATURE ENGINEERING</a:t>
            </a:r>
            <a:endParaRPr/>
          </a:p>
        </p:txBody>
      </p:sp>
      <p:sp>
        <p:nvSpPr>
          <p:cNvPr id="594" name="Google Shape;594;p79"/>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457200" lvl="0" indent="-457200" algn="l" rtl="0">
              <a:lnSpc>
                <a:spcPct val="90000"/>
              </a:lnSpc>
              <a:spcBef>
                <a:spcPts val="0"/>
              </a:spcBef>
              <a:spcAft>
                <a:spcPts val="0"/>
              </a:spcAft>
              <a:buSzPts val="2000"/>
              <a:buFont typeface="Twentieth Century"/>
              <a:buAutoNum type="arabicPeriod"/>
            </a:pPr>
            <a:r>
              <a:rPr lang="en-US" b="1" dirty="0">
                <a:highlight>
                  <a:srgbClr val="FFFF00"/>
                </a:highlight>
              </a:rPr>
              <a:t>Ensures Data Quality</a:t>
            </a:r>
            <a:r>
              <a:rPr lang="en-US" dirty="0">
                <a:highlight>
                  <a:srgbClr val="FFFF00"/>
                </a:highlight>
              </a:rPr>
              <a:t> – Cleans, formats, and organizes data for machine learning.</a:t>
            </a:r>
            <a:endParaRPr dirty="0">
              <a:highlight>
                <a:srgbClr val="FFFF00"/>
              </a:highlight>
            </a:endParaRPr>
          </a:p>
          <a:p>
            <a:pPr marL="457200" lvl="0" indent="-457200" algn="l" rtl="0">
              <a:lnSpc>
                <a:spcPct val="90000"/>
              </a:lnSpc>
              <a:spcBef>
                <a:spcPts val="1400"/>
              </a:spcBef>
              <a:spcAft>
                <a:spcPts val="0"/>
              </a:spcAft>
              <a:buSzPts val="2000"/>
              <a:buFont typeface="Twentieth Century"/>
              <a:buAutoNum type="arabicPeriod"/>
            </a:pPr>
            <a:r>
              <a:rPr lang="en-US" b="1" dirty="0">
                <a:highlight>
                  <a:srgbClr val="FFFF00"/>
                </a:highlight>
              </a:rPr>
              <a:t>Enhances Model Performance</a:t>
            </a:r>
            <a:r>
              <a:rPr lang="en-US" dirty="0">
                <a:highlight>
                  <a:srgbClr val="FFFF00"/>
                </a:highlight>
              </a:rPr>
              <a:t> – Removes noise and improves feature relevance.</a:t>
            </a:r>
            <a:endParaRPr dirty="0">
              <a:highlight>
                <a:srgbClr val="FFFF00"/>
              </a:highlight>
            </a:endParaRPr>
          </a:p>
          <a:p>
            <a:pPr marL="457200" lvl="0" indent="-457200" algn="l" rtl="0">
              <a:lnSpc>
                <a:spcPct val="90000"/>
              </a:lnSpc>
              <a:spcBef>
                <a:spcPts val="1400"/>
              </a:spcBef>
              <a:spcAft>
                <a:spcPts val="0"/>
              </a:spcAft>
              <a:buSzPts val="2000"/>
              <a:buFont typeface="Twentieth Century"/>
              <a:buAutoNum type="arabicPeriod"/>
            </a:pPr>
            <a:r>
              <a:rPr lang="en-US" b="1" dirty="0">
                <a:highlight>
                  <a:srgbClr val="FFFF00"/>
                </a:highlight>
              </a:rPr>
              <a:t>Handles Large-Scale Data</a:t>
            </a:r>
            <a:r>
              <a:rPr lang="en-US" dirty="0">
                <a:highlight>
                  <a:srgbClr val="FFFF00"/>
                </a:highlight>
              </a:rPr>
              <a:t> – Optimizes processing for big data frameworks (Spark, Hadoop).</a:t>
            </a:r>
            <a:endParaRPr dirty="0">
              <a:highlight>
                <a:srgbClr val="FFFF00"/>
              </a:highlight>
            </a:endParaRPr>
          </a:p>
          <a:p>
            <a:pPr marL="457200" lvl="0" indent="-457200" algn="l" rtl="0">
              <a:lnSpc>
                <a:spcPct val="90000"/>
              </a:lnSpc>
              <a:spcBef>
                <a:spcPts val="1400"/>
              </a:spcBef>
              <a:spcAft>
                <a:spcPts val="0"/>
              </a:spcAft>
              <a:buSzPts val="2000"/>
              <a:buFont typeface="Twentieth Century"/>
              <a:buAutoNum type="arabicPeriod"/>
            </a:pPr>
            <a:r>
              <a:rPr lang="en-US" b="1" dirty="0">
                <a:highlight>
                  <a:srgbClr val="FFFF00"/>
                </a:highlight>
              </a:rPr>
              <a:t>Automates Data Pipeline</a:t>
            </a:r>
            <a:r>
              <a:rPr lang="en-US" dirty="0">
                <a:highlight>
                  <a:srgbClr val="FFFF00"/>
                </a:highlight>
              </a:rPr>
              <a:t> – Makes feature engineering scalable and reproducible.</a:t>
            </a:r>
            <a:endParaRPr dirty="0">
              <a:highlight>
                <a:srgbClr val="FFFF00"/>
              </a:highlight>
            </a:endParaRPr>
          </a:p>
        </p:txBody>
      </p:sp>
    </p:spTree>
  </p:cSld>
  <p:clrMapOvr>
    <a:masterClrMapping/>
  </p:clrMapOvr>
</p:sld>
</file>

<file path=ppt/theme/theme1.xml><?xml version="1.0" encoding="utf-8"?>
<a:theme xmlns:a="http://schemas.openxmlformats.org/drawingml/2006/main" name="Integral">
  <a:themeElements>
    <a:clrScheme name="Integral">
      <a:dk1>
        <a:srgbClr val="000000"/>
      </a:dk1>
      <a:lt1>
        <a:srgbClr val="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4550</Words>
  <Application>Microsoft Office PowerPoint</Application>
  <PresentationFormat>On-screen Show (4:3)</PresentationFormat>
  <Paragraphs>417</Paragraphs>
  <Slides>67</Slides>
  <Notes>67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67</vt:i4>
      </vt:variant>
    </vt:vector>
  </HeadingPairs>
  <TitlesOfParts>
    <vt:vector size="73" baseType="lpstr">
      <vt:lpstr>Arial</vt:lpstr>
      <vt:lpstr>Calibri</vt:lpstr>
      <vt:lpstr>Courier New</vt:lpstr>
      <vt:lpstr>Times New Roman</vt:lpstr>
      <vt:lpstr>Twentieth Century</vt:lpstr>
      <vt:lpstr>Integral</vt:lpstr>
      <vt:lpstr>EXPLORATORY DATA ANALYSIS AND ETL </vt:lpstr>
      <vt:lpstr>CONTENTS</vt:lpstr>
      <vt:lpstr>PowerPoint Presentation</vt:lpstr>
      <vt:lpstr>DATA PREPROCESSING</vt:lpstr>
      <vt:lpstr>DATA QUALITY: WHY PREPROCESS THE DATA?</vt:lpstr>
      <vt:lpstr>MAJOR TASKS IN DATA PREPROCESSING</vt:lpstr>
      <vt:lpstr>DATA CLEANING</vt:lpstr>
      <vt:lpstr>INCOMPLETE (MISSING) DATA</vt:lpstr>
      <vt:lpstr>PowerPoint Presentation</vt:lpstr>
      <vt:lpstr>PowerPoint Presentation</vt:lpstr>
      <vt:lpstr>PowerPoint Presentation</vt:lpstr>
      <vt:lpstr>OUTLIERS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NOISY DATA</vt:lpstr>
      <vt:lpstr>HOW TO HANDLE NOISY DATA?</vt:lpstr>
      <vt:lpstr>HOW TO HANDLE NOISY DATA?</vt:lpstr>
      <vt:lpstr>HOW TO HANDLE NOISY DATA?</vt:lpstr>
      <vt:lpstr>HOW TO HANDLE NOISY DATA?</vt:lpstr>
      <vt:lpstr>HOW TO HANDLE NOISY DATA?</vt:lpstr>
      <vt:lpstr>DATA INTEGRATION</vt:lpstr>
      <vt:lpstr>PowerPoint Presentation</vt:lpstr>
      <vt:lpstr>HANDLING REDUNDANCY IN DATA INTEGRATION</vt:lpstr>
      <vt:lpstr>REDUNDANCY REMOVAL </vt:lpstr>
      <vt:lpstr>PowerPoint Presentation</vt:lpstr>
      <vt:lpstr>PowerPoint Presentation</vt:lpstr>
      <vt:lpstr>CATEGORICAL DATA ENCODING TECHNIQUES             </vt:lpstr>
      <vt:lpstr>WHY DATA ENCODING IS IMPORTANT?</vt:lpstr>
      <vt:lpstr>WHAT IS CATEGORICAL DATA?   </vt:lpstr>
      <vt:lpstr>WHAT IS CATEGORICAL DATA?   </vt:lpstr>
      <vt:lpstr>WHAT IS CATEGORICAL DATA?   </vt:lpstr>
      <vt:lpstr>SEVERAL METHODS FOR ENCODING CATEGORICAL VARIABLES</vt:lpstr>
      <vt:lpstr>ONE HOT ENCODING</vt:lpstr>
      <vt:lpstr>PowerPoint Presentation</vt:lpstr>
      <vt:lpstr>DUMMY ENCODING  </vt:lpstr>
      <vt:lpstr>PowerPoint Presentation</vt:lpstr>
      <vt:lpstr>LABEL ENCODING: </vt:lpstr>
      <vt:lpstr>ORDINAL ENCODING: </vt:lpstr>
      <vt:lpstr>BINARY ENCODING: </vt:lpstr>
      <vt:lpstr>COUNT ENCODING:  </vt:lpstr>
      <vt:lpstr>TARGET ENCODING:</vt:lpstr>
      <vt:lpstr>IMPORTANCE OF DATA TYPE SELECTION FOR MODELING</vt:lpstr>
      <vt:lpstr>PowerPoint Presentation</vt:lpstr>
      <vt:lpstr>DATA REDUCTION STRATEGIES</vt:lpstr>
      <vt:lpstr>DATA REDUCTION 1: DIMENSIONALITY REDUCTION</vt:lpstr>
      <vt:lpstr>DATA NORMALIZATION</vt:lpstr>
      <vt:lpstr>NEED OF  NORMALIZATION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FEATURE ENGINEERING AND ITS ROLE IN DATA PROCESSING</vt:lpstr>
      <vt:lpstr>ROLE OF FEATURE ENGINEERING IN DATA PROCESSING</vt:lpstr>
      <vt:lpstr>WHY IS FEATURE ENGINEERING IMPORTANT?</vt:lpstr>
      <vt:lpstr>ETL IN FEATURE ENGINEERING</vt:lpstr>
      <vt:lpstr>STEPS OF ETL IN FEATURE ENGINEERING</vt:lpstr>
      <vt:lpstr>STEPS OF ETL IN FEATURE ENGINEERING</vt:lpstr>
      <vt:lpstr>STEPS OF ETL IN FEATURE ENGINEERING</vt:lpstr>
      <vt:lpstr>IMPORTANCE OF ETL IN FEATURE ENGINEERING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Om Thanage</cp:lastModifiedBy>
  <cp:revision>1</cp:revision>
  <dcterms:modified xsi:type="dcterms:W3CDTF">2025-05-12T13:21:08Z</dcterms:modified>
</cp:coreProperties>
</file>