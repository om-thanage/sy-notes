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62" r:id="rId1"/>
  </p:sldMasterIdLst>
  <p:notesMasterIdLst>
    <p:notesMasterId r:id="rId41"/>
  </p:notesMasterIdLst>
  <p:sldIdLst>
    <p:sldId id="263" r:id="rId2"/>
    <p:sldId id="264" r:id="rId3"/>
    <p:sldId id="302" r:id="rId4"/>
    <p:sldId id="303" r:id="rId5"/>
    <p:sldId id="304" r:id="rId6"/>
    <p:sldId id="265" r:id="rId7"/>
    <p:sldId id="291" r:id="rId8"/>
    <p:sldId id="293" r:id="rId9"/>
    <p:sldId id="294" r:id="rId10"/>
    <p:sldId id="292" r:id="rId11"/>
    <p:sldId id="295" r:id="rId12"/>
    <p:sldId id="296" r:id="rId13"/>
    <p:sldId id="297" r:id="rId14"/>
    <p:sldId id="298" r:id="rId15"/>
    <p:sldId id="299" r:id="rId16"/>
    <p:sldId id="300" r:id="rId17"/>
    <p:sldId id="301" r:id="rId18"/>
    <p:sldId id="308" r:id="rId19"/>
    <p:sldId id="309" r:id="rId20"/>
    <p:sldId id="312" r:id="rId21"/>
    <p:sldId id="310" r:id="rId22"/>
    <p:sldId id="313" r:id="rId23"/>
    <p:sldId id="311" r:id="rId24"/>
    <p:sldId id="314" r:id="rId25"/>
    <p:sldId id="287" r:id="rId26"/>
    <p:sldId id="290" r:id="rId27"/>
    <p:sldId id="315" r:id="rId28"/>
    <p:sldId id="316" r:id="rId29"/>
    <p:sldId id="317" r:id="rId30"/>
    <p:sldId id="323" r:id="rId31"/>
    <p:sldId id="324" r:id="rId32"/>
    <p:sldId id="320" r:id="rId33"/>
    <p:sldId id="322" r:id="rId34"/>
    <p:sldId id="325" r:id="rId35"/>
    <p:sldId id="326" r:id="rId36"/>
    <p:sldId id="277" r:id="rId37"/>
    <p:sldId id="286" r:id="rId38"/>
    <p:sldId id="305" r:id="rId39"/>
    <p:sldId id="306" r:id="rId40"/>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6" d="100"/>
          <a:sy n="66" d="100"/>
        </p:scale>
        <p:origin x="1301" y="23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4T18:43:37.15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0 323,'2'-2,"-1"-1,1 0,0 1,0-1,1 1,-1 0,0 0,1 0,-1 0,1 0,0 1,5-4,40-12,-34 13,65-17,1 3,1 3,128-6,256 17,-338 5,1056 2,-756-31,-258 2,44-5,615 15,-518 20,417-5,-651 5,119 21,-44-3,683 35,-591-46,10 4,242 10,1-34,-140-20,208-13,-23 24,669 64,-844-8,200 17,-372-39,465 26,-136-42,-251-1,-72 15,-61-2,583-4,61 4,-195 28,265-26,-526-17,-220 6,-1 4,144 27,-186-23,109 2,67-14,-83-2,269-16,-329 13,-50 5,-1-3,58-12,-20 3,-54 9,42-10,-18 5,-46 8,0 1,1-1,-1-1,0 0,0 0,0 0,0-1,14-7,-22 9,0 1,1 0,-1-1,0 1,1-1,-1 1,0-1,1 0,-1 1,0-1,0 1,0-1,0 1,0-1,0 0,1 1,-1-1,0 1,-1-1,1 0,0 1,0-1,0 1,0-1,0 0,-1 1,1-1,0 1,0-1,-1 1,1-1,0 1,-1-1,1 1,-1-1,1 1,-1 0,1-1,-1 1,-22-21,20 19,-7-6,0 2,0-1,-1 2,1-1,-1 1,-1 1,-13-4,-89-16,50 12,-543-149,556 145,0 2,-61-7,-60-5,74 10,-170-7,188 23,-92-1,-231 29,22 31,-487 58,-103-69,0-39,-52-36,886 20,0-5,1-7,-212-56,263 49,-162-44,215 62,-61-7,81 14,-1 0,0 1,0 1,0 0,1 1,-1 0,0 1,-13 4,-8 9,1 1,-60 41,60-37,-607 350,446-278,-291 97,73-68,-795 126,342-177,-5-67,452-7,336 3,-344-5,2-35,-34-19,-776 0,1075 58,-288 10,383-1,0 3,-82 24,-117 51,109-33,-162 49,309-100,0-1,0 0,0 0,0 0,0-1,-1 0,1 0,0-1,0 1,0-2,0 1,0-1,-11-4,-5-5,0 0,-32-21,36 20,-340-222,351 228,-47-28,-93-41,-13-7,84 39,45 26,0-1,1-2,-43-35,73 54,-1 0,1-1,-1 1,1-1,0 1,-1-1,1 0,0 0,0 1,0-1,0 0,0-3,1 5,-1-1,1 0,0 0,0 1,0-1,1 0,-1 0,0 1,0-1,0 0,0 1,1-1,-1 0,0 1,1-1,-1 0,0 1,1-1,-1 0,1 1,-1-1,1 1,0-2,4 0,-1-1,1 1,0 0,0 0,-1 1,1 0,0-1,0 1,9 0,108-8,141 9,-144 2,1422 0,-1096-2,-224 19,-96-6,405 33,105 25,334 58,-889-122,-29-3,91 19,-114-18,0 0,1-2,52-1,85-12,-162 9,54-4,-1-3,0-3,0-2,-1-2,75-32,-129 46,-1 1,0-1,0 1,1-1,-1 1,0-1,0 0,0 0,0 0,0 1,0-1,0 0,0 0,0-1,0 1,0 0,0-2,-1 2,0 0,0 1,0-1,0 0,0 1,0-1,0 0,-1 1,1-1,0 1,0-1,-1 0,1 1,-1-1,1 1,0-1,-1 1,1-1,-1 1,1-1,-1 1,1 0,-1-1,-1 0,-6-3,0 0,0 1,0 0,-10-2,11 3,-81-20,-2 4,-105-7,66 9,-146-14,-317 7,300 7,52 2,235 14,-1 0,1-1,0 1,0-1,0 0,0 0,0-1,0 1,0-1,0 0,0-1,-7-4,9 5,1-1,0 1,0 0,0-1,1 1,-1-1,1 0,-1 0,1 1,0-1,0 0,0 0,0 0,1 0,-1 0,1-1,0 1,0 0,0 0,0 0,1 0,-1 0,2-4,-1 3,0 0,0 0,0 1,1-1,-1 0,1 1,0-1,0 1,1 0,-1 0,1-1,-1 1,1 1,0-1,0 0,0 1,1 0,-1-1,0 1,1 1,0-1,4-1,8-3,0 1,0 1,1 1,22-2,492-10,-384 17,176-1,497 4,-605 2,-1 9,245 52,-319-42,1-5,2-6,173-6,-254-10,287 1,-210 16,47 1,822-19,-807 17,-38-1,216-9,110 6,-370-3,345 35,-307-21,86 15,-209-31,-1-1,1-2,0-2,39-3,131-24,-124 14,819-73,9 67,-376 46,-399-18,223 20,-204-18,-2 7,216 56,-122-15,-180-48,121 6,-132-14,98 21,-32-3,94 6,264 44,-176-20,-230-41,-43-7,1 0,0-2,37-3,-49 0,1-1,-1-2,0 1,0-2,-1 0,27-13,136-64,-145 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4T18:51:31.69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1031 517,'80'-4,"138"-24,16-3,1 27,81-7,-156-15,178-53,-199 44,394-75,-309 85,24-3,311-42,-461 57,53-5,10 2,43-2,332 18,-231 1,-271-1,61 9,-84-8,0 1,0 1,0 0,-1 1,1 0,-1 0,0 1,0 0,13 10,-20-13,0 0,0 1,-1-1,1 1,-1 0,1 0,-1 0,0 0,0 0,-1 0,1 1,-1-1,1 1,-1-1,0 1,0-1,0 1,-1 0,0-1,1 1,-1 0,0-1,-1 1,1 0,-1-1,1 1,-3 5,1-3,-1-1,1 1,-1-1,0 0,-1 0,1-1,-1 1,0-1,0 1,0-1,-1-1,1 1,-1 0,0-1,0 0,-11 4,-9 1,0-1,-1-1,0-1,-1-2,-44 1,7 0,-879 20,851-24,-354-21,272 10,29 2,-482-18,477 26,-24-2,-201 22,298-7,-138 41,-69 43,252-84,-52 15,49-17,1 2,1 1,-35 19,67-31,-1 0,1 0,-1 0,1-1,-1 1,0 0,1-1,-1 1,0-1,0 1,1-1,-1 0,0 0,0 0,0 0,1 0,-1 0,-3-1,4 1,1-1,-1 0,0 1,0-1,0 0,1 1,-1-1,0 0,0 0,1 0,-1 1,1-1,-1 0,1 0,-1 0,1 0,0 0,-1 0,1 0,0 0,0 0,0 0,0-1,0-2,0-1,0 1,1 0,-1 1,1-1,0 0,0 0,0 0,1 0,0 1,-1-1,1 0,0 1,1 0,3-5,7-4,1 2,0 0,1 1,0 0,0 1,0 0,18-4,-31 11,80-30,1 3,1 5,126-20,269-7,697 34,-309 74,-606-11,76 9,-49-48,-75-5,766 24,-492 5,-49-1,-189-31,237 12,331 9,-597-23,-26-2,0-9,295-59,-368 42,148-57,65-19,-289 98,0 2,0 2,1 2,74 6,-31 0,276 0,548 27,-183 41,-77 30,-344-58,6-25,-112-7,704 29,226-40,-513-2,-364-16,11 0,-109 17,195 6,-267-1,-1 5,91 21,612 147,-485-110,-233-53,1-4,1-2,-1-4,1-2,0-4,0-3,119-22,200-84,-14 3,-300 93,1 4,82-1,157 13,-171 1,279 1,-2680-4,1301 47,676-12,-379 98,570-110,1 5,1 3,2 4,1 3,-80 52,135-74,0-1,-36 15,-373 130,-23-31,34-29,-5-19,-519 32,564-95,0-16,-675-84,-422-59,562 56,-364-110,1197 181,-430-63,-3 31,76 21,-343-4,281 55,390-14,0 6,-148 42,97-8,-286 130,428-169,0 2,0 1,-25 21,-741 503,-7-106,598-346,-5-9,-247 62,222-86,-3-9,-375 25,-329-66,441-11,481 7,-1-2,0 0,0-1,0 0,1-1,-1-1,1-1,0 0,0-1,1 0,0-2,0 1,-14-12,-92-78,42 31,35 30,1-1,2-1,-37-48,62 68,0-1,2-1,0-1,2 0,0 0,1-1,1 0,1-1,-8-40,15 60,1 0,-1 0,1 0,0 0,0 0,0 0,1 0,-1 0,1 0,-1 0,1 0,0 0,0 0,0 0,1 0,-1 1,0-1,1 0,0 1,0 0,0-1,0 1,0 0,0 0,5-3,3-1,2 0,-1 0,1 1,-1 1,19-5,52-12,112-14,92 4,957 5,-710 57,31 1,756-28,-697-6,-405 0,228 5,-403 3,-30 1,-15 2,-25 6,-13-1,0-2,-1-2,0-2,-70 5,82-9,-165 12,-1-8,-371-33,-376-136,869 144,-779-196,263 31,502 160,39 10,0-1,-57-26,95 34,10 2,22 2,399 30,-168-9,-124-11,408 23,-292-22,717 11,-682-33,288-50,-387 35,353-4,366 34,-518-4,-157-4,-1-11,387-76,-575 83,-1-2,56-25,-43 15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4T18:51:46.23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330 586,'11'-1,"-1"0,0 0,0-1,0-1,0 1,11-6,3 0,536-161,705-116,-923 235,2 14,586 16,-120 27,-640-7,-158 0,-1 0,0 1,0 0,0 1,16 4,-24-5,0 0,0 0,0 1,0-1,0 1,0 0,-1 0,1 0,0 0,-1 0,0 0,1 1,-1-1,0 1,0 0,-1 0,1-1,0 1,-1 0,0 0,0 1,2 4,-2-2,0-1,0 0,-1 0,1 1,-1-1,0 0,-1 0,1 1,-1-1,0 0,-1 0,1 0,-1 0,0 0,0 0,-4 7,0-5,0 1,0-1,0-1,-1 1,1-1,-2 0,1 0,-15 7,-12 6,-1-3,0 0,-1-3,-74 18,-158 15,246-42,-840 76,333-83,-98 4,502 4,1 6,0 6,-218 58,18 43,253-89,-5 3,3 4,0 3,3 3,-129 101,194-139,0 0,0 0,0 0,-1-1,0 0,0-1,0 1,-10 2,14-4,0-1,0 0,0 0,0 0,0 0,0 0,0 0,0 0,0-1,0 1,0-1,0 0,1 1,-1-1,0 0,0 0,1 0,-1 0,0 0,1-1,-1 1,1 0,-1-1,1 1,0-1,0 1,0-1,0 0,0 1,0-1,0 0,0-2,-3-5,0 0,1-1,0 1,1-1,0 0,1 0,0 0,0 0,1 0,0 0,1 0,2-11,0 7,1 0,0 1,1-1,1 1,0 0,1 1,14-21,-2 9,0 1,2 1,0 1,2 1,0 1,1 1,38-22,-3 8,2 3,83-28,136-30,-259 81,240-64,282-39,-384 88,0 7,0 7,190 15,-272 1,109 26,71 35,-95-24,136 52,-241-74,0 3,-2 2,53 38,-77-50,0 0,0-3,2 0,-1-2,44 10,25 9,-31-8,1-2,1-4,74 8,-61-11,38 3,-197-4,-618 6,528-19,-592-24,633 13,-1006-55,335 69,630 10,-18 2,179-15,0 0,0 0,1 0,-1-1,0 1,0-1,0 1,1-1,-1 0,0 0,1 0,-1 0,1 0,-1-1,1 1,0-1,-3-2,5 4,-1-1,1 0,0 1,-1-1,1 0,0 1,-1-1,1 0,0 0,0 1,0-1,0 0,-1 1,1-1,0 0,0 0,0 0,1 1,-1-1,0 0,0 1,0-1,1 0,-1 0,1-2,1 1,-1 0,1 0,-1 0,1 0,0 0,0 1,0-1,0 0,4-1,17-10,0 1,1 2,0 0,33-7,56-14,1 5,154-15,241 7,293 53,-7 76,137 13,-913-107,195 18,-206-18,0 0,0 1,-1 0,1 0,-1 0,0 1,9 4,-15-7,-1 1,1-1,-1 0,1 1,-1-1,1 1,0-1,-1 1,0 0,1-1,-1 1,1-1,-1 1,0 0,1-1,-1 1,0 0,0-1,1 1,-1 0,0 0,0-1,0 1,0 0,0-1,0 1,0 0,0 0,-1 1,0 0,0 0,-1 1,0-1,1 0,-1 0,0 0,0 0,0 0,-1 0,1-1,0 1,-5 2,-25 14,-2-1,-69 25,-85 14,168-51,-132 32,-211 24,-166-13,310-31,-913 82,-362 111,1123-161,213-32,149-15,0-1,0-1,1 1,-1-2,-9 0,15 0,1 1,-1-1,0 0,1 0,-1 0,1 0,0-1,-1 1,1-1,0 1,0-1,0 0,0 0,0 0,0 0,0 0,1 0,-1 0,1-1,-2-2,-2-6,0 0,1 0,1-1,0 1,0-1,1 0,0 0,1-23,1 28,0 0,1 0,0 0,0 0,0 0,1 0,0 0,1 0,0 1,0-1,0 1,1 0,-1 0,2 0,-1 0,9-8,9-5,0 2,1 1,1 1,1 1,35-15,143-45,-203 74,161-47,2 7,266-30,345 22,374 50,-679 39,-7 33,-299-45,-106-22,-36-5,0 1,0 1,21 6,-41-9,1-1,-1 1,1-1,-1 1,1 0,-1-1,1 1,-1 0,0 0,0 0,1 0,-1 0,1 1,-2-1,0 0,0 0,0 0,0-1,-1 1,1 0,0 0,0-1,-1 1,1 0,0-1,-1 1,1 0,-1-1,1 1,-1 0,1-1,-1 1,0-1,1 1,-1-1,1 0,-1 1,0-1,0 1,1-1,-1 0,0 0,0 1,1-1,-1 0,-1 0,-24 10,-1-1,0-1,-1-2,-42 5,-38 3,-161-2,-114-24,273 7,-662-39,7-1,733 44,15 1,-1 0,0-2,-25-5,42 7,-1 0,1-1,0 1,0 0,0 0,0-1,0 1,-1 0,1-1,0 1,0-1,0 0,0 1,0-1,1 0,-1 0,0 1,0-1,0 0,0 0,1 0,-1 0,1 0,-1 0,0 0,1 0,0 0,-1 0,1 0,0-1,-1 1,1 0,0-2,1 0,0 1,0-1,0 1,0-1,1 1,-1 0,1 0,0 0,-1-1,1 2,0-1,0 0,0 0,0 1,3-2,20-12,1 1,1 1,0 2,51-15,39-7,1 6,209-22,248 17,-166 26,724 85,-238 45,-628-87,321 37,-493-65,1249 92,-847-61,-346-25,351-5,-114-7,-275 8,114 26,-155-23,-37-4,-35-10,1 1,0-1,-1 0,1 0,-1 0,1 1,-1-1,1 0,-1 1,1-1,-1 0,1 1,-1-1,1 1,-1-1,1 1,-1-1,0 1,1-1,-1 1,0-1,0 1,1-1,-1 1,0 0,0-1,0 1,0-1,0 1,0 0,0-1,0 1,0-1,0 1,0 0,0-1,0 1,0-1,0 1,-1 0,1-1,0 1,0-1,-1 1,1-1,0 1,-1-1,1 1,-1-1,1 1,-1-1,1 0,-1 1,1-1,-1 0,0 1,-16 11,0-1,-1-1,0-1,-24 9,7-2,-101 43,-2-5,-3-6,-1-7,-3-6,0-6,-188 13,47-33,1-12,-475-67,-543-178,425 84,841 161,30 3,0 0,0 0,0-1,0 0,0 0,0-1,0 1,0-2,1 1,-1-1,-8-5,14 8,0-1,0 0,1 1,-1-1,0 0,1 0,-1 1,1-1,-1 0,1 0,-1 0,1 0,0 0,-1 0,1 1,0-1,0 0,0 0,0 0,-1 0,1 0,1 0,-1 0,0 0,0 0,0 0,0 0,1 0,-1 0,0 0,1 0,-1 0,1 1,-1-1,1 0,-1 0,1 0,0 1,-1-1,3-1,1-2,1 0,0 0,0 0,0 1,8-4,16-6,2 1,-1 2,1 1,1 2,-1 1,38-3,-42 5,937-84,7 55,-761 27,1942-9,-1783 16,-368-1,32-1,50 7,-64 1,-19-7,0 0,0 0,0 1,0-1,1 0,-1 0,0 0,0 1,0-1,0 0,0 0,0 0,0 1,0-1,0 0,0 0,0 1,0-1,0 0,0 0,0 0,0 1,0-1,0 0,0 0,0 0,0 1,0-1,-1 0,1 0,0 0,0 1,0-1,0 0,0 0,-1 0,1 0,0 1,0-1,-31 16,0-5,0-1,-1-1,0-2,-48 4,-137 1,186-11,-284-2,-529-68,710 51,-280-33,-5 26,189 25,-451-10,544 5,-261-18,295 12,-186-45,-485-210,738 252,-33-9,-1 3,-1 3,-1 4,0 2,-116-1,174 11,6 1,-1 0,1 0,0-1,-17-4,22 0,11 0,17-4,93-11,214-8,-198 20,1674-71,-55 110,-944-7,918 52,-1292-37,-264-21,-43-3,132 9,551-21,-428-6,-166 3,428 4,-6 46,-46 20,-118-64,-286-8,153-15,-20 1,786-37,374 10,-1229 45,548-4,-359-41,-44 1,974 27,-953 18,132-2,-546-1,-1 0,1 0,-1 1,1-1,-1 1,1 0,7 3,-11-4,-1 1,1-1,-1 0,0 0,1 1,-1-1,0 0,1 0,-1 1,0-1,1 0,-1 1,0-1,0 1,1-1,-1 0,0 1,0-1,0 1,1-1,-1 0,0 1,0-1,0 1,0-1,0 1,0-1,0 1,0-1,0 1,-1 1,0 0,0-1,0 1,0 0,0-1,0 1,-1-1,1 0,-1 1,1-1,-1 0,-1 2,-28 17,-1 0,-1-2,0-2,-1-1,-44 13,-189 42,206-56,-883 157,728-149,-1-9,-310-21,18-72,208 25,247 47,0 2,-1 3,1 2,-1 2,-79 13,-31 7,-101 9,-84 2,-1752 12,833-157,847 66,-1042-82,-10 82,1358 48,-361 7,319 2,-158 30,252-29,-85 15,-255 79,83 29,8 24,289-146,-98 52,3 6,3 4,-189 159,226-161,79-72,0 0,0 0,0 0,0 0,0 0,0 0,0 0,0 0,0 0,0 0,0 0,0 0,-1 0,1 0,0 0,0 0,0 0,0 0,0 1,0-1,0 0,0 0,0 0,0 0,0 0,0 0,0 0,0 0,0 0,0 0,0 0,0 1,0-1,0 0,0 0,0 0,0 0,0 0,0 0,0 0,0 0,0 0,0 0,0 0,0 1,0-1,0 0,0 0,0 0,0 0,1 0,-1 0,0 0,0 0,0 0,0 0,0 0,0 0,0 0,0 0,0 0,0 0,0 0,0 0,1 0,-1 0,0 0,11-1,20-8,201-70,3 11,3 9,2 11,459-31,957 49,-1420 43,427 80,277 22,-719-94,530 56,1 33,-697-103,-39-5,-1-1,0 2,0 0,27 10,-41-13,-1 0,0 0,1 0,-1 0,1 0,-1 1,0-1,1 0,-1 0,0 0,1 1,-1-1,0 0,1 0,-1 1,0-1,0 0,1 1,-1-1,0 0,0 1,1-1,-1 0,0 1,0-1,0 0,0 1,0-1,0 1,0-1,0 0,1 1,-1-1,0 1,-1-1,1 0,0 1,0-1,0 1,0-1,0 0,0 1,0-1,-1 0,1 1,0-1,0 0,-1 1,-2 2,0 0,0-1,-1 1,1-1,-1 0,1 0,-1 0,0-1,-7 3,-48 12,0-3,-108 11,162-23,-246 22,-1198 16,76-106,14-70,907 92,0 29,338 21,-202 36,-103 52,281-50,24-6,89-32,-1-1,-33 2,10-2,48-3,-1-1,1 0,0 0,-1 0,1 0,0 0,0 0,-1 0,1 0,0 0,-1-1,1 1,0 0,0-1,0 1,-1-1,1 0,0 1,0-1,0 0,-1-1,2 2,-1-1,1 0,0 0,0 0,0 0,0 0,0 0,0 0,0 0,0 0,0 0,0 0,0 0,1 0,-1 0,0 0,1 0,-1 0,1 0,-1 1,1-1,-1 0,1 0,0 1,-1-1,1 0,0 1,0-1,0 0,9-8,0 2,1-1,0 1,0 1,0 0,1 0,16-5,-23 9,96-36,1 4,127-24,219-20,-313 57,1146-127,-602 100,97-8,275 12,-32 46,-606-2,-330 3,1 3,-1 4,-1 4,134 40,-46-13,206 23,-312-54,73 10,339 47,-303-38,-104-15,112 8,-6-6,26 0,-115-16,-35-1,0 2,75 11,6 5,-80-13,64 16,-111-19,-1 0,1 1,-1-1,1 1,-1 0,7 5,-10-7,-1 1,1-1,-1 0,0 1,1-1,-1 0,0 1,1-1,-1 0,0 1,0-1,1 1,-1-1,0 1,0-1,0 0,1 1,-1-1,0 1,0-1,0 1,0-1,0 1,0-1,0 1,0-1,0 1,-1 1,0-1,0 0,0 0,1 0,-1 0,0-1,0 1,-1 0,1 0,0 0,0-1,0 1,0-1,-1 1,-1 0,-19 6,-1-2,1 0,-45 4,35-6,-457 43,239-25,-1600 30,-392-247,698-63,-49-7,-7 121,1209 143,276 8,-150 26,42 14,-343 118,284-77,-79 30,252-69,1 5,-147 97,168-96,-68 42,-583 327,657-387,-2-3,-1-4,-2-3,-167 26,67-30,-241-2,-105-4,-62 0,-164-42,-333-47,747 41,-7 0,212 34,-85-3,220 1,0 0,0-1,1 0,-1 0,1 0,-1 0,1-1,-1 1,1-1,0 0,-1 0,1 0,0 0,0-1,1 1,-1-1,1 0,-1 1,1-1,0 0,0-1,0 1,0 0,0 0,1-1,0 1,0-1,0 0,0 1,0-1,1 0,-1 1,1-1,0 0,0 0,0 1,1-1,0 0,-1 1,1-1,0 0,1 1,-1-1,1 1,-1 0,1-1,0 1,0 0,5-5,-1 2,1-1,0 1,1 1,-1-1,1 1,0 1,16-8,68-19,-90 30,87-21,117-15,-93 20,761-97,-210 78,-57-10,51-1,-556 41,141-24,96-42,-292 63,1 2,0 2,71 3,-94 1,-1-2,1 0,35-11,16-2,6 6,148 0,82 24,-43-1,-250-12,31 1,-47-2,0 1,0-1,0 1,0 0,0 0,0 0,-1 0,1 1,0-1,0 1,-1-1,5 5,-6-5,-1-1,1 1,-1 0,1 0,0 0,-1 0,0 0,1 0,-1 0,0 0,1 0,-1 1,0-1,0 0,0 0,0 0,0 0,0 0,0 0,0 0,0 0,-1 0,1 0,0 1,-1-1,1 0,-1 0,1-1,-1 1,1 0,-1 0,0 0,1 0,-1 0,0-1,0 1,0 0,0-1,-1 2,-4 3,-1 0,1-1,-1 0,-13 6,-10 2,-1-2,-1-1,1-1,-42 4,-136 6,201-18,-900 9,550-13,-908-16,1259 20,-463-14,457 14,8 1,1-1,-1 0,0 0,0-1,0 0,0 1,1-1,-7-3,11 4,0 0,0 0,0 0,0 0,-1 0,1 0,0 0,0 0,0 0,0 0,0 0,-1 0,1 0,0 0,0 0,0-1,0 1,0 0,0 0,0 0,0 0,-1 0,1 0,0-1,0 1,0 0,0 0,0 0,0 0,0 0,0-1,0 1,0 0,0 0,0 0,0 0,0-1,0 1,0 0,0 0,0 0,0 0,0 0,0-1,0 1,0 0,0 0,0 0,1 0,-1 0,0 0,0-1,0 1,0 0,0 0,0 0,14-6,19-1,312-2,-245 10,707 25,-638-17,42 6,127 3,-313-18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29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2900"/>
          </a:xfrm>
          <a:prstGeom prst="rect">
            <a:avLst/>
          </a:prstGeom>
        </p:spPr>
        <p:txBody>
          <a:bodyPr vert="horz" lIns="91440" tIns="45720" rIns="91440" bIns="45720" rtlCol="0"/>
          <a:lstStyle>
            <a:lvl1pPr algn="r">
              <a:defRPr sz="1200"/>
            </a:lvl1pPr>
          </a:lstStyle>
          <a:p>
            <a:fld id="{208D3539-DA3D-4484-8125-A50ADCDF7799}" type="datetimeFigureOut">
              <a:rPr lang="en-IN" smtClean="0"/>
              <a:t>04-05-2025</a:t>
            </a:fld>
            <a:endParaRPr lang="en-IN"/>
          </a:p>
        </p:txBody>
      </p:sp>
      <p:sp>
        <p:nvSpPr>
          <p:cNvPr id="4" name="Slide Image Placeholder 3"/>
          <p:cNvSpPr>
            <a:spLocks noGrp="1" noRot="1" noChangeAspect="1"/>
          </p:cNvSpPr>
          <p:nvPr>
            <p:ph type="sldImg" idx="2"/>
          </p:nvPr>
        </p:nvSpPr>
        <p:spPr>
          <a:xfrm>
            <a:off x="3810000" y="514350"/>
            <a:ext cx="4572000" cy="25717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257550"/>
            <a:ext cx="97536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29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2900"/>
          </a:xfrm>
          <a:prstGeom prst="rect">
            <a:avLst/>
          </a:prstGeom>
        </p:spPr>
        <p:txBody>
          <a:bodyPr vert="horz" lIns="91440" tIns="45720" rIns="91440" bIns="45720" rtlCol="0" anchor="b"/>
          <a:lstStyle>
            <a:lvl1pPr algn="r">
              <a:defRPr sz="1200"/>
            </a:lvl1pPr>
          </a:lstStyle>
          <a:p>
            <a:fld id="{3CAA4B01-0CD1-47F1-B6B4-84857D6B45E6}" type="slidenum">
              <a:rPr lang="en-IN" smtClean="0"/>
              <a:t>‹#›</a:t>
            </a:fld>
            <a:endParaRPr lang="en-IN"/>
          </a:p>
        </p:txBody>
      </p:sp>
    </p:spTree>
    <p:extLst>
      <p:ext uri="{BB962C8B-B14F-4D97-AF65-F5344CB8AC3E}">
        <p14:creationId xmlns:p14="http://schemas.microsoft.com/office/powerpoint/2010/main" val="2767004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CAA4B01-0CD1-47F1-B6B4-84857D6B45E6}" type="slidenum">
              <a:rPr lang="en-IN" smtClean="0"/>
              <a:t>26</a:t>
            </a:fld>
            <a:endParaRPr lang="en-IN"/>
          </a:p>
        </p:txBody>
      </p:sp>
    </p:spTree>
    <p:extLst>
      <p:ext uri="{BB962C8B-B14F-4D97-AF65-F5344CB8AC3E}">
        <p14:creationId xmlns:p14="http://schemas.microsoft.com/office/powerpoint/2010/main" val="33921054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1"/>
            <a:ext cx="100584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4572000"/>
            <a:ext cx="861568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5486400"/>
            <a:ext cx="10212916"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963085" y="3852863"/>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928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5/4/2025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928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928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5/4/2025</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5/4/2025</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5/4/2025</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03632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406400" y="6096000"/>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5/4/2025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
        <p:nvSpPr>
          <p:cNvPr id="9" name="Content Placeholder 8"/>
          <p:cNvSpPr>
            <a:spLocks noGrp="1"/>
          </p:cNvSpPr>
          <p:nvPr>
            <p:ph sz="quarter" idx="13"/>
          </p:nvPr>
        </p:nvSpPr>
        <p:spPr>
          <a:xfrm>
            <a:off x="406400" y="381000"/>
            <a:ext cx="103632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2336" y="5495278"/>
            <a:ext cx="103632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112776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02336" y="6096000"/>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D8BD707-D9CF-40AE-B4C6-C98DA3205C09}" type="datetimeFigureOut">
              <a:rPr lang="en-US" smtClean="0"/>
              <a:t>5/4/2025</a:t>
            </a:fld>
            <a:endParaRPr lang="en-US"/>
          </a:p>
        </p:txBody>
      </p:sp>
      <p:sp>
        <p:nvSpPr>
          <p:cNvPr id="9" name="Slide Number Placeholder 8"/>
          <p:cNvSpPr>
            <a:spLocks noGrp="1"/>
          </p:cNvSpPr>
          <p:nvPr>
            <p:ph type="sldNum" sz="quarter" idx="11"/>
          </p:nvPr>
        </p:nvSpPr>
        <p:spPr/>
        <p:txBody>
          <a:bodyPr/>
          <a:lstStyle/>
          <a:p>
            <a:fld id="{B6F15528-21DE-4FAA-801E-634DDDAF4B2B}" type="slidenum">
              <a:rPr lang="en-IN" smtClean="0"/>
              <a:t>‹#›</a:t>
            </a:fld>
            <a:endParaRPr lang="en-IN"/>
          </a:p>
        </p:txBody>
      </p:sp>
      <p:sp>
        <p:nvSpPr>
          <p:cNvPr id="10" name="Footer Placeholder 9"/>
          <p:cNvSpPr>
            <a:spLocks noGrp="1"/>
          </p:cNvSpPr>
          <p:nvPr>
            <p:ph type="ftr" sz="quarter" idx="12"/>
          </p:nvPr>
        </p:nvSpPr>
        <p:spPr/>
        <p:txBody>
          <a:bodyPr/>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3368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16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16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1127760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1277600" y="5486400"/>
            <a:ext cx="9144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11375717" y="5648960"/>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B6F15528-21DE-4FAA-801E-634DDDAF4B2B}" type="slidenum">
              <a:rPr lang="en-IN" smtClean="0"/>
              <a:t>‹#›</a:t>
            </a:fld>
            <a:endParaRPr lang="en-IN"/>
          </a:p>
        </p:txBody>
      </p:sp>
      <p:sp>
        <p:nvSpPr>
          <p:cNvPr id="5" name="Footer Placeholder 4"/>
          <p:cNvSpPr>
            <a:spLocks noGrp="1"/>
          </p:cNvSpPr>
          <p:nvPr>
            <p:ph type="ftr" sz="quarter" idx="3"/>
          </p:nvPr>
        </p:nvSpPr>
        <p:spPr>
          <a:xfrm rot="16200000">
            <a:off x="10510428" y="3987800"/>
            <a:ext cx="2367281" cy="487680"/>
          </a:xfrm>
          <a:prstGeom prst="rect">
            <a:avLst/>
          </a:prstGeom>
        </p:spPr>
        <p:txBody>
          <a:bodyPr vert="horz" lIns="91440" tIns="45720" rIns="91440" bIns="45720" rtlCol="0" anchor="ctr"/>
          <a:lstStyle>
            <a:lvl1pPr algn="r">
              <a:defRPr sz="1200">
                <a:solidFill>
                  <a:schemeClr val="bg2"/>
                </a:solidFill>
              </a:defRPr>
            </a:lvl1pPr>
          </a:lstStyle>
          <a:p>
            <a:endParaRPr lang="en-IN"/>
          </a:p>
        </p:txBody>
      </p:sp>
      <p:sp>
        <p:nvSpPr>
          <p:cNvPr id="4" name="Date Placeholder 3"/>
          <p:cNvSpPr>
            <a:spLocks noGrp="1"/>
          </p:cNvSpPr>
          <p:nvPr>
            <p:ph type="dt" sz="half" idx="2"/>
          </p:nvPr>
        </p:nvSpPr>
        <p:spPr>
          <a:xfrm rot="16200000">
            <a:off x="10474869" y="1584960"/>
            <a:ext cx="2438399" cy="487680"/>
          </a:xfrm>
          <a:prstGeom prst="rect">
            <a:avLst/>
          </a:prstGeom>
        </p:spPr>
        <p:txBody>
          <a:bodyPr vert="horz" lIns="91440" tIns="45720" rIns="91440" bIns="45720" rtlCol="0" anchor="ctr"/>
          <a:lstStyle>
            <a:lvl1pPr algn="l">
              <a:defRPr sz="1200">
                <a:solidFill>
                  <a:schemeClr val="bg2"/>
                </a:solidFill>
              </a:defRPr>
            </a:lvl1pPr>
          </a:lstStyle>
          <a:p>
            <a:fld id="{1D8BD707-D9CF-40AE-B4C6-C98DA3205C09}" type="datetimeFigureOut">
              <a:rPr lang="en-US" smtClean="0"/>
              <a:t>5/4/2025</a:t>
            </a:fld>
            <a:endParaRPr lang="en-US"/>
          </a:p>
        </p:txBody>
      </p:sp>
    </p:spTree>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customXml" Target="../ink/ink3.xml"/><Relationship Id="rId4" Type="http://schemas.openxmlformats.org/officeDocument/2006/relationships/image" Target="../media/image42.png"/></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43400" y="2541825"/>
            <a:ext cx="3657600" cy="936154"/>
          </a:xfrm>
          <a:prstGeom prst="rect">
            <a:avLst/>
          </a:prstGeom>
        </p:spPr>
        <p:txBody>
          <a:bodyPr vert="horz" wrap="square" lIns="0" tIns="12700" rIns="0" bIns="0" rtlCol="0">
            <a:spAutoFit/>
          </a:bodyPr>
          <a:lstStyle/>
          <a:p>
            <a:pPr marL="12700">
              <a:lnSpc>
                <a:spcPct val="100000"/>
              </a:lnSpc>
              <a:spcBef>
                <a:spcPts val="100"/>
              </a:spcBef>
            </a:pPr>
            <a:r>
              <a:rPr sz="6000" spc="-20" dirty="0">
                <a:solidFill>
                  <a:srgbClr val="000000"/>
                </a:solidFill>
              </a:rPr>
              <a:t>Indexing</a:t>
            </a:r>
            <a:endParaRPr sz="6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0" y="607251"/>
            <a:ext cx="2740661" cy="690574"/>
          </a:xfrm>
          <a:prstGeom prst="rect">
            <a:avLst/>
          </a:prstGeom>
        </p:spPr>
        <p:txBody>
          <a:bodyPr vert="horz" wrap="square" lIns="0" tIns="13335" rIns="0" bIns="0" rtlCol="0">
            <a:spAutoFit/>
          </a:bodyPr>
          <a:lstStyle/>
          <a:p>
            <a:pPr marL="12700">
              <a:lnSpc>
                <a:spcPct val="100000"/>
              </a:lnSpc>
              <a:spcBef>
                <a:spcPts val="105"/>
              </a:spcBef>
            </a:pPr>
            <a:r>
              <a:rPr sz="4400" spc="-5" dirty="0">
                <a:solidFill>
                  <a:srgbClr val="000000"/>
                </a:solidFill>
              </a:rPr>
              <a:t>Ind</a:t>
            </a:r>
            <a:r>
              <a:rPr sz="4400" spc="-60" dirty="0">
                <a:solidFill>
                  <a:srgbClr val="000000"/>
                </a:solidFill>
              </a:rPr>
              <a:t>e</a:t>
            </a:r>
            <a:r>
              <a:rPr sz="4400" spc="-5" dirty="0">
                <a:solidFill>
                  <a:srgbClr val="000000"/>
                </a:solidFill>
              </a:rPr>
              <a:t>xing</a:t>
            </a:r>
            <a:endParaRPr sz="4400" dirty="0"/>
          </a:p>
        </p:txBody>
      </p:sp>
      <p:sp>
        <p:nvSpPr>
          <p:cNvPr id="3" name="object 3"/>
          <p:cNvSpPr txBox="1"/>
          <p:nvPr/>
        </p:nvSpPr>
        <p:spPr>
          <a:xfrm>
            <a:off x="916942" y="1737107"/>
            <a:ext cx="10354945" cy="4410438"/>
          </a:xfrm>
          <a:prstGeom prst="rect">
            <a:avLst/>
          </a:prstGeom>
        </p:spPr>
        <p:txBody>
          <a:bodyPr vert="horz" wrap="square" lIns="0" tIns="132080" rIns="0" bIns="0" rtlCol="0">
            <a:spAutoFit/>
          </a:bodyPr>
          <a:lstStyle/>
          <a:p>
            <a:pPr marL="241300" marR="100965" indent="-228600">
              <a:lnSpc>
                <a:spcPct val="70000"/>
              </a:lnSpc>
              <a:spcBef>
                <a:spcPts val="1040"/>
              </a:spcBef>
              <a:buFont typeface="Arial MT"/>
              <a:buChar char="•"/>
              <a:tabLst>
                <a:tab pos="241300" algn="l"/>
              </a:tabLst>
            </a:pPr>
            <a:r>
              <a:rPr sz="2600" dirty="0">
                <a:latin typeface="Calibri"/>
                <a:cs typeface="Calibri"/>
              </a:rPr>
              <a:t>A</a:t>
            </a:r>
            <a:r>
              <a:rPr sz="2600" spc="5" dirty="0">
                <a:latin typeface="Calibri"/>
                <a:cs typeface="Calibri"/>
              </a:rPr>
              <a:t> </a:t>
            </a:r>
            <a:r>
              <a:rPr sz="2600" spc="-5" dirty="0">
                <a:latin typeface="Calibri"/>
                <a:cs typeface="Calibri"/>
              </a:rPr>
              <a:t>SQL index</a:t>
            </a:r>
            <a:r>
              <a:rPr sz="2600" spc="-20" dirty="0">
                <a:latin typeface="Calibri"/>
                <a:cs typeface="Calibri"/>
              </a:rPr>
              <a:t> </a:t>
            </a:r>
            <a:r>
              <a:rPr sz="2600" dirty="0">
                <a:latin typeface="Calibri"/>
                <a:cs typeface="Calibri"/>
              </a:rPr>
              <a:t>is</a:t>
            </a:r>
            <a:r>
              <a:rPr sz="2600" spc="5" dirty="0">
                <a:latin typeface="Calibri"/>
                <a:cs typeface="Calibri"/>
              </a:rPr>
              <a:t> </a:t>
            </a:r>
            <a:r>
              <a:rPr sz="2600" dirty="0">
                <a:latin typeface="Calibri"/>
                <a:cs typeface="Calibri"/>
              </a:rPr>
              <a:t>a</a:t>
            </a:r>
            <a:r>
              <a:rPr sz="2600" spc="10" dirty="0">
                <a:latin typeface="Calibri"/>
                <a:cs typeface="Calibri"/>
              </a:rPr>
              <a:t> </a:t>
            </a:r>
            <a:r>
              <a:rPr sz="2600" spc="-5" dirty="0">
                <a:latin typeface="Calibri"/>
                <a:cs typeface="Calibri"/>
              </a:rPr>
              <a:t>quick</a:t>
            </a:r>
            <a:r>
              <a:rPr sz="2600" spc="-15" dirty="0">
                <a:latin typeface="Calibri"/>
                <a:cs typeface="Calibri"/>
              </a:rPr>
              <a:t> </a:t>
            </a:r>
            <a:r>
              <a:rPr sz="2600" spc="-5" dirty="0">
                <a:latin typeface="Calibri"/>
                <a:cs typeface="Calibri"/>
              </a:rPr>
              <a:t>lookup</a:t>
            </a:r>
            <a:r>
              <a:rPr sz="2600" spc="15" dirty="0">
                <a:latin typeface="Calibri"/>
                <a:cs typeface="Calibri"/>
              </a:rPr>
              <a:t> </a:t>
            </a:r>
            <a:r>
              <a:rPr sz="2600" spc="-5" dirty="0">
                <a:latin typeface="Calibri"/>
                <a:cs typeface="Calibri"/>
              </a:rPr>
              <a:t>table </a:t>
            </a:r>
            <a:r>
              <a:rPr sz="2600" spc="-25" dirty="0">
                <a:latin typeface="Calibri"/>
                <a:cs typeface="Calibri"/>
              </a:rPr>
              <a:t>for</a:t>
            </a:r>
            <a:r>
              <a:rPr sz="2600" spc="20" dirty="0">
                <a:latin typeface="Calibri"/>
                <a:cs typeface="Calibri"/>
              </a:rPr>
              <a:t> </a:t>
            </a:r>
            <a:r>
              <a:rPr sz="2600" spc="-5" dirty="0">
                <a:latin typeface="Calibri"/>
                <a:cs typeface="Calibri"/>
              </a:rPr>
              <a:t>finding</a:t>
            </a:r>
            <a:r>
              <a:rPr sz="2600" spc="-15" dirty="0">
                <a:latin typeface="Calibri"/>
                <a:cs typeface="Calibri"/>
              </a:rPr>
              <a:t> records</a:t>
            </a:r>
            <a:r>
              <a:rPr sz="2600" dirty="0">
                <a:latin typeface="Calibri"/>
                <a:cs typeface="Calibri"/>
              </a:rPr>
              <a:t> </a:t>
            </a:r>
            <a:r>
              <a:rPr sz="2600" spc="-15" dirty="0">
                <a:latin typeface="Calibri"/>
                <a:cs typeface="Calibri"/>
              </a:rPr>
              <a:t>users</a:t>
            </a:r>
            <a:r>
              <a:rPr sz="2600" spc="-20" dirty="0">
                <a:latin typeface="Calibri"/>
                <a:cs typeface="Calibri"/>
              </a:rPr>
              <a:t> </a:t>
            </a:r>
            <a:r>
              <a:rPr sz="2600" spc="-5" dirty="0">
                <a:latin typeface="Calibri"/>
                <a:cs typeface="Calibri"/>
              </a:rPr>
              <a:t>need</a:t>
            </a:r>
            <a:r>
              <a:rPr sz="2600" spc="-25" dirty="0">
                <a:latin typeface="Calibri"/>
                <a:cs typeface="Calibri"/>
              </a:rPr>
              <a:t> </a:t>
            </a:r>
            <a:r>
              <a:rPr sz="2600" spc="-10" dirty="0">
                <a:latin typeface="Calibri"/>
                <a:cs typeface="Calibri"/>
              </a:rPr>
              <a:t>to</a:t>
            </a:r>
            <a:r>
              <a:rPr sz="2600" spc="10" dirty="0">
                <a:latin typeface="Calibri"/>
                <a:cs typeface="Calibri"/>
              </a:rPr>
              <a:t> </a:t>
            </a:r>
            <a:r>
              <a:rPr sz="2600" spc="-10" dirty="0">
                <a:latin typeface="Calibri"/>
                <a:cs typeface="Calibri"/>
              </a:rPr>
              <a:t>search </a:t>
            </a:r>
            <a:r>
              <a:rPr sz="2600" spc="-575" dirty="0">
                <a:latin typeface="Calibri"/>
                <a:cs typeface="Calibri"/>
              </a:rPr>
              <a:t> </a:t>
            </a:r>
            <a:r>
              <a:rPr sz="2600" spc="-20" dirty="0">
                <a:latin typeface="Calibri"/>
                <a:cs typeface="Calibri"/>
              </a:rPr>
              <a:t>frequently.</a:t>
            </a:r>
            <a:endParaRPr sz="2600" dirty="0">
              <a:latin typeface="Calibri"/>
              <a:cs typeface="Calibri"/>
            </a:endParaRPr>
          </a:p>
          <a:p>
            <a:pPr marL="241300" indent="-228600">
              <a:lnSpc>
                <a:spcPct val="100000"/>
              </a:lnSpc>
              <a:spcBef>
                <a:spcPts val="60"/>
              </a:spcBef>
              <a:buFont typeface="Arial MT"/>
              <a:buChar char="•"/>
              <a:tabLst>
                <a:tab pos="241300" algn="l"/>
              </a:tabLst>
            </a:pPr>
            <a:r>
              <a:rPr sz="2600" dirty="0">
                <a:latin typeface="Calibri"/>
                <a:cs typeface="Calibri"/>
              </a:rPr>
              <a:t>An</a:t>
            </a:r>
            <a:r>
              <a:rPr sz="2600" spc="-10" dirty="0">
                <a:latin typeface="Calibri"/>
                <a:cs typeface="Calibri"/>
              </a:rPr>
              <a:t> </a:t>
            </a:r>
            <a:r>
              <a:rPr sz="2600" spc="-5" dirty="0">
                <a:latin typeface="Calibri"/>
                <a:cs typeface="Calibri"/>
              </a:rPr>
              <a:t>index</a:t>
            </a:r>
            <a:r>
              <a:rPr sz="2600" spc="-20" dirty="0">
                <a:latin typeface="Calibri"/>
                <a:cs typeface="Calibri"/>
              </a:rPr>
              <a:t> </a:t>
            </a:r>
            <a:r>
              <a:rPr sz="2600" dirty="0">
                <a:latin typeface="Calibri"/>
                <a:cs typeface="Calibri"/>
              </a:rPr>
              <a:t>is</a:t>
            </a:r>
            <a:r>
              <a:rPr sz="2600" spc="10" dirty="0">
                <a:latin typeface="Calibri"/>
                <a:cs typeface="Calibri"/>
              </a:rPr>
              <a:t> </a:t>
            </a:r>
            <a:r>
              <a:rPr sz="2600" spc="-5" dirty="0">
                <a:latin typeface="Calibri"/>
                <a:cs typeface="Calibri"/>
              </a:rPr>
              <a:t>small, </a:t>
            </a:r>
            <a:r>
              <a:rPr sz="2600" spc="-15" dirty="0">
                <a:latin typeface="Calibri"/>
                <a:cs typeface="Calibri"/>
              </a:rPr>
              <a:t>fast,</a:t>
            </a:r>
            <a:r>
              <a:rPr sz="2600" spc="-5" dirty="0">
                <a:latin typeface="Calibri"/>
                <a:cs typeface="Calibri"/>
              </a:rPr>
              <a:t> </a:t>
            </a:r>
            <a:r>
              <a:rPr sz="2600" dirty="0">
                <a:latin typeface="Calibri"/>
                <a:cs typeface="Calibri"/>
              </a:rPr>
              <a:t>and</a:t>
            </a:r>
            <a:r>
              <a:rPr sz="2600" spc="10" dirty="0">
                <a:latin typeface="Calibri"/>
                <a:cs typeface="Calibri"/>
              </a:rPr>
              <a:t> </a:t>
            </a:r>
            <a:r>
              <a:rPr sz="2600" spc="-10" dirty="0">
                <a:latin typeface="Calibri"/>
                <a:cs typeface="Calibri"/>
              </a:rPr>
              <a:t>optimized</a:t>
            </a:r>
            <a:r>
              <a:rPr sz="2600" spc="-15" dirty="0">
                <a:latin typeface="Calibri"/>
                <a:cs typeface="Calibri"/>
              </a:rPr>
              <a:t> </a:t>
            </a:r>
            <a:r>
              <a:rPr sz="2600" spc="-25" dirty="0">
                <a:latin typeface="Calibri"/>
                <a:cs typeface="Calibri"/>
              </a:rPr>
              <a:t>for</a:t>
            </a:r>
            <a:r>
              <a:rPr sz="2600" spc="10" dirty="0">
                <a:latin typeface="Calibri"/>
                <a:cs typeface="Calibri"/>
              </a:rPr>
              <a:t> </a:t>
            </a:r>
            <a:r>
              <a:rPr sz="2600" spc="-5" dirty="0">
                <a:latin typeface="Calibri"/>
                <a:cs typeface="Calibri"/>
              </a:rPr>
              <a:t>quick</a:t>
            </a:r>
            <a:r>
              <a:rPr sz="2600" spc="5" dirty="0">
                <a:latin typeface="Calibri"/>
                <a:cs typeface="Calibri"/>
              </a:rPr>
              <a:t> </a:t>
            </a:r>
            <a:r>
              <a:rPr sz="2600" spc="-10" dirty="0">
                <a:latin typeface="Calibri"/>
                <a:cs typeface="Calibri"/>
              </a:rPr>
              <a:t>lookups.</a:t>
            </a:r>
            <a:endParaRPr sz="2600" dirty="0">
              <a:latin typeface="Calibri"/>
              <a:cs typeface="Calibri"/>
            </a:endParaRPr>
          </a:p>
          <a:p>
            <a:pPr marL="241300" marR="647065" indent="-228600">
              <a:lnSpc>
                <a:spcPct val="70000"/>
              </a:lnSpc>
              <a:spcBef>
                <a:spcPts val="1000"/>
              </a:spcBef>
              <a:buFont typeface="Arial MT"/>
              <a:buChar char="•"/>
              <a:tabLst>
                <a:tab pos="241300" algn="l"/>
              </a:tabLst>
            </a:pPr>
            <a:r>
              <a:rPr sz="2600" dirty="0">
                <a:latin typeface="Calibri"/>
                <a:cs typeface="Calibri"/>
              </a:rPr>
              <a:t>It is </a:t>
            </a:r>
            <a:r>
              <a:rPr sz="2600" spc="-5" dirty="0">
                <a:latin typeface="Calibri"/>
                <a:cs typeface="Calibri"/>
              </a:rPr>
              <a:t>very useful </a:t>
            </a:r>
            <a:r>
              <a:rPr sz="2600" spc="-25" dirty="0">
                <a:latin typeface="Calibri"/>
                <a:cs typeface="Calibri"/>
              </a:rPr>
              <a:t>for </a:t>
            </a:r>
            <a:r>
              <a:rPr sz="2600" spc="-5" dirty="0">
                <a:latin typeface="Calibri"/>
                <a:cs typeface="Calibri"/>
              </a:rPr>
              <a:t>connecting </a:t>
            </a:r>
            <a:r>
              <a:rPr sz="2600" dirty="0">
                <a:latin typeface="Calibri"/>
                <a:cs typeface="Calibri"/>
              </a:rPr>
              <a:t>the </a:t>
            </a:r>
            <a:r>
              <a:rPr sz="2600" spc="-5" dirty="0">
                <a:latin typeface="Calibri"/>
                <a:cs typeface="Calibri"/>
              </a:rPr>
              <a:t>relational tables </a:t>
            </a:r>
            <a:r>
              <a:rPr sz="2600" dirty="0">
                <a:latin typeface="Calibri"/>
                <a:cs typeface="Calibri"/>
              </a:rPr>
              <a:t>and </a:t>
            </a:r>
            <a:r>
              <a:rPr sz="2600" spc="-5" dirty="0">
                <a:latin typeface="Calibri"/>
                <a:cs typeface="Calibri"/>
              </a:rPr>
              <a:t>searching </a:t>
            </a:r>
            <a:r>
              <a:rPr sz="2600" spc="-10" dirty="0">
                <a:latin typeface="Calibri"/>
                <a:cs typeface="Calibri"/>
              </a:rPr>
              <a:t>large </a:t>
            </a:r>
            <a:r>
              <a:rPr sz="2600" spc="-575" dirty="0">
                <a:latin typeface="Calibri"/>
                <a:cs typeface="Calibri"/>
              </a:rPr>
              <a:t> </a:t>
            </a:r>
            <a:r>
              <a:rPr sz="2600" spc="-5" dirty="0">
                <a:latin typeface="Calibri"/>
                <a:cs typeface="Calibri"/>
              </a:rPr>
              <a:t>tables.</a:t>
            </a:r>
            <a:endParaRPr sz="2600" dirty="0">
              <a:latin typeface="Calibri"/>
              <a:cs typeface="Calibri"/>
            </a:endParaRPr>
          </a:p>
          <a:p>
            <a:pPr marL="241300" indent="-228600">
              <a:lnSpc>
                <a:spcPct val="100000"/>
              </a:lnSpc>
              <a:spcBef>
                <a:spcPts val="70"/>
              </a:spcBef>
              <a:buFont typeface="Arial MT"/>
              <a:buChar char="•"/>
              <a:tabLst>
                <a:tab pos="241300" algn="l"/>
              </a:tabLst>
            </a:pPr>
            <a:r>
              <a:rPr sz="2600" dirty="0">
                <a:highlight>
                  <a:srgbClr val="FFFF00"/>
                </a:highlight>
                <a:latin typeface="Calibri"/>
                <a:cs typeface="Calibri"/>
              </a:rPr>
              <a:t>Simply</a:t>
            </a:r>
            <a:r>
              <a:rPr sz="2600" spc="-15" dirty="0">
                <a:highlight>
                  <a:srgbClr val="FFFF00"/>
                </a:highlight>
                <a:latin typeface="Calibri"/>
                <a:cs typeface="Calibri"/>
              </a:rPr>
              <a:t> </a:t>
            </a:r>
            <a:r>
              <a:rPr sz="2600" dirty="0">
                <a:highlight>
                  <a:srgbClr val="FFFF00"/>
                </a:highlight>
                <a:latin typeface="Calibri"/>
                <a:cs typeface="Calibri"/>
              </a:rPr>
              <a:t>put,</a:t>
            </a:r>
            <a:r>
              <a:rPr sz="2600" spc="-15" dirty="0">
                <a:highlight>
                  <a:srgbClr val="FFFF00"/>
                </a:highlight>
                <a:latin typeface="Calibri"/>
                <a:cs typeface="Calibri"/>
              </a:rPr>
              <a:t> </a:t>
            </a:r>
            <a:r>
              <a:rPr sz="2600" dirty="0">
                <a:highlight>
                  <a:srgbClr val="FFFF00"/>
                </a:highlight>
                <a:latin typeface="Calibri"/>
                <a:cs typeface="Calibri"/>
              </a:rPr>
              <a:t>an </a:t>
            </a:r>
            <a:r>
              <a:rPr sz="2600" spc="-10" dirty="0">
                <a:highlight>
                  <a:srgbClr val="FFFF00"/>
                </a:highlight>
                <a:latin typeface="Calibri"/>
                <a:cs typeface="Calibri"/>
              </a:rPr>
              <a:t>index</a:t>
            </a:r>
            <a:r>
              <a:rPr sz="2600" spc="-25" dirty="0">
                <a:highlight>
                  <a:srgbClr val="FFFF00"/>
                </a:highlight>
                <a:latin typeface="Calibri"/>
                <a:cs typeface="Calibri"/>
              </a:rPr>
              <a:t> </a:t>
            </a:r>
            <a:r>
              <a:rPr sz="2600" dirty="0">
                <a:highlight>
                  <a:srgbClr val="FFFF00"/>
                </a:highlight>
                <a:latin typeface="Calibri"/>
                <a:cs typeface="Calibri"/>
              </a:rPr>
              <a:t>is a </a:t>
            </a:r>
            <a:r>
              <a:rPr sz="2600" spc="-10" dirty="0">
                <a:highlight>
                  <a:srgbClr val="FFFF00"/>
                </a:highlight>
                <a:latin typeface="Calibri"/>
                <a:cs typeface="Calibri"/>
              </a:rPr>
              <a:t>pointer</a:t>
            </a:r>
            <a:r>
              <a:rPr sz="2600" dirty="0">
                <a:highlight>
                  <a:srgbClr val="FFFF00"/>
                </a:highlight>
                <a:latin typeface="Calibri"/>
                <a:cs typeface="Calibri"/>
              </a:rPr>
              <a:t> </a:t>
            </a:r>
            <a:r>
              <a:rPr sz="2600" spc="-15" dirty="0">
                <a:highlight>
                  <a:srgbClr val="FFFF00"/>
                </a:highlight>
                <a:latin typeface="Calibri"/>
                <a:cs typeface="Calibri"/>
              </a:rPr>
              <a:t>to</a:t>
            </a:r>
            <a:r>
              <a:rPr sz="2600" spc="-10" dirty="0">
                <a:highlight>
                  <a:srgbClr val="FFFF00"/>
                </a:highlight>
                <a:latin typeface="Calibri"/>
                <a:cs typeface="Calibri"/>
              </a:rPr>
              <a:t> </a:t>
            </a:r>
            <a:r>
              <a:rPr sz="2600" spc="-15" dirty="0">
                <a:highlight>
                  <a:srgbClr val="FFFF00"/>
                </a:highlight>
                <a:latin typeface="Calibri"/>
                <a:cs typeface="Calibri"/>
              </a:rPr>
              <a:t>data</a:t>
            </a:r>
            <a:r>
              <a:rPr sz="2600" dirty="0">
                <a:highlight>
                  <a:srgbClr val="FFFF00"/>
                </a:highlight>
                <a:latin typeface="Calibri"/>
                <a:cs typeface="Calibri"/>
              </a:rPr>
              <a:t> in a</a:t>
            </a:r>
            <a:r>
              <a:rPr sz="2600" spc="5" dirty="0">
                <a:highlight>
                  <a:srgbClr val="FFFF00"/>
                </a:highlight>
                <a:latin typeface="Calibri"/>
                <a:cs typeface="Calibri"/>
              </a:rPr>
              <a:t> </a:t>
            </a:r>
            <a:r>
              <a:rPr sz="2600" spc="-5" dirty="0">
                <a:highlight>
                  <a:srgbClr val="FFFF00"/>
                </a:highlight>
                <a:latin typeface="Calibri"/>
                <a:cs typeface="Calibri"/>
              </a:rPr>
              <a:t>table.</a:t>
            </a:r>
            <a:endParaRPr sz="2600" dirty="0">
              <a:highlight>
                <a:srgbClr val="FFFF00"/>
              </a:highlight>
              <a:latin typeface="Calibri"/>
              <a:cs typeface="Calibri"/>
            </a:endParaRPr>
          </a:p>
          <a:p>
            <a:pPr marL="241300" marR="5080" indent="-228600">
              <a:lnSpc>
                <a:spcPct val="70100"/>
              </a:lnSpc>
              <a:spcBef>
                <a:spcPts val="990"/>
              </a:spcBef>
              <a:buFont typeface="Arial MT"/>
              <a:buChar char="•"/>
              <a:tabLst>
                <a:tab pos="241300" algn="l"/>
              </a:tabLst>
            </a:pPr>
            <a:r>
              <a:rPr sz="2600" dirty="0">
                <a:highlight>
                  <a:srgbClr val="FFFF00"/>
                </a:highlight>
                <a:latin typeface="Calibri"/>
                <a:cs typeface="Calibri"/>
              </a:rPr>
              <a:t>An</a:t>
            </a:r>
            <a:r>
              <a:rPr sz="2600" spc="-10" dirty="0">
                <a:highlight>
                  <a:srgbClr val="FFFF00"/>
                </a:highlight>
                <a:latin typeface="Calibri"/>
                <a:cs typeface="Calibri"/>
              </a:rPr>
              <a:t> </a:t>
            </a:r>
            <a:r>
              <a:rPr sz="2600" spc="-5" dirty="0">
                <a:highlight>
                  <a:srgbClr val="FFFF00"/>
                </a:highlight>
                <a:latin typeface="Calibri"/>
                <a:cs typeface="Calibri"/>
              </a:rPr>
              <a:t>index</a:t>
            </a:r>
            <a:r>
              <a:rPr sz="2600" spc="-20" dirty="0">
                <a:highlight>
                  <a:srgbClr val="FFFF00"/>
                </a:highlight>
                <a:latin typeface="Calibri"/>
                <a:cs typeface="Calibri"/>
              </a:rPr>
              <a:t> </a:t>
            </a:r>
            <a:r>
              <a:rPr sz="2600" spc="-5" dirty="0">
                <a:highlight>
                  <a:srgbClr val="FFFF00"/>
                </a:highlight>
                <a:latin typeface="Calibri"/>
                <a:cs typeface="Calibri"/>
              </a:rPr>
              <a:t>helps</a:t>
            </a:r>
            <a:r>
              <a:rPr sz="2600" spc="-25" dirty="0">
                <a:highlight>
                  <a:srgbClr val="FFFF00"/>
                </a:highlight>
                <a:latin typeface="Calibri"/>
                <a:cs typeface="Calibri"/>
              </a:rPr>
              <a:t> </a:t>
            </a:r>
            <a:r>
              <a:rPr sz="2600" spc="-10" dirty="0">
                <a:highlight>
                  <a:srgbClr val="FFFF00"/>
                </a:highlight>
                <a:latin typeface="Calibri"/>
                <a:cs typeface="Calibri"/>
              </a:rPr>
              <a:t>to</a:t>
            </a:r>
            <a:r>
              <a:rPr sz="2600" spc="5" dirty="0">
                <a:highlight>
                  <a:srgbClr val="FFFF00"/>
                </a:highlight>
                <a:latin typeface="Calibri"/>
                <a:cs typeface="Calibri"/>
              </a:rPr>
              <a:t> </a:t>
            </a:r>
            <a:r>
              <a:rPr sz="2600" spc="-5" dirty="0">
                <a:highlight>
                  <a:srgbClr val="FFFF00"/>
                </a:highlight>
                <a:latin typeface="Calibri"/>
                <a:cs typeface="Calibri"/>
              </a:rPr>
              <a:t>speed</a:t>
            </a:r>
            <a:r>
              <a:rPr sz="2600" spc="-30" dirty="0">
                <a:highlight>
                  <a:srgbClr val="FFFF00"/>
                </a:highlight>
                <a:latin typeface="Calibri"/>
                <a:cs typeface="Calibri"/>
              </a:rPr>
              <a:t> </a:t>
            </a:r>
            <a:r>
              <a:rPr sz="2600" dirty="0">
                <a:highlight>
                  <a:srgbClr val="FFFF00"/>
                </a:highlight>
                <a:latin typeface="Calibri"/>
                <a:cs typeface="Calibri"/>
              </a:rPr>
              <a:t>up</a:t>
            </a:r>
            <a:r>
              <a:rPr sz="2600" spc="-40" dirty="0">
                <a:highlight>
                  <a:srgbClr val="FFFF00"/>
                </a:highlight>
                <a:latin typeface="Calibri"/>
                <a:cs typeface="Calibri"/>
              </a:rPr>
              <a:t> </a:t>
            </a:r>
            <a:r>
              <a:rPr sz="2600" b="1" spc="-5" dirty="0">
                <a:highlight>
                  <a:srgbClr val="FFFF00"/>
                </a:highlight>
                <a:latin typeface="Calibri"/>
                <a:cs typeface="Calibri"/>
              </a:rPr>
              <a:t>SELECT</a:t>
            </a:r>
            <a:r>
              <a:rPr sz="2600" b="1" spc="-40" dirty="0">
                <a:highlight>
                  <a:srgbClr val="FFFF00"/>
                </a:highlight>
                <a:latin typeface="Calibri"/>
                <a:cs typeface="Calibri"/>
              </a:rPr>
              <a:t> </a:t>
            </a:r>
            <a:r>
              <a:rPr sz="2600" spc="-5" dirty="0">
                <a:highlight>
                  <a:srgbClr val="FFFF00"/>
                </a:highlight>
                <a:latin typeface="Calibri"/>
                <a:cs typeface="Calibri"/>
              </a:rPr>
              <a:t>queries</a:t>
            </a:r>
            <a:r>
              <a:rPr sz="2600" spc="-35" dirty="0">
                <a:highlight>
                  <a:srgbClr val="FFFF00"/>
                </a:highlight>
                <a:latin typeface="Calibri"/>
                <a:cs typeface="Calibri"/>
              </a:rPr>
              <a:t> </a:t>
            </a:r>
            <a:r>
              <a:rPr sz="2600" dirty="0">
                <a:highlight>
                  <a:srgbClr val="FFFF00"/>
                </a:highlight>
                <a:latin typeface="Calibri"/>
                <a:cs typeface="Calibri"/>
              </a:rPr>
              <a:t>and</a:t>
            </a:r>
            <a:r>
              <a:rPr sz="2600" spc="10" dirty="0">
                <a:highlight>
                  <a:srgbClr val="FFFF00"/>
                </a:highlight>
                <a:latin typeface="Calibri"/>
                <a:cs typeface="Calibri"/>
              </a:rPr>
              <a:t> </a:t>
            </a:r>
            <a:r>
              <a:rPr sz="2600" b="1" spc="-5" dirty="0">
                <a:highlight>
                  <a:srgbClr val="FFFF00"/>
                </a:highlight>
                <a:latin typeface="Calibri"/>
                <a:cs typeface="Calibri"/>
              </a:rPr>
              <a:t>WHERE</a:t>
            </a:r>
            <a:r>
              <a:rPr sz="2600" b="1" spc="-20" dirty="0">
                <a:highlight>
                  <a:srgbClr val="FFFF00"/>
                </a:highlight>
                <a:latin typeface="Calibri"/>
                <a:cs typeface="Calibri"/>
              </a:rPr>
              <a:t> </a:t>
            </a:r>
            <a:r>
              <a:rPr sz="2600" dirty="0">
                <a:highlight>
                  <a:srgbClr val="FFFF00"/>
                </a:highlight>
                <a:latin typeface="Calibri"/>
                <a:cs typeface="Calibri"/>
              </a:rPr>
              <a:t>clauses,</a:t>
            </a:r>
            <a:r>
              <a:rPr sz="2600" spc="-25" dirty="0">
                <a:highlight>
                  <a:srgbClr val="FFFF00"/>
                </a:highlight>
                <a:latin typeface="Calibri"/>
                <a:cs typeface="Calibri"/>
              </a:rPr>
              <a:t> </a:t>
            </a:r>
            <a:r>
              <a:rPr sz="2600" spc="-5" dirty="0">
                <a:highlight>
                  <a:srgbClr val="FFFF00"/>
                </a:highlight>
                <a:latin typeface="Calibri"/>
                <a:cs typeface="Calibri"/>
              </a:rPr>
              <a:t>but</a:t>
            </a:r>
            <a:r>
              <a:rPr sz="2600" spc="-10" dirty="0">
                <a:highlight>
                  <a:srgbClr val="FFFF00"/>
                </a:highlight>
                <a:latin typeface="Calibri"/>
                <a:cs typeface="Calibri"/>
              </a:rPr>
              <a:t> </a:t>
            </a:r>
            <a:r>
              <a:rPr sz="2600" dirty="0">
                <a:highlight>
                  <a:srgbClr val="FFFF00"/>
                </a:highlight>
                <a:latin typeface="Calibri"/>
                <a:cs typeface="Calibri"/>
              </a:rPr>
              <a:t>it </a:t>
            </a:r>
            <a:r>
              <a:rPr sz="2600" spc="-10" dirty="0">
                <a:highlight>
                  <a:srgbClr val="FFFF00"/>
                </a:highlight>
                <a:latin typeface="Calibri"/>
                <a:cs typeface="Calibri"/>
              </a:rPr>
              <a:t>slows </a:t>
            </a:r>
            <a:r>
              <a:rPr sz="2600" spc="-575" dirty="0">
                <a:highlight>
                  <a:srgbClr val="FFFF00"/>
                </a:highlight>
                <a:latin typeface="Calibri"/>
                <a:cs typeface="Calibri"/>
              </a:rPr>
              <a:t> </a:t>
            </a:r>
            <a:r>
              <a:rPr sz="2600" spc="-5" dirty="0">
                <a:highlight>
                  <a:srgbClr val="FFFF00"/>
                </a:highlight>
                <a:latin typeface="Calibri"/>
                <a:cs typeface="Calibri"/>
              </a:rPr>
              <a:t>down</a:t>
            </a:r>
            <a:r>
              <a:rPr sz="2600" dirty="0">
                <a:highlight>
                  <a:srgbClr val="FFFF00"/>
                </a:highlight>
                <a:latin typeface="Calibri"/>
                <a:cs typeface="Calibri"/>
              </a:rPr>
              <a:t> </a:t>
            </a:r>
            <a:r>
              <a:rPr sz="2600" spc="-15" dirty="0">
                <a:highlight>
                  <a:srgbClr val="FFFF00"/>
                </a:highlight>
                <a:latin typeface="Calibri"/>
                <a:cs typeface="Calibri"/>
              </a:rPr>
              <a:t>data</a:t>
            </a:r>
            <a:r>
              <a:rPr sz="2600" dirty="0">
                <a:highlight>
                  <a:srgbClr val="FFFF00"/>
                </a:highlight>
                <a:latin typeface="Calibri"/>
                <a:cs typeface="Calibri"/>
              </a:rPr>
              <a:t> input,</a:t>
            </a:r>
            <a:r>
              <a:rPr sz="2600" spc="-10" dirty="0">
                <a:highlight>
                  <a:srgbClr val="FFFF00"/>
                </a:highlight>
                <a:latin typeface="Calibri"/>
                <a:cs typeface="Calibri"/>
              </a:rPr>
              <a:t> </a:t>
            </a:r>
            <a:r>
              <a:rPr sz="2600" dirty="0">
                <a:highlight>
                  <a:srgbClr val="FFFF00"/>
                </a:highlight>
                <a:latin typeface="Calibri"/>
                <a:cs typeface="Calibri"/>
              </a:rPr>
              <a:t>with</a:t>
            </a:r>
            <a:r>
              <a:rPr sz="2600" spc="-5" dirty="0">
                <a:highlight>
                  <a:srgbClr val="FFFF00"/>
                </a:highlight>
                <a:latin typeface="Calibri"/>
                <a:cs typeface="Calibri"/>
              </a:rPr>
              <a:t> </a:t>
            </a:r>
            <a:r>
              <a:rPr sz="2600" dirty="0">
                <a:highlight>
                  <a:srgbClr val="FFFF00"/>
                </a:highlight>
                <a:latin typeface="Calibri"/>
                <a:cs typeface="Calibri"/>
              </a:rPr>
              <a:t>the</a:t>
            </a:r>
            <a:r>
              <a:rPr sz="2600" spc="-50" dirty="0">
                <a:highlight>
                  <a:srgbClr val="FFFF00"/>
                </a:highlight>
                <a:latin typeface="Calibri"/>
                <a:cs typeface="Calibri"/>
              </a:rPr>
              <a:t> </a:t>
            </a:r>
            <a:r>
              <a:rPr sz="2600" b="1" spc="-45" dirty="0">
                <a:highlight>
                  <a:srgbClr val="FFFF00"/>
                </a:highlight>
                <a:latin typeface="Calibri"/>
                <a:cs typeface="Calibri"/>
              </a:rPr>
              <a:t>UPDATE</a:t>
            </a:r>
            <a:r>
              <a:rPr sz="2600" b="1" spc="-20" dirty="0">
                <a:highlight>
                  <a:srgbClr val="FFFF00"/>
                </a:highlight>
                <a:latin typeface="Calibri"/>
                <a:cs typeface="Calibri"/>
              </a:rPr>
              <a:t> </a:t>
            </a:r>
            <a:r>
              <a:rPr sz="2600" dirty="0">
                <a:highlight>
                  <a:srgbClr val="FFFF00"/>
                </a:highlight>
                <a:latin typeface="Calibri"/>
                <a:cs typeface="Calibri"/>
              </a:rPr>
              <a:t>and</a:t>
            </a:r>
            <a:r>
              <a:rPr sz="2600" spc="-10" dirty="0">
                <a:highlight>
                  <a:srgbClr val="FFFF00"/>
                </a:highlight>
                <a:latin typeface="Calibri"/>
                <a:cs typeface="Calibri"/>
              </a:rPr>
              <a:t> </a:t>
            </a:r>
            <a:r>
              <a:rPr sz="2600" dirty="0">
                <a:highlight>
                  <a:srgbClr val="FFFF00"/>
                </a:highlight>
                <a:latin typeface="Calibri"/>
                <a:cs typeface="Calibri"/>
              </a:rPr>
              <a:t>the</a:t>
            </a:r>
            <a:r>
              <a:rPr sz="2600" spc="-5" dirty="0">
                <a:highlight>
                  <a:srgbClr val="FFFF00"/>
                </a:highlight>
                <a:latin typeface="Calibri"/>
                <a:cs typeface="Calibri"/>
              </a:rPr>
              <a:t> </a:t>
            </a:r>
            <a:r>
              <a:rPr sz="2600" b="1" spc="-5" dirty="0">
                <a:highlight>
                  <a:srgbClr val="FFFF00"/>
                </a:highlight>
                <a:latin typeface="Calibri"/>
                <a:cs typeface="Calibri"/>
              </a:rPr>
              <a:t>INSERT</a:t>
            </a:r>
            <a:r>
              <a:rPr sz="2600" b="1" spc="-45" dirty="0">
                <a:highlight>
                  <a:srgbClr val="FFFF00"/>
                </a:highlight>
                <a:latin typeface="Calibri"/>
                <a:cs typeface="Calibri"/>
              </a:rPr>
              <a:t> </a:t>
            </a:r>
            <a:r>
              <a:rPr sz="2600" spc="-15" dirty="0">
                <a:highlight>
                  <a:srgbClr val="FFFF00"/>
                </a:highlight>
                <a:latin typeface="Calibri"/>
                <a:cs typeface="Calibri"/>
              </a:rPr>
              <a:t>statements.</a:t>
            </a:r>
            <a:endParaRPr sz="2600" dirty="0">
              <a:highlight>
                <a:srgbClr val="FFFF00"/>
              </a:highlight>
              <a:latin typeface="Calibri"/>
              <a:cs typeface="Calibri"/>
            </a:endParaRPr>
          </a:p>
          <a:p>
            <a:pPr marL="241300" indent="-228600">
              <a:lnSpc>
                <a:spcPct val="100000"/>
              </a:lnSpc>
              <a:spcBef>
                <a:spcPts val="60"/>
              </a:spcBef>
              <a:buFont typeface="Arial MT"/>
              <a:buChar char="•"/>
              <a:tabLst>
                <a:tab pos="241300" algn="l"/>
              </a:tabLst>
            </a:pPr>
            <a:r>
              <a:rPr sz="2600" b="1" spc="-15" dirty="0">
                <a:highlight>
                  <a:srgbClr val="FFFF00"/>
                </a:highlight>
                <a:latin typeface="Calibri"/>
                <a:cs typeface="Calibri"/>
              </a:rPr>
              <a:t>Indexes</a:t>
            </a:r>
            <a:r>
              <a:rPr sz="2600" b="1" dirty="0">
                <a:highlight>
                  <a:srgbClr val="FFFF00"/>
                </a:highlight>
                <a:latin typeface="Calibri"/>
                <a:cs typeface="Calibri"/>
              </a:rPr>
              <a:t> </a:t>
            </a:r>
            <a:r>
              <a:rPr sz="2600" b="1" spc="-5" dirty="0">
                <a:highlight>
                  <a:srgbClr val="FFFF00"/>
                </a:highlight>
                <a:latin typeface="Calibri"/>
                <a:cs typeface="Calibri"/>
              </a:rPr>
              <a:t>can</a:t>
            </a:r>
            <a:r>
              <a:rPr sz="2600" b="1" dirty="0">
                <a:highlight>
                  <a:srgbClr val="FFFF00"/>
                </a:highlight>
                <a:latin typeface="Calibri"/>
                <a:cs typeface="Calibri"/>
              </a:rPr>
              <a:t> be</a:t>
            </a:r>
            <a:r>
              <a:rPr sz="2600" b="1" spc="5" dirty="0">
                <a:highlight>
                  <a:srgbClr val="FFFF00"/>
                </a:highlight>
                <a:latin typeface="Calibri"/>
                <a:cs typeface="Calibri"/>
              </a:rPr>
              <a:t> </a:t>
            </a:r>
            <a:r>
              <a:rPr sz="2600" b="1" spc="-15" dirty="0">
                <a:highlight>
                  <a:srgbClr val="FFFF00"/>
                </a:highlight>
                <a:latin typeface="Calibri"/>
                <a:cs typeface="Calibri"/>
              </a:rPr>
              <a:t>created</a:t>
            </a:r>
            <a:r>
              <a:rPr sz="2600" b="1" spc="5" dirty="0">
                <a:highlight>
                  <a:srgbClr val="FFFF00"/>
                </a:highlight>
                <a:latin typeface="Calibri"/>
                <a:cs typeface="Calibri"/>
              </a:rPr>
              <a:t> </a:t>
            </a:r>
            <a:r>
              <a:rPr sz="2600" b="1" dirty="0">
                <a:highlight>
                  <a:srgbClr val="FFFF00"/>
                </a:highlight>
                <a:latin typeface="Calibri"/>
                <a:cs typeface="Calibri"/>
              </a:rPr>
              <a:t>or</a:t>
            </a:r>
            <a:r>
              <a:rPr sz="2600" b="1" spc="5" dirty="0">
                <a:highlight>
                  <a:srgbClr val="FFFF00"/>
                </a:highlight>
                <a:latin typeface="Calibri"/>
                <a:cs typeface="Calibri"/>
              </a:rPr>
              <a:t> </a:t>
            </a:r>
            <a:r>
              <a:rPr sz="2600" b="1" spc="-5" dirty="0">
                <a:highlight>
                  <a:srgbClr val="FFFF00"/>
                </a:highlight>
                <a:latin typeface="Calibri"/>
                <a:cs typeface="Calibri"/>
              </a:rPr>
              <a:t>dropped</a:t>
            </a:r>
            <a:r>
              <a:rPr sz="2600" b="1" spc="25" dirty="0">
                <a:highlight>
                  <a:srgbClr val="FFFF00"/>
                </a:highlight>
                <a:latin typeface="Calibri"/>
                <a:cs typeface="Calibri"/>
              </a:rPr>
              <a:t> </a:t>
            </a:r>
            <a:r>
              <a:rPr sz="2600" b="1" spc="-5" dirty="0">
                <a:highlight>
                  <a:srgbClr val="FFFF00"/>
                </a:highlight>
                <a:latin typeface="Calibri"/>
                <a:cs typeface="Calibri"/>
              </a:rPr>
              <a:t>with</a:t>
            </a:r>
            <a:r>
              <a:rPr sz="2600" b="1" spc="5" dirty="0">
                <a:highlight>
                  <a:srgbClr val="FFFF00"/>
                </a:highlight>
                <a:latin typeface="Calibri"/>
                <a:cs typeface="Calibri"/>
              </a:rPr>
              <a:t> </a:t>
            </a:r>
            <a:r>
              <a:rPr sz="2600" b="1" dirty="0">
                <a:highlight>
                  <a:srgbClr val="FFFF00"/>
                </a:highlight>
                <a:latin typeface="Calibri"/>
                <a:cs typeface="Calibri"/>
              </a:rPr>
              <a:t>no </a:t>
            </a:r>
            <a:r>
              <a:rPr sz="2600" b="1" spc="-15" dirty="0">
                <a:highlight>
                  <a:srgbClr val="FFFF00"/>
                </a:highlight>
                <a:latin typeface="Calibri"/>
                <a:cs typeface="Calibri"/>
              </a:rPr>
              <a:t>effect</a:t>
            </a:r>
            <a:r>
              <a:rPr sz="2600" b="1" spc="15" dirty="0">
                <a:highlight>
                  <a:srgbClr val="FFFF00"/>
                </a:highlight>
                <a:latin typeface="Calibri"/>
                <a:cs typeface="Calibri"/>
              </a:rPr>
              <a:t> </a:t>
            </a:r>
            <a:r>
              <a:rPr sz="2600" b="1" dirty="0">
                <a:highlight>
                  <a:srgbClr val="FFFF00"/>
                </a:highlight>
                <a:latin typeface="Calibri"/>
                <a:cs typeface="Calibri"/>
              </a:rPr>
              <a:t>on</a:t>
            </a:r>
            <a:r>
              <a:rPr sz="2600" b="1" spc="5" dirty="0">
                <a:highlight>
                  <a:srgbClr val="FFFF00"/>
                </a:highlight>
                <a:latin typeface="Calibri"/>
                <a:cs typeface="Calibri"/>
              </a:rPr>
              <a:t> </a:t>
            </a:r>
            <a:r>
              <a:rPr sz="2600" b="1" dirty="0">
                <a:highlight>
                  <a:srgbClr val="FFFF00"/>
                </a:highlight>
                <a:latin typeface="Calibri"/>
                <a:cs typeface="Calibri"/>
              </a:rPr>
              <a:t>the</a:t>
            </a:r>
            <a:r>
              <a:rPr sz="2600" b="1" spc="5" dirty="0">
                <a:highlight>
                  <a:srgbClr val="FFFF00"/>
                </a:highlight>
                <a:latin typeface="Calibri"/>
                <a:cs typeface="Calibri"/>
              </a:rPr>
              <a:t> </a:t>
            </a:r>
            <a:r>
              <a:rPr sz="2600" b="1" spc="-15" dirty="0">
                <a:highlight>
                  <a:srgbClr val="FFFF00"/>
                </a:highlight>
                <a:latin typeface="Calibri"/>
                <a:cs typeface="Calibri"/>
              </a:rPr>
              <a:t>data.</a:t>
            </a:r>
            <a:endParaRPr sz="2600" dirty="0">
              <a:highlight>
                <a:srgbClr val="FFFF00"/>
              </a:highlight>
              <a:latin typeface="Calibri"/>
              <a:cs typeface="Calibri"/>
            </a:endParaRPr>
          </a:p>
          <a:p>
            <a:pPr marL="241300" marR="143510" indent="-228600">
              <a:lnSpc>
                <a:spcPct val="70000"/>
              </a:lnSpc>
              <a:spcBef>
                <a:spcPts val="1010"/>
              </a:spcBef>
              <a:buFont typeface="Arial MT"/>
              <a:buChar char="•"/>
              <a:tabLst>
                <a:tab pos="241300" algn="l"/>
              </a:tabLst>
            </a:pPr>
            <a:r>
              <a:rPr sz="2600" dirty="0">
                <a:latin typeface="Calibri"/>
                <a:cs typeface="Calibri"/>
              </a:rPr>
              <a:t>SQL Server </a:t>
            </a:r>
            <a:r>
              <a:rPr sz="2600" spc="-5" dirty="0">
                <a:latin typeface="Calibri"/>
                <a:cs typeface="Calibri"/>
              </a:rPr>
              <a:t>supports </a:t>
            </a:r>
            <a:r>
              <a:rPr sz="2600" spc="-15" dirty="0">
                <a:latin typeface="Calibri"/>
                <a:cs typeface="Calibri"/>
              </a:rPr>
              <a:t>several </a:t>
            </a:r>
            <a:r>
              <a:rPr sz="2600" dirty="0">
                <a:latin typeface="Calibri"/>
                <a:cs typeface="Calibri"/>
              </a:rPr>
              <a:t>types </a:t>
            </a:r>
            <a:r>
              <a:rPr sz="2600" spc="-5" dirty="0">
                <a:latin typeface="Calibri"/>
                <a:cs typeface="Calibri"/>
              </a:rPr>
              <a:t>of </a:t>
            </a:r>
            <a:r>
              <a:rPr sz="2600" spc="-15" dirty="0">
                <a:latin typeface="Calibri"/>
                <a:cs typeface="Calibri"/>
              </a:rPr>
              <a:t>indexes </a:t>
            </a:r>
            <a:r>
              <a:rPr sz="2600" spc="-5" dirty="0">
                <a:latin typeface="Calibri"/>
                <a:cs typeface="Calibri"/>
              </a:rPr>
              <a:t>but one of </a:t>
            </a:r>
            <a:r>
              <a:rPr sz="2600" dirty="0">
                <a:latin typeface="Calibri"/>
                <a:cs typeface="Calibri"/>
              </a:rPr>
              <a:t>the </a:t>
            </a:r>
            <a:r>
              <a:rPr sz="2600" spc="-5" dirty="0">
                <a:latin typeface="Calibri"/>
                <a:cs typeface="Calibri"/>
              </a:rPr>
              <a:t>most common </a:t>
            </a:r>
            <a:r>
              <a:rPr sz="2600" spc="-575" dirty="0">
                <a:latin typeface="Calibri"/>
                <a:cs typeface="Calibri"/>
              </a:rPr>
              <a:t> </a:t>
            </a:r>
            <a:r>
              <a:rPr sz="2600" dirty="0">
                <a:latin typeface="Calibri"/>
                <a:cs typeface="Calibri"/>
              </a:rPr>
              <a:t>types</a:t>
            </a:r>
            <a:r>
              <a:rPr sz="2600" spc="-25" dirty="0">
                <a:latin typeface="Calibri"/>
                <a:cs typeface="Calibri"/>
              </a:rPr>
              <a:t> </a:t>
            </a:r>
            <a:r>
              <a:rPr sz="2600" dirty="0">
                <a:latin typeface="Calibri"/>
                <a:cs typeface="Calibri"/>
              </a:rPr>
              <a:t>is the</a:t>
            </a:r>
            <a:r>
              <a:rPr sz="2600" spc="-10" dirty="0">
                <a:latin typeface="Calibri"/>
                <a:cs typeface="Calibri"/>
              </a:rPr>
              <a:t> clustered</a:t>
            </a:r>
            <a:r>
              <a:rPr sz="2600" spc="-45" dirty="0">
                <a:latin typeface="Calibri"/>
                <a:cs typeface="Calibri"/>
              </a:rPr>
              <a:t> </a:t>
            </a:r>
            <a:r>
              <a:rPr sz="2600" spc="-5" dirty="0">
                <a:latin typeface="Calibri"/>
                <a:cs typeface="Calibri"/>
              </a:rPr>
              <a:t>index.</a:t>
            </a:r>
            <a:endParaRPr sz="2600" dirty="0">
              <a:latin typeface="Calibri"/>
              <a:cs typeface="Calibri"/>
            </a:endParaRPr>
          </a:p>
          <a:p>
            <a:pPr marL="241300" indent="-228600">
              <a:lnSpc>
                <a:spcPct val="100000"/>
              </a:lnSpc>
              <a:spcBef>
                <a:spcPts val="60"/>
              </a:spcBef>
              <a:buFont typeface="Arial MT"/>
              <a:buChar char="•"/>
              <a:tabLst>
                <a:tab pos="241300" algn="l"/>
              </a:tabLst>
            </a:pPr>
            <a:r>
              <a:rPr sz="2600" spc="-5" dirty="0">
                <a:latin typeface="Calibri"/>
                <a:cs typeface="Calibri"/>
              </a:rPr>
              <a:t>This</a:t>
            </a:r>
            <a:r>
              <a:rPr sz="2600" spc="-20" dirty="0">
                <a:latin typeface="Calibri"/>
                <a:cs typeface="Calibri"/>
              </a:rPr>
              <a:t> </a:t>
            </a:r>
            <a:r>
              <a:rPr sz="2600" dirty="0">
                <a:latin typeface="Calibri"/>
                <a:cs typeface="Calibri"/>
              </a:rPr>
              <a:t>type </a:t>
            </a:r>
            <a:r>
              <a:rPr sz="2600" spc="-5" dirty="0">
                <a:latin typeface="Calibri"/>
                <a:cs typeface="Calibri"/>
              </a:rPr>
              <a:t>of</a:t>
            </a:r>
            <a:r>
              <a:rPr sz="2600" dirty="0">
                <a:latin typeface="Calibri"/>
                <a:cs typeface="Calibri"/>
              </a:rPr>
              <a:t> </a:t>
            </a:r>
            <a:r>
              <a:rPr sz="2600" spc="-5" dirty="0">
                <a:latin typeface="Calibri"/>
                <a:cs typeface="Calibri"/>
              </a:rPr>
              <a:t>index</a:t>
            </a:r>
            <a:r>
              <a:rPr sz="2600" spc="-25" dirty="0">
                <a:latin typeface="Calibri"/>
                <a:cs typeface="Calibri"/>
              </a:rPr>
              <a:t> </a:t>
            </a:r>
            <a:r>
              <a:rPr sz="2600" dirty="0">
                <a:latin typeface="Calibri"/>
                <a:cs typeface="Calibri"/>
              </a:rPr>
              <a:t>is</a:t>
            </a:r>
            <a:r>
              <a:rPr sz="2600" spc="-10" dirty="0">
                <a:latin typeface="Calibri"/>
                <a:cs typeface="Calibri"/>
              </a:rPr>
              <a:t> </a:t>
            </a:r>
            <a:r>
              <a:rPr sz="2600" spc="-5" dirty="0">
                <a:latin typeface="Calibri"/>
                <a:cs typeface="Calibri"/>
              </a:rPr>
              <a:t>automatically</a:t>
            </a:r>
            <a:r>
              <a:rPr sz="2600" spc="5" dirty="0">
                <a:latin typeface="Calibri"/>
                <a:cs typeface="Calibri"/>
              </a:rPr>
              <a:t> </a:t>
            </a:r>
            <a:r>
              <a:rPr sz="2600" spc="-10" dirty="0">
                <a:latin typeface="Calibri"/>
                <a:cs typeface="Calibri"/>
              </a:rPr>
              <a:t>created</a:t>
            </a:r>
            <a:r>
              <a:rPr sz="2600" spc="-20" dirty="0">
                <a:latin typeface="Calibri"/>
                <a:cs typeface="Calibri"/>
              </a:rPr>
              <a:t> </a:t>
            </a:r>
            <a:r>
              <a:rPr sz="2600" dirty="0">
                <a:latin typeface="Calibri"/>
                <a:cs typeface="Calibri"/>
              </a:rPr>
              <a:t>with a primary </a:t>
            </a:r>
            <a:r>
              <a:rPr sz="2600" spc="-65" dirty="0">
                <a:latin typeface="Calibri"/>
                <a:cs typeface="Calibri"/>
              </a:rPr>
              <a:t>key.</a:t>
            </a:r>
            <a:endParaRPr sz="2600" dirty="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we need Indexing in DBMS?</a:t>
            </a:r>
            <a:endParaRPr lang="en-IN" dirty="0"/>
          </a:p>
        </p:txBody>
      </p:sp>
      <p:sp>
        <p:nvSpPr>
          <p:cNvPr id="3" name="Content Placeholder 2"/>
          <p:cNvSpPr>
            <a:spLocks noGrp="1"/>
          </p:cNvSpPr>
          <p:nvPr>
            <p:ph sz="half" idx="1"/>
          </p:nvPr>
        </p:nvSpPr>
        <p:spPr/>
        <p:txBody>
          <a:bodyPr/>
          <a:lstStyle/>
          <a:p>
            <a:r>
              <a:rPr lang="en-US" dirty="0"/>
              <a:t>Suppose, we want to search record of student whose roll no. is 525 from 1000 records in a table.</a:t>
            </a:r>
            <a:endParaRPr lang="en-IN" dirty="0"/>
          </a:p>
        </p:txBody>
      </p:sp>
      <p:sp>
        <p:nvSpPr>
          <p:cNvPr id="4" name="Content Placeholder 3"/>
          <p:cNvSpPr>
            <a:spLocks noGrp="1"/>
          </p:cNvSpPr>
          <p:nvPr>
            <p:ph sz="half" idx="2"/>
          </p:nvPr>
        </p:nvSpPr>
        <p:spPr>
          <a:xfrm>
            <a:off x="6705600" y="1752600"/>
            <a:ext cx="4238625" cy="4361688"/>
          </a:xfrm>
        </p:spPr>
        <p:txBody>
          <a:bodyPr/>
          <a:lstStyle/>
          <a:p>
            <a:r>
              <a:rPr lang="en-US" dirty="0"/>
              <a:t>Query: select * from student where </a:t>
            </a:r>
            <a:r>
              <a:rPr lang="en-US" dirty="0" err="1"/>
              <a:t>rollno</a:t>
            </a:r>
            <a:r>
              <a:rPr lang="en-US" dirty="0"/>
              <a:t>=525;</a:t>
            </a:r>
          </a:p>
          <a:p>
            <a:r>
              <a:rPr lang="en-US" dirty="0"/>
              <a:t>It will search 524 records in a table then we get 525</a:t>
            </a:r>
            <a:r>
              <a:rPr lang="en-US" baseline="30000" dirty="0"/>
              <a:t>th</a:t>
            </a:r>
            <a:r>
              <a:rPr lang="en-US" dirty="0"/>
              <a:t> record.</a:t>
            </a:r>
          </a:p>
          <a:p>
            <a:r>
              <a:rPr lang="en-US" dirty="0"/>
              <a:t>Time consuming</a:t>
            </a:r>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429000"/>
            <a:ext cx="4314824" cy="27665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76333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2050"/>
                                        </p:tgtEl>
                                        <p:attrNameLst>
                                          <p:attrName>style.visibility</p:attrName>
                                        </p:attrNameLst>
                                      </p:cBhvr>
                                      <p:to>
                                        <p:strVal val="visible"/>
                                      </p:to>
                                    </p:set>
                                    <p:animEffect transition="in" filter="fade">
                                      <p:cBhvr>
                                        <p:cTn id="13" dur="1000"/>
                                        <p:tgtEl>
                                          <p:spTgt spid="2050"/>
                                        </p:tgtEl>
                                      </p:cBhvr>
                                    </p:animEffect>
                                    <p:anim calcmode="lin" valueType="num">
                                      <p:cBhvr>
                                        <p:cTn id="14" dur="1000" fill="hold"/>
                                        <p:tgtEl>
                                          <p:spTgt spid="2050"/>
                                        </p:tgtEl>
                                        <p:attrNameLst>
                                          <p:attrName>ppt_x</p:attrName>
                                        </p:attrNameLst>
                                      </p:cBhvr>
                                      <p:tavLst>
                                        <p:tav tm="0">
                                          <p:val>
                                            <p:strVal val="#ppt_x"/>
                                          </p:val>
                                        </p:tav>
                                        <p:tav tm="100000">
                                          <p:val>
                                            <p:strVal val="#ppt_x"/>
                                          </p:val>
                                        </p:tav>
                                      </p:tavLst>
                                    </p:anim>
                                    <p:anim calcmode="lin" valueType="num">
                                      <p:cBhvr>
                                        <p:cTn id="15" dur="1000" fill="hold"/>
                                        <p:tgtEl>
                                          <p:spTgt spid="2050"/>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anim calcmode="lin" valueType="num">
                                      <p:cBhvr additive="base">
                                        <p:cTn id="20"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4">
                                            <p:txEl>
                                              <p:pRg st="1" end="1"/>
                                            </p:txEl>
                                          </p:spTgt>
                                        </p:tgtEl>
                                        <p:attrNameLst>
                                          <p:attrName>style.visibility</p:attrName>
                                        </p:attrNameLst>
                                      </p:cBhvr>
                                      <p:to>
                                        <p:strVal val="visible"/>
                                      </p:to>
                                    </p:set>
                                    <p:anim calcmode="lin" valueType="num">
                                      <p:cBhvr additive="base">
                                        <p:cTn id="26"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4">
                                            <p:txEl>
                                              <p:pRg st="2" end="2"/>
                                            </p:txEl>
                                          </p:spTgt>
                                        </p:tgtEl>
                                        <p:attrNameLst>
                                          <p:attrName>style.visibility</p:attrName>
                                        </p:attrNameLst>
                                      </p:cBhvr>
                                      <p:to>
                                        <p:strVal val="visible"/>
                                      </p:to>
                                    </p:set>
                                    <p:anim calcmode="lin" valueType="num">
                                      <p:cBhvr additive="base">
                                        <p:cTn id="32"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Indexing</a:t>
            </a:r>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482265"/>
            <a:ext cx="4404087" cy="23319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7200" y="2895600"/>
            <a:ext cx="5975653" cy="3124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83331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ppt_x"/>
                                          </p:val>
                                        </p:tav>
                                        <p:tav tm="100000">
                                          <p:val>
                                            <p:strVal val="#ppt_x"/>
                                          </p:val>
                                        </p:tav>
                                      </p:tavLst>
                                    </p:anim>
                                    <p:anim calcmode="lin" valueType="num">
                                      <p:cBhvr additive="base">
                                        <p:cTn id="8"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075"/>
                                        </p:tgtEl>
                                        <p:attrNameLst>
                                          <p:attrName>style.visibility</p:attrName>
                                        </p:attrNameLst>
                                      </p:cBhvr>
                                      <p:to>
                                        <p:strVal val="visible"/>
                                      </p:to>
                                    </p:set>
                                    <p:animEffect transition="in" filter="fade">
                                      <p:cBhvr>
                                        <p:cTn id="13" dur="1000"/>
                                        <p:tgtEl>
                                          <p:spTgt spid="3075"/>
                                        </p:tgtEl>
                                      </p:cBhvr>
                                    </p:animEffect>
                                    <p:anim calcmode="lin" valueType="num">
                                      <p:cBhvr>
                                        <p:cTn id="14" dur="1000" fill="hold"/>
                                        <p:tgtEl>
                                          <p:spTgt spid="3075"/>
                                        </p:tgtEl>
                                        <p:attrNameLst>
                                          <p:attrName>ppt_x</p:attrName>
                                        </p:attrNameLst>
                                      </p:cBhvr>
                                      <p:tavLst>
                                        <p:tav tm="0">
                                          <p:val>
                                            <p:strVal val="#ppt_x"/>
                                          </p:val>
                                        </p:tav>
                                        <p:tav tm="100000">
                                          <p:val>
                                            <p:strVal val="#ppt_x"/>
                                          </p:val>
                                        </p:tav>
                                      </p:tavLst>
                                    </p:anim>
                                    <p:anim calcmode="lin" valueType="num">
                                      <p:cBhvr>
                                        <p:cTn id="15" dur="1000" fill="hold"/>
                                        <p:tgtEl>
                                          <p:spTgt spid="307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600200"/>
            <a:ext cx="8528112" cy="441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28867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099"/>
                                        </p:tgtEl>
                                        <p:attrNameLst>
                                          <p:attrName>style.visibility</p:attrName>
                                        </p:attrNameLst>
                                      </p:cBhvr>
                                      <p:to>
                                        <p:strVal val="visible"/>
                                      </p:to>
                                    </p:set>
                                    <p:animEffect transition="in" filter="barn(inVertical)">
                                      <p:cBhvr>
                                        <p:cTn id="7" dur="500"/>
                                        <p:tgtEl>
                                          <p:spTgt spid="4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27662" y="2424815"/>
            <a:ext cx="3234055" cy="2962349"/>
          </a:xfrm>
          <a:prstGeom prst="rect">
            <a:avLst/>
          </a:prstGeom>
        </p:spPr>
        <p:txBody>
          <a:bodyPr vert="horz" wrap="square" lIns="0" tIns="43180" rIns="0" bIns="0" rtlCol="0">
            <a:spAutoFit/>
          </a:bodyPr>
          <a:lstStyle/>
          <a:p>
            <a:pPr marL="241300" marR="25400" indent="-228600">
              <a:lnSpc>
                <a:spcPct val="90000"/>
              </a:lnSpc>
              <a:spcBef>
                <a:spcPts val="340"/>
              </a:spcBef>
              <a:buFont typeface="Arial MT"/>
              <a:buChar char="•"/>
              <a:tabLst>
                <a:tab pos="240665" algn="l"/>
                <a:tab pos="241300" algn="l"/>
              </a:tabLst>
            </a:pPr>
            <a:r>
              <a:rPr sz="2000" spc="-10" dirty="0">
                <a:highlight>
                  <a:srgbClr val="FFFF00"/>
                </a:highlight>
                <a:latin typeface="Calibri"/>
                <a:cs typeface="Calibri"/>
              </a:rPr>
              <a:t>Indexing </a:t>
            </a:r>
            <a:r>
              <a:rPr sz="2000" dirty="0">
                <a:highlight>
                  <a:srgbClr val="FFFF00"/>
                </a:highlight>
                <a:latin typeface="Calibri"/>
                <a:cs typeface="Calibri"/>
              </a:rPr>
              <a:t>is a </a:t>
            </a:r>
            <a:r>
              <a:rPr sz="2000" spc="-25" dirty="0">
                <a:highlight>
                  <a:srgbClr val="FFFF00"/>
                </a:highlight>
                <a:latin typeface="Calibri"/>
                <a:cs typeface="Calibri"/>
              </a:rPr>
              <a:t>way </a:t>
            </a:r>
            <a:r>
              <a:rPr sz="2000" spc="-15" dirty="0">
                <a:highlight>
                  <a:srgbClr val="FFFF00"/>
                </a:highlight>
                <a:latin typeface="Calibri"/>
                <a:cs typeface="Calibri"/>
              </a:rPr>
              <a:t>to </a:t>
            </a:r>
            <a:r>
              <a:rPr sz="2000" spc="-10" dirty="0">
                <a:highlight>
                  <a:srgbClr val="FFFF00"/>
                </a:highlight>
                <a:latin typeface="Calibri"/>
                <a:cs typeface="Calibri"/>
              </a:rPr>
              <a:t>optimize </a:t>
            </a:r>
            <a:r>
              <a:rPr sz="2000" spc="-440" dirty="0">
                <a:highlight>
                  <a:srgbClr val="FFFF00"/>
                </a:highlight>
                <a:latin typeface="Calibri"/>
                <a:cs typeface="Calibri"/>
              </a:rPr>
              <a:t> </a:t>
            </a:r>
            <a:r>
              <a:rPr sz="2000" dirty="0">
                <a:highlight>
                  <a:srgbClr val="FFFF00"/>
                </a:highlight>
                <a:latin typeface="Calibri"/>
                <a:cs typeface="Calibri"/>
              </a:rPr>
              <a:t>the </a:t>
            </a:r>
            <a:r>
              <a:rPr sz="2000" spc="-5" dirty="0">
                <a:highlight>
                  <a:srgbClr val="FFFF00"/>
                </a:highlight>
                <a:latin typeface="Calibri"/>
                <a:cs typeface="Calibri"/>
              </a:rPr>
              <a:t>performance of </a:t>
            </a:r>
            <a:r>
              <a:rPr sz="2000" dirty="0">
                <a:highlight>
                  <a:srgbClr val="FFFF00"/>
                </a:highlight>
                <a:latin typeface="Calibri"/>
                <a:cs typeface="Calibri"/>
              </a:rPr>
              <a:t>a </a:t>
            </a:r>
            <a:r>
              <a:rPr sz="2000" spc="5" dirty="0">
                <a:highlight>
                  <a:srgbClr val="FFFF00"/>
                </a:highlight>
                <a:latin typeface="Calibri"/>
                <a:cs typeface="Calibri"/>
              </a:rPr>
              <a:t> </a:t>
            </a:r>
            <a:r>
              <a:rPr sz="2000" spc="-5" dirty="0">
                <a:highlight>
                  <a:srgbClr val="FFFF00"/>
                </a:highlight>
                <a:latin typeface="Calibri"/>
                <a:cs typeface="Calibri"/>
              </a:rPr>
              <a:t>database by minimizing </a:t>
            </a:r>
            <a:r>
              <a:rPr sz="2000" dirty="0">
                <a:highlight>
                  <a:srgbClr val="FFFF00"/>
                </a:highlight>
                <a:latin typeface="Calibri"/>
                <a:cs typeface="Calibri"/>
              </a:rPr>
              <a:t>the </a:t>
            </a:r>
            <a:r>
              <a:rPr sz="2000" spc="5" dirty="0">
                <a:highlight>
                  <a:srgbClr val="FFFF00"/>
                </a:highlight>
                <a:latin typeface="Calibri"/>
                <a:cs typeface="Calibri"/>
              </a:rPr>
              <a:t> </a:t>
            </a:r>
            <a:r>
              <a:rPr sz="2000" dirty="0">
                <a:highlight>
                  <a:srgbClr val="FFFF00"/>
                </a:highlight>
                <a:latin typeface="Calibri"/>
                <a:cs typeface="Calibri"/>
              </a:rPr>
              <a:t>number </a:t>
            </a:r>
            <a:r>
              <a:rPr sz="2000" spc="-5" dirty="0">
                <a:highlight>
                  <a:srgbClr val="FFFF00"/>
                </a:highlight>
                <a:latin typeface="Calibri"/>
                <a:cs typeface="Calibri"/>
              </a:rPr>
              <a:t>of disk </a:t>
            </a:r>
            <a:r>
              <a:rPr sz="2000" dirty="0">
                <a:highlight>
                  <a:srgbClr val="FFFF00"/>
                </a:highlight>
                <a:latin typeface="Calibri"/>
                <a:cs typeface="Calibri"/>
              </a:rPr>
              <a:t>accesses </a:t>
            </a:r>
            <a:r>
              <a:rPr sz="2000" spc="5" dirty="0">
                <a:highlight>
                  <a:srgbClr val="FFFF00"/>
                </a:highlight>
                <a:latin typeface="Calibri"/>
                <a:cs typeface="Calibri"/>
              </a:rPr>
              <a:t> </a:t>
            </a:r>
            <a:r>
              <a:rPr sz="2000" spc="-10" dirty="0">
                <a:highlight>
                  <a:srgbClr val="FFFF00"/>
                </a:highlight>
                <a:latin typeface="Calibri"/>
                <a:cs typeface="Calibri"/>
              </a:rPr>
              <a:t>required </a:t>
            </a:r>
            <a:r>
              <a:rPr sz="2000" spc="-5" dirty="0">
                <a:highlight>
                  <a:srgbClr val="FFFF00"/>
                </a:highlight>
                <a:latin typeface="Calibri"/>
                <a:cs typeface="Calibri"/>
              </a:rPr>
              <a:t>when </a:t>
            </a:r>
            <a:r>
              <a:rPr sz="2000" dirty="0">
                <a:highlight>
                  <a:srgbClr val="FFFF00"/>
                </a:highlight>
                <a:latin typeface="Calibri"/>
                <a:cs typeface="Calibri"/>
              </a:rPr>
              <a:t>a query is </a:t>
            </a:r>
            <a:r>
              <a:rPr sz="2000" spc="5" dirty="0">
                <a:highlight>
                  <a:srgbClr val="FFFF00"/>
                </a:highlight>
                <a:latin typeface="Calibri"/>
                <a:cs typeface="Calibri"/>
              </a:rPr>
              <a:t> </a:t>
            </a:r>
            <a:r>
              <a:rPr sz="2000" spc="-10" dirty="0">
                <a:highlight>
                  <a:srgbClr val="FFFF00"/>
                </a:highlight>
                <a:latin typeface="Calibri"/>
                <a:cs typeface="Calibri"/>
              </a:rPr>
              <a:t>processed.</a:t>
            </a:r>
            <a:endParaRPr sz="2000" dirty="0">
              <a:highlight>
                <a:srgbClr val="FFFF00"/>
              </a:highlight>
              <a:latin typeface="Calibri"/>
              <a:cs typeface="Calibri"/>
            </a:endParaRPr>
          </a:p>
          <a:p>
            <a:pPr marL="241300" marR="5080" indent="-228600">
              <a:lnSpc>
                <a:spcPts val="2160"/>
              </a:lnSpc>
              <a:spcBef>
                <a:spcPts val="1030"/>
              </a:spcBef>
              <a:buFont typeface="Arial MT"/>
              <a:buChar char="•"/>
              <a:tabLst>
                <a:tab pos="240665" algn="l"/>
                <a:tab pos="241300" algn="l"/>
              </a:tabLst>
            </a:pPr>
            <a:r>
              <a:rPr sz="2000" dirty="0">
                <a:highlight>
                  <a:srgbClr val="FFFF00"/>
                </a:highlight>
                <a:latin typeface="Calibri"/>
                <a:cs typeface="Calibri"/>
              </a:rPr>
              <a:t>It is a </a:t>
            </a:r>
            <a:r>
              <a:rPr sz="2000" spc="-10" dirty="0">
                <a:highlight>
                  <a:srgbClr val="FFFF00"/>
                </a:highlight>
                <a:latin typeface="Calibri"/>
                <a:cs typeface="Calibri"/>
              </a:rPr>
              <a:t>data </a:t>
            </a:r>
            <a:r>
              <a:rPr sz="2000" spc="-5" dirty="0">
                <a:highlight>
                  <a:srgbClr val="FFFF00"/>
                </a:highlight>
                <a:latin typeface="Calibri"/>
                <a:cs typeface="Calibri"/>
              </a:rPr>
              <a:t>structure </a:t>
            </a:r>
            <a:r>
              <a:rPr sz="2000" dirty="0">
                <a:highlight>
                  <a:srgbClr val="FFFF00"/>
                </a:highlight>
                <a:latin typeface="Calibri"/>
                <a:cs typeface="Calibri"/>
              </a:rPr>
              <a:t> </a:t>
            </a:r>
            <a:r>
              <a:rPr sz="2000" spc="-5" dirty="0">
                <a:highlight>
                  <a:srgbClr val="FFFF00"/>
                </a:highlight>
                <a:latin typeface="Calibri"/>
                <a:cs typeface="Calibri"/>
              </a:rPr>
              <a:t>technique </a:t>
            </a:r>
            <a:r>
              <a:rPr sz="2000" dirty="0">
                <a:highlight>
                  <a:srgbClr val="FFFF00"/>
                </a:highlight>
                <a:latin typeface="Calibri"/>
                <a:cs typeface="Calibri"/>
              </a:rPr>
              <a:t>which is </a:t>
            </a:r>
            <a:r>
              <a:rPr sz="2000" spc="-5" dirty="0">
                <a:highlight>
                  <a:srgbClr val="FFFF00"/>
                </a:highlight>
                <a:latin typeface="Calibri"/>
                <a:cs typeface="Calibri"/>
              </a:rPr>
              <a:t>used </a:t>
            </a:r>
            <a:r>
              <a:rPr sz="2000" spc="-15" dirty="0">
                <a:highlight>
                  <a:srgbClr val="FFFF00"/>
                </a:highlight>
                <a:latin typeface="Calibri"/>
                <a:cs typeface="Calibri"/>
              </a:rPr>
              <a:t>to </a:t>
            </a:r>
            <a:r>
              <a:rPr sz="2000" spc="-10" dirty="0">
                <a:highlight>
                  <a:srgbClr val="FFFF00"/>
                </a:highlight>
                <a:latin typeface="Calibri"/>
                <a:cs typeface="Calibri"/>
              </a:rPr>
              <a:t> </a:t>
            </a:r>
            <a:r>
              <a:rPr sz="2000" dirty="0">
                <a:highlight>
                  <a:srgbClr val="FFFF00"/>
                </a:highlight>
                <a:latin typeface="Calibri"/>
                <a:cs typeface="Calibri"/>
              </a:rPr>
              <a:t>quickly</a:t>
            </a:r>
            <a:r>
              <a:rPr sz="2000" spc="-35" dirty="0">
                <a:highlight>
                  <a:srgbClr val="FFFF00"/>
                </a:highlight>
                <a:latin typeface="Calibri"/>
                <a:cs typeface="Calibri"/>
              </a:rPr>
              <a:t> </a:t>
            </a:r>
            <a:r>
              <a:rPr sz="2000" spc="-10" dirty="0">
                <a:highlight>
                  <a:srgbClr val="FFFF00"/>
                </a:highlight>
                <a:latin typeface="Calibri"/>
                <a:cs typeface="Calibri"/>
              </a:rPr>
              <a:t>locate</a:t>
            </a:r>
            <a:r>
              <a:rPr sz="2000" spc="-5" dirty="0">
                <a:highlight>
                  <a:srgbClr val="FFFF00"/>
                </a:highlight>
                <a:latin typeface="Calibri"/>
                <a:cs typeface="Calibri"/>
              </a:rPr>
              <a:t> </a:t>
            </a:r>
            <a:r>
              <a:rPr sz="2000" dirty="0">
                <a:highlight>
                  <a:srgbClr val="FFFF00"/>
                </a:highlight>
                <a:latin typeface="Calibri"/>
                <a:cs typeface="Calibri"/>
              </a:rPr>
              <a:t>and</a:t>
            </a:r>
            <a:r>
              <a:rPr sz="2000" spc="-20" dirty="0">
                <a:highlight>
                  <a:srgbClr val="FFFF00"/>
                </a:highlight>
                <a:latin typeface="Calibri"/>
                <a:cs typeface="Calibri"/>
              </a:rPr>
              <a:t> </a:t>
            </a:r>
            <a:r>
              <a:rPr sz="2000" dirty="0">
                <a:highlight>
                  <a:srgbClr val="FFFF00"/>
                </a:highlight>
                <a:latin typeface="Calibri"/>
                <a:cs typeface="Calibri"/>
              </a:rPr>
              <a:t>access</a:t>
            </a:r>
            <a:r>
              <a:rPr sz="2000" spc="-10" dirty="0">
                <a:highlight>
                  <a:srgbClr val="FFFF00"/>
                </a:highlight>
                <a:latin typeface="Calibri"/>
                <a:cs typeface="Calibri"/>
              </a:rPr>
              <a:t> </a:t>
            </a:r>
            <a:r>
              <a:rPr sz="2000" dirty="0">
                <a:highlight>
                  <a:srgbClr val="FFFF00"/>
                </a:highlight>
                <a:latin typeface="Calibri"/>
                <a:cs typeface="Calibri"/>
              </a:rPr>
              <a:t>the </a:t>
            </a:r>
            <a:r>
              <a:rPr sz="2000" spc="-434" dirty="0">
                <a:highlight>
                  <a:srgbClr val="FFFF00"/>
                </a:highlight>
                <a:latin typeface="Calibri"/>
                <a:cs typeface="Calibri"/>
              </a:rPr>
              <a:t> </a:t>
            </a:r>
            <a:r>
              <a:rPr sz="2000" spc="-15" dirty="0">
                <a:highlight>
                  <a:srgbClr val="FFFF00"/>
                </a:highlight>
                <a:latin typeface="Calibri"/>
                <a:cs typeface="Calibri"/>
              </a:rPr>
              <a:t>data</a:t>
            </a:r>
            <a:r>
              <a:rPr sz="2000" spc="-5" dirty="0">
                <a:highlight>
                  <a:srgbClr val="FFFF00"/>
                </a:highlight>
                <a:latin typeface="Calibri"/>
                <a:cs typeface="Calibri"/>
              </a:rPr>
              <a:t> </a:t>
            </a:r>
            <a:r>
              <a:rPr sz="2000" dirty="0">
                <a:highlight>
                  <a:srgbClr val="FFFF00"/>
                </a:highlight>
                <a:latin typeface="Calibri"/>
                <a:cs typeface="Calibri"/>
              </a:rPr>
              <a:t>in</a:t>
            </a:r>
            <a:r>
              <a:rPr sz="2000" spc="-5" dirty="0">
                <a:highlight>
                  <a:srgbClr val="FFFF00"/>
                </a:highlight>
                <a:latin typeface="Calibri"/>
                <a:cs typeface="Calibri"/>
              </a:rPr>
              <a:t> </a:t>
            </a:r>
            <a:r>
              <a:rPr sz="2000" dirty="0">
                <a:highlight>
                  <a:srgbClr val="FFFF00"/>
                </a:highlight>
                <a:latin typeface="Calibri"/>
                <a:cs typeface="Calibri"/>
              </a:rPr>
              <a:t>a</a:t>
            </a:r>
            <a:r>
              <a:rPr sz="2000" spc="-10" dirty="0">
                <a:highlight>
                  <a:srgbClr val="FFFF00"/>
                </a:highlight>
                <a:latin typeface="Calibri"/>
                <a:cs typeface="Calibri"/>
              </a:rPr>
              <a:t> </a:t>
            </a:r>
            <a:r>
              <a:rPr sz="2000" spc="-5" dirty="0">
                <a:highlight>
                  <a:srgbClr val="FFFF00"/>
                </a:highlight>
                <a:latin typeface="Calibri"/>
                <a:cs typeface="Calibri"/>
              </a:rPr>
              <a:t>database.</a:t>
            </a:r>
            <a:endParaRPr sz="2000" dirty="0">
              <a:highlight>
                <a:srgbClr val="FFFF00"/>
              </a:highlight>
              <a:latin typeface="Calibri"/>
              <a:cs typeface="Calibri"/>
            </a:endParaRPr>
          </a:p>
        </p:txBody>
      </p:sp>
      <p:grpSp>
        <p:nvGrpSpPr>
          <p:cNvPr id="3" name="object 3"/>
          <p:cNvGrpSpPr/>
          <p:nvPr/>
        </p:nvGrpSpPr>
        <p:grpSpPr>
          <a:xfrm>
            <a:off x="4639056" y="0"/>
            <a:ext cx="7553325" cy="6858000"/>
            <a:chOff x="4639055" y="0"/>
            <a:chExt cx="7553325" cy="6858000"/>
          </a:xfrm>
        </p:grpSpPr>
        <p:sp>
          <p:nvSpPr>
            <p:cNvPr id="4" name="object 4"/>
            <p:cNvSpPr/>
            <p:nvPr/>
          </p:nvSpPr>
          <p:spPr>
            <a:xfrm>
              <a:off x="4639055" y="0"/>
              <a:ext cx="7553325" cy="6858000"/>
            </a:xfrm>
            <a:custGeom>
              <a:avLst/>
              <a:gdLst/>
              <a:ahLst/>
              <a:cxnLst/>
              <a:rect l="l" t="t" r="r" b="b"/>
              <a:pathLst>
                <a:path w="7553325" h="6858000">
                  <a:moveTo>
                    <a:pt x="7552944" y="0"/>
                  </a:moveTo>
                  <a:lnTo>
                    <a:pt x="0" y="0"/>
                  </a:lnTo>
                  <a:lnTo>
                    <a:pt x="0" y="6858000"/>
                  </a:lnTo>
                  <a:lnTo>
                    <a:pt x="7552944" y="6858000"/>
                  </a:lnTo>
                  <a:lnTo>
                    <a:pt x="7552944" y="0"/>
                  </a:lnTo>
                  <a:close/>
                </a:path>
              </a:pathLst>
            </a:custGeom>
            <a:solidFill>
              <a:srgbClr val="C7C9C9"/>
            </a:solidFill>
          </p:spPr>
          <p:txBody>
            <a:bodyPr wrap="square" lIns="0" tIns="0" rIns="0" bIns="0" rtlCol="0"/>
            <a:lstStyle/>
            <a:p>
              <a:endParaRPr/>
            </a:p>
          </p:txBody>
        </p:sp>
        <p:pic>
          <p:nvPicPr>
            <p:cNvPr id="5" name="object 5"/>
            <p:cNvPicPr/>
            <p:nvPr/>
          </p:nvPicPr>
          <p:blipFill>
            <a:blip r:embed="rId2" cstate="print"/>
            <a:stretch>
              <a:fillRect/>
            </a:stretch>
          </p:blipFill>
          <p:spPr>
            <a:xfrm>
              <a:off x="5059679" y="513587"/>
              <a:ext cx="6707124" cy="5861304"/>
            </a:xfrm>
            <a:prstGeom prst="rect">
              <a:avLst/>
            </a:prstGeom>
          </p:spPr>
        </p:pic>
        <p:sp>
          <p:nvSpPr>
            <p:cNvPr id="6" name="object 6"/>
            <p:cNvSpPr/>
            <p:nvPr/>
          </p:nvSpPr>
          <p:spPr>
            <a:xfrm>
              <a:off x="5123687" y="557783"/>
              <a:ext cx="6583680" cy="5739765"/>
            </a:xfrm>
            <a:custGeom>
              <a:avLst/>
              <a:gdLst/>
              <a:ahLst/>
              <a:cxnLst/>
              <a:rect l="l" t="t" r="r" b="b"/>
              <a:pathLst>
                <a:path w="6583680" h="5739765">
                  <a:moveTo>
                    <a:pt x="6583679" y="0"/>
                  </a:moveTo>
                  <a:lnTo>
                    <a:pt x="0" y="0"/>
                  </a:lnTo>
                  <a:lnTo>
                    <a:pt x="0" y="5739384"/>
                  </a:lnTo>
                  <a:lnTo>
                    <a:pt x="6583679" y="5739384"/>
                  </a:lnTo>
                  <a:lnTo>
                    <a:pt x="6583679" y="0"/>
                  </a:lnTo>
                  <a:close/>
                </a:path>
              </a:pathLst>
            </a:custGeom>
            <a:solidFill>
              <a:srgbClr val="FFFFFF"/>
            </a:solidFill>
          </p:spPr>
          <p:txBody>
            <a:bodyPr wrap="square" lIns="0" tIns="0" rIns="0" bIns="0" rtlCol="0"/>
            <a:lstStyle/>
            <a:p>
              <a:endParaRPr/>
            </a:p>
          </p:txBody>
        </p:sp>
        <p:sp>
          <p:nvSpPr>
            <p:cNvPr id="7" name="object 7"/>
            <p:cNvSpPr/>
            <p:nvPr/>
          </p:nvSpPr>
          <p:spPr>
            <a:xfrm>
              <a:off x="5123687" y="557783"/>
              <a:ext cx="6583680" cy="5739765"/>
            </a:xfrm>
            <a:custGeom>
              <a:avLst/>
              <a:gdLst/>
              <a:ahLst/>
              <a:cxnLst/>
              <a:rect l="l" t="t" r="r" b="b"/>
              <a:pathLst>
                <a:path w="6583680" h="5739765">
                  <a:moveTo>
                    <a:pt x="0" y="5739384"/>
                  </a:moveTo>
                  <a:lnTo>
                    <a:pt x="6583679" y="5739384"/>
                  </a:lnTo>
                  <a:lnTo>
                    <a:pt x="6583679" y="0"/>
                  </a:lnTo>
                  <a:lnTo>
                    <a:pt x="0" y="0"/>
                  </a:lnTo>
                  <a:lnTo>
                    <a:pt x="0" y="5739384"/>
                  </a:lnTo>
                  <a:close/>
                </a:path>
              </a:pathLst>
            </a:custGeom>
            <a:ln w="9144">
              <a:solidFill>
                <a:srgbClr val="C7C9C9"/>
              </a:solidFill>
            </a:ln>
          </p:spPr>
          <p:txBody>
            <a:bodyPr wrap="square" lIns="0" tIns="0" rIns="0" bIns="0" rtlCol="0"/>
            <a:lstStyle/>
            <a:p>
              <a:endParaRPr/>
            </a:p>
          </p:txBody>
        </p:sp>
        <p:pic>
          <p:nvPicPr>
            <p:cNvPr id="8" name="object 8"/>
            <p:cNvPicPr/>
            <p:nvPr/>
          </p:nvPicPr>
          <p:blipFill>
            <a:blip r:embed="rId3" cstate="print"/>
            <a:stretch>
              <a:fillRect/>
            </a:stretch>
          </p:blipFill>
          <p:spPr>
            <a:xfrm>
              <a:off x="5401055" y="1539240"/>
              <a:ext cx="6141720" cy="3776472"/>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274450"/>
            <a:ext cx="7973059" cy="1367682"/>
          </a:xfrm>
          <a:prstGeom prst="rect">
            <a:avLst/>
          </a:prstGeom>
        </p:spPr>
        <p:txBody>
          <a:bodyPr vert="horz" wrap="square" lIns="0" tIns="13335" rIns="0" bIns="0" rtlCol="0">
            <a:spAutoFit/>
          </a:bodyPr>
          <a:lstStyle/>
          <a:p>
            <a:pPr marL="12700">
              <a:lnSpc>
                <a:spcPct val="100000"/>
              </a:lnSpc>
              <a:spcBef>
                <a:spcPts val="105"/>
              </a:spcBef>
            </a:pPr>
            <a:r>
              <a:rPr sz="4400" spc="-5" dirty="0">
                <a:solidFill>
                  <a:srgbClr val="000000"/>
                </a:solidFill>
              </a:rPr>
              <a:t>The</a:t>
            </a:r>
            <a:r>
              <a:rPr sz="4400" spc="-10" dirty="0">
                <a:solidFill>
                  <a:srgbClr val="000000"/>
                </a:solidFill>
              </a:rPr>
              <a:t> indexing </a:t>
            </a:r>
            <a:r>
              <a:rPr sz="4400" dirty="0">
                <a:solidFill>
                  <a:srgbClr val="000000"/>
                </a:solidFill>
              </a:rPr>
              <a:t>has</a:t>
            </a:r>
            <a:r>
              <a:rPr sz="4400" spc="-25" dirty="0">
                <a:solidFill>
                  <a:srgbClr val="000000"/>
                </a:solidFill>
              </a:rPr>
              <a:t> </a:t>
            </a:r>
            <a:r>
              <a:rPr sz="4400" spc="-10" dirty="0">
                <a:solidFill>
                  <a:srgbClr val="000000"/>
                </a:solidFill>
              </a:rPr>
              <a:t>various</a:t>
            </a:r>
            <a:r>
              <a:rPr sz="4400" spc="-5" dirty="0">
                <a:solidFill>
                  <a:srgbClr val="000000"/>
                </a:solidFill>
              </a:rPr>
              <a:t> </a:t>
            </a:r>
            <a:r>
              <a:rPr sz="4400" spc="-15" dirty="0">
                <a:solidFill>
                  <a:srgbClr val="000000"/>
                </a:solidFill>
              </a:rPr>
              <a:t>attributes:</a:t>
            </a:r>
            <a:endParaRPr sz="4400"/>
          </a:p>
        </p:txBody>
      </p:sp>
      <p:sp>
        <p:nvSpPr>
          <p:cNvPr id="3" name="object 3"/>
          <p:cNvSpPr txBox="1"/>
          <p:nvPr/>
        </p:nvSpPr>
        <p:spPr>
          <a:xfrm>
            <a:off x="916942" y="1759967"/>
            <a:ext cx="9797415" cy="4067267"/>
          </a:xfrm>
          <a:prstGeom prst="rect">
            <a:avLst/>
          </a:prstGeom>
        </p:spPr>
        <p:txBody>
          <a:bodyPr vert="horz" wrap="square" lIns="0" tIns="93980" rIns="0" bIns="0" rtlCol="0">
            <a:spAutoFit/>
          </a:bodyPr>
          <a:lstStyle/>
          <a:p>
            <a:pPr marL="241300" marR="5080" indent="-228600">
              <a:lnSpc>
                <a:spcPts val="2690"/>
              </a:lnSpc>
              <a:spcBef>
                <a:spcPts val="740"/>
              </a:spcBef>
              <a:buFont typeface="Arial MT"/>
              <a:buChar char="•"/>
              <a:tabLst>
                <a:tab pos="241300" algn="l"/>
              </a:tabLst>
            </a:pPr>
            <a:r>
              <a:rPr sz="2800" b="1" spc="-5" dirty="0">
                <a:highlight>
                  <a:srgbClr val="FFFF00"/>
                </a:highlight>
                <a:latin typeface="Calibri"/>
                <a:cs typeface="Calibri"/>
              </a:rPr>
              <a:t>Access</a:t>
            </a:r>
            <a:r>
              <a:rPr sz="2800" b="1" spc="15" dirty="0">
                <a:highlight>
                  <a:srgbClr val="FFFF00"/>
                </a:highlight>
                <a:latin typeface="Calibri"/>
                <a:cs typeface="Calibri"/>
              </a:rPr>
              <a:t> </a:t>
            </a:r>
            <a:r>
              <a:rPr sz="2800" b="1" spc="-20" dirty="0">
                <a:highlight>
                  <a:srgbClr val="FFFF00"/>
                </a:highlight>
                <a:latin typeface="Calibri"/>
                <a:cs typeface="Calibri"/>
              </a:rPr>
              <a:t>Types</a:t>
            </a:r>
            <a:r>
              <a:rPr sz="2800" spc="-20" dirty="0">
                <a:highlight>
                  <a:srgbClr val="FFFF00"/>
                </a:highlight>
                <a:latin typeface="Calibri"/>
                <a:cs typeface="Calibri"/>
              </a:rPr>
              <a:t>:</a:t>
            </a:r>
            <a:r>
              <a:rPr sz="2800" spc="25" dirty="0">
                <a:highlight>
                  <a:srgbClr val="FFFF00"/>
                </a:highlight>
                <a:latin typeface="Calibri"/>
                <a:cs typeface="Calibri"/>
              </a:rPr>
              <a:t> </a:t>
            </a:r>
            <a:r>
              <a:rPr sz="2800" spc="-10" dirty="0">
                <a:highlight>
                  <a:srgbClr val="FFFF00"/>
                </a:highlight>
                <a:latin typeface="Calibri"/>
                <a:cs typeface="Calibri"/>
              </a:rPr>
              <a:t>This</a:t>
            </a:r>
            <a:r>
              <a:rPr sz="2800" spc="10" dirty="0">
                <a:highlight>
                  <a:srgbClr val="FFFF00"/>
                </a:highlight>
                <a:latin typeface="Calibri"/>
                <a:cs typeface="Calibri"/>
              </a:rPr>
              <a:t> </a:t>
            </a:r>
            <a:r>
              <a:rPr sz="2800" spc="-35" dirty="0">
                <a:highlight>
                  <a:srgbClr val="FFFF00"/>
                </a:highlight>
                <a:latin typeface="Calibri"/>
                <a:cs typeface="Calibri"/>
              </a:rPr>
              <a:t>refers</a:t>
            </a:r>
            <a:r>
              <a:rPr sz="2800" dirty="0">
                <a:highlight>
                  <a:srgbClr val="FFFF00"/>
                </a:highlight>
                <a:latin typeface="Calibri"/>
                <a:cs typeface="Calibri"/>
              </a:rPr>
              <a:t> </a:t>
            </a:r>
            <a:r>
              <a:rPr sz="2800" spc="-15" dirty="0">
                <a:highlight>
                  <a:srgbClr val="FFFF00"/>
                </a:highlight>
                <a:latin typeface="Calibri"/>
                <a:cs typeface="Calibri"/>
              </a:rPr>
              <a:t>to</a:t>
            </a:r>
            <a:r>
              <a:rPr sz="2800" dirty="0">
                <a:highlight>
                  <a:srgbClr val="FFFF00"/>
                </a:highlight>
                <a:latin typeface="Calibri"/>
                <a:cs typeface="Calibri"/>
              </a:rPr>
              <a:t> </a:t>
            </a:r>
            <a:r>
              <a:rPr sz="2800" spc="-5" dirty="0">
                <a:highlight>
                  <a:srgbClr val="FFFF00"/>
                </a:highlight>
                <a:latin typeface="Calibri"/>
                <a:cs typeface="Calibri"/>
              </a:rPr>
              <a:t>the</a:t>
            </a:r>
            <a:r>
              <a:rPr sz="2800" spc="15" dirty="0">
                <a:highlight>
                  <a:srgbClr val="FFFF00"/>
                </a:highlight>
                <a:latin typeface="Calibri"/>
                <a:cs typeface="Calibri"/>
              </a:rPr>
              <a:t> </a:t>
            </a:r>
            <a:r>
              <a:rPr sz="2800" spc="-10" dirty="0">
                <a:highlight>
                  <a:srgbClr val="FFFF00"/>
                </a:highlight>
                <a:latin typeface="Calibri"/>
                <a:cs typeface="Calibri"/>
              </a:rPr>
              <a:t>type</a:t>
            </a:r>
            <a:r>
              <a:rPr sz="2800" spc="20" dirty="0">
                <a:highlight>
                  <a:srgbClr val="FFFF00"/>
                </a:highlight>
                <a:latin typeface="Calibri"/>
                <a:cs typeface="Calibri"/>
              </a:rPr>
              <a:t> </a:t>
            </a:r>
            <a:r>
              <a:rPr sz="2800" spc="-5" dirty="0">
                <a:highlight>
                  <a:srgbClr val="FFFF00"/>
                </a:highlight>
                <a:latin typeface="Calibri"/>
                <a:cs typeface="Calibri"/>
              </a:rPr>
              <a:t>of access</a:t>
            </a:r>
            <a:r>
              <a:rPr sz="2800" spc="5" dirty="0">
                <a:highlight>
                  <a:srgbClr val="FFFF00"/>
                </a:highlight>
                <a:latin typeface="Calibri"/>
                <a:cs typeface="Calibri"/>
              </a:rPr>
              <a:t> </a:t>
            </a:r>
            <a:r>
              <a:rPr sz="2800" spc="-10" dirty="0">
                <a:highlight>
                  <a:srgbClr val="FFFF00"/>
                </a:highlight>
                <a:latin typeface="Calibri"/>
                <a:cs typeface="Calibri"/>
              </a:rPr>
              <a:t>such</a:t>
            </a:r>
            <a:r>
              <a:rPr sz="2800" spc="35" dirty="0">
                <a:highlight>
                  <a:srgbClr val="FFFF00"/>
                </a:highlight>
                <a:latin typeface="Calibri"/>
                <a:cs typeface="Calibri"/>
              </a:rPr>
              <a:t> </a:t>
            </a:r>
            <a:r>
              <a:rPr sz="2800" spc="-5" dirty="0">
                <a:highlight>
                  <a:srgbClr val="FFFF00"/>
                </a:highlight>
                <a:latin typeface="Calibri"/>
                <a:cs typeface="Calibri"/>
              </a:rPr>
              <a:t>as</a:t>
            </a:r>
            <a:r>
              <a:rPr sz="2800" dirty="0">
                <a:highlight>
                  <a:srgbClr val="FFFF00"/>
                </a:highlight>
                <a:latin typeface="Calibri"/>
                <a:cs typeface="Calibri"/>
              </a:rPr>
              <a:t> </a:t>
            </a:r>
            <a:r>
              <a:rPr sz="2800" spc="-10" dirty="0">
                <a:highlight>
                  <a:srgbClr val="FFFF00"/>
                </a:highlight>
                <a:latin typeface="Calibri"/>
                <a:cs typeface="Calibri"/>
              </a:rPr>
              <a:t>value</a:t>
            </a:r>
            <a:r>
              <a:rPr sz="2800" dirty="0">
                <a:highlight>
                  <a:srgbClr val="FFFF00"/>
                </a:highlight>
                <a:latin typeface="Calibri"/>
                <a:cs typeface="Calibri"/>
              </a:rPr>
              <a:t> </a:t>
            </a:r>
            <a:r>
              <a:rPr sz="2800" spc="-10" dirty="0">
                <a:highlight>
                  <a:srgbClr val="FFFF00"/>
                </a:highlight>
                <a:latin typeface="Calibri"/>
                <a:cs typeface="Calibri"/>
              </a:rPr>
              <a:t>based </a:t>
            </a:r>
            <a:r>
              <a:rPr sz="2800" spc="-620" dirty="0">
                <a:highlight>
                  <a:srgbClr val="FFFF00"/>
                </a:highlight>
                <a:latin typeface="Calibri"/>
                <a:cs typeface="Calibri"/>
              </a:rPr>
              <a:t> </a:t>
            </a:r>
            <a:r>
              <a:rPr sz="2800" spc="-10" dirty="0">
                <a:highlight>
                  <a:srgbClr val="FFFF00"/>
                </a:highlight>
                <a:latin typeface="Calibri"/>
                <a:cs typeface="Calibri"/>
              </a:rPr>
              <a:t>search,</a:t>
            </a:r>
            <a:r>
              <a:rPr sz="2800" spc="10" dirty="0">
                <a:highlight>
                  <a:srgbClr val="FFFF00"/>
                </a:highlight>
                <a:latin typeface="Calibri"/>
                <a:cs typeface="Calibri"/>
              </a:rPr>
              <a:t> </a:t>
            </a:r>
            <a:r>
              <a:rPr sz="2800" spc="-20" dirty="0">
                <a:highlight>
                  <a:srgbClr val="FFFF00"/>
                </a:highlight>
                <a:latin typeface="Calibri"/>
                <a:cs typeface="Calibri"/>
              </a:rPr>
              <a:t>range</a:t>
            </a:r>
            <a:r>
              <a:rPr sz="2800" dirty="0">
                <a:highlight>
                  <a:srgbClr val="FFFF00"/>
                </a:highlight>
                <a:latin typeface="Calibri"/>
                <a:cs typeface="Calibri"/>
              </a:rPr>
              <a:t> access,</a:t>
            </a:r>
            <a:r>
              <a:rPr sz="2800" spc="15" dirty="0">
                <a:highlight>
                  <a:srgbClr val="FFFF00"/>
                </a:highlight>
                <a:latin typeface="Calibri"/>
                <a:cs typeface="Calibri"/>
              </a:rPr>
              <a:t> </a:t>
            </a:r>
            <a:r>
              <a:rPr sz="2800" spc="-15" dirty="0">
                <a:highlight>
                  <a:srgbClr val="FFFF00"/>
                </a:highlight>
                <a:latin typeface="Calibri"/>
                <a:cs typeface="Calibri"/>
              </a:rPr>
              <a:t>etc.</a:t>
            </a:r>
            <a:endParaRPr sz="2800" dirty="0">
              <a:highlight>
                <a:srgbClr val="FFFF00"/>
              </a:highlight>
              <a:latin typeface="Calibri"/>
              <a:cs typeface="Calibri"/>
            </a:endParaRPr>
          </a:p>
          <a:p>
            <a:pPr marL="241300" marR="390525" indent="-228600">
              <a:lnSpc>
                <a:spcPts val="2690"/>
              </a:lnSpc>
              <a:spcBef>
                <a:spcPts val="1000"/>
              </a:spcBef>
              <a:buFont typeface="Arial MT"/>
              <a:buChar char="•"/>
              <a:tabLst>
                <a:tab pos="241300" algn="l"/>
              </a:tabLst>
            </a:pPr>
            <a:r>
              <a:rPr sz="2800" b="1" spc="-5" dirty="0">
                <a:highlight>
                  <a:srgbClr val="FFFF00"/>
                </a:highlight>
                <a:latin typeface="Calibri"/>
                <a:cs typeface="Calibri"/>
              </a:rPr>
              <a:t>Access</a:t>
            </a:r>
            <a:r>
              <a:rPr sz="2800" b="1" spc="20" dirty="0">
                <a:highlight>
                  <a:srgbClr val="FFFF00"/>
                </a:highlight>
                <a:latin typeface="Calibri"/>
                <a:cs typeface="Calibri"/>
              </a:rPr>
              <a:t> </a:t>
            </a:r>
            <a:r>
              <a:rPr sz="2800" b="1" spc="-10" dirty="0">
                <a:highlight>
                  <a:srgbClr val="FFFF00"/>
                </a:highlight>
                <a:latin typeface="Calibri"/>
                <a:cs typeface="Calibri"/>
              </a:rPr>
              <a:t>Time</a:t>
            </a:r>
            <a:r>
              <a:rPr sz="2800" spc="-10" dirty="0">
                <a:highlight>
                  <a:srgbClr val="FFFF00"/>
                </a:highlight>
                <a:latin typeface="Calibri"/>
                <a:cs typeface="Calibri"/>
              </a:rPr>
              <a:t>:</a:t>
            </a:r>
            <a:r>
              <a:rPr sz="2800" spc="25" dirty="0">
                <a:highlight>
                  <a:srgbClr val="FFFF00"/>
                </a:highlight>
                <a:latin typeface="Calibri"/>
                <a:cs typeface="Calibri"/>
              </a:rPr>
              <a:t> </a:t>
            </a:r>
            <a:r>
              <a:rPr sz="2800" spc="-5" dirty="0">
                <a:highlight>
                  <a:srgbClr val="FFFF00"/>
                </a:highlight>
                <a:latin typeface="Calibri"/>
                <a:cs typeface="Calibri"/>
              </a:rPr>
              <a:t>It</a:t>
            </a:r>
            <a:r>
              <a:rPr sz="2800" dirty="0">
                <a:highlight>
                  <a:srgbClr val="FFFF00"/>
                </a:highlight>
                <a:latin typeface="Calibri"/>
                <a:cs typeface="Calibri"/>
              </a:rPr>
              <a:t> </a:t>
            </a:r>
            <a:r>
              <a:rPr sz="2800" spc="-35" dirty="0">
                <a:highlight>
                  <a:srgbClr val="FFFF00"/>
                </a:highlight>
                <a:latin typeface="Calibri"/>
                <a:cs typeface="Calibri"/>
              </a:rPr>
              <a:t>refers</a:t>
            </a:r>
            <a:r>
              <a:rPr sz="2800" spc="10" dirty="0">
                <a:highlight>
                  <a:srgbClr val="FFFF00"/>
                </a:highlight>
                <a:latin typeface="Calibri"/>
                <a:cs typeface="Calibri"/>
              </a:rPr>
              <a:t> </a:t>
            </a:r>
            <a:r>
              <a:rPr sz="2800" spc="-20" dirty="0">
                <a:highlight>
                  <a:srgbClr val="FFFF00"/>
                </a:highlight>
                <a:latin typeface="Calibri"/>
                <a:cs typeface="Calibri"/>
              </a:rPr>
              <a:t>to</a:t>
            </a:r>
            <a:r>
              <a:rPr sz="2800" dirty="0">
                <a:highlight>
                  <a:srgbClr val="FFFF00"/>
                </a:highlight>
                <a:latin typeface="Calibri"/>
                <a:cs typeface="Calibri"/>
              </a:rPr>
              <a:t> </a:t>
            </a:r>
            <a:r>
              <a:rPr sz="2800" spc="-5" dirty="0">
                <a:highlight>
                  <a:srgbClr val="FFFF00"/>
                </a:highlight>
                <a:latin typeface="Calibri"/>
                <a:cs typeface="Calibri"/>
              </a:rPr>
              <a:t>the</a:t>
            </a:r>
            <a:r>
              <a:rPr sz="2800" dirty="0">
                <a:highlight>
                  <a:srgbClr val="FFFF00"/>
                </a:highlight>
                <a:latin typeface="Calibri"/>
                <a:cs typeface="Calibri"/>
              </a:rPr>
              <a:t> </a:t>
            </a:r>
            <a:r>
              <a:rPr sz="2800" spc="-5" dirty="0">
                <a:highlight>
                  <a:srgbClr val="FFFF00"/>
                </a:highlight>
                <a:latin typeface="Calibri"/>
                <a:cs typeface="Calibri"/>
              </a:rPr>
              <a:t>time</a:t>
            </a:r>
            <a:r>
              <a:rPr sz="2800" spc="10" dirty="0">
                <a:highlight>
                  <a:srgbClr val="FFFF00"/>
                </a:highlight>
                <a:latin typeface="Calibri"/>
                <a:cs typeface="Calibri"/>
              </a:rPr>
              <a:t> </a:t>
            </a:r>
            <a:r>
              <a:rPr sz="2800" spc="-10" dirty="0">
                <a:highlight>
                  <a:srgbClr val="FFFF00"/>
                </a:highlight>
                <a:latin typeface="Calibri"/>
                <a:cs typeface="Calibri"/>
              </a:rPr>
              <a:t>needed</a:t>
            </a:r>
            <a:r>
              <a:rPr sz="2800" spc="25" dirty="0">
                <a:highlight>
                  <a:srgbClr val="FFFF00"/>
                </a:highlight>
                <a:latin typeface="Calibri"/>
                <a:cs typeface="Calibri"/>
              </a:rPr>
              <a:t> </a:t>
            </a:r>
            <a:r>
              <a:rPr sz="2800" spc="-20" dirty="0">
                <a:highlight>
                  <a:srgbClr val="FFFF00"/>
                </a:highlight>
                <a:latin typeface="Calibri"/>
                <a:cs typeface="Calibri"/>
              </a:rPr>
              <a:t>to</a:t>
            </a:r>
            <a:r>
              <a:rPr sz="2800" dirty="0">
                <a:highlight>
                  <a:srgbClr val="FFFF00"/>
                </a:highlight>
                <a:latin typeface="Calibri"/>
                <a:cs typeface="Calibri"/>
              </a:rPr>
              <a:t> </a:t>
            </a:r>
            <a:r>
              <a:rPr sz="2800" spc="-10" dirty="0">
                <a:highlight>
                  <a:srgbClr val="FFFF00"/>
                </a:highlight>
                <a:latin typeface="Calibri"/>
                <a:cs typeface="Calibri"/>
              </a:rPr>
              <a:t>find</a:t>
            </a:r>
            <a:r>
              <a:rPr sz="2800" spc="15" dirty="0">
                <a:highlight>
                  <a:srgbClr val="FFFF00"/>
                </a:highlight>
                <a:latin typeface="Calibri"/>
                <a:cs typeface="Calibri"/>
              </a:rPr>
              <a:t> </a:t>
            </a:r>
            <a:r>
              <a:rPr sz="2800" spc="-10" dirty="0">
                <a:highlight>
                  <a:srgbClr val="FFFF00"/>
                </a:highlight>
                <a:latin typeface="Calibri"/>
                <a:cs typeface="Calibri"/>
              </a:rPr>
              <a:t>particular</a:t>
            </a:r>
            <a:r>
              <a:rPr sz="2800" spc="25" dirty="0">
                <a:highlight>
                  <a:srgbClr val="FFFF00"/>
                </a:highlight>
                <a:latin typeface="Calibri"/>
                <a:cs typeface="Calibri"/>
              </a:rPr>
              <a:t> </a:t>
            </a:r>
            <a:r>
              <a:rPr sz="2800" spc="-20" dirty="0">
                <a:highlight>
                  <a:srgbClr val="FFFF00"/>
                </a:highlight>
                <a:latin typeface="Calibri"/>
                <a:cs typeface="Calibri"/>
              </a:rPr>
              <a:t>data </a:t>
            </a:r>
            <a:r>
              <a:rPr sz="2800" spc="-620" dirty="0">
                <a:highlight>
                  <a:srgbClr val="FFFF00"/>
                </a:highlight>
                <a:latin typeface="Calibri"/>
                <a:cs typeface="Calibri"/>
              </a:rPr>
              <a:t> </a:t>
            </a:r>
            <a:r>
              <a:rPr sz="2800" spc="-10" dirty="0">
                <a:highlight>
                  <a:srgbClr val="FFFF00"/>
                </a:highlight>
                <a:latin typeface="Calibri"/>
                <a:cs typeface="Calibri"/>
              </a:rPr>
              <a:t>element </a:t>
            </a:r>
            <a:r>
              <a:rPr sz="2800" dirty="0">
                <a:highlight>
                  <a:srgbClr val="FFFF00"/>
                </a:highlight>
                <a:latin typeface="Calibri"/>
                <a:cs typeface="Calibri"/>
              </a:rPr>
              <a:t>or</a:t>
            </a:r>
            <a:r>
              <a:rPr sz="2800" spc="10" dirty="0">
                <a:highlight>
                  <a:srgbClr val="FFFF00"/>
                </a:highlight>
                <a:latin typeface="Calibri"/>
                <a:cs typeface="Calibri"/>
              </a:rPr>
              <a:t> </a:t>
            </a:r>
            <a:r>
              <a:rPr sz="2800" spc="-10" dirty="0">
                <a:highlight>
                  <a:srgbClr val="FFFF00"/>
                </a:highlight>
                <a:latin typeface="Calibri"/>
                <a:cs typeface="Calibri"/>
              </a:rPr>
              <a:t>set</a:t>
            </a:r>
            <a:r>
              <a:rPr sz="2800" spc="-5" dirty="0">
                <a:highlight>
                  <a:srgbClr val="FFFF00"/>
                </a:highlight>
                <a:latin typeface="Calibri"/>
                <a:cs typeface="Calibri"/>
              </a:rPr>
              <a:t> </a:t>
            </a:r>
            <a:r>
              <a:rPr sz="2800" dirty="0">
                <a:highlight>
                  <a:srgbClr val="FFFF00"/>
                </a:highlight>
                <a:latin typeface="Calibri"/>
                <a:cs typeface="Calibri"/>
              </a:rPr>
              <a:t>of</a:t>
            </a:r>
            <a:r>
              <a:rPr sz="2800" spc="-5" dirty="0">
                <a:highlight>
                  <a:srgbClr val="FFFF00"/>
                </a:highlight>
                <a:latin typeface="Calibri"/>
                <a:cs typeface="Calibri"/>
              </a:rPr>
              <a:t> elements.</a:t>
            </a:r>
            <a:endParaRPr sz="2800" dirty="0">
              <a:highlight>
                <a:srgbClr val="FFFF00"/>
              </a:highlight>
              <a:latin typeface="Calibri"/>
              <a:cs typeface="Calibri"/>
            </a:endParaRPr>
          </a:p>
          <a:p>
            <a:pPr marL="241300" marR="182245" indent="-228600">
              <a:lnSpc>
                <a:spcPct val="80000"/>
              </a:lnSpc>
              <a:spcBef>
                <a:spcPts val="1025"/>
              </a:spcBef>
              <a:buFont typeface="Arial MT"/>
              <a:buChar char="•"/>
              <a:tabLst>
                <a:tab pos="241300" algn="l"/>
              </a:tabLst>
            </a:pPr>
            <a:r>
              <a:rPr sz="2800" b="1" spc="-5" dirty="0">
                <a:highlight>
                  <a:srgbClr val="FFFF00"/>
                </a:highlight>
                <a:latin typeface="Calibri"/>
                <a:cs typeface="Calibri"/>
              </a:rPr>
              <a:t>Insertion</a:t>
            </a:r>
            <a:r>
              <a:rPr sz="2800" b="1" spc="25" dirty="0">
                <a:highlight>
                  <a:srgbClr val="FFFF00"/>
                </a:highlight>
                <a:latin typeface="Calibri"/>
                <a:cs typeface="Calibri"/>
              </a:rPr>
              <a:t> </a:t>
            </a:r>
            <a:r>
              <a:rPr sz="2800" b="1" spc="-15" dirty="0">
                <a:highlight>
                  <a:srgbClr val="FFFF00"/>
                </a:highlight>
                <a:latin typeface="Calibri"/>
                <a:cs typeface="Calibri"/>
              </a:rPr>
              <a:t>Time</a:t>
            </a:r>
            <a:r>
              <a:rPr sz="2800" spc="-15" dirty="0">
                <a:highlight>
                  <a:srgbClr val="FFFF00"/>
                </a:highlight>
                <a:latin typeface="Calibri"/>
                <a:cs typeface="Calibri"/>
              </a:rPr>
              <a:t>:</a:t>
            </a:r>
            <a:r>
              <a:rPr sz="2800" spc="25" dirty="0">
                <a:highlight>
                  <a:srgbClr val="FFFF00"/>
                </a:highlight>
                <a:latin typeface="Calibri"/>
                <a:cs typeface="Calibri"/>
              </a:rPr>
              <a:t> </a:t>
            </a:r>
            <a:r>
              <a:rPr sz="2800" spc="-5" dirty="0">
                <a:highlight>
                  <a:srgbClr val="FFFF00"/>
                </a:highlight>
                <a:latin typeface="Calibri"/>
                <a:cs typeface="Calibri"/>
              </a:rPr>
              <a:t>It</a:t>
            </a:r>
            <a:r>
              <a:rPr sz="2800" dirty="0">
                <a:highlight>
                  <a:srgbClr val="FFFF00"/>
                </a:highlight>
                <a:latin typeface="Calibri"/>
                <a:cs typeface="Calibri"/>
              </a:rPr>
              <a:t> </a:t>
            </a:r>
            <a:r>
              <a:rPr sz="2800" spc="-35" dirty="0">
                <a:highlight>
                  <a:srgbClr val="FFFF00"/>
                </a:highlight>
                <a:latin typeface="Calibri"/>
                <a:cs typeface="Calibri"/>
              </a:rPr>
              <a:t>refers</a:t>
            </a:r>
            <a:r>
              <a:rPr sz="2800" spc="10" dirty="0">
                <a:highlight>
                  <a:srgbClr val="FFFF00"/>
                </a:highlight>
                <a:latin typeface="Calibri"/>
                <a:cs typeface="Calibri"/>
              </a:rPr>
              <a:t> </a:t>
            </a:r>
            <a:r>
              <a:rPr sz="2800" spc="-20" dirty="0">
                <a:highlight>
                  <a:srgbClr val="FFFF00"/>
                </a:highlight>
                <a:latin typeface="Calibri"/>
                <a:cs typeface="Calibri"/>
              </a:rPr>
              <a:t>to</a:t>
            </a:r>
            <a:r>
              <a:rPr sz="2800" dirty="0">
                <a:highlight>
                  <a:srgbClr val="FFFF00"/>
                </a:highlight>
                <a:latin typeface="Calibri"/>
                <a:cs typeface="Calibri"/>
              </a:rPr>
              <a:t> </a:t>
            </a:r>
            <a:r>
              <a:rPr sz="2800" spc="-5" dirty="0">
                <a:highlight>
                  <a:srgbClr val="FFFF00"/>
                </a:highlight>
                <a:latin typeface="Calibri"/>
                <a:cs typeface="Calibri"/>
              </a:rPr>
              <a:t>the</a:t>
            </a:r>
            <a:r>
              <a:rPr sz="2800" dirty="0">
                <a:highlight>
                  <a:srgbClr val="FFFF00"/>
                </a:highlight>
                <a:latin typeface="Calibri"/>
                <a:cs typeface="Calibri"/>
              </a:rPr>
              <a:t> </a:t>
            </a:r>
            <a:r>
              <a:rPr sz="2800" spc="-5" dirty="0">
                <a:highlight>
                  <a:srgbClr val="FFFF00"/>
                </a:highlight>
                <a:latin typeface="Calibri"/>
                <a:cs typeface="Calibri"/>
              </a:rPr>
              <a:t>time</a:t>
            </a:r>
            <a:r>
              <a:rPr sz="2800" spc="10" dirty="0">
                <a:highlight>
                  <a:srgbClr val="FFFF00"/>
                </a:highlight>
                <a:latin typeface="Calibri"/>
                <a:cs typeface="Calibri"/>
              </a:rPr>
              <a:t> </a:t>
            </a:r>
            <a:r>
              <a:rPr sz="2800" spc="-30" dirty="0">
                <a:highlight>
                  <a:srgbClr val="FFFF00"/>
                </a:highlight>
                <a:latin typeface="Calibri"/>
                <a:cs typeface="Calibri"/>
              </a:rPr>
              <a:t>taken</a:t>
            </a:r>
            <a:r>
              <a:rPr sz="2800" spc="5" dirty="0">
                <a:highlight>
                  <a:srgbClr val="FFFF00"/>
                </a:highlight>
                <a:latin typeface="Calibri"/>
                <a:cs typeface="Calibri"/>
              </a:rPr>
              <a:t> </a:t>
            </a:r>
            <a:r>
              <a:rPr sz="2800" spc="-20" dirty="0">
                <a:highlight>
                  <a:srgbClr val="FFFF00"/>
                </a:highlight>
                <a:latin typeface="Calibri"/>
                <a:cs typeface="Calibri"/>
              </a:rPr>
              <a:t>to</a:t>
            </a:r>
            <a:r>
              <a:rPr sz="2800" dirty="0">
                <a:highlight>
                  <a:srgbClr val="FFFF00"/>
                </a:highlight>
                <a:latin typeface="Calibri"/>
                <a:cs typeface="Calibri"/>
              </a:rPr>
              <a:t> </a:t>
            </a:r>
            <a:r>
              <a:rPr sz="2800" spc="-10" dirty="0">
                <a:highlight>
                  <a:srgbClr val="FFFF00"/>
                </a:highlight>
                <a:latin typeface="Calibri"/>
                <a:cs typeface="Calibri"/>
              </a:rPr>
              <a:t>find</a:t>
            </a:r>
            <a:r>
              <a:rPr sz="2800" spc="20" dirty="0">
                <a:highlight>
                  <a:srgbClr val="FFFF00"/>
                </a:highlight>
                <a:latin typeface="Calibri"/>
                <a:cs typeface="Calibri"/>
              </a:rPr>
              <a:t> </a:t>
            </a:r>
            <a:r>
              <a:rPr sz="2800" spc="-5" dirty="0">
                <a:highlight>
                  <a:srgbClr val="FFFF00"/>
                </a:highlight>
                <a:latin typeface="Calibri"/>
                <a:cs typeface="Calibri"/>
              </a:rPr>
              <a:t>the</a:t>
            </a:r>
            <a:r>
              <a:rPr sz="2800" spc="10" dirty="0">
                <a:highlight>
                  <a:srgbClr val="FFFF00"/>
                </a:highlight>
                <a:latin typeface="Calibri"/>
                <a:cs typeface="Calibri"/>
              </a:rPr>
              <a:t> </a:t>
            </a:r>
            <a:r>
              <a:rPr sz="2800" spc="-15" dirty="0">
                <a:highlight>
                  <a:srgbClr val="FFFF00"/>
                </a:highlight>
                <a:latin typeface="Calibri"/>
                <a:cs typeface="Calibri"/>
              </a:rPr>
              <a:t>appropriate </a:t>
            </a:r>
            <a:r>
              <a:rPr sz="2800" spc="-620" dirty="0">
                <a:highlight>
                  <a:srgbClr val="FFFF00"/>
                </a:highlight>
                <a:latin typeface="Calibri"/>
                <a:cs typeface="Calibri"/>
              </a:rPr>
              <a:t> </a:t>
            </a:r>
            <a:r>
              <a:rPr sz="2800" spc="-5" dirty="0">
                <a:highlight>
                  <a:srgbClr val="FFFF00"/>
                </a:highlight>
                <a:latin typeface="Calibri"/>
                <a:cs typeface="Calibri"/>
              </a:rPr>
              <a:t>space</a:t>
            </a:r>
            <a:r>
              <a:rPr sz="2800" spc="10" dirty="0">
                <a:highlight>
                  <a:srgbClr val="FFFF00"/>
                </a:highlight>
                <a:latin typeface="Calibri"/>
                <a:cs typeface="Calibri"/>
              </a:rPr>
              <a:t> </a:t>
            </a:r>
            <a:r>
              <a:rPr sz="2800" spc="-5" dirty="0">
                <a:highlight>
                  <a:srgbClr val="FFFF00"/>
                </a:highlight>
                <a:latin typeface="Calibri"/>
                <a:cs typeface="Calibri"/>
              </a:rPr>
              <a:t>and</a:t>
            </a:r>
            <a:r>
              <a:rPr sz="2800" spc="15" dirty="0">
                <a:highlight>
                  <a:srgbClr val="FFFF00"/>
                </a:highlight>
                <a:latin typeface="Calibri"/>
                <a:cs typeface="Calibri"/>
              </a:rPr>
              <a:t> </a:t>
            </a:r>
            <a:r>
              <a:rPr sz="2800" spc="-10" dirty="0">
                <a:highlight>
                  <a:srgbClr val="FFFF00"/>
                </a:highlight>
                <a:latin typeface="Calibri"/>
                <a:cs typeface="Calibri"/>
              </a:rPr>
              <a:t>insert</a:t>
            </a:r>
            <a:r>
              <a:rPr sz="2800" spc="25" dirty="0">
                <a:highlight>
                  <a:srgbClr val="FFFF00"/>
                </a:highlight>
                <a:latin typeface="Calibri"/>
                <a:cs typeface="Calibri"/>
              </a:rPr>
              <a:t> </a:t>
            </a:r>
            <a:r>
              <a:rPr sz="2800" spc="-5" dirty="0">
                <a:highlight>
                  <a:srgbClr val="FFFF00"/>
                </a:highlight>
                <a:latin typeface="Calibri"/>
                <a:cs typeface="Calibri"/>
              </a:rPr>
              <a:t>a</a:t>
            </a:r>
            <a:r>
              <a:rPr sz="2800" spc="5" dirty="0">
                <a:highlight>
                  <a:srgbClr val="FFFF00"/>
                </a:highlight>
                <a:latin typeface="Calibri"/>
                <a:cs typeface="Calibri"/>
              </a:rPr>
              <a:t> </a:t>
            </a:r>
            <a:r>
              <a:rPr sz="2800" spc="-10" dirty="0">
                <a:highlight>
                  <a:srgbClr val="FFFF00"/>
                </a:highlight>
                <a:latin typeface="Calibri"/>
                <a:cs typeface="Calibri"/>
              </a:rPr>
              <a:t>new</a:t>
            </a:r>
            <a:r>
              <a:rPr sz="2800" spc="5" dirty="0">
                <a:highlight>
                  <a:srgbClr val="FFFF00"/>
                </a:highlight>
                <a:latin typeface="Calibri"/>
                <a:cs typeface="Calibri"/>
              </a:rPr>
              <a:t> </a:t>
            </a:r>
            <a:r>
              <a:rPr sz="2800" spc="-15" dirty="0">
                <a:highlight>
                  <a:srgbClr val="FFFF00"/>
                </a:highlight>
                <a:latin typeface="Calibri"/>
                <a:cs typeface="Calibri"/>
              </a:rPr>
              <a:t>data.</a:t>
            </a:r>
            <a:endParaRPr sz="2800" dirty="0">
              <a:highlight>
                <a:srgbClr val="FFFF00"/>
              </a:highlight>
              <a:latin typeface="Calibri"/>
              <a:cs typeface="Calibri"/>
            </a:endParaRPr>
          </a:p>
          <a:p>
            <a:pPr marL="241300" marR="154305" indent="-228600">
              <a:lnSpc>
                <a:spcPts val="2690"/>
              </a:lnSpc>
              <a:spcBef>
                <a:spcPts val="975"/>
              </a:spcBef>
              <a:buFont typeface="Arial MT"/>
              <a:buChar char="•"/>
              <a:tabLst>
                <a:tab pos="241300" algn="l"/>
              </a:tabLst>
            </a:pPr>
            <a:r>
              <a:rPr sz="2800" b="1" spc="-10" dirty="0">
                <a:highlight>
                  <a:srgbClr val="FFFF00"/>
                </a:highlight>
                <a:latin typeface="Calibri"/>
                <a:cs typeface="Calibri"/>
              </a:rPr>
              <a:t>Deletion</a:t>
            </a:r>
            <a:r>
              <a:rPr sz="2800" b="1" spc="40" dirty="0">
                <a:highlight>
                  <a:srgbClr val="FFFF00"/>
                </a:highlight>
                <a:latin typeface="Calibri"/>
                <a:cs typeface="Calibri"/>
              </a:rPr>
              <a:t> </a:t>
            </a:r>
            <a:r>
              <a:rPr sz="2800" b="1" spc="-10" dirty="0">
                <a:highlight>
                  <a:srgbClr val="FFFF00"/>
                </a:highlight>
                <a:latin typeface="Calibri"/>
                <a:cs typeface="Calibri"/>
              </a:rPr>
              <a:t>Time</a:t>
            </a:r>
            <a:r>
              <a:rPr sz="2800" spc="-10" dirty="0">
                <a:highlight>
                  <a:srgbClr val="FFFF00"/>
                </a:highlight>
                <a:latin typeface="Calibri"/>
                <a:cs typeface="Calibri"/>
              </a:rPr>
              <a:t>:</a:t>
            </a:r>
            <a:r>
              <a:rPr sz="2800" spc="25" dirty="0">
                <a:highlight>
                  <a:srgbClr val="FFFF00"/>
                </a:highlight>
                <a:latin typeface="Calibri"/>
                <a:cs typeface="Calibri"/>
              </a:rPr>
              <a:t> </a:t>
            </a:r>
            <a:r>
              <a:rPr sz="2800" spc="-10" dirty="0">
                <a:highlight>
                  <a:srgbClr val="FFFF00"/>
                </a:highlight>
                <a:latin typeface="Calibri"/>
                <a:cs typeface="Calibri"/>
              </a:rPr>
              <a:t>Time </a:t>
            </a:r>
            <a:r>
              <a:rPr sz="2800" spc="-30" dirty="0">
                <a:highlight>
                  <a:srgbClr val="FFFF00"/>
                </a:highlight>
                <a:latin typeface="Calibri"/>
                <a:cs typeface="Calibri"/>
              </a:rPr>
              <a:t>taken</a:t>
            </a:r>
            <a:r>
              <a:rPr sz="2800" spc="5" dirty="0">
                <a:highlight>
                  <a:srgbClr val="FFFF00"/>
                </a:highlight>
                <a:latin typeface="Calibri"/>
                <a:cs typeface="Calibri"/>
              </a:rPr>
              <a:t> </a:t>
            </a:r>
            <a:r>
              <a:rPr sz="2800" spc="-20" dirty="0">
                <a:highlight>
                  <a:srgbClr val="FFFF00"/>
                </a:highlight>
                <a:latin typeface="Calibri"/>
                <a:cs typeface="Calibri"/>
              </a:rPr>
              <a:t>to</a:t>
            </a:r>
            <a:r>
              <a:rPr sz="2800" dirty="0">
                <a:highlight>
                  <a:srgbClr val="FFFF00"/>
                </a:highlight>
                <a:latin typeface="Calibri"/>
                <a:cs typeface="Calibri"/>
              </a:rPr>
              <a:t> </a:t>
            </a:r>
            <a:r>
              <a:rPr sz="2800" spc="-10" dirty="0">
                <a:highlight>
                  <a:srgbClr val="FFFF00"/>
                </a:highlight>
                <a:latin typeface="Calibri"/>
                <a:cs typeface="Calibri"/>
              </a:rPr>
              <a:t>find</a:t>
            </a:r>
            <a:r>
              <a:rPr sz="2800" spc="15" dirty="0">
                <a:highlight>
                  <a:srgbClr val="FFFF00"/>
                </a:highlight>
                <a:latin typeface="Calibri"/>
                <a:cs typeface="Calibri"/>
              </a:rPr>
              <a:t> </a:t>
            </a:r>
            <a:r>
              <a:rPr sz="2800" spc="-5" dirty="0">
                <a:highlight>
                  <a:srgbClr val="FFFF00"/>
                </a:highlight>
                <a:latin typeface="Calibri"/>
                <a:cs typeface="Calibri"/>
              </a:rPr>
              <a:t>an</a:t>
            </a:r>
            <a:r>
              <a:rPr sz="2800" spc="10" dirty="0">
                <a:highlight>
                  <a:srgbClr val="FFFF00"/>
                </a:highlight>
                <a:latin typeface="Calibri"/>
                <a:cs typeface="Calibri"/>
              </a:rPr>
              <a:t> </a:t>
            </a:r>
            <a:r>
              <a:rPr sz="2800" spc="-10" dirty="0">
                <a:highlight>
                  <a:srgbClr val="FFFF00"/>
                </a:highlight>
                <a:latin typeface="Calibri"/>
                <a:cs typeface="Calibri"/>
              </a:rPr>
              <a:t>item</a:t>
            </a:r>
            <a:r>
              <a:rPr sz="2800" spc="5" dirty="0">
                <a:highlight>
                  <a:srgbClr val="FFFF00"/>
                </a:highlight>
                <a:latin typeface="Calibri"/>
                <a:cs typeface="Calibri"/>
              </a:rPr>
              <a:t> </a:t>
            </a:r>
            <a:r>
              <a:rPr sz="2800" spc="-5" dirty="0">
                <a:highlight>
                  <a:srgbClr val="FFFF00"/>
                </a:highlight>
                <a:latin typeface="Calibri"/>
                <a:cs typeface="Calibri"/>
              </a:rPr>
              <a:t>and</a:t>
            </a:r>
            <a:r>
              <a:rPr sz="2800" spc="15" dirty="0">
                <a:highlight>
                  <a:srgbClr val="FFFF00"/>
                </a:highlight>
                <a:latin typeface="Calibri"/>
                <a:cs typeface="Calibri"/>
              </a:rPr>
              <a:t> </a:t>
            </a:r>
            <a:r>
              <a:rPr sz="2800" spc="-15" dirty="0">
                <a:highlight>
                  <a:srgbClr val="FFFF00"/>
                </a:highlight>
                <a:latin typeface="Calibri"/>
                <a:cs typeface="Calibri"/>
              </a:rPr>
              <a:t>delete</a:t>
            </a:r>
            <a:r>
              <a:rPr sz="2800" dirty="0">
                <a:highlight>
                  <a:srgbClr val="FFFF00"/>
                </a:highlight>
                <a:latin typeface="Calibri"/>
                <a:cs typeface="Calibri"/>
              </a:rPr>
              <a:t> </a:t>
            </a:r>
            <a:r>
              <a:rPr sz="2800" spc="-5" dirty="0">
                <a:highlight>
                  <a:srgbClr val="FFFF00"/>
                </a:highlight>
                <a:latin typeface="Calibri"/>
                <a:cs typeface="Calibri"/>
              </a:rPr>
              <a:t>it</a:t>
            </a:r>
            <a:r>
              <a:rPr sz="2800" spc="5" dirty="0">
                <a:highlight>
                  <a:srgbClr val="FFFF00"/>
                </a:highlight>
                <a:latin typeface="Calibri"/>
                <a:cs typeface="Calibri"/>
              </a:rPr>
              <a:t> </a:t>
            </a:r>
            <a:r>
              <a:rPr sz="2800" spc="-5" dirty="0">
                <a:highlight>
                  <a:srgbClr val="FFFF00"/>
                </a:highlight>
                <a:latin typeface="Calibri"/>
                <a:cs typeface="Calibri"/>
              </a:rPr>
              <a:t>as</a:t>
            </a:r>
            <a:r>
              <a:rPr sz="2800" dirty="0">
                <a:highlight>
                  <a:srgbClr val="FFFF00"/>
                </a:highlight>
                <a:latin typeface="Calibri"/>
                <a:cs typeface="Calibri"/>
              </a:rPr>
              <a:t> </a:t>
            </a:r>
            <a:r>
              <a:rPr sz="2800" spc="-10" dirty="0">
                <a:highlight>
                  <a:srgbClr val="FFFF00"/>
                </a:highlight>
                <a:latin typeface="Calibri"/>
                <a:cs typeface="Calibri"/>
              </a:rPr>
              <a:t>well</a:t>
            </a:r>
            <a:r>
              <a:rPr sz="2800" spc="-15" dirty="0">
                <a:highlight>
                  <a:srgbClr val="FFFF00"/>
                </a:highlight>
                <a:latin typeface="Calibri"/>
                <a:cs typeface="Calibri"/>
              </a:rPr>
              <a:t> </a:t>
            </a:r>
            <a:r>
              <a:rPr sz="2800" dirty="0">
                <a:highlight>
                  <a:srgbClr val="FFFF00"/>
                </a:highlight>
                <a:latin typeface="Calibri"/>
                <a:cs typeface="Calibri"/>
              </a:rPr>
              <a:t>as </a:t>
            </a:r>
            <a:r>
              <a:rPr sz="2800" spc="-615" dirty="0">
                <a:highlight>
                  <a:srgbClr val="FFFF00"/>
                </a:highlight>
                <a:latin typeface="Calibri"/>
                <a:cs typeface="Calibri"/>
              </a:rPr>
              <a:t> </a:t>
            </a:r>
            <a:r>
              <a:rPr sz="2800" spc="-15" dirty="0">
                <a:highlight>
                  <a:srgbClr val="FFFF00"/>
                </a:highlight>
                <a:latin typeface="Calibri"/>
                <a:cs typeface="Calibri"/>
              </a:rPr>
              <a:t>update</a:t>
            </a:r>
            <a:r>
              <a:rPr sz="2800" spc="10" dirty="0">
                <a:highlight>
                  <a:srgbClr val="FFFF00"/>
                </a:highlight>
                <a:latin typeface="Calibri"/>
                <a:cs typeface="Calibri"/>
              </a:rPr>
              <a:t> </a:t>
            </a:r>
            <a:r>
              <a:rPr sz="2800" spc="-5" dirty="0">
                <a:highlight>
                  <a:srgbClr val="FFFF00"/>
                </a:highlight>
                <a:latin typeface="Calibri"/>
                <a:cs typeface="Calibri"/>
              </a:rPr>
              <a:t>the</a:t>
            </a:r>
            <a:r>
              <a:rPr sz="2800" spc="15" dirty="0">
                <a:highlight>
                  <a:srgbClr val="FFFF00"/>
                </a:highlight>
                <a:latin typeface="Calibri"/>
                <a:cs typeface="Calibri"/>
              </a:rPr>
              <a:t> </a:t>
            </a:r>
            <a:r>
              <a:rPr sz="2800" spc="-15" dirty="0">
                <a:highlight>
                  <a:srgbClr val="FFFF00"/>
                </a:highlight>
                <a:latin typeface="Calibri"/>
                <a:cs typeface="Calibri"/>
              </a:rPr>
              <a:t>index</a:t>
            </a:r>
            <a:r>
              <a:rPr sz="2800" spc="25" dirty="0">
                <a:highlight>
                  <a:srgbClr val="FFFF00"/>
                </a:highlight>
                <a:latin typeface="Calibri"/>
                <a:cs typeface="Calibri"/>
              </a:rPr>
              <a:t> </a:t>
            </a:r>
            <a:r>
              <a:rPr sz="2800" spc="-10" dirty="0">
                <a:highlight>
                  <a:srgbClr val="FFFF00"/>
                </a:highlight>
                <a:latin typeface="Calibri"/>
                <a:cs typeface="Calibri"/>
              </a:rPr>
              <a:t>structure.</a:t>
            </a:r>
            <a:endParaRPr sz="2800" dirty="0">
              <a:highlight>
                <a:srgbClr val="FFFF00"/>
              </a:highlight>
              <a:latin typeface="Calibri"/>
              <a:cs typeface="Calibri"/>
            </a:endParaRPr>
          </a:p>
          <a:p>
            <a:pPr marL="241300" marR="177800" indent="-228600">
              <a:lnSpc>
                <a:spcPts val="2690"/>
              </a:lnSpc>
              <a:spcBef>
                <a:spcPts val="990"/>
              </a:spcBef>
              <a:buFont typeface="Arial MT"/>
              <a:buChar char="•"/>
              <a:tabLst>
                <a:tab pos="241300" algn="l"/>
              </a:tabLst>
            </a:pPr>
            <a:r>
              <a:rPr sz="2800" b="1" spc="-5" dirty="0">
                <a:highlight>
                  <a:srgbClr val="FFFF00"/>
                </a:highlight>
                <a:latin typeface="Calibri"/>
                <a:cs typeface="Calibri"/>
              </a:rPr>
              <a:t>Space</a:t>
            </a:r>
            <a:r>
              <a:rPr sz="2800" b="1" spc="20" dirty="0">
                <a:highlight>
                  <a:srgbClr val="FFFF00"/>
                </a:highlight>
                <a:latin typeface="Calibri"/>
                <a:cs typeface="Calibri"/>
              </a:rPr>
              <a:t> </a:t>
            </a:r>
            <a:r>
              <a:rPr sz="2800" b="1" spc="-10" dirty="0">
                <a:highlight>
                  <a:srgbClr val="FFFF00"/>
                </a:highlight>
                <a:latin typeface="Calibri"/>
                <a:cs typeface="Calibri"/>
              </a:rPr>
              <a:t>Overhead</a:t>
            </a:r>
            <a:r>
              <a:rPr sz="2800" spc="-10" dirty="0">
                <a:highlight>
                  <a:srgbClr val="FFFF00"/>
                </a:highlight>
                <a:latin typeface="Calibri"/>
                <a:cs typeface="Calibri"/>
              </a:rPr>
              <a:t>:</a:t>
            </a:r>
            <a:r>
              <a:rPr sz="2800" spc="20" dirty="0">
                <a:highlight>
                  <a:srgbClr val="FFFF00"/>
                </a:highlight>
                <a:latin typeface="Calibri"/>
                <a:cs typeface="Calibri"/>
              </a:rPr>
              <a:t> </a:t>
            </a:r>
            <a:r>
              <a:rPr sz="2800" spc="-5" dirty="0">
                <a:highlight>
                  <a:srgbClr val="FFFF00"/>
                </a:highlight>
                <a:latin typeface="Calibri"/>
                <a:cs typeface="Calibri"/>
              </a:rPr>
              <a:t>It</a:t>
            </a:r>
            <a:r>
              <a:rPr sz="2800" dirty="0">
                <a:highlight>
                  <a:srgbClr val="FFFF00"/>
                </a:highlight>
                <a:latin typeface="Calibri"/>
                <a:cs typeface="Calibri"/>
              </a:rPr>
              <a:t> </a:t>
            </a:r>
            <a:r>
              <a:rPr sz="2800" spc="-35" dirty="0">
                <a:highlight>
                  <a:srgbClr val="FFFF00"/>
                </a:highlight>
                <a:latin typeface="Calibri"/>
                <a:cs typeface="Calibri"/>
              </a:rPr>
              <a:t>refers</a:t>
            </a:r>
            <a:r>
              <a:rPr sz="2800" spc="-5" dirty="0">
                <a:highlight>
                  <a:srgbClr val="FFFF00"/>
                </a:highlight>
                <a:latin typeface="Calibri"/>
                <a:cs typeface="Calibri"/>
              </a:rPr>
              <a:t> </a:t>
            </a:r>
            <a:r>
              <a:rPr sz="2800" spc="-15" dirty="0">
                <a:highlight>
                  <a:srgbClr val="FFFF00"/>
                </a:highlight>
                <a:latin typeface="Calibri"/>
                <a:cs typeface="Calibri"/>
              </a:rPr>
              <a:t>to</a:t>
            </a:r>
            <a:r>
              <a:rPr sz="2800" spc="-5" dirty="0">
                <a:highlight>
                  <a:srgbClr val="FFFF00"/>
                </a:highlight>
                <a:latin typeface="Calibri"/>
                <a:cs typeface="Calibri"/>
              </a:rPr>
              <a:t> the</a:t>
            </a:r>
            <a:r>
              <a:rPr sz="2800" spc="15" dirty="0">
                <a:highlight>
                  <a:srgbClr val="FFFF00"/>
                </a:highlight>
                <a:latin typeface="Calibri"/>
                <a:cs typeface="Calibri"/>
              </a:rPr>
              <a:t> </a:t>
            </a:r>
            <a:r>
              <a:rPr sz="2800" spc="-5" dirty="0">
                <a:highlight>
                  <a:srgbClr val="FFFF00"/>
                </a:highlight>
                <a:latin typeface="Calibri"/>
                <a:cs typeface="Calibri"/>
              </a:rPr>
              <a:t>additional</a:t>
            </a:r>
            <a:r>
              <a:rPr sz="2800" spc="20" dirty="0">
                <a:highlight>
                  <a:srgbClr val="FFFF00"/>
                </a:highlight>
                <a:latin typeface="Calibri"/>
                <a:cs typeface="Calibri"/>
              </a:rPr>
              <a:t> </a:t>
            </a:r>
            <a:r>
              <a:rPr sz="2800" spc="-10" dirty="0">
                <a:highlight>
                  <a:srgbClr val="FFFF00"/>
                </a:highlight>
                <a:latin typeface="Calibri"/>
                <a:cs typeface="Calibri"/>
              </a:rPr>
              <a:t>space</a:t>
            </a:r>
            <a:r>
              <a:rPr sz="2800" spc="15" dirty="0">
                <a:highlight>
                  <a:srgbClr val="FFFF00"/>
                </a:highlight>
                <a:latin typeface="Calibri"/>
                <a:cs typeface="Calibri"/>
              </a:rPr>
              <a:t> </a:t>
            </a:r>
            <a:r>
              <a:rPr sz="2800" spc="-15" dirty="0">
                <a:highlight>
                  <a:srgbClr val="FFFF00"/>
                </a:highlight>
                <a:latin typeface="Calibri"/>
                <a:cs typeface="Calibri"/>
              </a:rPr>
              <a:t>required</a:t>
            </a:r>
            <a:r>
              <a:rPr sz="2800" spc="35" dirty="0">
                <a:highlight>
                  <a:srgbClr val="FFFF00"/>
                </a:highlight>
                <a:latin typeface="Calibri"/>
                <a:cs typeface="Calibri"/>
              </a:rPr>
              <a:t> </a:t>
            </a:r>
            <a:r>
              <a:rPr sz="2800" spc="-15" dirty="0">
                <a:highlight>
                  <a:srgbClr val="FFFF00"/>
                </a:highlight>
                <a:latin typeface="Calibri"/>
                <a:cs typeface="Calibri"/>
              </a:rPr>
              <a:t>by</a:t>
            </a:r>
            <a:r>
              <a:rPr sz="2800" spc="5" dirty="0">
                <a:highlight>
                  <a:srgbClr val="FFFF00"/>
                </a:highlight>
                <a:latin typeface="Calibri"/>
                <a:cs typeface="Calibri"/>
              </a:rPr>
              <a:t> </a:t>
            </a:r>
            <a:r>
              <a:rPr sz="2800" spc="-5" dirty="0">
                <a:highlight>
                  <a:srgbClr val="FFFF00"/>
                </a:highlight>
                <a:latin typeface="Calibri"/>
                <a:cs typeface="Calibri"/>
              </a:rPr>
              <a:t>the </a:t>
            </a:r>
            <a:r>
              <a:rPr sz="2800" spc="-620" dirty="0">
                <a:highlight>
                  <a:srgbClr val="FFFF00"/>
                </a:highlight>
                <a:latin typeface="Calibri"/>
                <a:cs typeface="Calibri"/>
              </a:rPr>
              <a:t> </a:t>
            </a:r>
            <a:r>
              <a:rPr sz="2800" spc="-15" dirty="0">
                <a:highlight>
                  <a:srgbClr val="FFFF00"/>
                </a:highlight>
                <a:latin typeface="Calibri"/>
                <a:cs typeface="Calibri"/>
              </a:rPr>
              <a:t>index.</a:t>
            </a:r>
            <a:endParaRPr sz="2800" dirty="0">
              <a:highlight>
                <a:srgbClr val="FFFF00"/>
              </a:highlight>
              <a:latin typeface="Calibri"/>
              <a:cs typeface="Calibri"/>
            </a:endParaRPr>
          </a:p>
        </p:txBody>
      </p:sp>
    </p:spTree>
    <p:extLst>
      <p:ext uri="{BB962C8B-B14F-4D97-AF65-F5344CB8AC3E}">
        <p14:creationId xmlns:p14="http://schemas.microsoft.com/office/powerpoint/2010/main" val="2520891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Ordered indices</a:t>
            </a:r>
            <a:endParaRPr lang="en-IN" dirty="0"/>
          </a:p>
        </p:txBody>
      </p:sp>
      <p:sp>
        <p:nvSpPr>
          <p:cNvPr id="5" name="Content Placeholder 4"/>
          <p:cNvSpPr>
            <a:spLocks noGrp="1"/>
          </p:cNvSpPr>
          <p:nvPr>
            <p:ph idx="1"/>
          </p:nvPr>
        </p:nvSpPr>
        <p:spPr/>
        <p:txBody>
          <a:bodyPr>
            <a:normAutofit lnSpcReduction="10000"/>
          </a:bodyPr>
          <a:lstStyle/>
          <a:p>
            <a:pPr marL="285750" lvl="0" indent="-285750">
              <a:buFont typeface="Arial" panose="020B0604020202020204" pitchFamily="34" charset="0"/>
              <a:buChar char="•"/>
            </a:pPr>
            <a:r>
              <a:rPr lang="en-US" sz="2400" dirty="0"/>
              <a:t>Ordered index similar to index in a textbook</a:t>
            </a:r>
          </a:p>
          <a:p>
            <a:pPr marL="285750" lvl="0" indent="-285750">
              <a:buFont typeface="Arial" panose="020B0604020202020204" pitchFamily="34" charset="0"/>
              <a:buChar char="•"/>
            </a:pPr>
            <a:endParaRPr lang="en-US" sz="2400" dirty="0"/>
          </a:p>
          <a:p>
            <a:pPr marL="285750" lvl="0" indent="-285750">
              <a:buFont typeface="Arial" panose="020B0604020202020204" pitchFamily="34" charset="0"/>
              <a:buChar char="•"/>
            </a:pPr>
            <a:r>
              <a:rPr lang="en-US" sz="2400" dirty="0"/>
              <a:t>An index access structure is usually defined on a single field of a file, called an indexing field (or indexing attribute).</a:t>
            </a:r>
          </a:p>
          <a:p>
            <a:pPr marL="285750" lvl="0" indent="-285750">
              <a:buFont typeface="Arial" panose="020B0604020202020204" pitchFamily="34" charset="0"/>
              <a:buChar char="•"/>
            </a:pPr>
            <a:endParaRPr lang="en-US" sz="2400" dirty="0"/>
          </a:p>
          <a:p>
            <a:pPr marL="285750" lvl="0" indent="-285750">
              <a:buFont typeface="Arial" panose="020B0604020202020204" pitchFamily="34" charset="0"/>
              <a:buChar char="•"/>
            </a:pPr>
            <a:r>
              <a:rPr lang="en-US" sz="2400" dirty="0">
                <a:highlight>
                  <a:srgbClr val="FFFF00"/>
                </a:highlight>
              </a:rPr>
              <a:t>The index typically stores each value of the index field along with a list of pointers to all disk blocks that contain records with that field value.</a:t>
            </a:r>
          </a:p>
          <a:p>
            <a:pPr marL="285750" lvl="0" indent="-285750">
              <a:buFont typeface="Arial" panose="020B0604020202020204" pitchFamily="34" charset="0"/>
              <a:buChar char="•"/>
            </a:pPr>
            <a:endParaRPr lang="en-US" sz="2400" dirty="0">
              <a:highlight>
                <a:srgbClr val="FFFF00"/>
              </a:highlight>
            </a:endParaRPr>
          </a:p>
          <a:p>
            <a:pPr marL="285750" lvl="0" indent="-285750">
              <a:buFont typeface="Arial" panose="020B0604020202020204" pitchFamily="34" charset="0"/>
              <a:buChar char="•"/>
            </a:pPr>
            <a:r>
              <a:rPr lang="en-US" sz="2400" dirty="0">
                <a:highlight>
                  <a:srgbClr val="FFFF00"/>
                </a:highlight>
              </a:rPr>
              <a:t>There are several types of indexes.</a:t>
            </a:r>
          </a:p>
          <a:p>
            <a:pPr marL="742950" lvl="1" indent="-285750">
              <a:buFont typeface="Arial" panose="020B0604020202020204" pitchFamily="34" charset="0"/>
              <a:buChar char="•"/>
            </a:pPr>
            <a:r>
              <a:rPr lang="en-US" sz="2400" dirty="0">
                <a:highlight>
                  <a:srgbClr val="FFFF00"/>
                </a:highlight>
              </a:rPr>
              <a:t>Primary Index</a:t>
            </a:r>
          </a:p>
          <a:p>
            <a:pPr marL="742950" lvl="1" indent="-285750">
              <a:buFont typeface="Arial" panose="020B0604020202020204" pitchFamily="34" charset="0"/>
              <a:buChar char="•"/>
            </a:pPr>
            <a:r>
              <a:rPr lang="en-US" sz="2400" dirty="0">
                <a:highlight>
                  <a:srgbClr val="FFFF00"/>
                </a:highlight>
              </a:rPr>
              <a:t>Clustering Index</a:t>
            </a:r>
          </a:p>
          <a:p>
            <a:pPr marL="742950" lvl="1" indent="-285750">
              <a:buFont typeface="Arial" panose="020B0604020202020204" pitchFamily="34" charset="0"/>
              <a:buChar char="•"/>
            </a:pPr>
            <a:r>
              <a:rPr lang="en-US" sz="2400" dirty="0">
                <a:highlight>
                  <a:srgbClr val="FFFF00"/>
                </a:highlight>
              </a:rPr>
              <a:t>Secondary Index</a:t>
            </a:r>
          </a:p>
          <a:p>
            <a:pPr lvl="0"/>
            <a:endParaRPr lang="en-US" dirty="0"/>
          </a:p>
        </p:txBody>
      </p:sp>
    </p:spTree>
    <p:extLst>
      <p:ext uri="{BB962C8B-B14F-4D97-AF65-F5344CB8AC3E}">
        <p14:creationId xmlns:p14="http://schemas.microsoft.com/office/powerpoint/2010/main" val="2822095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fontScale="92500"/>
          </a:bodyPr>
          <a:lstStyle/>
          <a:p>
            <a:r>
              <a:rPr lang="en-US" b="1" dirty="0">
                <a:highlight>
                  <a:srgbClr val="FFFF00"/>
                </a:highlight>
              </a:rPr>
              <a:t>A primary index </a:t>
            </a:r>
            <a:r>
              <a:rPr lang="en-US" dirty="0">
                <a:highlight>
                  <a:srgbClr val="FFFF00"/>
                </a:highlight>
              </a:rPr>
              <a:t>is specified on the ordering key field of an ordered file of records.</a:t>
            </a:r>
          </a:p>
          <a:p>
            <a:r>
              <a:rPr lang="en-US" dirty="0"/>
              <a:t>An ordering key field is used to physically order the file records on disk, and every record has a unique value for that field. </a:t>
            </a:r>
          </a:p>
          <a:p>
            <a:endParaRPr lang="en-US" dirty="0"/>
          </a:p>
          <a:p>
            <a:r>
              <a:rPr lang="en-US" dirty="0">
                <a:highlight>
                  <a:srgbClr val="FFFF00"/>
                </a:highlight>
              </a:rPr>
              <a:t>If the ordering field is not a key field—that is, if numerous records in the file can have the same value for the ordering field— another type of index, called a clustering index, can be used. </a:t>
            </a:r>
          </a:p>
          <a:p>
            <a:r>
              <a:rPr lang="en-US" dirty="0">
                <a:highlight>
                  <a:srgbClr val="FFFF00"/>
                </a:highlight>
              </a:rPr>
              <a:t>The data file is called </a:t>
            </a:r>
            <a:r>
              <a:rPr lang="en-US" b="1" dirty="0">
                <a:highlight>
                  <a:srgbClr val="FFFF00"/>
                </a:highlight>
              </a:rPr>
              <a:t>a clustered file</a:t>
            </a:r>
            <a:r>
              <a:rPr lang="en-US" dirty="0">
                <a:highlight>
                  <a:srgbClr val="FFFF00"/>
                </a:highlight>
              </a:rPr>
              <a:t> in this latter case. Notice that a file can have at most one physical ordering field, so it can have at most one primary index or one clustering index, but not both. </a:t>
            </a:r>
          </a:p>
          <a:p>
            <a:endParaRPr lang="en-US" dirty="0"/>
          </a:p>
          <a:p>
            <a:r>
              <a:rPr lang="en-US" dirty="0">
                <a:highlight>
                  <a:srgbClr val="FFFF00"/>
                </a:highlight>
              </a:rPr>
              <a:t>A third type of index, called </a:t>
            </a:r>
            <a:r>
              <a:rPr lang="en-US" b="1" dirty="0">
                <a:highlight>
                  <a:srgbClr val="FFFF00"/>
                </a:highlight>
              </a:rPr>
              <a:t>a secondary index</a:t>
            </a:r>
            <a:r>
              <a:rPr lang="en-US" dirty="0">
                <a:highlight>
                  <a:srgbClr val="FFFF00"/>
                </a:highlight>
              </a:rPr>
              <a:t>, can be specified on any nonordering field of a file. </a:t>
            </a:r>
          </a:p>
          <a:p>
            <a:r>
              <a:rPr lang="en-US" dirty="0"/>
              <a:t>A data file can have several secondary indexes in addition to its primary access method. </a:t>
            </a:r>
            <a:endParaRPr lang="en-IN" dirty="0"/>
          </a:p>
        </p:txBody>
      </p:sp>
    </p:spTree>
    <p:extLst>
      <p:ext uri="{BB962C8B-B14F-4D97-AF65-F5344CB8AC3E}">
        <p14:creationId xmlns:p14="http://schemas.microsoft.com/office/powerpoint/2010/main" val="4088275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4" y="273558"/>
            <a:ext cx="12188825" cy="0"/>
          </a:xfrm>
          <a:custGeom>
            <a:avLst/>
            <a:gdLst/>
            <a:ahLst/>
            <a:cxnLst/>
            <a:rect l="l" t="t" r="r" b="b"/>
            <a:pathLst>
              <a:path w="12188825">
                <a:moveTo>
                  <a:pt x="0" y="0"/>
                </a:moveTo>
                <a:lnTo>
                  <a:pt x="12188825" y="0"/>
                </a:lnTo>
              </a:path>
            </a:pathLst>
          </a:custGeom>
          <a:ln w="50292">
            <a:solidFill>
              <a:srgbClr val="404040"/>
            </a:solidFill>
          </a:ln>
        </p:spPr>
        <p:txBody>
          <a:bodyPr wrap="square" lIns="0" tIns="0" rIns="0" bIns="0" rtlCol="0"/>
          <a:lstStyle/>
          <a:p>
            <a:endParaRPr/>
          </a:p>
        </p:txBody>
      </p:sp>
      <p:sp>
        <p:nvSpPr>
          <p:cNvPr id="3" name="object 3"/>
          <p:cNvSpPr/>
          <p:nvPr/>
        </p:nvSpPr>
        <p:spPr>
          <a:xfrm>
            <a:off x="0" y="368812"/>
            <a:ext cx="12192000" cy="1736089"/>
          </a:xfrm>
          <a:custGeom>
            <a:avLst/>
            <a:gdLst/>
            <a:ahLst/>
            <a:cxnLst/>
            <a:rect l="l" t="t" r="r" b="b"/>
            <a:pathLst>
              <a:path w="12192000" h="1736089">
                <a:moveTo>
                  <a:pt x="12192000" y="0"/>
                </a:moveTo>
                <a:lnTo>
                  <a:pt x="0" y="0"/>
                </a:lnTo>
                <a:lnTo>
                  <a:pt x="0" y="1735836"/>
                </a:lnTo>
                <a:lnTo>
                  <a:pt x="12192000" y="1735836"/>
                </a:lnTo>
                <a:lnTo>
                  <a:pt x="12192000" y="0"/>
                </a:lnTo>
                <a:close/>
              </a:path>
            </a:pathLst>
          </a:custGeom>
          <a:solidFill>
            <a:srgbClr val="404040"/>
          </a:solidFill>
        </p:spPr>
        <p:txBody>
          <a:bodyPr wrap="square" lIns="0" tIns="0" rIns="0" bIns="0" rtlCol="0"/>
          <a:lstStyle/>
          <a:p>
            <a:endParaRPr/>
          </a:p>
        </p:txBody>
      </p:sp>
      <p:sp>
        <p:nvSpPr>
          <p:cNvPr id="4" name="object 4"/>
          <p:cNvSpPr txBox="1">
            <a:spLocks noGrp="1"/>
          </p:cNvSpPr>
          <p:nvPr>
            <p:ph type="title"/>
          </p:nvPr>
        </p:nvSpPr>
        <p:spPr>
          <a:xfrm>
            <a:off x="609600" y="485783"/>
            <a:ext cx="10160000" cy="720710"/>
          </a:xfrm>
          <a:prstGeom prst="rect">
            <a:avLst/>
          </a:prstGeom>
        </p:spPr>
        <p:txBody>
          <a:bodyPr vert="horz" wrap="square" lIns="0" tIns="12700" rIns="0" bIns="0" rtlCol="0">
            <a:spAutoFit/>
          </a:bodyPr>
          <a:lstStyle/>
          <a:p>
            <a:pPr marL="13335">
              <a:lnSpc>
                <a:spcPct val="100000"/>
              </a:lnSpc>
              <a:spcBef>
                <a:spcPts val="100"/>
              </a:spcBef>
            </a:pPr>
            <a:r>
              <a:rPr spc="-60" dirty="0"/>
              <a:t>Types</a:t>
            </a:r>
            <a:r>
              <a:rPr spc="-55" dirty="0"/>
              <a:t> </a:t>
            </a:r>
            <a:r>
              <a:rPr spc="-5" dirty="0"/>
              <a:t>of</a:t>
            </a:r>
            <a:r>
              <a:rPr spc="-40" dirty="0"/>
              <a:t> </a:t>
            </a:r>
            <a:r>
              <a:rPr spc="-5" dirty="0"/>
              <a:t>indices</a:t>
            </a:r>
          </a:p>
        </p:txBody>
      </p:sp>
      <p:sp>
        <p:nvSpPr>
          <p:cNvPr id="5" name="object 5"/>
          <p:cNvSpPr/>
          <p:nvPr/>
        </p:nvSpPr>
        <p:spPr>
          <a:xfrm>
            <a:off x="4725161" y="1480566"/>
            <a:ext cx="2743200" cy="0"/>
          </a:xfrm>
          <a:custGeom>
            <a:avLst/>
            <a:gdLst/>
            <a:ahLst/>
            <a:cxnLst/>
            <a:rect l="l" t="t" r="r" b="b"/>
            <a:pathLst>
              <a:path w="2743200">
                <a:moveTo>
                  <a:pt x="0" y="0"/>
                </a:moveTo>
                <a:lnTo>
                  <a:pt x="2743199" y="0"/>
                </a:lnTo>
              </a:path>
            </a:pathLst>
          </a:custGeom>
          <a:ln w="19812">
            <a:solidFill>
              <a:srgbClr val="FFFFFF"/>
            </a:solidFill>
          </a:ln>
        </p:spPr>
        <p:txBody>
          <a:bodyPr wrap="square" lIns="0" tIns="0" rIns="0" bIns="0" rtlCol="0"/>
          <a:lstStyle/>
          <a:p>
            <a:endParaRPr/>
          </a:p>
        </p:txBody>
      </p:sp>
      <p:sp>
        <p:nvSpPr>
          <p:cNvPr id="6" name="object 6"/>
          <p:cNvSpPr/>
          <p:nvPr/>
        </p:nvSpPr>
        <p:spPr>
          <a:xfrm>
            <a:off x="764" y="2201417"/>
            <a:ext cx="12188825" cy="0"/>
          </a:xfrm>
          <a:custGeom>
            <a:avLst/>
            <a:gdLst/>
            <a:ahLst/>
            <a:cxnLst/>
            <a:rect l="l" t="t" r="r" b="b"/>
            <a:pathLst>
              <a:path w="12188825">
                <a:moveTo>
                  <a:pt x="0" y="0"/>
                </a:moveTo>
                <a:lnTo>
                  <a:pt x="12188825" y="0"/>
                </a:lnTo>
              </a:path>
            </a:pathLst>
          </a:custGeom>
          <a:ln w="50292">
            <a:solidFill>
              <a:srgbClr val="404040"/>
            </a:solidFill>
          </a:ln>
        </p:spPr>
        <p:txBody>
          <a:bodyPr wrap="square" lIns="0" tIns="0" rIns="0" bIns="0" rtlCol="0"/>
          <a:lstStyle/>
          <a:p>
            <a:endParaRPr/>
          </a:p>
        </p:txBody>
      </p:sp>
      <p:pic>
        <p:nvPicPr>
          <p:cNvPr id="8" name="object 8"/>
          <p:cNvPicPr/>
          <p:nvPr/>
        </p:nvPicPr>
        <p:blipFill>
          <a:blip r:embed="rId2" cstate="print"/>
          <a:stretch>
            <a:fillRect/>
          </a:stretch>
        </p:blipFill>
        <p:spPr>
          <a:xfrm>
            <a:off x="6629400" y="3505200"/>
            <a:ext cx="4383023" cy="2635780"/>
          </a:xfrm>
          <a:prstGeom prst="rect">
            <a:avLst/>
          </a:prstGeom>
        </p:spPr>
      </p:pic>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973" y="2514600"/>
            <a:ext cx="6071427" cy="2232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58279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heel(1)">
                                      <p:cBhvr>
                                        <p:cTn id="13"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idx="1"/>
          </p:nvPr>
        </p:nvSpPr>
        <p:spPr>
          <a:xfrm>
            <a:off x="916939" y="1730095"/>
            <a:ext cx="10358120" cy="1236236"/>
          </a:xfrm>
        </p:spPr>
        <p:txBody>
          <a:bodyPr>
            <a:normAutofit/>
          </a:bodyPr>
          <a:lstStyle/>
          <a:p>
            <a:pPr marL="342900" lvl="0" indent="-342900" algn="l" rtl="0">
              <a:spcBef>
                <a:spcPts val="560"/>
              </a:spcBef>
              <a:spcAft>
                <a:spcPts val="0"/>
              </a:spcAft>
              <a:buSzPts val="1680"/>
              <a:buChar char="■"/>
            </a:pPr>
            <a:r>
              <a:rPr lang="en-US" dirty="0">
                <a:highlight>
                  <a:srgbClr val="FFFF00"/>
                </a:highlight>
              </a:rPr>
              <a:t>Indexes may be dense or sparse</a:t>
            </a:r>
          </a:p>
          <a:p>
            <a:pPr marL="742950" lvl="1" indent="-285750" algn="l" rtl="0">
              <a:spcBef>
                <a:spcPts val="520"/>
              </a:spcBef>
              <a:spcAft>
                <a:spcPts val="0"/>
              </a:spcAft>
              <a:buSzPts val="1430"/>
              <a:buChar char="■"/>
            </a:pPr>
            <a:r>
              <a:rPr lang="en-US" dirty="0">
                <a:highlight>
                  <a:srgbClr val="FFFF00"/>
                </a:highlight>
              </a:rPr>
              <a:t>Dense index has an index entry for every search key value</a:t>
            </a:r>
            <a:r>
              <a:rPr lang="en-US" i="1" dirty="0">
                <a:highlight>
                  <a:srgbClr val="FFFF00"/>
                </a:highlight>
              </a:rPr>
              <a:t> </a:t>
            </a:r>
            <a:r>
              <a:rPr lang="en-US" dirty="0">
                <a:highlight>
                  <a:srgbClr val="FFFF00"/>
                </a:highlight>
              </a:rPr>
              <a:t>in the data file</a:t>
            </a:r>
          </a:p>
          <a:p>
            <a:pPr marL="742950" lvl="1" indent="-285750" algn="l" rtl="0">
              <a:spcBef>
                <a:spcPts val="520"/>
              </a:spcBef>
              <a:spcAft>
                <a:spcPts val="0"/>
              </a:spcAft>
              <a:buSzPts val="1430"/>
              <a:buChar char="■"/>
            </a:pPr>
            <a:r>
              <a:rPr lang="en-US" dirty="0">
                <a:highlight>
                  <a:srgbClr val="FFFF00"/>
                </a:highlight>
              </a:rPr>
              <a:t>Sparse index has entries for only some search values</a:t>
            </a:r>
          </a:p>
          <a:p>
            <a:endParaRPr lang="en-IN" dirty="0"/>
          </a:p>
        </p:txBody>
      </p:sp>
    </p:spTree>
    <p:extLst>
      <p:ext uri="{BB962C8B-B14F-4D97-AF65-F5344CB8AC3E}">
        <p14:creationId xmlns:p14="http://schemas.microsoft.com/office/powerpoint/2010/main" val="1366084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9678" y="690040"/>
            <a:ext cx="1718311" cy="1594667"/>
          </a:xfrm>
          <a:prstGeom prst="rect">
            <a:avLst/>
          </a:prstGeom>
        </p:spPr>
        <p:txBody>
          <a:bodyPr vert="horz" wrap="square" lIns="0" tIns="106045" rIns="0" bIns="0" rtlCol="0">
            <a:spAutoFit/>
          </a:bodyPr>
          <a:lstStyle/>
          <a:p>
            <a:pPr marL="12700" marR="5080">
              <a:lnSpc>
                <a:spcPts val="5830"/>
              </a:lnSpc>
              <a:spcBef>
                <a:spcPts val="835"/>
              </a:spcBef>
            </a:pPr>
            <a:r>
              <a:rPr spc="-50" dirty="0">
                <a:solidFill>
                  <a:srgbClr val="000000"/>
                </a:solidFill>
              </a:rPr>
              <a:t>D</a:t>
            </a:r>
            <a:r>
              <a:rPr spc="-45" dirty="0">
                <a:solidFill>
                  <a:srgbClr val="000000"/>
                </a:solidFill>
              </a:rPr>
              <a:t>e</a:t>
            </a:r>
            <a:r>
              <a:rPr spc="-50" dirty="0">
                <a:solidFill>
                  <a:srgbClr val="000000"/>
                </a:solidFill>
              </a:rPr>
              <a:t>ns</a:t>
            </a:r>
            <a:r>
              <a:rPr dirty="0">
                <a:solidFill>
                  <a:srgbClr val="000000"/>
                </a:solidFill>
              </a:rPr>
              <a:t>e  </a:t>
            </a:r>
            <a:r>
              <a:rPr spc="-50" dirty="0">
                <a:solidFill>
                  <a:srgbClr val="000000"/>
                </a:solidFill>
              </a:rPr>
              <a:t>Index</a:t>
            </a:r>
          </a:p>
        </p:txBody>
      </p:sp>
      <p:grpSp>
        <p:nvGrpSpPr>
          <p:cNvPr id="3" name="object 3"/>
          <p:cNvGrpSpPr/>
          <p:nvPr/>
        </p:nvGrpSpPr>
        <p:grpSpPr>
          <a:xfrm>
            <a:off x="624638" y="2540079"/>
            <a:ext cx="3293745" cy="85090"/>
            <a:chOff x="624636" y="2540079"/>
            <a:chExt cx="3293745" cy="85090"/>
          </a:xfrm>
        </p:grpSpPr>
        <p:sp>
          <p:nvSpPr>
            <p:cNvPr id="4" name="object 4"/>
            <p:cNvSpPr/>
            <p:nvPr/>
          </p:nvSpPr>
          <p:spPr>
            <a:xfrm>
              <a:off x="643889" y="2563986"/>
              <a:ext cx="3255645" cy="40005"/>
            </a:xfrm>
            <a:custGeom>
              <a:avLst/>
              <a:gdLst/>
              <a:ahLst/>
              <a:cxnLst/>
              <a:rect l="l" t="t" r="r" b="b"/>
              <a:pathLst>
                <a:path w="3255645" h="40005">
                  <a:moveTo>
                    <a:pt x="951941" y="23"/>
                  </a:moveTo>
                  <a:lnTo>
                    <a:pt x="910692" y="0"/>
                  </a:lnTo>
                  <a:lnTo>
                    <a:pt x="870783" y="747"/>
                  </a:lnTo>
                  <a:lnTo>
                    <a:pt x="830133" y="2115"/>
                  </a:lnTo>
                  <a:lnTo>
                    <a:pt x="682926" y="8452"/>
                  </a:lnTo>
                  <a:lnTo>
                    <a:pt x="558271" y="12970"/>
                  </a:lnTo>
                  <a:lnTo>
                    <a:pt x="409554" y="18911"/>
                  </a:lnTo>
                  <a:lnTo>
                    <a:pt x="365953" y="20334"/>
                  </a:lnTo>
                  <a:lnTo>
                    <a:pt x="322995" y="21289"/>
                  </a:lnTo>
                  <a:lnTo>
                    <a:pt x="279274" y="21661"/>
                  </a:lnTo>
                  <a:lnTo>
                    <a:pt x="233383" y="21338"/>
                  </a:lnTo>
                  <a:lnTo>
                    <a:pt x="183916" y="20205"/>
                  </a:lnTo>
                  <a:lnTo>
                    <a:pt x="129467" y="18149"/>
                  </a:lnTo>
                  <a:lnTo>
                    <a:pt x="68630" y="15056"/>
                  </a:lnTo>
                  <a:lnTo>
                    <a:pt x="0" y="10811"/>
                  </a:lnTo>
                  <a:lnTo>
                    <a:pt x="368" y="17669"/>
                  </a:lnTo>
                  <a:lnTo>
                    <a:pt x="838" y="20336"/>
                  </a:lnTo>
                  <a:lnTo>
                    <a:pt x="0" y="29099"/>
                  </a:lnTo>
                  <a:lnTo>
                    <a:pt x="45461" y="28816"/>
                  </a:lnTo>
                  <a:lnTo>
                    <a:pt x="90446" y="28905"/>
                  </a:lnTo>
                  <a:lnTo>
                    <a:pt x="135407" y="29276"/>
                  </a:lnTo>
                  <a:lnTo>
                    <a:pt x="375756" y="32283"/>
                  </a:lnTo>
                  <a:lnTo>
                    <a:pt x="430114" y="32495"/>
                  </a:lnTo>
                  <a:lnTo>
                    <a:pt x="487627" y="32372"/>
                  </a:lnTo>
                  <a:lnTo>
                    <a:pt x="548750" y="31823"/>
                  </a:lnTo>
                  <a:lnTo>
                    <a:pt x="613936" y="30762"/>
                  </a:lnTo>
                  <a:lnTo>
                    <a:pt x="752525" y="27588"/>
                  </a:lnTo>
                  <a:lnTo>
                    <a:pt x="815491" y="26932"/>
                  </a:lnTo>
                  <a:lnTo>
                    <a:pt x="873298" y="26966"/>
                  </a:lnTo>
                  <a:lnTo>
                    <a:pt x="926705" y="27526"/>
                  </a:lnTo>
                  <a:lnTo>
                    <a:pt x="976472" y="28447"/>
                  </a:lnTo>
                  <a:lnTo>
                    <a:pt x="1111518" y="31735"/>
                  </a:lnTo>
                  <a:lnTo>
                    <a:pt x="1154314" y="32458"/>
                  </a:lnTo>
                  <a:lnTo>
                    <a:pt x="1197265" y="32720"/>
                  </a:lnTo>
                  <a:lnTo>
                    <a:pt x="1241131" y="32357"/>
                  </a:lnTo>
                  <a:lnTo>
                    <a:pt x="1286670" y="31205"/>
                  </a:lnTo>
                  <a:lnTo>
                    <a:pt x="1389143" y="26494"/>
                  </a:lnTo>
                  <a:lnTo>
                    <a:pt x="1437057" y="24823"/>
                  </a:lnTo>
                  <a:lnTo>
                    <a:pt x="1480302" y="23947"/>
                  </a:lnTo>
                  <a:lnTo>
                    <a:pt x="1520795" y="23729"/>
                  </a:lnTo>
                  <a:lnTo>
                    <a:pt x="1560450" y="24033"/>
                  </a:lnTo>
                  <a:lnTo>
                    <a:pt x="1749023" y="27708"/>
                  </a:lnTo>
                  <a:lnTo>
                    <a:pt x="1813236" y="28555"/>
                  </a:lnTo>
                  <a:lnTo>
                    <a:pt x="1888109" y="29099"/>
                  </a:lnTo>
                  <a:lnTo>
                    <a:pt x="1951082" y="28991"/>
                  </a:lnTo>
                  <a:lnTo>
                    <a:pt x="2012907" y="28233"/>
                  </a:lnTo>
                  <a:lnTo>
                    <a:pt x="2073418" y="26991"/>
                  </a:lnTo>
                  <a:lnTo>
                    <a:pt x="2132445" y="25434"/>
                  </a:lnTo>
                  <a:lnTo>
                    <a:pt x="2298954" y="20527"/>
                  </a:lnTo>
                  <a:lnTo>
                    <a:pt x="2350372" y="19369"/>
                  </a:lnTo>
                  <a:lnTo>
                    <a:pt x="2399469" y="18727"/>
                  </a:lnTo>
                  <a:lnTo>
                    <a:pt x="2446077" y="18769"/>
                  </a:lnTo>
                  <a:lnTo>
                    <a:pt x="2490028" y="19660"/>
                  </a:lnTo>
                  <a:lnTo>
                    <a:pt x="2531154" y="21568"/>
                  </a:lnTo>
                  <a:lnTo>
                    <a:pt x="2569288" y="24659"/>
                  </a:lnTo>
                  <a:lnTo>
                    <a:pt x="2604262" y="29099"/>
                  </a:lnTo>
                  <a:lnTo>
                    <a:pt x="2643589" y="33817"/>
                  </a:lnTo>
                  <a:lnTo>
                    <a:pt x="2689040" y="36974"/>
                  </a:lnTo>
                  <a:lnTo>
                    <a:pt x="2739433" y="38781"/>
                  </a:lnTo>
                  <a:lnTo>
                    <a:pt x="2793586" y="39450"/>
                  </a:lnTo>
                  <a:lnTo>
                    <a:pt x="2850318" y="39192"/>
                  </a:lnTo>
                  <a:lnTo>
                    <a:pt x="2908448" y="38218"/>
                  </a:lnTo>
                  <a:lnTo>
                    <a:pt x="2966795" y="36740"/>
                  </a:lnTo>
                  <a:lnTo>
                    <a:pt x="3178718" y="30003"/>
                  </a:lnTo>
                  <a:lnTo>
                    <a:pt x="3220426" y="29170"/>
                  </a:lnTo>
                  <a:lnTo>
                    <a:pt x="3255264" y="29099"/>
                  </a:lnTo>
                  <a:lnTo>
                    <a:pt x="3255645" y="20336"/>
                  </a:lnTo>
                  <a:lnTo>
                    <a:pt x="3255010" y="15256"/>
                  </a:lnTo>
                  <a:lnTo>
                    <a:pt x="3255264" y="10811"/>
                  </a:lnTo>
                  <a:lnTo>
                    <a:pt x="3201583" y="15835"/>
                  </a:lnTo>
                  <a:lnTo>
                    <a:pt x="3146724" y="18950"/>
                  </a:lnTo>
                  <a:lnTo>
                    <a:pt x="3091083" y="20431"/>
                  </a:lnTo>
                  <a:lnTo>
                    <a:pt x="3035056" y="20552"/>
                  </a:lnTo>
                  <a:lnTo>
                    <a:pt x="2979039" y="19588"/>
                  </a:lnTo>
                  <a:lnTo>
                    <a:pt x="2923428" y="17816"/>
                  </a:lnTo>
                  <a:lnTo>
                    <a:pt x="2868620" y="15508"/>
                  </a:lnTo>
                  <a:lnTo>
                    <a:pt x="2712974" y="8130"/>
                  </a:lnTo>
                  <a:lnTo>
                    <a:pt x="2665338" y="6435"/>
                  </a:lnTo>
                  <a:lnTo>
                    <a:pt x="2620487" y="5581"/>
                  </a:lnTo>
                  <a:lnTo>
                    <a:pt x="2578816" y="5842"/>
                  </a:lnTo>
                  <a:lnTo>
                    <a:pt x="2540721" y="7494"/>
                  </a:lnTo>
                  <a:lnTo>
                    <a:pt x="2463528" y="15080"/>
                  </a:lnTo>
                  <a:lnTo>
                    <a:pt x="2415144" y="17496"/>
                  </a:lnTo>
                  <a:lnTo>
                    <a:pt x="2362579" y="18384"/>
                  </a:lnTo>
                  <a:lnTo>
                    <a:pt x="2306964" y="18064"/>
                  </a:lnTo>
                  <a:lnTo>
                    <a:pt x="2249432" y="16861"/>
                  </a:lnTo>
                  <a:lnTo>
                    <a:pt x="2191115" y="15097"/>
                  </a:lnTo>
                  <a:lnTo>
                    <a:pt x="2076652" y="11178"/>
                  </a:lnTo>
                  <a:lnTo>
                    <a:pt x="2022770" y="9668"/>
                  </a:lnTo>
                  <a:lnTo>
                    <a:pt x="1972631" y="8889"/>
                  </a:lnTo>
                  <a:lnTo>
                    <a:pt x="1927367" y="9162"/>
                  </a:lnTo>
                  <a:lnTo>
                    <a:pt x="1888109" y="10811"/>
                  </a:lnTo>
                  <a:lnTo>
                    <a:pt x="1854929" y="12896"/>
                  </a:lnTo>
                  <a:lnTo>
                    <a:pt x="1817241" y="14917"/>
                  </a:lnTo>
                  <a:lnTo>
                    <a:pt x="1775479" y="16809"/>
                  </a:lnTo>
                  <a:lnTo>
                    <a:pt x="1730080" y="18509"/>
                  </a:lnTo>
                  <a:lnTo>
                    <a:pt x="1681479" y="19952"/>
                  </a:lnTo>
                  <a:lnTo>
                    <a:pt x="1630114" y="21075"/>
                  </a:lnTo>
                  <a:lnTo>
                    <a:pt x="1576419" y="21813"/>
                  </a:lnTo>
                  <a:lnTo>
                    <a:pt x="1520830" y="22101"/>
                  </a:lnTo>
                  <a:lnTo>
                    <a:pt x="1463785" y="21877"/>
                  </a:lnTo>
                  <a:lnTo>
                    <a:pt x="1405718" y="21075"/>
                  </a:lnTo>
                  <a:lnTo>
                    <a:pt x="1347065" y="19632"/>
                  </a:lnTo>
                  <a:lnTo>
                    <a:pt x="1288263" y="17483"/>
                  </a:lnTo>
                  <a:lnTo>
                    <a:pt x="1229748" y="14564"/>
                  </a:lnTo>
                  <a:lnTo>
                    <a:pt x="1104537" y="6211"/>
                  </a:lnTo>
                  <a:lnTo>
                    <a:pt x="1046782" y="2979"/>
                  </a:lnTo>
                  <a:lnTo>
                    <a:pt x="996610" y="966"/>
                  </a:lnTo>
                  <a:lnTo>
                    <a:pt x="951941" y="23"/>
                  </a:lnTo>
                  <a:close/>
                </a:path>
              </a:pathLst>
            </a:custGeom>
            <a:solidFill>
              <a:srgbClr val="EC7C30"/>
            </a:solidFill>
          </p:spPr>
          <p:txBody>
            <a:bodyPr wrap="square" lIns="0" tIns="0" rIns="0" bIns="0" rtlCol="0"/>
            <a:lstStyle/>
            <a:p>
              <a:endParaRPr/>
            </a:p>
          </p:txBody>
        </p:sp>
        <p:sp>
          <p:nvSpPr>
            <p:cNvPr id="5" name="object 5"/>
            <p:cNvSpPr/>
            <p:nvPr/>
          </p:nvSpPr>
          <p:spPr>
            <a:xfrm>
              <a:off x="643686" y="2559129"/>
              <a:ext cx="3255645" cy="46990"/>
            </a:xfrm>
            <a:custGeom>
              <a:avLst/>
              <a:gdLst/>
              <a:ahLst/>
              <a:cxnLst/>
              <a:rect l="l" t="t" r="r" b="b"/>
              <a:pathLst>
                <a:path w="3255645" h="46989">
                  <a:moveTo>
                    <a:pt x="203" y="15668"/>
                  </a:moveTo>
                  <a:lnTo>
                    <a:pt x="59845" y="10650"/>
                  </a:lnTo>
                  <a:lnTo>
                    <a:pt x="118558" y="6628"/>
                  </a:lnTo>
                  <a:lnTo>
                    <a:pt x="176179" y="3577"/>
                  </a:lnTo>
                  <a:lnTo>
                    <a:pt x="232544" y="1472"/>
                  </a:lnTo>
                  <a:lnTo>
                    <a:pt x="287492" y="288"/>
                  </a:lnTo>
                  <a:lnTo>
                    <a:pt x="340858" y="0"/>
                  </a:lnTo>
                  <a:lnTo>
                    <a:pt x="392479" y="581"/>
                  </a:lnTo>
                  <a:lnTo>
                    <a:pt x="442193" y="2009"/>
                  </a:lnTo>
                  <a:lnTo>
                    <a:pt x="489835" y="4256"/>
                  </a:lnTo>
                  <a:lnTo>
                    <a:pt x="535244" y="7298"/>
                  </a:lnTo>
                  <a:lnTo>
                    <a:pt x="578255" y="11111"/>
                  </a:lnTo>
                  <a:lnTo>
                    <a:pt x="618705" y="15668"/>
                  </a:lnTo>
                  <a:lnTo>
                    <a:pt x="655602" y="19572"/>
                  </a:lnTo>
                  <a:lnTo>
                    <a:pt x="694178" y="22295"/>
                  </a:lnTo>
                  <a:lnTo>
                    <a:pt x="734574" y="23982"/>
                  </a:lnTo>
                  <a:lnTo>
                    <a:pt x="776931" y="24777"/>
                  </a:lnTo>
                  <a:lnTo>
                    <a:pt x="821391" y="24825"/>
                  </a:lnTo>
                  <a:lnTo>
                    <a:pt x="868094" y="24270"/>
                  </a:lnTo>
                  <a:lnTo>
                    <a:pt x="917183" y="23258"/>
                  </a:lnTo>
                  <a:lnTo>
                    <a:pt x="968797" y="21932"/>
                  </a:lnTo>
                  <a:lnTo>
                    <a:pt x="1023078" y="20438"/>
                  </a:lnTo>
                  <a:lnTo>
                    <a:pt x="1080167" y="18920"/>
                  </a:lnTo>
                  <a:lnTo>
                    <a:pt x="1140206" y="17522"/>
                  </a:lnTo>
                  <a:lnTo>
                    <a:pt x="1203334" y="16390"/>
                  </a:lnTo>
                  <a:lnTo>
                    <a:pt x="1269695" y="15668"/>
                  </a:lnTo>
                  <a:lnTo>
                    <a:pt x="1335573" y="15443"/>
                  </a:lnTo>
                  <a:lnTo>
                    <a:pt x="1397479" y="15638"/>
                  </a:lnTo>
                  <a:lnTo>
                    <a:pt x="1455893" y="16147"/>
                  </a:lnTo>
                  <a:lnTo>
                    <a:pt x="1511294" y="16867"/>
                  </a:lnTo>
                  <a:lnTo>
                    <a:pt x="1564161" y="17694"/>
                  </a:lnTo>
                  <a:lnTo>
                    <a:pt x="1614972" y="18523"/>
                  </a:lnTo>
                  <a:lnTo>
                    <a:pt x="1664207" y="19252"/>
                  </a:lnTo>
                  <a:lnTo>
                    <a:pt x="1712345" y="19775"/>
                  </a:lnTo>
                  <a:lnTo>
                    <a:pt x="1759864" y="19988"/>
                  </a:lnTo>
                  <a:lnTo>
                    <a:pt x="1807243" y="19789"/>
                  </a:lnTo>
                  <a:lnTo>
                    <a:pt x="1854963" y="19071"/>
                  </a:lnTo>
                  <a:lnTo>
                    <a:pt x="1903500" y="17732"/>
                  </a:lnTo>
                  <a:lnTo>
                    <a:pt x="1953336" y="15668"/>
                  </a:lnTo>
                  <a:lnTo>
                    <a:pt x="2005009" y="13799"/>
                  </a:lnTo>
                  <a:lnTo>
                    <a:pt x="2058446" y="12982"/>
                  </a:lnTo>
                  <a:lnTo>
                    <a:pt x="2113210" y="13015"/>
                  </a:lnTo>
                  <a:lnTo>
                    <a:pt x="2168858" y="13695"/>
                  </a:lnTo>
                  <a:lnTo>
                    <a:pt x="2224952" y="14822"/>
                  </a:lnTo>
                  <a:lnTo>
                    <a:pt x="2281053" y="16193"/>
                  </a:lnTo>
                  <a:lnTo>
                    <a:pt x="2336719" y="17606"/>
                  </a:lnTo>
                  <a:lnTo>
                    <a:pt x="2391511" y="18859"/>
                  </a:lnTo>
                  <a:lnTo>
                    <a:pt x="2444991" y="19751"/>
                  </a:lnTo>
                  <a:lnTo>
                    <a:pt x="2496717" y="20080"/>
                  </a:lnTo>
                  <a:lnTo>
                    <a:pt x="2546249" y="19644"/>
                  </a:lnTo>
                  <a:lnTo>
                    <a:pt x="2593149" y="18240"/>
                  </a:lnTo>
                  <a:lnTo>
                    <a:pt x="2636977" y="15668"/>
                  </a:lnTo>
                  <a:lnTo>
                    <a:pt x="2684956" y="12838"/>
                  </a:lnTo>
                  <a:lnTo>
                    <a:pt x="2736916" y="11197"/>
                  </a:lnTo>
                  <a:lnTo>
                    <a:pt x="2791855" y="10542"/>
                  </a:lnTo>
                  <a:lnTo>
                    <a:pt x="2848775" y="10673"/>
                  </a:lnTo>
                  <a:lnTo>
                    <a:pt x="2906676" y="11385"/>
                  </a:lnTo>
                  <a:lnTo>
                    <a:pt x="2964557" y="12477"/>
                  </a:lnTo>
                  <a:lnTo>
                    <a:pt x="3021420" y="13747"/>
                  </a:lnTo>
                  <a:lnTo>
                    <a:pt x="3076265" y="14991"/>
                  </a:lnTo>
                  <a:lnTo>
                    <a:pt x="3128092" y="16007"/>
                  </a:lnTo>
                  <a:lnTo>
                    <a:pt x="3175901" y="16594"/>
                  </a:lnTo>
                  <a:lnTo>
                    <a:pt x="3218692" y="16549"/>
                  </a:lnTo>
                  <a:lnTo>
                    <a:pt x="3255467" y="15668"/>
                  </a:lnTo>
                  <a:lnTo>
                    <a:pt x="3254705" y="23796"/>
                  </a:lnTo>
                  <a:lnTo>
                    <a:pt x="3255086" y="27733"/>
                  </a:lnTo>
                  <a:lnTo>
                    <a:pt x="3255467" y="33956"/>
                  </a:lnTo>
                  <a:lnTo>
                    <a:pt x="3216374" y="34716"/>
                  </a:lnTo>
                  <a:lnTo>
                    <a:pt x="3171163" y="34943"/>
                  </a:lnTo>
                  <a:lnTo>
                    <a:pt x="3120898" y="34740"/>
                  </a:lnTo>
                  <a:lnTo>
                    <a:pt x="3066647" y="34212"/>
                  </a:lnTo>
                  <a:lnTo>
                    <a:pt x="3009474" y="33463"/>
                  </a:lnTo>
                  <a:lnTo>
                    <a:pt x="2950446" y="32597"/>
                  </a:lnTo>
                  <a:lnTo>
                    <a:pt x="2890627" y="31718"/>
                  </a:lnTo>
                  <a:lnTo>
                    <a:pt x="2831085" y="30930"/>
                  </a:lnTo>
                  <a:lnTo>
                    <a:pt x="2772885" y="30338"/>
                  </a:lnTo>
                  <a:lnTo>
                    <a:pt x="2717092" y="30046"/>
                  </a:lnTo>
                  <a:lnTo>
                    <a:pt x="2664773" y="30158"/>
                  </a:lnTo>
                  <a:lnTo>
                    <a:pt x="2616993" y="30777"/>
                  </a:lnTo>
                  <a:lnTo>
                    <a:pt x="2574818" y="32008"/>
                  </a:lnTo>
                  <a:lnTo>
                    <a:pt x="2539314" y="33956"/>
                  </a:lnTo>
                  <a:lnTo>
                    <a:pt x="2505914" y="35586"/>
                  </a:lnTo>
                  <a:lnTo>
                    <a:pt x="2429882" y="35335"/>
                  </a:lnTo>
                  <a:lnTo>
                    <a:pt x="2387439" y="33956"/>
                  </a:lnTo>
                  <a:lnTo>
                    <a:pt x="2342169" y="32075"/>
                  </a:lnTo>
                  <a:lnTo>
                    <a:pt x="2294169" y="29944"/>
                  </a:lnTo>
                  <a:lnTo>
                    <a:pt x="2243531" y="27812"/>
                  </a:lnTo>
                  <a:lnTo>
                    <a:pt x="2190350" y="25932"/>
                  </a:lnTo>
                  <a:lnTo>
                    <a:pt x="2134722" y="24553"/>
                  </a:lnTo>
                  <a:lnTo>
                    <a:pt x="2076739" y="23926"/>
                  </a:lnTo>
                  <a:lnTo>
                    <a:pt x="2016498" y="24302"/>
                  </a:lnTo>
                  <a:lnTo>
                    <a:pt x="1954091" y="25932"/>
                  </a:lnTo>
                  <a:lnTo>
                    <a:pt x="1889614" y="29066"/>
                  </a:lnTo>
                  <a:lnTo>
                    <a:pt x="1823161" y="33956"/>
                  </a:lnTo>
                  <a:lnTo>
                    <a:pt x="1755167" y="39361"/>
                  </a:lnTo>
                  <a:lnTo>
                    <a:pt x="1695419" y="43109"/>
                  </a:lnTo>
                  <a:lnTo>
                    <a:pt x="1642482" y="45407"/>
                  </a:lnTo>
                  <a:lnTo>
                    <a:pt x="1594923" y="46461"/>
                  </a:lnTo>
                  <a:lnTo>
                    <a:pt x="1551306" y="46477"/>
                  </a:lnTo>
                  <a:lnTo>
                    <a:pt x="1510197" y="45661"/>
                  </a:lnTo>
                  <a:lnTo>
                    <a:pt x="1470162" y="44219"/>
                  </a:lnTo>
                  <a:lnTo>
                    <a:pt x="1429765" y="42357"/>
                  </a:lnTo>
                  <a:lnTo>
                    <a:pt x="1387573" y="40280"/>
                  </a:lnTo>
                  <a:lnTo>
                    <a:pt x="1342151" y="38196"/>
                  </a:lnTo>
                  <a:lnTo>
                    <a:pt x="1292064" y="36310"/>
                  </a:lnTo>
                  <a:lnTo>
                    <a:pt x="1235878" y="34828"/>
                  </a:lnTo>
                  <a:lnTo>
                    <a:pt x="1172159" y="33956"/>
                  </a:lnTo>
                  <a:lnTo>
                    <a:pt x="1133587" y="33803"/>
                  </a:lnTo>
                  <a:lnTo>
                    <a:pt x="1094660" y="33886"/>
                  </a:lnTo>
                  <a:lnTo>
                    <a:pt x="1055269" y="34174"/>
                  </a:lnTo>
                  <a:lnTo>
                    <a:pt x="1015303" y="34634"/>
                  </a:lnTo>
                  <a:lnTo>
                    <a:pt x="974652" y="35236"/>
                  </a:lnTo>
                  <a:lnTo>
                    <a:pt x="933205" y="35946"/>
                  </a:lnTo>
                  <a:lnTo>
                    <a:pt x="890853" y="36734"/>
                  </a:lnTo>
                  <a:lnTo>
                    <a:pt x="847486" y="37567"/>
                  </a:lnTo>
                  <a:lnTo>
                    <a:pt x="802993" y="38415"/>
                  </a:lnTo>
                  <a:lnTo>
                    <a:pt x="757264" y="39244"/>
                  </a:lnTo>
                  <a:lnTo>
                    <a:pt x="710189" y="40024"/>
                  </a:lnTo>
                  <a:lnTo>
                    <a:pt x="661658" y="40723"/>
                  </a:lnTo>
                  <a:lnTo>
                    <a:pt x="611560" y="41308"/>
                  </a:lnTo>
                  <a:lnTo>
                    <a:pt x="559786" y="41749"/>
                  </a:lnTo>
                  <a:lnTo>
                    <a:pt x="506226" y="42013"/>
                  </a:lnTo>
                  <a:lnTo>
                    <a:pt x="450768" y="42068"/>
                  </a:lnTo>
                  <a:lnTo>
                    <a:pt x="393304" y="41884"/>
                  </a:lnTo>
                  <a:lnTo>
                    <a:pt x="333722" y="41427"/>
                  </a:lnTo>
                  <a:lnTo>
                    <a:pt x="271914" y="40667"/>
                  </a:lnTo>
                  <a:lnTo>
                    <a:pt x="207767" y="39572"/>
                  </a:lnTo>
                  <a:lnTo>
                    <a:pt x="141174" y="38110"/>
                  </a:lnTo>
                  <a:lnTo>
                    <a:pt x="72022" y="36248"/>
                  </a:lnTo>
                  <a:lnTo>
                    <a:pt x="203" y="33956"/>
                  </a:lnTo>
                  <a:lnTo>
                    <a:pt x="152" y="28114"/>
                  </a:lnTo>
                  <a:lnTo>
                    <a:pt x="0" y="22145"/>
                  </a:lnTo>
                  <a:lnTo>
                    <a:pt x="203" y="15668"/>
                  </a:lnTo>
                  <a:close/>
                </a:path>
              </a:pathLst>
            </a:custGeom>
            <a:ln w="38100">
              <a:solidFill>
                <a:srgbClr val="EC7C30"/>
              </a:solidFill>
            </a:ln>
          </p:spPr>
          <p:txBody>
            <a:bodyPr wrap="square" lIns="0" tIns="0" rIns="0" bIns="0" rtlCol="0"/>
            <a:lstStyle/>
            <a:p>
              <a:endParaRPr/>
            </a:p>
          </p:txBody>
        </p:sp>
      </p:grpSp>
      <p:sp>
        <p:nvSpPr>
          <p:cNvPr id="6" name="object 6"/>
          <p:cNvSpPr txBox="1"/>
          <p:nvPr/>
        </p:nvSpPr>
        <p:spPr>
          <a:xfrm>
            <a:off x="709678" y="2790573"/>
            <a:ext cx="3216911" cy="2624307"/>
          </a:xfrm>
          <a:prstGeom prst="rect">
            <a:avLst/>
          </a:prstGeom>
        </p:spPr>
        <p:txBody>
          <a:bodyPr vert="horz" wrap="square" lIns="0" tIns="45719" rIns="0" bIns="0" rtlCol="0">
            <a:spAutoFit/>
          </a:bodyPr>
          <a:lstStyle/>
          <a:p>
            <a:pPr marL="240665" marR="5080" indent="-228600">
              <a:lnSpc>
                <a:spcPct val="90000"/>
              </a:lnSpc>
              <a:spcBef>
                <a:spcPts val="359"/>
              </a:spcBef>
              <a:buFont typeface="Arial MT"/>
              <a:buChar char="•"/>
              <a:tabLst>
                <a:tab pos="240665" algn="l"/>
                <a:tab pos="241300" algn="l"/>
              </a:tabLst>
            </a:pPr>
            <a:r>
              <a:rPr sz="2200" spc="-5" dirty="0">
                <a:highlight>
                  <a:srgbClr val="FFFF00"/>
                </a:highlight>
                <a:latin typeface="Calibri"/>
                <a:cs typeface="Calibri"/>
              </a:rPr>
              <a:t>In</a:t>
            </a:r>
            <a:r>
              <a:rPr sz="2200" spc="-20" dirty="0">
                <a:highlight>
                  <a:srgbClr val="FFFF00"/>
                </a:highlight>
                <a:latin typeface="Calibri"/>
                <a:cs typeface="Calibri"/>
              </a:rPr>
              <a:t> </a:t>
            </a:r>
            <a:r>
              <a:rPr sz="2200" spc="-5" dirty="0">
                <a:highlight>
                  <a:srgbClr val="FFFF00"/>
                </a:highlight>
                <a:latin typeface="Calibri"/>
                <a:cs typeface="Calibri"/>
              </a:rPr>
              <a:t>dense</a:t>
            </a:r>
            <a:r>
              <a:rPr sz="2200" spc="10" dirty="0">
                <a:highlight>
                  <a:srgbClr val="FFFF00"/>
                </a:highlight>
                <a:latin typeface="Calibri"/>
                <a:cs typeface="Calibri"/>
              </a:rPr>
              <a:t> </a:t>
            </a:r>
            <a:r>
              <a:rPr sz="2200" spc="-10" dirty="0">
                <a:highlight>
                  <a:srgbClr val="FFFF00"/>
                </a:highlight>
                <a:latin typeface="Calibri"/>
                <a:cs typeface="Calibri"/>
              </a:rPr>
              <a:t>index,</a:t>
            </a:r>
            <a:r>
              <a:rPr sz="2200" spc="-5" dirty="0">
                <a:highlight>
                  <a:srgbClr val="FFFF00"/>
                </a:highlight>
                <a:latin typeface="Calibri"/>
                <a:cs typeface="Calibri"/>
              </a:rPr>
              <a:t> </a:t>
            </a:r>
            <a:r>
              <a:rPr sz="2200" spc="-10" dirty="0">
                <a:highlight>
                  <a:srgbClr val="FFFF00"/>
                </a:highlight>
                <a:latin typeface="Calibri"/>
                <a:cs typeface="Calibri"/>
              </a:rPr>
              <a:t>there</a:t>
            </a:r>
            <a:r>
              <a:rPr sz="2200" spc="-15" dirty="0">
                <a:highlight>
                  <a:srgbClr val="FFFF00"/>
                </a:highlight>
                <a:latin typeface="Calibri"/>
                <a:cs typeface="Calibri"/>
              </a:rPr>
              <a:t> </a:t>
            </a:r>
            <a:r>
              <a:rPr sz="2200" spc="-5" dirty="0">
                <a:highlight>
                  <a:srgbClr val="FFFF00"/>
                </a:highlight>
                <a:latin typeface="Calibri"/>
                <a:cs typeface="Calibri"/>
              </a:rPr>
              <a:t>is an </a:t>
            </a:r>
            <a:r>
              <a:rPr sz="2200" spc="-480" dirty="0">
                <a:highlight>
                  <a:srgbClr val="FFFF00"/>
                </a:highlight>
                <a:latin typeface="Calibri"/>
                <a:cs typeface="Calibri"/>
              </a:rPr>
              <a:t> </a:t>
            </a:r>
            <a:r>
              <a:rPr sz="2200" spc="-10" dirty="0">
                <a:highlight>
                  <a:srgbClr val="FFFF00"/>
                </a:highlight>
                <a:latin typeface="Calibri"/>
                <a:cs typeface="Calibri"/>
              </a:rPr>
              <a:t>index</a:t>
            </a:r>
            <a:r>
              <a:rPr sz="2200" spc="-15" dirty="0">
                <a:highlight>
                  <a:srgbClr val="FFFF00"/>
                </a:highlight>
                <a:latin typeface="Calibri"/>
                <a:cs typeface="Calibri"/>
              </a:rPr>
              <a:t> record </a:t>
            </a:r>
            <a:r>
              <a:rPr sz="2200" spc="-20" dirty="0">
                <a:highlight>
                  <a:srgbClr val="FFFF00"/>
                </a:highlight>
                <a:latin typeface="Calibri"/>
                <a:cs typeface="Calibri"/>
              </a:rPr>
              <a:t>for</a:t>
            </a:r>
            <a:r>
              <a:rPr sz="2200" spc="-5" dirty="0">
                <a:highlight>
                  <a:srgbClr val="FFFF00"/>
                </a:highlight>
                <a:latin typeface="Calibri"/>
                <a:cs typeface="Calibri"/>
              </a:rPr>
              <a:t> </a:t>
            </a:r>
            <a:r>
              <a:rPr sz="2200" spc="-10" dirty="0">
                <a:highlight>
                  <a:srgbClr val="FFFF00"/>
                </a:highlight>
                <a:latin typeface="Calibri"/>
                <a:cs typeface="Calibri"/>
              </a:rPr>
              <a:t>every </a:t>
            </a:r>
            <a:r>
              <a:rPr sz="2200" spc="-5" dirty="0">
                <a:highlight>
                  <a:srgbClr val="FFFF00"/>
                </a:highlight>
                <a:latin typeface="Calibri"/>
                <a:cs typeface="Calibri"/>
              </a:rPr>
              <a:t> </a:t>
            </a:r>
            <a:r>
              <a:rPr sz="2200" spc="-10" dirty="0">
                <a:highlight>
                  <a:srgbClr val="FFFF00"/>
                </a:highlight>
                <a:latin typeface="Calibri"/>
                <a:cs typeface="Calibri"/>
              </a:rPr>
              <a:t>search</a:t>
            </a:r>
            <a:r>
              <a:rPr sz="2200" spc="-20" dirty="0">
                <a:highlight>
                  <a:srgbClr val="FFFF00"/>
                </a:highlight>
                <a:latin typeface="Calibri"/>
                <a:cs typeface="Calibri"/>
              </a:rPr>
              <a:t> </a:t>
            </a:r>
            <a:r>
              <a:rPr sz="2200" spc="-35" dirty="0">
                <a:highlight>
                  <a:srgbClr val="FFFF00"/>
                </a:highlight>
                <a:latin typeface="Calibri"/>
                <a:cs typeface="Calibri"/>
              </a:rPr>
              <a:t>key</a:t>
            </a:r>
            <a:r>
              <a:rPr sz="2200" spc="10" dirty="0">
                <a:highlight>
                  <a:srgbClr val="FFFF00"/>
                </a:highlight>
                <a:latin typeface="Calibri"/>
                <a:cs typeface="Calibri"/>
              </a:rPr>
              <a:t> </a:t>
            </a:r>
            <a:r>
              <a:rPr sz="2200" spc="-10" dirty="0">
                <a:highlight>
                  <a:srgbClr val="FFFF00"/>
                </a:highlight>
                <a:latin typeface="Calibri"/>
                <a:cs typeface="Calibri"/>
              </a:rPr>
              <a:t>value</a:t>
            </a:r>
            <a:r>
              <a:rPr sz="2200" spc="-15" dirty="0">
                <a:highlight>
                  <a:srgbClr val="FFFF00"/>
                </a:highlight>
                <a:latin typeface="Calibri"/>
                <a:cs typeface="Calibri"/>
              </a:rPr>
              <a:t> </a:t>
            </a:r>
            <a:r>
              <a:rPr sz="2200" spc="-5" dirty="0">
                <a:highlight>
                  <a:srgbClr val="FFFF00"/>
                </a:highlight>
                <a:latin typeface="Calibri"/>
                <a:cs typeface="Calibri"/>
              </a:rPr>
              <a:t>in the </a:t>
            </a:r>
            <a:r>
              <a:rPr sz="2200" dirty="0">
                <a:highlight>
                  <a:srgbClr val="FFFF00"/>
                </a:highlight>
                <a:latin typeface="Calibri"/>
                <a:cs typeface="Calibri"/>
              </a:rPr>
              <a:t> </a:t>
            </a:r>
            <a:r>
              <a:rPr sz="2200" spc="-15" dirty="0">
                <a:highlight>
                  <a:srgbClr val="FFFF00"/>
                </a:highlight>
                <a:latin typeface="Calibri"/>
                <a:cs typeface="Calibri"/>
              </a:rPr>
              <a:t>database.</a:t>
            </a:r>
            <a:endParaRPr sz="2200" dirty="0">
              <a:highlight>
                <a:srgbClr val="FFFF00"/>
              </a:highlight>
              <a:latin typeface="Calibri"/>
              <a:cs typeface="Calibri"/>
            </a:endParaRPr>
          </a:p>
          <a:p>
            <a:pPr marL="240665" marR="208279" indent="-228600">
              <a:lnSpc>
                <a:spcPts val="2380"/>
              </a:lnSpc>
              <a:spcBef>
                <a:spcPts val="1025"/>
              </a:spcBef>
              <a:buFont typeface="Arial MT"/>
              <a:buChar char="•"/>
              <a:tabLst>
                <a:tab pos="240665" algn="l"/>
                <a:tab pos="241300" algn="l"/>
              </a:tabLst>
            </a:pPr>
            <a:r>
              <a:rPr sz="2200" spc="-10" dirty="0">
                <a:highlight>
                  <a:srgbClr val="FFFF00"/>
                </a:highlight>
                <a:latin typeface="Calibri"/>
                <a:cs typeface="Calibri"/>
              </a:rPr>
              <a:t>This </a:t>
            </a:r>
            <a:r>
              <a:rPr sz="2200" spc="-20" dirty="0">
                <a:highlight>
                  <a:srgbClr val="FFFF00"/>
                </a:highlight>
                <a:latin typeface="Calibri"/>
                <a:cs typeface="Calibri"/>
              </a:rPr>
              <a:t>makes</a:t>
            </a:r>
            <a:r>
              <a:rPr sz="2200" spc="15" dirty="0">
                <a:highlight>
                  <a:srgbClr val="FFFF00"/>
                </a:highlight>
                <a:latin typeface="Calibri"/>
                <a:cs typeface="Calibri"/>
              </a:rPr>
              <a:t> </a:t>
            </a:r>
            <a:r>
              <a:rPr sz="2200" spc="-10" dirty="0">
                <a:highlight>
                  <a:srgbClr val="FFFF00"/>
                </a:highlight>
                <a:latin typeface="Calibri"/>
                <a:cs typeface="Calibri"/>
              </a:rPr>
              <a:t>searching </a:t>
            </a:r>
            <a:r>
              <a:rPr sz="2200" spc="-5" dirty="0">
                <a:highlight>
                  <a:srgbClr val="FFFF00"/>
                </a:highlight>
                <a:latin typeface="Calibri"/>
                <a:cs typeface="Calibri"/>
              </a:rPr>
              <a:t> </a:t>
            </a:r>
            <a:r>
              <a:rPr sz="2200" spc="-20" dirty="0">
                <a:highlight>
                  <a:srgbClr val="FFFF00"/>
                </a:highlight>
                <a:latin typeface="Calibri"/>
                <a:cs typeface="Calibri"/>
              </a:rPr>
              <a:t>faster </a:t>
            </a:r>
            <a:r>
              <a:rPr sz="2200" spc="-10" dirty="0">
                <a:highlight>
                  <a:srgbClr val="FFFF00"/>
                </a:highlight>
                <a:latin typeface="Calibri"/>
                <a:cs typeface="Calibri"/>
              </a:rPr>
              <a:t>but requires more </a:t>
            </a:r>
            <a:r>
              <a:rPr sz="2200" spc="-484" dirty="0">
                <a:highlight>
                  <a:srgbClr val="FFFF00"/>
                </a:highlight>
                <a:latin typeface="Calibri"/>
                <a:cs typeface="Calibri"/>
              </a:rPr>
              <a:t> </a:t>
            </a:r>
            <a:r>
              <a:rPr sz="2200" spc="-5" dirty="0">
                <a:highlight>
                  <a:srgbClr val="FFFF00"/>
                </a:highlight>
                <a:latin typeface="Calibri"/>
                <a:cs typeface="Calibri"/>
              </a:rPr>
              <a:t>space</a:t>
            </a:r>
            <a:r>
              <a:rPr sz="2200" spc="-15" dirty="0">
                <a:highlight>
                  <a:srgbClr val="FFFF00"/>
                </a:highlight>
                <a:latin typeface="Calibri"/>
                <a:cs typeface="Calibri"/>
              </a:rPr>
              <a:t> </a:t>
            </a:r>
            <a:r>
              <a:rPr sz="2200" spc="-20" dirty="0">
                <a:highlight>
                  <a:srgbClr val="FFFF00"/>
                </a:highlight>
                <a:latin typeface="Calibri"/>
                <a:cs typeface="Calibri"/>
              </a:rPr>
              <a:t>to</a:t>
            </a:r>
            <a:r>
              <a:rPr sz="2200" dirty="0">
                <a:highlight>
                  <a:srgbClr val="FFFF00"/>
                </a:highlight>
                <a:latin typeface="Calibri"/>
                <a:cs typeface="Calibri"/>
              </a:rPr>
              <a:t> </a:t>
            </a:r>
            <a:r>
              <a:rPr sz="2200" spc="-20" dirty="0">
                <a:highlight>
                  <a:srgbClr val="FFFF00"/>
                </a:highlight>
                <a:latin typeface="Calibri"/>
                <a:cs typeface="Calibri"/>
              </a:rPr>
              <a:t>store</a:t>
            </a:r>
            <a:r>
              <a:rPr sz="2200" spc="-5" dirty="0">
                <a:highlight>
                  <a:srgbClr val="FFFF00"/>
                </a:highlight>
                <a:latin typeface="Calibri"/>
                <a:cs typeface="Calibri"/>
              </a:rPr>
              <a:t> </a:t>
            </a:r>
            <a:r>
              <a:rPr sz="2200" spc="-10" dirty="0">
                <a:highlight>
                  <a:srgbClr val="FFFF00"/>
                </a:highlight>
                <a:latin typeface="Calibri"/>
                <a:cs typeface="Calibri"/>
              </a:rPr>
              <a:t>index </a:t>
            </a:r>
            <a:r>
              <a:rPr sz="2200" spc="-5" dirty="0">
                <a:highlight>
                  <a:srgbClr val="FFFF00"/>
                </a:highlight>
                <a:latin typeface="Calibri"/>
                <a:cs typeface="Calibri"/>
              </a:rPr>
              <a:t> </a:t>
            </a:r>
            <a:r>
              <a:rPr sz="2200" spc="-15" dirty="0">
                <a:highlight>
                  <a:srgbClr val="FFFF00"/>
                </a:highlight>
                <a:latin typeface="Calibri"/>
                <a:cs typeface="Calibri"/>
              </a:rPr>
              <a:t>records</a:t>
            </a:r>
            <a:r>
              <a:rPr sz="2200" spc="-10" dirty="0">
                <a:highlight>
                  <a:srgbClr val="FFFF00"/>
                </a:highlight>
                <a:latin typeface="Calibri"/>
                <a:cs typeface="Calibri"/>
              </a:rPr>
              <a:t> </a:t>
            </a:r>
            <a:r>
              <a:rPr sz="2200" spc="-25" dirty="0">
                <a:highlight>
                  <a:srgbClr val="FFFF00"/>
                </a:highlight>
                <a:latin typeface="Calibri"/>
                <a:cs typeface="Calibri"/>
              </a:rPr>
              <a:t>itself.</a:t>
            </a:r>
            <a:endParaRPr sz="2200" dirty="0">
              <a:highlight>
                <a:srgbClr val="FFFF00"/>
              </a:highlight>
              <a:latin typeface="Calibri"/>
              <a:cs typeface="Calibri"/>
            </a:endParaRPr>
          </a:p>
        </p:txBody>
      </p:sp>
      <p:pic>
        <p:nvPicPr>
          <p:cNvPr id="7" name="object 7"/>
          <p:cNvPicPr/>
          <p:nvPr/>
        </p:nvPicPr>
        <p:blipFill>
          <a:blip r:embed="rId2" cstate="print"/>
          <a:stretch>
            <a:fillRect/>
          </a:stretch>
        </p:blipFill>
        <p:spPr>
          <a:xfrm>
            <a:off x="4826508" y="640080"/>
            <a:ext cx="6559296" cy="5577840"/>
          </a:xfrm>
          <a:prstGeom prst="rect">
            <a:avLst/>
          </a:prstGeom>
        </p:spPr>
      </p:pic>
    </p:spTree>
    <p:extLst>
      <p:ext uri="{BB962C8B-B14F-4D97-AF65-F5344CB8AC3E}">
        <p14:creationId xmlns:p14="http://schemas.microsoft.com/office/powerpoint/2010/main" val="500053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2172" y="310278"/>
            <a:ext cx="3468828" cy="566822"/>
          </a:xfrm>
          <a:prstGeom prst="rect">
            <a:avLst/>
          </a:prstGeom>
        </p:spPr>
        <p:txBody>
          <a:bodyPr vert="horz" wrap="square" lIns="0" tIns="12700" rIns="0" bIns="0" rtlCol="0">
            <a:spAutoFit/>
          </a:bodyPr>
          <a:lstStyle/>
          <a:p>
            <a:pPr marL="12700">
              <a:lnSpc>
                <a:spcPct val="100000"/>
              </a:lnSpc>
              <a:spcBef>
                <a:spcPts val="100"/>
              </a:spcBef>
            </a:pPr>
            <a:r>
              <a:rPr sz="3600" spc="-15" dirty="0">
                <a:solidFill>
                  <a:srgbClr val="000000"/>
                </a:solidFill>
              </a:rPr>
              <a:t>Sparse</a:t>
            </a:r>
            <a:r>
              <a:rPr sz="3600" spc="-85" dirty="0">
                <a:solidFill>
                  <a:srgbClr val="000000"/>
                </a:solidFill>
              </a:rPr>
              <a:t> </a:t>
            </a:r>
            <a:r>
              <a:rPr sz="3600" spc="-15" dirty="0">
                <a:solidFill>
                  <a:srgbClr val="000000"/>
                </a:solidFill>
              </a:rPr>
              <a:t>Index</a:t>
            </a:r>
            <a:endParaRPr sz="3600" dirty="0"/>
          </a:p>
        </p:txBody>
      </p:sp>
      <p:sp>
        <p:nvSpPr>
          <p:cNvPr id="3" name="object 3"/>
          <p:cNvSpPr txBox="1"/>
          <p:nvPr/>
        </p:nvSpPr>
        <p:spPr>
          <a:xfrm>
            <a:off x="514302" y="1280287"/>
            <a:ext cx="4946015" cy="4801827"/>
          </a:xfrm>
          <a:prstGeom prst="rect">
            <a:avLst/>
          </a:prstGeom>
        </p:spPr>
        <p:txBody>
          <a:bodyPr vert="horz" wrap="square" lIns="0" tIns="99060" rIns="0" bIns="0" rtlCol="0">
            <a:spAutoFit/>
          </a:bodyPr>
          <a:lstStyle/>
          <a:p>
            <a:pPr marL="241300" marR="97155" indent="-228600">
              <a:lnSpc>
                <a:spcPct val="70000"/>
              </a:lnSpc>
              <a:spcBef>
                <a:spcPts val="780"/>
              </a:spcBef>
              <a:buFont typeface="Arial MT"/>
              <a:buChar char="•"/>
              <a:tabLst>
                <a:tab pos="240665" algn="l"/>
                <a:tab pos="241300" algn="l"/>
              </a:tabLst>
            </a:pPr>
            <a:r>
              <a:rPr sz="1900" spc="-5" dirty="0">
                <a:latin typeface="Calibri"/>
                <a:cs typeface="Calibri"/>
              </a:rPr>
              <a:t>It </a:t>
            </a:r>
            <a:r>
              <a:rPr sz="1900" spc="-10" dirty="0">
                <a:latin typeface="Calibri"/>
                <a:cs typeface="Calibri"/>
              </a:rPr>
              <a:t>is </a:t>
            </a:r>
            <a:r>
              <a:rPr sz="1900" spc="-5" dirty="0">
                <a:latin typeface="Calibri"/>
                <a:cs typeface="Calibri"/>
              </a:rPr>
              <a:t>an</a:t>
            </a:r>
            <a:r>
              <a:rPr sz="1900" dirty="0">
                <a:latin typeface="Calibri"/>
                <a:cs typeface="Calibri"/>
              </a:rPr>
              <a:t> </a:t>
            </a:r>
            <a:r>
              <a:rPr sz="1900" spc="-10" dirty="0">
                <a:latin typeface="Calibri"/>
                <a:cs typeface="Calibri"/>
              </a:rPr>
              <a:t>index</a:t>
            </a:r>
            <a:r>
              <a:rPr sz="1900" spc="5" dirty="0">
                <a:latin typeface="Calibri"/>
                <a:cs typeface="Calibri"/>
              </a:rPr>
              <a:t> </a:t>
            </a:r>
            <a:r>
              <a:rPr sz="1900" spc="-15" dirty="0">
                <a:latin typeface="Calibri"/>
                <a:cs typeface="Calibri"/>
              </a:rPr>
              <a:t>record</a:t>
            </a:r>
            <a:r>
              <a:rPr sz="1900" spc="-5" dirty="0">
                <a:latin typeface="Calibri"/>
                <a:cs typeface="Calibri"/>
              </a:rPr>
              <a:t> that </a:t>
            </a:r>
            <a:r>
              <a:rPr sz="1900" spc="-10" dirty="0">
                <a:latin typeface="Calibri"/>
                <a:cs typeface="Calibri"/>
              </a:rPr>
              <a:t>appears</a:t>
            </a:r>
            <a:r>
              <a:rPr sz="1900" dirty="0">
                <a:latin typeface="Calibri"/>
                <a:cs typeface="Calibri"/>
              </a:rPr>
              <a:t> </a:t>
            </a:r>
            <a:r>
              <a:rPr sz="1900" spc="-20" dirty="0">
                <a:latin typeface="Calibri"/>
                <a:cs typeface="Calibri"/>
              </a:rPr>
              <a:t>for </a:t>
            </a:r>
            <a:r>
              <a:rPr sz="1900" spc="-10" dirty="0">
                <a:latin typeface="Calibri"/>
                <a:cs typeface="Calibri"/>
              </a:rPr>
              <a:t>only</a:t>
            </a:r>
            <a:r>
              <a:rPr sz="1900" spc="15" dirty="0">
                <a:latin typeface="Calibri"/>
                <a:cs typeface="Calibri"/>
              </a:rPr>
              <a:t> </a:t>
            </a:r>
            <a:r>
              <a:rPr sz="1900" spc="-10" dirty="0">
                <a:latin typeface="Calibri"/>
                <a:cs typeface="Calibri"/>
              </a:rPr>
              <a:t>some </a:t>
            </a:r>
            <a:r>
              <a:rPr sz="1900" spc="-415" dirty="0">
                <a:latin typeface="Calibri"/>
                <a:cs typeface="Calibri"/>
              </a:rPr>
              <a:t> </a:t>
            </a:r>
            <a:r>
              <a:rPr sz="1900" spc="-5" dirty="0">
                <a:latin typeface="Calibri"/>
                <a:cs typeface="Calibri"/>
              </a:rPr>
              <a:t>of</a:t>
            </a:r>
            <a:r>
              <a:rPr sz="1900" spc="-10" dirty="0">
                <a:latin typeface="Calibri"/>
                <a:cs typeface="Calibri"/>
              </a:rPr>
              <a:t> </a:t>
            </a:r>
            <a:r>
              <a:rPr sz="1900" spc="-5" dirty="0">
                <a:latin typeface="Calibri"/>
                <a:cs typeface="Calibri"/>
              </a:rPr>
              <a:t>the</a:t>
            </a:r>
            <a:r>
              <a:rPr sz="1900" dirty="0">
                <a:latin typeface="Calibri"/>
                <a:cs typeface="Calibri"/>
              </a:rPr>
              <a:t> </a:t>
            </a:r>
            <a:r>
              <a:rPr sz="1900" spc="-10" dirty="0">
                <a:latin typeface="Calibri"/>
                <a:cs typeface="Calibri"/>
              </a:rPr>
              <a:t>values</a:t>
            </a:r>
            <a:r>
              <a:rPr sz="1900" dirty="0">
                <a:latin typeface="Calibri"/>
                <a:cs typeface="Calibri"/>
              </a:rPr>
              <a:t> </a:t>
            </a:r>
            <a:r>
              <a:rPr sz="1900" spc="-5" dirty="0">
                <a:latin typeface="Calibri"/>
                <a:cs typeface="Calibri"/>
              </a:rPr>
              <a:t>in</a:t>
            </a:r>
            <a:r>
              <a:rPr sz="1900" dirty="0">
                <a:latin typeface="Calibri"/>
                <a:cs typeface="Calibri"/>
              </a:rPr>
              <a:t> </a:t>
            </a:r>
            <a:r>
              <a:rPr sz="1900" spc="-5" dirty="0">
                <a:latin typeface="Calibri"/>
                <a:cs typeface="Calibri"/>
              </a:rPr>
              <a:t>the</a:t>
            </a:r>
            <a:r>
              <a:rPr sz="1900" spc="5" dirty="0">
                <a:latin typeface="Calibri"/>
                <a:cs typeface="Calibri"/>
              </a:rPr>
              <a:t> </a:t>
            </a:r>
            <a:r>
              <a:rPr sz="1900" spc="-10" dirty="0">
                <a:latin typeface="Calibri"/>
                <a:cs typeface="Calibri"/>
              </a:rPr>
              <a:t>file.</a:t>
            </a:r>
            <a:endParaRPr sz="1900" dirty="0">
              <a:latin typeface="Calibri"/>
              <a:cs typeface="Calibri"/>
            </a:endParaRPr>
          </a:p>
          <a:p>
            <a:pPr>
              <a:lnSpc>
                <a:spcPct val="100000"/>
              </a:lnSpc>
              <a:buFont typeface="Arial MT"/>
              <a:buChar char="•"/>
            </a:pPr>
            <a:endParaRPr sz="1900" dirty="0">
              <a:latin typeface="Calibri"/>
              <a:cs typeface="Calibri"/>
            </a:endParaRPr>
          </a:p>
          <a:p>
            <a:pPr marL="241300" marR="175895" indent="-228600">
              <a:lnSpc>
                <a:spcPct val="70000"/>
              </a:lnSpc>
              <a:spcBef>
                <a:spcPts val="1270"/>
              </a:spcBef>
              <a:buFont typeface="Arial MT"/>
              <a:buChar char="•"/>
              <a:tabLst>
                <a:tab pos="240665" algn="l"/>
                <a:tab pos="241300" algn="l"/>
              </a:tabLst>
            </a:pPr>
            <a:r>
              <a:rPr sz="1900" spc="-15" dirty="0">
                <a:latin typeface="Calibri"/>
                <a:cs typeface="Calibri"/>
              </a:rPr>
              <a:t>Sparse</a:t>
            </a:r>
            <a:r>
              <a:rPr sz="1900" dirty="0">
                <a:latin typeface="Calibri"/>
                <a:cs typeface="Calibri"/>
              </a:rPr>
              <a:t> </a:t>
            </a:r>
            <a:r>
              <a:rPr sz="1900" spc="-10" dirty="0">
                <a:latin typeface="Calibri"/>
                <a:cs typeface="Calibri"/>
              </a:rPr>
              <a:t>Index</a:t>
            </a:r>
            <a:r>
              <a:rPr sz="1900" dirty="0">
                <a:latin typeface="Calibri"/>
                <a:cs typeface="Calibri"/>
              </a:rPr>
              <a:t> </a:t>
            </a:r>
            <a:r>
              <a:rPr sz="1900" spc="-10" dirty="0">
                <a:latin typeface="Calibri"/>
                <a:cs typeface="Calibri"/>
              </a:rPr>
              <a:t>helps</a:t>
            </a:r>
            <a:r>
              <a:rPr sz="1900" dirty="0">
                <a:latin typeface="Calibri"/>
                <a:cs typeface="Calibri"/>
              </a:rPr>
              <a:t> </a:t>
            </a:r>
            <a:r>
              <a:rPr sz="1900" spc="-15" dirty="0">
                <a:latin typeface="Calibri"/>
                <a:cs typeface="Calibri"/>
              </a:rPr>
              <a:t>you</a:t>
            </a:r>
            <a:r>
              <a:rPr sz="1900" dirty="0">
                <a:latin typeface="Calibri"/>
                <a:cs typeface="Calibri"/>
              </a:rPr>
              <a:t> </a:t>
            </a:r>
            <a:r>
              <a:rPr sz="1900" spc="-15" dirty="0">
                <a:latin typeface="Calibri"/>
                <a:cs typeface="Calibri"/>
              </a:rPr>
              <a:t>to</a:t>
            </a:r>
            <a:r>
              <a:rPr sz="1900" spc="5" dirty="0">
                <a:latin typeface="Calibri"/>
                <a:cs typeface="Calibri"/>
              </a:rPr>
              <a:t> </a:t>
            </a:r>
            <a:r>
              <a:rPr sz="1900" spc="-15" dirty="0">
                <a:latin typeface="Calibri"/>
                <a:cs typeface="Calibri"/>
              </a:rPr>
              <a:t>resolve</a:t>
            </a:r>
            <a:r>
              <a:rPr sz="1900" spc="20" dirty="0">
                <a:latin typeface="Calibri"/>
                <a:cs typeface="Calibri"/>
              </a:rPr>
              <a:t> </a:t>
            </a:r>
            <a:r>
              <a:rPr sz="1900" spc="-5" dirty="0">
                <a:latin typeface="Calibri"/>
                <a:cs typeface="Calibri"/>
              </a:rPr>
              <a:t>the</a:t>
            </a:r>
            <a:r>
              <a:rPr sz="1900" spc="5" dirty="0">
                <a:latin typeface="Calibri"/>
                <a:cs typeface="Calibri"/>
              </a:rPr>
              <a:t> </a:t>
            </a:r>
            <a:r>
              <a:rPr sz="1900" spc="-5" dirty="0">
                <a:latin typeface="Calibri"/>
                <a:cs typeface="Calibri"/>
              </a:rPr>
              <a:t>issues</a:t>
            </a:r>
            <a:r>
              <a:rPr sz="1900" dirty="0">
                <a:latin typeface="Calibri"/>
                <a:cs typeface="Calibri"/>
              </a:rPr>
              <a:t> </a:t>
            </a:r>
            <a:r>
              <a:rPr sz="1900" spc="-10" dirty="0">
                <a:latin typeface="Calibri"/>
                <a:cs typeface="Calibri"/>
              </a:rPr>
              <a:t>of </a:t>
            </a:r>
            <a:r>
              <a:rPr sz="1900" spc="-415" dirty="0">
                <a:latin typeface="Calibri"/>
                <a:cs typeface="Calibri"/>
              </a:rPr>
              <a:t> </a:t>
            </a:r>
            <a:r>
              <a:rPr sz="1900" spc="-5" dirty="0">
                <a:latin typeface="Calibri"/>
                <a:cs typeface="Calibri"/>
              </a:rPr>
              <a:t>dense</a:t>
            </a:r>
            <a:r>
              <a:rPr sz="1900" dirty="0">
                <a:latin typeface="Calibri"/>
                <a:cs typeface="Calibri"/>
              </a:rPr>
              <a:t> </a:t>
            </a:r>
            <a:r>
              <a:rPr sz="1900" spc="-10" dirty="0">
                <a:latin typeface="Calibri"/>
                <a:cs typeface="Calibri"/>
              </a:rPr>
              <a:t>Indexing</a:t>
            </a:r>
            <a:r>
              <a:rPr sz="1900" spc="15" dirty="0">
                <a:latin typeface="Calibri"/>
                <a:cs typeface="Calibri"/>
              </a:rPr>
              <a:t> </a:t>
            </a:r>
            <a:r>
              <a:rPr sz="1900" spc="-5" dirty="0">
                <a:latin typeface="Calibri"/>
                <a:cs typeface="Calibri"/>
              </a:rPr>
              <a:t>in</a:t>
            </a:r>
            <a:r>
              <a:rPr sz="1900" dirty="0">
                <a:latin typeface="Calibri"/>
                <a:cs typeface="Calibri"/>
              </a:rPr>
              <a:t> </a:t>
            </a:r>
            <a:r>
              <a:rPr sz="1900" spc="-10" dirty="0">
                <a:latin typeface="Calibri"/>
                <a:cs typeface="Calibri"/>
              </a:rPr>
              <a:t>DBMS.</a:t>
            </a:r>
            <a:endParaRPr sz="1900" dirty="0">
              <a:latin typeface="Calibri"/>
              <a:cs typeface="Calibri"/>
            </a:endParaRPr>
          </a:p>
          <a:p>
            <a:pPr>
              <a:lnSpc>
                <a:spcPct val="100000"/>
              </a:lnSpc>
              <a:buFont typeface="Arial MT"/>
              <a:buChar char="•"/>
            </a:pPr>
            <a:endParaRPr sz="1900" dirty="0">
              <a:latin typeface="Calibri"/>
              <a:cs typeface="Calibri"/>
            </a:endParaRPr>
          </a:p>
          <a:p>
            <a:pPr marL="241300" marR="5080" indent="-228600">
              <a:lnSpc>
                <a:spcPct val="70000"/>
              </a:lnSpc>
              <a:spcBef>
                <a:spcPts val="1280"/>
              </a:spcBef>
              <a:buFont typeface="Arial MT"/>
              <a:buChar char="•"/>
              <a:tabLst>
                <a:tab pos="240665" algn="l"/>
                <a:tab pos="241300" algn="l"/>
              </a:tabLst>
            </a:pPr>
            <a:r>
              <a:rPr sz="1900" spc="-5" dirty="0">
                <a:highlight>
                  <a:srgbClr val="FFFF00"/>
                </a:highlight>
                <a:latin typeface="Calibri"/>
                <a:cs typeface="Calibri"/>
              </a:rPr>
              <a:t>In</a:t>
            </a:r>
            <a:r>
              <a:rPr sz="1900" spc="-10" dirty="0">
                <a:highlight>
                  <a:srgbClr val="FFFF00"/>
                </a:highlight>
                <a:latin typeface="Calibri"/>
                <a:cs typeface="Calibri"/>
              </a:rPr>
              <a:t> </a:t>
            </a:r>
            <a:r>
              <a:rPr sz="1900" spc="-5" dirty="0">
                <a:highlight>
                  <a:srgbClr val="FFFF00"/>
                </a:highlight>
                <a:latin typeface="Calibri"/>
                <a:cs typeface="Calibri"/>
              </a:rPr>
              <a:t>this method</a:t>
            </a:r>
            <a:r>
              <a:rPr sz="1900" spc="5" dirty="0">
                <a:highlight>
                  <a:srgbClr val="FFFF00"/>
                </a:highlight>
                <a:latin typeface="Calibri"/>
                <a:cs typeface="Calibri"/>
              </a:rPr>
              <a:t> </a:t>
            </a:r>
            <a:r>
              <a:rPr sz="1900" spc="-5" dirty="0">
                <a:highlight>
                  <a:srgbClr val="FFFF00"/>
                </a:highlight>
                <a:latin typeface="Calibri"/>
                <a:cs typeface="Calibri"/>
              </a:rPr>
              <a:t>of </a:t>
            </a:r>
            <a:r>
              <a:rPr sz="1900" spc="-10" dirty="0">
                <a:highlight>
                  <a:srgbClr val="FFFF00"/>
                </a:highlight>
                <a:latin typeface="Calibri"/>
                <a:cs typeface="Calibri"/>
              </a:rPr>
              <a:t>indexing</a:t>
            </a:r>
            <a:r>
              <a:rPr sz="1900" spc="25" dirty="0">
                <a:highlight>
                  <a:srgbClr val="FFFF00"/>
                </a:highlight>
                <a:latin typeface="Calibri"/>
                <a:cs typeface="Calibri"/>
              </a:rPr>
              <a:t> </a:t>
            </a:r>
            <a:r>
              <a:rPr sz="1900" spc="-10" dirty="0">
                <a:highlight>
                  <a:srgbClr val="FFFF00"/>
                </a:highlight>
                <a:latin typeface="Calibri"/>
                <a:cs typeface="Calibri"/>
              </a:rPr>
              <a:t>technique,</a:t>
            </a:r>
            <a:r>
              <a:rPr sz="1900" spc="10" dirty="0">
                <a:highlight>
                  <a:srgbClr val="FFFF00"/>
                </a:highlight>
                <a:latin typeface="Calibri"/>
                <a:cs typeface="Calibri"/>
              </a:rPr>
              <a:t> </a:t>
            </a:r>
            <a:r>
              <a:rPr sz="1900" spc="-5" dirty="0">
                <a:highlight>
                  <a:srgbClr val="FFFF00"/>
                </a:highlight>
                <a:latin typeface="Calibri"/>
                <a:cs typeface="Calibri"/>
              </a:rPr>
              <a:t>a</a:t>
            </a:r>
            <a:r>
              <a:rPr sz="1900" spc="-10" dirty="0">
                <a:highlight>
                  <a:srgbClr val="FFFF00"/>
                </a:highlight>
                <a:latin typeface="Calibri"/>
                <a:cs typeface="Calibri"/>
              </a:rPr>
              <a:t> </a:t>
            </a:r>
            <a:r>
              <a:rPr sz="1900" spc="-15" dirty="0">
                <a:highlight>
                  <a:srgbClr val="FFFF00"/>
                </a:highlight>
                <a:latin typeface="Calibri"/>
                <a:cs typeface="Calibri"/>
              </a:rPr>
              <a:t>range</a:t>
            </a:r>
            <a:r>
              <a:rPr sz="1900" spc="15" dirty="0">
                <a:highlight>
                  <a:srgbClr val="FFFF00"/>
                </a:highlight>
                <a:latin typeface="Calibri"/>
                <a:cs typeface="Calibri"/>
              </a:rPr>
              <a:t> </a:t>
            </a:r>
            <a:r>
              <a:rPr sz="1900" spc="-10" dirty="0">
                <a:highlight>
                  <a:srgbClr val="FFFF00"/>
                </a:highlight>
                <a:latin typeface="Calibri"/>
                <a:cs typeface="Calibri"/>
              </a:rPr>
              <a:t>of </a:t>
            </a:r>
            <a:r>
              <a:rPr sz="1900" spc="-415" dirty="0">
                <a:highlight>
                  <a:srgbClr val="FFFF00"/>
                </a:highlight>
                <a:latin typeface="Calibri"/>
                <a:cs typeface="Calibri"/>
              </a:rPr>
              <a:t> </a:t>
            </a:r>
            <a:r>
              <a:rPr sz="1900" spc="-10" dirty="0">
                <a:highlight>
                  <a:srgbClr val="FFFF00"/>
                </a:highlight>
                <a:latin typeface="Calibri"/>
                <a:cs typeface="Calibri"/>
              </a:rPr>
              <a:t>index</a:t>
            </a:r>
            <a:r>
              <a:rPr sz="1900" dirty="0">
                <a:highlight>
                  <a:srgbClr val="FFFF00"/>
                </a:highlight>
                <a:latin typeface="Calibri"/>
                <a:cs typeface="Calibri"/>
              </a:rPr>
              <a:t> </a:t>
            </a:r>
            <a:r>
              <a:rPr sz="1900" spc="-10" dirty="0">
                <a:highlight>
                  <a:srgbClr val="FFFF00"/>
                </a:highlight>
                <a:latin typeface="Calibri"/>
                <a:cs typeface="Calibri"/>
              </a:rPr>
              <a:t>columns</a:t>
            </a:r>
            <a:r>
              <a:rPr sz="1900" spc="-5" dirty="0">
                <a:highlight>
                  <a:srgbClr val="FFFF00"/>
                </a:highlight>
                <a:latin typeface="Calibri"/>
                <a:cs typeface="Calibri"/>
              </a:rPr>
              <a:t> </a:t>
            </a:r>
            <a:r>
              <a:rPr sz="1900" spc="-15" dirty="0">
                <a:highlight>
                  <a:srgbClr val="FFFF00"/>
                </a:highlight>
                <a:latin typeface="Calibri"/>
                <a:cs typeface="Calibri"/>
              </a:rPr>
              <a:t>stores</a:t>
            </a:r>
            <a:r>
              <a:rPr sz="1900" dirty="0">
                <a:highlight>
                  <a:srgbClr val="FFFF00"/>
                </a:highlight>
                <a:latin typeface="Calibri"/>
                <a:cs typeface="Calibri"/>
              </a:rPr>
              <a:t> </a:t>
            </a:r>
            <a:r>
              <a:rPr sz="1900" spc="-5" dirty="0">
                <a:highlight>
                  <a:srgbClr val="FFFF00"/>
                </a:highlight>
                <a:latin typeface="Calibri"/>
                <a:cs typeface="Calibri"/>
              </a:rPr>
              <a:t>the</a:t>
            </a:r>
            <a:r>
              <a:rPr sz="1900" dirty="0">
                <a:highlight>
                  <a:srgbClr val="FFFF00"/>
                </a:highlight>
                <a:latin typeface="Calibri"/>
                <a:cs typeface="Calibri"/>
              </a:rPr>
              <a:t> </a:t>
            </a:r>
            <a:r>
              <a:rPr sz="1900" spc="-5" dirty="0">
                <a:highlight>
                  <a:srgbClr val="FFFF00"/>
                </a:highlight>
                <a:latin typeface="Calibri"/>
                <a:cs typeface="Calibri"/>
              </a:rPr>
              <a:t>same </a:t>
            </a:r>
            <a:r>
              <a:rPr sz="1900" spc="-15" dirty="0">
                <a:highlight>
                  <a:srgbClr val="FFFF00"/>
                </a:highlight>
                <a:latin typeface="Calibri"/>
                <a:cs typeface="Calibri"/>
              </a:rPr>
              <a:t>data</a:t>
            </a:r>
            <a:r>
              <a:rPr sz="1900" spc="-5" dirty="0">
                <a:highlight>
                  <a:srgbClr val="FFFF00"/>
                </a:highlight>
                <a:latin typeface="Calibri"/>
                <a:cs typeface="Calibri"/>
              </a:rPr>
              <a:t> </a:t>
            </a:r>
            <a:r>
              <a:rPr sz="1900" spc="-10" dirty="0">
                <a:highlight>
                  <a:srgbClr val="FFFF00"/>
                </a:highlight>
                <a:latin typeface="Calibri"/>
                <a:cs typeface="Calibri"/>
              </a:rPr>
              <a:t>block </a:t>
            </a:r>
            <a:r>
              <a:rPr sz="1900" spc="-5" dirty="0">
                <a:highlight>
                  <a:srgbClr val="FFFF00"/>
                </a:highlight>
                <a:latin typeface="Calibri"/>
                <a:cs typeface="Calibri"/>
              </a:rPr>
              <a:t> </a:t>
            </a:r>
            <a:r>
              <a:rPr sz="1900" spc="-10" dirty="0">
                <a:highlight>
                  <a:srgbClr val="FFFF00"/>
                </a:highlight>
                <a:latin typeface="Calibri"/>
                <a:cs typeface="Calibri"/>
              </a:rPr>
              <a:t>address,</a:t>
            </a:r>
            <a:r>
              <a:rPr sz="1900" spc="-5" dirty="0">
                <a:highlight>
                  <a:srgbClr val="FFFF00"/>
                </a:highlight>
                <a:latin typeface="Calibri"/>
                <a:cs typeface="Calibri"/>
              </a:rPr>
              <a:t> and</a:t>
            </a:r>
            <a:r>
              <a:rPr sz="1900" spc="10" dirty="0">
                <a:highlight>
                  <a:srgbClr val="FFFF00"/>
                </a:highlight>
                <a:latin typeface="Calibri"/>
                <a:cs typeface="Calibri"/>
              </a:rPr>
              <a:t> </a:t>
            </a:r>
            <a:r>
              <a:rPr sz="1900" spc="-5" dirty="0">
                <a:highlight>
                  <a:srgbClr val="FFFF00"/>
                </a:highlight>
                <a:latin typeface="Calibri"/>
                <a:cs typeface="Calibri"/>
              </a:rPr>
              <a:t>when</a:t>
            </a:r>
            <a:r>
              <a:rPr sz="1900" spc="20" dirty="0">
                <a:highlight>
                  <a:srgbClr val="FFFF00"/>
                </a:highlight>
                <a:latin typeface="Calibri"/>
                <a:cs typeface="Calibri"/>
              </a:rPr>
              <a:t> </a:t>
            </a:r>
            <a:r>
              <a:rPr sz="1900" spc="-15" dirty="0">
                <a:highlight>
                  <a:srgbClr val="FFFF00"/>
                </a:highlight>
                <a:latin typeface="Calibri"/>
                <a:cs typeface="Calibri"/>
              </a:rPr>
              <a:t>data</a:t>
            </a:r>
            <a:r>
              <a:rPr sz="1900" dirty="0">
                <a:highlight>
                  <a:srgbClr val="FFFF00"/>
                </a:highlight>
                <a:latin typeface="Calibri"/>
                <a:cs typeface="Calibri"/>
              </a:rPr>
              <a:t> </a:t>
            </a:r>
            <a:r>
              <a:rPr sz="1900" spc="-10" dirty="0">
                <a:highlight>
                  <a:srgbClr val="FFFF00"/>
                </a:highlight>
                <a:latin typeface="Calibri"/>
                <a:cs typeface="Calibri"/>
              </a:rPr>
              <a:t>needs</a:t>
            </a:r>
            <a:r>
              <a:rPr sz="1900" spc="5" dirty="0">
                <a:highlight>
                  <a:srgbClr val="FFFF00"/>
                </a:highlight>
                <a:latin typeface="Calibri"/>
                <a:cs typeface="Calibri"/>
              </a:rPr>
              <a:t> </a:t>
            </a:r>
            <a:r>
              <a:rPr sz="1900" spc="-15" dirty="0">
                <a:highlight>
                  <a:srgbClr val="FFFF00"/>
                </a:highlight>
                <a:latin typeface="Calibri"/>
                <a:cs typeface="Calibri"/>
              </a:rPr>
              <a:t>to</a:t>
            </a:r>
            <a:r>
              <a:rPr sz="1900" spc="10" dirty="0">
                <a:highlight>
                  <a:srgbClr val="FFFF00"/>
                </a:highlight>
                <a:latin typeface="Calibri"/>
                <a:cs typeface="Calibri"/>
              </a:rPr>
              <a:t> </a:t>
            </a:r>
            <a:r>
              <a:rPr sz="1900" spc="-5" dirty="0">
                <a:highlight>
                  <a:srgbClr val="FFFF00"/>
                </a:highlight>
                <a:latin typeface="Calibri"/>
                <a:cs typeface="Calibri"/>
              </a:rPr>
              <a:t>be</a:t>
            </a:r>
            <a:r>
              <a:rPr sz="1900" spc="5" dirty="0">
                <a:highlight>
                  <a:srgbClr val="FFFF00"/>
                </a:highlight>
                <a:latin typeface="Calibri"/>
                <a:cs typeface="Calibri"/>
              </a:rPr>
              <a:t> </a:t>
            </a:r>
            <a:r>
              <a:rPr sz="1900" spc="-15" dirty="0">
                <a:highlight>
                  <a:srgbClr val="FFFF00"/>
                </a:highlight>
                <a:latin typeface="Calibri"/>
                <a:cs typeface="Calibri"/>
              </a:rPr>
              <a:t>retrieved, </a:t>
            </a:r>
            <a:r>
              <a:rPr sz="1900" spc="-10" dirty="0">
                <a:highlight>
                  <a:srgbClr val="FFFF00"/>
                </a:highlight>
                <a:latin typeface="Calibri"/>
                <a:cs typeface="Calibri"/>
              </a:rPr>
              <a:t> </a:t>
            </a:r>
            <a:r>
              <a:rPr sz="1900" spc="-5" dirty="0">
                <a:highlight>
                  <a:srgbClr val="FFFF00"/>
                </a:highlight>
                <a:latin typeface="Calibri"/>
                <a:cs typeface="Calibri"/>
              </a:rPr>
              <a:t>the</a:t>
            </a:r>
            <a:r>
              <a:rPr sz="1900" spc="-10" dirty="0">
                <a:highlight>
                  <a:srgbClr val="FFFF00"/>
                </a:highlight>
                <a:latin typeface="Calibri"/>
                <a:cs typeface="Calibri"/>
              </a:rPr>
              <a:t> </a:t>
            </a:r>
            <a:r>
              <a:rPr sz="1900" spc="-5" dirty="0">
                <a:highlight>
                  <a:srgbClr val="FFFF00"/>
                </a:highlight>
                <a:latin typeface="Calibri"/>
                <a:cs typeface="Calibri"/>
              </a:rPr>
              <a:t>block address</a:t>
            </a:r>
            <a:r>
              <a:rPr sz="1900" spc="-10" dirty="0">
                <a:highlight>
                  <a:srgbClr val="FFFF00"/>
                </a:highlight>
                <a:latin typeface="Calibri"/>
                <a:cs typeface="Calibri"/>
              </a:rPr>
              <a:t> </a:t>
            </a:r>
            <a:r>
              <a:rPr sz="1900" spc="-5" dirty="0">
                <a:highlight>
                  <a:srgbClr val="FFFF00"/>
                </a:highlight>
                <a:latin typeface="Calibri"/>
                <a:cs typeface="Calibri"/>
              </a:rPr>
              <a:t>will</a:t>
            </a:r>
            <a:r>
              <a:rPr sz="1900" spc="10" dirty="0">
                <a:highlight>
                  <a:srgbClr val="FFFF00"/>
                </a:highlight>
                <a:latin typeface="Calibri"/>
                <a:cs typeface="Calibri"/>
              </a:rPr>
              <a:t> </a:t>
            </a:r>
            <a:r>
              <a:rPr sz="1900" spc="-5" dirty="0">
                <a:highlight>
                  <a:srgbClr val="FFFF00"/>
                </a:highlight>
                <a:latin typeface="Calibri"/>
                <a:cs typeface="Calibri"/>
              </a:rPr>
              <a:t>be </a:t>
            </a:r>
            <a:r>
              <a:rPr sz="1900" spc="-15" dirty="0">
                <a:highlight>
                  <a:srgbClr val="FFFF00"/>
                </a:highlight>
                <a:latin typeface="Calibri"/>
                <a:cs typeface="Calibri"/>
              </a:rPr>
              <a:t>fetched.</a:t>
            </a:r>
            <a:endParaRPr sz="1900" dirty="0">
              <a:highlight>
                <a:srgbClr val="FFFF00"/>
              </a:highlight>
              <a:latin typeface="Calibri"/>
              <a:cs typeface="Calibri"/>
            </a:endParaRPr>
          </a:p>
          <a:p>
            <a:pPr>
              <a:lnSpc>
                <a:spcPct val="100000"/>
              </a:lnSpc>
              <a:buFont typeface="Arial MT"/>
              <a:buChar char="•"/>
            </a:pPr>
            <a:endParaRPr sz="1900" dirty="0">
              <a:latin typeface="Calibri"/>
              <a:cs typeface="Calibri"/>
            </a:endParaRPr>
          </a:p>
          <a:p>
            <a:pPr marL="241300" marR="155575" indent="-228600">
              <a:lnSpc>
                <a:spcPct val="70000"/>
              </a:lnSpc>
              <a:spcBef>
                <a:spcPts val="1285"/>
              </a:spcBef>
              <a:buFont typeface="Arial MT"/>
              <a:buChar char="•"/>
              <a:tabLst>
                <a:tab pos="240665" algn="l"/>
                <a:tab pos="241300" algn="l"/>
              </a:tabLst>
            </a:pPr>
            <a:r>
              <a:rPr sz="1900" spc="-35" dirty="0">
                <a:latin typeface="Calibri"/>
                <a:cs typeface="Calibri"/>
              </a:rPr>
              <a:t>However,</a:t>
            </a:r>
            <a:r>
              <a:rPr sz="1900" spc="40" dirty="0">
                <a:latin typeface="Calibri"/>
                <a:cs typeface="Calibri"/>
              </a:rPr>
              <a:t> </a:t>
            </a:r>
            <a:r>
              <a:rPr sz="1900" spc="-15" dirty="0">
                <a:latin typeface="Calibri"/>
                <a:cs typeface="Calibri"/>
              </a:rPr>
              <a:t>sparse</a:t>
            </a:r>
            <a:r>
              <a:rPr sz="1900" dirty="0">
                <a:latin typeface="Calibri"/>
                <a:cs typeface="Calibri"/>
              </a:rPr>
              <a:t> </a:t>
            </a:r>
            <a:r>
              <a:rPr sz="1900" spc="-10" dirty="0">
                <a:latin typeface="Calibri"/>
                <a:cs typeface="Calibri"/>
              </a:rPr>
              <a:t>Index</a:t>
            </a:r>
            <a:r>
              <a:rPr sz="1900" dirty="0">
                <a:latin typeface="Calibri"/>
                <a:cs typeface="Calibri"/>
              </a:rPr>
              <a:t> </a:t>
            </a:r>
            <a:r>
              <a:rPr sz="1900" spc="-20" dirty="0">
                <a:latin typeface="Calibri"/>
                <a:cs typeface="Calibri"/>
              </a:rPr>
              <a:t>stores</a:t>
            </a:r>
            <a:r>
              <a:rPr sz="1900" dirty="0">
                <a:latin typeface="Calibri"/>
                <a:cs typeface="Calibri"/>
              </a:rPr>
              <a:t> </a:t>
            </a:r>
            <a:r>
              <a:rPr sz="1900" spc="-10" dirty="0">
                <a:latin typeface="Calibri"/>
                <a:cs typeface="Calibri"/>
              </a:rPr>
              <a:t>index</a:t>
            </a:r>
            <a:r>
              <a:rPr sz="1900" spc="10" dirty="0">
                <a:latin typeface="Calibri"/>
                <a:cs typeface="Calibri"/>
              </a:rPr>
              <a:t> </a:t>
            </a:r>
            <a:r>
              <a:rPr sz="1900" spc="-15" dirty="0">
                <a:latin typeface="Calibri"/>
                <a:cs typeface="Calibri"/>
              </a:rPr>
              <a:t>records</a:t>
            </a:r>
            <a:r>
              <a:rPr sz="1900" spc="-5" dirty="0">
                <a:latin typeface="Calibri"/>
                <a:cs typeface="Calibri"/>
              </a:rPr>
              <a:t> </a:t>
            </a:r>
            <a:r>
              <a:rPr sz="1900" spc="-20" dirty="0">
                <a:latin typeface="Calibri"/>
                <a:cs typeface="Calibri"/>
              </a:rPr>
              <a:t>for </a:t>
            </a:r>
            <a:r>
              <a:rPr sz="1900" spc="-415" dirty="0">
                <a:latin typeface="Calibri"/>
                <a:cs typeface="Calibri"/>
              </a:rPr>
              <a:t> </a:t>
            </a:r>
            <a:r>
              <a:rPr sz="1900" spc="-10" dirty="0">
                <a:latin typeface="Calibri"/>
                <a:cs typeface="Calibri"/>
              </a:rPr>
              <a:t>only</a:t>
            </a:r>
            <a:r>
              <a:rPr sz="1900" spc="5" dirty="0">
                <a:latin typeface="Calibri"/>
                <a:cs typeface="Calibri"/>
              </a:rPr>
              <a:t> </a:t>
            </a:r>
            <a:r>
              <a:rPr sz="1900" spc="-10" dirty="0">
                <a:latin typeface="Calibri"/>
                <a:cs typeface="Calibri"/>
              </a:rPr>
              <a:t>some</a:t>
            </a:r>
            <a:r>
              <a:rPr sz="1900" spc="-5" dirty="0">
                <a:latin typeface="Calibri"/>
                <a:cs typeface="Calibri"/>
              </a:rPr>
              <a:t> </a:t>
            </a:r>
            <a:r>
              <a:rPr sz="1900" spc="-15" dirty="0">
                <a:latin typeface="Calibri"/>
                <a:cs typeface="Calibri"/>
              </a:rPr>
              <a:t>search-key</a:t>
            </a:r>
            <a:r>
              <a:rPr sz="1900" spc="5" dirty="0">
                <a:latin typeface="Calibri"/>
                <a:cs typeface="Calibri"/>
              </a:rPr>
              <a:t> </a:t>
            </a:r>
            <a:r>
              <a:rPr sz="1900" spc="-10" dirty="0">
                <a:latin typeface="Calibri"/>
                <a:cs typeface="Calibri"/>
              </a:rPr>
              <a:t>values.</a:t>
            </a:r>
            <a:endParaRPr sz="1900" dirty="0">
              <a:latin typeface="Calibri"/>
              <a:cs typeface="Calibri"/>
            </a:endParaRPr>
          </a:p>
          <a:p>
            <a:pPr>
              <a:lnSpc>
                <a:spcPct val="100000"/>
              </a:lnSpc>
              <a:buFont typeface="Arial MT"/>
              <a:buChar char="•"/>
            </a:pPr>
            <a:endParaRPr sz="1900" dirty="0">
              <a:latin typeface="Calibri"/>
              <a:cs typeface="Calibri"/>
            </a:endParaRPr>
          </a:p>
          <a:p>
            <a:pPr marL="241300" marR="91440" indent="-228600">
              <a:lnSpc>
                <a:spcPct val="70000"/>
              </a:lnSpc>
              <a:spcBef>
                <a:spcPts val="1265"/>
              </a:spcBef>
              <a:buFont typeface="Arial MT"/>
              <a:buChar char="•"/>
              <a:tabLst>
                <a:tab pos="240665" algn="l"/>
                <a:tab pos="241300" algn="l"/>
              </a:tabLst>
            </a:pPr>
            <a:r>
              <a:rPr sz="1900" spc="-5" dirty="0">
                <a:highlight>
                  <a:srgbClr val="FFFF00"/>
                </a:highlight>
                <a:latin typeface="Calibri"/>
                <a:cs typeface="Calibri"/>
              </a:rPr>
              <a:t>It</a:t>
            </a:r>
            <a:r>
              <a:rPr sz="1900" spc="-10" dirty="0">
                <a:highlight>
                  <a:srgbClr val="FFFF00"/>
                </a:highlight>
                <a:latin typeface="Calibri"/>
                <a:cs typeface="Calibri"/>
              </a:rPr>
              <a:t> </a:t>
            </a:r>
            <a:r>
              <a:rPr sz="1900" spc="-5" dirty="0">
                <a:highlight>
                  <a:srgbClr val="FFFF00"/>
                </a:highlight>
                <a:latin typeface="Calibri"/>
                <a:cs typeface="Calibri"/>
              </a:rPr>
              <a:t>needs</a:t>
            </a:r>
            <a:r>
              <a:rPr sz="1900" spc="10" dirty="0">
                <a:highlight>
                  <a:srgbClr val="FFFF00"/>
                </a:highlight>
                <a:latin typeface="Calibri"/>
                <a:cs typeface="Calibri"/>
              </a:rPr>
              <a:t> </a:t>
            </a:r>
            <a:r>
              <a:rPr sz="1900" spc="-5" dirty="0">
                <a:highlight>
                  <a:srgbClr val="FFFF00"/>
                </a:highlight>
                <a:latin typeface="Calibri"/>
                <a:cs typeface="Calibri"/>
              </a:rPr>
              <a:t>less space, less</a:t>
            </a:r>
            <a:r>
              <a:rPr sz="1900" spc="5" dirty="0">
                <a:highlight>
                  <a:srgbClr val="FFFF00"/>
                </a:highlight>
                <a:latin typeface="Calibri"/>
                <a:cs typeface="Calibri"/>
              </a:rPr>
              <a:t> </a:t>
            </a:r>
            <a:r>
              <a:rPr sz="1900" spc="-10" dirty="0">
                <a:highlight>
                  <a:srgbClr val="FFFF00"/>
                </a:highlight>
                <a:latin typeface="Calibri"/>
                <a:cs typeface="Calibri"/>
              </a:rPr>
              <a:t>maintenance</a:t>
            </a:r>
            <a:r>
              <a:rPr sz="1900" spc="20" dirty="0">
                <a:highlight>
                  <a:srgbClr val="FFFF00"/>
                </a:highlight>
                <a:latin typeface="Calibri"/>
                <a:cs typeface="Calibri"/>
              </a:rPr>
              <a:t> </a:t>
            </a:r>
            <a:r>
              <a:rPr sz="1900" spc="-10" dirty="0">
                <a:highlight>
                  <a:srgbClr val="FFFF00"/>
                </a:highlight>
                <a:latin typeface="Calibri"/>
                <a:cs typeface="Calibri"/>
              </a:rPr>
              <a:t>overhead </a:t>
            </a:r>
            <a:r>
              <a:rPr sz="1900" spc="-415" dirty="0">
                <a:highlight>
                  <a:srgbClr val="FFFF00"/>
                </a:highlight>
                <a:latin typeface="Calibri"/>
                <a:cs typeface="Calibri"/>
              </a:rPr>
              <a:t> </a:t>
            </a:r>
            <a:r>
              <a:rPr sz="1900" spc="-20" dirty="0">
                <a:highlight>
                  <a:srgbClr val="FFFF00"/>
                </a:highlight>
                <a:latin typeface="Calibri"/>
                <a:cs typeface="Calibri"/>
              </a:rPr>
              <a:t>for</a:t>
            </a:r>
            <a:r>
              <a:rPr sz="1900" spc="-5" dirty="0">
                <a:highlight>
                  <a:srgbClr val="FFFF00"/>
                </a:highlight>
                <a:latin typeface="Calibri"/>
                <a:cs typeface="Calibri"/>
              </a:rPr>
              <a:t> insertion,</a:t>
            </a:r>
            <a:r>
              <a:rPr sz="1900" spc="5" dirty="0">
                <a:highlight>
                  <a:srgbClr val="FFFF00"/>
                </a:highlight>
                <a:latin typeface="Calibri"/>
                <a:cs typeface="Calibri"/>
              </a:rPr>
              <a:t> </a:t>
            </a:r>
            <a:r>
              <a:rPr sz="1900" spc="-5" dirty="0">
                <a:highlight>
                  <a:srgbClr val="FFFF00"/>
                </a:highlight>
                <a:latin typeface="Calibri"/>
                <a:cs typeface="Calibri"/>
              </a:rPr>
              <a:t>and</a:t>
            </a:r>
            <a:r>
              <a:rPr sz="1900" spc="15" dirty="0">
                <a:highlight>
                  <a:srgbClr val="FFFF00"/>
                </a:highlight>
                <a:latin typeface="Calibri"/>
                <a:cs typeface="Calibri"/>
              </a:rPr>
              <a:t> </a:t>
            </a:r>
            <a:r>
              <a:rPr sz="1900" spc="-10" dirty="0">
                <a:highlight>
                  <a:srgbClr val="FFFF00"/>
                </a:highlight>
                <a:latin typeface="Calibri"/>
                <a:cs typeface="Calibri"/>
              </a:rPr>
              <a:t>deletions</a:t>
            </a:r>
            <a:r>
              <a:rPr sz="1900" spc="10" dirty="0">
                <a:highlight>
                  <a:srgbClr val="FFFF00"/>
                </a:highlight>
                <a:latin typeface="Calibri"/>
                <a:cs typeface="Calibri"/>
              </a:rPr>
              <a:t> </a:t>
            </a:r>
            <a:r>
              <a:rPr sz="1900" spc="-10" dirty="0">
                <a:highlight>
                  <a:srgbClr val="FFFF00"/>
                </a:highlight>
                <a:latin typeface="Calibri"/>
                <a:cs typeface="Calibri"/>
              </a:rPr>
              <a:t>but</a:t>
            </a:r>
            <a:r>
              <a:rPr sz="1900" spc="-5" dirty="0">
                <a:highlight>
                  <a:srgbClr val="FFFF00"/>
                </a:highlight>
                <a:latin typeface="Calibri"/>
                <a:cs typeface="Calibri"/>
              </a:rPr>
              <a:t> </a:t>
            </a:r>
            <a:r>
              <a:rPr sz="1900" dirty="0">
                <a:highlight>
                  <a:srgbClr val="FFFF00"/>
                </a:highlight>
                <a:latin typeface="Calibri"/>
                <a:cs typeface="Calibri"/>
              </a:rPr>
              <a:t>It</a:t>
            </a:r>
            <a:r>
              <a:rPr sz="1900" spc="-10" dirty="0">
                <a:highlight>
                  <a:srgbClr val="FFFF00"/>
                </a:highlight>
                <a:latin typeface="Calibri"/>
                <a:cs typeface="Calibri"/>
              </a:rPr>
              <a:t> </a:t>
            </a:r>
            <a:r>
              <a:rPr sz="1900" spc="-5" dirty="0">
                <a:highlight>
                  <a:srgbClr val="FFFF00"/>
                </a:highlight>
                <a:latin typeface="Calibri"/>
                <a:cs typeface="Calibri"/>
              </a:rPr>
              <a:t>is</a:t>
            </a:r>
            <a:r>
              <a:rPr sz="1900" dirty="0">
                <a:highlight>
                  <a:srgbClr val="FFFF00"/>
                </a:highlight>
                <a:latin typeface="Calibri"/>
                <a:cs typeface="Calibri"/>
              </a:rPr>
              <a:t> </a:t>
            </a:r>
            <a:r>
              <a:rPr sz="1900" spc="-10" dirty="0">
                <a:highlight>
                  <a:srgbClr val="FFFF00"/>
                </a:highlight>
                <a:latin typeface="Calibri"/>
                <a:cs typeface="Calibri"/>
              </a:rPr>
              <a:t>slower </a:t>
            </a:r>
            <a:r>
              <a:rPr sz="1900" spc="-5" dirty="0">
                <a:highlight>
                  <a:srgbClr val="FFFF00"/>
                </a:highlight>
                <a:latin typeface="Calibri"/>
                <a:cs typeface="Calibri"/>
              </a:rPr>
              <a:t> </a:t>
            </a:r>
            <a:r>
              <a:rPr sz="1900" spc="-10" dirty="0">
                <a:highlight>
                  <a:srgbClr val="FFFF00"/>
                </a:highlight>
                <a:latin typeface="Calibri"/>
                <a:cs typeface="Calibri"/>
              </a:rPr>
              <a:t>compared</a:t>
            </a:r>
            <a:r>
              <a:rPr sz="1900" dirty="0">
                <a:highlight>
                  <a:srgbClr val="FFFF00"/>
                </a:highlight>
                <a:latin typeface="Calibri"/>
                <a:cs typeface="Calibri"/>
              </a:rPr>
              <a:t> </a:t>
            </a:r>
            <a:r>
              <a:rPr sz="1900" spc="-15" dirty="0">
                <a:highlight>
                  <a:srgbClr val="FFFF00"/>
                </a:highlight>
                <a:latin typeface="Calibri"/>
                <a:cs typeface="Calibri"/>
              </a:rPr>
              <a:t>to</a:t>
            </a:r>
            <a:r>
              <a:rPr sz="1900" spc="-5" dirty="0">
                <a:highlight>
                  <a:srgbClr val="FFFF00"/>
                </a:highlight>
                <a:latin typeface="Calibri"/>
                <a:cs typeface="Calibri"/>
              </a:rPr>
              <a:t> the</a:t>
            </a:r>
            <a:r>
              <a:rPr sz="1900" spc="15" dirty="0">
                <a:highlight>
                  <a:srgbClr val="FFFF00"/>
                </a:highlight>
                <a:latin typeface="Calibri"/>
                <a:cs typeface="Calibri"/>
              </a:rPr>
              <a:t> </a:t>
            </a:r>
            <a:r>
              <a:rPr sz="1900" spc="-5" dirty="0">
                <a:highlight>
                  <a:srgbClr val="FFFF00"/>
                </a:highlight>
                <a:latin typeface="Calibri"/>
                <a:cs typeface="Calibri"/>
              </a:rPr>
              <a:t>dense </a:t>
            </a:r>
            <a:r>
              <a:rPr sz="1900" spc="-10" dirty="0">
                <a:highlight>
                  <a:srgbClr val="FFFF00"/>
                </a:highlight>
                <a:latin typeface="Calibri"/>
                <a:cs typeface="Calibri"/>
              </a:rPr>
              <a:t>Index</a:t>
            </a:r>
            <a:r>
              <a:rPr sz="1900" spc="5" dirty="0">
                <a:highlight>
                  <a:srgbClr val="FFFF00"/>
                </a:highlight>
                <a:latin typeface="Calibri"/>
                <a:cs typeface="Calibri"/>
              </a:rPr>
              <a:t> </a:t>
            </a:r>
            <a:r>
              <a:rPr sz="1900" spc="-20" dirty="0">
                <a:highlight>
                  <a:srgbClr val="FFFF00"/>
                </a:highlight>
                <a:latin typeface="Calibri"/>
                <a:cs typeface="Calibri"/>
              </a:rPr>
              <a:t>for </a:t>
            </a:r>
            <a:r>
              <a:rPr sz="1900" spc="-10" dirty="0">
                <a:highlight>
                  <a:srgbClr val="FFFF00"/>
                </a:highlight>
                <a:latin typeface="Calibri"/>
                <a:cs typeface="Calibri"/>
              </a:rPr>
              <a:t>locating </a:t>
            </a:r>
            <a:r>
              <a:rPr sz="1900" spc="-5" dirty="0">
                <a:highlight>
                  <a:srgbClr val="FFFF00"/>
                </a:highlight>
                <a:latin typeface="Calibri"/>
                <a:cs typeface="Calibri"/>
              </a:rPr>
              <a:t> </a:t>
            </a:r>
            <a:r>
              <a:rPr sz="1900" spc="-15" dirty="0">
                <a:highlight>
                  <a:srgbClr val="FFFF00"/>
                </a:highlight>
                <a:latin typeface="Calibri"/>
                <a:cs typeface="Calibri"/>
              </a:rPr>
              <a:t>records</a:t>
            </a:r>
            <a:endParaRPr sz="1900" dirty="0">
              <a:highlight>
                <a:srgbClr val="FFFF00"/>
              </a:highlight>
              <a:latin typeface="Calibri"/>
              <a:cs typeface="Calibri"/>
            </a:endParaRPr>
          </a:p>
        </p:txBody>
      </p:sp>
      <p:sp>
        <p:nvSpPr>
          <p:cNvPr id="4" name="object 4"/>
          <p:cNvSpPr/>
          <p:nvPr/>
        </p:nvSpPr>
        <p:spPr>
          <a:xfrm>
            <a:off x="2" y="4600955"/>
            <a:ext cx="1014095" cy="2018030"/>
          </a:xfrm>
          <a:custGeom>
            <a:avLst/>
            <a:gdLst/>
            <a:ahLst/>
            <a:cxnLst/>
            <a:rect l="l" t="t" r="r" b="b"/>
            <a:pathLst>
              <a:path w="1014094" h="2018029">
                <a:moveTo>
                  <a:pt x="1014056" y="1370545"/>
                </a:moveTo>
                <a:lnTo>
                  <a:pt x="832510" y="1189012"/>
                </a:lnTo>
                <a:lnTo>
                  <a:pt x="1013460" y="1008888"/>
                </a:lnTo>
                <a:lnTo>
                  <a:pt x="0" y="0"/>
                </a:lnTo>
                <a:lnTo>
                  <a:pt x="0" y="2017776"/>
                </a:lnTo>
                <a:lnTo>
                  <a:pt x="488391" y="1531594"/>
                </a:lnTo>
                <a:lnTo>
                  <a:pt x="670699" y="1713890"/>
                </a:lnTo>
                <a:lnTo>
                  <a:pt x="1014056" y="1370545"/>
                </a:lnTo>
                <a:close/>
              </a:path>
            </a:pathLst>
          </a:custGeom>
          <a:solidFill>
            <a:srgbClr val="4471C4">
              <a:alpha val="30195"/>
            </a:srgbClr>
          </a:solidFill>
        </p:spPr>
        <p:txBody>
          <a:bodyPr wrap="square" lIns="0" tIns="0" rIns="0" bIns="0" rtlCol="0"/>
          <a:lstStyle/>
          <a:p>
            <a:endParaRPr/>
          </a:p>
        </p:txBody>
      </p:sp>
      <p:sp>
        <p:nvSpPr>
          <p:cNvPr id="5" name="object 5"/>
          <p:cNvSpPr/>
          <p:nvPr/>
        </p:nvSpPr>
        <p:spPr>
          <a:xfrm>
            <a:off x="11219309" y="0"/>
            <a:ext cx="972819" cy="1935480"/>
          </a:xfrm>
          <a:custGeom>
            <a:avLst/>
            <a:gdLst/>
            <a:ahLst/>
            <a:cxnLst/>
            <a:rect l="l" t="t" r="r" b="b"/>
            <a:pathLst>
              <a:path w="972820" h="1935480">
                <a:moveTo>
                  <a:pt x="972693" y="0"/>
                </a:moveTo>
                <a:lnTo>
                  <a:pt x="381" y="967740"/>
                </a:lnTo>
                <a:lnTo>
                  <a:pt x="177482" y="1144016"/>
                </a:lnTo>
                <a:lnTo>
                  <a:pt x="0" y="1321562"/>
                </a:lnTo>
                <a:lnTo>
                  <a:pt x="348615" y="1670177"/>
                </a:lnTo>
                <a:lnTo>
                  <a:pt x="526986" y="1491881"/>
                </a:lnTo>
                <a:lnTo>
                  <a:pt x="972693" y="1935480"/>
                </a:lnTo>
                <a:lnTo>
                  <a:pt x="972693" y="0"/>
                </a:lnTo>
                <a:close/>
              </a:path>
            </a:pathLst>
          </a:custGeom>
          <a:solidFill>
            <a:srgbClr val="FFC000">
              <a:alpha val="30195"/>
            </a:srgbClr>
          </a:solidFill>
        </p:spPr>
        <p:txBody>
          <a:bodyPr wrap="square" lIns="0" tIns="0" rIns="0" bIns="0" rtlCol="0"/>
          <a:lstStyle/>
          <a:p>
            <a:endParaRPr/>
          </a:p>
        </p:txBody>
      </p:sp>
      <p:pic>
        <p:nvPicPr>
          <p:cNvPr id="6" name="object 6"/>
          <p:cNvPicPr/>
          <p:nvPr/>
        </p:nvPicPr>
        <p:blipFill>
          <a:blip r:embed="rId2" cstate="print"/>
          <a:stretch>
            <a:fillRect/>
          </a:stretch>
        </p:blipFill>
        <p:spPr>
          <a:xfrm>
            <a:off x="6679693" y="1604776"/>
            <a:ext cx="3144011" cy="3877055"/>
          </a:xfrm>
          <a:prstGeom prst="rect">
            <a:avLst/>
          </a:prstGeom>
        </p:spPr>
      </p:pic>
    </p:spTree>
    <p:extLst>
      <p:ext uri="{BB962C8B-B14F-4D97-AF65-F5344CB8AC3E}">
        <p14:creationId xmlns:p14="http://schemas.microsoft.com/office/powerpoint/2010/main" val="1199723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Primary index</a:t>
            </a:r>
            <a:endParaRPr lang="en-IN" dirty="0"/>
          </a:p>
        </p:txBody>
      </p:sp>
      <p:sp>
        <p:nvSpPr>
          <p:cNvPr id="3" name="Content Placeholder 2"/>
          <p:cNvSpPr>
            <a:spLocks noGrp="1"/>
          </p:cNvSpPr>
          <p:nvPr>
            <p:ph idx="1"/>
          </p:nvPr>
        </p:nvSpPr>
        <p:spPr/>
        <p:txBody>
          <a:bodyPr/>
          <a:lstStyle/>
          <a:p>
            <a:r>
              <a:rPr lang="en-US" dirty="0"/>
              <a:t>A primary index is an ordered file whose records are of fixed length with two fields.</a:t>
            </a:r>
          </a:p>
          <a:p>
            <a:pPr lvl="1"/>
            <a:r>
              <a:rPr lang="en-US" dirty="0"/>
              <a:t>The </a:t>
            </a:r>
            <a:r>
              <a:rPr lang="en-US" dirty="0">
                <a:highlight>
                  <a:srgbClr val="FFFF00"/>
                </a:highlight>
              </a:rPr>
              <a:t>first field is of the same data type as the ordering key field</a:t>
            </a:r>
            <a:r>
              <a:rPr lang="en-US" dirty="0"/>
              <a:t>—called the primary key—of the data file, </a:t>
            </a:r>
          </a:p>
          <a:p>
            <a:pPr lvl="1"/>
            <a:r>
              <a:rPr lang="en-US" dirty="0"/>
              <a:t>and </a:t>
            </a:r>
            <a:r>
              <a:rPr lang="en-US" dirty="0">
                <a:highlight>
                  <a:srgbClr val="FFFF00"/>
                </a:highlight>
              </a:rPr>
              <a:t>the second field is a pointer to a disk </a:t>
            </a:r>
            <a:r>
              <a:rPr lang="en-US" dirty="0"/>
              <a:t>block (a block address). </a:t>
            </a:r>
          </a:p>
          <a:p>
            <a:r>
              <a:rPr lang="en-US" dirty="0"/>
              <a:t>There is one index entry (or index record) in the index file for each block in the data file. </a:t>
            </a:r>
          </a:p>
          <a:p>
            <a:r>
              <a:rPr lang="en-US" dirty="0">
                <a:highlight>
                  <a:srgbClr val="FFFF00"/>
                </a:highlight>
              </a:rPr>
              <a:t>Each index entry has the value of the primary key field for the first record in a block and a pointer to that block as its two field values. </a:t>
            </a:r>
          </a:p>
          <a:p>
            <a:r>
              <a:rPr lang="en-US" dirty="0"/>
              <a:t>We will refer to</a:t>
            </a:r>
            <a:r>
              <a:rPr lang="en-US" dirty="0">
                <a:highlight>
                  <a:srgbClr val="FFFF00"/>
                </a:highlight>
              </a:rPr>
              <a:t> the two field values of index entry </a:t>
            </a:r>
            <a:r>
              <a:rPr lang="en-US" dirty="0" err="1">
                <a:highlight>
                  <a:srgbClr val="FFFF00"/>
                </a:highlight>
              </a:rPr>
              <a:t>i</a:t>
            </a:r>
            <a:r>
              <a:rPr lang="en-US" dirty="0">
                <a:highlight>
                  <a:srgbClr val="FFFF00"/>
                </a:highlight>
              </a:rPr>
              <a:t> as &lt;K(</a:t>
            </a:r>
            <a:r>
              <a:rPr lang="en-US" dirty="0" err="1">
                <a:highlight>
                  <a:srgbClr val="FFFF00"/>
                </a:highlight>
              </a:rPr>
              <a:t>i</a:t>
            </a:r>
            <a:r>
              <a:rPr lang="en-US" dirty="0">
                <a:highlight>
                  <a:srgbClr val="FFFF00"/>
                </a:highlight>
              </a:rPr>
              <a:t>),P(</a:t>
            </a:r>
            <a:r>
              <a:rPr lang="en-US" dirty="0" err="1">
                <a:highlight>
                  <a:srgbClr val="FFFF00"/>
                </a:highlight>
              </a:rPr>
              <a:t>i</a:t>
            </a:r>
            <a:r>
              <a:rPr lang="en-US" dirty="0">
                <a:highlight>
                  <a:srgbClr val="FFFF00"/>
                </a:highlight>
              </a:rPr>
              <a:t>)&gt;</a:t>
            </a:r>
            <a:endParaRPr lang="en-IN" dirty="0">
              <a:highlight>
                <a:srgbClr val="FFFF00"/>
              </a:highlight>
            </a:endParaRPr>
          </a:p>
        </p:txBody>
      </p:sp>
    </p:spTree>
    <p:extLst>
      <p:ext uri="{BB962C8B-B14F-4D97-AF65-F5344CB8AC3E}">
        <p14:creationId xmlns:p14="http://schemas.microsoft.com/office/powerpoint/2010/main" val="1292962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Example </a:t>
            </a:r>
            <a:endParaRPr lang="en-IN" dirty="0"/>
          </a:p>
        </p:txBody>
      </p:sp>
      <p:sp>
        <p:nvSpPr>
          <p:cNvPr id="3" name="Content Placeholder 2"/>
          <p:cNvSpPr>
            <a:spLocks noGrp="1"/>
          </p:cNvSpPr>
          <p:nvPr>
            <p:ph sz="half" idx="1"/>
          </p:nvPr>
        </p:nvSpPr>
        <p:spPr>
          <a:xfrm>
            <a:off x="304800" y="1600200"/>
            <a:ext cx="4876800" cy="4590288"/>
          </a:xfrm>
        </p:spPr>
        <p:txBody>
          <a:bodyPr>
            <a:normAutofit lnSpcReduction="10000"/>
          </a:bodyPr>
          <a:lstStyle/>
          <a:p>
            <a:r>
              <a:rPr lang="en-US" dirty="0"/>
              <a:t>To create a primary index on the ordered, we use the Name field as primary key, because that is the ordering key field of the file (assuming that each value of Name is unique). </a:t>
            </a:r>
          </a:p>
          <a:p>
            <a:r>
              <a:rPr lang="en-US" dirty="0"/>
              <a:t>Each entry in the index has a Name value and a pointer. The first three index entries are as follows: </a:t>
            </a:r>
            <a:endParaRPr lang="en-IN" dirty="0"/>
          </a:p>
        </p:txBody>
      </p:sp>
      <p:sp>
        <p:nvSpPr>
          <p:cNvPr id="5" name="Content Placeholder 4"/>
          <p:cNvSpPr>
            <a:spLocks noGrp="1"/>
          </p:cNvSpPr>
          <p:nvPr>
            <p:ph sz="half" idx="2"/>
          </p:nvPr>
        </p:nvSpPr>
        <p:spPr/>
        <p:txBody>
          <a:bodyPr>
            <a:normAutofit lnSpcReduction="10000"/>
          </a:bodyPr>
          <a:lstStyle/>
          <a:p>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990599"/>
            <a:ext cx="5667375" cy="5038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6029324"/>
            <a:ext cx="2886075" cy="600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22360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Cluster index</a:t>
            </a:r>
            <a:endParaRPr lang="en-IN" dirty="0"/>
          </a:p>
        </p:txBody>
      </p:sp>
      <p:sp>
        <p:nvSpPr>
          <p:cNvPr id="3" name="Content Placeholder 2"/>
          <p:cNvSpPr>
            <a:spLocks noGrp="1"/>
          </p:cNvSpPr>
          <p:nvPr>
            <p:ph idx="1"/>
          </p:nvPr>
        </p:nvSpPr>
        <p:spPr/>
        <p:txBody>
          <a:bodyPr>
            <a:normAutofit lnSpcReduction="10000"/>
          </a:bodyPr>
          <a:lstStyle/>
          <a:p>
            <a:pPr fontAlgn="base"/>
            <a:r>
              <a:rPr lang="en-US" sz="2400" dirty="0"/>
              <a:t>Sometimes </a:t>
            </a:r>
            <a:r>
              <a:rPr lang="en-US" sz="2400" dirty="0">
                <a:highlight>
                  <a:srgbClr val="FFFF00"/>
                </a:highlight>
              </a:rPr>
              <a:t>the index is created on non-primary key columns which may not be unique for each record.</a:t>
            </a:r>
          </a:p>
          <a:p>
            <a:pPr fontAlgn="base"/>
            <a:r>
              <a:rPr lang="en-US" sz="2400" dirty="0"/>
              <a:t>In this case, to identify the record faster, we will group two or more columns to get the unique value and create index out of them. </a:t>
            </a:r>
          </a:p>
          <a:p>
            <a:pPr fontAlgn="base"/>
            <a:r>
              <a:rPr lang="en-US" sz="2400" dirty="0"/>
              <a:t>This method is called a clustering index.</a:t>
            </a:r>
          </a:p>
          <a:p>
            <a:pPr fontAlgn="base"/>
            <a:r>
              <a:rPr lang="en-US" sz="2400" dirty="0"/>
              <a:t>A clustered index can be defined as an ordered data file.</a:t>
            </a:r>
          </a:p>
          <a:p>
            <a:pPr fontAlgn="base"/>
            <a:r>
              <a:rPr lang="en-US" sz="2400" dirty="0">
                <a:highlight>
                  <a:srgbClr val="FFFF00"/>
                </a:highlight>
              </a:rPr>
              <a:t>The records which have similar characteristics are grouped, and indexes are created for these group.</a:t>
            </a:r>
          </a:p>
          <a:p>
            <a:pPr fontAlgn="base"/>
            <a:endParaRPr lang="en-US" sz="2400" dirty="0"/>
          </a:p>
          <a:p>
            <a:pPr fontAlgn="base"/>
            <a:r>
              <a:rPr lang="en-US" sz="2400" dirty="0">
                <a:highlight>
                  <a:srgbClr val="FFFF00"/>
                </a:highlight>
              </a:rPr>
              <a:t>Ordered file with two fields</a:t>
            </a:r>
            <a:endParaRPr lang="en-US" sz="1600" dirty="0">
              <a:highlight>
                <a:srgbClr val="FFFF00"/>
              </a:highlight>
            </a:endParaRPr>
          </a:p>
          <a:p>
            <a:pPr lvl="1" fontAlgn="base"/>
            <a:r>
              <a:rPr lang="en-US" dirty="0">
                <a:highlight>
                  <a:srgbClr val="FFFF00"/>
                </a:highlight>
              </a:rPr>
              <a:t>Same type as clustering field</a:t>
            </a:r>
            <a:endParaRPr lang="en-US" sz="1200" dirty="0">
              <a:highlight>
                <a:srgbClr val="FFFF00"/>
              </a:highlight>
            </a:endParaRPr>
          </a:p>
          <a:p>
            <a:pPr lvl="1" fontAlgn="base"/>
            <a:r>
              <a:rPr lang="en-US" dirty="0">
                <a:highlight>
                  <a:srgbClr val="FFFF00"/>
                </a:highlight>
              </a:rPr>
              <a:t>Disk block pointer</a:t>
            </a:r>
          </a:p>
        </p:txBody>
      </p:sp>
    </p:spTree>
    <p:extLst>
      <p:ext uri="{BB962C8B-B14F-4D97-AF65-F5344CB8AC3E}">
        <p14:creationId xmlns:p14="http://schemas.microsoft.com/office/powerpoint/2010/main" val="1945710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Difference between Cluster and Non-cluster Index</a:t>
            </a:r>
            <a:endParaRPr lang="en-IN" sz="3600" dirty="0"/>
          </a:p>
        </p:txBody>
      </p:sp>
      <p:sp>
        <p:nvSpPr>
          <p:cNvPr id="3" name="Content Placeholder 2"/>
          <p:cNvSpPr>
            <a:spLocks noGrp="1"/>
          </p:cNvSpPr>
          <p:nvPr>
            <p:ph idx="1"/>
          </p:nvPr>
        </p:nvSpPr>
        <p:spPr/>
        <p:txBody>
          <a:bodyPr/>
          <a:lstStyle/>
          <a:p>
            <a:endParaRPr lang="en-IN"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559532"/>
            <a:ext cx="5762625" cy="455551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87064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endParaRPr lang="en-IN" dirty="0"/>
          </a:p>
        </p:txBody>
      </p:sp>
      <p:sp>
        <p:nvSpPr>
          <p:cNvPr id="3" name="Content Placeholder 2"/>
          <p:cNvSpPr>
            <a:spLocks noGrp="1"/>
          </p:cNvSpPr>
          <p:nvPr>
            <p:ph idx="1"/>
          </p:nvPr>
        </p:nvSpPr>
        <p:spPr/>
        <p:txBody>
          <a:bodyPr/>
          <a:lstStyle/>
          <a:p>
            <a:endParaRPr lang="en-IN" dirty="0"/>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1905000"/>
            <a:ext cx="5038725" cy="36385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894562"/>
            <a:ext cx="4067175" cy="36195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014602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148"/>
                                        </p:tgtEl>
                                        <p:attrNameLst>
                                          <p:attrName>style.visibility</p:attrName>
                                        </p:attrNameLst>
                                      </p:cBhvr>
                                      <p:to>
                                        <p:strVal val="visible"/>
                                      </p:to>
                                    </p:set>
                                    <p:animEffect transition="in" filter="fade">
                                      <p:cBhvr>
                                        <p:cTn id="7" dur="1000"/>
                                        <p:tgtEl>
                                          <p:spTgt spid="6148"/>
                                        </p:tgtEl>
                                      </p:cBhvr>
                                    </p:animEffect>
                                    <p:anim calcmode="lin" valueType="num">
                                      <p:cBhvr>
                                        <p:cTn id="8" dur="1000" fill="hold"/>
                                        <p:tgtEl>
                                          <p:spTgt spid="6148"/>
                                        </p:tgtEl>
                                        <p:attrNameLst>
                                          <p:attrName>ppt_x</p:attrName>
                                        </p:attrNameLst>
                                      </p:cBhvr>
                                      <p:tavLst>
                                        <p:tav tm="0">
                                          <p:val>
                                            <p:strVal val="#ppt_x"/>
                                          </p:val>
                                        </p:tav>
                                        <p:tav tm="100000">
                                          <p:val>
                                            <p:strVal val="#ppt_x"/>
                                          </p:val>
                                        </p:tav>
                                      </p:tavLst>
                                    </p:anim>
                                    <p:anim calcmode="lin" valueType="num">
                                      <p:cBhvr>
                                        <p:cTn id="9" dur="1000" fill="hold"/>
                                        <p:tgtEl>
                                          <p:spTgt spid="614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147"/>
                                        </p:tgtEl>
                                        <p:attrNameLst>
                                          <p:attrName>style.visibility</p:attrName>
                                        </p:attrNameLst>
                                      </p:cBhvr>
                                      <p:to>
                                        <p:strVal val="visible"/>
                                      </p:to>
                                    </p:set>
                                    <p:animEffect transition="in" filter="fade">
                                      <p:cBhvr>
                                        <p:cTn id="14" dur="1000"/>
                                        <p:tgtEl>
                                          <p:spTgt spid="6147"/>
                                        </p:tgtEl>
                                      </p:cBhvr>
                                    </p:animEffect>
                                    <p:anim calcmode="lin" valueType="num">
                                      <p:cBhvr>
                                        <p:cTn id="15" dur="1000" fill="hold"/>
                                        <p:tgtEl>
                                          <p:spTgt spid="6147"/>
                                        </p:tgtEl>
                                        <p:attrNameLst>
                                          <p:attrName>ppt_x</p:attrName>
                                        </p:attrNameLst>
                                      </p:cBhvr>
                                      <p:tavLst>
                                        <p:tav tm="0">
                                          <p:val>
                                            <p:strVal val="#ppt_x"/>
                                          </p:val>
                                        </p:tav>
                                        <p:tav tm="100000">
                                          <p:val>
                                            <p:strVal val="#ppt_x"/>
                                          </p:val>
                                        </p:tav>
                                      </p:tavLst>
                                    </p:anim>
                                    <p:anim calcmode="lin" valueType="num">
                                      <p:cBhvr>
                                        <p:cTn id="16" dur="1000" fill="hold"/>
                                        <p:tgtEl>
                                          <p:spTgt spid="61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Secondary/Non-cluster Indexing</a:t>
            </a:r>
            <a:endParaRPr lang="en-IN" dirty="0"/>
          </a:p>
        </p:txBody>
      </p:sp>
      <p:sp>
        <p:nvSpPr>
          <p:cNvPr id="3" name="Content Placeholder 2"/>
          <p:cNvSpPr>
            <a:spLocks noGrp="1"/>
          </p:cNvSpPr>
          <p:nvPr>
            <p:ph idx="1"/>
          </p:nvPr>
        </p:nvSpPr>
        <p:spPr/>
        <p:txBody>
          <a:bodyPr/>
          <a:lstStyle/>
          <a:p>
            <a:endParaRPr lang="en-IN"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905000"/>
            <a:ext cx="7908073" cy="3505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D918760F-022B-368C-28C1-1F36E3A9B444}"/>
                  </a:ext>
                </a:extLst>
              </p14:cNvPr>
              <p14:cNvContentPartPr/>
              <p14:nvPr/>
            </p14:nvContentPartPr>
            <p14:xfrm>
              <a:off x="1018741" y="2036415"/>
              <a:ext cx="6749640" cy="493560"/>
            </p14:xfrm>
          </p:contentPart>
        </mc:Choice>
        <mc:Fallback>
          <p:pic>
            <p:nvPicPr>
              <p:cNvPr id="4" name="Ink 3">
                <a:extLst>
                  <a:ext uri="{FF2B5EF4-FFF2-40B4-BE49-F238E27FC236}">
                    <a16:creationId xmlns:a16="http://schemas.microsoft.com/office/drawing/2014/main" id="{D918760F-022B-368C-28C1-1F36E3A9B444}"/>
                  </a:ext>
                </a:extLst>
              </p:cNvPr>
              <p:cNvPicPr/>
              <p:nvPr/>
            </p:nvPicPr>
            <p:blipFill>
              <a:blip r:embed="rId4"/>
              <a:stretch>
                <a:fillRect/>
              </a:stretch>
            </p:blipFill>
            <p:spPr>
              <a:xfrm>
                <a:off x="964741" y="1928415"/>
                <a:ext cx="6857280" cy="709200"/>
              </a:xfrm>
              <a:prstGeom prst="rect">
                <a:avLst/>
              </a:prstGeom>
            </p:spPr>
          </p:pic>
        </mc:Fallback>
      </mc:AlternateContent>
    </p:spTree>
    <p:extLst>
      <p:ext uri="{BB962C8B-B14F-4D97-AF65-F5344CB8AC3E}">
        <p14:creationId xmlns:p14="http://schemas.microsoft.com/office/powerpoint/2010/main" val="3210839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0" y="613004"/>
            <a:ext cx="8756651" cy="690574"/>
          </a:xfrm>
          <a:prstGeom prst="rect">
            <a:avLst/>
          </a:prstGeom>
        </p:spPr>
        <p:txBody>
          <a:bodyPr vert="horz" wrap="square" lIns="0" tIns="13335" rIns="0" bIns="0" rtlCol="0">
            <a:spAutoFit/>
          </a:bodyPr>
          <a:lstStyle/>
          <a:p>
            <a:pPr marL="12700">
              <a:lnSpc>
                <a:spcPct val="100000"/>
              </a:lnSpc>
              <a:spcBef>
                <a:spcPts val="105"/>
              </a:spcBef>
            </a:pPr>
            <a:r>
              <a:rPr lang="en-US" sz="4400" dirty="0" err="1"/>
              <a:t>Cntd</a:t>
            </a:r>
            <a:r>
              <a:rPr lang="en-US" sz="4400" dirty="0"/>
              <a:t>.. </a:t>
            </a:r>
            <a:endParaRPr sz="4400" dirty="0"/>
          </a:p>
        </p:txBody>
      </p:sp>
      <p:sp>
        <p:nvSpPr>
          <p:cNvPr id="3" name="object 3"/>
          <p:cNvSpPr txBox="1"/>
          <p:nvPr/>
        </p:nvSpPr>
        <p:spPr>
          <a:xfrm>
            <a:off x="916940" y="1764541"/>
            <a:ext cx="9914891" cy="3937616"/>
          </a:xfrm>
          <a:prstGeom prst="rect">
            <a:avLst/>
          </a:prstGeom>
        </p:spPr>
        <p:txBody>
          <a:bodyPr vert="horz" wrap="square" lIns="0" tIns="104775" rIns="0" bIns="0" rtlCol="0">
            <a:spAutoFit/>
          </a:bodyPr>
          <a:lstStyle/>
          <a:p>
            <a:pPr marL="241300" marR="208279" indent="-228600">
              <a:lnSpc>
                <a:spcPct val="70000"/>
              </a:lnSpc>
              <a:spcBef>
                <a:spcPts val="825"/>
              </a:spcBef>
              <a:buFont typeface="Arial MT"/>
              <a:buChar char="•"/>
              <a:tabLst>
                <a:tab pos="240665" algn="l"/>
                <a:tab pos="241300" algn="l"/>
              </a:tabLst>
            </a:pPr>
            <a:r>
              <a:rPr sz="2000" spc="-5" dirty="0">
                <a:highlight>
                  <a:srgbClr val="FFFF00"/>
                </a:highlight>
                <a:latin typeface="Calibri"/>
                <a:cs typeface="Calibri"/>
              </a:rPr>
              <a:t>The </a:t>
            </a:r>
            <a:r>
              <a:rPr sz="2000" dirty="0">
                <a:highlight>
                  <a:srgbClr val="FFFF00"/>
                </a:highlight>
                <a:latin typeface="Calibri"/>
                <a:cs typeface="Calibri"/>
              </a:rPr>
              <a:t>secondary </a:t>
            </a:r>
            <a:r>
              <a:rPr sz="2000" spc="-5" dirty="0">
                <a:highlight>
                  <a:srgbClr val="FFFF00"/>
                </a:highlight>
                <a:latin typeface="Calibri"/>
                <a:cs typeface="Calibri"/>
              </a:rPr>
              <a:t>Index </a:t>
            </a:r>
            <a:r>
              <a:rPr sz="2000" dirty="0">
                <a:highlight>
                  <a:srgbClr val="FFFF00"/>
                </a:highlight>
                <a:latin typeface="Calibri"/>
                <a:cs typeface="Calibri"/>
              </a:rPr>
              <a:t>in </a:t>
            </a:r>
            <a:r>
              <a:rPr sz="2000" spc="5" dirty="0">
                <a:highlight>
                  <a:srgbClr val="FFFF00"/>
                </a:highlight>
                <a:latin typeface="Calibri"/>
                <a:cs typeface="Calibri"/>
              </a:rPr>
              <a:t>DBMS </a:t>
            </a:r>
            <a:r>
              <a:rPr sz="2000" dirty="0">
                <a:highlight>
                  <a:srgbClr val="FFFF00"/>
                </a:highlight>
                <a:latin typeface="Calibri"/>
                <a:cs typeface="Calibri"/>
              </a:rPr>
              <a:t>can be </a:t>
            </a:r>
            <a:r>
              <a:rPr sz="2000" spc="-10" dirty="0">
                <a:highlight>
                  <a:srgbClr val="FFFF00"/>
                </a:highlight>
                <a:latin typeface="Calibri"/>
                <a:cs typeface="Calibri"/>
              </a:rPr>
              <a:t>generated </a:t>
            </a:r>
            <a:r>
              <a:rPr sz="2000" spc="-5" dirty="0">
                <a:highlight>
                  <a:srgbClr val="FFFF00"/>
                </a:highlight>
                <a:latin typeface="Calibri"/>
                <a:cs typeface="Calibri"/>
              </a:rPr>
              <a:t>by </a:t>
            </a:r>
            <a:r>
              <a:rPr sz="2000" dirty="0">
                <a:highlight>
                  <a:srgbClr val="FFFF00"/>
                </a:highlight>
                <a:latin typeface="Calibri"/>
                <a:cs typeface="Calibri"/>
              </a:rPr>
              <a:t>a </a:t>
            </a:r>
            <a:r>
              <a:rPr sz="2000" spc="-5" dirty="0">
                <a:highlight>
                  <a:srgbClr val="FFFF00"/>
                </a:highlight>
                <a:latin typeface="Calibri"/>
                <a:cs typeface="Calibri"/>
              </a:rPr>
              <a:t>field </a:t>
            </a:r>
            <a:r>
              <a:rPr sz="2000" dirty="0">
                <a:highlight>
                  <a:srgbClr val="FFFF00"/>
                </a:highlight>
                <a:latin typeface="Calibri"/>
                <a:cs typeface="Calibri"/>
              </a:rPr>
              <a:t>which has a unique </a:t>
            </a:r>
            <a:r>
              <a:rPr sz="2000" spc="-5" dirty="0">
                <a:highlight>
                  <a:srgbClr val="FFFF00"/>
                </a:highlight>
                <a:latin typeface="Calibri"/>
                <a:cs typeface="Calibri"/>
              </a:rPr>
              <a:t>value </a:t>
            </a:r>
            <a:r>
              <a:rPr sz="2000" spc="-15" dirty="0">
                <a:highlight>
                  <a:srgbClr val="FFFF00"/>
                </a:highlight>
                <a:latin typeface="Calibri"/>
                <a:cs typeface="Calibri"/>
              </a:rPr>
              <a:t>for </a:t>
            </a:r>
            <a:r>
              <a:rPr sz="2000" dirty="0">
                <a:highlight>
                  <a:srgbClr val="FFFF00"/>
                </a:highlight>
                <a:latin typeface="Calibri"/>
                <a:cs typeface="Calibri"/>
              </a:rPr>
              <a:t>each </a:t>
            </a:r>
            <a:r>
              <a:rPr sz="2000" spc="-440" dirty="0">
                <a:highlight>
                  <a:srgbClr val="FFFF00"/>
                </a:highlight>
                <a:latin typeface="Calibri"/>
                <a:cs typeface="Calibri"/>
              </a:rPr>
              <a:t> </a:t>
            </a:r>
            <a:r>
              <a:rPr sz="2000" spc="-10" dirty="0">
                <a:highlight>
                  <a:srgbClr val="FFFF00"/>
                </a:highlight>
                <a:latin typeface="Calibri"/>
                <a:cs typeface="Calibri"/>
              </a:rPr>
              <a:t>record,</a:t>
            </a:r>
            <a:r>
              <a:rPr sz="2000" spc="-25" dirty="0">
                <a:highlight>
                  <a:srgbClr val="FFFF00"/>
                </a:highlight>
                <a:latin typeface="Calibri"/>
                <a:cs typeface="Calibri"/>
              </a:rPr>
              <a:t> </a:t>
            </a:r>
            <a:r>
              <a:rPr sz="2000" dirty="0">
                <a:highlight>
                  <a:srgbClr val="FFFF00"/>
                </a:highlight>
                <a:latin typeface="Calibri"/>
                <a:cs typeface="Calibri"/>
              </a:rPr>
              <a:t>and</a:t>
            </a:r>
            <a:r>
              <a:rPr sz="2000" spc="-5" dirty="0">
                <a:highlight>
                  <a:srgbClr val="FFFF00"/>
                </a:highlight>
                <a:latin typeface="Calibri"/>
                <a:cs typeface="Calibri"/>
              </a:rPr>
              <a:t> </a:t>
            </a:r>
            <a:r>
              <a:rPr sz="2000" dirty="0">
                <a:highlight>
                  <a:srgbClr val="FFFF00"/>
                </a:highlight>
                <a:latin typeface="Calibri"/>
                <a:cs typeface="Calibri"/>
              </a:rPr>
              <a:t>it should</a:t>
            </a:r>
            <a:r>
              <a:rPr sz="2000" spc="-10" dirty="0">
                <a:highlight>
                  <a:srgbClr val="FFFF00"/>
                </a:highlight>
                <a:latin typeface="Calibri"/>
                <a:cs typeface="Calibri"/>
              </a:rPr>
              <a:t> </a:t>
            </a:r>
            <a:r>
              <a:rPr sz="2000" dirty="0">
                <a:highlight>
                  <a:srgbClr val="FFFF00"/>
                </a:highlight>
                <a:latin typeface="Calibri"/>
                <a:cs typeface="Calibri"/>
              </a:rPr>
              <a:t>be</a:t>
            </a:r>
            <a:r>
              <a:rPr sz="2000" spc="-10" dirty="0">
                <a:highlight>
                  <a:srgbClr val="FFFF00"/>
                </a:highlight>
                <a:latin typeface="Calibri"/>
                <a:cs typeface="Calibri"/>
              </a:rPr>
              <a:t> </a:t>
            </a:r>
            <a:r>
              <a:rPr sz="2000" dirty="0">
                <a:highlight>
                  <a:srgbClr val="FFFF00"/>
                </a:highlight>
                <a:latin typeface="Calibri"/>
                <a:cs typeface="Calibri"/>
              </a:rPr>
              <a:t>a </a:t>
            </a:r>
            <a:r>
              <a:rPr sz="2000" spc="-5" dirty="0">
                <a:highlight>
                  <a:srgbClr val="FFFF00"/>
                </a:highlight>
                <a:latin typeface="Calibri"/>
                <a:cs typeface="Calibri"/>
              </a:rPr>
              <a:t>candidate</a:t>
            </a:r>
            <a:r>
              <a:rPr sz="2000" dirty="0">
                <a:highlight>
                  <a:srgbClr val="FFFF00"/>
                </a:highlight>
                <a:latin typeface="Calibri"/>
                <a:cs typeface="Calibri"/>
              </a:rPr>
              <a:t> </a:t>
            </a:r>
            <a:r>
              <a:rPr sz="2000" spc="-50" dirty="0">
                <a:highlight>
                  <a:srgbClr val="FFFF00"/>
                </a:highlight>
                <a:latin typeface="Calibri"/>
                <a:cs typeface="Calibri"/>
              </a:rPr>
              <a:t>key.</a:t>
            </a:r>
            <a:endParaRPr sz="2000" dirty="0">
              <a:highlight>
                <a:srgbClr val="FFFF00"/>
              </a:highlight>
              <a:latin typeface="Calibri"/>
              <a:cs typeface="Calibri"/>
            </a:endParaRPr>
          </a:p>
          <a:p>
            <a:pPr marL="241300" indent="-228600">
              <a:lnSpc>
                <a:spcPct val="100000"/>
              </a:lnSpc>
              <a:spcBef>
                <a:spcPts val="275"/>
              </a:spcBef>
              <a:buFont typeface="Arial MT"/>
              <a:buChar char="•"/>
              <a:tabLst>
                <a:tab pos="240665" algn="l"/>
                <a:tab pos="241300" algn="l"/>
              </a:tabLst>
            </a:pPr>
            <a:r>
              <a:rPr sz="2000" dirty="0">
                <a:highlight>
                  <a:srgbClr val="FFFF00"/>
                </a:highlight>
                <a:latin typeface="Calibri"/>
                <a:cs typeface="Calibri"/>
              </a:rPr>
              <a:t>It</a:t>
            </a:r>
            <a:r>
              <a:rPr sz="2000" spc="-10" dirty="0">
                <a:highlight>
                  <a:srgbClr val="FFFF00"/>
                </a:highlight>
                <a:latin typeface="Calibri"/>
                <a:cs typeface="Calibri"/>
              </a:rPr>
              <a:t> </a:t>
            </a:r>
            <a:r>
              <a:rPr sz="2000" dirty="0">
                <a:highlight>
                  <a:srgbClr val="FFFF00"/>
                </a:highlight>
                <a:latin typeface="Calibri"/>
                <a:cs typeface="Calibri"/>
              </a:rPr>
              <a:t>is</a:t>
            </a:r>
            <a:r>
              <a:rPr sz="2000" spc="5" dirty="0">
                <a:highlight>
                  <a:srgbClr val="FFFF00"/>
                </a:highlight>
                <a:latin typeface="Calibri"/>
                <a:cs typeface="Calibri"/>
              </a:rPr>
              <a:t> </a:t>
            </a:r>
            <a:r>
              <a:rPr sz="2000" dirty="0">
                <a:highlight>
                  <a:srgbClr val="FFFF00"/>
                </a:highlight>
                <a:latin typeface="Calibri"/>
                <a:cs typeface="Calibri"/>
              </a:rPr>
              <a:t>also known as a </a:t>
            </a:r>
            <a:r>
              <a:rPr sz="2000" spc="-10" dirty="0">
                <a:highlight>
                  <a:srgbClr val="FFFF00"/>
                </a:highlight>
                <a:latin typeface="Calibri"/>
                <a:cs typeface="Calibri"/>
              </a:rPr>
              <a:t>non-clustering</a:t>
            </a:r>
            <a:r>
              <a:rPr sz="2000" spc="-5" dirty="0">
                <a:highlight>
                  <a:srgbClr val="FFFF00"/>
                </a:highlight>
                <a:latin typeface="Calibri"/>
                <a:cs typeface="Calibri"/>
              </a:rPr>
              <a:t> </a:t>
            </a:r>
            <a:r>
              <a:rPr sz="2000" spc="-10" dirty="0">
                <a:highlight>
                  <a:srgbClr val="FFFF00"/>
                </a:highlight>
                <a:latin typeface="Calibri"/>
                <a:cs typeface="Calibri"/>
              </a:rPr>
              <a:t>index.</a:t>
            </a:r>
            <a:endParaRPr sz="2000" dirty="0">
              <a:highlight>
                <a:srgbClr val="FFFF00"/>
              </a:highlight>
              <a:latin typeface="Calibri"/>
              <a:cs typeface="Calibri"/>
            </a:endParaRPr>
          </a:p>
          <a:p>
            <a:pPr marL="241300" indent="-228600">
              <a:lnSpc>
                <a:spcPct val="100000"/>
              </a:lnSpc>
              <a:spcBef>
                <a:spcPts val="285"/>
              </a:spcBef>
              <a:buFont typeface="Arial MT"/>
              <a:buChar char="•"/>
              <a:tabLst>
                <a:tab pos="240665" algn="l"/>
                <a:tab pos="241300" algn="l"/>
              </a:tabLst>
            </a:pPr>
            <a:r>
              <a:rPr sz="2000" dirty="0">
                <a:highlight>
                  <a:srgbClr val="FFFF00"/>
                </a:highlight>
                <a:latin typeface="Calibri"/>
                <a:cs typeface="Calibri"/>
              </a:rPr>
              <a:t>If</a:t>
            </a:r>
            <a:r>
              <a:rPr sz="2000" spc="-5" dirty="0">
                <a:highlight>
                  <a:srgbClr val="FFFF00"/>
                </a:highlight>
                <a:latin typeface="Calibri"/>
                <a:cs typeface="Calibri"/>
              </a:rPr>
              <a:t> </a:t>
            </a:r>
            <a:r>
              <a:rPr sz="2000" dirty="0">
                <a:highlight>
                  <a:srgbClr val="FFFF00"/>
                </a:highlight>
                <a:latin typeface="Calibri"/>
                <a:cs typeface="Calibri"/>
              </a:rPr>
              <a:t>the</a:t>
            </a:r>
            <a:r>
              <a:rPr sz="2000" spc="5" dirty="0">
                <a:highlight>
                  <a:srgbClr val="FFFF00"/>
                </a:highlight>
                <a:latin typeface="Calibri"/>
                <a:cs typeface="Calibri"/>
              </a:rPr>
              <a:t> </a:t>
            </a:r>
            <a:r>
              <a:rPr sz="2000" dirty="0">
                <a:highlight>
                  <a:srgbClr val="FFFF00"/>
                </a:highlight>
                <a:latin typeface="Calibri"/>
                <a:cs typeface="Calibri"/>
              </a:rPr>
              <a:t>mapping</a:t>
            </a:r>
            <a:r>
              <a:rPr sz="2000" spc="-10" dirty="0">
                <a:highlight>
                  <a:srgbClr val="FFFF00"/>
                </a:highlight>
                <a:latin typeface="Calibri"/>
                <a:cs typeface="Calibri"/>
              </a:rPr>
              <a:t> </a:t>
            </a:r>
            <a:r>
              <a:rPr sz="2000" spc="-15" dirty="0">
                <a:highlight>
                  <a:srgbClr val="FFFF00"/>
                </a:highlight>
                <a:latin typeface="Calibri"/>
                <a:cs typeface="Calibri"/>
              </a:rPr>
              <a:t>size</a:t>
            </a:r>
            <a:r>
              <a:rPr sz="2000" spc="20" dirty="0">
                <a:highlight>
                  <a:srgbClr val="FFFF00"/>
                </a:highlight>
                <a:latin typeface="Calibri"/>
                <a:cs typeface="Calibri"/>
              </a:rPr>
              <a:t> </a:t>
            </a:r>
            <a:r>
              <a:rPr sz="2000" spc="-15" dirty="0">
                <a:highlight>
                  <a:srgbClr val="FFFF00"/>
                </a:highlight>
                <a:latin typeface="Calibri"/>
                <a:cs typeface="Calibri"/>
              </a:rPr>
              <a:t>grows</a:t>
            </a:r>
            <a:r>
              <a:rPr sz="2000" spc="-10" dirty="0">
                <a:highlight>
                  <a:srgbClr val="FFFF00"/>
                </a:highlight>
                <a:latin typeface="Calibri"/>
                <a:cs typeface="Calibri"/>
              </a:rPr>
              <a:t> </a:t>
            </a:r>
            <a:r>
              <a:rPr sz="2000" dirty="0">
                <a:highlight>
                  <a:srgbClr val="FFFF00"/>
                </a:highlight>
                <a:latin typeface="Calibri"/>
                <a:cs typeface="Calibri"/>
              </a:rPr>
              <a:t>then</a:t>
            </a:r>
            <a:r>
              <a:rPr sz="2000" spc="5" dirty="0">
                <a:highlight>
                  <a:srgbClr val="FFFF00"/>
                </a:highlight>
                <a:latin typeface="Calibri"/>
                <a:cs typeface="Calibri"/>
              </a:rPr>
              <a:t> </a:t>
            </a:r>
            <a:r>
              <a:rPr sz="2000" spc="-10" dirty="0">
                <a:highlight>
                  <a:srgbClr val="FFFF00"/>
                </a:highlight>
                <a:latin typeface="Calibri"/>
                <a:cs typeface="Calibri"/>
              </a:rPr>
              <a:t>fetching</a:t>
            </a:r>
            <a:r>
              <a:rPr sz="2000" spc="5" dirty="0">
                <a:highlight>
                  <a:srgbClr val="FFFF00"/>
                </a:highlight>
                <a:latin typeface="Calibri"/>
                <a:cs typeface="Calibri"/>
              </a:rPr>
              <a:t> </a:t>
            </a:r>
            <a:r>
              <a:rPr sz="2000" dirty="0">
                <a:highlight>
                  <a:srgbClr val="FFFF00"/>
                </a:highlight>
                <a:latin typeface="Calibri"/>
                <a:cs typeface="Calibri"/>
              </a:rPr>
              <a:t>the</a:t>
            </a:r>
            <a:r>
              <a:rPr sz="2000" spc="-5" dirty="0">
                <a:highlight>
                  <a:srgbClr val="FFFF00"/>
                </a:highlight>
                <a:latin typeface="Calibri"/>
                <a:cs typeface="Calibri"/>
              </a:rPr>
              <a:t> address</a:t>
            </a:r>
            <a:r>
              <a:rPr sz="2000" spc="15" dirty="0">
                <a:highlight>
                  <a:srgbClr val="FFFF00"/>
                </a:highlight>
                <a:latin typeface="Calibri"/>
                <a:cs typeface="Calibri"/>
              </a:rPr>
              <a:t> </a:t>
            </a:r>
            <a:r>
              <a:rPr sz="2000" dirty="0">
                <a:highlight>
                  <a:srgbClr val="FFFF00"/>
                </a:highlight>
                <a:latin typeface="Calibri"/>
                <a:cs typeface="Calibri"/>
              </a:rPr>
              <a:t>itself</a:t>
            </a:r>
            <a:r>
              <a:rPr sz="2000" spc="15" dirty="0">
                <a:highlight>
                  <a:srgbClr val="FFFF00"/>
                </a:highlight>
                <a:latin typeface="Calibri"/>
                <a:cs typeface="Calibri"/>
              </a:rPr>
              <a:t> </a:t>
            </a:r>
            <a:r>
              <a:rPr sz="2000" spc="-5" dirty="0">
                <a:highlight>
                  <a:srgbClr val="FFFF00"/>
                </a:highlight>
                <a:latin typeface="Calibri"/>
                <a:cs typeface="Calibri"/>
              </a:rPr>
              <a:t>becomes</a:t>
            </a:r>
            <a:r>
              <a:rPr sz="2000" spc="5" dirty="0">
                <a:highlight>
                  <a:srgbClr val="FFFF00"/>
                </a:highlight>
                <a:latin typeface="Calibri"/>
                <a:cs typeface="Calibri"/>
              </a:rPr>
              <a:t> </a:t>
            </a:r>
            <a:r>
              <a:rPr sz="2000" spc="-35" dirty="0">
                <a:highlight>
                  <a:srgbClr val="FFFF00"/>
                </a:highlight>
                <a:latin typeface="Calibri"/>
                <a:cs typeface="Calibri"/>
              </a:rPr>
              <a:t>slower.</a:t>
            </a:r>
            <a:endParaRPr sz="2000" dirty="0">
              <a:highlight>
                <a:srgbClr val="FFFF00"/>
              </a:highlight>
              <a:latin typeface="Calibri"/>
              <a:cs typeface="Calibri"/>
            </a:endParaRPr>
          </a:p>
          <a:p>
            <a:pPr marL="241300" marR="669290" indent="-228600">
              <a:lnSpc>
                <a:spcPct val="70000"/>
              </a:lnSpc>
              <a:spcBef>
                <a:spcPts val="1000"/>
              </a:spcBef>
              <a:buFont typeface="Arial MT"/>
              <a:buChar char="•"/>
              <a:tabLst>
                <a:tab pos="240665" algn="l"/>
                <a:tab pos="241300" algn="l"/>
              </a:tabLst>
            </a:pPr>
            <a:r>
              <a:rPr sz="2000" dirty="0">
                <a:highlight>
                  <a:srgbClr val="FFFF00"/>
                </a:highlight>
                <a:latin typeface="Calibri"/>
                <a:cs typeface="Calibri"/>
              </a:rPr>
              <a:t>In</a:t>
            </a:r>
            <a:r>
              <a:rPr sz="2000" spc="5" dirty="0">
                <a:highlight>
                  <a:srgbClr val="FFFF00"/>
                </a:highlight>
                <a:latin typeface="Calibri"/>
                <a:cs typeface="Calibri"/>
              </a:rPr>
              <a:t> </a:t>
            </a:r>
            <a:r>
              <a:rPr sz="2000" dirty="0">
                <a:highlight>
                  <a:srgbClr val="FFFF00"/>
                </a:highlight>
                <a:latin typeface="Calibri"/>
                <a:cs typeface="Calibri"/>
              </a:rPr>
              <a:t>this</a:t>
            </a:r>
            <a:r>
              <a:rPr sz="2000" spc="5" dirty="0">
                <a:highlight>
                  <a:srgbClr val="FFFF00"/>
                </a:highlight>
                <a:latin typeface="Calibri"/>
                <a:cs typeface="Calibri"/>
              </a:rPr>
              <a:t> </a:t>
            </a:r>
            <a:r>
              <a:rPr sz="2000" dirty="0">
                <a:highlight>
                  <a:srgbClr val="FFFF00"/>
                </a:highlight>
                <a:latin typeface="Calibri"/>
                <a:cs typeface="Calibri"/>
              </a:rPr>
              <a:t>case,</a:t>
            </a:r>
            <a:r>
              <a:rPr sz="2000" spc="5" dirty="0">
                <a:highlight>
                  <a:srgbClr val="FFFF00"/>
                </a:highlight>
                <a:latin typeface="Calibri"/>
                <a:cs typeface="Calibri"/>
              </a:rPr>
              <a:t> </a:t>
            </a:r>
            <a:r>
              <a:rPr sz="2000" dirty="0">
                <a:highlight>
                  <a:srgbClr val="FFFF00"/>
                </a:highlight>
                <a:latin typeface="Calibri"/>
                <a:cs typeface="Calibri"/>
              </a:rPr>
              <a:t>the </a:t>
            </a:r>
            <a:r>
              <a:rPr sz="2000" spc="-10" dirty="0">
                <a:highlight>
                  <a:srgbClr val="FFFF00"/>
                </a:highlight>
                <a:latin typeface="Calibri"/>
                <a:cs typeface="Calibri"/>
              </a:rPr>
              <a:t>sparse</a:t>
            </a:r>
            <a:r>
              <a:rPr sz="2000" spc="25" dirty="0">
                <a:highlight>
                  <a:srgbClr val="FFFF00"/>
                </a:highlight>
                <a:latin typeface="Calibri"/>
                <a:cs typeface="Calibri"/>
              </a:rPr>
              <a:t> </a:t>
            </a:r>
            <a:r>
              <a:rPr sz="2000" spc="-10" dirty="0">
                <a:highlight>
                  <a:srgbClr val="FFFF00"/>
                </a:highlight>
                <a:latin typeface="Calibri"/>
                <a:cs typeface="Calibri"/>
              </a:rPr>
              <a:t>index</a:t>
            </a:r>
            <a:r>
              <a:rPr sz="2000" spc="-5" dirty="0">
                <a:highlight>
                  <a:srgbClr val="FFFF00"/>
                </a:highlight>
                <a:latin typeface="Calibri"/>
                <a:cs typeface="Calibri"/>
              </a:rPr>
              <a:t> will</a:t>
            </a:r>
            <a:r>
              <a:rPr sz="2000" spc="15" dirty="0">
                <a:highlight>
                  <a:srgbClr val="FFFF00"/>
                </a:highlight>
                <a:latin typeface="Calibri"/>
                <a:cs typeface="Calibri"/>
              </a:rPr>
              <a:t> </a:t>
            </a:r>
            <a:r>
              <a:rPr sz="2000" dirty="0">
                <a:highlight>
                  <a:srgbClr val="FFFF00"/>
                </a:highlight>
                <a:latin typeface="Calibri"/>
                <a:cs typeface="Calibri"/>
              </a:rPr>
              <a:t>not </a:t>
            </a:r>
            <a:r>
              <a:rPr sz="2000" spc="-5" dirty="0">
                <a:highlight>
                  <a:srgbClr val="FFFF00"/>
                </a:highlight>
                <a:latin typeface="Calibri"/>
                <a:cs typeface="Calibri"/>
              </a:rPr>
              <a:t>be</a:t>
            </a:r>
            <a:r>
              <a:rPr sz="2000" dirty="0">
                <a:highlight>
                  <a:srgbClr val="FFFF00"/>
                </a:highlight>
                <a:latin typeface="Calibri"/>
                <a:cs typeface="Calibri"/>
              </a:rPr>
              <a:t> </a:t>
            </a:r>
            <a:r>
              <a:rPr sz="2000" spc="-10" dirty="0">
                <a:highlight>
                  <a:srgbClr val="FFFF00"/>
                </a:highlight>
                <a:latin typeface="Calibri"/>
                <a:cs typeface="Calibri"/>
              </a:rPr>
              <a:t>efficient.</a:t>
            </a:r>
            <a:r>
              <a:rPr sz="2000" spc="25" dirty="0">
                <a:highlight>
                  <a:srgbClr val="FFFF00"/>
                </a:highlight>
                <a:latin typeface="Calibri"/>
                <a:cs typeface="Calibri"/>
              </a:rPr>
              <a:t> </a:t>
            </a:r>
            <a:r>
              <a:rPr sz="2000" spc="-95" dirty="0">
                <a:highlight>
                  <a:srgbClr val="FFFF00"/>
                </a:highlight>
                <a:latin typeface="Calibri"/>
                <a:cs typeface="Calibri"/>
              </a:rPr>
              <a:t>To</a:t>
            </a:r>
            <a:r>
              <a:rPr sz="2000" dirty="0">
                <a:highlight>
                  <a:srgbClr val="FFFF00"/>
                </a:highlight>
                <a:latin typeface="Calibri"/>
                <a:cs typeface="Calibri"/>
              </a:rPr>
              <a:t> </a:t>
            </a:r>
            <a:r>
              <a:rPr sz="2000" spc="-10" dirty="0">
                <a:highlight>
                  <a:srgbClr val="FFFF00"/>
                </a:highlight>
                <a:latin typeface="Calibri"/>
                <a:cs typeface="Calibri"/>
              </a:rPr>
              <a:t>overcome </a:t>
            </a:r>
            <a:r>
              <a:rPr sz="2000" dirty="0">
                <a:highlight>
                  <a:srgbClr val="FFFF00"/>
                </a:highlight>
                <a:latin typeface="Calibri"/>
                <a:cs typeface="Calibri"/>
              </a:rPr>
              <a:t>this</a:t>
            </a:r>
            <a:r>
              <a:rPr sz="2000" spc="15" dirty="0">
                <a:highlight>
                  <a:srgbClr val="FFFF00"/>
                </a:highlight>
                <a:latin typeface="Calibri"/>
                <a:cs typeface="Calibri"/>
              </a:rPr>
              <a:t> </a:t>
            </a:r>
            <a:r>
              <a:rPr sz="2000" spc="-5" dirty="0">
                <a:highlight>
                  <a:srgbClr val="FFFF00"/>
                </a:highlight>
                <a:latin typeface="Calibri"/>
                <a:cs typeface="Calibri"/>
              </a:rPr>
              <a:t>problem,</a:t>
            </a:r>
            <a:r>
              <a:rPr sz="2000" spc="5" dirty="0">
                <a:highlight>
                  <a:srgbClr val="FFFF00"/>
                </a:highlight>
                <a:latin typeface="Calibri"/>
                <a:cs typeface="Calibri"/>
              </a:rPr>
              <a:t> </a:t>
            </a:r>
            <a:r>
              <a:rPr sz="2000" dirty="0">
                <a:highlight>
                  <a:srgbClr val="FFFF00"/>
                </a:highlight>
                <a:latin typeface="Calibri"/>
                <a:cs typeface="Calibri"/>
              </a:rPr>
              <a:t>secondary </a:t>
            </a:r>
            <a:r>
              <a:rPr sz="2000" spc="-440" dirty="0">
                <a:highlight>
                  <a:srgbClr val="FFFF00"/>
                </a:highlight>
                <a:latin typeface="Calibri"/>
                <a:cs typeface="Calibri"/>
              </a:rPr>
              <a:t> </a:t>
            </a:r>
            <a:r>
              <a:rPr sz="2000" spc="-5" dirty="0">
                <a:highlight>
                  <a:srgbClr val="FFFF00"/>
                </a:highlight>
                <a:latin typeface="Calibri"/>
                <a:cs typeface="Calibri"/>
              </a:rPr>
              <a:t>indexing</a:t>
            </a:r>
            <a:r>
              <a:rPr sz="2000" spc="-10" dirty="0">
                <a:highlight>
                  <a:srgbClr val="FFFF00"/>
                </a:highlight>
                <a:latin typeface="Calibri"/>
                <a:cs typeface="Calibri"/>
              </a:rPr>
              <a:t> </a:t>
            </a:r>
            <a:r>
              <a:rPr sz="2000" dirty="0">
                <a:highlight>
                  <a:srgbClr val="FFFF00"/>
                </a:highlight>
                <a:latin typeface="Calibri"/>
                <a:cs typeface="Calibri"/>
              </a:rPr>
              <a:t>is</a:t>
            </a:r>
            <a:r>
              <a:rPr sz="2000" spc="5" dirty="0">
                <a:highlight>
                  <a:srgbClr val="FFFF00"/>
                </a:highlight>
                <a:latin typeface="Calibri"/>
                <a:cs typeface="Calibri"/>
              </a:rPr>
              <a:t> </a:t>
            </a:r>
            <a:r>
              <a:rPr sz="2000" spc="-5" dirty="0">
                <a:highlight>
                  <a:srgbClr val="FFFF00"/>
                </a:highlight>
                <a:latin typeface="Calibri"/>
                <a:cs typeface="Calibri"/>
              </a:rPr>
              <a:t>introduced.</a:t>
            </a:r>
            <a:endParaRPr sz="2000" dirty="0">
              <a:highlight>
                <a:srgbClr val="FFFF00"/>
              </a:highlight>
              <a:latin typeface="Calibri"/>
              <a:cs typeface="Calibri"/>
            </a:endParaRPr>
          </a:p>
          <a:p>
            <a:pPr marL="241300" indent="-228600">
              <a:lnSpc>
                <a:spcPct val="100000"/>
              </a:lnSpc>
              <a:spcBef>
                <a:spcPts val="275"/>
              </a:spcBef>
              <a:buFont typeface="Arial MT"/>
              <a:buChar char="•"/>
              <a:tabLst>
                <a:tab pos="240665" algn="l"/>
                <a:tab pos="241300" algn="l"/>
              </a:tabLst>
            </a:pPr>
            <a:r>
              <a:rPr sz="2000" dirty="0">
                <a:highlight>
                  <a:srgbClr val="FFFF00"/>
                </a:highlight>
                <a:latin typeface="Calibri"/>
                <a:cs typeface="Calibri"/>
              </a:rPr>
              <a:t>In secondary</a:t>
            </a:r>
            <a:r>
              <a:rPr sz="2000" spc="-25" dirty="0">
                <a:highlight>
                  <a:srgbClr val="FFFF00"/>
                </a:highlight>
                <a:latin typeface="Calibri"/>
                <a:cs typeface="Calibri"/>
              </a:rPr>
              <a:t> </a:t>
            </a:r>
            <a:r>
              <a:rPr sz="2000" spc="-5" dirty="0">
                <a:highlight>
                  <a:srgbClr val="FFFF00"/>
                </a:highlight>
                <a:latin typeface="Calibri"/>
                <a:cs typeface="Calibri"/>
              </a:rPr>
              <a:t>indexing,</a:t>
            </a:r>
            <a:r>
              <a:rPr sz="2000" spc="5" dirty="0">
                <a:highlight>
                  <a:srgbClr val="FFFF00"/>
                </a:highlight>
                <a:latin typeface="Calibri"/>
                <a:cs typeface="Calibri"/>
              </a:rPr>
              <a:t> </a:t>
            </a:r>
            <a:r>
              <a:rPr sz="2000" spc="-15" dirty="0">
                <a:highlight>
                  <a:srgbClr val="FFFF00"/>
                </a:highlight>
                <a:latin typeface="Calibri"/>
                <a:cs typeface="Calibri"/>
              </a:rPr>
              <a:t>to</a:t>
            </a:r>
            <a:r>
              <a:rPr sz="2000" dirty="0">
                <a:highlight>
                  <a:srgbClr val="FFFF00"/>
                </a:highlight>
                <a:latin typeface="Calibri"/>
                <a:cs typeface="Calibri"/>
              </a:rPr>
              <a:t> </a:t>
            </a:r>
            <a:r>
              <a:rPr sz="2000" spc="-5" dirty="0">
                <a:highlight>
                  <a:srgbClr val="FFFF00"/>
                </a:highlight>
                <a:latin typeface="Calibri"/>
                <a:cs typeface="Calibri"/>
              </a:rPr>
              <a:t>reduce </a:t>
            </a:r>
            <a:r>
              <a:rPr sz="2000" dirty="0">
                <a:highlight>
                  <a:srgbClr val="FFFF00"/>
                </a:highlight>
                <a:latin typeface="Calibri"/>
                <a:cs typeface="Calibri"/>
              </a:rPr>
              <a:t>the</a:t>
            </a:r>
            <a:r>
              <a:rPr sz="2000" spc="-10" dirty="0">
                <a:highlight>
                  <a:srgbClr val="FFFF00"/>
                </a:highlight>
                <a:latin typeface="Calibri"/>
                <a:cs typeface="Calibri"/>
              </a:rPr>
              <a:t> </a:t>
            </a:r>
            <a:r>
              <a:rPr sz="2000" spc="-15" dirty="0">
                <a:highlight>
                  <a:srgbClr val="FFFF00"/>
                </a:highlight>
                <a:latin typeface="Calibri"/>
                <a:cs typeface="Calibri"/>
              </a:rPr>
              <a:t>size</a:t>
            </a:r>
            <a:r>
              <a:rPr sz="2000" spc="20" dirty="0">
                <a:highlight>
                  <a:srgbClr val="FFFF00"/>
                </a:highlight>
                <a:latin typeface="Calibri"/>
                <a:cs typeface="Calibri"/>
              </a:rPr>
              <a:t> </a:t>
            </a:r>
            <a:r>
              <a:rPr sz="2000" spc="-5" dirty="0">
                <a:highlight>
                  <a:srgbClr val="FFFF00"/>
                </a:highlight>
                <a:latin typeface="Calibri"/>
                <a:cs typeface="Calibri"/>
              </a:rPr>
              <a:t>of</a:t>
            </a:r>
            <a:r>
              <a:rPr sz="2000" dirty="0">
                <a:highlight>
                  <a:srgbClr val="FFFF00"/>
                </a:highlight>
                <a:latin typeface="Calibri"/>
                <a:cs typeface="Calibri"/>
              </a:rPr>
              <a:t> </a:t>
            </a:r>
            <a:r>
              <a:rPr sz="2000" spc="5" dirty="0">
                <a:highlight>
                  <a:srgbClr val="FFFF00"/>
                </a:highlight>
                <a:latin typeface="Calibri"/>
                <a:cs typeface="Calibri"/>
              </a:rPr>
              <a:t>mapping,</a:t>
            </a:r>
            <a:r>
              <a:rPr sz="2000" spc="-15" dirty="0">
                <a:highlight>
                  <a:srgbClr val="FFFF00"/>
                </a:highlight>
                <a:latin typeface="Calibri"/>
                <a:cs typeface="Calibri"/>
              </a:rPr>
              <a:t> </a:t>
            </a:r>
            <a:r>
              <a:rPr sz="2000" dirty="0">
                <a:highlight>
                  <a:srgbClr val="FFFF00"/>
                </a:highlight>
                <a:latin typeface="Calibri"/>
                <a:cs typeface="Calibri"/>
              </a:rPr>
              <a:t>another</a:t>
            </a:r>
            <a:r>
              <a:rPr sz="2000" spc="-5" dirty="0">
                <a:highlight>
                  <a:srgbClr val="FFFF00"/>
                </a:highlight>
                <a:latin typeface="Calibri"/>
                <a:cs typeface="Calibri"/>
              </a:rPr>
              <a:t> </a:t>
            </a:r>
            <a:r>
              <a:rPr sz="2000" spc="-10" dirty="0">
                <a:highlight>
                  <a:srgbClr val="FFFF00"/>
                </a:highlight>
                <a:latin typeface="Calibri"/>
                <a:cs typeface="Calibri"/>
              </a:rPr>
              <a:t>level</a:t>
            </a:r>
            <a:r>
              <a:rPr sz="2000" spc="20" dirty="0">
                <a:highlight>
                  <a:srgbClr val="FFFF00"/>
                </a:highlight>
                <a:latin typeface="Calibri"/>
                <a:cs typeface="Calibri"/>
              </a:rPr>
              <a:t> </a:t>
            </a:r>
            <a:r>
              <a:rPr sz="2000" spc="-5" dirty="0">
                <a:highlight>
                  <a:srgbClr val="FFFF00"/>
                </a:highlight>
                <a:latin typeface="Calibri"/>
                <a:cs typeface="Calibri"/>
              </a:rPr>
              <a:t>of</a:t>
            </a:r>
            <a:r>
              <a:rPr sz="2000" dirty="0">
                <a:highlight>
                  <a:srgbClr val="FFFF00"/>
                </a:highlight>
                <a:latin typeface="Calibri"/>
                <a:cs typeface="Calibri"/>
              </a:rPr>
              <a:t> </a:t>
            </a:r>
            <a:r>
              <a:rPr sz="2000" spc="-10" dirty="0">
                <a:highlight>
                  <a:srgbClr val="FFFF00"/>
                </a:highlight>
                <a:latin typeface="Calibri"/>
                <a:cs typeface="Calibri"/>
              </a:rPr>
              <a:t>indexing</a:t>
            </a:r>
            <a:r>
              <a:rPr sz="2000" dirty="0">
                <a:highlight>
                  <a:srgbClr val="FFFF00"/>
                </a:highlight>
                <a:latin typeface="Calibri"/>
                <a:cs typeface="Calibri"/>
              </a:rPr>
              <a:t> is </a:t>
            </a:r>
            <a:r>
              <a:rPr sz="2000" spc="-5" dirty="0">
                <a:highlight>
                  <a:srgbClr val="FFFF00"/>
                </a:highlight>
                <a:latin typeface="Calibri"/>
                <a:cs typeface="Calibri"/>
              </a:rPr>
              <a:t>introduced.</a:t>
            </a:r>
            <a:endParaRPr sz="2000" dirty="0">
              <a:highlight>
                <a:srgbClr val="FFFF00"/>
              </a:highlight>
              <a:latin typeface="Calibri"/>
              <a:cs typeface="Calibri"/>
            </a:endParaRPr>
          </a:p>
          <a:p>
            <a:pPr marL="241300" indent="-228600">
              <a:lnSpc>
                <a:spcPts val="2039"/>
              </a:lnSpc>
              <a:spcBef>
                <a:spcPts val="290"/>
              </a:spcBef>
              <a:buFont typeface="Arial MT"/>
              <a:buChar char="•"/>
              <a:tabLst>
                <a:tab pos="240665" algn="l"/>
                <a:tab pos="241300" algn="l"/>
              </a:tabLst>
            </a:pPr>
            <a:r>
              <a:rPr sz="2000" dirty="0">
                <a:highlight>
                  <a:srgbClr val="FFFF00"/>
                </a:highlight>
                <a:latin typeface="Calibri"/>
                <a:cs typeface="Calibri"/>
              </a:rPr>
              <a:t>In this method,</a:t>
            </a:r>
            <a:r>
              <a:rPr sz="2000" spc="5" dirty="0">
                <a:highlight>
                  <a:srgbClr val="FFFF00"/>
                </a:highlight>
                <a:latin typeface="Calibri"/>
                <a:cs typeface="Calibri"/>
              </a:rPr>
              <a:t> </a:t>
            </a:r>
            <a:r>
              <a:rPr sz="2000" dirty="0">
                <a:highlight>
                  <a:srgbClr val="FFFF00"/>
                </a:highlight>
                <a:latin typeface="Calibri"/>
                <a:cs typeface="Calibri"/>
              </a:rPr>
              <a:t>the huge</a:t>
            </a:r>
            <a:r>
              <a:rPr sz="2000" spc="-20" dirty="0">
                <a:highlight>
                  <a:srgbClr val="FFFF00"/>
                </a:highlight>
                <a:latin typeface="Calibri"/>
                <a:cs typeface="Calibri"/>
              </a:rPr>
              <a:t> </a:t>
            </a:r>
            <a:r>
              <a:rPr sz="2000" spc="-10" dirty="0">
                <a:highlight>
                  <a:srgbClr val="FFFF00"/>
                </a:highlight>
                <a:latin typeface="Calibri"/>
                <a:cs typeface="Calibri"/>
              </a:rPr>
              <a:t>range</a:t>
            </a:r>
            <a:r>
              <a:rPr sz="2000" spc="-25" dirty="0">
                <a:highlight>
                  <a:srgbClr val="FFFF00"/>
                </a:highlight>
                <a:latin typeface="Calibri"/>
                <a:cs typeface="Calibri"/>
              </a:rPr>
              <a:t> </a:t>
            </a:r>
            <a:r>
              <a:rPr sz="2000" spc="-15" dirty="0">
                <a:highlight>
                  <a:srgbClr val="FFFF00"/>
                </a:highlight>
                <a:latin typeface="Calibri"/>
                <a:cs typeface="Calibri"/>
              </a:rPr>
              <a:t>for</a:t>
            </a:r>
            <a:r>
              <a:rPr sz="2000" spc="-5" dirty="0">
                <a:highlight>
                  <a:srgbClr val="FFFF00"/>
                </a:highlight>
                <a:latin typeface="Calibri"/>
                <a:cs typeface="Calibri"/>
              </a:rPr>
              <a:t> </a:t>
            </a:r>
            <a:r>
              <a:rPr sz="2000" dirty="0">
                <a:highlight>
                  <a:srgbClr val="FFFF00"/>
                </a:highlight>
                <a:latin typeface="Calibri"/>
                <a:cs typeface="Calibri"/>
              </a:rPr>
              <a:t>the columns</a:t>
            </a:r>
            <a:r>
              <a:rPr sz="2000" spc="5" dirty="0">
                <a:highlight>
                  <a:srgbClr val="FFFF00"/>
                </a:highlight>
                <a:latin typeface="Calibri"/>
                <a:cs typeface="Calibri"/>
              </a:rPr>
              <a:t> </a:t>
            </a:r>
            <a:r>
              <a:rPr sz="2000" spc="-5" dirty="0">
                <a:highlight>
                  <a:srgbClr val="FFFF00"/>
                </a:highlight>
                <a:latin typeface="Calibri"/>
                <a:cs typeface="Calibri"/>
              </a:rPr>
              <a:t>is</a:t>
            </a:r>
            <a:r>
              <a:rPr sz="2000" dirty="0">
                <a:highlight>
                  <a:srgbClr val="FFFF00"/>
                </a:highlight>
                <a:latin typeface="Calibri"/>
                <a:cs typeface="Calibri"/>
              </a:rPr>
              <a:t> </a:t>
            </a:r>
            <a:r>
              <a:rPr sz="2000" spc="-5" dirty="0">
                <a:highlight>
                  <a:srgbClr val="FFFF00"/>
                </a:highlight>
                <a:latin typeface="Calibri"/>
                <a:cs typeface="Calibri"/>
              </a:rPr>
              <a:t>selected</a:t>
            </a:r>
            <a:r>
              <a:rPr sz="2000" spc="35" dirty="0">
                <a:highlight>
                  <a:srgbClr val="FFFF00"/>
                </a:highlight>
                <a:latin typeface="Calibri"/>
                <a:cs typeface="Calibri"/>
              </a:rPr>
              <a:t> </a:t>
            </a:r>
            <a:r>
              <a:rPr sz="2000" dirty="0">
                <a:highlight>
                  <a:srgbClr val="FFFF00"/>
                </a:highlight>
                <a:latin typeface="Calibri"/>
                <a:cs typeface="Calibri"/>
              </a:rPr>
              <a:t>initially</a:t>
            </a:r>
            <a:r>
              <a:rPr sz="2000" spc="15" dirty="0">
                <a:highlight>
                  <a:srgbClr val="FFFF00"/>
                </a:highlight>
                <a:latin typeface="Calibri"/>
                <a:cs typeface="Calibri"/>
              </a:rPr>
              <a:t> </a:t>
            </a:r>
            <a:r>
              <a:rPr sz="2000" spc="-5" dirty="0">
                <a:highlight>
                  <a:srgbClr val="FFFF00"/>
                </a:highlight>
                <a:latin typeface="Calibri"/>
                <a:cs typeface="Calibri"/>
              </a:rPr>
              <a:t>so</a:t>
            </a:r>
            <a:r>
              <a:rPr sz="2000" spc="5" dirty="0">
                <a:highlight>
                  <a:srgbClr val="FFFF00"/>
                </a:highlight>
                <a:latin typeface="Calibri"/>
                <a:cs typeface="Calibri"/>
              </a:rPr>
              <a:t> </a:t>
            </a:r>
            <a:r>
              <a:rPr sz="2000" spc="-5" dirty="0">
                <a:highlight>
                  <a:srgbClr val="FFFF00"/>
                </a:highlight>
                <a:latin typeface="Calibri"/>
                <a:cs typeface="Calibri"/>
              </a:rPr>
              <a:t>that</a:t>
            </a:r>
            <a:r>
              <a:rPr sz="2000" dirty="0">
                <a:highlight>
                  <a:srgbClr val="FFFF00"/>
                </a:highlight>
                <a:latin typeface="Calibri"/>
                <a:cs typeface="Calibri"/>
              </a:rPr>
              <a:t> the</a:t>
            </a:r>
            <a:r>
              <a:rPr sz="2000" spc="-5" dirty="0">
                <a:highlight>
                  <a:srgbClr val="FFFF00"/>
                </a:highlight>
                <a:latin typeface="Calibri"/>
                <a:cs typeface="Calibri"/>
              </a:rPr>
              <a:t> </a:t>
            </a:r>
            <a:r>
              <a:rPr sz="2000" dirty="0">
                <a:highlight>
                  <a:srgbClr val="FFFF00"/>
                </a:highlight>
                <a:latin typeface="Calibri"/>
                <a:cs typeface="Calibri"/>
              </a:rPr>
              <a:t>mapping</a:t>
            </a:r>
            <a:r>
              <a:rPr sz="2000" spc="-15" dirty="0">
                <a:highlight>
                  <a:srgbClr val="FFFF00"/>
                </a:highlight>
                <a:latin typeface="Calibri"/>
                <a:cs typeface="Calibri"/>
              </a:rPr>
              <a:t> size</a:t>
            </a:r>
            <a:r>
              <a:rPr sz="2000" spc="20" dirty="0">
                <a:highlight>
                  <a:srgbClr val="FFFF00"/>
                </a:highlight>
                <a:latin typeface="Calibri"/>
                <a:cs typeface="Calibri"/>
              </a:rPr>
              <a:t> </a:t>
            </a:r>
            <a:r>
              <a:rPr sz="2000" spc="-5" dirty="0">
                <a:highlight>
                  <a:srgbClr val="FFFF00"/>
                </a:highlight>
                <a:latin typeface="Calibri"/>
                <a:cs typeface="Calibri"/>
              </a:rPr>
              <a:t>of</a:t>
            </a:r>
            <a:endParaRPr sz="2000" dirty="0">
              <a:highlight>
                <a:srgbClr val="FFFF00"/>
              </a:highlight>
              <a:latin typeface="Calibri"/>
              <a:cs typeface="Calibri"/>
            </a:endParaRPr>
          </a:p>
          <a:p>
            <a:pPr marL="241300">
              <a:lnSpc>
                <a:spcPts val="2039"/>
              </a:lnSpc>
            </a:pPr>
            <a:r>
              <a:rPr sz="2000" dirty="0">
                <a:highlight>
                  <a:srgbClr val="FFFF00"/>
                </a:highlight>
                <a:latin typeface="Calibri"/>
                <a:cs typeface="Calibri"/>
              </a:rPr>
              <a:t>the</a:t>
            </a:r>
            <a:r>
              <a:rPr sz="2000" spc="-10" dirty="0">
                <a:highlight>
                  <a:srgbClr val="FFFF00"/>
                </a:highlight>
                <a:latin typeface="Calibri"/>
                <a:cs typeface="Calibri"/>
              </a:rPr>
              <a:t> </a:t>
            </a:r>
            <a:r>
              <a:rPr sz="2000" spc="-15" dirty="0">
                <a:highlight>
                  <a:srgbClr val="FFFF00"/>
                </a:highlight>
                <a:latin typeface="Calibri"/>
                <a:cs typeface="Calibri"/>
              </a:rPr>
              <a:t>first</a:t>
            </a:r>
            <a:r>
              <a:rPr sz="2000" spc="10" dirty="0">
                <a:highlight>
                  <a:srgbClr val="FFFF00"/>
                </a:highlight>
                <a:latin typeface="Calibri"/>
                <a:cs typeface="Calibri"/>
              </a:rPr>
              <a:t> </a:t>
            </a:r>
            <a:r>
              <a:rPr sz="2000" spc="-10" dirty="0">
                <a:highlight>
                  <a:srgbClr val="FFFF00"/>
                </a:highlight>
                <a:latin typeface="Calibri"/>
                <a:cs typeface="Calibri"/>
              </a:rPr>
              <a:t>level</a:t>
            </a:r>
            <a:r>
              <a:rPr sz="2000" spc="15" dirty="0">
                <a:highlight>
                  <a:srgbClr val="FFFF00"/>
                </a:highlight>
                <a:latin typeface="Calibri"/>
                <a:cs typeface="Calibri"/>
              </a:rPr>
              <a:t> </a:t>
            </a:r>
            <a:r>
              <a:rPr sz="2000" spc="-5" dirty="0">
                <a:highlight>
                  <a:srgbClr val="FFFF00"/>
                </a:highlight>
                <a:latin typeface="Calibri"/>
                <a:cs typeface="Calibri"/>
              </a:rPr>
              <a:t>becomes small.</a:t>
            </a:r>
            <a:endParaRPr sz="2000" dirty="0">
              <a:highlight>
                <a:srgbClr val="FFFF00"/>
              </a:highlight>
              <a:latin typeface="Calibri"/>
              <a:cs typeface="Calibri"/>
            </a:endParaRPr>
          </a:p>
          <a:p>
            <a:pPr marL="241300" indent="-228600">
              <a:lnSpc>
                <a:spcPct val="100000"/>
              </a:lnSpc>
              <a:spcBef>
                <a:spcPts val="275"/>
              </a:spcBef>
              <a:buFont typeface="Arial MT"/>
              <a:buChar char="•"/>
              <a:tabLst>
                <a:tab pos="240665" algn="l"/>
                <a:tab pos="241300" algn="l"/>
              </a:tabLst>
            </a:pPr>
            <a:r>
              <a:rPr sz="2000" spc="-5" dirty="0">
                <a:latin typeface="Calibri"/>
                <a:cs typeface="Calibri"/>
              </a:rPr>
              <a:t>Then </a:t>
            </a:r>
            <a:r>
              <a:rPr sz="2000" dirty="0">
                <a:latin typeface="Calibri"/>
                <a:cs typeface="Calibri"/>
              </a:rPr>
              <a:t>each</a:t>
            </a:r>
            <a:r>
              <a:rPr sz="2000" spc="-5" dirty="0">
                <a:latin typeface="Calibri"/>
                <a:cs typeface="Calibri"/>
              </a:rPr>
              <a:t> </a:t>
            </a:r>
            <a:r>
              <a:rPr sz="2000" spc="-10" dirty="0">
                <a:latin typeface="Calibri"/>
                <a:cs typeface="Calibri"/>
              </a:rPr>
              <a:t>range</a:t>
            </a:r>
            <a:r>
              <a:rPr sz="2000" spc="-15" dirty="0">
                <a:latin typeface="Calibri"/>
                <a:cs typeface="Calibri"/>
              </a:rPr>
              <a:t> </a:t>
            </a:r>
            <a:r>
              <a:rPr sz="2000" dirty="0">
                <a:latin typeface="Calibri"/>
                <a:cs typeface="Calibri"/>
              </a:rPr>
              <a:t>is</a:t>
            </a:r>
            <a:r>
              <a:rPr sz="2000" spc="-5" dirty="0">
                <a:latin typeface="Calibri"/>
                <a:cs typeface="Calibri"/>
              </a:rPr>
              <a:t> </a:t>
            </a:r>
            <a:r>
              <a:rPr sz="2000" dirty="0">
                <a:latin typeface="Calibri"/>
                <a:cs typeface="Calibri"/>
              </a:rPr>
              <a:t>further divided</a:t>
            </a:r>
            <a:r>
              <a:rPr sz="2000" spc="5" dirty="0">
                <a:latin typeface="Calibri"/>
                <a:cs typeface="Calibri"/>
              </a:rPr>
              <a:t> </a:t>
            </a:r>
            <a:r>
              <a:rPr sz="2000" spc="-10" dirty="0">
                <a:latin typeface="Calibri"/>
                <a:cs typeface="Calibri"/>
              </a:rPr>
              <a:t>into</a:t>
            </a:r>
            <a:r>
              <a:rPr sz="2000" spc="-5" dirty="0">
                <a:latin typeface="Calibri"/>
                <a:cs typeface="Calibri"/>
              </a:rPr>
              <a:t> smaller</a:t>
            </a:r>
            <a:r>
              <a:rPr sz="2000" spc="20" dirty="0">
                <a:latin typeface="Calibri"/>
                <a:cs typeface="Calibri"/>
              </a:rPr>
              <a:t> </a:t>
            </a:r>
            <a:r>
              <a:rPr sz="2000" spc="-5" dirty="0">
                <a:latin typeface="Calibri"/>
                <a:cs typeface="Calibri"/>
              </a:rPr>
              <a:t>ranges.</a:t>
            </a:r>
            <a:endParaRPr sz="2000" dirty="0">
              <a:latin typeface="Calibri"/>
              <a:cs typeface="Calibri"/>
            </a:endParaRPr>
          </a:p>
          <a:p>
            <a:pPr marL="241300" indent="-228600">
              <a:lnSpc>
                <a:spcPct val="100000"/>
              </a:lnSpc>
              <a:spcBef>
                <a:spcPts val="280"/>
              </a:spcBef>
              <a:buFont typeface="Arial MT"/>
              <a:buChar char="•"/>
              <a:tabLst>
                <a:tab pos="240665" algn="l"/>
                <a:tab pos="241300" algn="l"/>
              </a:tabLst>
            </a:pPr>
            <a:r>
              <a:rPr sz="2000" spc="-5" dirty="0">
                <a:latin typeface="Calibri"/>
                <a:cs typeface="Calibri"/>
              </a:rPr>
              <a:t>The</a:t>
            </a:r>
            <a:r>
              <a:rPr sz="2000" spc="10" dirty="0">
                <a:latin typeface="Calibri"/>
                <a:cs typeface="Calibri"/>
              </a:rPr>
              <a:t> </a:t>
            </a:r>
            <a:r>
              <a:rPr sz="2000" dirty="0">
                <a:latin typeface="Calibri"/>
                <a:cs typeface="Calibri"/>
              </a:rPr>
              <a:t>mapping</a:t>
            </a:r>
            <a:r>
              <a:rPr sz="2000" spc="-5" dirty="0">
                <a:latin typeface="Calibri"/>
                <a:cs typeface="Calibri"/>
              </a:rPr>
              <a:t> of</a:t>
            </a:r>
            <a:r>
              <a:rPr sz="2000" dirty="0">
                <a:latin typeface="Calibri"/>
                <a:cs typeface="Calibri"/>
              </a:rPr>
              <a:t> the</a:t>
            </a:r>
            <a:r>
              <a:rPr sz="2000" spc="10" dirty="0">
                <a:latin typeface="Calibri"/>
                <a:cs typeface="Calibri"/>
              </a:rPr>
              <a:t> </a:t>
            </a:r>
            <a:r>
              <a:rPr sz="2000" spc="-20" dirty="0">
                <a:latin typeface="Calibri"/>
                <a:cs typeface="Calibri"/>
              </a:rPr>
              <a:t>first</a:t>
            </a:r>
            <a:r>
              <a:rPr sz="2000" spc="30" dirty="0">
                <a:latin typeface="Calibri"/>
                <a:cs typeface="Calibri"/>
              </a:rPr>
              <a:t> </a:t>
            </a:r>
            <a:r>
              <a:rPr sz="2000" spc="-10" dirty="0">
                <a:latin typeface="Calibri"/>
                <a:cs typeface="Calibri"/>
              </a:rPr>
              <a:t>level</a:t>
            </a:r>
            <a:r>
              <a:rPr sz="2000" spc="30" dirty="0">
                <a:latin typeface="Calibri"/>
                <a:cs typeface="Calibri"/>
              </a:rPr>
              <a:t> </a:t>
            </a:r>
            <a:r>
              <a:rPr sz="2000" dirty="0">
                <a:latin typeface="Calibri"/>
                <a:cs typeface="Calibri"/>
              </a:rPr>
              <a:t>is</a:t>
            </a:r>
            <a:r>
              <a:rPr sz="2000" spc="5" dirty="0">
                <a:latin typeface="Calibri"/>
                <a:cs typeface="Calibri"/>
              </a:rPr>
              <a:t> </a:t>
            </a:r>
            <a:r>
              <a:rPr sz="2000" spc="-15" dirty="0">
                <a:latin typeface="Calibri"/>
                <a:cs typeface="Calibri"/>
              </a:rPr>
              <a:t>stored</a:t>
            </a:r>
            <a:r>
              <a:rPr sz="2000" spc="20" dirty="0">
                <a:latin typeface="Calibri"/>
                <a:cs typeface="Calibri"/>
              </a:rPr>
              <a:t> </a:t>
            </a:r>
            <a:r>
              <a:rPr sz="2000" dirty="0">
                <a:latin typeface="Calibri"/>
                <a:cs typeface="Calibri"/>
              </a:rPr>
              <a:t>in the</a:t>
            </a:r>
            <a:r>
              <a:rPr sz="2000" spc="5" dirty="0">
                <a:latin typeface="Calibri"/>
                <a:cs typeface="Calibri"/>
              </a:rPr>
              <a:t> </a:t>
            </a:r>
            <a:r>
              <a:rPr sz="2000" dirty="0">
                <a:latin typeface="Calibri"/>
                <a:cs typeface="Calibri"/>
              </a:rPr>
              <a:t>primary</a:t>
            </a:r>
            <a:r>
              <a:rPr sz="2000" spc="15" dirty="0">
                <a:latin typeface="Calibri"/>
                <a:cs typeface="Calibri"/>
              </a:rPr>
              <a:t> </a:t>
            </a:r>
            <a:r>
              <a:rPr sz="2000" spc="-20" dirty="0">
                <a:latin typeface="Calibri"/>
                <a:cs typeface="Calibri"/>
              </a:rPr>
              <a:t>memory,</a:t>
            </a:r>
            <a:r>
              <a:rPr sz="2000" spc="-15" dirty="0">
                <a:latin typeface="Calibri"/>
                <a:cs typeface="Calibri"/>
              </a:rPr>
              <a:t> </a:t>
            </a:r>
            <a:r>
              <a:rPr sz="2000" spc="-5" dirty="0">
                <a:latin typeface="Calibri"/>
                <a:cs typeface="Calibri"/>
              </a:rPr>
              <a:t>so</a:t>
            </a:r>
            <a:r>
              <a:rPr sz="2000" spc="10" dirty="0">
                <a:latin typeface="Calibri"/>
                <a:cs typeface="Calibri"/>
              </a:rPr>
              <a:t> </a:t>
            </a:r>
            <a:r>
              <a:rPr sz="2000" spc="-5" dirty="0">
                <a:latin typeface="Calibri"/>
                <a:cs typeface="Calibri"/>
              </a:rPr>
              <a:t>that</a:t>
            </a:r>
            <a:r>
              <a:rPr sz="2000" spc="10" dirty="0">
                <a:latin typeface="Calibri"/>
                <a:cs typeface="Calibri"/>
              </a:rPr>
              <a:t> </a:t>
            </a:r>
            <a:r>
              <a:rPr sz="2000" spc="-5" dirty="0">
                <a:latin typeface="Calibri"/>
                <a:cs typeface="Calibri"/>
              </a:rPr>
              <a:t>address</a:t>
            </a:r>
            <a:r>
              <a:rPr sz="2000" spc="15" dirty="0">
                <a:latin typeface="Calibri"/>
                <a:cs typeface="Calibri"/>
              </a:rPr>
              <a:t> </a:t>
            </a:r>
            <a:r>
              <a:rPr sz="2000" spc="-20" dirty="0">
                <a:latin typeface="Calibri"/>
                <a:cs typeface="Calibri"/>
              </a:rPr>
              <a:t>fetch</a:t>
            </a:r>
            <a:r>
              <a:rPr sz="2000" spc="5" dirty="0">
                <a:latin typeface="Calibri"/>
                <a:cs typeface="Calibri"/>
              </a:rPr>
              <a:t> </a:t>
            </a:r>
            <a:r>
              <a:rPr sz="2000" dirty="0">
                <a:latin typeface="Calibri"/>
                <a:cs typeface="Calibri"/>
              </a:rPr>
              <a:t>is</a:t>
            </a:r>
            <a:r>
              <a:rPr sz="2000" spc="10" dirty="0">
                <a:latin typeface="Calibri"/>
                <a:cs typeface="Calibri"/>
              </a:rPr>
              <a:t> </a:t>
            </a:r>
            <a:r>
              <a:rPr sz="2000" spc="-45" dirty="0">
                <a:latin typeface="Calibri"/>
                <a:cs typeface="Calibri"/>
              </a:rPr>
              <a:t>faster.</a:t>
            </a:r>
            <a:endParaRPr sz="2000" dirty="0">
              <a:latin typeface="Calibri"/>
              <a:cs typeface="Calibri"/>
            </a:endParaRPr>
          </a:p>
          <a:p>
            <a:pPr marL="241300" marR="239395" indent="-228600">
              <a:lnSpc>
                <a:spcPct val="70000"/>
              </a:lnSpc>
              <a:spcBef>
                <a:spcPts val="1005"/>
              </a:spcBef>
              <a:buFont typeface="Arial MT"/>
              <a:buChar char="•"/>
              <a:tabLst>
                <a:tab pos="240665" algn="l"/>
                <a:tab pos="241300" algn="l"/>
              </a:tabLst>
            </a:pPr>
            <a:r>
              <a:rPr sz="2000" spc="-5" dirty="0">
                <a:highlight>
                  <a:srgbClr val="FFFF00"/>
                </a:highlight>
                <a:latin typeface="Calibri"/>
                <a:cs typeface="Calibri"/>
              </a:rPr>
              <a:t>The</a:t>
            </a:r>
            <a:r>
              <a:rPr sz="2000" spc="10" dirty="0">
                <a:highlight>
                  <a:srgbClr val="FFFF00"/>
                </a:highlight>
                <a:latin typeface="Calibri"/>
                <a:cs typeface="Calibri"/>
              </a:rPr>
              <a:t> </a:t>
            </a:r>
            <a:r>
              <a:rPr sz="2000" dirty="0">
                <a:highlight>
                  <a:srgbClr val="FFFF00"/>
                </a:highlight>
                <a:latin typeface="Calibri"/>
                <a:cs typeface="Calibri"/>
              </a:rPr>
              <a:t>mapping</a:t>
            </a:r>
            <a:r>
              <a:rPr sz="2000" spc="-15" dirty="0">
                <a:highlight>
                  <a:srgbClr val="FFFF00"/>
                </a:highlight>
                <a:latin typeface="Calibri"/>
                <a:cs typeface="Calibri"/>
              </a:rPr>
              <a:t> </a:t>
            </a:r>
            <a:r>
              <a:rPr sz="2000" spc="-5" dirty="0">
                <a:highlight>
                  <a:srgbClr val="FFFF00"/>
                </a:highlight>
                <a:latin typeface="Calibri"/>
                <a:cs typeface="Calibri"/>
              </a:rPr>
              <a:t>of</a:t>
            </a:r>
            <a:r>
              <a:rPr sz="2000" dirty="0">
                <a:highlight>
                  <a:srgbClr val="FFFF00"/>
                </a:highlight>
                <a:latin typeface="Calibri"/>
                <a:cs typeface="Calibri"/>
              </a:rPr>
              <a:t> the</a:t>
            </a:r>
            <a:r>
              <a:rPr sz="2000" spc="5" dirty="0">
                <a:highlight>
                  <a:srgbClr val="FFFF00"/>
                </a:highlight>
                <a:latin typeface="Calibri"/>
                <a:cs typeface="Calibri"/>
              </a:rPr>
              <a:t> </a:t>
            </a:r>
            <a:r>
              <a:rPr sz="2000" dirty="0">
                <a:highlight>
                  <a:srgbClr val="FFFF00"/>
                </a:highlight>
                <a:latin typeface="Calibri"/>
                <a:cs typeface="Calibri"/>
              </a:rPr>
              <a:t>second</a:t>
            </a:r>
            <a:r>
              <a:rPr sz="2000" spc="5" dirty="0">
                <a:highlight>
                  <a:srgbClr val="FFFF00"/>
                </a:highlight>
                <a:latin typeface="Calibri"/>
                <a:cs typeface="Calibri"/>
              </a:rPr>
              <a:t> </a:t>
            </a:r>
            <a:r>
              <a:rPr sz="2000" spc="-10" dirty="0">
                <a:highlight>
                  <a:srgbClr val="FFFF00"/>
                </a:highlight>
                <a:latin typeface="Calibri"/>
                <a:cs typeface="Calibri"/>
              </a:rPr>
              <a:t>level</a:t>
            </a:r>
            <a:r>
              <a:rPr sz="2000" spc="25" dirty="0">
                <a:highlight>
                  <a:srgbClr val="FFFF00"/>
                </a:highlight>
                <a:latin typeface="Calibri"/>
                <a:cs typeface="Calibri"/>
              </a:rPr>
              <a:t> </a:t>
            </a:r>
            <a:r>
              <a:rPr sz="2000" dirty="0">
                <a:highlight>
                  <a:srgbClr val="FFFF00"/>
                </a:highlight>
                <a:latin typeface="Calibri"/>
                <a:cs typeface="Calibri"/>
              </a:rPr>
              <a:t>and</a:t>
            </a:r>
            <a:r>
              <a:rPr sz="2000" spc="-15" dirty="0">
                <a:highlight>
                  <a:srgbClr val="FFFF00"/>
                </a:highlight>
                <a:latin typeface="Calibri"/>
                <a:cs typeface="Calibri"/>
              </a:rPr>
              <a:t> </a:t>
            </a:r>
            <a:r>
              <a:rPr sz="2000" dirty="0">
                <a:highlight>
                  <a:srgbClr val="FFFF00"/>
                </a:highlight>
                <a:latin typeface="Calibri"/>
                <a:cs typeface="Calibri"/>
              </a:rPr>
              <a:t>actual</a:t>
            </a:r>
            <a:r>
              <a:rPr sz="2000" spc="5" dirty="0">
                <a:highlight>
                  <a:srgbClr val="FFFF00"/>
                </a:highlight>
                <a:latin typeface="Calibri"/>
                <a:cs typeface="Calibri"/>
              </a:rPr>
              <a:t> </a:t>
            </a:r>
            <a:r>
              <a:rPr sz="2000" spc="-15" dirty="0">
                <a:highlight>
                  <a:srgbClr val="FFFF00"/>
                </a:highlight>
                <a:latin typeface="Calibri"/>
                <a:cs typeface="Calibri"/>
              </a:rPr>
              <a:t>data</a:t>
            </a:r>
            <a:r>
              <a:rPr sz="2000" spc="5" dirty="0">
                <a:highlight>
                  <a:srgbClr val="FFFF00"/>
                </a:highlight>
                <a:latin typeface="Calibri"/>
                <a:cs typeface="Calibri"/>
              </a:rPr>
              <a:t> </a:t>
            </a:r>
            <a:r>
              <a:rPr sz="2000" spc="-5" dirty="0">
                <a:highlight>
                  <a:srgbClr val="FFFF00"/>
                </a:highlight>
                <a:latin typeface="Calibri"/>
                <a:cs typeface="Calibri"/>
              </a:rPr>
              <a:t>are</a:t>
            </a:r>
            <a:r>
              <a:rPr sz="2000" spc="20" dirty="0">
                <a:highlight>
                  <a:srgbClr val="FFFF00"/>
                </a:highlight>
                <a:latin typeface="Calibri"/>
                <a:cs typeface="Calibri"/>
              </a:rPr>
              <a:t> </a:t>
            </a:r>
            <a:r>
              <a:rPr sz="2000" spc="-15" dirty="0">
                <a:highlight>
                  <a:srgbClr val="FFFF00"/>
                </a:highlight>
                <a:latin typeface="Calibri"/>
                <a:cs typeface="Calibri"/>
              </a:rPr>
              <a:t>stored</a:t>
            </a:r>
            <a:r>
              <a:rPr sz="2000" spc="10" dirty="0">
                <a:highlight>
                  <a:srgbClr val="FFFF00"/>
                </a:highlight>
                <a:latin typeface="Calibri"/>
                <a:cs typeface="Calibri"/>
              </a:rPr>
              <a:t> </a:t>
            </a:r>
            <a:r>
              <a:rPr sz="2000" dirty="0">
                <a:highlight>
                  <a:srgbClr val="FFFF00"/>
                </a:highlight>
                <a:latin typeface="Calibri"/>
                <a:cs typeface="Calibri"/>
              </a:rPr>
              <a:t>in</a:t>
            </a:r>
            <a:r>
              <a:rPr sz="2000" spc="10" dirty="0">
                <a:highlight>
                  <a:srgbClr val="FFFF00"/>
                </a:highlight>
                <a:latin typeface="Calibri"/>
                <a:cs typeface="Calibri"/>
              </a:rPr>
              <a:t> </a:t>
            </a:r>
            <a:r>
              <a:rPr sz="2000" dirty="0">
                <a:highlight>
                  <a:srgbClr val="FFFF00"/>
                </a:highlight>
                <a:latin typeface="Calibri"/>
                <a:cs typeface="Calibri"/>
              </a:rPr>
              <a:t>the</a:t>
            </a:r>
            <a:r>
              <a:rPr sz="2000" spc="-5" dirty="0">
                <a:highlight>
                  <a:srgbClr val="FFFF00"/>
                </a:highlight>
                <a:latin typeface="Calibri"/>
                <a:cs typeface="Calibri"/>
              </a:rPr>
              <a:t> </a:t>
            </a:r>
            <a:r>
              <a:rPr sz="2000" dirty="0">
                <a:highlight>
                  <a:srgbClr val="FFFF00"/>
                </a:highlight>
                <a:latin typeface="Calibri"/>
                <a:cs typeface="Calibri"/>
              </a:rPr>
              <a:t>secondary</a:t>
            </a:r>
            <a:r>
              <a:rPr sz="2000" spc="-10" dirty="0">
                <a:highlight>
                  <a:srgbClr val="FFFF00"/>
                </a:highlight>
                <a:latin typeface="Calibri"/>
                <a:cs typeface="Calibri"/>
              </a:rPr>
              <a:t> </a:t>
            </a:r>
            <a:r>
              <a:rPr sz="2000" dirty="0">
                <a:highlight>
                  <a:srgbClr val="FFFF00"/>
                </a:highlight>
                <a:latin typeface="Calibri"/>
                <a:cs typeface="Calibri"/>
              </a:rPr>
              <a:t>memory </a:t>
            </a:r>
            <a:r>
              <a:rPr sz="2000" spc="-5" dirty="0">
                <a:highlight>
                  <a:srgbClr val="FFFF00"/>
                </a:highlight>
                <a:latin typeface="Calibri"/>
                <a:cs typeface="Calibri"/>
              </a:rPr>
              <a:t>(hard </a:t>
            </a:r>
            <a:r>
              <a:rPr sz="2000" spc="-434" dirty="0">
                <a:highlight>
                  <a:srgbClr val="FFFF00"/>
                </a:highlight>
                <a:latin typeface="Calibri"/>
                <a:cs typeface="Calibri"/>
              </a:rPr>
              <a:t> </a:t>
            </a:r>
            <a:r>
              <a:rPr sz="2000" dirty="0">
                <a:highlight>
                  <a:srgbClr val="FFFF00"/>
                </a:highlight>
                <a:latin typeface="Calibri"/>
                <a:cs typeface="Calibri"/>
              </a:rPr>
              <a:t>disk).</a:t>
            </a:r>
          </a:p>
        </p:txBody>
      </p:sp>
    </p:spTree>
    <p:extLst>
      <p:ext uri="{BB962C8B-B14F-4D97-AF65-F5344CB8AC3E}">
        <p14:creationId xmlns:p14="http://schemas.microsoft.com/office/powerpoint/2010/main" val="28585269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endParaRPr lang="en-IN" dirty="0"/>
          </a:p>
        </p:txBody>
      </p:sp>
      <p:sp>
        <p:nvSpPr>
          <p:cNvPr id="3" name="Content Placeholder 2"/>
          <p:cNvSpPr>
            <a:spLocks noGrp="1"/>
          </p:cNvSpPr>
          <p:nvPr>
            <p:ph idx="1"/>
          </p:nvPr>
        </p:nvSpPr>
        <p:spPr/>
        <p:txBody>
          <a:bodyPr/>
          <a:lstStyle/>
          <a:p>
            <a:endParaRPr lang="en-IN"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362200"/>
            <a:ext cx="4524375" cy="2619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7030" y="5181600"/>
            <a:ext cx="5924550" cy="504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42535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fade">
                                      <p:cBhvr>
                                        <p:cTn id="7" dur="1000"/>
                                        <p:tgtEl>
                                          <p:spTgt spid="9218"/>
                                        </p:tgtEl>
                                      </p:cBhvr>
                                    </p:animEffect>
                                    <p:anim calcmode="lin" valueType="num">
                                      <p:cBhvr>
                                        <p:cTn id="8" dur="1000" fill="hold"/>
                                        <p:tgtEl>
                                          <p:spTgt spid="9218"/>
                                        </p:tgtEl>
                                        <p:attrNameLst>
                                          <p:attrName>ppt_x</p:attrName>
                                        </p:attrNameLst>
                                      </p:cBhvr>
                                      <p:tavLst>
                                        <p:tav tm="0">
                                          <p:val>
                                            <p:strVal val="#ppt_x"/>
                                          </p:val>
                                        </p:tav>
                                        <p:tav tm="100000">
                                          <p:val>
                                            <p:strVal val="#ppt_x"/>
                                          </p:val>
                                        </p:tav>
                                      </p:tavLst>
                                    </p:anim>
                                    <p:anim calcmode="lin" valueType="num">
                                      <p:cBhvr>
                                        <p:cTn id="9" dur="1000" fill="hold"/>
                                        <p:tgtEl>
                                          <p:spTgt spid="92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Secondary index on key-attribute</a:t>
            </a:r>
            <a:endParaRPr lang="en-IN" dirty="0"/>
          </a:p>
        </p:txBody>
      </p:sp>
      <p:sp>
        <p:nvSpPr>
          <p:cNvPr id="3" name="Content Placeholder 2"/>
          <p:cNvSpPr>
            <a:spLocks noGrp="1"/>
          </p:cNvSpPr>
          <p:nvPr>
            <p:ph idx="1"/>
          </p:nvPr>
        </p:nvSpPr>
        <p:spPr/>
        <p:txBody>
          <a:bodyPr/>
          <a:lstStyle/>
          <a:p>
            <a:endParaRPr lang="en-IN"/>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828800"/>
            <a:ext cx="8440674" cy="4038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288534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Secondary index on non-key attribute</a:t>
            </a:r>
            <a:endParaRPr lang="en-IN" dirty="0"/>
          </a:p>
        </p:txBody>
      </p:sp>
      <p:sp>
        <p:nvSpPr>
          <p:cNvPr id="3" name="Content Placeholder 2"/>
          <p:cNvSpPr>
            <a:spLocks noGrp="1"/>
          </p:cNvSpPr>
          <p:nvPr>
            <p:ph idx="1"/>
          </p:nvPr>
        </p:nvSpPr>
        <p:spPr/>
        <p:txBody>
          <a:bodyPr/>
          <a:lstStyle/>
          <a:p>
            <a:endParaRPr lang="en-IN"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600200"/>
            <a:ext cx="6934200" cy="9460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2400" y="2743200"/>
            <a:ext cx="2057400" cy="28803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2914" y="2599515"/>
            <a:ext cx="2004686" cy="31048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2565068"/>
            <a:ext cx="4099930" cy="29975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04142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269"/>
                                        </p:tgtEl>
                                        <p:attrNameLst>
                                          <p:attrName>style.visibility</p:attrName>
                                        </p:attrNameLst>
                                      </p:cBhvr>
                                      <p:to>
                                        <p:strVal val="visible"/>
                                      </p:to>
                                    </p:set>
                                    <p:animEffect transition="in" filter="fade">
                                      <p:cBhvr>
                                        <p:cTn id="7" dur="1000"/>
                                        <p:tgtEl>
                                          <p:spTgt spid="11269"/>
                                        </p:tgtEl>
                                      </p:cBhvr>
                                    </p:animEffect>
                                    <p:anim calcmode="lin" valueType="num">
                                      <p:cBhvr>
                                        <p:cTn id="8" dur="1000" fill="hold"/>
                                        <p:tgtEl>
                                          <p:spTgt spid="11269"/>
                                        </p:tgtEl>
                                        <p:attrNameLst>
                                          <p:attrName>ppt_x</p:attrName>
                                        </p:attrNameLst>
                                      </p:cBhvr>
                                      <p:tavLst>
                                        <p:tav tm="0">
                                          <p:val>
                                            <p:strVal val="#ppt_x"/>
                                          </p:val>
                                        </p:tav>
                                        <p:tav tm="100000">
                                          <p:val>
                                            <p:strVal val="#ppt_x"/>
                                          </p:val>
                                        </p:tav>
                                      </p:tavLst>
                                    </p:anim>
                                    <p:anim calcmode="lin" valueType="num">
                                      <p:cBhvr>
                                        <p:cTn id="9" dur="1000" fill="hold"/>
                                        <p:tgtEl>
                                          <p:spTgt spid="1126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267"/>
                                        </p:tgtEl>
                                        <p:attrNameLst>
                                          <p:attrName>style.visibility</p:attrName>
                                        </p:attrNameLst>
                                      </p:cBhvr>
                                      <p:to>
                                        <p:strVal val="visible"/>
                                      </p:to>
                                    </p:set>
                                    <p:animEffect transition="in" filter="fade">
                                      <p:cBhvr>
                                        <p:cTn id="14" dur="1000"/>
                                        <p:tgtEl>
                                          <p:spTgt spid="11267"/>
                                        </p:tgtEl>
                                      </p:cBhvr>
                                    </p:animEffect>
                                    <p:anim calcmode="lin" valueType="num">
                                      <p:cBhvr>
                                        <p:cTn id="15" dur="1000" fill="hold"/>
                                        <p:tgtEl>
                                          <p:spTgt spid="11267"/>
                                        </p:tgtEl>
                                        <p:attrNameLst>
                                          <p:attrName>ppt_x</p:attrName>
                                        </p:attrNameLst>
                                      </p:cBhvr>
                                      <p:tavLst>
                                        <p:tav tm="0">
                                          <p:val>
                                            <p:strVal val="#ppt_x"/>
                                          </p:val>
                                        </p:tav>
                                        <p:tav tm="100000">
                                          <p:val>
                                            <p:strVal val="#ppt_x"/>
                                          </p:val>
                                        </p:tav>
                                      </p:tavLst>
                                    </p:anim>
                                    <p:anim calcmode="lin" valueType="num">
                                      <p:cBhvr>
                                        <p:cTn id="16" dur="1000" fill="hold"/>
                                        <p:tgtEl>
                                          <p:spTgt spid="1126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1268"/>
                                        </p:tgtEl>
                                        <p:attrNameLst>
                                          <p:attrName>style.visibility</p:attrName>
                                        </p:attrNameLst>
                                      </p:cBhvr>
                                      <p:to>
                                        <p:strVal val="visible"/>
                                      </p:to>
                                    </p:set>
                                    <p:animEffect transition="in" filter="fade">
                                      <p:cBhvr>
                                        <p:cTn id="21" dur="1000"/>
                                        <p:tgtEl>
                                          <p:spTgt spid="11268"/>
                                        </p:tgtEl>
                                      </p:cBhvr>
                                    </p:animEffect>
                                    <p:anim calcmode="lin" valueType="num">
                                      <p:cBhvr>
                                        <p:cTn id="22" dur="1000" fill="hold"/>
                                        <p:tgtEl>
                                          <p:spTgt spid="11268"/>
                                        </p:tgtEl>
                                        <p:attrNameLst>
                                          <p:attrName>ppt_x</p:attrName>
                                        </p:attrNameLst>
                                      </p:cBhvr>
                                      <p:tavLst>
                                        <p:tav tm="0">
                                          <p:val>
                                            <p:strVal val="#ppt_x"/>
                                          </p:val>
                                        </p:tav>
                                        <p:tav tm="100000">
                                          <p:val>
                                            <p:strVal val="#ppt_x"/>
                                          </p:val>
                                        </p:tav>
                                      </p:tavLst>
                                    </p:anim>
                                    <p:anim calcmode="lin" valueType="num">
                                      <p:cBhvr>
                                        <p:cTn id="23" dur="1000" fill="hold"/>
                                        <p:tgtEl>
                                          <p:spTgt spid="1126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057400"/>
            <a:ext cx="8417536" cy="3524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219321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NonClustered</a:t>
            </a:r>
            <a:r>
              <a:rPr lang="en-US" dirty="0"/>
              <a:t> Index </a:t>
            </a:r>
            <a:endParaRPr lang="en-IN" dirty="0"/>
          </a:p>
        </p:txBody>
      </p:sp>
      <p:sp>
        <p:nvSpPr>
          <p:cNvPr id="3" name="Content Placeholder 2"/>
          <p:cNvSpPr>
            <a:spLocks noGrp="1"/>
          </p:cNvSpPr>
          <p:nvPr>
            <p:ph idx="1"/>
          </p:nvPr>
        </p:nvSpPr>
        <p:spPr/>
        <p:txBody>
          <a:bodyPr/>
          <a:lstStyle/>
          <a:p>
            <a:endParaRPr lang="en-IN"/>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600200"/>
            <a:ext cx="8001000" cy="46506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847969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838200"/>
            <a:ext cx="9137125" cy="548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069262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Multilevel index</a:t>
            </a:r>
            <a:endParaRPr lang="en-IN" dirty="0"/>
          </a:p>
        </p:txBody>
      </p:sp>
      <p:sp>
        <p:nvSpPr>
          <p:cNvPr id="3" name="Content Placeholder 2"/>
          <p:cNvSpPr>
            <a:spLocks noGrp="1"/>
          </p:cNvSpPr>
          <p:nvPr>
            <p:ph idx="1"/>
          </p:nvPr>
        </p:nvSpPr>
        <p:spPr/>
        <p:txBody>
          <a:bodyPr/>
          <a:lstStyle/>
          <a:p>
            <a:r>
              <a:rPr lang="en-US" dirty="0"/>
              <a:t>Index records comprise search-key values and data pointers. </a:t>
            </a:r>
          </a:p>
          <a:p>
            <a:r>
              <a:rPr lang="en-US" dirty="0"/>
              <a:t>Multilevel index is stored on the disk along with the actual database files. </a:t>
            </a:r>
          </a:p>
          <a:p>
            <a:r>
              <a:rPr lang="en-US" dirty="0">
                <a:highlight>
                  <a:srgbClr val="FFFF00"/>
                </a:highlight>
              </a:rPr>
              <a:t>As the size of the database grows, so does the size of the indices. </a:t>
            </a:r>
          </a:p>
          <a:p>
            <a:r>
              <a:rPr lang="en-US" dirty="0">
                <a:highlight>
                  <a:srgbClr val="FFFF00"/>
                </a:highlight>
              </a:rPr>
              <a:t>There is an immense need to keep the index records in the main memory so as to speed up the search operations. </a:t>
            </a:r>
          </a:p>
          <a:p>
            <a:r>
              <a:rPr lang="en-US" dirty="0">
                <a:highlight>
                  <a:srgbClr val="FFFF00"/>
                </a:highlight>
              </a:rPr>
              <a:t>If single-level index is used, then a large size index cannot be kept in memory which leads to multiple disk accesses.</a:t>
            </a:r>
          </a:p>
          <a:p>
            <a:r>
              <a:rPr lang="en-US" dirty="0">
                <a:highlight>
                  <a:srgbClr val="FFFF00"/>
                </a:highlight>
              </a:rPr>
              <a:t>Multi-level Index helps in breaking down the index into several smaller indices in order to make the outermost level so small that it can be saved in a single disk block, which can easily be accommodated anywhere in the main memory.</a:t>
            </a:r>
            <a:br>
              <a:rPr lang="en-US" dirty="0"/>
            </a:br>
            <a:endParaRPr lang="en-IN" dirty="0"/>
          </a:p>
        </p:txBody>
      </p:sp>
    </p:spTree>
    <p:extLst>
      <p:ext uri="{BB962C8B-B14F-4D97-AF65-F5344CB8AC3E}">
        <p14:creationId xmlns:p14="http://schemas.microsoft.com/office/powerpoint/2010/main" val="37744536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endParaRPr lang="en-IN" dirty="0"/>
          </a:p>
        </p:txBody>
      </p:sp>
      <p:sp>
        <p:nvSpPr>
          <p:cNvPr id="3" name="Content Placeholder 2"/>
          <p:cNvSpPr>
            <a:spLocks noGrp="1"/>
          </p:cNvSpPr>
          <p:nvPr>
            <p:ph idx="1"/>
          </p:nvPr>
        </p:nvSpPr>
        <p:spPr/>
        <p:txBody>
          <a:bodyPr/>
          <a:lstStyle/>
          <a:p>
            <a:endParaRPr lang="en-IN"/>
          </a:p>
        </p:txBody>
      </p:sp>
      <p:pic>
        <p:nvPicPr>
          <p:cNvPr id="13314" name="Picture 2" descr="https://lh7-us.googleusercontent.com/CXAxgFSejxz6D2JAjP2oJCtRmK5nCBCTPOgrahPubNDTmJrN-iFeZnWG4ff0rX9J9lzU0urhCuHkJt7cFlrdvXEo1POG-kzt2iGTdp7oWZZIHtzVTzagT_uh9Os4_tHSNnc1w70Qevl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404037"/>
            <a:ext cx="6267450" cy="5996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31935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Searching in multilevel indexing</a:t>
            </a:r>
            <a:endParaRPr lang="en-IN" dirty="0"/>
          </a:p>
        </p:txBody>
      </p:sp>
      <p:sp>
        <p:nvSpPr>
          <p:cNvPr id="3" name="Content Placeholder 2"/>
          <p:cNvSpPr>
            <a:spLocks noGrp="1"/>
          </p:cNvSpPr>
          <p:nvPr>
            <p:ph idx="1"/>
          </p:nvPr>
        </p:nvSpPr>
        <p:spPr/>
        <p:txBody>
          <a:bodyPr/>
          <a:lstStyle/>
          <a:p>
            <a:endParaRPr lang="en-IN"/>
          </a:p>
        </p:txBody>
      </p:sp>
      <p:pic>
        <p:nvPicPr>
          <p:cNvPr id="15362" name="Picture 2" descr="https://lh7-us.googleusercontent.com/akiIFQlc2BSgCwZ8djx9kP8sD_mM4cbhcj_5r5Wk72y3uWe9oy3CVb6f5Iv7GmBvMxvCgaOoMx--3Xg94HiH7Tqyc18dtql7H6XU9GmqdsXyNETYFmaxP9mEq8FD9KjtVB84o7xp9OL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2057400"/>
            <a:ext cx="6050317"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6557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160000" cy="639762"/>
          </a:xfrm>
        </p:spPr>
        <p:txBody>
          <a:bodyPr/>
          <a:lstStyle/>
          <a:p>
            <a:r>
              <a:rPr lang="en-US" dirty="0"/>
              <a:t>B-Tree</a:t>
            </a:r>
            <a:endParaRPr lang="en-IN" dirty="0"/>
          </a:p>
        </p:txBody>
      </p:sp>
      <p:sp>
        <p:nvSpPr>
          <p:cNvPr id="3" name="Content Placeholder 2"/>
          <p:cNvSpPr>
            <a:spLocks noGrp="1"/>
          </p:cNvSpPr>
          <p:nvPr>
            <p:ph idx="1"/>
          </p:nvPr>
        </p:nvSpPr>
        <p:spPr>
          <a:xfrm>
            <a:off x="609600" y="1143000"/>
            <a:ext cx="10160000" cy="4800600"/>
          </a:xfrm>
        </p:spPr>
        <p:txBody>
          <a:bodyPr/>
          <a:lstStyle/>
          <a:p>
            <a:r>
              <a:rPr lang="en-US" b="1" i="0" dirty="0">
                <a:solidFill>
                  <a:srgbClr val="242424"/>
                </a:solidFill>
                <a:effectLst/>
                <a:highlight>
                  <a:srgbClr val="FFFF00"/>
                </a:highlight>
                <a:latin typeface="source-serif-pro"/>
              </a:rPr>
              <a:t>A B-tree is a data structure that provides sorted data and allows searches, sequential access, attachments and removals in sorted order.</a:t>
            </a:r>
            <a:r>
              <a:rPr lang="en-US" b="0" i="0" dirty="0">
                <a:solidFill>
                  <a:srgbClr val="242424"/>
                </a:solidFill>
                <a:effectLst/>
                <a:highlight>
                  <a:srgbClr val="FFFF00"/>
                </a:highlight>
                <a:latin typeface="source-serif-pro"/>
              </a:rPr>
              <a:t> </a:t>
            </a:r>
            <a:r>
              <a:rPr lang="en-US" dirty="0">
                <a:highlight>
                  <a:srgbClr val="FFFF00"/>
                </a:highlight>
              </a:rPr>
              <a:t>. </a:t>
            </a:r>
          </a:p>
          <a:p>
            <a:r>
              <a:rPr lang="en-US" dirty="0"/>
              <a:t>In B-tree, a node can have more than two children. </a:t>
            </a:r>
          </a:p>
          <a:p>
            <a:r>
              <a:rPr lang="en-US" b="0" i="0" dirty="0">
                <a:solidFill>
                  <a:srgbClr val="242424"/>
                </a:solidFill>
                <a:effectLst/>
                <a:highlight>
                  <a:srgbClr val="FFFF00"/>
                </a:highlight>
                <a:latin typeface="source-serif-pro"/>
              </a:rPr>
              <a:t>They are </a:t>
            </a:r>
            <a:r>
              <a:rPr lang="en-US" b="1" i="0" dirty="0">
                <a:solidFill>
                  <a:srgbClr val="242424"/>
                </a:solidFill>
                <a:effectLst/>
                <a:highlight>
                  <a:srgbClr val="FFFF00"/>
                </a:highlight>
                <a:latin typeface="source-serif-pro"/>
              </a:rPr>
              <a:t>self-balancing</a:t>
            </a:r>
            <a:r>
              <a:rPr lang="en-US" b="0" i="0" dirty="0">
                <a:solidFill>
                  <a:srgbClr val="242424"/>
                </a:solidFill>
                <a:effectLst/>
                <a:highlight>
                  <a:srgbClr val="FFFF00"/>
                </a:highlight>
                <a:latin typeface="source-serif-pro"/>
              </a:rPr>
              <a:t>, meaning all leaf nodes (nodes at the bottom level) are at the same depth.</a:t>
            </a:r>
            <a:endParaRPr lang="en-US" dirty="0">
              <a:highlight>
                <a:srgbClr val="FFFF00"/>
              </a:highlight>
            </a:endParaRPr>
          </a:p>
          <a:p>
            <a:r>
              <a:rPr lang="en-US" dirty="0">
                <a:highlight>
                  <a:srgbClr val="FFFF00"/>
                </a:highlight>
              </a:rPr>
              <a:t>In the B-tree data is sorted in a specific order, with the lowest value on the left and the highest value on the right.</a:t>
            </a:r>
          </a:p>
          <a:p>
            <a:r>
              <a:rPr lang="en-US" dirty="0"/>
              <a:t>If a single node has </a:t>
            </a:r>
            <a:r>
              <a:rPr lang="en-US" dirty="0">
                <a:highlight>
                  <a:srgbClr val="FFFF00"/>
                </a:highlight>
              </a:rPr>
              <a:t>“n” number of keys, then it can have maximum “n+1”</a:t>
            </a:r>
            <a:r>
              <a:rPr lang="en-US" dirty="0"/>
              <a:t> child nodes.</a:t>
            </a:r>
            <a:endParaRPr lang="en-IN" dirty="0"/>
          </a:p>
        </p:txBody>
      </p:sp>
      <p:pic>
        <p:nvPicPr>
          <p:cNvPr id="1026" name="Picture 2" descr="Illustration of a b-tree">
            <a:extLst>
              <a:ext uri="{FF2B5EF4-FFF2-40B4-BE49-F238E27FC236}">
                <a16:creationId xmlns:a16="http://schemas.microsoft.com/office/drawing/2014/main" id="{FA52C72A-E145-81DD-1E8E-027C9C05D9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4692335"/>
            <a:ext cx="5343525" cy="18910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90516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7B2FC-56B3-45F3-2E10-D074B6A31B9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C61F77D-E99B-C763-CCE6-E677ABCA1900}"/>
              </a:ext>
            </a:extLst>
          </p:cNvPr>
          <p:cNvSpPr>
            <a:spLocks noGrp="1"/>
          </p:cNvSpPr>
          <p:nvPr>
            <p:ph idx="1"/>
          </p:nvPr>
        </p:nvSpPr>
        <p:spPr/>
        <p:txBody>
          <a:bodyPr/>
          <a:lstStyle/>
          <a:p>
            <a:r>
              <a:rPr lang="en-US" b="0" i="0" dirty="0">
                <a:solidFill>
                  <a:srgbClr val="3A3B41"/>
                </a:solidFill>
                <a:effectLst/>
                <a:highlight>
                  <a:srgbClr val="FFFF00"/>
                </a:highlight>
                <a:latin typeface="Georgia" panose="02040502050405020303" pitchFamily="18" charset="0"/>
              </a:rPr>
              <a:t>The concept of Binary tree can be extended into a more generalized form, which is known as B-tree. </a:t>
            </a:r>
          </a:p>
          <a:p>
            <a:r>
              <a:rPr lang="en-US" b="0" i="0" dirty="0">
                <a:solidFill>
                  <a:srgbClr val="3A3B41"/>
                </a:solidFill>
                <a:effectLst/>
                <a:highlight>
                  <a:srgbClr val="FFFF00"/>
                </a:highlight>
                <a:latin typeface="Georgia" panose="02040502050405020303" pitchFamily="18" charset="0"/>
              </a:rPr>
              <a:t>Instead of having a single entry for a single node, B-tree uses an array of entries for a single node and has references to a child node for each of these entries.</a:t>
            </a:r>
          </a:p>
          <a:p>
            <a:r>
              <a:rPr lang="en-US" dirty="0">
                <a:solidFill>
                  <a:srgbClr val="3A3B41"/>
                </a:solidFill>
                <a:latin typeface="Georgia" panose="02040502050405020303" pitchFamily="18" charset="0"/>
              </a:rPr>
              <a:t>Example:</a:t>
            </a:r>
          </a:p>
          <a:p>
            <a:r>
              <a:rPr lang="en-US" b="0" i="0" dirty="0">
                <a:solidFill>
                  <a:srgbClr val="3A3B41"/>
                </a:solidFill>
                <a:effectLst/>
                <a:latin typeface="Georgia" panose="02040502050405020303" pitchFamily="18" charset="0"/>
              </a:rPr>
              <a:t>Here, we try to search key 15 from the array </a:t>
            </a:r>
          </a:p>
          <a:p>
            <a:pPr marL="114300" indent="0">
              <a:buNone/>
            </a:pPr>
            <a:r>
              <a:rPr lang="en-US" b="0" i="0" dirty="0">
                <a:solidFill>
                  <a:srgbClr val="3A3B41"/>
                </a:solidFill>
                <a:effectLst/>
                <a:latin typeface="Georgia" panose="02040502050405020303" pitchFamily="18" charset="0"/>
              </a:rPr>
              <a:t>3,6,8,11,15 and 18, which is already in sorted </a:t>
            </a:r>
          </a:p>
          <a:p>
            <a:pPr marL="114300" indent="0">
              <a:buNone/>
            </a:pPr>
            <a:r>
              <a:rPr lang="en-US" b="0" i="0" dirty="0">
                <a:solidFill>
                  <a:srgbClr val="3A3B41"/>
                </a:solidFill>
                <a:effectLst/>
                <a:latin typeface="Georgia" panose="02040502050405020303" pitchFamily="18" charset="0"/>
              </a:rPr>
              <a:t>order. </a:t>
            </a:r>
          </a:p>
          <a:p>
            <a:pPr marL="114300" indent="0">
              <a:buNone/>
            </a:pPr>
            <a:r>
              <a:rPr lang="en-US" b="0" i="0" dirty="0">
                <a:solidFill>
                  <a:srgbClr val="3A3B41"/>
                </a:solidFill>
                <a:effectLst/>
                <a:latin typeface="Georgia" panose="02040502050405020303" pitchFamily="18" charset="0"/>
              </a:rPr>
              <a:t>If you do a normal search, then it will take </a:t>
            </a:r>
          </a:p>
          <a:p>
            <a:pPr marL="114300" indent="0">
              <a:buNone/>
            </a:pPr>
            <a:r>
              <a:rPr lang="en-US" b="0" i="0" dirty="0">
                <a:solidFill>
                  <a:srgbClr val="3A3B41"/>
                </a:solidFill>
                <a:effectLst/>
                <a:latin typeface="Georgia" panose="02040502050405020303" pitchFamily="18" charset="0"/>
              </a:rPr>
              <a:t>five units of time, since the element is in the fifth position. </a:t>
            </a:r>
          </a:p>
          <a:p>
            <a:pPr marL="114300" indent="0">
              <a:buNone/>
            </a:pPr>
            <a:r>
              <a:rPr lang="en-US" b="0" i="0" dirty="0">
                <a:solidFill>
                  <a:srgbClr val="3A3B41"/>
                </a:solidFill>
                <a:effectLst/>
                <a:latin typeface="Georgia" panose="02040502050405020303" pitchFamily="18" charset="0"/>
              </a:rPr>
              <a:t>But in a binary search, it will only take three searches.</a:t>
            </a:r>
            <a:endParaRPr lang="en-IN" dirty="0"/>
          </a:p>
        </p:txBody>
      </p:sp>
      <p:pic>
        <p:nvPicPr>
          <p:cNvPr id="2050" name="Picture 2" descr="Illustration of a binary search">
            <a:extLst>
              <a:ext uri="{FF2B5EF4-FFF2-40B4-BE49-F238E27FC236}">
                <a16:creationId xmlns:a16="http://schemas.microsoft.com/office/drawing/2014/main" id="{2C05636F-8240-B0D2-5989-722DB8EFE4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0400" y="3451123"/>
            <a:ext cx="3505200" cy="1971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90684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IN"/>
          </a:p>
        </p:txBody>
      </p:sp>
      <p:sp>
        <p:nvSpPr>
          <p:cNvPr id="3" name="Content Placeholder 2"/>
          <p:cNvSpPr>
            <a:spLocks noGrp="1"/>
          </p:cNvSpPr>
          <p:nvPr>
            <p:ph sz="half" idx="1"/>
          </p:nvPr>
        </p:nvSpPr>
        <p:spPr/>
        <p:txBody>
          <a:bodyPr/>
          <a:lstStyle/>
          <a:p>
            <a:r>
              <a:rPr lang="en-US" dirty="0">
                <a:highlight>
                  <a:srgbClr val="FFFF00"/>
                </a:highlight>
              </a:rPr>
              <a:t>The structure of node in </a:t>
            </a:r>
            <a:r>
              <a:rPr lang="en-US" dirty="0" err="1">
                <a:highlight>
                  <a:srgbClr val="FFFF00"/>
                </a:highlight>
              </a:rPr>
              <a:t>Btree</a:t>
            </a:r>
            <a:r>
              <a:rPr lang="en-US" dirty="0">
                <a:highlight>
                  <a:srgbClr val="FFFF00"/>
                </a:highlight>
              </a:rPr>
              <a:t> is same at all level. (</a:t>
            </a:r>
            <a:r>
              <a:rPr lang="en-US" dirty="0" err="1">
                <a:highlight>
                  <a:srgbClr val="FFFF00"/>
                </a:highlight>
              </a:rPr>
              <a:t>root,intemediate,leaf</a:t>
            </a:r>
            <a:r>
              <a:rPr lang="en-US" dirty="0">
                <a:highlight>
                  <a:srgbClr val="FFFF00"/>
                </a:highlight>
              </a:rPr>
              <a:t>)</a:t>
            </a:r>
          </a:p>
          <a:p>
            <a:r>
              <a:rPr lang="en-US" dirty="0">
                <a:highlight>
                  <a:srgbClr val="FFFF00"/>
                </a:highlight>
              </a:rPr>
              <a:t>BP-Block Pointer</a:t>
            </a:r>
          </a:p>
          <a:p>
            <a:r>
              <a:rPr lang="en-US" dirty="0">
                <a:highlight>
                  <a:srgbClr val="FFFF00"/>
                </a:highlight>
              </a:rPr>
              <a:t>K-key</a:t>
            </a:r>
          </a:p>
          <a:p>
            <a:r>
              <a:rPr lang="en-US" dirty="0">
                <a:highlight>
                  <a:srgbClr val="FFFF00"/>
                </a:highlight>
              </a:rPr>
              <a:t>DP-Data Pointer</a:t>
            </a:r>
          </a:p>
          <a:p>
            <a:endParaRPr lang="en-IN" dirty="0">
              <a:highlight>
                <a:srgbClr val="FFFF00"/>
              </a:highlight>
            </a:endParaRPr>
          </a:p>
        </p:txBody>
      </p:sp>
      <p:sp>
        <p:nvSpPr>
          <p:cNvPr id="6" name="Content Placeholder 5"/>
          <p:cNvSpPr>
            <a:spLocks noGrp="1"/>
          </p:cNvSpPr>
          <p:nvPr>
            <p:ph sz="half" idx="2"/>
          </p:nvPr>
        </p:nvSpPr>
        <p:spPr/>
        <p:txBody>
          <a:bodyPr/>
          <a:lstStyle/>
          <a:p>
            <a:r>
              <a:rPr lang="en-US" dirty="0">
                <a:highlight>
                  <a:srgbClr val="FFFF00"/>
                </a:highlight>
              </a:rPr>
              <a:t>Properties:</a:t>
            </a:r>
          </a:p>
          <a:p>
            <a:r>
              <a:rPr lang="en-US" dirty="0">
                <a:highlight>
                  <a:srgbClr val="FFFF00"/>
                </a:highlight>
              </a:rPr>
              <a:t>If order/degree of tree=m</a:t>
            </a:r>
          </a:p>
          <a:p>
            <a:r>
              <a:rPr lang="en-US" dirty="0">
                <a:highlight>
                  <a:srgbClr val="FFFF00"/>
                </a:highlight>
              </a:rPr>
              <a:t>Max </a:t>
            </a:r>
            <a:r>
              <a:rPr lang="en-US" dirty="0" err="1">
                <a:highlight>
                  <a:srgbClr val="FFFF00"/>
                </a:highlight>
              </a:rPr>
              <a:t>no.of</a:t>
            </a:r>
            <a:r>
              <a:rPr lang="en-US" dirty="0">
                <a:highlight>
                  <a:srgbClr val="FFFF00"/>
                </a:highlight>
              </a:rPr>
              <a:t>  children =m</a:t>
            </a:r>
          </a:p>
          <a:p>
            <a:r>
              <a:rPr lang="en-US" dirty="0">
                <a:highlight>
                  <a:srgbClr val="FFFF00"/>
                </a:highlight>
              </a:rPr>
              <a:t>Min </a:t>
            </a:r>
            <a:r>
              <a:rPr lang="en-US" dirty="0" err="1">
                <a:highlight>
                  <a:srgbClr val="FFFF00"/>
                </a:highlight>
              </a:rPr>
              <a:t>no.of</a:t>
            </a:r>
            <a:r>
              <a:rPr lang="en-US" dirty="0">
                <a:highlight>
                  <a:srgbClr val="FFFF00"/>
                </a:highlight>
              </a:rPr>
              <a:t> keys=m-1</a:t>
            </a:r>
          </a:p>
          <a:p>
            <a:r>
              <a:rPr lang="en-US" dirty="0">
                <a:highlight>
                  <a:srgbClr val="FFFF00"/>
                </a:highlight>
              </a:rPr>
              <a:t>Min </a:t>
            </a:r>
            <a:r>
              <a:rPr lang="en-US" dirty="0" err="1">
                <a:highlight>
                  <a:srgbClr val="FFFF00"/>
                </a:highlight>
              </a:rPr>
              <a:t>no.of</a:t>
            </a:r>
            <a:r>
              <a:rPr lang="en-US" dirty="0">
                <a:highlight>
                  <a:srgbClr val="FFFF00"/>
                </a:highlight>
              </a:rPr>
              <a:t>  children = </a:t>
            </a:r>
          </a:p>
          <a:p>
            <a:r>
              <a:rPr lang="en-US" dirty="0">
                <a:highlight>
                  <a:srgbClr val="FFFF00"/>
                </a:highlight>
              </a:rPr>
              <a:t>Min No. of keys=       - 1</a:t>
            </a:r>
          </a:p>
          <a:p>
            <a:endParaRPr lang="en-IN" dirty="0">
              <a:highlight>
                <a:srgbClr val="FFFF00"/>
              </a:highlight>
            </a:endParaRP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4612005"/>
            <a:ext cx="4086225" cy="1514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72600" y="3671887"/>
            <a:ext cx="485775" cy="276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3000" y="4191000"/>
            <a:ext cx="485775" cy="276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64168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4EAD4-128A-275E-1C74-0DBBE0E6541B}"/>
              </a:ext>
            </a:extLst>
          </p:cNvPr>
          <p:cNvSpPr>
            <a:spLocks noGrp="1"/>
          </p:cNvSpPr>
          <p:nvPr>
            <p:ph type="title"/>
          </p:nvPr>
        </p:nvSpPr>
        <p:spPr>
          <a:xfrm>
            <a:off x="609600" y="274638"/>
            <a:ext cx="10160000" cy="715962"/>
          </a:xfrm>
        </p:spPr>
        <p:txBody>
          <a:bodyPr/>
          <a:lstStyle/>
          <a:p>
            <a:r>
              <a:rPr lang="en-IN" sz="3600" b="1" dirty="0"/>
              <a:t>Example of Constructing a B-Tree (Order 3)</a:t>
            </a:r>
            <a:endParaRPr lang="en-IN" sz="3600" dirty="0"/>
          </a:p>
        </p:txBody>
      </p:sp>
      <p:sp>
        <p:nvSpPr>
          <p:cNvPr id="3" name="Content Placeholder 2">
            <a:extLst>
              <a:ext uri="{FF2B5EF4-FFF2-40B4-BE49-F238E27FC236}">
                <a16:creationId xmlns:a16="http://schemas.microsoft.com/office/drawing/2014/main" id="{ED0404DB-7FF9-578E-DC52-0FD24884BB3E}"/>
              </a:ext>
            </a:extLst>
          </p:cNvPr>
          <p:cNvSpPr>
            <a:spLocks noGrp="1"/>
          </p:cNvSpPr>
          <p:nvPr>
            <p:ph idx="1"/>
          </p:nvPr>
        </p:nvSpPr>
        <p:spPr>
          <a:xfrm>
            <a:off x="457200" y="1219200"/>
            <a:ext cx="10312400" cy="5181600"/>
          </a:xfrm>
        </p:spPr>
        <p:txBody>
          <a:bodyPr/>
          <a:lstStyle/>
          <a:p>
            <a:pPr>
              <a:buNone/>
            </a:pPr>
            <a:r>
              <a:rPr lang="en-IN" dirty="0"/>
              <a:t>We will construct a </a:t>
            </a:r>
            <a:r>
              <a:rPr lang="en-IN" b="1" dirty="0"/>
              <a:t>B-tree of order 3 (m = 4) for </a:t>
            </a:r>
            <a:r>
              <a:rPr lang="en-IN" dirty="0"/>
              <a:t>10, 20, 40, 50, 60, 70, 80, 30, 35, 5, 15:</a:t>
            </a:r>
          </a:p>
          <a:p>
            <a:pPr>
              <a:buNone/>
            </a:pPr>
            <a:r>
              <a:rPr lang="en-US" dirty="0"/>
              <a:t>Max </a:t>
            </a:r>
            <a:r>
              <a:rPr lang="en-US" dirty="0" err="1"/>
              <a:t>no.of</a:t>
            </a:r>
            <a:r>
              <a:rPr lang="en-US" dirty="0"/>
              <a:t>  children =m=4</a:t>
            </a:r>
            <a:endParaRPr lang="en-IN" dirty="0"/>
          </a:p>
          <a:p>
            <a:pPr>
              <a:buNone/>
            </a:pPr>
            <a:r>
              <a:rPr lang="en-IN" dirty="0"/>
              <a:t>Max keys per node = 𝑚−1=4−1=3</a:t>
            </a:r>
          </a:p>
          <a:p>
            <a:pPr>
              <a:buNone/>
            </a:pPr>
            <a:r>
              <a:rPr lang="en-IN" dirty="0"/>
              <a:t>Min keys per node (except root) = ⌈(𝑚−1)/2⌉=2</a:t>
            </a:r>
          </a:p>
          <a:p>
            <a:pPr>
              <a:buNone/>
            </a:pPr>
            <a:r>
              <a:rPr lang="en-IN" dirty="0"/>
              <a:t>Min children per node (except root) = ⌈𝑚/2⌉=2</a:t>
            </a:r>
          </a:p>
        </p:txBody>
      </p:sp>
      <p:pic>
        <p:nvPicPr>
          <p:cNvPr id="7" name="Picture 6">
            <a:extLst>
              <a:ext uri="{FF2B5EF4-FFF2-40B4-BE49-F238E27FC236}">
                <a16:creationId xmlns:a16="http://schemas.microsoft.com/office/drawing/2014/main" id="{F9798E39-AB98-FAFC-9313-1AD7470740BE}"/>
              </a:ext>
            </a:extLst>
          </p:cNvPr>
          <p:cNvPicPr>
            <a:picLocks noChangeAspect="1"/>
          </p:cNvPicPr>
          <p:nvPr/>
        </p:nvPicPr>
        <p:blipFill>
          <a:blip r:embed="rId2"/>
          <a:stretch>
            <a:fillRect/>
          </a:stretch>
        </p:blipFill>
        <p:spPr>
          <a:xfrm>
            <a:off x="2209800" y="3429000"/>
            <a:ext cx="1181100" cy="400050"/>
          </a:xfrm>
          <a:prstGeom prst="rect">
            <a:avLst/>
          </a:prstGeom>
        </p:spPr>
      </p:pic>
      <p:pic>
        <p:nvPicPr>
          <p:cNvPr id="9" name="Picture 8">
            <a:extLst>
              <a:ext uri="{FF2B5EF4-FFF2-40B4-BE49-F238E27FC236}">
                <a16:creationId xmlns:a16="http://schemas.microsoft.com/office/drawing/2014/main" id="{79A949B0-CAF4-0B0B-DCC7-783AB0B877D2}"/>
              </a:ext>
            </a:extLst>
          </p:cNvPr>
          <p:cNvPicPr>
            <a:picLocks noChangeAspect="1"/>
          </p:cNvPicPr>
          <p:nvPr/>
        </p:nvPicPr>
        <p:blipFill>
          <a:blip r:embed="rId3"/>
          <a:stretch>
            <a:fillRect/>
          </a:stretch>
        </p:blipFill>
        <p:spPr>
          <a:xfrm>
            <a:off x="1981200" y="4057650"/>
            <a:ext cx="1743075" cy="790575"/>
          </a:xfrm>
          <a:prstGeom prst="rect">
            <a:avLst/>
          </a:prstGeom>
        </p:spPr>
      </p:pic>
      <p:pic>
        <p:nvPicPr>
          <p:cNvPr id="11" name="Picture 10">
            <a:extLst>
              <a:ext uri="{FF2B5EF4-FFF2-40B4-BE49-F238E27FC236}">
                <a16:creationId xmlns:a16="http://schemas.microsoft.com/office/drawing/2014/main" id="{E5B20605-C64C-DC1D-BE28-8D89348593F2}"/>
              </a:ext>
            </a:extLst>
          </p:cNvPr>
          <p:cNvPicPr>
            <a:picLocks noChangeAspect="1"/>
          </p:cNvPicPr>
          <p:nvPr/>
        </p:nvPicPr>
        <p:blipFill>
          <a:blip r:embed="rId4"/>
          <a:stretch>
            <a:fillRect/>
          </a:stretch>
        </p:blipFill>
        <p:spPr>
          <a:xfrm>
            <a:off x="1524000" y="5243186"/>
            <a:ext cx="2952750" cy="838200"/>
          </a:xfrm>
          <a:prstGeom prst="rect">
            <a:avLst/>
          </a:prstGeom>
        </p:spPr>
      </p:pic>
      <p:pic>
        <p:nvPicPr>
          <p:cNvPr id="13" name="Picture 12">
            <a:extLst>
              <a:ext uri="{FF2B5EF4-FFF2-40B4-BE49-F238E27FC236}">
                <a16:creationId xmlns:a16="http://schemas.microsoft.com/office/drawing/2014/main" id="{53610313-EF02-9753-EB78-6F58E646ED19}"/>
              </a:ext>
            </a:extLst>
          </p:cNvPr>
          <p:cNvPicPr>
            <a:picLocks noChangeAspect="1"/>
          </p:cNvPicPr>
          <p:nvPr/>
        </p:nvPicPr>
        <p:blipFill>
          <a:blip r:embed="rId5"/>
          <a:stretch>
            <a:fillRect/>
          </a:stretch>
        </p:blipFill>
        <p:spPr>
          <a:xfrm>
            <a:off x="5756209" y="3367087"/>
            <a:ext cx="3248025" cy="885825"/>
          </a:xfrm>
          <a:prstGeom prst="rect">
            <a:avLst/>
          </a:prstGeom>
        </p:spPr>
      </p:pic>
      <p:pic>
        <p:nvPicPr>
          <p:cNvPr id="15" name="Picture 14">
            <a:extLst>
              <a:ext uri="{FF2B5EF4-FFF2-40B4-BE49-F238E27FC236}">
                <a16:creationId xmlns:a16="http://schemas.microsoft.com/office/drawing/2014/main" id="{CD2EA2C0-0616-25CA-B05F-6D410F0369D2}"/>
              </a:ext>
            </a:extLst>
          </p:cNvPr>
          <p:cNvPicPr>
            <a:picLocks noChangeAspect="1"/>
          </p:cNvPicPr>
          <p:nvPr/>
        </p:nvPicPr>
        <p:blipFill>
          <a:blip r:embed="rId6"/>
          <a:stretch>
            <a:fillRect/>
          </a:stretch>
        </p:blipFill>
        <p:spPr>
          <a:xfrm>
            <a:off x="6141971" y="4724400"/>
            <a:ext cx="2476500" cy="1476375"/>
          </a:xfrm>
          <a:prstGeom prst="rect">
            <a:avLst/>
          </a:prstGeom>
        </p:spPr>
      </p:pic>
    </p:spTree>
    <p:extLst>
      <p:ext uri="{BB962C8B-B14F-4D97-AF65-F5344CB8AC3E}">
        <p14:creationId xmlns:p14="http://schemas.microsoft.com/office/powerpoint/2010/main" val="12180451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a:t>
            </a:r>
            <a:r>
              <a:rPr lang="en-IN" baseline="30000" dirty="0"/>
              <a:t>+</a:t>
            </a:r>
            <a:r>
              <a:rPr lang="en-IN" dirty="0"/>
              <a:t> Tree</a:t>
            </a:r>
          </a:p>
        </p:txBody>
      </p:sp>
      <p:sp>
        <p:nvSpPr>
          <p:cNvPr id="3" name="Content Placeholder 2"/>
          <p:cNvSpPr>
            <a:spLocks noGrp="1"/>
          </p:cNvSpPr>
          <p:nvPr>
            <p:ph idx="1"/>
          </p:nvPr>
        </p:nvSpPr>
        <p:spPr/>
        <p:txBody>
          <a:bodyPr>
            <a:normAutofit lnSpcReduction="10000"/>
          </a:bodyPr>
          <a:lstStyle/>
          <a:p>
            <a:r>
              <a:rPr lang="en-US" b="1" i="0" dirty="0">
                <a:solidFill>
                  <a:srgbClr val="242424"/>
                </a:solidFill>
                <a:effectLst/>
                <a:latin typeface="source-serif-pro"/>
              </a:rPr>
              <a:t>B+ tree</a:t>
            </a:r>
            <a:r>
              <a:rPr lang="en-US" b="0" i="0" dirty="0">
                <a:solidFill>
                  <a:srgbClr val="242424"/>
                </a:solidFill>
                <a:effectLst/>
                <a:latin typeface="source-serif-pro"/>
              </a:rPr>
              <a:t> is an extension of the B tree. </a:t>
            </a:r>
          </a:p>
          <a:p>
            <a:endParaRPr lang="en-US" b="0" i="0" dirty="0">
              <a:solidFill>
                <a:srgbClr val="242424"/>
              </a:solidFill>
              <a:effectLst/>
              <a:latin typeface="source-serif-pro"/>
            </a:endParaRPr>
          </a:p>
          <a:p>
            <a:r>
              <a:rPr lang="en-US" b="0" i="0" dirty="0">
                <a:solidFill>
                  <a:srgbClr val="242424"/>
                </a:solidFill>
                <a:effectLst/>
                <a:highlight>
                  <a:srgbClr val="FFFF00"/>
                </a:highlight>
                <a:latin typeface="source-serif-pro"/>
              </a:rPr>
              <a:t>The difference in B+ tree and B tree is that</a:t>
            </a:r>
            <a:r>
              <a:rPr lang="en-US" b="1" i="1" dirty="0">
                <a:solidFill>
                  <a:srgbClr val="242424"/>
                </a:solidFill>
                <a:effectLst/>
                <a:highlight>
                  <a:srgbClr val="FFFF00"/>
                </a:highlight>
                <a:latin typeface="source-serif-pro"/>
              </a:rPr>
              <a:t> in B tree the keys and records can be stored as internal as well as leaf nodes whereas in B+ trees, the records are stored as leaf nodes and the keys are stored only in internal nodes. </a:t>
            </a:r>
          </a:p>
          <a:p>
            <a:endParaRPr lang="en-US" b="1" i="1" dirty="0">
              <a:solidFill>
                <a:srgbClr val="242424"/>
              </a:solidFill>
              <a:latin typeface="source-serif-pro"/>
            </a:endParaRPr>
          </a:p>
          <a:p>
            <a:r>
              <a:rPr lang="en-US" b="0" i="0" dirty="0">
                <a:solidFill>
                  <a:srgbClr val="242424"/>
                </a:solidFill>
                <a:effectLst/>
                <a:latin typeface="source-serif-pro"/>
              </a:rPr>
              <a:t>The leaf nodes are also linearly connected in B+ trees to improve range-query performance</a:t>
            </a:r>
            <a:endParaRPr lang="en-US" dirty="0"/>
          </a:p>
          <a:p>
            <a:endParaRPr lang="en-US" dirty="0"/>
          </a:p>
          <a:p>
            <a:r>
              <a:rPr lang="en-US" dirty="0">
                <a:highlight>
                  <a:srgbClr val="FFFF00"/>
                </a:highlight>
              </a:rPr>
              <a:t>A B</a:t>
            </a:r>
            <a:r>
              <a:rPr lang="en-US" baseline="30000" dirty="0">
                <a:highlight>
                  <a:srgbClr val="FFFF00"/>
                </a:highlight>
              </a:rPr>
              <a:t>+</a:t>
            </a:r>
            <a:r>
              <a:rPr lang="en-US" dirty="0">
                <a:highlight>
                  <a:srgbClr val="FFFF00"/>
                </a:highlight>
              </a:rPr>
              <a:t> tree is a balanced binary search tree that follows a multi-level index format. </a:t>
            </a:r>
          </a:p>
          <a:p>
            <a:endParaRPr lang="en-US" dirty="0"/>
          </a:p>
          <a:p>
            <a:r>
              <a:rPr lang="en-US" dirty="0"/>
              <a:t>The leaf nodes of a B</a:t>
            </a:r>
            <a:r>
              <a:rPr lang="en-US" baseline="30000" dirty="0"/>
              <a:t>+</a:t>
            </a:r>
            <a:r>
              <a:rPr lang="en-US" dirty="0"/>
              <a:t> tree denote actual data pointers. </a:t>
            </a:r>
            <a:br>
              <a:rPr lang="en-US" dirty="0"/>
            </a:br>
            <a:endParaRPr lang="en-IN" dirty="0"/>
          </a:p>
        </p:txBody>
      </p:sp>
    </p:spTree>
    <p:extLst>
      <p:ext uri="{BB962C8B-B14F-4D97-AF65-F5344CB8AC3E}">
        <p14:creationId xmlns:p14="http://schemas.microsoft.com/office/powerpoint/2010/main" val="21395699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BBEDD-E647-D0CC-587C-2ABECFF9D04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E56D0CF-7239-8ADB-0C26-51225BFFA401}"/>
              </a:ext>
            </a:extLst>
          </p:cNvPr>
          <p:cNvSpPr>
            <a:spLocks noGrp="1"/>
          </p:cNvSpPr>
          <p:nvPr>
            <p:ph idx="1"/>
          </p:nvPr>
        </p:nvSpPr>
        <p:spPr/>
        <p:txBody>
          <a:bodyPr/>
          <a:lstStyle/>
          <a:p>
            <a:r>
              <a:rPr lang="en-US" dirty="0">
                <a:highlight>
                  <a:srgbClr val="FFFF00"/>
                </a:highlight>
              </a:rPr>
              <a:t>B</a:t>
            </a:r>
            <a:r>
              <a:rPr lang="en-US" baseline="30000" dirty="0">
                <a:highlight>
                  <a:srgbClr val="FFFF00"/>
                </a:highlight>
              </a:rPr>
              <a:t>+</a:t>
            </a:r>
            <a:r>
              <a:rPr lang="en-US" dirty="0">
                <a:highlight>
                  <a:srgbClr val="FFFF00"/>
                </a:highlight>
              </a:rPr>
              <a:t> tree ensures that all leaf nodes remain at the same height, thus balanced. </a:t>
            </a:r>
          </a:p>
          <a:p>
            <a:endParaRPr lang="en-US" dirty="0">
              <a:highlight>
                <a:srgbClr val="FFFF00"/>
              </a:highlight>
            </a:endParaRPr>
          </a:p>
          <a:p>
            <a:r>
              <a:rPr lang="en-US" dirty="0">
                <a:highlight>
                  <a:srgbClr val="FFFF00"/>
                </a:highlight>
              </a:rPr>
              <a:t>Additionally, the leaf nodes are linked using a link list; therefore, a B</a:t>
            </a:r>
            <a:r>
              <a:rPr lang="en-US" baseline="30000" dirty="0">
                <a:highlight>
                  <a:srgbClr val="FFFF00"/>
                </a:highlight>
              </a:rPr>
              <a:t>+</a:t>
            </a:r>
            <a:r>
              <a:rPr lang="en-US" dirty="0">
                <a:highlight>
                  <a:srgbClr val="FFFF00"/>
                </a:highlight>
              </a:rPr>
              <a:t> tree can support random access as well as sequential access.</a:t>
            </a:r>
          </a:p>
          <a:p>
            <a:endParaRPr lang="en-IN"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3581400"/>
            <a:ext cx="4848225" cy="2333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210915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8" y="592038"/>
            <a:ext cx="4264661" cy="690574"/>
          </a:xfrm>
          <a:prstGeom prst="rect">
            <a:avLst/>
          </a:prstGeom>
        </p:spPr>
        <p:txBody>
          <a:bodyPr vert="horz" wrap="square" lIns="0" tIns="13335" rIns="0" bIns="0" rtlCol="0">
            <a:spAutoFit/>
          </a:bodyPr>
          <a:lstStyle/>
          <a:p>
            <a:pPr marL="12700">
              <a:lnSpc>
                <a:spcPct val="100000"/>
              </a:lnSpc>
              <a:spcBef>
                <a:spcPts val="105"/>
              </a:spcBef>
            </a:pPr>
            <a:r>
              <a:rPr sz="4400" spc="-30" dirty="0">
                <a:solidFill>
                  <a:srgbClr val="000000"/>
                </a:solidFill>
              </a:rPr>
              <a:t>Create</a:t>
            </a:r>
            <a:r>
              <a:rPr sz="4400" spc="-60" dirty="0">
                <a:solidFill>
                  <a:srgbClr val="000000"/>
                </a:solidFill>
              </a:rPr>
              <a:t> </a:t>
            </a:r>
            <a:r>
              <a:rPr sz="4400" spc="-15" dirty="0">
                <a:solidFill>
                  <a:srgbClr val="000000"/>
                </a:solidFill>
              </a:rPr>
              <a:t>index</a:t>
            </a:r>
            <a:endParaRPr sz="4400" dirty="0"/>
          </a:p>
        </p:txBody>
      </p:sp>
      <p:sp>
        <p:nvSpPr>
          <p:cNvPr id="3" name="object 3"/>
          <p:cNvSpPr txBox="1"/>
          <p:nvPr/>
        </p:nvSpPr>
        <p:spPr>
          <a:xfrm>
            <a:off x="916940" y="1730097"/>
            <a:ext cx="6858635" cy="4197944"/>
          </a:xfrm>
          <a:prstGeom prst="rect">
            <a:avLst/>
          </a:prstGeom>
        </p:spPr>
        <p:txBody>
          <a:bodyPr vert="horz" wrap="square" lIns="0" tIns="47625" rIns="0" bIns="0" rtlCol="0">
            <a:spAutoFit/>
          </a:bodyPr>
          <a:lstStyle/>
          <a:p>
            <a:pPr marL="241300" indent="-228600">
              <a:lnSpc>
                <a:spcPct val="100000"/>
              </a:lnSpc>
              <a:spcBef>
                <a:spcPts val="375"/>
              </a:spcBef>
              <a:buFont typeface="Arial MT"/>
              <a:buChar char="•"/>
              <a:tabLst>
                <a:tab pos="240665" algn="l"/>
                <a:tab pos="241300" algn="l"/>
              </a:tabLst>
            </a:pPr>
            <a:r>
              <a:rPr sz="2000" spc="-15" dirty="0">
                <a:highlight>
                  <a:srgbClr val="FFFF00"/>
                </a:highlight>
                <a:latin typeface="Calibri"/>
                <a:cs typeface="Calibri"/>
              </a:rPr>
              <a:t>Syntax:</a:t>
            </a:r>
            <a:endParaRPr sz="2000" dirty="0">
              <a:highlight>
                <a:srgbClr val="FFFF00"/>
              </a:highlight>
              <a:latin typeface="Calibri"/>
              <a:cs typeface="Calibri"/>
            </a:endParaRPr>
          </a:p>
          <a:p>
            <a:pPr marL="927100">
              <a:lnSpc>
                <a:spcPts val="2039"/>
              </a:lnSpc>
              <a:spcBef>
                <a:spcPts val="275"/>
              </a:spcBef>
            </a:pPr>
            <a:r>
              <a:rPr sz="2000" spc="-30" dirty="0">
                <a:highlight>
                  <a:srgbClr val="FFFF00"/>
                </a:highlight>
                <a:latin typeface="Calibri"/>
                <a:cs typeface="Calibri"/>
              </a:rPr>
              <a:t>CREATE</a:t>
            </a:r>
            <a:r>
              <a:rPr sz="2000" spc="-60" dirty="0">
                <a:highlight>
                  <a:srgbClr val="FFFF00"/>
                </a:highlight>
                <a:latin typeface="Calibri"/>
                <a:cs typeface="Calibri"/>
              </a:rPr>
              <a:t> </a:t>
            </a:r>
            <a:r>
              <a:rPr sz="2000" dirty="0">
                <a:highlight>
                  <a:srgbClr val="FFFF00"/>
                </a:highlight>
                <a:latin typeface="Calibri"/>
                <a:cs typeface="Calibri"/>
              </a:rPr>
              <a:t>INDEX</a:t>
            </a:r>
            <a:r>
              <a:rPr sz="2000" spc="-50" dirty="0">
                <a:highlight>
                  <a:srgbClr val="FFFF00"/>
                </a:highlight>
                <a:latin typeface="Calibri"/>
                <a:cs typeface="Calibri"/>
              </a:rPr>
              <a:t> </a:t>
            </a:r>
            <a:r>
              <a:rPr sz="2000" i="1" spc="-5" dirty="0">
                <a:highlight>
                  <a:srgbClr val="FFFF00"/>
                </a:highlight>
                <a:latin typeface="Calibri"/>
                <a:cs typeface="Calibri"/>
              </a:rPr>
              <a:t>index_name</a:t>
            </a:r>
            <a:endParaRPr sz="2000" dirty="0">
              <a:highlight>
                <a:srgbClr val="FFFF00"/>
              </a:highlight>
              <a:latin typeface="Calibri"/>
              <a:cs typeface="Calibri"/>
            </a:endParaRPr>
          </a:p>
          <a:p>
            <a:pPr marL="927100">
              <a:lnSpc>
                <a:spcPts val="2039"/>
              </a:lnSpc>
            </a:pPr>
            <a:r>
              <a:rPr sz="2000" spc="5" dirty="0">
                <a:highlight>
                  <a:srgbClr val="FFFF00"/>
                </a:highlight>
                <a:latin typeface="Calibri"/>
                <a:cs typeface="Calibri"/>
              </a:rPr>
              <a:t>ON</a:t>
            </a:r>
            <a:r>
              <a:rPr sz="2000" spc="-30" dirty="0">
                <a:highlight>
                  <a:srgbClr val="FFFF00"/>
                </a:highlight>
                <a:latin typeface="Calibri"/>
                <a:cs typeface="Calibri"/>
              </a:rPr>
              <a:t> </a:t>
            </a:r>
            <a:r>
              <a:rPr sz="2000" i="1" spc="-5" dirty="0">
                <a:highlight>
                  <a:srgbClr val="FFFF00"/>
                </a:highlight>
                <a:latin typeface="Calibri"/>
                <a:cs typeface="Calibri"/>
              </a:rPr>
              <a:t>table_name</a:t>
            </a:r>
            <a:r>
              <a:rPr sz="2000" i="1" spc="-35" dirty="0">
                <a:highlight>
                  <a:srgbClr val="FFFF00"/>
                </a:highlight>
                <a:latin typeface="Calibri"/>
                <a:cs typeface="Calibri"/>
              </a:rPr>
              <a:t> </a:t>
            </a:r>
            <a:r>
              <a:rPr sz="2000" spc="-5" dirty="0">
                <a:highlight>
                  <a:srgbClr val="FFFF00"/>
                </a:highlight>
                <a:latin typeface="Calibri"/>
                <a:cs typeface="Calibri"/>
              </a:rPr>
              <a:t>(</a:t>
            </a:r>
            <a:r>
              <a:rPr sz="2000" i="1" spc="-5" dirty="0">
                <a:highlight>
                  <a:srgbClr val="FFFF00"/>
                </a:highlight>
                <a:latin typeface="Calibri"/>
                <a:cs typeface="Calibri"/>
              </a:rPr>
              <a:t>column1</a:t>
            </a:r>
            <a:r>
              <a:rPr sz="2000" spc="-5" dirty="0">
                <a:highlight>
                  <a:srgbClr val="FFFF00"/>
                </a:highlight>
                <a:latin typeface="Calibri"/>
                <a:cs typeface="Calibri"/>
              </a:rPr>
              <a:t>,</a:t>
            </a:r>
            <a:r>
              <a:rPr sz="2000" spc="-30" dirty="0">
                <a:highlight>
                  <a:srgbClr val="FFFF00"/>
                </a:highlight>
                <a:latin typeface="Calibri"/>
                <a:cs typeface="Calibri"/>
              </a:rPr>
              <a:t> </a:t>
            </a:r>
            <a:r>
              <a:rPr sz="2000" i="1" spc="-5" dirty="0">
                <a:highlight>
                  <a:srgbClr val="FFFF00"/>
                </a:highlight>
                <a:latin typeface="Calibri"/>
                <a:cs typeface="Calibri"/>
              </a:rPr>
              <a:t>column2</a:t>
            </a:r>
            <a:r>
              <a:rPr sz="2000" spc="-5" dirty="0">
                <a:highlight>
                  <a:srgbClr val="FFFF00"/>
                </a:highlight>
                <a:latin typeface="Calibri"/>
                <a:cs typeface="Calibri"/>
              </a:rPr>
              <a:t>,</a:t>
            </a:r>
            <a:r>
              <a:rPr sz="2000" spc="-30" dirty="0">
                <a:highlight>
                  <a:srgbClr val="FFFF00"/>
                </a:highlight>
                <a:latin typeface="Calibri"/>
                <a:cs typeface="Calibri"/>
              </a:rPr>
              <a:t> </a:t>
            </a:r>
            <a:r>
              <a:rPr sz="2000" spc="-5" dirty="0">
                <a:highlight>
                  <a:srgbClr val="FFFF00"/>
                </a:highlight>
                <a:latin typeface="Calibri"/>
                <a:cs typeface="Calibri"/>
              </a:rPr>
              <a:t>...);</a:t>
            </a:r>
            <a:endParaRPr sz="2000" dirty="0">
              <a:highlight>
                <a:srgbClr val="FFFF00"/>
              </a:highlight>
              <a:latin typeface="Calibri"/>
              <a:cs typeface="Calibri"/>
            </a:endParaRPr>
          </a:p>
          <a:p>
            <a:pPr>
              <a:lnSpc>
                <a:spcPct val="100000"/>
              </a:lnSpc>
              <a:spcBef>
                <a:spcPts val="35"/>
              </a:spcBef>
            </a:pPr>
            <a:endParaRPr sz="2400" dirty="0">
              <a:highlight>
                <a:srgbClr val="FFFF00"/>
              </a:highlight>
              <a:latin typeface="Calibri"/>
              <a:cs typeface="Calibri"/>
            </a:endParaRPr>
          </a:p>
          <a:p>
            <a:pPr marL="241300" indent="-228600">
              <a:lnSpc>
                <a:spcPct val="100000"/>
              </a:lnSpc>
              <a:buFont typeface="Arial MT"/>
              <a:buChar char="•"/>
              <a:tabLst>
                <a:tab pos="240665" algn="l"/>
                <a:tab pos="241300" algn="l"/>
              </a:tabLst>
            </a:pPr>
            <a:r>
              <a:rPr sz="2000" spc="-30" dirty="0">
                <a:highlight>
                  <a:srgbClr val="FFFF00"/>
                </a:highlight>
                <a:latin typeface="Calibri"/>
                <a:cs typeface="Calibri"/>
              </a:rPr>
              <a:t>CREATE</a:t>
            </a:r>
            <a:r>
              <a:rPr sz="2000" spc="-45" dirty="0">
                <a:highlight>
                  <a:srgbClr val="FFFF00"/>
                </a:highlight>
                <a:latin typeface="Calibri"/>
                <a:cs typeface="Calibri"/>
              </a:rPr>
              <a:t> </a:t>
            </a:r>
            <a:r>
              <a:rPr sz="2000" dirty="0">
                <a:highlight>
                  <a:srgbClr val="FFFF00"/>
                </a:highlight>
                <a:latin typeface="Calibri"/>
                <a:cs typeface="Calibri"/>
              </a:rPr>
              <a:t>UNIQUE</a:t>
            </a:r>
            <a:r>
              <a:rPr sz="2000" spc="-20" dirty="0">
                <a:highlight>
                  <a:srgbClr val="FFFF00"/>
                </a:highlight>
                <a:latin typeface="Calibri"/>
                <a:cs typeface="Calibri"/>
              </a:rPr>
              <a:t> </a:t>
            </a:r>
            <a:r>
              <a:rPr sz="2000" dirty="0">
                <a:highlight>
                  <a:srgbClr val="FFFF00"/>
                </a:highlight>
                <a:latin typeface="Calibri"/>
                <a:cs typeface="Calibri"/>
              </a:rPr>
              <a:t>INDEX</a:t>
            </a:r>
          </a:p>
          <a:p>
            <a:pPr marL="241300" indent="-228600">
              <a:lnSpc>
                <a:spcPct val="100000"/>
              </a:lnSpc>
              <a:spcBef>
                <a:spcPts val="280"/>
              </a:spcBef>
              <a:buFont typeface="Arial MT"/>
              <a:buChar char="•"/>
              <a:tabLst>
                <a:tab pos="240665" algn="l"/>
                <a:tab pos="241300" algn="l"/>
              </a:tabLst>
            </a:pPr>
            <a:r>
              <a:rPr sz="2000" spc="-10" dirty="0">
                <a:highlight>
                  <a:srgbClr val="FFFF00"/>
                </a:highlight>
                <a:latin typeface="Calibri"/>
                <a:cs typeface="Calibri"/>
              </a:rPr>
              <a:t>Duplicate</a:t>
            </a:r>
            <a:r>
              <a:rPr sz="2000" spc="-5" dirty="0">
                <a:highlight>
                  <a:srgbClr val="FFFF00"/>
                </a:highlight>
                <a:latin typeface="Calibri"/>
                <a:cs typeface="Calibri"/>
              </a:rPr>
              <a:t> values </a:t>
            </a:r>
            <a:r>
              <a:rPr sz="2000" spc="-10" dirty="0">
                <a:highlight>
                  <a:srgbClr val="FFFF00"/>
                </a:highlight>
                <a:latin typeface="Calibri"/>
                <a:cs typeface="Calibri"/>
              </a:rPr>
              <a:t>are</a:t>
            </a:r>
            <a:r>
              <a:rPr sz="2000" dirty="0">
                <a:highlight>
                  <a:srgbClr val="FFFF00"/>
                </a:highlight>
                <a:latin typeface="Calibri"/>
                <a:cs typeface="Calibri"/>
              </a:rPr>
              <a:t> not</a:t>
            </a:r>
            <a:r>
              <a:rPr sz="2000" spc="-10" dirty="0">
                <a:highlight>
                  <a:srgbClr val="FFFF00"/>
                </a:highlight>
                <a:latin typeface="Calibri"/>
                <a:cs typeface="Calibri"/>
              </a:rPr>
              <a:t> </a:t>
            </a:r>
            <a:r>
              <a:rPr sz="2000" spc="-5" dirty="0">
                <a:highlight>
                  <a:srgbClr val="FFFF00"/>
                </a:highlight>
                <a:latin typeface="Calibri"/>
                <a:cs typeface="Calibri"/>
              </a:rPr>
              <a:t>allowed.</a:t>
            </a:r>
            <a:endParaRPr sz="2000" dirty="0">
              <a:highlight>
                <a:srgbClr val="FFFF00"/>
              </a:highlight>
              <a:latin typeface="Calibri"/>
              <a:cs typeface="Calibri"/>
            </a:endParaRPr>
          </a:p>
          <a:p>
            <a:pPr marL="241300" indent="-228600">
              <a:lnSpc>
                <a:spcPct val="100000"/>
              </a:lnSpc>
              <a:spcBef>
                <a:spcPts val="285"/>
              </a:spcBef>
              <a:buFont typeface="Arial MT"/>
              <a:buChar char="•"/>
              <a:tabLst>
                <a:tab pos="240665" algn="l"/>
                <a:tab pos="241300" algn="l"/>
              </a:tabLst>
            </a:pPr>
            <a:r>
              <a:rPr sz="2000" spc="-15" dirty="0">
                <a:highlight>
                  <a:srgbClr val="FFFF00"/>
                </a:highlight>
                <a:latin typeface="Calibri"/>
                <a:cs typeface="Calibri"/>
              </a:rPr>
              <a:t>Syntax:</a:t>
            </a:r>
            <a:endParaRPr sz="2000" dirty="0">
              <a:highlight>
                <a:srgbClr val="FFFF00"/>
              </a:highlight>
              <a:latin typeface="Calibri"/>
              <a:cs typeface="Calibri"/>
            </a:endParaRPr>
          </a:p>
          <a:p>
            <a:pPr marL="927100">
              <a:lnSpc>
                <a:spcPts val="2039"/>
              </a:lnSpc>
              <a:spcBef>
                <a:spcPts val="275"/>
              </a:spcBef>
            </a:pPr>
            <a:r>
              <a:rPr sz="2000" spc="-30" dirty="0">
                <a:highlight>
                  <a:srgbClr val="FFFF00"/>
                </a:highlight>
                <a:latin typeface="Calibri"/>
                <a:cs typeface="Calibri"/>
              </a:rPr>
              <a:t>CREATE</a:t>
            </a:r>
            <a:r>
              <a:rPr sz="2000" spc="-50" dirty="0">
                <a:highlight>
                  <a:srgbClr val="FFFF00"/>
                </a:highlight>
                <a:latin typeface="Calibri"/>
                <a:cs typeface="Calibri"/>
              </a:rPr>
              <a:t> </a:t>
            </a:r>
            <a:r>
              <a:rPr sz="2000" dirty="0">
                <a:highlight>
                  <a:srgbClr val="FFFF00"/>
                </a:highlight>
                <a:latin typeface="Calibri"/>
                <a:cs typeface="Calibri"/>
              </a:rPr>
              <a:t>UNIQUE</a:t>
            </a:r>
            <a:r>
              <a:rPr sz="2000" spc="-25" dirty="0">
                <a:highlight>
                  <a:srgbClr val="FFFF00"/>
                </a:highlight>
                <a:latin typeface="Calibri"/>
                <a:cs typeface="Calibri"/>
              </a:rPr>
              <a:t> </a:t>
            </a:r>
            <a:r>
              <a:rPr sz="2000" dirty="0">
                <a:highlight>
                  <a:srgbClr val="FFFF00"/>
                </a:highlight>
                <a:latin typeface="Calibri"/>
                <a:cs typeface="Calibri"/>
              </a:rPr>
              <a:t>INDEX</a:t>
            </a:r>
            <a:r>
              <a:rPr sz="2000" spc="-35" dirty="0">
                <a:highlight>
                  <a:srgbClr val="FFFF00"/>
                </a:highlight>
                <a:latin typeface="Calibri"/>
                <a:cs typeface="Calibri"/>
              </a:rPr>
              <a:t> </a:t>
            </a:r>
            <a:r>
              <a:rPr sz="2000" i="1" spc="-5" dirty="0">
                <a:highlight>
                  <a:srgbClr val="FFFF00"/>
                </a:highlight>
                <a:latin typeface="Calibri"/>
                <a:cs typeface="Calibri"/>
              </a:rPr>
              <a:t>index_name</a:t>
            </a:r>
            <a:endParaRPr sz="2000" dirty="0">
              <a:highlight>
                <a:srgbClr val="FFFF00"/>
              </a:highlight>
              <a:latin typeface="Calibri"/>
              <a:cs typeface="Calibri"/>
            </a:endParaRPr>
          </a:p>
          <a:p>
            <a:pPr marL="927100">
              <a:lnSpc>
                <a:spcPts val="2039"/>
              </a:lnSpc>
            </a:pPr>
            <a:r>
              <a:rPr sz="2000" spc="5" dirty="0">
                <a:highlight>
                  <a:srgbClr val="FFFF00"/>
                </a:highlight>
                <a:latin typeface="Calibri"/>
                <a:cs typeface="Calibri"/>
              </a:rPr>
              <a:t>ON</a:t>
            </a:r>
            <a:r>
              <a:rPr sz="2000" spc="-30" dirty="0">
                <a:highlight>
                  <a:srgbClr val="FFFF00"/>
                </a:highlight>
                <a:latin typeface="Calibri"/>
                <a:cs typeface="Calibri"/>
              </a:rPr>
              <a:t> </a:t>
            </a:r>
            <a:r>
              <a:rPr sz="2000" i="1" spc="-5" dirty="0">
                <a:highlight>
                  <a:srgbClr val="FFFF00"/>
                </a:highlight>
                <a:latin typeface="Calibri"/>
                <a:cs typeface="Calibri"/>
              </a:rPr>
              <a:t>table_name</a:t>
            </a:r>
            <a:r>
              <a:rPr sz="2000" i="1" spc="-35" dirty="0">
                <a:highlight>
                  <a:srgbClr val="FFFF00"/>
                </a:highlight>
                <a:latin typeface="Calibri"/>
                <a:cs typeface="Calibri"/>
              </a:rPr>
              <a:t> </a:t>
            </a:r>
            <a:r>
              <a:rPr sz="2000" spc="-5" dirty="0">
                <a:highlight>
                  <a:srgbClr val="FFFF00"/>
                </a:highlight>
                <a:latin typeface="Calibri"/>
                <a:cs typeface="Calibri"/>
              </a:rPr>
              <a:t>(</a:t>
            </a:r>
            <a:r>
              <a:rPr sz="2000" i="1" spc="-5" dirty="0">
                <a:highlight>
                  <a:srgbClr val="FFFF00"/>
                </a:highlight>
                <a:latin typeface="Calibri"/>
                <a:cs typeface="Calibri"/>
              </a:rPr>
              <a:t>column1</a:t>
            </a:r>
            <a:r>
              <a:rPr sz="2000" spc="-5" dirty="0">
                <a:highlight>
                  <a:srgbClr val="FFFF00"/>
                </a:highlight>
                <a:latin typeface="Calibri"/>
                <a:cs typeface="Calibri"/>
              </a:rPr>
              <a:t>,</a:t>
            </a:r>
            <a:r>
              <a:rPr sz="2000" spc="-30" dirty="0">
                <a:highlight>
                  <a:srgbClr val="FFFF00"/>
                </a:highlight>
                <a:latin typeface="Calibri"/>
                <a:cs typeface="Calibri"/>
              </a:rPr>
              <a:t> </a:t>
            </a:r>
            <a:r>
              <a:rPr sz="2000" i="1" spc="-5" dirty="0">
                <a:highlight>
                  <a:srgbClr val="FFFF00"/>
                </a:highlight>
                <a:latin typeface="Calibri"/>
                <a:cs typeface="Calibri"/>
              </a:rPr>
              <a:t>column2</a:t>
            </a:r>
            <a:r>
              <a:rPr sz="2000" spc="-5" dirty="0">
                <a:highlight>
                  <a:srgbClr val="FFFF00"/>
                </a:highlight>
                <a:latin typeface="Calibri"/>
                <a:cs typeface="Calibri"/>
              </a:rPr>
              <a:t>,</a:t>
            </a:r>
            <a:r>
              <a:rPr sz="2000" spc="-30" dirty="0">
                <a:highlight>
                  <a:srgbClr val="FFFF00"/>
                </a:highlight>
                <a:latin typeface="Calibri"/>
                <a:cs typeface="Calibri"/>
              </a:rPr>
              <a:t> </a:t>
            </a:r>
            <a:r>
              <a:rPr sz="2000" spc="-5" dirty="0">
                <a:highlight>
                  <a:srgbClr val="FFFF00"/>
                </a:highlight>
                <a:latin typeface="Calibri"/>
                <a:cs typeface="Calibri"/>
              </a:rPr>
              <a:t>...);</a:t>
            </a:r>
            <a:endParaRPr sz="2000" dirty="0">
              <a:highlight>
                <a:srgbClr val="FFFF00"/>
              </a:highlight>
              <a:latin typeface="Calibri"/>
              <a:cs typeface="Calibri"/>
            </a:endParaRPr>
          </a:p>
          <a:p>
            <a:pPr>
              <a:lnSpc>
                <a:spcPct val="100000"/>
              </a:lnSpc>
              <a:spcBef>
                <a:spcPts val="35"/>
              </a:spcBef>
            </a:pPr>
            <a:endParaRPr sz="2400" dirty="0">
              <a:highlight>
                <a:srgbClr val="FFFF00"/>
              </a:highlight>
              <a:latin typeface="Calibri"/>
              <a:cs typeface="Calibri"/>
            </a:endParaRPr>
          </a:p>
          <a:p>
            <a:pPr marL="241300" indent="-228600">
              <a:lnSpc>
                <a:spcPct val="100000"/>
              </a:lnSpc>
              <a:buFont typeface="Arial MT"/>
              <a:buChar char="•"/>
              <a:tabLst>
                <a:tab pos="240665" algn="l"/>
                <a:tab pos="241300" algn="l"/>
              </a:tabLst>
            </a:pPr>
            <a:r>
              <a:rPr sz="2000" spc="-5" dirty="0">
                <a:highlight>
                  <a:srgbClr val="FFFF00"/>
                </a:highlight>
                <a:latin typeface="Calibri"/>
                <a:cs typeface="Calibri"/>
              </a:rPr>
              <a:t>DROP</a:t>
            </a:r>
            <a:r>
              <a:rPr sz="2000" spc="-50" dirty="0">
                <a:highlight>
                  <a:srgbClr val="FFFF00"/>
                </a:highlight>
                <a:latin typeface="Calibri"/>
                <a:cs typeface="Calibri"/>
              </a:rPr>
              <a:t> </a:t>
            </a:r>
            <a:r>
              <a:rPr sz="2000" dirty="0">
                <a:highlight>
                  <a:srgbClr val="FFFF00"/>
                </a:highlight>
                <a:latin typeface="Calibri"/>
                <a:cs typeface="Calibri"/>
              </a:rPr>
              <a:t>INDEX</a:t>
            </a:r>
          </a:p>
          <a:p>
            <a:pPr marL="241300" indent="-228600">
              <a:lnSpc>
                <a:spcPct val="100000"/>
              </a:lnSpc>
              <a:spcBef>
                <a:spcPts val="275"/>
              </a:spcBef>
              <a:buFont typeface="Arial MT"/>
              <a:buChar char="•"/>
              <a:tabLst>
                <a:tab pos="240665" algn="l"/>
                <a:tab pos="241300" algn="l"/>
              </a:tabLst>
            </a:pPr>
            <a:r>
              <a:rPr sz="2000" spc="-5" dirty="0">
                <a:highlight>
                  <a:srgbClr val="FFFF00"/>
                </a:highlight>
                <a:latin typeface="Calibri"/>
                <a:cs typeface="Calibri"/>
              </a:rPr>
              <a:t>The</a:t>
            </a:r>
            <a:r>
              <a:rPr sz="2000" spc="5" dirty="0">
                <a:highlight>
                  <a:srgbClr val="FFFF00"/>
                </a:highlight>
                <a:latin typeface="Calibri"/>
                <a:cs typeface="Calibri"/>
              </a:rPr>
              <a:t> </a:t>
            </a:r>
            <a:r>
              <a:rPr sz="2000" spc="-5" dirty="0">
                <a:highlight>
                  <a:srgbClr val="FFFF00"/>
                </a:highlight>
                <a:latin typeface="Calibri"/>
                <a:cs typeface="Calibri"/>
              </a:rPr>
              <a:t>DROP</a:t>
            </a:r>
            <a:r>
              <a:rPr sz="2000" spc="-15" dirty="0">
                <a:highlight>
                  <a:srgbClr val="FFFF00"/>
                </a:highlight>
                <a:latin typeface="Calibri"/>
                <a:cs typeface="Calibri"/>
              </a:rPr>
              <a:t> </a:t>
            </a:r>
            <a:r>
              <a:rPr sz="2000" dirty="0">
                <a:highlight>
                  <a:srgbClr val="FFFF00"/>
                </a:highlight>
                <a:latin typeface="Calibri"/>
                <a:cs typeface="Calibri"/>
              </a:rPr>
              <a:t>INDEX</a:t>
            </a:r>
            <a:r>
              <a:rPr sz="2000" spc="-35" dirty="0">
                <a:highlight>
                  <a:srgbClr val="FFFF00"/>
                </a:highlight>
                <a:latin typeface="Calibri"/>
                <a:cs typeface="Calibri"/>
              </a:rPr>
              <a:t> </a:t>
            </a:r>
            <a:r>
              <a:rPr sz="2000" spc="-15" dirty="0">
                <a:highlight>
                  <a:srgbClr val="FFFF00"/>
                </a:highlight>
                <a:latin typeface="Calibri"/>
                <a:cs typeface="Calibri"/>
              </a:rPr>
              <a:t>statement</a:t>
            </a:r>
            <a:r>
              <a:rPr sz="2000" spc="45" dirty="0">
                <a:highlight>
                  <a:srgbClr val="FFFF00"/>
                </a:highlight>
                <a:latin typeface="Calibri"/>
                <a:cs typeface="Calibri"/>
              </a:rPr>
              <a:t> </a:t>
            </a:r>
            <a:r>
              <a:rPr sz="2000" dirty="0">
                <a:highlight>
                  <a:srgbClr val="FFFF00"/>
                </a:highlight>
                <a:latin typeface="Calibri"/>
                <a:cs typeface="Calibri"/>
              </a:rPr>
              <a:t>is</a:t>
            </a:r>
            <a:r>
              <a:rPr sz="2000" spc="5" dirty="0">
                <a:highlight>
                  <a:srgbClr val="FFFF00"/>
                </a:highlight>
                <a:latin typeface="Calibri"/>
                <a:cs typeface="Calibri"/>
              </a:rPr>
              <a:t> </a:t>
            </a:r>
            <a:r>
              <a:rPr sz="2000" spc="-5" dirty="0">
                <a:highlight>
                  <a:srgbClr val="FFFF00"/>
                </a:highlight>
                <a:latin typeface="Calibri"/>
                <a:cs typeface="Calibri"/>
              </a:rPr>
              <a:t>used</a:t>
            </a:r>
            <a:r>
              <a:rPr sz="2000" spc="5" dirty="0">
                <a:highlight>
                  <a:srgbClr val="FFFF00"/>
                </a:highlight>
                <a:latin typeface="Calibri"/>
                <a:cs typeface="Calibri"/>
              </a:rPr>
              <a:t> </a:t>
            </a:r>
            <a:r>
              <a:rPr sz="2000" spc="-15" dirty="0">
                <a:highlight>
                  <a:srgbClr val="FFFF00"/>
                </a:highlight>
                <a:latin typeface="Calibri"/>
                <a:cs typeface="Calibri"/>
              </a:rPr>
              <a:t>to</a:t>
            </a:r>
            <a:r>
              <a:rPr sz="2000" dirty="0">
                <a:highlight>
                  <a:srgbClr val="FFFF00"/>
                </a:highlight>
                <a:latin typeface="Calibri"/>
                <a:cs typeface="Calibri"/>
              </a:rPr>
              <a:t> </a:t>
            </a:r>
            <a:r>
              <a:rPr sz="2000" spc="-5" dirty="0">
                <a:highlight>
                  <a:srgbClr val="FFFF00"/>
                </a:highlight>
                <a:latin typeface="Calibri"/>
                <a:cs typeface="Calibri"/>
              </a:rPr>
              <a:t>delete</a:t>
            </a:r>
            <a:r>
              <a:rPr sz="2000" spc="20" dirty="0">
                <a:highlight>
                  <a:srgbClr val="FFFF00"/>
                </a:highlight>
                <a:latin typeface="Calibri"/>
                <a:cs typeface="Calibri"/>
              </a:rPr>
              <a:t> </a:t>
            </a:r>
            <a:r>
              <a:rPr sz="2000" dirty="0">
                <a:highlight>
                  <a:srgbClr val="FFFF00"/>
                </a:highlight>
                <a:latin typeface="Calibri"/>
                <a:cs typeface="Calibri"/>
              </a:rPr>
              <a:t>an </a:t>
            </a:r>
            <a:r>
              <a:rPr sz="2000" spc="-10" dirty="0">
                <a:highlight>
                  <a:srgbClr val="FFFF00"/>
                </a:highlight>
                <a:latin typeface="Calibri"/>
                <a:cs typeface="Calibri"/>
              </a:rPr>
              <a:t>index</a:t>
            </a:r>
            <a:r>
              <a:rPr sz="2000" dirty="0">
                <a:highlight>
                  <a:srgbClr val="FFFF00"/>
                </a:highlight>
                <a:latin typeface="Calibri"/>
                <a:cs typeface="Calibri"/>
              </a:rPr>
              <a:t> in</a:t>
            </a:r>
            <a:r>
              <a:rPr sz="2000" spc="5" dirty="0">
                <a:highlight>
                  <a:srgbClr val="FFFF00"/>
                </a:highlight>
                <a:latin typeface="Calibri"/>
                <a:cs typeface="Calibri"/>
              </a:rPr>
              <a:t> </a:t>
            </a:r>
            <a:r>
              <a:rPr sz="2000" dirty="0">
                <a:highlight>
                  <a:srgbClr val="FFFF00"/>
                </a:highlight>
                <a:latin typeface="Calibri"/>
                <a:cs typeface="Calibri"/>
              </a:rPr>
              <a:t>a</a:t>
            </a:r>
            <a:r>
              <a:rPr sz="2000" spc="5" dirty="0">
                <a:highlight>
                  <a:srgbClr val="FFFF00"/>
                </a:highlight>
                <a:latin typeface="Calibri"/>
                <a:cs typeface="Calibri"/>
              </a:rPr>
              <a:t> </a:t>
            </a:r>
            <a:r>
              <a:rPr sz="2000" spc="-5" dirty="0">
                <a:highlight>
                  <a:srgbClr val="FFFF00"/>
                </a:highlight>
                <a:latin typeface="Calibri"/>
                <a:cs typeface="Calibri"/>
              </a:rPr>
              <a:t>table.</a:t>
            </a:r>
            <a:endParaRPr sz="2000" dirty="0">
              <a:highlight>
                <a:srgbClr val="FFFF00"/>
              </a:highlight>
              <a:latin typeface="Calibri"/>
              <a:cs typeface="Calibri"/>
            </a:endParaRPr>
          </a:p>
          <a:p>
            <a:pPr marL="927100">
              <a:lnSpc>
                <a:spcPct val="100000"/>
              </a:lnSpc>
              <a:spcBef>
                <a:spcPts val="280"/>
              </a:spcBef>
            </a:pPr>
            <a:r>
              <a:rPr sz="2000" spc="-30" dirty="0">
                <a:highlight>
                  <a:srgbClr val="FFFF00"/>
                </a:highlight>
                <a:latin typeface="Calibri"/>
                <a:cs typeface="Calibri"/>
              </a:rPr>
              <a:t>ALTER TABLE </a:t>
            </a:r>
            <a:r>
              <a:rPr sz="2000" i="1" spc="-5" dirty="0">
                <a:highlight>
                  <a:srgbClr val="FFFF00"/>
                </a:highlight>
                <a:latin typeface="Calibri"/>
                <a:cs typeface="Calibri"/>
              </a:rPr>
              <a:t>table_name</a:t>
            </a:r>
            <a:r>
              <a:rPr sz="2000" i="1" spc="-40" dirty="0">
                <a:highlight>
                  <a:srgbClr val="FFFF00"/>
                </a:highlight>
                <a:latin typeface="Calibri"/>
                <a:cs typeface="Calibri"/>
              </a:rPr>
              <a:t> </a:t>
            </a:r>
            <a:r>
              <a:rPr sz="2000" spc="-5" dirty="0">
                <a:highlight>
                  <a:srgbClr val="FFFF00"/>
                </a:highlight>
                <a:latin typeface="Calibri"/>
                <a:cs typeface="Calibri"/>
              </a:rPr>
              <a:t>DROP</a:t>
            </a:r>
            <a:r>
              <a:rPr sz="2000" spc="-25" dirty="0">
                <a:highlight>
                  <a:srgbClr val="FFFF00"/>
                </a:highlight>
                <a:latin typeface="Calibri"/>
                <a:cs typeface="Calibri"/>
              </a:rPr>
              <a:t> </a:t>
            </a:r>
            <a:r>
              <a:rPr sz="2000" dirty="0">
                <a:highlight>
                  <a:srgbClr val="FFFF00"/>
                </a:highlight>
                <a:latin typeface="Calibri"/>
                <a:cs typeface="Calibri"/>
              </a:rPr>
              <a:t>INDEX</a:t>
            </a:r>
            <a:r>
              <a:rPr sz="2000" spc="-35" dirty="0">
                <a:highlight>
                  <a:srgbClr val="FFFF00"/>
                </a:highlight>
                <a:latin typeface="Calibri"/>
                <a:cs typeface="Calibri"/>
              </a:rPr>
              <a:t> </a:t>
            </a:r>
            <a:r>
              <a:rPr sz="2000" i="1" spc="-5" dirty="0">
                <a:highlight>
                  <a:srgbClr val="FFFF00"/>
                </a:highlight>
                <a:latin typeface="Calibri"/>
                <a:cs typeface="Calibri"/>
              </a:rPr>
              <a:t>index_name</a:t>
            </a:r>
            <a:r>
              <a:rPr sz="2000" spc="-5" dirty="0">
                <a:highlight>
                  <a:srgbClr val="FFFF00"/>
                </a:highlight>
                <a:latin typeface="Calibri"/>
                <a:cs typeface="Calibri"/>
              </a:rPr>
              <a:t>;</a:t>
            </a:r>
            <a:endParaRPr sz="2000" dirty="0">
              <a:highlight>
                <a:srgbClr val="FFFF00"/>
              </a:highlight>
              <a:latin typeface="Calibri"/>
              <a:cs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Clustered index</a:t>
            </a:r>
            <a:endParaRPr lang="en-IN" dirty="0"/>
          </a:p>
        </p:txBody>
      </p:sp>
      <p:sp>
        <p:nvSpPr>
          <p:cNvPr id="3" name="Content Placeholder 2"/>
          <p:cNvSpPr>
            <a:spLocks noGrp="1"/>
          </p:cNvSpPr>
          <p:nvPr>
            <p:ph idx="1"/>
          </p:nvPr>
        </p:nvSpPr>
        <p:spPr/>
        <p:txBody>
          <a:bodyPr/>
          <a:lstStyle/>
          <a:p>
            <a:endParaRPr lang="en-I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809750"/>
            <a:ext cx="8239125" cy="3371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AC2FB767-A8B7-92EC-B03F-A598FF128540}"/>
                  </a:ext>
                </a:extLst>
              </p14:cNvPr>
              <p14:cNvContentPartPr/>
              <p14:nvPr/>
            </p14:nvContentPartPr>
            <p14:xfrm>
              <a:off x="358141" y="1723935"/>
              <a:ext cx="8230320" cy="1009800"/>
            </p14:xfrm>
          </p:contentPart>
        </mc:Choice>
        <mc:Fallback>
          <p:pic>
            <p:nvPicPr>
              <p:cNvPr id="4" name="Ink 3">
                <a:extLst>
                  <a:ext uri="{FF2B5EF4-FFF2-40B4-BE49-F238E27FC236}">
                    <a16:creationId xmlns:a16="http://schemas.microsoft.com/office/drawing/2014/main" id="{AC2FB767-A8B7-92EC-B03F-A598FF128540}"/>
                  </a:ext>
                </a:extLst>
              </p:cNvPr>
              <p:cNvPicPr/>
              <p:nvPr/>
            </p:nvPicPr>
            <p:blipFill>
              <a:blip r:embed="rId4"/>
              <a:stretch>
                <a:fillRect/>
              </a:stretch>
            </p:blipFill>
            <p:spPr>
              <a:xfrm>
                <a:off x="304141" y="1616295"/>
                <a:ext cx="8337960" cy="12254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492954B5-D961-401D-D125-FF64958D5559}"/>
                  </a:ext>
                </a:extLst>
              </p14:cNvPr>
              <p14:cNvContentPartPr/>
              <p14:nvPr/>
            </p14:nvContentPartPr>
            <p14:xfrm>
              <a:off x="610501" y="4048815"/>
              <a:ext cx="8399160" cy="824760"/>
            </p14:xfrm>
          </p:contentPart>
        </mc:Choice>
        <mc:Fallback>
          <p:pic>
            <p:nvPicPr>
              <p:cNvPr id="5" name="Ink 4">
                <a:extLst>
                  <a:ext uri="{FF2B5EF4-FFF2-40B4-BE49-F238E27FC236}">
                    <a16:creationId xmlns:a16="http://schemas.microsoft.com/office/drawing/2014/main" id="{492954B5-D961-401D-D125-FF64958D5559}"/>
                  </a:ext>
                </a:extLst>
              </p:cNvPr>
              <p:cNvPicPr/>
              <p:nvPr/>
            </p:nvPicPr>
            <p:blipFill>
              <a:blip r:embed="rId6"/>
              <a:stretch>
                <a:fillRect/>
              </a:stretch>
            </p:blipFill>
            <p:spPr>
              <a:xfrm>
                <a:off x="556501" y="3940815"/>
                <a:ext cx="8506800" cy="1040400"/>
              </a:xfrm>
              <a:prstGeom prst="rect">
                <a:avLst/>
              </a:prstGeom>
            </p:spPr>
          </p:pic>
        </mc:Fallback>
      </mc:AlternateContent>
    </p:spTree>
    <p:extLst>
      <p:ext uri="{BB962C8B-B14F-4D97-AF65-F5344CB8AC3E}">
        <p14:creationId xmlns:p14="http://schemas.microsoft.com/office/powerpoint/2010/main" val="38245424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341" y="755476"/>
            <a:ext cx="5038725" cy="3067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3822526"/>
            <a:ext cx="4972050" cy="2914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634623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endParaRPr lang="en-IN" dirty="0"/>
          </a:p>
        </p:txBody>
      </p:sp>
      <p:pic>
        <p:nvPicPr>
          <p:cNvPr id="3075"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375149" y="3752850"/>
            <a:ext cx="5794323" cy="10916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905000"/>
            <a:ext cx="4584843" cy="16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6863" y="5029200"/>
            <a:ext cx="3429000" cy="15751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168502" y="4644303"/>
            <a:ext cx="1400833" cy="369332"/>
          </a:xfrm>
          <a:prstGeom prst="rect">
            <a:avLst/>
          </a:prstGeom>
          <a:noFill/>
        </p:spPr>
        <p:txBody>
          <a:bodyPr wrap="none" rtlCol="0">
            <a:spAutoFit/>
          </a:bodyPr>
          <a:lstStyle/>
          <a:p>
            <a:r>
              <a:rPr lang="en-US" dirty="0"/>
              <a:t>Cluster index</a:t>
            </a:r>
            <a:endParaRPr lang="en-IN" dirty="0"/>
          </a:p>
        </p:txBody>
      </p:sp>
    </p:spTree>
    <p:extLst>
      <p:ext uri="{BB962C8B-B14F-4D97-AF65-F5344CB8AC3E}">
        <p14:creationId xmlns:p14="http://schemas.microsoft.com/office/powerpoint/2010/main" val="17497358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1777</TotalTime>
  <Words>1991</Words>
  <Application>Microsoft Office PowerPoint</Application>
  <PresentationFormat>Widescreen</PresentationFormat>
  <Paragraphs>169</Paragraphs>
  <Slides>39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Arial MT</vt:lpstr>
      <vt:lpstr>Calibri</vt:lpstr>
      <vt:lpstr>Cambria</vt:lpstr>
      <vt:lpstr>Georgia</vt:lpstr>
      <vt:lpstr>source-serif-pro</vt:lpstr>
      <vt:lpstr>Adjacency</vt:lpstr>
      <vt:lpstr>Indexing</vt:lpstr>
      <vt:lpstr>Indexing</vt:lpstr>
      <vt:lpstr>Why we need Indexing in DBMS?</vt:lpstr>
      <vt:lpstr>Solution: Indexing</vt:lpstr>
      <vt:lpstr>PowerPoint Presentation</vt:lpstr>
      <vt:lpstr>PowerPoint Presentation</vt:lpstr>
      <vt:lpstr>The indexing has various attributes:</vt:lpstr>
      <vt:lpstr>Ordered indices</vt:lpstr>
      <vt:lpstr>PowerPoint Presentation</vt:lpstr>
      <vt:lpstr>Types of indices</vt:lpstr>
      <vt:lpstr>PowerPoint Presentation</vt:lpstr>
      <vt:lpstr>Dense  Index</vt:lpstr>
      <vt:lpstr>Sparse Index</vt:lpstr>
      <vt:lpstr>Primary index</vt:lpstr>
      <vt:lpstr>Example </vt:lpstr>
      <vt:lpstr>Cluster index</vt:lpstr>
      <vt:lpstr>Difference between Cluster and Non-cluster Index</vt:lpstr>
      <vt:lpstr>Example </vt:lpstr>
      <vt:lpstr>Secondary/Non-cluster Indexing</vt:lpstr>
      <vt:lpstr>Cntd.. </vt:lpstr>
      <vt:lpstr>Example </vt:lpstr>
      <vt:lpstr>Secondary index on key-attribute</vt:lpstr>
      <vt:lpstr>Secondary index on non-key attribute</vt:lpstr>
      <vt:lpstr>PowerPoint Presentation</vt:lpstr>
      <vt:lpstr>NonClustered Index </vt:lpstr>
      <vt:lpstr>PowerPoint Presentation</vt:lpstr>
      <vt:lpstr>Multilevel index</vt:lpstr>
      <vt:lpstr>Example </vt:lpstr>
      <vt:lpstr>Searching in multilevel indexing</vt:lpstr>
      <vt:lpstr>B-Tree</vt:lpstr>
      <vt:lpstr>PowerPoint Presentation</vt:lpstr>
      <vt:lpstr>PowerPoint Presentation</vt:lpstr>
      <vt:lpstr>Example of Constructing a B-Tree (Order 3)</vt:lpstr>
      <vt:lpstr>B+ Tree</vt:lpstr>
      <vt:lpstr>PowerPoint Presentation</vt:lpstr>
      <vt:lpstr>Create index</vt:lpstr>
      <vt:lpstr>Clustered index</vt:lpstr>
      <vt:lpstr>PowerPoint Presentation</vt:lpstr>
      <vt:lpstr>Example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DCL COMMANDS</dc:title>
  <dc:creator>sakec</dc:creator>
  <cp:lastModifiedBy>Om Thanage</cp:lastModifiedBy>
  <cp:revision>52</cp:revision>
  <dcterms:created xsi:type="dcterms:W3CDTF">2024-02-22T09:22:05Z</dcterms:created>
  <dcterms:modified xsi:type="dcterms:W3CDTF">2025-05-04T18:52:18Z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2022-08-26T00:00:00Z</vt:filetime>
  </property>
  <property fmtid="{D5CDD505-2E9C-101B-9397-08002B2CF9AE}" pid="3" name="Creator">
    <vt:lpwstr>Microsoft® PowerPoint® for Office 365</vt:lpwstr>
  </property>
  <property fmtid="{D5CDD505-2E9C-101B-9397-08002B2CF9AE}" pid="4" name="LastSaved">
    <vt:filetime>2024-02-22T00:00:00Z</vt:filetime>
  </property>
</Properties>
</file>