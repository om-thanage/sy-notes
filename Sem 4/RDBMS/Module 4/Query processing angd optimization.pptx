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 id="2147483660" r:id="rId2"/>
  </p:sldMasterIdLst>
  <p:notesMasterIdLst>
    <p:notesMasterId r:id="rId99"/>
  </p:notesMasterIdLst>
  <p:sldIdLst>
    <p:sldId id="256" r:id="rId3"/>
    <p:sldId id="257" r:id="rId4"/>
    <p:sldId id="258" r:id="rId5"/>
    <p:sldId id="259" r:id="rId6"/>
    <p:sldId id="345" r:id="rId7"/>
    <p:sldId id="353" r:id="rId8"/>
    <p:sldId id="354" r:id="rId9"/>
    <p:sldId id="346" r:id="rId10"/>
    <p:sldId id="347" r:id="rId11"/>
    <p:sldId id="355" r:id="rId12"/>
    <p:sldId id="348" r:id="rId13"/>
    <p:sldId id="349" r:id="rId14"/>
    <p:sldId id="350" r:id="rId15"/>
    <p:sldId id="342" r:id="rId16"/>
    <p:sldId id="343" r:id="rId17"/>
    <p:sldId id="344"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0" r:id="rId59"/>
    <p:sldId id="301" r:id="rId60"/>
    <p:sldId id="302" r:id="rId61"/>
    <p:sldId id="303" r:id="rId62"/>
    <p:sldId id="304" r:id="rId63"/>
    <p:sldId id="305" r:id="rId64"/>
    <p:sldId id="306" r:id="rId65"/>
    <p:sldId id="307" r:id="rId66"/>
    <p:sldId id="308" r:id="rId67"/>
    <p:sldId id="310" r:id="rId68"/>
    <p:sldId id="311" r:id="rId69"/>
    <p:sldId id="312" r:id="rId70"/>
    <p:sldId id="313" r:id="rId71"/>
    <p:sldId id="314" r:id="rId72"/>
    <p:sldId id="315" r:id="rId73"/>
    <p:sldId id="316" r:id="rId74"/>
    <p:sldId id="317" r:id="rId75"/>
    <p:sldId id="318" r:id="rId76"/>
    <p:sldId id="320" r:id="rId77"/>
    <p:sldId id="321" r:id="rId78"/>
    <p:sldId id="322" r:id="rId79"/>
    <p:sldId id="323" r:id="rId80"/>
    <p:sldId id="324" r:id="rId81"/>
    <p:sldId id="325" r:id="rId82"/>
    <p:sldId id="326" r:id="rId83"/>
    <p:sldId id="327" r:id="rId84"/>
    <p:sldId id="328" r:id="rId85"/>
    <p:sldId id="329" r:id="rId86"/>
    <p:sldId id="330" r:id="rId87"/>
    <p:sldId id="331" r:id="rId88"/>
    <p:sldId id="332" r:id="rId89"/>
    <p:sldId id="333" r:id="rId90"/>
    <p:sldId id="334" r:id="rId91"/>
    <p:sldId id="335" r:id="rId92"/>
    <p:sldId id="336" r:id="rId93"/>
    <p:sldId id="337" r:id="rId94"/>
    <p:sldId id="338" r:id="rId95"/>
    <p:sldId id="339" r:id="rId96"/>
    <p:sldId id="340" r:id="rId97"/>
    <p:sldId id="341" r:id="rId98"/>
  </p:sldIdLst>
  <p:sldSz cx="9144000" cy="6858000" type="screen4x3"/>
  <p:notesSz cx="6858000" cy="9144000"/>
  <p:embeddedFontLst>
    <p:embeddedFont>
      <p:font typeface="ＭＳ Ｐゴシック" panose="020B0600070205080204" pitchFamily="34" charset="-128"/>
      <p:regular r:id="rId100"/>
    </p:embeddedFont>
    <p:embeddedFont>
      <p:font typeface="Merriweather Sans" pitchFamily="2" charset="0"/>
      <p:regular r:id="rId101"/>
      <p:bold r:id="rId102"/>
      <p:italic r:id="rId103"/>
      <p:boldItalic r:id="rId104"/>
    </p:embeddedFont>
    <p:embeddedFont>
      <p:font typeface="Noto Sans Symbols" panose="020B0604020202020204" charset="0"/>
      <p:regular r:id="rId105"/>
      <p:bold r:id="rId106"/>
    </p:embeddedFont>
    <p:embeddedFont>
      <p:font typeface="Tahoma" panose="020B0604030504040204" pitchFamily="34" charset="0"/>
      <p:regular r:id="rId107"/>
      <p:bold r:id="rId10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92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1714" y="58"/>
      </p:cViewPr>
      <p:guideLst>
        <p:guide orient="horz" pos="192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tableStyles" Target="tableStyles.xml"/><Relationship Id="rId16" Type="http://schemas.openxmlformats.org/officeDocument/2006/relationships/slide" Target="slides/slide14.xml"/><Relationship Id="rId107" Type="http://schemas.openxmlformats.org/officeDocument/2006/relationships/font" Target="fonts/font8.fntdata"/><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font" Target="fonts/font3.fntdata"/><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font" Target="fonts/font4.fntdata"/><Relationship Id="rId108" Type="http://schemas.openxmlformats.org/officeDocument/2006/relationships/font" Target="fonts/font9.fntdata"/><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font" Target="fonts/font7.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notesMaster" Target="notesMasters/notesMaster1.xml"/><Relationship Id="rId101"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presProps" Target="presProp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font" Target="fonts/font5.fntdata"/><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font" Target="fonts/font1.fntdata"/><Relationship Id="rId105" Type="http://schemas.openxmlformats.org/officeDocument/2006/relationships/font" Target="fonts/font6.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620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6800"/>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strike="noStrike" cap="none">
                <a:solidFill>
                  <a:srgbClr val="000000"/>
                </a:solidFill>
                <a:latin typeface="Tahoma"/>
                <a:ea typeface="Tahoma"/>
                <a:cs typeface="Tahoma"/>
                <a:sym typeface="Tahoma"/>
              </a:rPr>
              <a:t>‹#›</a:t>
            </a:fld>
            <a:endParaRPr/>
          </a:p>
        </p:txBody>
      </p:sp>
    </p:spTree>
    <p:extLst>
      <p:ext uri="{BB962C8B-B14F-4D97-AF65-F5344CB8AC3E}">
        <p14:creationId xmlns:p14="http://schemas.microsoft.com/office/powerpoint/2010/main" val="173452138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a:t>
            </a:fld>
            <a:endParaRPr/>
          </a:p>
        </p:txBody>
      </p:sp>
      <p:sp>
        <p:nvSpPr>
          <p:cNvPr id="78" name="Google Shape;7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 name="Google Shape;79;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a:t>
            </a:fld>
            <a:endParaRPr/>
          </a:p>
        </p:txBody>
      </p:sp>
      <p:sp>
        <p:nvSpPr>
          <p:cNvPr id="86" name="Google Shape;8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a:t>
            </a:fld>
            <a:endParaRPr/>
          </a:p>
        </p:txBody>
      </p:sp>
      <p:sp>
        <p:nvSpPr>
          <p:cNvPr id="95" name="Google Shape;9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 name="Google Shape;96;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a:t>
            </a:fld>
            <a:endParaRPr/>
          </a:p>
        </p:txBody>
      </p:sp>
      <p:sp>
        <p:nvSpPr>
          <p:cNvPr id="103" name="Google Shape;10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 name="Google Shape;104;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12</a:t>
            </a:fld>
            <a:endParaRPr/>
          </a:p>
        </p:txBody>
      </p:sp>
      <p:sp>
        <p:nvSpPr>
          <p:cNvPr id="118" name="Google Shape;11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 name="Google Shape;119;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65A94D9-FD8C-C0AE-DC83-6B2C465A43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ＭＳ Ｐゴシック" panose="020B0600070205080204" pitchFamily="34" charset="-128"/>
              </a:defRPr>
            </a:lvl1pPr>
            <a:lvl2pPr marL="742950" indent="-285750" defTabSz="930275">
              <a:defRPr sz="1600">
                <a:solidFill>
                  <a:schemeClr val="tx1"/>
                </a:solidFill>
                <a:latin typeface="Helvetica" panose="020B0604020202020204" pitchFamily="34" charset="0"/>
                <a:ea typeface="ＭＳ Ｐゴシック" panose="020B0600070205080204" pitchFamily="34" charset="-128"/>
              </a:defRPr>
            </a:lvl2pPr>
            <a:lvl3pPr marL="1143000" indent="-228600" defTabSz="930275">
              <a:defRPr sz="1600">
                <a:solidFill>
                  <a:schemeClr val="tx1"/>
                </a:solidFill>
                <a:latin typeface="Helvetica" panose="020B0604020202020204" pitchFamily="34" charset="0"/>
                <a:ea typeface="ＭＳ Ｐゴシック" panose="020B0600070205080204" pitchFamily="34" charset="-128"/>
              </a:defRPr>
            </a:lvl3pPr>
            <a:lvl4pPr marL="1600200" indent="-228600" defTabSz="930275">
              <a:defRPr sz="1600">
                <a:solidFill>
                  <a:schemeClr val="tx1"/>
                </a:solidFill>
                <a:latin typeface="Helvetica" panose="020B0604020202020204" pitchFamily="34" charset="0"/>
                <a:ea typeface="ＭＳ Ｐゴシック" panose="020B0600070205080204" pitchFamily="34" charset="-128"/>
              </a:defRPr>
            </a:lvl4pPr>
            <a:lvl5pPr marL="2057400" indent="-228600" defTabSz="930275">
              <a:defRPr sz="1600">
                <a:solidFill>
                  <a:schemeClr val="tx1"/>
                </a:solidFill>
                <a:latin typeface="Helvetica" panose="020B0604020202020204" pitchFamily="34" charset="0"/>
                <a:ea typeface="ＭＳ Ｐゴシック"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EE0437B8-420B-44CA-9270-35482280A430}" type="slidenum">
              <a:rPr lang="en-US" altLang="en-US" sz="1300">
                <a:latin typeface="Times New Roman" panose="02020603050405020304" pitchFamily="18" charset="0"/>
              </a:rPr>
              <a:pPr/>
              <a:t>13</a:t>
            </a:fld>
            <a:endParaRPr lang="en-US" altLang="en-US" sz="1300">
              <a:latin typeface="Times New Roman" panose="02020603050405020304" pitchFamily="18" charset="0"/>
            </a:endParaRPr>
          </a:p>
        </p:txBody>
      </p:sp>
      <p:sp>
        <p:nvSpPr>
          <p:cNvPr id="24578" name="Rectangle 2">
            <a:extLst>
              <a:ext uri="{FF2B5EF4-FFF2-40B4-BE49-F238E27FC236}">
                <a16:creationId xmlns:a16="http://schemas.microsoft.com/office/drawing/2014/main" id="{A24C8B01-78C2-FC05-2B41-04DEBA5DFA60}"/>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BC97B5CF-F3E8-427B-9EC6-DB489C20AE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4bb4a50d9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34bb4a50d9c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g34bb4a50d9c_0_0:notes"/>
          <p:cNvSpPr txBox="1">
            <a:spLocks noGrp="1"/>
          </p:cNvSpPr>
          <p:nvPr>
            <p:ph type="sldNum" idx="12"/>
          </p:nvPr>
        </p:nvSpPr>
        <p:spPr>
          <a:xfrm>
            <a:off x="3884414" y="8684684"/>
            <a:ext cx="2971856"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4bb4a50d9c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34bb4a50d9c_0_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g34bb4a50d9c_0_9:notes"/>
          <p:cNvSpPr txBox="1">
            <a:spLocks noGrp="1"/>
          </p:cNvSpPr>
          <p:nvPr>
            <p:ph type="sldNum" idx="12"/>
          </p:nvPr>
        </p:nvSpPr>
        <p:spPr>
          <a:xfrm>
            <a:off x="3884414" y="8684684"/>
            <a:ext cx="2971856"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4bb4a50d9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34bb4a50d9c_0_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g34bb4a50d9c_0_16:notes"/>
          <p:cNvSpPr txBox="1">
            <a:spLocks noGrp="1"/>
          </p:cNvSpPr>
          <p:nvPr>
            <p:ph type="sldNum" idx="12"/>
          </p:nvPr>
        </p:nvSpPr>
        <p:spPr>
          <a:xfrm>
            <a:off x="3884414" y="8684684"/>
            <a:ext cx="2971856"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18</a:t>
            </a:fld>
            <a:endParaRPr/>
          </a:p>
        </p:txBody>
      </p:sp>
      <p:sp>
        <p:nvSpPr>
          <p:cNvPr id="118" name="Google Shape;11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 name="Google Shape;119;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20</a:t>
            </a:fld>
            <a:endParaRPr/>
          </a:p>
        </p:txBody>
      </p:sp>
      <p:sp>
        <p:nvSpPr>
          <p:cNvPr id="134" name="Google Shape;13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5" name="Google Shape;135;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22</a:t>
            </a:fld>
            <a:endParaRPr/>
          </a:p>
        </p:txBody>
      </p:sp>
      <p:sp>
        <p:nvSpPr>
          <p:cNvPr id="149" name="Google Shape;14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0" name="Google Shape;150;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24</a:t>
            </a:fld>
            <a:endParaRPr/>
          </a:p>
        </p:txBody>
      </p:sp>
      <p:sp>
        <p:nvSpPr>
          <p:cNvPr id="175" name="Google Shape;17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6" name="Google Shape;176;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25</a:t>
            </a:fld>
            <a:endParaRPr/>
          </a:p>
        </p:txBody>
      </p:sp>
      <p:sp>
        <p:nvSpPr>
          <p:cNvPr id="183" name="Google Shape;183;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4" name="Google Shape;184;p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31</a:t>
            </a:fld>
            <a:endParaRPr/>
          </a:p>
        </p:txBody>
      </p:sp>
      <p:sp>
        <p:nvSpPr>
          <p:cNvPr id="226" name="Google Shape;22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7" name="Google Shape;227;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32</a:t>
            </a:fld>
            <a:endParaRPr/>
          </a:p>
        </p:txBody>
      </p:sp>
      <p:sp>
        <p:nvSpPr>
          <p:cNvPr id="234" name="Google Shape;234;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5" name="Google Shape;235;p2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33</a:t>
            </a:fld>
            <a:endParaRPr/>
          </a:p>
        </p:txBody>
      </p:sp>
      <p:sp>
        <p:nvSpPr>
          <p:cNvPr id="242" name="Google Shape;242;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3" name="Google Shape;243;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34</a:t>
            </a:fld>
            <a:endParaRPr/>
          </a:p>
        </p:txBody>
      </p:sp>
      <p:sp>
        <p:nvSpPr>
          <p:cNvPr id="250" name="Google Shape;250;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1" name="Google Shape;251;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35</a:t>
            </a:fld>
            <a:endParaRPr/>
          </a:p>
        </p:txBody>
      </p:sp>
      <p:sp>
        <p:nvSpPr>
          <p:cNvPr id="258" name="Google Shape;258;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9" name="Google Shape;259;p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36</a:t>
            </a:fld>
            <a:endParaRPr/>
          </a:p>
        </p:txBody>
      </p:sp>
      <p:sp>
        <p:nvSpPr>
          <p:cNvPr id="266" name="Google Shape;26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7" name="Google Shape;267;p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37</a:t>
            </a:fld>
            <a:endParaRPr/>
          </a:p>
        </p:txBody>
      </p:sp>
      <p:sp>
        <p:nvSpPr>
          <p:cNvPr id="274" name="Google Shape;274;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5" name="Google Shape;275;p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38</a:t>
            </a:fld>
            <a:endParaRPr/>
          </a:p>
        </p:txBody>
      </p:sp>
      <p:sp>
        <p:nvSpPr>
          <p:cNvPr id="282" name="Google Shape;282;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3" name="Google Shape;283;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39</a:t>
            </a:fld>
            <a:endParaRPr/>
          </a:p>
        </p:txBody>
      </p:sp>
      <p:sp>
        <p:nvSpPr>
          <p:cNvPr id="315" name="Google Shape;315;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6" name="Google Shape;316;p2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40</a:t>
            </a:fld>
            <a:endParaRPr/>
          </a:p>
        </p:txBody>
      </p:sp>
      <p:sp>
        <p:nvSpPr>
          <p:cNvPr id="323" name="Google Shape;323;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4" name="Google Shape;324;p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2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41</a:t>
            </a:fld>
            <a:endParaRPr/>
          </a:p>
        </p:txBody>
      </p:sp>
      <p:sp>
        <p:nvSpPr>
          <p:cNvPr id="331" name="Google Shape;331;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2" name="Google Shape;332;p2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3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3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3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3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3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47</a:t>
            </a:fld>
            <a:endParaRPr/>
          </a:p>
        </p:txBody>
      </p:sp>
      <p:sp>
        <p:nvSpPr>
          <p:cNvPr id="376" name="Google Shape;376;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7" name="Google Shape;377;p3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3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48</a:t>
            </a:fld>
            <a:endParaRPr/>
          </a:p>
        </p:txBody>
      </p:sp>
      <p:sp>
        <p:nvSpPr>
          <p:cNvPr id="384" name="Google Shape;384;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5" name="Google Shape;385;p3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3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49</a:t>
            </a:fld>
            <a:endParaRPr/>
          </a:p>
        </p:txBody>
      </p:sp>
      <p:sp>
        <p:nvSpPr>
          <p:cNvPr id="392" name="Google Shape;392;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3" name="Google Shape;393;p3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50</a:t>
            </a:fld>
            <a:endParaRPr/>
          </a:p>
        </p:txBody>
      </p:sp>
      <p:sp>
        <p:nvSpPr>
          <p:cNvPr id="400" name="Google Shape;400;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1" name="Google Shape;401;p3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51</a:t>
            </a:fld>
            <a:endParaRPr/>
          </a:p>
        </p:txBody>
      </p:sp>
      <p:sp>
        <p:nvSpPr>
          <p:cNvPr id="408" name="Google Shape;408;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9" name="Google Shape;409;p3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4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52</a:t>
            </a:fld>
            <a:endParaRPr/>
          </a:p>
        </p:txBody>
      </p:sp>
      <p:sp>
        <p:nvSpPr>
          <p:cNvPr id="416" name="Google Shape;416;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7" name="Google Shape;417;p4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4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53</a:t>
            </a:fld>
            <a:endParaRPr/>
          </a:p>
        </p:txBody>
      </p:sp>
      <p:sp>
        <p:nvSpPr>
          <p:cNvPr id="425" name="Google Shape;425;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6" name="Google Shape;426;p4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4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54</a:t>
            </a:fld>
            <a:endParaRPr/>
          </a:p>
        </p:txBody>
      </p:sp>
      <p:sp>
        <p:nvSpPr>
          <p:cNvPr id="433" name="Google Shape;433;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4" name="Google Shape;434;p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4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55</a:t>
            </a:fld>
            <a:endParaRPr/>
          </a:p>
        </p:txBody>
      </p:sp>
      <p:sp>
        <p:nvSpPr>
          <p:cNvPr id="441" name="Google Shape;441;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2" name="Google Shape;442;p4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4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56</a:t>
            </a:fld>
            <a:endParaRPr/>
          </a:p>
        </p:txBody>
      </p:sp>
      <p:sp>
        <p:nvSpPr>
          <p:cNvPr id="449" name="Google Shape;449;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0" name="Google Shape;450;p4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4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57</a:t>
            </a:fld>
            <a:endParaRPr/>
          </a:p>
        </p:txBody>
      </p:sp>
      <p:sp>
        <p:nvSpPr>
          <p:cNvPr id="457" name="Google Shape;457;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8" name="Google Shape;458;p4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4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58</a:t>
            </a:fld>
            <a:endParaRPr/>
          </a:p>
        </p:txBody>
      </p:sp>
      <p:sp>
        <p:nvSpPr>
          <p:cNvPr id="466" name="Google Shape;466;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7" name="Google Shape;467;p4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4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59</a:t>
            </a:fld>
            <a:endParaRPr/>
          </a:p>
        </p:txBody>
      </p:sp>
      <p:sp>
        <p:nvSpPr>
          <p:cNvPr id="474" name="Google Shape;474;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5" name="Google Shape;475;p4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4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60</a:t>
            </a:fld>
            <a:endParaRPr/>
          </a:p>
        </p:txBody>
      </p:sp>
      <p:sp>
        <p:nvSpPr>
          <p:cNvPr id="487" name="Google Shape;487;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8" name="Google Shape;488;p4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4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61</a:t>
            </a:fld>
            <a:endParaRPr/>
          </a:p>
        </p:txBody>
      </p:sp>
      <p:sp>
        <p:nvSpPr>
          <p:cNvPr id="495" name="Google Shape;495;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6" name="Google Shape;496;p4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5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62</a:t>
            </a:fld>
            <a:endParaRPr/>
          </a:p>
        </p:txBody>
      </p:sp>
      <p:sp>
        <p:nvSpPr>
          <p:cNvPr id="503" name="Google Shape;503;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4" name="Google Shape;504;p5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5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63</a:t>
            </a:fld>
            <a:endParaRPr/>
          </a:p>
        </p:txBody>
      </p:sp>
      <p:sp>
        <p:nvSpPr>
          <p:cNvPr id="511" name="Google Shape;511;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2" name="Google Shape;512;p5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5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5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65</a:t>
            </a:fld>
            <a:endParaRPr/>
          </a:p>
        </p:txBody>
      </p:sp>
      <p:sp>
        <p:nvSpPr>
          <p:cNvPr id="526" name="Google Shape;526;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7" name="Google Shape;527;p5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5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6" name="Google Shape;546;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5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67</a:t>
            </a:fld>
            <a:endParaRPr/>
          </a:p>
        </p:txBody>
      </p:sp>
      <p:sp>
        <p:nvSpPr>
          <p:cNvPr id="563" name="Google Shape;563;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4" name="Google Shape;564;p5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5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68</a:t>
            </a:fld>
            <a:endParaRPr/>
          </a:p>
        </p:txBody>
      </p:sp>
      <p:sp>
        <p:nvSpPr>
          <p:cNvPr id="571" name="Google Shape;571;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2" name="Google Shape;572;p5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5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69</a:t>
            </a:fld>
            <a:endParaRPr/>
          </a:p>
        </p:txBody>
      </p:sp>
      <p:sp>
        <p:nvSpPr>
          <p:cNvPr id="579" name="Google Shape;579;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0" name="Google Shape;580;p5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5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70</a:t>
            </a:fld>
            <a:endParaRPr/>
          </a:p>
        </p:txBody>
      </p:sp>
      <p:sp>
        <p:nvSpPr>
          <p:cNvPr id="587" name="Google Shape;587;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8" name="Google Shape;588;p5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6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5" name="Google Shape;595;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6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72</a:t>
            </a:fld>
            <a:endParaRPr/>
          </a:p>
        </p:txBody>
      </p:sp>
      <p:sp>
        <p:nvSpPr>
          <p:cNvPr id="601" name="Google Shape;601;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2" name="Google Shape;602;p6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6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73</a:t>
            </a:fld>
            <a:endParaRPr/>
          </a:p>
        </p:txBody>
      </p:sp>
      <p:sp>
        <p:nvSpPr>
          <p:cNvPr id="609" name="Google Shape;609;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0" name="Google Shape;610;p6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6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74</a:t>
            </a:fld>
            <a:endParaRPr/>
          </a:p>
        </p:txBody>
      </p:sp>
      <p:sp>
        <p:nvSpPr>
          <p:cNvPr id="617" name="Google Shape;617;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8" name="Google Shape;618;p6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6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75</a:t>
            </a:fld>
            <a:endParaRPr/>
          </a:p>
        </p:txBody>
      </p:sp>
      <p:sp>
        <p:nvSpPr>
          <p:cNvPr id="631" name="Google Shape;631;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2" name="Google Shape;632;p6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6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76</a:t>
            </a:fld>
            <a:endParaRPr/>
          </a:p>
        </p:txBody>
      </p:sp>
      <p:sp>
        <p:nvSpPr>
          <p:cNvPr id="639" name="Google Shape;639;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0" name="Google Shape;640;p6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6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77</a:t>
            </a:fld>
            <a:endParaRPr/>
          </a:p>
        </p:txBody>
      </p:sp>
      <p:sp>
        <p:nvSpPr>
          <p:cNvPr id="647" name="Google Shape;647;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8" name="Google Shape;648;p6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6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78</a:t>
            </a:fld>
            <a:endParaRPr/>
          </a:p>
        </p:txBody>
      </p:sp>
      <p:sp>
        <p:nvSpPr>
          <p:cNvPr id="700" name="Google Shape;700;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1" name="Google Shape;701;p6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6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79</a:t>
            </a:fld>
            <a:endParaRPr/>
          </a:p>
        </p:txBody>
      </p:sp>
      <p:sp>
        <p:nvSpPr>
          <p:cNvPr id="723" name="Google Shape;723;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4" name="Google Shape;724;p6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7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80</a:t>
            </a:fld>
            <a:endParaRPr/>
          </a:p>
        </p:txBody>
      </p:sp>
      <p:sp>
        <p:nvSpPr>
          <p:cNvPr id="736" name="Google Shape;736;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7" name="Google Shape;737;p7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7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81</a:t>
            </a:fld>
            <a:endParaRPr/>
          </a:p>
        </p:txBody>
      </p:sp>
      <p:sp>
        <p:nvSpPr>
          <p:cNvPr id="759" name="Google Shape;759;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0" name="Google Shape;760;p7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p7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82</a:t>
            </a:fld>
            <a:endParaRPr/>
          </a:p>
        </p:txBody>
      </p:sp>
      <p:sp>
        <p:nvSpPr>
          <p:cNvPr id="767" name="Google Shape;767;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8" name="Google Shape;768;p7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7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83</a:t>
            </a:fld>
            <a:endParaRPr/>
          </a:p>
        </p:txBody>
      </p:sp>
      <p:sp>
        <p:nvSpPr>
          <p:cNvPr id="775" name="Google Shape;775;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6" name="Google Shape;776;p7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7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84</a:t>
            </a:fld>
            <a:endParaRPr/>
          </a:p>
        </p:txBody>
      </p:sp>
      <p:sp>
        <p:nvSpPr>
          <p:cNvPr id="783" name="Google Shape;783;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4" name="Google Shape;784;p7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7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85</a:t>
            </a:fld>
            <a:endParaRPr/>
          </a:p>
        </p:txBody>
      </p:sp>
      <p:sp>
        <p:nvSpPr>
          <p:cNvPr id="791" name="Google Shape;791;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2" name="Google Shape;792;p7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7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86</a:t>
            </a:fld>
            <a:endParaRPr/>
          </a:p>
        </p:txBody>
      </p:sp>
      <p:sp>
        <p:nvSpPr>
          <p:cNvPr id="799" name="Google Shape;799;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0" name="Google Shape;800;p7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77: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87</a:t>
            </a:fld>
            <a:endParaRPr/>
          </a:p>
        </p:txBody>
      </p:sp>
      <p:sp>
        <p:nvSpPr>
          <p:cNvPr id="807" name="Google Shape;807;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8" name="Google Shape;808;p7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78: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88</a:t>
            </a:fld>
            <a:endParaRPr/>
          </a:p>
        </p:txBody>
      </p:sp>
      <p:sp>
        <p:nvSpPr>
          <p:cNvPr id="815" name="Google Shape;815;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16" name="Google Shape;816;p7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79: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89</a:t>
            </a:fld>
            <a:endParaRPr/>
          </a:p>
        </p:txBody>
      </p:sp>
      <p:sp>
        <p:nvSpPr>
          <p:cNvPr id="823" name="Google Shape;823;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4" name="Google Shape;824;p7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p80: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90</a:t>
            </a:fld>
            <a:endParaRPr/>
          </a:p>
        </p:txBody>
      </p:sp>
      <p:sp>
        <p:nvSpPr>
          <p:cNvPr id="831" name="Google Shape;831;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2" name="Google Shape;832;p8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81: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91</a:t>
            </a:fld>
            <a:endParaRPr/>
          </a:p>
        </p:txBody>
      </p:sp>
      <p:sp>
        <p:nvSpPr>
          <p:cNvPr id="854" name="Google Shape;854;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5" name="Google Shape;855;p8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p82: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92</a:t>
            </a:fld>
            <a:endParaRPr/>
          </a:p>
        </p:txBody>
      </p:sp>
      <p:sp>
        <p:nvSpPr>
          <p:cNvPr id="862" name="Google Shape;862;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3" name="Google Shape;863;p8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p83: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93</a:t>
            </a:fld>
            <a:endParaRPr/>
          </a:p>
        </p:txBody>
      </p:sp>
      <p:sp>
        <p:nvSpPr>
          <p:cNvPr id="870" name="Google Shape;870;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1" name="Google Shape;871;p8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p84: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94</a:t>
            </a:fld>
            <a:endParaRPr/>
          </a:p>
        </p:txBody>
      </p:sp>
      <p:sp>
        <p:nvSpPr>
          <p:cNvPr id="878" name="Google Shape;878;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9" name="Google Shape;879;p8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p85: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95</a:t>
            </a:fld>
            <a:endParaRPr/>
          </a:p>
        </p:txBody>
      </p:sp>
      <p:sp>
        <p:nvSpPr>
          <p:cNvPr id="886" name="Google Shape;886;p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87" name="Google Shape;887;p8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p86:notes"/>
          <p:cNvSpPr txBox="1"/>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Tahoma"/>
              <a:buNone/>
            </a:pPr>
            <a:fld id="{00000000-1234-1234-1234-123412341234}" type="slidenum">
              <a:rPr lang="en-US" sz="1200" b="0" i="0" u="none">
                <a:solidFill>
                  <a:srgbClr val="000000"/>
                </a:solidFill>
                <a:latin typeface="Tahoma"/>
                <a:ea typeface="Tahoma"/>
                <a:cs typeface="Tahoma"/>
                <a:sym typeface="Tahoma"/>
              </a:rPr>
              <a:t>96</a:t>
            </a:fld>
            <a:endParaRPr/>
          </a:p>
        </p:txBody>
      </p:sp>
      <p:sp>
        <p:nvSpPr>
          <p:cNvPr id="894" name="Google Shape;894;p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5" name="Google Shape;895;p8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
        <p:cNvGrpSpPr/>
        <p:nvPr/>
      </p:nvGrpSpPr>
      <p:grpSpPr>
        <a:xfrm>
          <a:off x="0" y="0"/>
          <a:ext cx="0" cy="0"/>
          <a:chOff x="0" y="0"/>
          <a:chExt cx="0" cy="0"/>
        </a:xfrm>
      </p:grpSpPr>
      <p:sp>
        <p:nvSpPr>
          <p:cNvPr id="21" name="Google Shape;21;p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26" name="Google Shape;26;p3"/>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rot="5400000">
            <a:off x="4561682" y="2199482"/>
            <a:ext cx="5868987" cy="20764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body" idx="1"/>
          </p:nvPr>
        </p:nvSpPr>
        <p:spPr>
          <a:xfrm rot="5400000">
            <a:off x="332582" y="199231"/>
            <a:ext cx="5868987" cy="6076950"/>
          </a:xfrm>
          <a:prstGeom prst="rect">
            <a:avLst/>
          </a:prstGeom>
          <a:noFill/>
          <a:ln>
            <a:noFill/>
          </a:ln>
        </p:spPr>
        <p:txBody>
          <a:bodyPr spcFirstLastPara="1" wrap="square" lIns="91425" tIns="45700" rIns="0"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30" name="Google Shape;30;p4"/>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
          <p:cNvSpPr txBox="1">
            <a:spLocks noGrp="1"/>
          </p:cNvSpPr>
          <p:nvPr>
            <p:ph type="body" idx="1"/>
          </p:nvPr>
        </p:nvSpPr>
        <p:spPr>
          <a:xfrm rot="5400000">
            <a:off x="2101055" y="-261143"/>
            <a:ext cx="4572000" cy="8294687"/>
          </a:xfrm>
          <a:prstGeom prst="rect">
            <a:avLst/>
          </a:prstGeom>
          <a:noFill/>
          <a:ln>
            <a:noFill/>
          </a:ln>
        </p:spPr>
        <p:txBody>
          <a:bodyPr spcFirstLastPara="1" wrap="square" lIns="91425" tIns="45700" rIns="0" bIns="45700" anchor="t" anchorCtr="0">
            <a:noAutofit/>
          </a:bodyPr>
          <a:lstStyle>
            <a:lvl1pPr marL="457200" lvl="0" indent="-297180" algn="l">
              <a:spcBef>
                <a:spcPts val="360"/>
              </a:spcBef>
              <a:spcAft>
                <a:spcPts val="0"/>
              </a:spcAft>
              <a:buSzPts val="1080"/>
              <a:buChar char="■"/>
              <a:defRPr/>
            </a:lvl1pPr>
            <a:lvl2pPr marL="914400" lvl="1" indent="-291465" algn="l">
              <a:spcBef>
                <a:spcPts val="360"/>
              </a:spcBef>
              <a:spcAft>
                <a:spcPts val="0"/>
              </a:spcAft>
              <a:buSzPts val="990"/>
              <a:buChar char="■"/>
              <a:defRPr/>
            </a:lvl2pPr>
            <a:lvl3pPr marL="1371600" lvl="2" indent="-285750" algn="l">
              <a:spcBef>
                <a:spcPts val="360"/>
              </a:spcBef>
              <a:spcAft>
                <a:spcPts val="0"/>
              </a:spcAft>
              <a:buSzPts val="900"/>
              <a:buChar char="■"/>
              <a:defRPr/>
            </a:lvl3pPr>
            <a:lvl4pPr marL="1828800" lvl="3" indent="-291464" algn="l">
              <a:spcBef>
                <a:spcPts val="360"/>
              </a:spcBef>
              <a:spcAft>
                <a:spcPts val="0"/>
              </a:spcAft>
              <a:buSzPts val="990"/>
              <a:buChar char="■"/>
              <a:defRPr/>
            </a:lvl4pPr>
            <a:lvl5pPr marL="2286000" lvl="4" indent="-285750" algn="l">
              <a:spcBef>
                <a:spcPts val="360"/>
              </a:spcBef>
              <a:spcAft>
                <a:spcPts val="0"/>
              </a:spcAft>
              <a:buSzPts val="900"/>
              <a:buChar char="■"/>
              <a:defRPr/>
            </a:lvl5pPr>
            <a:lvl6pPr marL="2743200" lvl="5" indent="-285750" algn="l">
              <a:spcBef>
                <a:spcPts val="360"/>
              </a:spcBef>
              <a:spcAft>
                <a:spcPts val="0"/>
              </a:spcAft>
              <a:buSzPts val="900"/>
              <a:buChar char="■"/>
              <a:defRPr/>
            </a:lvl6pPr>
            <a:lvl7pPr marL="3200400" lvl="6" indent="-285750" algn="l">
              <a:spcBef>
                <a:spcPts val="360"/>
              </a:spcBef>
              <a:spcAft>
                <a:spcPts val="0"/>
              </a:spcAft>
              <a:buSzPts val="900"/>
              <a:buChar char="■"/>
              <a:defRPr/>
            </a:lvl7pPr>
            <a:lvl8pPr marL="3657600" lvl="7" indent="-285750" algn="l">
              <a:spcBef>
                <a:spcPts val="360"/>
              </a:spcBef>
              <a:spcAft>
                <a:spcPts val="0"/>
              </a:spcAft>
              <a:buSzPts val="900"/>
              <a:buChar char="■"/>
              <a:defRPr/>
            </a:lvl8pPr>
            <a:lvl9pPr marL="4114800" lvl="8" indent="-285750" algn="l">
              <a:spcBef>
                <a:spcPts val="360"/>
              </a:spcBef>
              <a:spcAft>
                <a:spcPts val="0"/>
              </a:spcAft>
              <a:buSzPts val="900"/>
              <a:buChar char="■"/>
              <a:defRPr/>
            </a:lvl9pPr>
          </a:lstStyle>
          <a:p>
            <a:endParaRPr/>
          </a:p>
        </p:txBody>
      </p:sp>
      <p:sp>
        <p:nvSpPr>
          <p:cNvPr id="34" name="Google Shape;34;p5"/>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
          <p:cNvSpPr>
            <a:spLocks noGrp="1"/>
          </p:cNvSpPr>
          <p:nvPr>
            <p:ph type="pic" idx="2"/>
          </p:nvPr>
        </p:nvSpPr>
        <p:spPr>
          <a:xfrm>
            <a:off x="1792288" y="612775"/>
            <a:ext cx="5486400" cy="4114800"/>
          </a:xfrm>
          <a:prstGeom prst="rect">
            <a:avLst/>
          </a:prstGeom>
          <a:noFill/>
          <a:ln>
            <a:noFill/>
          </a:ln>
        </p:spPr>
      </p:sp>
      <p:sp>
        <p:nvSpPr>
          <p:cNvPr id="38" name="Google Shape;38;p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0" bIns="45700" anchor="t" anchorCtr="0">
            <a:noAutofit/>
          </a:bodyPr>
          <a:lstStyle>
            <a:lvl1pPr marL="457200" lvl="0" indent="-228600" algn="l">
              <a:spcBef>
                <a:spcPts val="280"/>
              </a:spcBef>
              <a:spcAft>
                <a:spcPts val="0"/>
              </a:spcAft>
              <a:buSzPts val="840"/>
              <a:buNone/>
              <a:defRPr sz="1400"/>
            </a:lvl1pPr>
            <a:lvl2pPr marL="914400" lvl="1" indent="-228600" algn="l">
              <a:spcBef>
                <a:spcPts val="240"/>
              </a:spcBef>
              <a:spcAft>
                <a:spcPts val="0"/>
              </a:spcAft>
              <a:buSzPts val="660"/>
              <a:buNone/>
              <a:defRPr sz="1200"/>
            </a:lvl2pPr>
            <a:lvl3pPr marL="1371600" lvl="2" indent="-228600" algn="l">
              <a:spcBef>
                <a:spcPts val="200"/>
              </a:spcBef>
              <a:spcAft>
                <a:spcPts val="0"/>
              </a:spcAft>
              <a:buSzPts val="500"/>
              <a:buNone/>
              <a:defRPr sz="1000"/>
            </a:lvl3pPr>
            <a:lvl4pPr marL="1828800" lvl="3" indent="-228600" algn="l">
              <a:spcBef>
                <a:spcPts val="180"/>
              </a:spcBef>
              <a:spcAft>
                <a:spcPts val="0"/>
              </a:spcAft>
              <a:buSzPts val="495"/>
              <a:buNone/>
              <a:defRPr sz="900"/>
            </a:lvl4pPr>
            <a:lvl5pPr marL="2286000" lvl="4" indent="-228600" algn="l">
              <a:spcBef>
                <a:spcPts val="180"/>
              </a:spcBef>
              <a:spcAft>
                <a:spcPts val="0"/>
              </a:spcAft>
              <a:buSzPts val="450"/>
              <a:buNone/>
              <a:defRPr sz="900"/>
            </a:lvl5pPr>
            <a:lvl6pPr marL="2743200" lvl="5" indent="-228600" algn="l">
              <a:spcBef>
                <a:spcPts val="180"/>
              </a:spcBef>
              <a:spcAft>
                <a:spcPts val="0"/>
              </a:spcAft>
              <a:buSzPts val="450"/>
              <a:buNone/>
              <a:defRPr sz="900"/>
            </a:lvl6pPr>
            <a:lvl7pPr marL="3200400" lvl="6" indent="-228600" algn="l">
              <a:spcBef>
                <a:spcPts val="180"/>
              </a:spcBef>
              <a:spcAft>
                <a:spcPts val="0"/>
              </a:spcAft>
              <a:buSzPts val="450"/>
              <a:buNone/>
              <a:defRPr sz="900"/>
            </a:lvl7pPr>
            <a:lvl8pPr marL="3657600" lvl="7" indent="-228600" algn="l">
              <a:spcBef>
                <a:spcPts val="180"/>
              </a:spcBef>
              <a:spcAft>
                <a:spcPts val="0"/>
              </a:spcAft>
              <a:buSzPts val="450"/>
              <a:buNone/>
              <a:defRPr sz="900"/>
            </a:lvl8pPr>
            <a:lvl9pPr marL="4114800" lvl="8" indent="-228600" algn="l">
              <a:spcBef>
                <a:spcPts val="180"/>
              </a:spcBef>
              <a:spcAft>
                <a:spcPts val="0"/>
              </a:spcAft>
              <a:buSzPts val="450"/>
              <a:buNone/>
              <a:defRPr sz="900"/>
            </a:lvl9pPr>
          </a:lstStyle>
          <a:p>
            <a:endParaRPr/>
          </a:p>
        </p:txBody>
      </p:sp>
      <p:sp>
        <p:nvSpPr>
          <p:cNvPr id="39" name="Google Shape;39;p6"/>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0" bIns="45700" anchor="t" anchorCtr="0">
            <a:noAutofit/>
          </a:bodyPr>
          <a:lstStyle>
            <a:lvl1pPr marL="457200" lvl="0" indent="-350520" algn="l">
              <a:spcBef>
                <a:spcPts val="640"/>
              </a:spcBef>
              <a:spcAft>
                <a:spcPts val="0"/>
              </a:spcAft>
              <a:buSzPts val="1920"/>
              <a:buChar char="■"/>
              <a:defRPr sz="3200"/>
            </a:lvl1pPr>
            <a:lvl2pPr marL="914400" lvl="1" indent="-326390" algn="l">
              <a:spcBef>
                <a:spcPts val="560"/>
              </a:spcBef>
              <a:spcAft>
                <a:spcPts val="0"/>
              </a:spcAft>
              <a:buSzPts val="1540"/>
              <a:buChar char="■"/>
              <a:defRPr sz="2800"/>
            </a:lvl2pPr>
            <a:lvl3pPr marL="1371600" lvl="2" indent="-304800" algn="l">
              <a:spcBef>
                <a:spcPts val="480"/>
              </a:spcBef>
              <a:spcAft>
                <a:spcPts val="0"/>
              </a:spcAft>
              <a:buSzPts val="1200"/>
              <a:buChar char="■"/>
              <a:defRPr sz="2400"/>
            </a:lvl3pPr>
            <a:lvl4pPr marL="1828800" lvl="3" indent="-298450" algn="l">
              <a:spcBef>
                <a:spcPts val="400"/>
              </a:spcBef>
              <a:spcAft>
                <a:spcPts val="0"/>
              </a:spcAft>
              <a:buSzPts val="1100"/>
              <a:buChar char="■"/>
              <a:defRPr sz="2000"/>
            </a:lvl4pPr>
            <a:lvl5pPr marL="2286000" lvl="4" indent="-292100" algn="l">
              <a:spcBef>
                <a:spcPts val="400"/>
              </a:spcBef>
              <a:spcAft>
                <a:spcPts val="0"/>
              </a:spcAft>
              <a:buSzPts val="1000"/>
              <a:buChar char="■"/>
              <a:defRPr sz="2000"/>
            </a:lvl5pPr>
            <a:lvl6pPr marL="2743200" lvl="5" indent="-292100" algn="l">
              <a:spcBef>
                <a:spcPts val="400"/>
              </a:spcBef>
              <a:spcAft>
                <a:spcPts val="0"/>
              </a:spcAft>
              <a:buSzPts val="1000"/>
              <a:buChar char="■"/>
              <a:defRPr sz="2000"/>
            </a:lvl6pPr>
            <a:lvl7pPr marL="3200400" lvl="6" indent="-292100" algn="l">
              <a:spcBef>
                <a:spcPts val="400"/>
              </a:spcBef>
              <a:spcAft>
                <a:spcPts val="0"/>
              </a:spcAft>
              <a:buSzPts val="1000"/>
              <a:buChar char="■"/>
              <a:defRPr sz="2000"/>
            </a:lvl7pPr>
            <a:lvl8pPr marL="3657600" lvl="7" indent="-292100" algn="l">
              <a:spcBef>
                <a:spcPts val="400"/>
              </a:spcBef>
              <a:spcAft>
                <a:spcPts val="0"/>
              </a:spcAft>
              <a:buSzPts val="1000"/>
              <a:buChar char="■"/>
              <a:defRPr sz="2000"/>
            </a:lvl8pPr>
            <a:lvl9pPr marL="4114800" lvl="8" indent="-292100" algn="l">
              <a:spcBef>
                <a:spcPts val="400"/>
              </a:spcBef>
              <a:spcAft>
                <a:spcPts val="0"/>
              </a:spcAft>
              <a:buSzPts val="1000"/>
              <a:buChar char="■"/>
              <a:defRPr sz="2000"/>
            </a:lvl9pPr>
          </a:lstStyle>
          <a:p>
            <a:endParaRPr/>
          </a:p>
        </p:txBody>
      </p:sp>
      <p:sp>
        <p:nvSpPr>
          <p:cNvPr id="43" name="Google Shape;43;p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0" bIns="45700" anchor="t" anchorCtr="0">
            <a:noAutofit/>
          </a:bodyPr>
          <a:lstStyle>
            <a:lvl1pPr marL="457200" lvl="0" indent="-228600" algn="l">
              <a:spcBef>
                <a:spcPts val="280"/>
              </a:spcBef>
              <a:spcAft>
                <a:spcPts val="0"/>
              </a:spcAft>
              <a:buSzPts val="840"/>
              <a:buNone/>
              <a:defRPr sz="1400"/>
            </a:lvl1pPr>
            <a:lvl2pPr marL="914400" lvl="1" indent="-228600" algn="l">
              <a:spcBef>
                <a:spcPts val="240"/>
              </a:spcBef>
              <a:spcAft>
                <a:spcPts val="0"/>
              </a:spcAft>
              <a:buSzPts val="660"/>
              <a:buNone/>
              <a:defRPr sz="1200"/>
            </a:lvl2pPr>
            <a:lvl3pPr marL="1371600" lvl="2" indent="-228600" algn="l">
              <a:spcBef>
                <a:spcPts val="200"/>
              </a:spcBef>
              <a:spcAft>
                <a:spcPts val="0"/>
              </a:spcAft>
              <a:buSzPts val="500"/>
              <a:buNone/>
              <a:defRPr sz="1000"/>
            </a:lvl3pPr>
            <a:lvl4pPr marL="1828800" lvl="3" indent="-228600" algn="l">
              <a:spcBef>
                <a:spcPts val="180"/>
              </a:spcBef>
              <a:spcAft>
                <a:spcPts val="0"/>
              </a:spcAft>
              <a:buSzPts val="495"/>
              <a:buNone/>
              <a:defRPr sz="900"/>
            </a:lvl4pPr>
            <a:lvl5pPr marL="2286000" lvl="4" indent="-228600" algn="l">
              <a:spcBef>
                <a:spcPts val="180"/>
              </a:spcBef>
              <a:spcAft>
                <a:spcPts val="0"/>
              </a:spcAft>
              <a:buSzPts val="450"/>
              <a:buNone/>
              <a:defRPr sz="900"/>
            </a:lvl5pPr>
            <a:lvl6pPr marL="2743200" lvl="5" indent="-228600" algn="l">
              <a:spcBef>
                <a:spcPts val="180"/>
              </a:spcBef>
              <a:spcAft>
                <a:spcPts val="0"/>
              </a:spcAft>
              <a:buSzPts val="450"/>
              <a:buNone/>
              <a:defRPr sz="900"/>
            </a:lvl6pPr>
            <a:lvl7pPr marL="3200400" lvl="6" indent="-228600" algn="l">
              <a:spcBef>
                <a:spcPts val="180"/>
              </a:spcBef>
              <a:spcAft>
                <a:spcPts val="0"/>
              </a:spcAft>
              <a:buSzPts val="450"/>
              <a:buNone/>
              <a:defRPr sz="900"/>
            </a:lvl7pPr>
            <a:lvl8pPr marL="3657600" lvl="7" indent="-228600" algn="l">
              <a:spcBef>
                <a:spcPts val="180"/>
              </a:spcBef>
              <a:spcAft>
                <a:spcPts val="0"/>
              </a:spcAft>
              <a:buSzPts val="450"/>
              <a:buNone/>
              <a:defRPr sz="900"/>
            </a:lvl8pPr>
            <a:lvl9pPr marL="4114800" lvl="8" indent="-228600" algn="l">
              <a:spcBef>
                <a:spcPts val="180"/>
              </a:spcBef>
              <a:spcAft>
                <a:spcPts val="0"/>
              </a:spcAft>
              <a:buSzPts val="450"/>
              <a:buNone/>
              <a:defRPr sz="900"/>
            </a:lvl9pPr>
          </a:lstStyle>
          <a:p>
            <a:endParaRPr/>
          </a:p>
        </p:txBody>
      </p:sp>
      <p:sp>
        <p:nvSpPr>
          <p:cNvPr id="44" name="Google Shape;44;p7"/>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8"/>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0" bIns="4570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spcBef>
                <a:spcPts val="320"/>
              </a:spcBef>
              <a:spcAft>
                <a:spcPts val="0"/>
              </a:spcAft>
              <a:buSzPts val="800"/>
              <a:buNone/>
              <a:defRPr sz="1600" b="1"/>
            </a:lvl6pPr>
            <a:lvl7pPr marL="3200400" lvl="6" indent="-228600" algn="l">
              <a:spcBef>
                <a:spcPts val="320"/>
              </a:spcBef>
              <a:spcAft>
                <a:spcPts val="0"/>
              </a:spcAft>
              <a:buSzPts val="800"/>
              <a:buNone/>
              <a:defRPr sz="1600" b="1"/>
            </a:lvl7pPr>
            <a:lvl8pPr marL="3657600" lvl="7" indent="-228600" algn="l">
              <a:spcBef>
                <a:spcPts val="320"/>
              </a:spcBef>
              <a:spcAft>
                <a:spcPts val="0"/>
              </a:spcAft>
              <a:buSzPts val="800"/>
              <a:buNone/>
              <a:defRPr sz="1600" b="1"/>
            </a:lvl8pPr>
            <a:lvl9pPr marL="4114800" lvl="8" indent="-228600" algn="l">
              <a:spcBef>
                <a:spcPts val="320"/>
              </a:spcBef>
              <a:spcAft>
                <a:spcPts val="0"/>
              </a:spcAft>
              <a:buSzPts val="800"/>
              <a:buNone/>
              <a:defRPr sz="1600" b="1"/>
            </a:lvl9pPr>
          </a:lstStyle>
          <a:p>
            <a:endParaRPr/>
          </a:p>
        </p:txBody>
      </p:sp>
      <p:sp>
        <p:nvSpPr>
          <p:cNvPr id="50" name="Google Shape;50;p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0" bIns="45700" anchor="t" anchorCtr="0">
            <a:noAutofit/>
          </a:bodyPr>
          <a:lstStyle>
            <a:lvl1pPr marL="457200" lvl="0" indent="-320040" algn="l">
              <a:spcBef>
                <a:spcPts val="480"/>
              </a:spcBef>
              <a:spcAft>
                <a:spcPts val="0"/>
              </a:spcAft>
              <a:buSzPts val="1440"/>
              <a:buChar char="■"/>
              <a:defRPr sz="2400"/>
            </a:lvl1pPr>
            <a:lvl2pPr marL="914400" lvl="1" indent="-298450" algn="l">
              <a:spcBef>
                <a:spcPts val="400"/>
              </a:spcBef>
              <a:spcAft>
                <a:spcPts val="0"/>
              </a:spcAft>
              <a:buSzPts val="1100"/>
              <a:buChar char="■"/>
              <a:defRPr sz="2000"/>
            </a:lvl2pPr>
            <a:lvl3pPr marL="1371600" lvl="2" indent="-285750" algn="l">
              <a:spcBef>
                <a:spcPts val="360"/>
              </a:spcBef>
              <a:spcAft>
                <a:spcPts val="0"/>
              </a:spcAft>
              <a:buSzPts val="900"/>
              <a:buChar char="■"/>
              <a:defRPr sz="1800"/>
            </a:lvl3pPr>
            <a:lvl4pPr marL="1828800" lvl="3" indent="-284480" algn="l">
              <a:spcBef>
                <a:spcPts val="320"/>
              </a:spcBef>
              <a:spcAft>
                <a:spcPts val="0"/>
              </a:spcAft>
              <a:buSzPts val="880"/>
              <a:buChar char="■"/>
              <a:defRPr sz="1600"/>
            </a:lvl4pPr>
            <a:lvl5pPr marL="2286000" lvl="4" indent="-279400" algn="l">
              <a:spcBef>
                <a:spcPts val="320"/>
              </a:spcBef>
              <a:spcAft>
                <a:spcPts val="0"/>
              </a:spcAft>
              <a:buSzPts val="800"/>
              <a:buChar char="■"/>
              <a:defRPr sz="1600"/>
            </a:lvl5pPr>
            <a:lvl6pPr marL="2743200" lvl="5" indent="-279400" algn="l">
              <a:spcBef>
                <a:spcPts val="320"/>
              </a:spcBef>
              <a:spcAft>
                <a:spcPts val="0"/>
              </a:spcAft>
              <a:buSzPts val="800"/>
              <a:buChar char="■"/>
              <a:defRPr sz="1600"/>
            </a:lvl6pPr>
            <a:lvl7pPr marL="3200400" lvl="6" indent="-279400" algn="l">
              <a:spcBef>
                <a:spcPts val="320"/>
              </a:spcBef>
              <a:spcAft>
                <a:spcPts val="0"/>
              </a:spcAft>
              <a:buSzPts val="800"/>
              <a:buChar char="■"/>
              <a:defRPr sz="1600"/>
            </a:lvl7pPr>
            <a:lvl8pPr marL="3657600" lvl="7" indent="-279400" algn="l">
              <a:spcBef>
                <a:spcPts val="320"/>
              </a:spcBef>
              <a:spcAft>
                <a:spcPts val="0"/>
              </a:spcAft>
              <a:buSzPts val="800"/>
              <a:buChar char="■"/>
              <a:defRPr sz="1600"/>
            </a:lvl8pPr>
            <a:lvl9pPr marL="4114800" lvl="8" indent="-279400" algn="l">
              <a:spcBef>
                <a:spcPts val="320"/>
              </a:spcBef>
              <a:spcAft>
                <a:spcPts val="0"/>
              </a:spcAft>
              <a:buSzPts val="800"/>
              <a:buChar char="■"/>
              <a:defRPr sz="1600"/>
            </a:lvl9pPr>
          </a:lstStyle>
          <a:p>
            <a:endParaRPr/>
          </a:p>
        </p:txBody>
      </p:sp>
      <p:sp>
        <p:nvSpPr>
          <p:cNvPr id="51" name="Google Shape;51;p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0" bIns="45700" anchor="b" anchorCtr="0">
            <a:noAutofit/>
          </a:bodyPr>
          <a:lstStyle>
            <a:lvl1pPr marL="457200" lvl="0" indent="-228600" algn="l">
              <a:spcBef>
                <a:spcPts val="480"/>
              </a:spcBef>
              <a:spcAft>
                <a:spcPts val="0"/>
              </a:spcAft>
              <a:buSzPts val="1440"/>
              <a:buNone/>
              <a:defRPr sz="2400" b="1"/>
            </a:lvl1pPr>
            <a:lvl2pPr marL="914400" lvl="1" indent="-228600" algn="l">
              <a:spcBef>
                <a:spcPts val="400"/>
              </a:spcBef>
              <a:spcAft>
                <a:spcPts val="0"/>
              </a:spcAft>
              <a:buSzPts val="1100"/>
              <a:buNone/>
              <a:defRPr sz="2000" b="1"/>
            </a:lvl2pPr>
            <a:lvl3pPr marL="1371600" lvl="2" indent="-228600" algn="l">
              <a:spcBef>
                <a:spcPts val="360"/>
              </a:spcBef>
              <a:spcAft>
                <a:spcPts val="0"/>
              </a:spcAft>
              <a:buSzPts val="900"/>
              <a:buNone/>
              <a:defRPr sz="1800" b="1"/>
            </a:lvl3pPr>
            <a:lvl4pPr marL="1828800" lvl="3" indent="-228600" algn="l">
              <a:spcBef>
                <a:spcPts val="320"/>
              </a:spcBef>
              <a:spcAft>
                <a:spcPts val="0"/>
              </a:spcAft>
              <a:buSzPts val="880"/>
              <a:buNone/>
              <a:defRPr sz="1600" b="1"/>
            </a:lvl4pPr>
            <a:lvl5pPr marL="2286000" lvl="4" indent="-228600" algn="l">
              <a:spcBef>
                <a:spcPts val="320"/>
              </a:spcBef>
              <a:spcAft>
                <a:spcPts val="0"/>
              </a:spcAft>
              <a:buSzPts val="800"/>
              <a:buNone/>
              <a:defRPr sz="1600" b="1"/>
            </a:lvl5pPr>
            <a:lvl6pPr marL="2743200" lvl="5" indent="-228600" algn="l">
              <a:spcBef>
                <a:spcPts val="320"/>
              </a:spcBef>
              <a:spcAft>
                <a:spcPts val="0"/>
              </a:spcAft>
              <a:buSzPts val="800"/>
              <a:buNone/>
              <a:defRPr sz="1600" b="1"/>
            </a:lvl6pPr>
            <a:lvl7pPr marL="3200400" lvl="6" indent="-228600" algn="l">
              <a:spcBef>
                <a:spcPts val="320"/>
              </a:spcBef>
              <a:spcAft>
                <a:spcPts val="0"/>
              </a:spcAft>
              <a:buSzPts val="800"/>
              <a:buNone/>
              <a:defRPr sz="1600" b="1"/>
            </a:lvl7pPr>
            <a:lvl8pPr marL="3657600" lvl="7" indent="-228600" algn="l">
              <a:spcBef>
                <a:spcPts val="320"/>
              </a:spcBef>
              <a:spcAft>
                <a:spcPts val="0"/>
              </a:spcAft>
              <a:buSzPts val="800"/>
              <a:buNone/>
              <a:defRPr sz="1600" b="1"/>
            </a:lvl8pPr>
            <a:lvl9pPr marL="4114800" lvl="8" indent="-228600" algn="l">
              <a:spcBef>
                <a:spcPts val="320"/>
              </a:spcBef>
              <a:spcAft>
                <a:spcPts val="0"/>
              </a:spcAft>
              <a:buSzPts val="800"/>
              <a:buNone/>
              <a:defRPr sz="1600" b="1"/>
            </a:lvl9pPr>
          </a:lstStyle>
          <a:p>
            <a:endParaRPr/>
          </a:p>
        </p:txBody>
      </p:sp>
      <p:sp>
        <p:nvSpPr>
          <p:cNvPr id="52" name="Google Shape;52;p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0" bIns="45700" anchor="t" anchorCtr="0">
            <a:noAutofit/>
          </a:bodyPr>
          <a:lstStyle>
            <a:lvl1pPr marL="457200" lvl="0" indent="-320040" algn="l">
              <a:spcBef>
                <a:spcPts val="480"/>
              </a:spcBef>
              <a:spcAft>
                <a:spcPts val="0"/>
              </a:spcAft>
              <a:buSzPts val="1440"/>
              <a:buChar char="■"/>
              <a:defRPr sz="2400"/>
            </a:lvl1pPr>
            <a:lvl2pPr marL="914400" lvl="1" indent="-298450" algn="l">
              <a:spcBef>
                <a:spcPts val="400"/>
              </a:spcBef>
              <a:spcAft>
                <a:spcPts val="0"/>
              </a:spcAft>
              <a:buSzPts val="1100"/>
              <a:buChar char="■"/>
              <a:defRPr sz="2000"/>
            </a:lvl2pPr>
            <a:lvl3pPr marL="1371600" lvl="2" indent="-285750" algn="l">
              <a:spcBef>
                <a:spcPts val="360"/>
              </a:spcBef>
              <a:spcAft>
                <a:spcPts val="0"/>
              </a:spcAft>
              <a:buSzPts val="900"/>
              <a:buChar char="■"/>
              <a:defRPr sz="1800"/>
            </a:lvl3pPr>
            <a:lvl4pPr marL="1828800" lvl="3" indent="-284480" algn="l">
              <a:spcBef>
                <a:spcPts val="320"/>
              </a:spcBef>
              <a:spcAft>
                <a:spcPts val="0"/>
              </a:spcAft>
              <a:buSzPts val="880"/>
              <a:buChar char="■"/>
              <a:defRPr sz="1600"/>
            </a:lvl4pPr>
            <a:lvl5pPr marL="2286000" lvl="4" indent="-279400" algn="l">
              <a:spcBef>
                <a:spcPts val="320"/>
              </a:spcBef>
              <a:spcAft>
                <a:spcPts val="0"/>
              </a:spcAft>
              <a:buSzPts val="800"/>
              <a:buChar char="■"/>
              <a:defRPr sz="1600"/>
            </a:lvl5pPr>
            <a:lvl6pPr marL="2743200" lvl="5" indent="-279400" algn="l">
              <a:spcBef>
                <a:spcPts val="320"/>
              </a:spcBef>
              <a:spcAft>
                <a:spcPts val="0"/>
              </a:spcAft>
              <a:buSzPts val="800"/>
              <a:buChar char="■"/>
              <a:defRPr sz="1600"/>
            </a:lvl6pPr>
            <a:lvl7pPr marL="3200400" lvl="6" indent="-279400" algn="l">
              <a:spcBef>
                <a:spcPts val="320"/>
              </a:spcBef>
              <a:spcAft>
                <a:spcPts val="0"/>
              </a:spcAft>
              <a:buSzPts val="800"/>
              <a:buChar char="■"/>
              <a:defRPr sz="1600"/>
            </a:lvl7pPr>
            <a:lvl8pPr marL="3657600" lvl="7" indent="-279400" algn="l">
              <a:spcBef>
                <a:spcPts val="320"/>
              </a:spcBef>
              <a:spcAft>
                <a:spcPts val="0"/>
              </a:spcAft>
              <a:buSzPts val="800"/>
              <a:buChar char="■"/>
              <a:defRPr sz="1600"/>
            </a:lvl8pPr>
            <a:lvl9pPr marL="4114800" lvl="8" indent="-279400" algn="l">
              <a:spcBef>
                <a:spcPts val="320"/>
              </a:spcBef>
              <a:spcAft>
                <a:spcPts val="0"/>
              </a:spcAft>
              <a:buSzPts val="800"/>
              <a:buChar char="■"/>
              <a:defRPr sz="1600"/>
            </a:lvl9pPr>
          </a:lstStyle>
          <a:p>
            <a:endParaRPr/>
          </a:p>
        </p:txBody>
      </p:sp>
      <p:sp>
        <p:nvSpPr>
          <p:cNvPr id="53" name="Google Shape;53;p9"/>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239713" y="1600200"/>
            <a:ext cx="4070350" cy="4572000"/>
          </a:xfrm>
          <a:prstGeom prst="rect">
            <a:avLst/>
          </a:prstGeom>
          <a:noFill/>
          <a:ln>
            <a:noFill/>
          </a:ln>
        </p:spPr>
        <p:txBody>
          <a:bodyPr spcFirstLastPara="1" wrap="square" lIns="91425" tIns="45700" rIns="0" bIns="45700" anchor="t" anchorCtr="0">
            <a:noAutofit/>
          </a:bodyPr>
          <a:lstStyle>
            <a:lvl1pPr marL="457200" lvl="0" indent="-335280" algn="l">
              <a:spcBef>
                <a:spcPts val="560"/>
              </a:spcBef>
              <a:spcAft>
                <a:spcPts val="0"/>
              </a:spcAft>
              <a:buSzPts val="1680"/>
              <a:buChar char="■"/>
              <a:defRPr sz="2800"/>
            </a:lvl1pPr>
            <a:lvl2pPr marL="914400" lvl="1" indent="-312419" algn="l">
              <a:spcBef>
                <a:spcPts val="480"/>
              </a:spcBef>
              <a:spcAft>
                <a:spcPts val="0"/>
              </a:spcAft>
              <a:buSzPts val="1320"/>
              <a:buChar char="■"/>
              <a:defRPr sz="2400"/>
            </a:lvl2pPr>
            <a:lvl3pPr marL="1371600" lvl="2" indent="-292100" algn="l">
              <a:spcBef>
                <a:spcPts val="400"/>
              </a:spcBef>
              <a:spcAft>
                <a:spcPts val="0"/>
              </a:spcAft>
              <a:buSzPts val="1000"/>
              <a:buChar char="■"/>
              <a:defRPr sz="2000"/>
            </a:lvl3pPr>
            <a:lvl4pPr marL="1828800" lvl="3" indent="-291464" algn="l">
              <a:spcBef>
                <a:spcPts val="360"/>
              </a:spcBef>
              <a:spcAft>
                <a:spcPts val="0"/>
              </a:spcAft>
              <a:buSzPts val="990"/>
              <a:buChar char="■"/>
              <a:defRPr sz="1800"/>
            </a:lvl4pPr>
            <a:lvl5pPr marL="2286000" lvl="4" indent="-285750" algn="l">
              <a:spcBef>
                <a:spcPts val="360"/>
              </a:spcBef>
              <a:spcAft>
                <a:spcPts val="0"/>
              </a:spcAft>
              <a:buSzPts val="900"/>
              <a:buChar char="■"/>
              <a:defRPr sz="1800"/>
            </a:lvl5pPr>
            <a:lvl6pPr marL="2743200" lvl="5" indent="-285750" algn="l">
              <a:spcBef>
                <a:spcPts val="360"/>
              </a:spcBef>
              <a:spcAft>
                <a:spcPts val="0"/>
              </a:spcAft>
              <a:buSzPts val="900"/>
              <a:buChar char="■"/>
              <a:defRPr sz="1800"/>
            </a:lvl6pPr>
            <a:lvl7pPr marL="3200400" lvl="6" indent="-285750" algn="l">
              <a:spcBef>
                <a:spcPts val="360"/>
              </a:spcBef>
              <a:spcAft>
                <a:spcPts val="0"/>
              </a:spcAft>
              <a:buSzPts val="900"/>
              <a:buChar char="■"/>
              <a:defRPr sz="1800"/>
            </a:lvl7pPr>
            <a:lvl8pPr marL="3657600" lvl="7" indent="-285750" algn="l">
              <a:spcBef>
                <a:spcPts val="360"/>
              </a:spcBef>
              <a:spcAft>
                <a:spcPts val="0"/>
              </a:spcAft>
              <a:buSzPts val="900"/>
              <a:buChar char="■"/>
              <a:defRPr sz="1800"/>
            </a:lvl8pPr>
            <a:lvl9pPr marL="4114800" lvl="8" indent="-285750" algn="l">
              <a:spcBef>
                <a:spcPts val="360"/>
              </a:spcBef>
              <a:spcAft>
                <a:spcPts val="0"/>
              </a:spcAft>
              <a:buSzPts val="900"/>
              <a:buChar char="■"/>
              <a:defRPr sz="1800"/>
            </a:lvl9pPr>
          </a:lstStyle>
          <a:p>
            <a:endParaRPr/>
          </a:p>
        </p:txBody>
      </p:sp>
      <p:sp>
        <p:nvSpPr>
          <p:cNvPr id="57" name="Google Shape;57;p10"/>
          <p:cNvSpPr txBox="1">
            <a:spLocks noGrp="1"/>
          </p:cNvSpPr>
          <p:nvPr>
            <p:ph type="body" idx="2"/>
          </p:nvPr>
        </p:nvSpPr>
        <p:spPr>
          <a:xfrm>
            <a:off x="4462463" y="1600200"/>
            <a:ext cx="4071937" cy="4572000"/>
          </a:xfrm>
          <a:prstGeom prst="rect">
            <a:avLst/>
          </a:prstGeom>
          <a:noFill/>
          <a:ln>
            <a:noFill/>
          </a:ln>
        </p:spPr>
        <p:txBody>
          <a:bodyPr spcFirstLastPara="1" wrap="square" lIns="91425" tIns="45700" rIns="0" bIns="45700" anchor="t" anchorCtr="0">
            <a:noAutofit/>
          </a:bodyPr>
          <a:lstStyle>
            <a:lvl1pPr marL="457200" lvl="0" indent="-335280" algn="l">
              <a:spcBef>
                <a:spcPts val="560"/>
              </a:spcBef>
              <a:spcAft>
                <a:spcPts val="0"/>
              </a:spcAft>
              <a:buSzPts val="1680"/>
              <a:buChar char="■"/>
              <a:defRPr sz="2800"/>
            </a:lvl1pPr>
            <a:lvl2pPr marL="914400" lvl="1" indent="-312419" algn="l">
              <a:spcBef>
                <a:spcPts val="480"/>
              </a:spcBef>
              <a:spcAft>
                <a:spcPts val="0"/>
              </a:spcAft>
              <a:buSzPts val="1320"/>
              <a:buChar char="■"/>
              <a:defRPr sz="2400"/>
            </a:lvl2pPr>
            <a:lvl3pPr marL="1371600" lvl="2" indent="-292100" algn="l">
              <a:spcBef>
                <a:spcPts val="400"/>
              </a:spcBef>
              <a:spcAft>
                <a:spcPts val="0"/>
              </a:spcAft>
              <a:buSzPts val="1000"/>
              <a:buChar char="■"/>
              <a:defRPr sz="2000"/>
            </a:lvl3pPr>
            <a:lvl4pPr marL="1828800" lvl="3" indent="-291464" algn="l">
              <a:spcBef>
                <a:spcPts val="360"/>
              </a:spcBef>
              <a:spcAft>
                <a:spcPts val="0"/>
              </a:spcAft>
              <a:buSzPts val="990"/>
              <a:buChar char="■"/>
              <a:defRPr sz="1800"/>
            </a:lvl4pPr>
            <a:lvl5pPr marL="2286000" lvl="4" indent="-285750" algn="l">
              <a:spcBef>
                <a:spcPts val="360"/>
              </a:spcBef>
              <a:spcAft>
                <a:spcPts val="0"/>
              </a:spcAft>
              <a:buSzPts val="900"/>
              <a:buChar char="■"/>
              <a:defRPr sz="1800"/>
            </a:lvl5pPr>
            <a:lvl6pPr marL="2743200" lvl="5" indent="-285750" algn="l">
              <a:spcBef>
                <a:spcPts val="360"/>
              </a:spcBef>
              <a:spcAft>
                <a:spcPts val="0"/>
              </a:spcAft>
              <a:buSzPts val="900"/>
              <a:buChar char="■"/>
              <a:defRPr sz="1800"/>
            </a:lvl6pPr>
            <a:lvl7pPr marL="3200400" lvl="6" indent="-285750" algn="l">
              <a:spcBef>
                <a:spcPts val="360"/>
              </a:spcBef>
              <a:spcAft>
                <a:spcPts val="0"/>
              </a:spcAft>
              <a:buSzPts val="900"/>
              <a:buChar char="■"/>
              <a:defRPr sz="1800"/>
            </a:lvl7pPr>
            <a:lvl8pPr marL="3657600" lvl="7" indent="-285750" algn="l">
              <a:spcBef>
                <a:spcPts val="360"/>
              </a:spcBef>
              <a:spcAft>
                <a:spcPts val="0"/>
              </a:spcAft>
              <a:buSzPts val="900"/>
              <a:buChar char="■"/>
              <a:defRPr sz="1800"/>
            </a:lvl8pPr>
            <a:lvl9pPr marL="4114800" lvl="8" indent="-285750" algn="l">
              <a:spcBef>
                <a:spcPts val="360"/>
              </a:spcBef>
              <a:spcAft>
                <a:spcPts val="0"/>
              </a:spcAft>
              <a:buSzPts val="900"/>
              <a:buChar char="■"/>
              <a:defRPr sz="1800"/>
            </a:lvl9pPr>
          </a:lstStyle>
          <a:p>
            <a:endParaRPr/>
          </a:p>
        </p:txBody>
      </p:sp>
      <p:sp>
        <p:nvSpPr>
          <p:cNvPr id="58" name="Google Shape;58;p10"/>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0" bIns="45700" anchor="b" anchorCtr="0">
            <a:noAutofit/>
          </a:bodyPr>
          <a:lstStyle>
            <a:lvl1pPr marL="457200" lvl="0" indent="-228600" algn="l">
              <a:spcBef>
                <a:spcPts val="400"/>
              </a:spcBef>
              <a:spcAft>
                <a:spcPts val="0"/>
              </a:spcAft>
              <a:buSzPts val="1200"/>
              <a:buNone/>
              <a:defRPr sz="2000"/>
            </a:lvl1pPr>
            <a:lvl2pPr marL="914400" lvl="1" indent="-228600" algn="l">
              <a:spcBef>
                <a:spcPts val="360"/>
              </a:spcBef>
              <a:spcAft>
                <a:spcPts val="0"/>
              </a:spcAft>
              <a:buSzPts val="990"/>
              <a:buNone/>
              <a:defRPr sz="1800"/>
            </a:lvl2pPr>
            <a:lvl3pPr marL="1371600" lvl="2" indent="-228600" algn="l">
              <a:spcBef>
                <a:spcPts val="320"/>
              </a:spcBef>
              <a:spcAft>
                <a:spcPts val="0"/>
              </a:spcAft>
              <a:buSzPts val="800"/>
              <a:buNone/>
              <a:defRPr sz="1600"/>
            </a:lvl3pPr>
            <a:lvl4pPr marL="1828800" lvl="3" indent="-228600" algn="l">
              <a:spcBef>
                <a:spcPts val="280"/>
              </a:spcBef>
              <a:spcAft>
                <a:spcPts val="0"/>
              </a:spcAft>
              <a:buSzPts val="770"/>
              <a:buNone/>
              <a:defRPr sz="1400"/>
            </a:lvl4pPr>
            <a:lvl5pPr marL="2286000" lvl="4" indent="-228600" algn="l">
              <a:spcBef>
                <a:spcPts val="280"/>
              </a:spcBef>
              <a:spcAft>
                <a:spcPts val="0"/>
              </a:spcAft>
              <a:buSzPts val="700"/>
              <a:buNone/>
              <a:defRPr sz="1400"/>
            </a:lvl5pPr>
            <a:lvl6pPr marL="2743200" lvl="5" indent="-228600" algn="l">
              <a:spcBef>
                <a:spcPts val="280"/>
              </a:spcBef>
              <a:spcAft>
                <a:spcPts val="0"/>
              </a:spcAft>
              <a:buSzPts val="700"/>
              <a:buNone/>
              <a:defRPr sz="1400"/>
            </a:lvl6pPr>
            <a:lvl7pPr marL="3200400" lvl="6" indent="-228600" algn="l">
              <a:spcBef>
                <a:spcPts val="280"/>
              </a:spcBef>
              <a:spcAft>
                <a:spcPts val="0"/>
              </a:spcAft>
              <a:buSzPts val="700"/>
              <a:buNone/>
              <a:defRPr sz="1400"/>
            </a:lvl7pPr>
            <a:lvl8pPr marL="3657600" lvl="7" indent="-228600" algn="l">
              <a:spcBef>
                <a:spcPts val="280"/>
              </a:spcBef>
              <a:spcAft>
                <a:spcPts val="0"/>
              </a:spcAft>
              <a:buSzPts val="700"/>
              <a:buNone/>
              <a:defRPr sz="1400"/>
            </a:lvl8pPr>
            <a:lvl9pPr marL="4114800" lvl="8" indent="-228600" algn="l">
              <a:spcBef>
                <a:spcPts val="280"/>
              </a:spcBef>
              <a:spcAft>
                <a:spcPts val="0"/>
              </a:spcAft>
              <a:buSzPts val="700"/>
              <a:buNone/>
              <a:defRPr sz="1400"/>
            </a:lvl9pPr>
          </a:lstStyle>
          <a:p>
            <a:endParaRPr/>
          </a:p>
        </p:txBody>
      </p:sp>
      <p:sp>
        <p:nvSpPr>
          <p:cNvPr id="62" name="Google Shape;62;p11"/>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15-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2"/>
        <p:cNvGrpSpPr/>
        <p:nvPr/>
      </p:nvGrpSpPr>
      <p:grpSpPr>
        <a:xfrm>
          <a:off x="0" y="0"/>
          <a:ext cx="0" cy="0"/>
          <a:chOff x="0" y="0"/>
          <a:chExt cx="0" cy="0"/>
        </a:xfrm>
      </p:grpSpPr>
      <p:sp>
        <p:nvSpPr>
          <p:cNvPr id="73" name="Google Shape;73;p13" descr="Pink tissue paper"/>
          <p:cNvSpPr txBox="1">
            <a:spLocks noGrp="1"/>
          </p:cNvSpPr>
          <p:nvPr>
            <p:ph type="ctrTitle"/>
          </p:nvPr>
        </p:nvSpPr>
        <p:spPr>
          <a:xfrm>
            <a:off x="228600" y="152400"/>
            <a:ext cx="7086600" cy="2286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6600">
                <a:solidFill>
                  <a:srgbClr val="99003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3" descr="Pink tissue paper"/>
          <p:cNvSpPr txBox="1">
            <a:spLocks noGrp="1"/>
          </p:cNvSpPr>
          <p:nvPr>
            <p:ph type="subTitle" idx="1"/>
          </p:nvPr>
        </p:nvSpPr>
        <p:spPr>
          <a:xfrm>
            <a:off x="304800" y="2590800"/>
            <a:ext cx="6629400" cy="1905000"/>
          </a:xfrm>
          <a:prstGeom prst="rect">
            <a:avLst/>
          </a:prstGeom>
          <a:noFill/>
          <a:ln>
            <a:noFill/>
          </a:ln>
        </p:spPr>
        <p:txBody>
          <a:bodyPr spcFirstLastPara="1" wrap="square" lIns="91425" tIns="45700" rIns="0" bIns="45700" anchor="t" anchorCtr="0">
            <a:noAutofit/>
          </a:bodyPr>
          <a:lstStyle>
            <a:lvl1pPr lvl="0" algn="l">
              <a:spcBef>
                <a:spcPts val="640"/>
              </a:spcBef>
              <a:spcAft>
                <a:spcPts val="0"/>
              </a:spcAft>
              <a:buSzPts val="1920"/>
              <a:buFont typeface="Noto Sans Symbols"/>
              <a:buNone/>
              <a:defRPr sz="3200"/>
            </a:lvl1pPr>
            <a:lvl2pPr lvl="1" algn="l">
              <a:spcBef>
                <a:spcPts val="360"/>
              </a:spcBef>
              <a:spcAft>
                <a:spcPts val="0"/>
              </a:spcAft>
              <a:buSzPts val="990"/>
              <a:buChar char="■"/>
              <a:defRPr/>
            </a:lvl2pPr>
            <a:lvl3pPr lvl="2" algn="l">
              <a:spcBef>
                <a:spcPts val="360"/>
              </a:spcBef>
              <a:spcAft>
                <a:spcPts val="0"/>
              </a:spcAft>
              <a:buSzPts val="900"/>
              <a:buChar char="■"/>
              <a:defRPr/>
            </a:lvl3pPr>
            <a:lvl4pPr lvl="3" algn="l">
              <a:spcBef>
                <a:spcPts val="360"/>
              </a:spcBef>
              <a:spcAft>
                <a:spcPts val="0"/>
              </a:spcAft>
              <a:buSzPts val="990"/>
              <a:buChar char="■"/>
              <a:defRPr/>
            </a:lvl4pPr>
            <a:lvl5pPr lvl="4" algn="l">
              <a:spcBef>
                <a:spcPts val="360"/>
              </a:spcBef>
              <a:spcAft>
                <a:spcPts val="0"/>
              </a:spcAft>
              <a:buSzPts val="900"/>
              <a:buChar char="■"/>
              <a:defRPr/>
            </a:lvl5pPr>
            <a:lvl6pPr lvl="5" algn="l">
              <a:spcBef>
                <a:spcPts val="360"/>
              </a:spcBef>
              <a:spcAft>
                <a:spcPts val="0"/>
              </a:spcAft>
              <a:buSzPts val="900"/>
              <a:buChar char="■"/>
              <a:defRPr/>
            </a:lvl6pPr>
            <a:lvl7pPr lvl="6" algn="l">
              <a:spcBef>
                <a:spcPts val="360"/>
              </a:spcBef>
              <a:spcAft>
                <a:spcPts val="0"/>
              </a:spcAft>
              <a:buSzPts val="900"/>
              <a:buChar char="■"/>
              <a:defRPr/>
            </a:lvl7pPr>
            <a:lvl8pPr lvl="7" algn="l">
              <a:spcBef>
                <a:spcPts val="360"/>
              </a:spcBef>
              <a:spcAft>
                <a:spcPts val="0"/>
              </a:spcAft>
              <a:buSzPts val="900"/>
              <a:buChar char="■"/>
              <a:defRPr/>
            </a:lvl8pPr>
            <a:lvl9pPr lvl="8" algn="l">
              <a:spcBef>
                <a:spcPts val="360"/>
              </a:spcBef>
              <a:spcAft>
                <a:spcPts val="0"/>
              </a:spcAft>
              <a:buSzPts val="900"/>
              <a:buChar char="■"/>
              <a:defRPr/>
            </a:lvl9pPr>
          </a:lstStyle>
          <a:p>
            <a:endParaRPr/>
          </a:p>
        </p:txBody>
      </p:sp>
      <p:sp>
        <p:nvSpPr>
          <p:cNvPr id="75" name="Google Shape;75;p13"/>
          <p:cNvSpPr txBox="1">
            <a:spLocks noGrp="1"/>
          </p:cNvSpPr>
          <p:nvPr>
            <p:ph type="ftr" idx="11"/>
          </p:nvPr>
        </p:nvSpPr>
        <p:spPr>
          <a:xfrm>
            <a:off x="838200" y="6397625"/>
            <a:ext cx="4495800" cy="457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1.xml"/><Relationship Id="rId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8936037" y="1449387"/>
            <a:ext cx="207962" cy="5408612"/>
            <a:chOff x="5606" y="889"/>
            <a:chExt cx="154" cy="3431"/>
          </a:xfrm>
        </p:grpSpPr>
        <p:sp>
          <p:nvSpPr>
            <p:cNvPr id="11" name="Google Shape;11;p1"/>
            <p:cNvSpPr txBox="1"/>
            <p:nvPr/>
          </p:nvSpPr>
          <p:spPr>
            <a:xfrm flipH="1">
              <a:off x="5685" y="889"/>
              <a:ext cx="75" cy="3431"/>
            </a:xfrm>
            <a:prstGeom prst="rect">
              <a:avLst/>
            </a:prstGeom>
            <a:solidFill>
              <a:srgbClr val="67722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grpSp>
          <p:nvGrpSpPr>
            <p:cNvPr id="12" name="Google Shape;12;p1"/>
            <p:cNvGrpSpPr/>
            <p:nvPr/>
          </p:nvGrpSpPr>
          <p:grpSpPr>
            <a:xfrm>
              <a:off x="5606" y="889"/>
              <a:ext cx="106" cy="3431"/>
              <a:chOff x="5606" y="889"/>
              <a:chExt cx="106" cy="3431"/>
            </a:xfrm>
          </p:grpSpPr>
          <p:sp>
            <p:nvSpPr>
              <p:cNvPr id="13" name="Google Shape;13;p1"/>
              <p:cNvSpPr txBox="1"/>
              <p:nvPr/>
            </p:nvSpPr>
            <p:spPr>
              <a:xfrm rot="10800000" flipH="1">
                <a:off x="5606" y="889"/>
                <a:ext cx="58" cy="3431"/>
              </a:xfrm>
              <a:prstGeom prst="rect">
                <a:avLst/>
              </a:prstGeom>
              <a:solidFill>
                <a:schemeClr val="dk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14" name="Google Shape;14;p1"/>
              <p:cNvSpPr txBox="1"/>
              <p:nvPr/>
            </p:nvSpPr>
            <p:spPr>
              <a:xfrm rot="10800000" flipH="1">
                <a:off x="5654" y="889"/>
                <a:ext cx="58" cy="3431"/>
              </a:xfrm>
              <a:prstGeom prst="rect">
                <a:avLst/>
              </a:prstGeom>
              <a:solidFill>
                <a:srgbClr val="99003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grpSp>
      </p:grpSp>
      <p:sp>
        <p:nvSpPr>
          <p:cNvPr id="15" name="Google Shape;15;p1"/>
          <p:cNvSpPr txBox="1"/>
          <p:nvPr/>
        </p:nvSpPr>
        <p:spPr>
          <a:xfrm>
            <a:off x="-1" y="1"/>
            <a:ext cx="9140825" cy="1449387"/>
          </a:xfrm>
          <a:prstGeom prst="rect">
            <a:avLst/>
          </a:prstGeom>
          <a:solidFill>
            <a:srgbClr val="677228">
              <a:alpha val="35686"/>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16" name="Google Shape;16;p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600" b="0" i="0" u="none" strike="noStrike" cap="none">
                <a:solidFill>
                  <a:srgbClr val="800000"/>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rgbClr val="800000"/>
                </a:solidFill>
                <a:latin typeface="Arial"/>
                <a:ea typeface="Arial"/>
                <a:cs typeface="Arial"/>
                <a:sym typeface="Arial"/>
              </a:defRPr>
            </a:lvl2pPr>
            <a:lvl3pPr marR="0" lvl="2" algn="l" rtl="0">
              <a:spcBef>
                <a:spcPts val="0"/>
              </a:spcBef>
              <a:spcAft>
                <a:spcPts val="0"/>
              </a:spcAft>
              <a:buSzPts val="1400"/>
              <a:buNone/>
              <a:defRPr sz="3600" b="0" i="0" u="none" strike="noStrike" cap="none">
                <a:solidFill>
                  <a:srgbClr val="800000"/>
                </a:solidFill>
                <a:latin typeface="Arial"/>
                <a:ea typeface="Arial"/>
                <a:cs typeface="Arial"/>
                <a:sym typeface="Arial"/>
              </a:defRPr>
            </a:lvl3pPr>
            <a:lvl4pPr marR="0" lvl="3" algn="l" rtl="0">
              <a:spcBef>
                <a:spcPts val="0"/>
              </a:spcBef>
              <a:spcAft>
                <a:spcPts val="0"/>
              </a:spcAft>
              <a:buSzPts val="1400"/>
              <a:buNone/>
              <a:defRPr sz="3600" b="0" i="0" u="none" strike="noStrike" cap="none">
                <a:solidFill>
                  <a:srgbClr val="800000"/>
                </a:solidFill>
                <a:latin typeface="Arial"/>
                <a:ea typeface="Arial"/>
                <a:cs typeface="Arial"/>
                <a:sym typeface="Arial"/>
              </a:defRPr>
            </a:lvl4pPr>
            <a:lvl5pPr marR="0" lvl="4" algn="l" rtl="0">
              <a:spcBef>
                <a:spcPts val="0"/>
              </a:spcBef>
              <a:spcAft>
                <a:spcPts val="0"/>
              </a:spcAft>
              <a:buSzPts val="1400"/>
              <a:buNone/>
              <a:defRPr sz="3600" b="0" i="0" u="none" strike="noStrike" cap="none">
                <a:solidFill>
                  <a:srgbClr val="800000"/>
                </a:solidFill>
                <a:latin typeface="Arial"/>
                <a:ea typeface="Arial"/>
                <a:cs typeface="Arial"/>
                <a:sym typeface="Arial"/>
              </a:defRPr>
            </a:lvl5pPr>
            <a:lvl6pPr marR="0" lvl="5" algn="l" rtl="0">
              <a:spcBef>
                <a:spcPts val="0"/>
              </a:spcBef>
              <a:spcAft>
                <a:spcPts val="0"/>
              </a:spcAft>
              <a:buSzPts val="1400"/>
              <a:buNone/>
              <a:defRPr sz="3600" b="0" i="0" u="none" strike="noStrike" cap="none">
                <a:solidFill>
                  <a:srgbClr val="800000"/>
                </a:solidFill>
                <a:latin typeface="Arial"/>
                <a:ea typeface="Arial"/>
                <a:cs typeface="Arial"/>
                <a:sym typeface="Arial"/>
              </a:defRPr>
            </a:lvl6pPr>
            <a:lvl7pPr marR="0" lvl="6" algn="l" rtl="0">
              <a:spcBef>
                <a:spcPts val="0"/>
              </a:spcBef>
              <a:spcAft>
                <a:spcPts val="0"/>
              </a:spcAft>
              <a:buSzPts val="1400"/>
              <a:buNone/>
              <a:defRPr sz="3600" b="0" i="0" u="none" strike="noStrike" cap="none">
                <a:solidFill>
                  <a:srgbClr val="800000"/>
                </a:solidFill>
                <a:latin typeface="Arial"/>
                <a:ea typeface="Arial"/>
                <a:cs typeface="Arial"/>
                <a:sym typeface="Arial"/>
              </a:defRPr>
            </a:lvl7pPr>
            <a:lvl8pPr marR="0" lvl="7" algn="l" rtl="0">
              <a:spcBef>
                <a:spcPts val="0"/>
              </a:spcBef>
              <a:spcAft>
                <a:spcPts val="0"/>
              </a:spcAft>
              <a:buSzPts val="1400"/>
              <a:buNone/>
              <a:defRPr sz="3600" b="0" i="0" u="none" strike="noStrike" cap="none">
                <a:solidFill>
                  <a:srgbClr val="800000"/>
                </a:solidFill>
                <a:latin typeface="Arial"/>
                <a:ea typeface="Arial"/>
                <a:cs typeface="Arial"/>
                <a:sym typeface="Arial"/>
              </a:defRPr>
            </a:lvl8pPr>
            <a:lvl9pPr marR="0" lvl="8" algn="l" rtl="0">
              <a:spcBef>
                <a:spcPts val="0"/>
              </a:spcBef>
              <a:spcAft>
                <a:spcPts val="0"/>
              </a:spcAft>
              <a:buSzPts val="1400"/>
              <a:buNone/>
              <a:defRPr sz="3600" b="0" i="0" u="none" strike="noStrike" cap="none">
                <a:solidFill>
                  <a:srgbClr val="800000"/>
                </a:solidFill>
                <a:latin typeface="Arial"/>
                <a:ea typeface="Arial"/>
                <a:cs typeface="Arial"/>
                <a:sym typeface="Arial"/>
              </a:defRPr>
            </a:lvl9pPr>
          </a:lstStyle>
          <a:p>
            <a:endParaRPr/>
          </a:p>
        </p:txBody>
      </p:sp>
      <p:sp>
        <p:nvSpPr>
          <p:cNvPr id="17" name="Google Shape;17;p1"/>
          <p:cNvSpPr txBox="1">
            <a:spLocks noGrp="1"/>
          </p:cNvSpPr>
          <p:nvPr>
            <p:ph type="sldNum" idx="12"/>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1pPr>
            <a:lvl2pPr marL="0" marR="0" lvl="1"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2pPr>
            <a:lvl3pPr marL="0" marR="0" lvl="2"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3pPr>
            <a:lvl4pPr marL="0" marR="0" lvl="3"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4pPr>
            <a:lvl5pPr marL="0" marR="0" lvl="4"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5pPr>
            <a:lvl6pPr marL="0" marR="0" lvl="5"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6pPr>
            <a:lvl7pPr marL="0" marR="0" lvl="6"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7pPr>
            <a:lvl8pPr marL="0" marR="0" lvl="7"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8pPr>
            <a:lvl9pPr marL="0" marR="0" lvl="8" indent="0" algn="r" rtl="0">
              <a:lnSpc>
                <a:spcPct val="100000"/>
              </a:lnSpc>
              <a:spcBef>
                <a:spcPts val="0"/>
              </a:spcBef>
              <a:spcAft>
                <a:spcPts val="0"/>
              </a:spcAft>
              <a:buClr>
                <a:srgbClr val="990033"/>
              </a:buClr>
              <a:buSzPts val="1400"/>
              <a:buFont typeface="Arial"/>
              <a:buNone/>
              <a:defRPr sz="1400" b="1" i="0" u="none">
                <a:solidFill>
                  <a:srgbClr val="990033"/>
                </a:solidFill>
                <a:latin typeface="Arial"/>
                <a:ea typeface="Arial"/>
                <a:cs typeface="Arial"/>
                <a:sym typeface="Arial"/>
              </a:defRPr>
            </a:lvl9pPr>
          </a:lstStyle>
          <a:p>
            <a:pPr marL="0" lvl="0" indent="0" algn="r" rtl="0">
              <a:spcBef>
                <a:spcPts val="0"/>
              </a:spcBef>
              <a:spcAft>
                <a:spcPts val="0"/>
              </a:spcAft>
              <a:buNone/>
            </a:pPr>
            <a:r>
              <a:rPr lang="en-US"/>
              <a:t>Slide 15- </a:t>
            </a:r>
            <a:fld id="{00000000-1234-1234-1234-123412341234}" type="slidenum">
              <a:rPr lang="en-US"/>
              <a:t>‹#›</a:t>
            </a:fld>
            <a:endParaRPr b="0">
              <a:solidFill>
                <a:srgbClr val="000000"/>
              </a:solidFill>
            </a:endParaRPr>
          </a:p>
        </p:txBody>
      </p:sp>
      <p:sp>
        <p:nvSpPr>
          <p:cNvPr id="18" name="Google Shape;18;p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lvl1pPr marL="457200" marR="0" lvl="0" indent="-335280" algn="l" rtl="0">
              <a:spcBef>
                <a:spcPts val="560"/>
              </a:spcBef>
              <a:spcAft>
                <a:spcPts val="0"/>
              </a:spcAft>
              <a:buClr>
                <a:srgbClr val="990033"/>
              </a:buClr>
              <a:buSzPts val="1680"/>
              <a:buFont typeface="Noto Sans Symbols"/>
              <a:buChar char="■"/>
              <a:defRPr sz="2800" b="0" i="0" u="none" strike="noStrike" cap="none">
                <a:solidFill>
                  <a:schemeClr val="dk2"/>
                </a:solidFill>
                <a:latin typeface="Arial"/>
                <a:ea typeface="Arial"/>
                <a:cs typeface="Arial"/>
                <a:sym typeface="Arial"/>
              </a:defRPr>
            </a:lvl1pPr>
            <a:lvl2pPr marL="914400" marR="0" lvl="1" indent="-319405" algn="l" rtl="0">
              <a:spcBef>
                <a:spcPts val="520"/>
              </a:spcBef>
              <a:spcAft>
                <a:spcPts val="0"/>
              </a:spcAft>
              <a:buClr>
                <a:schemeClr val="dk2"/>
              </a:buClr>
              <a:buSzPts val="1430"/>
              <a:buFont typeface="Noto Sans Symbols"/>
              <a:buChar char="■"/>
              <a:defRPr sz="2600" b="0" i="0" u="none" strike="noStrike" cap="none">
                <a:solidFill>
                  <a:srgbClr val="800000"/>
                </a:solidFill>
                <a:latin typeface="Arial"/>
                <a:ea typeface="Arial"/>
                <a:cs typeface="Arial"/>
                <a:sym typeface="Arial"/>
              </a:defRPr>
            </a:lvl2pPr>
            <a:lvl3pPr marL="1371600" marR="0" lvl="2" indent="-304800" algn="l" rtl="0">
              <a:spcBef>
                <a:spcPts val="480"/>
              </a:spcBef>
              <a:spcAft>
                <a:spcPts val="0"/>
              </a:spcAft>
              <a:buClr>
                <a:srgbClr val="990033"/>
              </a:buClr>
              <a:buSzPts val="1200"/>
              <a:buFont typeface="Noto Sans Symbols"/>
              <a:buChar char="■"/>
              <a:defRPr sz="2400" b="0" i="0" u="none" strike="noStrike" cap="none">
                <a:solidFill>
                  <a:schemeClr val="dk2"/>
                </a:solidFill>
                <a:latin typeface="Arial"/>
                <a:ea typeface="Arial"/>
                <a:cs typeface="Arial"/>
                <a:sym typeface="Arial"/>
              </a:defRPr>
            </a:lvl3pPr>
            <a:lvl4pPr marL="1828800" marR="0" lvl="3" indent="-298450" algn="l" rtl="0">
              <a:spcBef>
                <a:spcPts val="400"/>
              </a:spcBef>
              <a:spcAft>
                <a:spcPts val="0"/>
              </a:spcAft>
              <a:buClr>
                <a:schemeClr val="dk2"/>
              </a:buClr>
              <a:buSzPts val="1100"/>
              <a:buFont typeface="Noto Sans Symbols"/>
              <a:buChar char="■"/>
              <a:defRPr sz="2000" b="0" i="0" u="none" strike="noStrike" cap="none">
                <a:solidFill>
                  <a:srgbClr val="800000"/>
                </a:solidFill>
                <a:latin typeface="Arial"/>
                <a:ea typeface="Arial"/>
                <a:cs typeface="Arial"/>
                <a:sym typeface="Arial"/>
              </a:defRPr>
            </a:lvl4pPr>
            <a:lvl5pPr marL="2286000" marR="0" lvl="4"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5pPr>
            <a:lvl6pPr marL="2743200" marR="0" lvl="5"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6pPr>
            <a:lvl7pPr marL="3200400" marR="0" lvl="6"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7pPr>
            <a:lvl8pPr marL="3657600" marR="0" lvl="7"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8pPr>
            <a:lvl9pPr marL="4114800" marR="0" lvl="8"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9pPr>
          </a:lstStyle>
          <a:p>
            <a:endParaRPr/>
          </a:p>
        </p:txBody>
      </p:sp>
      <p:sp>
        <p:nvSpPr>
          <p:cNvPr id="19" name="Google Shape;19;p1"/>
          <p:cNvSpPr txBox="1"/>
          <p:nvPr/>
        </p:nvSpPr>
        <p:spPr>
          <a:xfrm>
            <a:off x="838200" y="6397625"/>
            <a:ext cx="4495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900"/>
              <a:buFont typeface="Arial"/>
              <a:buNone/>
            </a:pPr>
            <a:r>
              <a:rPr lang="en-US" sz="900" b="0" i="0" u="none">
                <a:solidFill>
                  <a:schemeClr val="dk1"/>
                </a:solidFill>
                <a:latin typeface="Arial"/>
                <a:ea typeface="Arial"/>
                <a:cs typeface="Arial"/>
                <a:sym typeface="Arial"/>
              </a:rPr>
              <a:t>Copyright © 2007 </a:t>
            </a:r>
            <a:r>
              <a:rPr lang="en-US" sz="900" b="0" i="0" u="none">
                <a:solidFill>
                  <a:srgbClr val="000000"/>
                </a:solidFill>
                <a:latin typeface="Arial"/>
                <a:ea typeface="Arial"/>
                <a:cs typeface="Arial"/>
                <a:sym typeface="Arial"/>
              </a:rPr>
              <a:t>Ramez Elmasri and Shamkant B. Navathe</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3"/>
        <p:cNvGrpSpPr/>
        <p:nvPr/>
      </p:nvGrpSpPr>
      <p:grpSpPr>
        <a:xfrm>
          <a:off x="0" y="0"/>
          <a:ext cx="0" cy="0"/>
          <a:chOff x="0" y="0"/>
          <a:chExt cx="0" cy="0"/>
        </a:xfrm>
      </p:grpSpPr>
      <p:sp>
        <p:nvSpPr>
          <p:cNvPr id="64" name="Google Shape;64;p12"/>
          <p:cNvSpPr txBox="1"/>
          <p:nvPr/>
        </p:nvSpPr>
        <p:spPr>
          <a:xfrm>
            <a:off x="8305800" y="0"/>
            <a:ext cx="609600" cy="6858000"/>
          </a:xfrm>
          <a:prstGeom prst="rect">
            <a:avLst/>
          </a:prstGeom>
          <a:gradFill>
            <a:gsLst>
              <a:gs pos="0">
                <a:srgbClr val="677228">
                  <a:alpha val="43921"/>
                </a:srgbClr>
              </a:gs>
              <a:gs pos="100000">
                <a:srgbClr val="5A6423"/>
              </a:gs>
            </a:gsLst>
            <a:lin ang="54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65" name="Google Shape;65;p12"/>
          <p:cNvSpPr txBox="1"/>
          <p:nvPr/>
        </p:nvSpPr>
        <p:spPr>
          <a:xfrm rot="-5400000">
            <a:off x="3500437" y="-985837"/>
            <a:ext cx="2143125" cy="9144000"/>
          </a:xfrm>
          <a:prstGeom prst="rect">
            <a:avLst/>
          </a:prstGeom>
          <a:solidFill>
            <a:srgbClr val="677228">
              <a:alpha val="43529"/>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66" name="Google Shape;66;p12"/>
          <p:cNvSpPr txBox="1"/>
          <p:nvPr/>
        </p:nvSpPr>
        <p:spPr>
          <a:xfrm>
            <a:off x="7315200" y="2438400"/>
            <a:ext cx="1828800" cy="2290762"/>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pic>
        <p:nvPicPr>
          <p:cNvPr id="67" name="Google Shape;67;p12" descr="awtri_4c UPDATE_color"/>
          <p:cNvPicPr preferRelativeResize="0"/>
          <p:nvPr/>
        </p:nvPicPr>
        <p:blipFill rotWithShape="1">
          <a:blip r:embed="rId3">
            <a:alphaModFix/>
          </a:blip>
          <a:srcRect/>
          <a:stretch/>
        </p:blipFill>
        <p:spPr>
          <a:xfrm>
            <a:off x="76200" y="5949950"/>
            <a:ext cx="684212" cy="831850"/>
          </a:xfrm>
          <a:prstGeom prst="rect">
            <a:avLst/>
          </a:prstGeom>
          <a:noFill/>
          <a:ln>
            <a:noFill/>
          </a:ln>
        </p:spPr>
      </p:pic>
      <p:pic>
        <p:nvPicPr>
          <p:cNvPr id="68" name="Google Shape;68;p12" descr="elmasri_thumb"/>
          <p:cNvPicPr preferRelativeResize="0"/>
          <p:nvPr/>
        </p:nvPicPr>
        <p:blipFill rotWithShape="1">
          <a:blip r:embed="rId4">
            <a:alphaModFix/>
          </a:blip>
          <a:srcRect/>
          <a:stretch/>
        </p:blipFill>
        <p:spPr>
          <a:xfrm>
            <a:off x="7419975" y="2514600"/>
            <a:ext cx="1724025" cy="2143125"/>
          </a:xfrm>
          <a:prstGeom prst="rect">
            <a:avLst/>
          </a:prstGeom>
          <a:noFill/>
          <a:ln>
            <a:noFill/>
          </a:ln>
        </p:spPr>
      </p:pic>
      <p:sp>
        <p:nvSpPr>
          <p:cNvPr id="69" name="Google Shape;69;p1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600" b="0" i="0" u="none" strike="noStrike" cap="none">
                <a:solidFill>
                  <a:srgbClr val="800000"/>
                </a:solidFill>
                <a:latin typeface="Arial"/>
                <a:ea typeface="Arial"/>
                <a:cs typeface="Arial"/>
                <a:sym typeface="Arial"/>
              </a:defRPr>
            </a:lvl1pPr>
            <a:lvl2pPr marR="0" lvl="1" algn="l" rtl="0">
              <a:spcBef>
                <a:spcPts val="0"/>
              </a:spcBef>
              <a:spcAft>
                <a:spcPts val="0"/>
              </a:spcAft>
              <a:buSzPts val="1400"/>
              <a:buNone/>
              <a:defRPr sz="3600" b="0" i="0" u="none" strike="noStrike" cap="none">
                <a:solidFill>
                  <a:srgbClr val="800000"/>
                </a:solidFill>
                <a:latin typeface="Arial"/>
                <a:ea typeface="Arial"/>
                <a:cs typeface="Arial"/>
                <a:sym typeface="Arial"/>
              </a:defRPr>
            </a:lvl2pPr>
            <a:lvl3pPr marR="0" lvl="2" algn="l" rtl="0">
              <a:spcBef>
                <a:spcPts val="0"/>
              </a:spcBef>
              <a:spcAft>
                <a:spcPts val="0"/>
              </a:spcAft>
              <a:buSzPts val="1400"/>
              <a:buNone/>
              <a:defRPr sz="3600" b="0" i="0" u="none" strike="noStrike" cap="none">
                <a:solidFill>
                  <a:srgbClr val="800000"/>
                </a:solidFill>
                <a:latin typeface="Arial"/>
                <a:ea typeface="Arial"/>
                <a:cs typeface="Arial"/>
                <a:sym typeface="Arial"/>
              </a:defRPr>
            </a:lvl3pPr>
            <a:lvl4pPr marR="0" lvl="3" algn="l" rtl="0">
              <a:spcBef>
                <a:spcPts val="0"/>
              </a:spcBef>
              <a:spcAft>
                <a:spcPts val="0"/>
              </a:spcAft>
              <a:buSzPts val="1400"/>
              <a:buNone/>
              <a:defRPr sz="3600" b="0" i="0" u="none" strike="noStrike" cap="none">
                <a:solidFill>
                  <a:srgbClr val="800000"/>
                </a:solidFill>
                <a:latin typeface="Arial"/>
                <a:ea typeface="Arial"/>
                <a:cs typeface="Arial"/>
                <a:sym typeface="Arial"/>
              </a:defRPr>
            </a:lvl4pPr>
            <a:lvl5pPr marR="0" lvl="4" algn="l" rtl="0">
              <a:spcBef>
                <a:spcPts val="0"/>
              </a:spcBef>
              <a:spcAft>
                <a:spcPts val="0"/>
              </a:spcAft>
              <a:buSzPts val="1400"/>
              <a:buNone/>
              <a:defRPr sz="3600" b="0" i="0" u="none" strike="noStrike" cap="none">
                <a:solidFill>
                  <a:srgbClr val="800000"/>
                </a:solidFill>
                <a:latin typeface="Arial"/>
                <a:ea typeface="Arial"/>
                <a:cs typeface="Arial"/>
                <a:sym typeface="Arial"/>
              </a:defRPr>
            </a:lvl5pPr>
            <a:lvl6pPr marR="0" lvl="5" algn="l" rtl="0">
              <a:spcBef>
                <a:spcPts val="0"/>
              </a:spcBef>
              <a:spcAft>
                <a:spcPts val="0"/>
              </a:spcAft>
              <a:buSzPts val="1400"/>
              <a:buNone/>
              <a:defRPr sz="3600" b="0" i="0" u="none" strike="noStrike" cap="none">
                <a:solidFill>
                  <a:srgbClr val="800000"/>
                </a:solidFill>
                <a:latin typeface="Arial"/>
                <a:ea typeface="Arial"/>
                <a:cs typeface="Arial"/>
                <a:sym typeface="Arial"/>
              </a:defRPr>
            </a:lvl6pPr>
            <a:lvl7pPr marR="0" lvl="6" algn="l" rtl="0">
              <a:spcBef>
                <a:spcPts val="0"/>
              </a:spcBef>
              <a:spcAft>
                <a:spcPts val="0"/>
              </a:spcAft>
              <a:buSzPts val="1400"/>
              <a:buNone/>
              <a:defRPr sz="3600" b="0" i="0" u="none" strike="noStrike" cap="none">
                <a:solidFill>
                  <a:srgbClr val="800000"/>
                </a:solidFill>
                <a:latin typeface="Arial"/>
                <a:ea typeface="Arial"/>
                <a:cs typeface="Arial"/>
                <a:sym typeface="Arial"/>
              </a:defRPr>
            </a:lvl7pPr>
            <a:lvl8pPr marR="0" lvl="7" algn="l" rtl="0">
              <a:spcBef>
                <a:spcPts val="0"/>
              </a:spcBef>
              <a:spcAft>
                <a:spcPts val="0"/>
              </a:spcAft>
              <a:buSzPts val="1400"/>
              <a:buNone/>
              <a:defRPr sz="3600" b="0" i="0" u="none" strike="noStrike" cap="none">
                <a:solidFill>
                  <a:srgbClr val="800000"/>
                </a:solidFill>
                <a:latin typeface="Arial"/>
                <a:ea typeface="Arial"/>
                <a:cs typeface="Arial"/>
                <a:sym typeface="Arial"/>
              </a:defRPr>
            </a:lvl8pPr>
            <a:lvl9pPr marR="0" lvl="8" algn="l" rtl="0">
              <a:spcBef>
                <a:spcPts val="0"/>
              </a:spcBef>
              <a:spcAft>
                <a:spcPts val="0"/>
              </a:spcAft>
              <a:buSzPts val="1400"/>
              <a:buNone/>
              <a:defRPr sz="3600" b="0" i="0" u="none" strike="noStrike" cap="none">
                <a:solidFill>
                  <a:srgbClr val="800000"/>
                </a:solidFill>
                <a:latin typeface="Arial"/>
                <a:ea typeface="Arial"/>
                <a:cs typeface="Arial"/>
                <a:sym typeface="Arial"/>
              </a:defRPr>
            </a:lvl9pPr>
          </a:lstStyle>
          <a:p>
            <a:endParaRPr/>
          </a:p>
        </p:txBody>
      </p:sp>
      <p:sp>
        <p:nvSpPr>
          <p:cNvPr id="70" name="Google Shape;70;p12"/>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lvl1pPr marL="457200" marR="0" lvl="0" indent="-335280" algn="l" rtl="0">
              <a:spcBef>
                <a:spcPts val="560"/>
              </a:spcBef>
              <a:spcAft>
                <a:spcPts val="0"/>
              </a:spcAft>
              <a:buClr>
                <a:srgbClr val="990033"/>
              </a:buClr>
              <a:buSzPts val="1680"/>
              <a:buFont typeface="Noto Sans Symbols"/>
              <a:buChar char="■"/>
              <a:defRPr sz="2800" b="0" i="0" u="none" strike="noStrike" cap="none">
                <a:solidFill>
                  <a:schemeClr val="dk2"/>
                </a:solidFill>
                <a:latin typeface="Arial"/>
                <a:ea typeface="Arial"/>
                <a:cs typeface="Arial"/>
                <a:sym typeface="Arial"/>
              </a:defRPr>
            </a:lvl1pPr>
            <a:lvl2pPr marL="914400" marR="0" lvl="1" indent="-319405" algn="l" rtl="0">
              <a:spcBef>
                <a:spcPts val="520"/>
              </a:spcBef>
              <a:spcAft>
                <a:spcPts val="0"/>
              </a:spcAft>
              <a:buClr>
                <a:schemeClr val="dk2"/>
              </a:buClr>
              <a:buSzPts val="1430"/>
              <a:buFont typeface="Noto Sans Symbols"/>
              <a:buChar char="■"/>
              <a:defRPr sz="2600" b="0" i="0" u="none" strike="noStrike" cap="none">
                <a:solidFill>
                  <a:srgbClr val="800000"/>
                </a:solidFill>
                <a:latin typeface="Arial"/>
                <a:ea typeface="Arial"/>
                <a:cs typeface="Arial"/>
                <a:sym typeface="Arial"/>
              </a:defRPr>
            </a:lvl2pPr>
            <a:lvl3pPr marL="1371600" marR="0" lvl="2" indent="-304800" algn="l" rtl="0">
              <a:spcBef>
                <a:spcPts val="480"/>
              </a:spcBef>
              <a:spcAft>
                <a:spcPts val="0"/>
              </a:spcAft>
              <a:buClr>
                <a:srgbClr val="990033"/>
              </a:buClr>
              <a:buSzPts val="1200"/>
              <a:buFont typeface="Noto Sans Symbols"/>
              <a:buChar char="■"/>
              <a:defRPr sz="2400" b="0" i="0" u="none" strike="noStrike" cap="none">
                <a:solidFill>
                  <a:schemeClr val="dk2"/>
                </a:solidFill>
                <a:latin typeface="Arial"/>
                <a:ea typeface="Arial"/>
                <a:cs typeface="Arial"/>
                <a:sym typeface="Arial"/>
              </a:defRPr>
            </a:lvl3pPr>
            <a:lvl4pPr marL="1828800" marR="0" lvl="3" indent="-298450" algn="l" rtl="0">
              <a:spcBef>
                <a:spcPts val="400"/>
              </a:spcBef>
              <a:spcAft>
                <a:spcPts val="0"/>
              </a:spcAft>
              <a:buClr>
                <a:schemeClr val="dk2"/>
              </a:buClr>
              <a:buSzPts val="1100"/>
              <a:buFont typeface="Noto Sans Symbols"/>
              <a:buChar char="■"/>
              <a:defRPr sz="2000" b="0" i="0" u="none" strike="noStrike" cap="none">
                <a:solidFill>
                  <a:srgbClr val="800000"/>
                </a:solidFill>
                <a:latin typeface="Arial"/>
                <a:ea typeface="Arial"/>
                <a:cs typeface="Arial"/>
                <a:sym typeface="Arial"/>
              </a:defRPr>
            </a:lvl4pPr>
            <a:lvl5pPr marL="2286000" marR="0" lvl="4"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5pPr>
            <a:lvl6pPr marL="2743200" marR="0" lvl="5"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6pPr>
            <a:lvl7pPr marL="3200400" marR="0" lvl="6"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7pPr>
            <a:lvl8pPr marL="3657600" marR="0" lvl="7"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8pPr>
            <a:lvl9pPr marL="4114800" marR="0" lvl="8" indent="-292100" algn="l" rtl="0">
              <a:spcBef>
                <a:spcPts val="400"/>
              </a:spcBef>
              <a:spcAft>
                <a:spcPts val="0"/>
              </a:spcAft>
              <a:buClr>
                <a:srgbClr val="990033"/>
              </a:buClr>
              <a:buSzPts val="1000"/>
              <a:buFont typeface="Noto Sans Symbols"/>
              <a:buChar char="■"/>
              <a:defRPr sz="2000" b="0" i="0" u="none" strike="noStrike" cap="none">
                <a:solidFill>
                  <a:schemeClr val="dk2"/>
                </a:solidFill>
                <a:latin typeface="Arial"/>
                <a:ea typeface="Arial"/>
                <a:cs typeface="Arial"/>
                <a:sym typeface="Arial"/>
              </a:defRPr>
            </a:lvl9pPr>
          </a:lstStyle>
          <a:p>
            <a:endParaRPr/>
          </a:p>
        </p:txBody>
      </p:sp>
      <p:sp>
        <p:nvSpPr>
          <p:cNvPr id="71" name="Google Shape;71;p12"/>
          <p:cNvSpPr txBox="1">
            <a:spLocks noGrp="1"/>
          </p:cNvSpPr>
          <p:nvPr>
            <p:ph type="ftr" idx="11"/>
          </p:nvPr>
        </p:nvSpPr>
        <p:spPr>
          <a:xfrm>
            <a:off x="838200" y="6397625"/>
            <a:ext cx="4495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9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1</a:t>
            </a:fld>
            <a:endParaRPr/>
          </a:p>
        </p:txBody>
      </p:sp>
      <p:sp>
        <p:nvSpPr>
          <p:cNvPr id="82" name="Google Shape;82;p1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3600">
              <a:solidFill>
                <a:srgbClr val="800000"/>
              </a:solidFill>
              <a:latin typeface="Arial"/>
              <a:ea typeface="Arial"/>
              <a:cs typeface="Arial"/>
              <a:sym typeface="Arial"/>
            </a:endParaRPr>
          </a:p>
        </p:txBody>
      </p:sp>
      <p:pic>
        <p:nvPicPr>
          <p:cNvPr id="83" name="Google Shape;83;p14" descr="Elmasri_cov"/>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5"/>
          <p:cNvSpPr txBox="1"/>
          <p:nvPr/>
        </p:nvSpPr>
        <p:spPr>
          <a:xfrm>
            <a:off x="838200" y="6397625"/>
            <a:ext cx="4495800" cy="4572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900"/>
              <a:buFont typeface="Arial"/>
              <a:buNone/>
            </a:pPr>
            <a:r>
              <a:rPr lang="en-US" sz="900" b="0" i="0" u="none">
                <a:solidFill>
                  <a:schemeClr val="dk1"/>
                </a:solidFill>
                <a:latin typeface="Arial"/>
                <a:ea typeface="Arial"/>
                <a:cs typeface="Arial"/>
                <a:sym typeface="Arial"/>
              </a:rPr>
              <a:t>Copyright © 2007 </a:t>
            </a:r>
            <a:r>
              <a:rPr lang="en-US" sz="900" b="0" i="0" u="none">
                <a:solidFill>
                  <a:srgbClr val="000000"/>
                </a:solidFill>
                <a:latin typeface="Arial"/>
                <a:ea typeface="Arial"/>
                <a:cs typeface="Arial"/>
                <a:sym typeface="Arial"/>
              </a:rPr>
              <a:t>Ramez Elmasri and Shamkant B. Navathe</a:t>
            </a:r>
            <a:endParaRPr/>
          </a:p>
        </p:txBody>
      </p:sp>
      <p:sp>
        <p:nvSpPr>
          <p:cNvPr id="90" name="Google Shape;90;p15" descr="Pink tissue paper"/>
          <p:cNvSpPr txBox="1">
            <a:spLocks noGrp="1"/>
          </p:cNvSpPr>
          <p:nvPr>
            <p:ph type="ctrTitle"/>
          </p:nvPr>
        </p:nvSpPr>
        <p:spPr>
          <a:xfrm>
            <a:off x="228600" y="152400"/>
            <a:ext cx="7086600" cy="2286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990033"/>
              </a:buClr>
              <a:buSzPts val="6600"/>
              <a:buFont typeface="Arial"/>
              <a:buNone/>
            </a:pPr>
            <a:r>
              <a:rPr lang="en-US" sz="6600" b="0" i="0" u="none">
                <a:solidFill>
                  <a:srgbClr val="990033"/>
                </a:solidFill>
                <a:latin typeface="Arial"/>
                <a:ea typeface="Arial"/>
                <a:cs typeface="Arial"/>
                <a:sym typeface="Arial"/>
              </a:rPr>
              <a:t>Chapter 15</a:t>
            </a:r>
            <a:endParaRPr/>
          </a:p>
        </p:txBody>
      </p:sp>
      <p:sp>
        <p:nvSpPr>
          <p:cNvPr id="91" name="Google Shape;91;p15" descr="Pink tissue paper"/>
          <p:cNvSpPr txBox="1">
            <a:spLocks noGrp="1"/>
          </p:cNvSpPr>
          <p:nvPr>
            <p:ph type="subTitle" idx="1"/>
          </p:nvPr>
        </p:nvSpPr>
        <p:spPr>
          <a:xfrm>
            <a:off x="304800" y="2590800"/>
            <a:ext cx="6629400" cy="1905000"/>
          </a:xfrm>
          <a:prstGeom prst="rect">
            <a:avLst/>
          </a:prstGeom>
          <a:noFill/>
          <a:ln>
            <a:noFill/>
          </a:ln>
        </p:spPr>
        <p:txBody>
          <a:bodyPr spcFirstLastPara="1" wrap="square" lIns="91425" tIns="45700" rIns="0" bIns="45700" anchor="t" anchorCtr="0">
            <a:noAutofit/>
          </a:bodyPr>
          <a:lstStyle/>
          <a:p>
            <a:pPr marL="0" lvl="0" indent="0" algn="l" rtl="0">
              <a:lnSpc>
                <a:spcPct val="100000"/>
              </a:lnSpc>
              <a:spcBef>
                <a:spcPts val="0"/>
              </a:spcBef>
              <a:spcAft>
                <a:spcPts val="0"/>
              </a:spcAft>
              <a:buSzPts val="1920"/>
              <a:buNone/>
            </a:pPr>
            <a:r>
              <a:rPr lang="en-US" sz="3200" b="0" i="0" u="none">
                <a:solidFill>
                  <a:schemeClr val="dk2"/>
                </a:solidFill>
                <a:latin typeface="Arial"/>
                <a:ea typeface="Arial"/>
                <a:cs typeface="Arial"/>
                <a:sym typeface="Arial"/>
              </a:rPr>
              <a:t>Algorithms for Query Processing and Optimization</a:t>
            </a:r>
            <a:endParaRPr/>
          </a:p>
        </p:txBody>
      </p:sp>
      <p:sp>
        <p:nvSpPr>
          <p:cNvPr id="92" name="Google Shape;92;p15" descr="Pink tissue paper"/>
          <p:cNvSpPr txBox="1"/>
          <p:nvPr/>
        </p:nvSpPr>
        <p:spPr>
          <a:xfrm>
            <a:off x="61912" y="2655887"/>
            <a:ext cx="184150" cy="579437"/>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3</a:t>
            </a:fld>
            <a:endParaRPr/>
          </a:p>
        </p:txBody>
      </p:sp>
      <p:sp>
        <p:nvSpPr>
          <p:cNvPr id="99" name="Google Shape;99;p1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Chapter Outline (1)</a:t>
            </a:r>
            <a:endParaRPr/>
          </a:p>
        </p:txBody>
      </p:sp>
      <p:sp>
        <p:nvSpPr>
          <p:cNvPr id="100" name="Google Shape;100;p16"/>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SzPts val="1440"/>
              <a:buNone/>
            </a:pPr>
            <a:r>
              <a:rPr lang="en-US" sz="2400" b="0" i="0" u="none">
                <a:solidFill>
                  <a:schemeClr val="dk2"/>
                </a:solidFill>
                <a:latin typeface="Arial"/>
                <a:ea typeface="Arial"/>
                <a:cs typeface="Arial"/>
                <a:sym typeface="Arial"/>
              </a:rPr>
              <a:t>0. Introduction to Query Processing</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1. Translating SQL Queries into Relational Algebra </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2. Algorithms for External Sorting</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3. Algorithms for SELECT and JOIN Operations</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4. Algorithms for PROJECT and SET Operations</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5. Implementing Aggregate Operations and Outer Joins</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6. Combining Operations using Pipelining</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7. Using Heuristics in Query Optimization</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8. Using Selectivity and Cost Estimates in Query Optimization</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9. Overview of Query Optimization in Oracle</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10. Semantic Query Optimization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7"/>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4</a:t>
            </a:fld>
            <a:endParaRPr/>
          </a:p>
        </p:txBody>
      </p:sp>
      <p:sp>
        <p:nvSpPr>
          <p:cNvPr id="107" name="Google Shape;107;p17"/>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Introduction to Query Processing (2)</a:t>
            </a:r>
            <a:endParaRPr/>
          </a:p>
        </p:txBody>
      </p:sp>
      <p:pic>
        <p:nvPicPr>
          <p:cNvPr id="108" name="Google Shape;108;p17" descr="fig15_01"/>
          <p:cNvPicPr preferRelativeResize="0"/>
          <p:nvPr/>
        </p:nvPicPr>
        <p:blipFill rotWithShape="1">
          <a:blip r:embed="rId3">
            <a:alphaModFix/>
          </a:blip>
          <a:srcRect/>
          <a:stretch/>
        </p:blipFill>
        <p:spPr>
          <a:xfrm>
            <a:off x="923925" y="1646237"/>
            <a:ext cx="7381875" cy="4705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B504-DB28-DACA-AEFF-7D0724AC83CE}"/>
              </a:ext>
            </a:extLst>
          </p:cNvPr>
          <p:cNvSpPr>
            <a:spLocks noGrp="1"/>
          </p:cNvSpPr>
          <p:nvPr>
            <p:ph type="title"/>
          </p:nvPr>
        </p:nvSpPr>
        <p:spPr/>
        <p:txBody>
          <a:bodyPr/>
          <a:lstStyle/>
          <a:p>
            <a:r>
              <a:rPr lang="en-IN" dirty="0"/>
              <a:t>Steps in query processing</a:t>
            </a:r>
          </a:p>
        </p:txBody>
      </p:sp>
      <p:sp>
        <p:nvSpPr>
          <p:cNvPr id="3" name="Text Placeholder 2">
            <a:extLst>
              <a:ext uri="{FF2B5EF4-FFF2-40B4-BE49-F238E27FC236}">
                <a16:creationId xmlns:a16="http://schemas.microsoft.com/office/drawing/2014/main" id="{07A411BC-1A1A-96CA-0CB3-B9746D0BFDA4}"/>
              </a:ext>
            </a:extLst>
          </p:cNvPr>
          <p:cNvSpPr>
            <a:spLocks noGrp="1"/>
          </p:cNvSpPr>
          <p:nvPr>
            <p:ph type="body" idx="1"/>
          </p:nvPr>
        </p:nvSpPr>
        <p:spPr/>
        <p:txBody>
          <a:bodyPr/>
          <a:lstStyle/>
          <a:p>
            <a:pPr>
              <a:buFont typeface="Monotype Sorts" charset="2"/>
              <a:buNone/>
            </a:pPr>
            <a:r>
              <a:rPr lang="en-US" altLang="en-US" sz="2800" dirty="0">
                <a:ea typeface="ＭＳ Ｐゴシック" panose="020B0600070205080204" pitchFamily="34" charset="-128"/>
              </a:rPr>
              <a:t>1.	Parsing and translation</a:t>
            </a:r>
          </a:p>
          <a:p>
            <a:pPr>
              <a:buFont typeface="Monotype Sorts" charset="2"/>
              <a:buNone/>
            </a:pPr>
            <a:r>
              <a:rPr lang="en-US" altLang="en-US" sz="2800" dirty="0">
                <a:ea typeface="ＭＳ Ｐゴシック" panose="020B0600070205080204" pitchFamily="34" charset="-128"/>
              </a:rPr>
              <a:t>2.	Optimization</a:t>
            </a:r>
          </a:p>
          <a:p>
            <a:pPr>
              <a:buFont typeface="Monotype Sorts" charset="2"/>
              <a:buNone/>
            </a:pPr>
            <a:r>
              <a:rPr lang="en-US" altLang="en-US" sz="2800" dirty="0">
                <a:ea typeface="ＭＳ Ｐゴシック" panose="020B0600070205080204" pitchFamily="34" charset="-128"/>
              </a:rPr>
              <a:t>3.	Evaluation</a:t>
            </a:r>
          </a:p>
          <a:p>
            <a:endParaRPr lang="en-IN" dirty="0"/>
          </a:p>
        </p:txBody>
      </p:sp>
      <p:sp>
        <p:nvSpPr>
          <p:cNvPr id="4" name="Slide Number Placeholder 3">
            <a:extLst>
              <a:ext uri="{FF2B5EF4-FFF2-40B4-BE49-F238E27FC236}">
                <a16:creationId xmlns:a16="http://schemas.microsoft.com/office/drawing/2014/main" id="{596013F9-C22E-094D-99A4-2EB75611762C}"/>
              </a:ext>
            </a:extLst>
          </p:cNvPr>
          <p:cNvSpPr>
            <a:spLocks noGrp="1"/>
          </p:cNvSpPr>
          <p:nvPr>
            <p:ph type="sldNum" idx="12"/>
          </p:nvPr>
        </p:nvSpPr>
        <p:spPr/>
        <p:txBody>
          <a:bodyPr/>
          <a:lstStyle/>
          <a:p>
            <a:pPr marL="0" lvl="0" indent="0" algn="r" rtl="0">
              <a:spcBef>
                <a:spcPts val="0"/>
              </a:spcBef>
              <a:spcAft>
                <a:spcPts val="0"/>
              </a:spcAft>
              <a:buNone/>
            </a:pPr>
            <a:r>
              <a:rPr lang="en-US"/>
              <a:t>Slide 15- </a:t>
            </a:r>
            <a:fld id="{00000000-1234-1234-1234-123412341234}" type="slidenum">
              <a:rPr lang="en-US" smtClean="0"/>
              <a:t>5</a:t>
            </a:fld>
            <a:endParaRPr/>
          </a:p>
        </p:txBody>
      </p:sp>
      <p:pic>
        <p:nvPicPr>
          <p:cNvPr id="6" name="Picture 5">
            <a:extLst>
              <a:ext uri="{FF2B5EF4-FFF2-40B4-BE49-F238E27FC236}">
                <a16:creationId xmlns:a16="http://schemas.microsoft.com/office/drawing/2014/main" id="{5F662805-956B-4750-0470-E1E4DB20213F}"/>
              </a:ext>
            </a:extLst>
          </p:cNvPr>
          <p:cNvPicPr>
            <a:picLocks noChangeAspect="1"/>
          </p:cNvPicPr>
          <p:nvPr/>
        </p:nvPicPr>
        <p:blipFill>
          <a:blip r:embed="rId2"/>
          <a:stretch>
            <a:fillRect/>
          </a:stretch>
        </p:blipFill>
        <p:spPr>
          <a:xfrm>
            <a:off x="2759793" y="2442577"/>
            <a:ext cx="5979913" cy="3829832"/>
          </a:xfrm>
          <a:prstGeom prst="rect">
            <a:avLst/>
          </a:prstGeom>
        </p:spPr>
      </p:pic>
    </p:spTree>
    <p:extLst>
      <p:ext uri="{BB962C8B-B14F-4D97-AF65-F5344CB8AC3E}">
        <p14:creationId xmlns:p14="http://schemas.microsoft.com/office/powerpoint/2010/main" val="4284585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Parsing and Translation</a:t>
            </a:r>
            <a:endParaRPr lang="en-IN" dirty="0"/>
          </a:p>
        </p:txBody>
      </p:sp>
      <p:sp>
        <p:nvSpPr>
          <p:cNvPr id="3" name="Text Placeholder 2"/>
          <p:cNvSpPr>
            <a:spLocks noGrp="1"/>
          </p:cNvSpPr>
          <p:nvPr>
            <p:ph type="body" idx="1"/>
          </p:nvPr>
        </p:nvSpPr>
        <p:spPr/>
        <p:txBody>
          <a:bodyPr/>
          <a:lstStyle/>
          <a:p>
            <a:r>
              <a:rPr lang="en-US" sz="2000" b="1" dirty="0">
                <a:highlight>
                  <a:srgbClr val="FFFF00"/>
                </a:highlight>
              </a:rPr>
              <a:t>Syntactic Analysis</a:t>
            </a:r>
            <a:endParaRPr lang="en-US" sz="2000" dirty="0">
              <a:highlight>
                <a:srgbClr val="FFFF00"/>
              </a:highlight>
            </a:endParaRPr>
          </a:p>
          <a:p>
            <a:r>
              <a:rPr lang="en-US" sz="2000" dirty="0">
                <a:highlight>
                  <a:srgbClr val="FFFF00"/>
                </a:highlight>
              </a:rPr>
              <a:t>The query gets broken down into different tokens and white spaces are removed along with the comments (</a:t>
            </a:r>
            <a:r>
              <a:rPr lang="en-US" sz="2000" b="1" dirty="0">
                <a:highlight>
                  <a:srgbClr val="FFFF00"/>
                </a:highlight>
              </a:rPr>
              <a:t>Lexical Analysis</a:t>
            </a:r>
            <a:r>
              <a:rPr lang="en-US" sz="2000" dirty="0">
                <a:highlight>
                  <a:srgbClr val="FFFF00"/>
                </a:highlight>
              </a:rPr>
              <a:t>). </a:t>
            </a:r>
          </a:p>
          <a:p>
            <a:r>
              <a:rPr lang="en-US" sz="2000" dirty="0">
                <a:highlight>
                  <a:srgbClr val="FFFF00"/>
                </a:highlight>
              </a:rPr>
              <a:t>In the next step, the query gets checked for the correctness, both syntax and semantic wise. </a:t>
            </a:r>
          </a:p>
          <a:p>
            <a:r>
              <a:rPr lang="en-US" sz="2000" dirty="0">
                <a:highlight>
                  <a:srgbClr val="FFFF00"/>
                </a:highlight>
              </a:rPr>
              <a:t>The query processor first checks the query if the rules of SQL have been correctly followed or not.</a:t>
            </a:r>
          </a:p>
          <a:p>
            <a:r>
              <a:rPr lang="en-US" sz="2000" b="1" dirty="0">
                <a:highlight>
                  <a:srgbClr val="FFFF00"/>
                </a:highlight>
              </a:rPr>
              <a:t>Semantic Analysis</a:t>
            </a:r>
            <a:endParaRPr lang="en-US" sz="2000" dirty="0">
              <a:highlight>
                <a:srgbClr val="FFFF00"/>
              </a:highlight>
            </a:endParaRPr>
          </a:p>
          <a:p>
            <a:r>
              <a:rPr lang="en-US" sz="2000" dirty="0">
                <a:highlight>
                  <a:srgbClr val="FFFF00"/>
                </a:highlight>
              </a:rPr>
              <a:t>Finally, the query processor checks if the meaning of the query is right or not. </a:t>
            </a:r>
          </a:p>
          <a:p>
            <a:r>
              <a:rPr lang="en-US" sz="2000" dirty="0">
                <a:highlight>
                  <a:srgbClr val="FFFF00"/>
                </a:highlight>
              </a:rPr>
              <a:t>Things like if the table(s) mentioned in the query are present in the DB or not? </a:t>
            </a:r>
          </a:p>
          <a:p>
            <a:r>
              <a:rPr lang="en-US" sz="2000" dirty="0">
                <a:highlight>
                  <a:srgbClr val="FFFF00"/>
                </a:highlight>
              </a:rPr>
              <a:t>if the column(s) referred from all the table(s) are actually present in them or not? </a:t>
            </a:r>
          </a:p>
          <a:p>
            <a:endParaRPr lang="en-IN" sz="20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a:t>Slide 15- </a:t>
            </a:r>
            <a:fld id="{00000000-1234-1234-1234-123412341234}" type="slidenum">
              <a:rPr lang="en-US" smtClean="0"/>
              <a:t>6</a:t>
            </a:fld>
            <a:endParaRPr lang="en-US"/>
          </a:p>
        </p:txBody>
      </p:sp>
    </p:spTree>
    <p:extLst>
      <p:ext uri="{BB962C8B-B14F-4D97-AF65-F5344CB8AC3E}">
        <p14:creationId xmlns:p14="http://schemas.microsoft.com/office/powerpoint/2010/main" val="3391829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endParaRPr lang="en-IN" dirty="0"/>
          </a:p>
        </p:txBody>
      </p:sp>
      <p:sp>
        <p:nvSpPr>
          <p:cNvPr id="3" name="Text Placeholder 2"/>
          <p:cNvSpPr>
            <a:spLocks noGrp="1"/>
          </p:cNvSpPr>
          <p:nvPr>
            <p:ph type="body" idx="1"/>
          </p:nvPr>
        </p:nvSpPr>
        <p:spPr>
          <a:xfrm>
            <a:off x="164556" y="1337154"/>
            <a:ext cx="8294687" cy="4572000"/>
          </a:xfrm>
        </p:spPr>
        <p:txBody>
          <a:bodyPr/>
          <a:lstStyle/>
          <a:p>
            <a:r>
              <a:rPr lang="en-US" sz="2400" dirty="0"/>
              <a:t>SELECT </a:t>
            </a:r>
            <a:r>
              <a:rPr lang="en-US" sz="2400" dirty="0" err="1"/>
              <a:t>emp_name</a:t>
            </a:r>
            <a:r>
              <a:rPr lang="en-US" sz="2400" dirty="0"/>
              <a:t> FROM employee WHERE salary&gt;10000;</a:t>
            </a:r>
          </a:p>
          <a:p>
            <a:r>
              <a:rPr lang="en-US" sz="2400" dirty="0"/>
              <a:t>The above query would be divided into the following tokens: </a:t>
            </a:r>
          </a:p>
          <a:p>
            <a:pPr lvl="1"/>
            <a:r>
              <a:rPr lang="en-US" sz="2000" dirty="0"/>
              <a:t>SELECT, </a:t>
            </a:r>
            <a:r>
              <a:rPr lang="en-US" sz="2000" dirty="0" err="1"/>
              <a:t>emp_name</a:t>
            </a:r>
            <a:r>
              <a:rPr lang="en-US" sz="2000" dirty="0"/>
              <a:t>, FROM, employee, WHERE, salary, &gt;, </a:t>
            </a:r>
          </a:p>
          <a:p>
            <a:pPr marL="622935" lvl="1" indent="0">
              <a:buNone/>
            </a:pPr>
            <a:r>
              <a:rPr lang="en-US" sz="2000" dirty="0"/>
              <a:t>10000.</a:t>
            </a:r>
          </a:p>
          <a:p>
            <a:r>
              <a:rPr lang="en-US" sz="2400" dirty="0"/>
              <a:t>The tokens (and hence the query) get validated for</a:t>
            </a:r>
          </a:p>
          <a:p>
            <a:pPr lvl="1"/>
            <a:r>
              <a:rPr lang="en-US" sz="2000" dirty="0"/>
              <a:t>The name of the queried table is looked into the data dictionary table.</a:t>
            </a:r>
          </a:p>
          <a:p>
            <a:pPr lvl="1"/>
            <a:r>
              <a:rPr lang="en-US" sz="2000" dirty="0"/>
              <a:t>The name of the columns mentioned (</a:t>
            </a:r>
            <a:r>
              <a:rPr lang="en-US" sz="2000" dirty="0" err="1"/>
              <a:t>emp_name</a:t>
            </a:r>
            <a:r>
              <a:rPr lang="en-US" sz="2000" dirty="0"/>
              <a:t> and salary) in the tokens are validated for existence.</a:t>
            </a:r>
          </a:p>
          <a:p>
            <a:pPr lvl="1"/>
            <a:r>
              <a:rPr lang="en-US" sz="2000" dirty="0"/>
              <a:t>The type of column(s) being compared have to be of the same type (salary and the value 10000 should have the same data type)</a:t>
            </a:r>
          </a:p>
          <a:p>
            <a:endParaRPr lang="en-US" sz="24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r>
              <a:rPr lang="en-US"/>
              <a:t>Slide 15- </a:t>
            </a:r>
            <a:fld id="{00000000-1234-1234-1234-123412341234}" type="slidenum">
              <a:rPr lang="en-US" smtClean="0"/>
              <a:t>7</a:t>
            </a:fld>
            <a:endParaRPr lang="en-US"/>
          </a:p>
        </p:txBody>
      </p:sp>
    </p:spTree>
    <p:extLst>
      <p:ext uri="{BB962C8B-B14F-4D97-AF65-F5344CB8AC3E}">
        <p14:creationId xmlns:p14="http://schemas.microsoft.com/office/powerpoint/2010/main" val="2109972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30293FC-CB5F-E0E0-185A-FAD1180D8A1F}"/>
              </a:ext>
            </a:extLst>
          </p:cNvPr>
          <p:cNvSpPr>
            <a:spLocks noGrp="1"/>
          </p:cNvSpPr>
          <p:nvPr>
            <p:ph type="body" idx="1"/>
          </p:nvPr>
        </p:nvSpPr>
        <p:spPr>
          <a:xfrm>
            <a:off x="202134" y="760956"/>
            <a:ext cx="8294687" cy="4572000"/>
          </a:xfrm>
        </p:spPr>
        <p:txBody>
          <a:bodyPr/>
          <a:lstStyle/>
          <a:p>
            <a:r>
              <a:rPr lang="en-US" dirty="0"/>
              <a:t>The </a:t>
            </a:r>
            <a:r>
              <a:rPr lang="en-US" dirty="0">
                <a:highlight>
                  <a:srgbClr val="FFFF00"/>
                </a:highlight>
              </a:rPr>
              <a:t>next step is to translate the generated set of tokens into a relational algebra query. </a:t>
            </a:r>
          </a:p>
          <a:p>
            <a:r>
              <a:rPr lang="en-US" dirty="0"/>
              <a:t>These are easy to handle for the optimizer in further processes.</a:t>
            </a:r>
          </a:p>
          <a:p>
            <a:r>
              <a:rPr lang="en-US" dirty="0"/>
              <a:t>For doing this, the following query is undertaken:</a:t>
            </a:r>
          </a:p>
          <a:p>
            <a:r>
              <a:rPr lang="en-US" dirty="0">
                <a:solidFill>
                  <a:srgbClr val="FF0000"/>
                </a:solidFill>
              </a:rPr>
              <a:t>select </a:t>
            </a:r>
            <a:r>
              <a:rPr lang="en-US" dirty="0" err="1">
                <a:solidFill>
                  <a:srgbClr val="FF0000"/>
                </a:solidFill>
              </a:rPr>
              <a:t>emp_name</a:t>
            </a:r>
            <a:r>
              <a:rPr lang="en-US" dirty="0">
                <a:solidFill>
                  <a:srgbClr val="FF0000"/>
                </a:solidFill>
              </a:rPr>
              <a:t> from Employee where salary&gt;10000;</a:t>
            </a:r>
          </a:p>
          <a:p>
            <a:r>
              <a:rPr lang="en-US" dirty="0">
                <a:highlight>
                  <a:srgbClr val="FFFF00"/>
                </a:highlight>
              </a:rPr>
              <a:t>Thus, to make the system understand the user query, it needs to be translated in the form of relational algebra. </a:t>
            </a:r>
          </a:p>
          <a:p>
            <a:pPr lvl="1"/>
            <a:r>
              <a:rPr lang="en-US" dirty="0" err="1">
                <a:highlight>
                  <a:srgbClr val="FFFF00"/>
                </a:highlight>
              </a:rPr>
              <a:t>σsalary</a:t>
            </a:r>
            <a:r>
              <a:rPr lang="en-US" dirty="0">
                <a:highlight>
                  <a:srgbClr val="FFFF00"/>
                </a:highlight>
              </a:rPr>
              <a:t>&gt;10000 (πsalary (Employee))</a:t>
            </a:r>
          </a:p>
          <a:p>
            <a:pPr lvl="1"/>
            <a:r>
              <a:rPr lang="en-US" dirty="0">
                <a:highlight>
                  <a:srgbClr val="FFFF00"/>
                </a:highlight>
              </a:rPr>
              <a:t>πsalary (</a:t>
            </a:r>
            <a:r>
              <a:rPr lang="en-US" dirty="0" err="1">
                <a:highlight>
                  <a:srgbClr val="FFFF00"/>
                </a:highlight>
              </a:rPr>
              <a:t>σsalary</a:t>
            </a:r>
            <a:r>
              <a:rPr lang="en-US" dirty="0">
                <a:highlight>
                  <a:srgbClr val="FFFF00"/>
                </a:highlight>
              </a:rPr>
              <a:t>&gt;10000 (Employee))</a:t>
            </a:r>
          </a:p>
          <a:p>
            <a:endParaRPr lang="en-IN" dirty="0"/>
          </a:p>
        </p:txBody>
      </p:sp>
      <p:sp>
        <p:nvSpPr>
          <p:cNvPr id="4" name="Slide Number Placeholder 3">
            <a:extLst>
              <a:ext uri="{FF2B5EF4-FFF2-40B4-BE49-F238E27FC236}">
                <a16:creationId xmlns:a16="http://schemas.microsoft.com/office/drawing/2014/main" id="{9143725B-E81B-ACFE-4AC7-9E1B5D6C8965}"/>
              </a:ext>
            </a:extLst>
          </p:cNvPr>
          <p:cNvSpPr>
            <a:spLocks noGrp="1"/>
          </p:cNvSpPr>
          <p:nvPr>
            <p:ph type="sldNum" idx="12"/>
          </p:nvPr>
        </p:nvSpPr>
        <p:spPr/>
        <p:txBody>
          <a:bodyPr/>
          <a:lstStyle/>
          <a:p>
            <a:pPr marL="0" lvl="0" indent="0" algn="r" rtl="0">
              <a:spcBef>
                <a:spcPts val="0"/>
              </a:spcBef>
              <a:spcAft>
                <a:spcPts val="0"/>
              </a:spcAft>
              <a:buNone/>
            </a:pPr>
            <a:r>
              <a:rPr lang="en-US"/>
              <a:t>Slide 15- </a:t>
            </a:r>
            <a:fld id="{00000000-1234-1234-1234-123412341234}" type="slidenum">
              <a:rPr lang="en-US" smtClean="0"/>
              <a:t>8</a:t>
            </a:fld>
            <a:endParaRPr/>
          </a:p>
        </p:txBody>
      </p:sp>
    </p:spTree>
    <p:extLst>
      <p:ext uri="{BB962C8B-B14F-4D97-AF65-F5344CB8AC3E}">
        <p14:creationId xmlns:p14="http://schemas.microsoft.com/office/powerpoint/2010/main" val="3199164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0F8EE5C-8C44-89B0-7690-27E3C47738FD}"/>
              </a:ext>
            </a:extLst>
          </p:cNvPr>
          <p:cNvSpPr>
            <a:spLocks noGrp="1"/>
          </p:cNvSpPr>
          <p:nvPr>
            <p:ph type="body" idx="1"/>
          </p:nvPr>
        </p:nvSpPr>
        <p:spPr>
          <a:xfrm>
            <a:off x="267929" y="1544978"/>
            <a:ext cx="8294687" cy="4572000"/>
          </a:xfrm>
        </p:spPr>
        <p:txBody>
          <a:bodyPr/>
          <a:lstStyle/>
          <a:p>
            <a:r>
              <a:rPr lang="en-US" dirty="0"/>
              <a:t>After translating the given query, we can execute each relational algebra operation by using different algorithms. </a:t>
            </a:r>
          </a:p>
          <a:p>
            <a:r>
              <a:rPr lang="en-US" dirty="0"/>
              <a:t>So, in this way, a query processing begins its working. </a:t>
            </a:r>
            <a:endParaRPr lang="en-IN" b="1" dirty="0"/>
          </a:p>
        </p:txBody>
      </p:sp>
      <p:sp>
        <p:nvSpPr>
          <p:cNvPr id="4" name="Slide Number Placeholder 3">
            <a:extLst>
              <a:ext uri="{FF2B5EF4-FFF2-40B4-BE49-F238E27FC236}">
                <a16:creationId xmlns:a16="http://schemas.microsoft.com/office/drawing/2014/main" id="{FCB900B5-1B1E-2893-425F-B0152DB5F6F1}"/>
              </a:ext>
            </a:extLst>
          </p:cNvPr>
          <p:cNvSpPr>
            <a:spLocks noGrp="1"/>
          </p:cNvSpPr>
          <p:nvPr>
            <p:ph type="sldNum" idx="12"/>
          </p:nvPr>
        </p:nvSpPr>
        <p:spPr/>
        <p:txBody>
          <a:bodyPr/>
          <a:lstStyle/>
          <a:p>
            <a:pPr marL="0" lvl="0" indent="0" algn="r" rtl="0">
              <a:spcBef>
                <a:spcPts val="0"/>
              </a:spcBef>
              <a:spcAft>
                <a:spcPts val="0"/>
              </a:spcAft>
              <a:buNone/>
            </a:pPr>
            <a:r>
              <a:rPr lang="en-US"/>
              <a:t>Slide 15- </a:t>
            </a:r>
            <a:fld id="{00000000-1234-1234-1234-123412341234}" type="slidenum">
              <a:rPr lang="en-US" smtClean="0"/>
              <a:t>9</a:t>
            </a:fld>
            <a:endParaRPr/>
          </a:p>
        </p:txBody>
      </p:sp>
    </p:spTree>
    <p:extLst>
      <p:ext uri="{BB962C8B-B14F-4D97-AF65-F5344CB8AC3E}">
        <p14:creationId xmlns:p14="http://schemas.microsoft.com/office/powerpoint/2010/main" val="818167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39AA6-11B6-AF21-6AB9-B8C4DEF5203C}"/>
              </a:ext>
            </a:extLst>
          </p:cNvPr>
          <p:cNvSpPr>
            <a:spLocks noGrp="1"/>
          </p:cNvSpPr>
          <p:nvPr>
            <p:ph type="title"/>
          </p:nvPr>
        </p:nvSpPr>
        <p:spPr/>
        <p:txBody>
          <a:bodyPr/>
          <a:lstStyle/>
          <a:p>
            <a:r>
              <a:rPr lang="en-IN" dirty="0"/>
              <a:t>Tree representation of relational algebra:</a:t>
            </a:r>
          </a:p>
        </p:txBody>
      </p:sp>
      <p:sp>
        <p:nvSpPr>
          <p:cNvPr id="3" name="Text Placeholder 2">
            <a:extLst>
              <a:ext uri="{FF2B5EF4-FFF2-40B4-BE49-F238E27FC236}">
                <a16:creationId xmlns:a16="http://schemas.microsoft.com/office/drawing/2014/main" id="{2F24EB0A-6EB1-762D-4018-4FE4C6E8E555}"/>
              </a:ext>
            </a:extLst>
          </p:cNvPr>
          <p:cNvSpPr>
            <a:spLocks noGrp="1"/>
          </p:cNvSpPr>
          <p:nvPr>
            <p:ph type="body" idx="1"/>
          </p:nvPr>
        </p:nvSpPr>
        <p:spPr>
          <a:xfrm>
            <a:off x="239712" y="1517364"/>
            <a:ext cx="8294687" cy="4572000"/>
          </a:xfrm>
        </p:spPr>
        <p:txBody>
          <a:bodyPr/>
          <a:lstStyle/>
          <a:p>
            <a:r>
              <a:rPr lang="en-US" dirty="0">
                <a:highlight>
                  <a:srgbClr val="FFFF00"/>
                </a:highlight>
              </a:rPr>
              <a:t>A </a:t>
            </a:r>
            <a:r>
              <a:rPr lang="en-US" b="1" dirty="0">
                <a:highlight>
                  <a:srgbClr val="FFFF00"/>
                </a:highlight>
              </a:rPr>
              <a:t>query tree</a:t>
            </a:r>
            <a:r>
              <a:rPr lang="en-US" dirty="0">
                <a:highlight>
                  <a:srgbClr val="FFFF00"/>
                </a:highlight>
              </a:rPr>
              <a:t> is a </a:t>
            </a:r>
            <a:r>
              <a:rPr lang="en-US" b="1" dirty="0">
                <a:highlight>
                  <a:srgbClr val="FFFF00"/>
                </a:highlight>
              </a:rPr>
              <a:t>tree representation of a relational algebra expression</a:t>
            </a:r>
            <a:r>
              <a:rPr lang="en-US" dirty="0">
                <a:highlight>
                  <a:srgbClr val="FFFF00"/>
                </a:highlight>
              </a:rPr>
              <a:t>. </a:t>
            </a:r>
          </a:p>
          <a:p>
            <a:r>
              <a:rPr lang="en-US" dirty="0">
                <a:highlight>
                  <a:srgbClr val="FFFF00"/>
                </a:highlight>
              </a:rPr>
              <a:t>Each </a:t>
            </a:r>
            <a:r>
              <a:rPr lang="en-US" b="1" dirty="0">
                <a:highlight>
                  <a:srgbClr val="FFFF00"/>
                </a:highlight>
              </a:rPr>
              <a:t>leaf node</a:t>
            </a:r>
            <a:r>
              <a:rPr lang="en-US" dirty="0">
                <a:highlight>
                  <a:srgbClr val="FFFF00"/>
                </a:highlight>
              </a:rPr>
              <a:t> is a relation (table), and each </a:t>
            </a:r>
            <a:r>
              <a:rPr lang="en-US" b="1" dirty="0">
                <a:highlight>
                  <a:srgbClr val="FFFF00"/>
                </a:highlight>
              </a:rPr>
              <a:t>internal node</a:t>
            </a:r>
            <a:r>
              <a:rPr lang="en-US" dirty="0">
                <a:highlight>
                  <a:srgbClr val="FFFF00"/>
                </a:highlight>
              </a:rPr>
              <a:t> is an operation (like selection, projection, join, etc.).</a:t>
            </a:r>
            <a:endParaRPr lang="en-IN" dirty="0">
              <a:highlight>
                <a:srgbClr val="FFFF00"/>
              </a:highlight>
            </a:endParaRPr>
          </a:p>
        </p:txBody>
      </p:sp>
      <p:sp>
        <p:nvSpPr>
          <p:cNvPr id="4" name="Slide Number Placeholder 3">
            <a:extLst>
              <a:ext uri="{FF2B5EF4-FFF2-40B4-BE49-F238E27FC236}">
                <a16:creationId xmlns:a16="http://schemas.microsoft.com/office/drawing/2014/main" id="{27F1062C-6E50-5484-D86D-79F40A8A6CF2}"/>
              </a:ext>
            </a:extLst>
          </p:cNvPr>
          <p:cNvSpPr>
            <a:spLocks noGrp="1"/>
          </p:cNvSpPr>
          <p:nvPr>
            <p:ph type="sldNum" idx="12"/>
          </p:nvPr>
        </p:nvSpPr>
        <p:spPr/>
        <p:txBody>
          <a:bodyPr/>
          <a:lstStyle/>
          <a:p>
            <a:pPr marL="0" lvl="0" indent="0" algn="r" rtl="0">
              <a:spcBef>
                <a:spcPts val="0"/>
              </a:spcBef>
              <a:spcAft>
                <a:spcPts val="0"/>
              </a:spcAft>
              <a:buNone/>
            </a:pPr>
            <a:r>
              <a:rPr lang="en-US"/>
              <a:t>Slide 15- </a:t>
            </a:r>
            <a:fld id="{00000000-1234-1234-1234-123412341234}" type="slidenum">
              <a:rPr lang="en-US" smtClean="0"/>
              <a:t>10</a:t>
            </a:fld>
            <a:endParaRPr/>
          </a:p>
        </p:txBody>
      </p:sp>
      <p:pic>
        <p:nvPicPr>
          <p:cNvPr id="6" name="Picture 5">
            <a:extLst>
              <a:ext uri="{FF2B5EF4-FFF2-40B4-BE49-F238E27FC236}">
                <a16:creationId xmlns:a16="http://schemas.microsoft.com/office/drawing/2014/main" id="{8005843F-9220-71FC-B865-3A6065D45560}"/>
              </a:ext>
            </a:extLst>
          </p:cNvPr>
          <p:cNvPicPr>
            <a:picLocks noChangeAspect="1"/>
          </p:cNvPicPr>
          <p:nvPr/>
        </p:nvPicPr>
        <p:blipFill>
          <a:blip r:embed="rId2"/>
          <a:stretch>
            <a:fillRect/>
          </a:stretch>
        </p:blipFill>
        <p:spPr>
          <a:xfrm>
            <a:off x="2417523" y="3953676"/>
            <a:ext cx="3181659" cy="2133973"/>
          </a:xfrm>
          <a:prstGeom prst="rect">
            <a:avLst/>
          </a:prstGeom>
        </p:spPr>
      </p:pic>
    </p:spTree>
    <p:extLst>
      <p:ext uri="{BB962C8B-B14F-4D97-AF65-F5344CB8AC3E}">
        <p14:creationId xmlns:p14="http://schemas.microsoft.com/office/powerpoint/2010/main" val="149962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FC60D-D214-7174-60D4-4AC156E6BEEF}"/>
              </a:ext>
            </a:extLst>
          </p:cNvPr>
          <p:cNvSpPr>
            <a:spLocks noGrp="1"/>
          </p:cNvSpPr>
          <p:nvPr>
            <p:ph type="title"/>
          </p:nvPr>
        </p:nvSpPr>
        <p:spPr/>
        <p:txBody>
          <a:bodyPr/>
          <a:lstStyle/>
          <a:p>
            <a:r>
              <a:rPr lang="en-IN" dirty="0"/>
              <a:t>Evaluation</a:t>
            </a:r>
          </a:p>
        </p:txBody>
      </p:sp>
      <p:sp>
        <p:nvSpPr>
          <p:cNvPr id="3" name="Text Placeholder 2">
            <a:extLst>
              <a:ext uri="{FF2B5EF4-FFF2-40B4-BE49-F238E27FC236}">
                <a16:creationId xmlns:a16="http://schemas.microsoft.com/office/drawing/2014/main" id="{01E5A089-6C00-7144-61FB-61F998EBD139}"/>
              </a:ext>
            </a:extLst>
          </p:cNvPr>
          <p:cNvSpPr>
            <a:spLocks noGrp="1"/>
          </p:cNvSpPr>
          <p:nvPr>
            <p:ph type="body" idx="1"/>
          </p:nvPr>
        </p:nvSpPr>
        <p:spPr>
          <a:xfrm>
            <a:off x="228600" y="1442883"/>
            <a:ext cx="8345129" cy="4859593"/>
          </a:xfrm>
        </p:spPr>
        <p:txBody>
          <a:bodyPr/>
          <a:lstStyle/>
          <a:p>
            <a:r>
              <a:rPr lang="en-US" sz="2400" dirty="0"/>
              <a:t>For this, with addition to the relational algebra translation, it is required to annotate the translated relational algebra expression with the instructions used for specifying and evaluating each operation. </a:t>
            </a:r>
          </a:p>
          <a:p>
            <a:r>
              <a:rPr lang="en-US" sz="2400" dirty="0"/>
              <a:t>Thus, after translating the user query, the system executes a query evaluation plan. </a:t>
            </a:r>
          </a:p>
          <a:p>
            <a:r>
              <a:rPr lang="en-US" sz="2400" dirty="0"/>
              <a:t>Query Evaluation Plan:</a:t>
            </a:r>
          </a:p>
          <a:p>
            <a:r>
              <a:rPr lang="en-US" sz="2400" dirty="0"/>
              <a:t>In order to fully evaluate a query, the system needs to construct a query evaluation plan.</a:t>
            </a:r>
          </a:p>
          <a:p>
            <a:r>
              <a:rPr lang="en-US" sz="2400" dirty="0"/>
              <a:t>The annotations in the evaluation plan may refer to the algorithms to be used for the particular index or the specific operations. </a:t>
            </a:r>
          </a:p>
          <a:p>
            <a:endParaRPr lang="en-IN" sz="2400" dirty="0"/>
          </a:p>
        </p:txBody>
      </p:sp>
      <p:sp>
        <p:nvSpPr>
          <p:cNvPr id="4" name="Slide Number Placeholder 3">
            <a:extLst>
              <a:ext uri="{FF2B5EF4-FFF2-40B4-BE49-F238E27FC236}">
                <a16:creationId xmlns:a16="http://schemas.microsoft.com/office/drawing/2014/main" id="{58511A46-6AE9-11BA-2E11-78893866BF07}"/>
              </a:ext>
            </a:extLst>
          </p:cNvPr>
          <p:cNvSpPr>
            <a:spLocks noGrp="1"/>
          </p:cNvSpPr>
          <p:nvPr>
            <p:ph type="sldNum" idx="12"/>
          </p:nvPr>
        </p:nvSpPr>
        <p:spPr/>
        <p:txBody>
          <a:bodyPr/>
          <a:lstStyle/>
          <a:p>
            <a:pPr marL="0" lvl="0" indent="0" algn="r" rtl="0">
              <a:spcBef>
                <a:spcPts val="0"/>
              </a:spcBef>
              <a:spcAft>
                <a:spcPts val="0"/>
              </a:spcAft>
              <a:buNone/>
            </a:pPr>
            <a:r>
              <a:rPr lang="en-US"/>
              <a:t>Slide 15- </a:t>
            </a:r>
            <a:fld id="{00000000-1234-1234-1234-123412341234}" type="slidenum">
              <a:rPr lang="en-US" smtClean="0"/>
              <a:t>11</a:t>
            </a:fld>
            <a:endParaRPr/>
          </a:p>
        </p:txBody>
      </p:sp>
    </p:spTree>
    <p:extLst>
      <p:ext uri="{BB962C8B-B14F-4D97-AF65-F5344CB8AC3E}">
        <p14:creationId xmlns:p14="http://schemas.microsoft.com/office/powerpoint/2010/main" val="1760294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12</a:t>
            </a:fld>
            <a:endParaRPr/>
          </a:p>
        </p:txBody>
      </p:sp>
      <p:sp>
        <p:nvSpPr>
          <p:cNvPr id="122" name="Google Shape;122;p1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800000"/>
              </a:buClr>
              <a:buSzPts val="3200"/>
              <a:buFont typeface="Arial"/>
              <a:buNone/>
            </a:pPr>
            <a:r>
              <a:rPr lang="en-US" sz="3200" b="1" i="0" u="none" dirty="0">
                <a:solidFill>
                  <a:schemeClr val="dk2"/>
                </a:solidFill>
                <a:latin typeface="Arial"/>
                <a:ea typeface="Arial"/>
                <a:cs typeface="Arial"/>
                <a:sym typeface="Arial"/>
              </a:rPr>
              <a:t>Query optimization</a:t>
            </a:r>
            <a:endParaRPr dirty="0"/>
          </a:p>
        </p:txBody>
      </p:sp>
      <p:sp>
        <p:nvSpPr>
          <p:cNvPr id="123" name="Google Shape;123;p1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1" i="0" u="none" dirty="0">
                <a:solidFill>
                  <a:schemeClr val="dk2"/>
                </a:solidFill>
                <a:highlight>
                  <a:srgbClr val="FFFF00"/>
                </a:highlight>
                <a:latin typeface="Arial"/>
                <a:ea typeface="Arial"/>
                <a:cs typeface="Arial"/>
                <a:sym typeface="Arial"/>
              </a:rPr>
              <a:t>Query optimization</a:t>
            </a:r>
            <a:r>
              <a:rPr lang="en-US" sz="2800" b="0" i="0" u="none" dirty="0">
                <a:solidFill>
                  <a:schemeClr val="dk2"/>
                </a:solidFill>
                <a:highlight>
                  <a:srgbClr val="FFFF00"/>
                </a:highlight>
                <a:latin typeface="Arial"/>
                <a:ea typeface="Arial"/>
                <a:cs typeface="Arial"/>
                <a:sym typeface="Arial"/>
              </a:rPr>
              <a:t>:</a:t>
            </a:r>
            <a:endParaRPr dirty="0">
              <a:highlight>
                <a:srgbClr val="FFFF00"/>
              </a:highlight>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dirty="0">
                <a:solidFill>
                  <a:srgbClr val="800000"/>
                </a:solidFill>
                <a:highlight>
                  <a:srgbClr val="FFFF00"/>
                </a:highlight>
                <a:latin typeface="Arial"/>
                <a:ea typeface="Arial"/>
                <a:cs typeface="Arial"/>
                <a:sym typeface="Arial"/>
              </a:rPr>
              <a:t>The process of choosing a suitable execution strategy /plan for processing a query.</a:t>
            </a:r>
            <a:endParaRPr sz="2600" b="0" i="0" u="none" dirty="0">
              <a:solidFill>
                <a:srgbClr val="800000"/>
              </a:solidFill>
              <a:highlight>
                <a:srgbClr val="FFFF00"/>
              </a:highlight>
              <a:latin typeface="Arial"/>
              <a:ea typeface="Arial"/>
              <a:cs typeface="Arial"/>
              <a:sym typeface="Arial"/>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dirty="0">
                <a:solidFill>
                  <a:srgbClr val="800000"/>
                </a:solidFill>
                <a:highlight>
                  <a:srgbClr val="FFFF00"/>
                </a:highlight>
                <a:latin typeface="Arial"/>
                <a:ea typeface="Arial"/>
                <a:cs typeface="Arial"/>
                <a:sym typeface="Arial"/>
              </a:rPr>
              <a:t>Query code generator</a:t>
            </a:r>
            <a:endParaRPr dirty="0">
              <a:highlight>
                <a:srgbClr val="FFFF00"/>
              </a:highlight>
            </a:endParaRPr>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dirty="0">
                <a:solidFill>
                  <a:schemeClr val="dk2"/>
                </a:solidFill>
                <a:highlight>
                  <a:srgbClr val="FFFF00"/>
                </a:highlight>
                <a:latin typeface="Arial"/>
                <a:ea typeface="Arial"/>
                <a:cs typeface="Arial"/>
                <a:sym typeface="Arial"/>
              </a:rPr>
              <a:t>Generators code to execute the plan</a:t>
            </a:r>
            <a:endParaRPr dirty="0">
              <a:highlight>
                <a:srgbClr val="FFFF00"/>
              </a:highlight>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dirty="0">
                <a:solidFill>
                  <a:srgbClr val="800000"/>
                </a:solidFill>
                <a:highlight>
                  <a:srgbClr val="FFFF00"/>
                </a:highlight>
                <a:latin typeface="Arial"/>
                <a:ea typeface="Arial"/>
                <a:cs typeface="Arial"/>
                <a:sym typeface="Arial"/>
              </a:rPr>
              <a:t>Runtime database processor</a:t>
            </a:r>
            <a:endParaRPr dirty="0">
              <a:highlight>
                <a:srgbClr val="FFFF00"/>
              </a:highlight>
            </a:endParaRPr>
          </a:p>
          <a:p>
            <a:pPr marL="742950" lvl="1" indent="-285750" algn="l" rtl="0">
              <a:lnSpc>
                <a:spcPct val="100000"/>
              </a:lnSpc>
              <a:spcBef>
                <a:spcPts val="520"/>
              </a:spcBef>
              <a:spcAft>
                <a:spcPts val="0"/>
              </a:spcAft>
              <a:buSzPts val="1430"/>
              <a:buNone/>
            </a:pPr>
            <a:r>
              <a:rPr lang="en-US" sz="2600" b="0" i="0" u="none" dirty="0">
                <a:solidFill>
                  <a:srgbClr val="800000"/>
                </a:solidFill>
                <a:highlight>
                  <a:srgbClr val="FFFF00"/>
                </a:highlight>
                <a:latin typeface="Arial"/>
                <a:ea typeface="Arial"/>
                <a:cs typeface="Arial"/>
                <a:sym typeface="Arial"/>
              </a:rPr>
              <a:t>	runs the query code in compiled/interpreted mode to produce the query result </a:t>
            </a:r>
            <a:endParaRPr dirty="0">
              <a:highlight>
                <a:srgbClr val="FFFF00"/>
              </a:highlight>
            </a:endParaRPr>
          </a:p>
        </p:txBody>
      </p:sp>
    </p:spTree>
    <p:extLst>
      <p:ext uri="{BB962C8B-B14F-4D97-AF65-F5344CB8AC3E}">
        <p14:creationId xmlns:p14="http://schemas.microsoft.com/office/powerpoint/2010/main" val="962346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46C874A9-3DFE-003E-F5E7-1D991E090BC3}"/>
              </a:ext>
            </a:extLst>
          </p:cNvPr>
          <p:cNvSpPr>
            <a:spLocks noGrp="1" noChangeArrowheads="1"/>
          </p:cNvSpPr>
          <p:nvPr>
            <p:ph type="title"/>
          </p:nvPr>
        </p:nvSpPr>
        <p:spPr>
          <a:xfrm>
            <a:off x="350632" y="321288"/>
            <a:ext cx="8077200" cy="609600"/>
          </a:xfrm>
        </p:spPr>
        <p:txBody>
          <a:bodyPr/>
          <a:lstStyle/>
          <a:p>
            <a:r>
              <a:rPr lang="en-US" altLang="en-US" sz="2800" dirty="0">
                <a:effectLst>
                  <a:outerShdw blurRad="38100" dist="38100" dir="2700000" algn="tl">
                    <a:srgbClr val="C0C0C0"/>
                  </a:outerShdw>
                </a:effectLst>
                <a:ea typeface="ＭＳ Ｐゴシック" panose="020B0600070205080204" pitchFamily="34" charset="-128"/>
              </a:rPr>
              <a:t>Basic Steps in Query Processing : Optimization</a:t>
            </a:r>
          </a:p>
        </p:txBody>
      </p:sp>
      <p:sp>
        <p:nvSpPr>
          <p:cNvPr id="23554" name="Rectangle 3">
            <a:extLst>
              <a:ext uri="{FF2B5EF4-FFF2-40B4-BE49-F238E27FC236}">
                <a16:creationId xmlns:a16="http://schemas.microsoft.com/office/drawing/2014/main" id="{991B7F89-63FF-414C-B1B7-F0E34EEA79A0}"/>
              </a:ext>
            </a:extLst>
          </p:cNvPr>
          <p:cNvSpPr>
            <a:spLocks noGrp="1" noChangeArrowheads="1"/>
          </p:cNvSpPr>
          <p:nvPr>
            <p:ph type="body" idx="1"/>
          </p:nvPr>
        </p:nvSpPr>
        <p:spPr>
          <a:xfrm>
            <a:off x="350632" y="1356699"/>
            <a:ext cx="8024813" cy="5180013"/>
          </a:xfrm>
        </p:spPr>
        <p:txBody>
          <a:bodyPr/>
          <a:lstStyle/>
          <a:p>
            <a:r>
              <a:rPr lang="en-US" altLang="en-US" sz="2000" dirty="0">
                <a:ea typeface="ＭＳ Ｐゴシック" panose="020B0600070205080204" pitchFamily="34" charset="-128"/>
              </a:rPr>
              <a:t>A relational algebra expression may have many equivalent expressions</a:t>
            </a:r>
          </a:p>
          <a:p>
            <a:pPr lvl="1"/>
            <a:r>
              <a:rPr lang="en-US" altLang="en-US" sz="2000" dirty="0">
                <a:ea typeface="ＭＳ Ｐゴシック" panose="020B0600070205080204" pitchFamily="34" charset="-128"/>
              </a:rPr>
              <a:t>E.g., </a:t>
            </a:r>
            <a:r>
              <a:rPr lang="en-US" altLang="en-US" sz="2400" dirty="0">
                <a:ea typeface="ＭＳ Ｐゴシック" panose="020B0600070205080204" pitchFamily="34" charset="-128"/>
                <a:sym typeface="Symbol" panose="05050102010706020507" pitchFamily="18" charset="2"/>
              </a:rPr>
              <a:t></a:t>
            </a:r>
            <a:r>
              <a:rPr lang="en-US" altLang="en-US" sz="2400" i="1" baseline="-25000" dirty="0">
                <a:ea typeface="ＭＳ Ｐゴシック" panose="020B0600070205080204" pitchFamily="34" charset="-128"/>
                <a:sym typeface="Symbol" panose="05050102010706020507" pitchFamily="18" charset="2"/>
              </a:rPr>
              <a:t>salary</a:t>
            </a:r>
            <a:r>
              <a:rPr lang="en-US" altLang="en-US" sz="2400" baseline="-25000" dirty="0">
                <a:ea typeface="ＭＳ Ｐゴシック" panose="020B0600070205080204" pitchFamily="34" charset="-128"/>
                <a:sym typeface="Symbol" panose="05050102010706020507" pitchFamily="18" charset="2"/>
              </a:rPr>
              <a:t>75000</a:t>
            </a:r>
            <a:r>
              <a:rPr lang="en-US" altLang="en-US" sz="2000" dirty="0">
                <a:ea typeface="ＭＳ Ｐゴシック" panose="020B0600070205080204" pitchFamily="34" charset="-128"/>
                <a:sym typeface="Symbol" panose="05050102010706020507" pitchFamily="18" charset="2"/>
              </a:rPr>
              <a:t>(</a:t>
            </a:r>
            <a:r>
              <a:rPr lang="en-US" altLang="en-US" dirty="0">
                <a:ea typeface="ＭＳ Ｐゴシック" panose="020B0600070205080204" pitchFamily="34" charset="-128"/>
                <a:sym typeface="Symbol" panose="05050102010706020507" pitchFamily="18" charset="2"/>
              </a:rPr>
              <a:t></a:t>
            </a:r>
            <a:r>
              <a:rPr lang="en-US" altLang="en-US" sz="2000" i="1" baseline="-25000" dirty="0">
                <a:ea typeface="ＭＳ Ｐゴシック" panose="020B0600070205080204" pitchFamily="34" charset="-128"/>
                <a:sym typeface="Symbol" panose="05050102010706020507" pitchFamily="18" charset="2"/>
              </a:rPr>
              <a:t>salary</a:t>
            </a:r>
            <a:r>
              <a:rPr lang="en-US" altLang="en-US" sz="2000" dirty="0">
                <a:ea typeface="ＭＳ Ｐゴシック" panose="020B0600070205080204" pitchFamily="34" charset="-128"/>
                <a:sym typeface="Symbol" panose="05050102010706020507" pitchFamily="18" charset="2"/>
              </a:rPr>
              <a:t>(</a:t>
            </a:r>
            <a:r>
              <a:rPr lang="en-US" altLang="en-US" sz="2000" i="1" dirty="0">
                <a:ea typeface="ＭＳ Ｐゴシック" panose="020B0600070205080204" pitchFamily="34" charset="-128"/>
                <a:sym typeface="Symbol" panose="05050102010706020507" pitchFamily="18" charset="2"/>
              </a:rPr>
              <a:t>instructor)) </a:t>
            </a:r>
            <a:r>
              <a:rPr lang="en-US" altLang="en-US" sz="2000" dirty="0">
                <a:ea typeface="ＭＳ Ｐゴシック" panose="020B0600070205080204" pitchFamily="34" charset="-128"/>
                <a:sym typeface="Symbol" panose="05050102010706020507" pitchFamily="18" charset="2"/>
              </a:rPr>
              <a:t>is equivalent to </a:t>
            </a:r>
            <a:br>
              <a:rPr lang="en-US" altLang="en-US" sz="2000" dirty="0">
                <a:ea typeface="ＭＳ Ｐゴシック" panose="020B0600070205080204" pitchFamily="34" charset="-128"/>
                <a:sym typeface="Symbol" panose="05050102010706020507" pitchFamily="18" charset="2"/>
              </a:rPr>
            </a:br>
            <a:r>
              <a:rPr lang="en-US" altLang="en-US" sz="2000" dirty="0">
                <a:ea typeface="ＭＳ Ｐゴシック" panose="020B0600070205080204" pitchFamily="34" charset="-128"/>
                <a:sym typeface="Symbol" panose="05050102010706020507" pitchFamily="18" charset="2"/>
              </a:rPr>
              <a:t>         </a:t>
            </a:r>
            <a:r>
              <a:rPr lang="en-US" altLang="en-US" dirty="0">
                <a:ea typeface="ＭＳ Ｐゴシック" panose="020B0600070205080204" pitchFamily="34" charset="-128"/>
                <a:sym typeface="Symbol" panose="05050102010706020507" pitchFamily="18" charset="2"/>
              </a:rPr>
              <a:t></a:t>
            </a:r>
            <a:r>
              <a:rPr lang="en-US" altLang="en-US" sz="2400" i="1" baseline="-25000" dirty="0">
                <a:ea typeface="ＭＳ Ｐゴシック" panose="020B0600070205080204" pitchFamily="34" charset="-128"/>
                <a:sym typeface="Symbol" panose="05050102010706020507" pitchFamily="18" charset="2"/>
              </a:rPr>
              <a:t>salary</a:t>
            </a:r>
            <a:r>
              <a:rPr lang="en-US" altLang="en-US" sz="2000" dirty="0">
                <a:ea typeface="ＭＳ Ｐゴシック" panose="020B0600070205080204" pitchFamily="34" charset="-128"/>
                <a:sym typeface="Symbol" panose="05050102010706020507" pitchFamily="18" charset="2"/>
              </a:rPr>
              <a:t>(</a:t>
            </a:r>
            <a:r>
              <a:rPr lang="en-US" altLang="en-US" sz="2400" dirty="0">
                <a:ea typeface="ＭＳ Ｐゴシック" panose="020B0600070205080204" pitchFamily="34" charset="-128"/>
                <a:sym typeface="Symbol" panose="05050102010706020507" pitchFamily="18" charset="2"/>
              </a:rPr>
              <a:t></a:t>
            </a:r>
            <a:r>
              <a:rPr lang="en-US" altLang="en-US" sz="2400" i="1" baseline="-25000" dirty="0">
                <a:ea typeface="ＭＳ Ｐゴシック" panose="020B0600070205080204" pitchFamily="34" charset="-128"/>
                <a:sym typeface="Symbol" panose="05050102010706020507" pitchFamily="18" charset="2"/>
              </a:rPr>
              <a:t>salary</a:t>
            </a:r>
            <a:r>
              <a:rPr lang="en-US" altLang="en-US" sz="2400" baseline="-25000" dirty="0">
                <a:ea typeface="ＭＳ Ｐゴシック" panose="020B0600070205080204" pitchFamily="34" charset="-128"/>
                <a:sym typeface="Symbol" panose="05050102010706020507" pitchFamily="18" charset="2"/>
              </a:rPr>
              <a:t>75000</a:t>
            </a:r>
            <a:r>
              <a:rPr lang="en-US" altLang="en-US" sz="2000" dirty="0">
                <a:ea typeface="ＭＳ Ｐゴシック" panose="020B0600070205080204" pitchFamily="34" charset="-128"/>
                <a:sym typeface="Symbol" panose="05050102010706020507" pitchFamily="18" charset="2"/>
              </a:rPr>
              <a:t>(</a:t>
            </a:r>
            <a:r>
              <a:rPr lang="en-US" altLang="en-US" sz="2000" i="1" dirty="0">
                <a:ea typeface="ＭＳ Ｐゴシック" panose="020B0600070205080204" pitchFamily="34" charset="-128"/>
                <a:sym typeface="Symbol" panose="05050102010706020507" pitchFamily="18" charset="2"/>
              </a:rPr>
              <a:t>instructor))</a:t>
            </a:r>
          </a:p>
          <a:p>
            <a:r>
              <a:rPr lang="en-US" altLang="en-US" sz="2000" dirty="0">
                <a:highlight>
                  <a:srgbClr val="FFFF00"/>
                </a:highlight>
                <a:ea typeface="ＭＳ Ｐゴシック" panose="020B0600070205080204" pitchFamily="34" charset="-128"/>
                <a:sym typeface="Symbol" panose="05050102010706020507" pitchFamily="18" charset="2"/>
              </a:rPr>
              <a:t>Each relational algebra operation can be evaluated using one of several different algorithms</a:t>
            </a:r>
          </a:p>
          <a:p>
            <a:pPr lvl="1"/>
            <a:r>
              <a:rPr lang="en-US" altLang="en-US" sz="2000" dirty="0">
                <a:ea typeface="ＭＳ Ｐゴシック" panose="020B0600070205080204" pitchFamily="34" charset="-128"/>
                <a:sym typeface="Symbol" panose="05050102010706020507" pitchFamily="18" charset="2"/>
              </a:rPr>
              <a:t>Correspondingly, a relational-algebra expression can be evaluated in many ways. </a:t>
            </a:r>
          </a:p>
          <a:p>
            <a:r>
              <a:rPr lang="en-US" altLang="en-US" sz="2000" dirty="0">
                <a:highlight>
                  <a:srgbClr val="FFFF00"/>
                </a:highlight>
                <a:ea typeface="ＭＳ Ｐゴシック" panose="020B0600070205080204" pitchFamily="34" charset="-128"/>
                <a:sym typeface="Symbol" panose="05050102010706020507" pitchFamily="18" charset="2"/>
              </a:rPr>
              <a:t>Annotated expression specifying detailed evaluation strategy is called an </a:t>
            </a:r>
            <a:r>
              <a:rPr lang="en-US" altLang="en-US" sz="2000" b="1" dirty="0">
                <a:solidFill>
                  <a:srgbClr val="3366CC"/>
                </a:solidFill>
                <a:highlight>
                  <a:srgbClr val="FFFF00"/>
                </a:highlight>
                <a:ea typeface="ＭＳ Ｐゴシック" panose="020B0600070205080204" pitchFamily="34" charset="-128"/>
                <a:sym typeface="Symbol" panose="05050102010706020507" pitchFamily="18" charset="2"/>
              </a:rPr>
              <a:t>evaluation-plan</a:t>
            </a:r>
            <a:r>
              <a:rPr lang="en-US" altLang="en-US" sz="2000" dirty="0">
                <a:highlight>
                  <a:srgbClr val="FFFF00"/>
                </a:highlight>
                <a:ea typeface="ＭＳ Ｐゴシック" panose="020B0600070205080204" pitchFamily="34" charset="-128"/>
                <a:sym typeface="Symbol" panose="05050102010706020507" pitchFamily="18" charset="2"/>
              </a:rPr>
              <a:t>.</a:t>
            </a:r>
          </a:p>
          <a:p>
            <a:pPr lvl="1"/>
            <a:r>
              <a:rPr lang="en-US" altLang="en-US" sz="2000" dirty="0">
                <a:ea typeface="ＭＳ Ｐゴシック" panose="020B0600070205080204" pitchFamily="34" charset="-128"/>
                <a:sym typeface="Symbol" panose="05050102010706020507" pitchFamily="18" charset="2"/>
              </a:rPr>
              <a:t>E.g., can use an index on </a:t>
            </a:r>
            <a:r>
              <a:rPr lang="en-US" altLang="en-US" sz="2000" i="1" dirty="0">
                <a:ea typeface="ＭＳ Ｐゴシック" panose="020B0600070205080204" pitchFamily="34" charset="-128"/>
                <a:sym typeface="Symbol" panose="05050102010706020507" pitchFamily="18" charset="2"/>
              </a:rPr>
              <a:t>salary</a:t>
            </a:r>
            <a:r>
              <a:rPr lang="en-US" altLang="en-US" sz="2000" dirty="0">
                <a:ea typeface="ＭＳ Ｐゴシック" panose="020B0600070205080204" pitchFamily="34" charset="-128"/>
                <a:sym typeface="Symbol" panose="05050102010706020507" pitchFamily="18" charset="2"/>
              </a:rPr>
              <a:t> to find instructors with salary &lt; 75000,</a:t>
            </a:r>
          </a:p>
          <a:p>
            <a:pPr lvl="1"/>
            <a:r>
              <a:rPr lang="en-US" altLang="en-US" sz="2000" dirty="0">
                <a:ea typeface="ＭＳ Ｐゴシック" panose="020B0600070205080204" pitchFamily="34" charset="-128"/>
                <a:sym typeface="Symbol" panose="05050102010706020507" pitchFamily="18" charset="2"/>
              </a:rPr>
              <a:t>or can perform complete relation scan and discard instructors with salary  75000</a:t>
            </a:r>
          </a:p>
        </p:txBody>
      </p:sp>
    </p:spTree>
    <p:extLst>
      <p:ext uri="{BB962C8B-B14F-4D97-AF65-F5344CB8AC3E}">
        <p14:creationId xmlns:p14="http://schemas.microsoft.com/office/powerpoint/2010/main" val="351847266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g34bb4a50d9c_0_0"/>
          <p:cNvSpPr txBox="1">
            <a:spLocks noGrp="1"/>
          </p:cNvSpPr>
          <p:nvPr>
            <p:ph type="title"/>
          </p:nvPr>
        </p:nvSpPr>
        <p:spPr>
          <a:xfrm>
            <a:off x="457200" y="274638"/>
            <a:ext cx="7620075" cy="11430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nested query</a:t>
            </a:r>
            <a:endParaRPr/>
          </a:p>
        </p:txBody>
      </p:sp>
      <p:sp>
        <p:nvSpPr>
          <p:cNvPr id="382" name="Google Shape;382;g34bb4a50d9c_0_0"/>
          <p:cNvSpPr txBox="1">
            <a:spLocks noGrp="1"/>
          </p:cNvSpPr>
          <p:nvPr>
            <p:ph type="body" idx="1"/>
          </p:nvPr>
        </p:nvSpPr>
        <p:spPr>
          <a:xfrm>
            <a:off x="457200" y="1600200"/>
            <a:ext cx="7620075" cy="48006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r>
              <a:rPr lang="en-US" sz="2600"/>
              <a:t>select Ename from Emp where Did in(select Did from dept where Dname=’Sales’);</a:t>
            </a:r>
            <a:endParaRPr sz="2600"/>
          </a:p>
        </p:txBody>
      </p:sp>
      <p:pic>
        <p:nvPicPr>
          <p:cNvPr id="383" name="Google Shape;383;g34bb4a50d9c_0_0"/>
          <p:cNvPicPr preferRelativeResize="0"/>
          <p:nvPr/>
        </p:nvPicPr>
        <p:blipFill>
          <a:blip r:embed="rId3">
            <a:alphaModFix/>
          </a:blip>
          <a:stretch>
            <a:fillRect/>
          </a:stretch>
        </p:blipFill>
        <p:spPr>
          <a:xfrm>
            <a:off x="3791662" y="2798994"/>
            <a:ext cx="2196038" cy="2403025"/>
          </a:xfrm>
          <a:prstGeom prst="rect">
            <a:avLst/>
          </a:prstGeom>
          <a:noFill/>
          <a:ln>
            <a:noFill/>
          </a:ln>
        </p:spPr>
      </p:pic>
      <p:pic>
        <p:nvPicPr>
          <p:cNvPr id="384" name="Google Shape;384;g34bb4a50d9c_0_0"/>
          <p:cNvPicPr preferRelativeResize="0"/>
          <p:nvPr/>
        </p:nvPicPr>
        <p:blipFill>
          <a:blip r:embed="rId4">
            <a:alphaModFix/>
          </a:blip>
          <a:stretch>
            <a:fillRect/>
          </a:stretch>
        </p:blipFill>
        <p:spPr>
          <a:xfrm>
            <a:off x="700275" y="2923225"/>
            <a:ext cx="2435250" cy="2154550"/>
          </a:xfrm>
          <a:prstGeom prst="rect">
            <a:avLst/>
          </a:prstGeom>
          <a:noFill/>
          <a:ln>
            <a:noFill/>
          </a:ln>
        </p:spPr>
      </p:pic>
    </p:spTree>
    <p:extLst>
      <p:ext uri="{BB962C8B-B14F-4D97-AF65-F5344CB8AC3E}">
        <p14:creationId xmlns:p14="http://schemas.microsoft.com/office/powerpoint/2010/main" val="81821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g34bb4a50d9c_0_9"/>
          <p:cNvSpPr txBox="1">
            <a:spLocks noGrp="1"/>
          </p:cNvSpPr>
          <p:nvPr>
            <p:ph type="title"/>
          </p:nvPr>
        </p:nvSpPr>
        <p:spPr>
          <a:xfrm>
            <a:off x="457200" y="274638"/>
            <a:ext cx="7620075" cy="11430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join query</a:t>
            </a:r>
            <a:endParaRPr/>
          </a:p>
        </p:txBody>
      </p:sp>
      <p:sp>
        <p:nvSpPr>
          <p:cNvPr id="391" name="Google Shape;391;g34bb4a50d9c_0_9"/>
          <p:cNvSpPr txBox="1">
            <a:spLocks noGrp="1"/>
          </p:cNvSpPr>
          <p:nvPr>
            <p:ph type="body" idx="1"/>
          </p:nvPr>
        </p:nvSpPr>
        <p:spPr>
          <a:xfrm>
            <a:off x="457200" y="1600200"/>
            <a:ext cx="7620075" cy="48006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r>
              <a:rPr lang="en-US" sz="3300"/>
              <a:t>select Ename from </a:t>
            </a:r>
            <a:endParaRPr sz="3300"/>
          </a:p>
          <a:p>
            <a:pPr marL="0" lvl="0" indent="0" algn="l" rtl="0">
              <a:spcBef>
                <a:spcPts val="360"/>
              </a:spcBef>
              <a:spcAft>
                <a:spcPts val="0"/>
              </a:spcAft>
              <a:buNone/>
            </a:pPr>
            <a:r>
              <a:rPr lang="en-US" sz="3300"/>
              <a:t>Emp e join dept d </a:t>
            </a:r>
            <a:endParaRPr sz="3300"/>
          </a:p>
          <a:p>
            <a:pPr marL="0" lvl="0" indent="0" algn="l" rtl="0">
              <a:spcBef>
                <a:spcPts val="360"/>
              </a:spcBef>
              <a:spcAft>
                <a:spcPts val="0"/>
              </a:spcAft>
              <a:buNone/>
            </a:pPr>
            <a:r>
              <a:rPr lang="en-US" sz="3300"/>
              <a:t>on emp.Did =dept.did </a:t>
            </a:r>
            <a:endParaRPr sz="3300"/>
          </a:p>
          <a:p>
            <a:pPr marL="0" lvl="0" indent="0" algn="l" rtl="0">
              <a:spcBef>
                <a:spcPts val="360"/>
              </a:spcBef>
              <a:spcAft>
                <a:spcPts val="0"/>
              </a:spcAft>
              <a:buNone/>
            </a:pPr>
            <a:r>
              <a:rPr lang="en-US" sz="3300"/>
              <a:t>where dname=’Sales’;</a:t>
            </a:r>
            <a:endParaRPr sz="3300"/>
          </a:p>
          <a:p>
            <a:pPr marL="0" lvl="0" indent="0" algn="l" rtl="0">
              <a:spcBef>
                <a:spcPts val="360"/>
              </a:spcBef>
              <a:spcAft>
                <a:spcPts val="0"/>
              </a:spcAft>
              <a:buNone/>
            </a:pPr>
            <a:endParaRPr/>
          </a:p>
        </p:txBody>
      </p:sp>
      <p:pic>
        <p:nvPicPr>
          <p:cNvPr id="392" name="Google Shape;392;g34bb4a50d9c_0_9"/>
          <p:cNvPicPr preferRelativeResize="0"/>
          <p:nvPr/>
        </p:nvPicPr>
        <p:blipFill>
          <a:blip r:embed="rId3">
            <a:alphaModFix/>
          </a:blip>
          <a:stretch>
            <a:fillRect/>
          </a:stretch>
        </p:blipFill>
        <p:spPr>
          <a:xfrm>
            <a:off x="4935525" y="1600200"/>
            <a:ext cx="3826221" cy="4800600"/>
          </a:xfrm>
          <a:prstGeom prst="rect">
            <a:avLst/>
          </a:prstGeom>
          <a:noFill/>
          <a:ln>
            <a:noFill/>
          </a:ln>
        </p:spPr>
      </p:pic>
    </p:spTree>
    <p:extLst>
      <p:ext uri="{BB962C8B-B14F-4D97-AF65-F5344CB8AC3E}">
        <p14:creationId xmlns:p14="http://schemas.microsoft.com/office/powerpoint/2010/main" val="4092039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g34bb4a50d9c_0_16"/>
          <p:cNvSpPr txBox="1">
            <a:spLocks noGrp="1"/>
          </p:cNvSpPr>
          <p:nvPr>
            <p:ph type="title"/>
          </p:nvPr>
        </p:nvSpPr>
        <p:spPr>
          <a:xfrm>
            <a:off x="457200" y="274638"/>
            <a:ext cx="7620075" cy="11430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query with with clause</a:t>
            </a:r>
            <a:endParaRPr/>
          </a:p>
        </p:txBody>
      </p:sp>
      <p:sp>
        <p:nvSpPr>
          <p:cNvPr id="399" name="Google Shape;399;g34bb4a50d9c_0_16"/>
          <p:cNvSpPr txBox="1">
            <a:spLocks noGrp="1"/>
          </p:cNvSpPr>
          <p:nvPr>
            <p:ph type="body" idx="1"/>
          </p:nvPr>
        </p:nvSpPr>
        <p:spPr>
          <a:xfrm>
            <a:off x="457200" y="1600200"/>
            <a:ext cx="7620075" cy="48006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r>
              <a:rPr lang="en-US" sz="2900"/>
              <a:t>with </a:t>
            </a:r>
            <a:r>
              <a:rPr lang="en-US" sz="2900" b="1"/>
              <a:t>salesdept</a:t>
            </a:r>
            <a:r>
              <a:rPr lang="en-US" sz="2900"/>
              <a:t> as (select Did from dept where Dname=’Sales’) select e.Ename from emp </a:t>
            </a:r>
            <a:r>
              <a:rPr lang="en-US" sz="2900" b="1"/>
              <a:t>e</a:t>
            </a:r>
            <a:r>
              <a:rPr lang="en-US" sz="2900"/>
              <a:t> join salesdept </a:t>
            </a:r>
            <a:r>
              <a:rPr lang="en-US" sz="2900" b="1"/>
              <a:t>s</a:t>
            </a:r>
            <a:r>
              <a:rPr lang="en-US" sz="2900"/>
              <a:t> on </a:t>
            </a:r>
            <a:r>
              <a:rPr lang="en-US" sz="2900" b="1"/>
              <a:t>emp.did=s.did</a:t>
            </a:r>
            <a:r>
              <a:rPr lang="en-US" sz="2900"/>
              <a:t>;</a:t>
            </a:r>
            <a:endParaRPr sz="2500"/>
          </a:p>
        </p:txBody>
      </p:sp>
      <p:pic>
        <p:nvPicPr>
          <p:cNvPr id="400" name="Google Shape;400;g34bb4a50d9c_0_16"/>
          <p:cNvPicPr preferRelativeResize="0"/>
          <p:nvPr/>
        </p:nvPicPr>
        <p:blipFill>
          <a:blip r:embed="rId3">
            <a:alphaModFix/>
          </a:blip>
          <a:stretch>
            <a:fillRect/>
          </a:stretch>
        </p:blipFill>
        <p:spPr>
          <a:xfrm>
            <a:off x="4379944" y="3904583"/>
            <a:ext cx="3697331" cy="2169675"/>
          </a:xfrm>
          <a:prstGeom prst="rect">
            <a:avLst/>
          </a:prstGeom>
          <a:noFill/>
          <a:ln>
            <a:noFill/>
          </a:ln>
        </p:spPr>
      </p:pic>
      <p:pic>
        <p:nvPicPr>
          <p:cNvPr id="401" name="Google Shape;401;g34bb4a50d9c_0_16"/>
          <p:cNvPicPr preferRelativeResize="0"/>
          <p:nvPr/>
        </p:nvPicPr>
        <p:blipFill>
          <a:blip r:embed="rId4">
            <a:alphaModFix/>
          </a:blip>
          <a:stretch>
            <a:fillRect/>
          </a:stretch>
        </p:blipFill>
        <p:spPr>
          <a:xfrm>
            <a:off x="1746413" y="4317270"/>
            <a:ext cx="2084590" cy="2169675"/>
          </a:xfrm>
          <a:prstGeom prst="rect">
            <a:avLst/>
          </a:prstGeom>
          <a:noFill/>
          <a:ln>
            <a:noFill/>
          </a:ln>
        </p:spPr>
      </p:pic>
      <p:pic>
        <p:nvPicPr>
          <p:cNvPr id="402" name="Google Shape;402;g34bb4a50d9c_0_16"/>
          <p:cNvPicPr preferRelativeResize="0"/>
          <p:nvPr/>
        </p:nvPicPr>
        <p:blipFill>
          <a:blip r:embed="rId5">
            <a:alphaModFix/>
          </a:blip>
          <a:stretch>
            <a:fillRect/>
          </a:stretch>
        </p:blipFill>
        <p:spPr>
          <a:xfrm>
            <a:off x="1746414" y="2993575"/>
            <a:ext cx="2265524" cy="1143000"/>
          </a:xfrm>
          <a:prstGeom prst="rect">
            <a:avLst/>
          </a:prstGeom>
          <a:noFill/>
          <a:ln>
            <a:noFill/>
          </a:ln>
        </p:spPr>
      </p:pic>
      <p:sp>
        <p:nvSpPr>
          <p:cNvPr id="403" name="Google Shape;403;g34bb4a50d9c_0_16"/>
          <p:cNvSpPr txBox="1"/>
          <p:nvPr/>
        </p:nvSpPr>
        <p:spPr>
          <a:xfrm>
            <a:off x="573131" y="3167400"/>
            <a:ext cx="8464725"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solidFill>
                  <a:schemeClr val="dk1"/>
                </a:solidFill>
                <a:latin typeface="Calibri"/>
                <a:ea typeface="Calibri"/>
                <a:cs typeface="Calibri"/>
                <a:sym typeface="Calibri"/>
              </a:rPr>
              <a:t>salesdept</a:t>
            </a:r>
            <a:endParaRPr sz="2200">
              <a:solidFill>
                <a:schemeClr val="dk1"/>
              </a:solidFill>
              <a:latin typeface="Calibri"/>
              <a:ea typeface="Calibri"/>
              <a:cs typeface="Calibri"/>
              <a:sym typeface="Calibri"/>
            </a:endParaRPr>
          </a:p>
        </p:txBody>
      </p:sp>
      <p:sp>
        <p:nvSpPr>
          <p:cNvPr id="404" name="Google Shape;404;g34bb4a50d9c_0_16"/>
          <p:cNvSpPr txBox="1"/>
          <p:nvPr/>
        </p:nvSpPr>
        <p:spPr>
          <a:xfrm>
            <a:off x="705394" y="4800600"/>
            <a:ext cx="8464725"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a:solidFill>
                  <a:schemeClr val="dk1"/>
                </a:solidFill>
                <a:latin typeface="Calibri"/>
                <a:ea typeface="Calibri"/>
                <a:cs typeface="Calibri"/>
                <a:sym typeface="Calibri"/>
              </a:rPr>
              <a:t>Emp</a:t>
            </a:r>
            <a:endParaRPr sz="2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03901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8"/>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Introduction to Query Processing (2)</a:t>
            </a:r>
            <a:endParaRPr/>
          </a:p>
        </p:txBody>
      </p:sp>
      <p:sp>
        <p:nvSpPr>
          <p:cNvPr id="114" name="Google Shape;114;p18"/>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17</a:t>
            </a:fld>
            <a:endParaRPr/>
          </a:p>
        </p:txBody>
      </p:sp>
      <p:sp>
        <p:nvSpPr>
          <p:cNvPr id="115" name="Google Shape;115;p18"/>
          <p:cNvSpPr txBox="1"/>
          <p:nvPr/>
        </p:nvSpPr>
        <p:spPr>
          <a:xfrm>
            <a:off x="76200" y="1381125"/>
            <a:ext cx="8351837" cy="4894262"/>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0" i="0" u="none" dirty="0">
                <a:solidFill>
                  <a:schemeClr val="dk1"/>
                </a:solidFill>
                <a:highlight>
                  <a:srgbClr val="FFFF00"/>
                </a:highlight>
                <a:latin typeface="Arial"/>
                <a:ea typeface="Arial"/>
                <a:cs typeface="Arial"/>
                <a:sym typeface="Arial"/>
              </a:rPr>
              <a:t>Scanner – identifies language tokens- </a:t>
            </a:r>
            <a:r>
              <a:rPr lang="en-US" sz="2400" b="0" i="0" u="none" dirty="0" err="1">
                <a:solidFill>
                  <a:schemeClr val="dk1"/>
                </a:solidFill>
                <a:highlight>
                  <a:srgbClr val="FFFF00"/>
                </a:highlight>
                <a:latin typeface="Arial"/>
                <a:ea typeface="Arial"/>
                <a:cs typeface="Arial"/>
                <a:sym typeface="Arial"/>
              </a:rPr>
              <a:t>sql</a:t>
            </a:r>
            <a:r>
              <a:rPr lang="en-US" sz="2400" b="0" i="0" u="none" dirty="0">
                <a:solidFill>
                  <a:schemeClr val="dk1"/>
                </a:solidFill>
                <a:highlight>
                  <a:srgbClr val="FFFF00"/>
                </a:highlight>
                <a:latin typeface="Arial"/>
                <a:ea typeface="Arial"/>
                <a:cs typeface="Arial"/>
                <a:sym typeface="Arial"/>
              </a:rPr>
              <a:t> keywords, </a:t>
            </a:r>
            <a:endParaRPr dirty="0">
              <a:highlight>
                <a:srgbClr val="FFFF00"/>
              </a:highlight>
            </a:endParaRPr>
          </a:p>
          <a:p>
            <a:pPr marL="342900" marR="0" lvl="0" indent="-342900" algn="l" rtl="0">
              <a:lnSpc>
                <a:spcPct val="100000"/>
              </a:lnSpc>
              <a:spcBef>
                <a:spcPts val="0"/>
              </a:spcBef>
              <a:spcAft>
                <a:spcPts val="0"/>
              </a:spcAft>
              <a:buClr>
                <a:schemeClr val="dk1"/>
              </a:buClr>
              <a:buSzPts val="2400"/>
              <a:buFont typeface="Arial"/>
              <a:buNone/>
            </a:pPr>
            <a:r>
              <a:rPr lang="en-US" sz="2400" b="0" i="0" u="none" dirty="0" err="1">
                <a:solidFill>
                  <a:schemeClr val="dk1"/>
                </a:solidFill>
                <a:highlight>
                  <a:srgbClr val="FFFF00"/>
                </a:highlight>
                <a:latin typeface="Arial"/>
                <a:ea typeface="Arial"/>
                <a:cs typeface="Arial"/>
                <a:sym typeface="Arial"/>
              </a:rPr>
              <a:t>relation,attributes</a:t>
            </a:r>
            <a:r>
              <a:rPr lang="en-US" sz="2400" b="0" i="0" u="none" dirty="0">
                <a:solidFill>
                  <a:schemeClr val="dk1"/>
                </a:solidFill>
                <a:highlight>
                  <a:srgbClr val="FFFF00"/>
                </a:highlight>
                <a:latin typeface="Arial"/>
                <a:ea typeface="Arial"/>
                <a:cs typeface="Arial"/>
                <a:sym typeface="Arial"/>
              </a:rPr>
              <a:t> names</a:t>
            </a:r>
            <a:endParaRPr dirty="0">
              <a:highlight>
                <a:srgbClr val="FFFF00"/>
              </a:highlight>
            </a:endParaRPr>
          </a:p>
          <a:p>
            <a:pPr marL="342900" marR="0" lvl="0" indent="-342900" algn="l" rtl="0">
              <a:lnSpc>
                <a:spcPct val="100000"/>
              </a:lnSpc>
              <a:spcBef>
                <a:spcPts val="0"/>
              </a:spcBef>
              <a:spcAft>
                <a:spcPts val="0"/>
              </a:spcAft>
              <a:buClr>
                <a:schemeClr val="dk1"/>
              </a:buClr>
              <a:buSzPts val="2400"/>
              <a:buFont typeface="Arial"/>
              <a:buNone/>
            </a:pPr>
            <a:endParaRPr sz="2400" b="0" i="0" u="none" dirty="0">
              <a:solidFill>
                <a:schemeClr val="dk1"/>
              </a:solidFill>
              <a:highlight>
                <a:srgbClr val="FFFF00"/>
              </a:highlight>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400"/>
              <a:buFont typeface="Arial"/>
              <a:buChar char="•"/>
            </a:pPr>
            <a:r>
              <a:rPr lang="en-US" sz="2400" b="0" i="0" u="none" dirty="0">
                <a:solidFill>
                  <a:schemeClr val="dk1"/>
                </a:solidFill>
                <a:highlight>
                  <a:srgbClr val="FFFF00"/>
                </a:highlight>
                <a:latin typeface="Arial"/>
                <a:ea typeface="Arial"/>
                <a:cs typeface="Arial"/>
                <a:sym typeface="Arial"/>
              </a:rPr>
              <a:t>Parser –checks syntax of the query(grammar rules)</a:t>
            </a:r>
            <a:endParaRPr dirty="0">
              <a:highlight>
                <a:srgbClr val="FFFF00"/>
              </a:highlight>
            </a:endParaRPr>
          </a:p>
          <a:p>
            <a:pPr marL="342900" marR="0" lvl="0" indent="-190500" algn="l" rtl="0">
              <a:lnSpc>
                <a:spcPct val="100000"/>
              </a:lnSpc>
              <a:spcBef>
                <a:spcPts val="0"/>
              </a:spcBef>
              <a:spcAft>
                <a:spcPts val="0"/>
              </a:spcAft>
              <a:buClr>
                <a:schemeClr val="dk1"/>
              </a:buClr>
              <a:buSzPts val="2400"/>
              <a:buFont typeface="Arial"/>
              <a:buNone/>
            </a:pPr>
            <a:endParaRPr sz="2400" b="0" i="0" u="none" dirty="0">
              <a:solidFill>
                <a:schemeClr val="dk1"/>
              </a:solidFill>
              <a:highlight>
                <a:srgbClr val="FFFF00"/>
              </a:highlight>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400"/>
              <a:buFont typeface="Arial"/>
              <a:buChar char="•"/>
            </a:pPr>
            <a:r>
              <a:rPr lang="en-US" sz="2400" b="0" i="0" u="none" dirty="0">
                <a:solidFill>
                  <a:schemeClr val="dk1"/>
                </a:solidFill>
                <a:highlight>
                  <a:srgbClr val="FFFF00"/>
                </a:highlight>
                <a:latin typeface="Arial"/>
                <a:ea typeface="Arial"/>
                <a:cs typeface="Arial"/>
                <a:sym typeface="Arial"/>
              </a:rPr>
              <a:t>Validation- all attributes and relation names are valid and </a:t>
            </a:r>
            <a:endParaRPr dirty="0">
              <a:highlight>
                <a:srgbClr val="FFFF00"/>
              </a:highlight>
            </a:endParaRPr>
          </a:p>
          <a:p>
            <a:pPr marL="342900" marR="0" lvl="0" indent="-342900" algn="l" rtl="0">
              <a:lnSpc>
                <a:spcPct val="100000"/>
              </a:lnSpc>
              <a:spcBef>
                <a:spcPts val="0"/>
              </a:spcBef>
              <a:spcAft>
                <a:spcPts val="0"/>
              </a:spcAft>
              <a:buClr>
                <a:schemeClr val="dk1"/>
              </a:buClr>
              <a:buSzPts val="2400"/>
              <a:buFont typeface="Arial"/>
              <a:buNone/>
            </a:pPr>
            <a:r>
              <a:rPr lang="en-US" sz="2400" b="0" i="0" u="none" dirty="0">
                <a:solidFill>
                  <a:schemeClr val="dk1"/>
                </a:solidFill>
                <a:highlight>
                  <a:srgbClr val="FFFF00"/>
                </a:highlight>
                <a:latin typeface="Arial"/>
                <a:ea typeface="Arial"/>
                <a:cs typeface="Arial"/>
                <a:sym typeface="Arial"/>
              </a:rPr>
              <a:t>semantically meaningful names as given in schema</a:t>
            </a:r>
            <a:endParaRPr dirty="0">
              <a:highlight>
                <a:srgbClr val="FFFF00"/>
              </a:highlight>
            </a:endParaRPr>
          </a:p>
          <a:p>
            <a:pPr marL="342900" marR="0" lvl="0" indent="-190500" algn="l" rtl="0">
              <a:lnSpc>
                <a:spcPct val="100000"/>
              </a:lnSpc>
              <a:spcBef>
                <a:spcPts val="0"/>
              </a:spcBef>
              <a:spcAft>
                <a:spcPts val="0"/>
              </a:spcAft>
              <a:buClr>
                <a:schemeClr val="dk1"/>
              </a:buClr>
              <a:buSzPts val="2400"/>
              <a:buFont typeface="Arial"/>
              <a:buNone/>
            </a:pPr>
            <a:endParaRPr sz="2400" b="0" i="0" u="none" dirty="0">
              <a:solidFill>
                <a:schemeClr val="dk1"/>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400"/>
              <a:buFont typeface="Arial"/>
              <a:buChar char="•"/>
            </a:pPr>
            <a:r>
              <a:rPr lang="en-US" sz="2400" b="0" i="0" u="none" dirty="0">
                <a:solidFill>
                  <a:schemeClr val="dk1"/>
                </a:solidFill>
                <a:latin typeface="Arial"/>
                <a:ea typeface="Arial"/>
                <a:cs typeface="Arial"/>
                <a:sym typeface="Arial"/>
              </a:rPr>
              <a:t>Two internal representations of a query:</a:t>
            </a:r>
            <a:endParaRPr dirty="0"/>
          </a:p>
          <a:p>
            <a:pPr marL="457200" marR="0" lvl="1" indent="0" algn="l" rtl="0">
              <a:lnSpc>
                <a:spcPct val="100000"/>
              </a:lnSpc>
              <a:spcBef>
                <a:spcPts val="0"/>
              </a:spcBef>
              <a:spcAft>
                <a:spcPts val="0"/>
              </a:spcAft>
              <a:buClr>
                <a:schemeClr val="dk1"/>
              </a:buClr>
              <a:buSzPts val="2400"/>
              <a:buFont typeface="Arial"/>
              <a:buNone/>
            </a:pPr>
            <a:r>
              <a:rPr lang="en-US" sz="2400" b="1" i="0" u="none" strike="noStrike" cap="none" dirty="0">
                <a:solidFill>
                  <a:schemeClr val="dk1"/>
                </a:solidFill>
                <a:latin typeface="Arial"/>
                <a:ea typeface="Arial"/>
                <a:cs typeface="Arial"/>
                <a:sym typeface="Arial"/>
              </a:rPr>
              <a:t>Query Tree</a:t>
            </a:r>
            <a:endParaRPr dirty="0"/>
          </a:p>
          <a:p>
            <a:pPr marL="457200" marR="0" lvl="1" indent="0" algn="l" rtl="0">
              <a:lnSpc>
                <a:spcPct val="100000"/>
              </a:lnSpc>
              <a:spcBef>
                <a:spcPts val="0"/>
              </a:spcBef>
              <a:spcAft>
                <a:spcPts val="0"/>
              </a:spcAft>
              <a:buClr>
                <a:schemeClr val="dk1"/>
              </a:buClr>
              <a:buSzPts val="2400"/>
              <a:buFont typeface="Arial"/>
              <a:buNone/>
            </a:pPr>
            <a:r>
              <a:rPr lang="en-US" sz="2400" b="1" i="0" u="none" strike="noStrike" cap="none" dirty="0">
                <a:solidFill>
                  <a:schemeClr val="dk1"/>
                </a:solidFill>
                <a:latin typeface="Arial"/>
                <a:ea typeface="Arial"/>
                <a:cs typeface="Arial"/>
                <a:sym typeface="Arial"/>
              </a:rPr>
              <a:t>Query Graph</a:t>
            </a:r>
            <a:endParaRPr dirty="0"/>
          </a:p>
          <a:p>
            <a:pPr marL="342900" marR="0" lvl="0" indent="-342900" algn="l" rtl="0">
              <a:lnSpc>
                <a:spcPct val="100000"/>
              </a:lnSpc>
              <a:spcBef>
                <a:spcPts val="0"/>
              </a:spcBef>
              <a:spcAft>
                <a:spcPts val="0"/>
              </a:spcAft>
              <a:buClr>
                <a:schemeClr val="dk1"/>
              </a:buClr>
              <a:buSzPts val="2400"/>
              <a:buFont typeface="Arial"/>
              <a:buNone/>
            </a:pPr>
            <a:endParaRPr sz="2400" b="0" i="0"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b="0" i="0" u="none" dirty="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18</a:t>
            </a:fld>
            <a:endParaRPr/>
          </a:p>
        </p:txBody>
      </p:sp>
      <p:sp>
        <p:nvSpPr>
          <p:cNvPr id="122" name="Google Shape;122;p1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0. Introduction to Query Processing (1)</a:t>
            </a:r>
            <a:endParaRPr/>
          </a:p>
        </p:txBody>
      </p:sp>
      <p:sp>
        <p:nvSpPr>
          <p:cNvPr id="123" name="Google Shape;123;p1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1" i="0" u="none" dirty="0">
                <a:solidFill>
                  <a:schemeClr val="dk2"/>
                </a:solidFill>
                <a:highlight>
                  <a:srgbClr val="FFFF00"/>
                </a:highlight>
                <a:latin typeface="Arial"/>
                <a:ea typeface="Arial"/>
                <a:cs typeface="Arial"/>
                <a:sym typeface="Arial"/>
              </a:rPr>
              <a:t>Query optimization</a:t>
            </a:r>
            <a:r>
              <a:rPr lang="en-US" sz="2800" b="0" i="0" u="none" dirty="0">
                <a:solidFill>
                  <a:schemeClr val="dk2"/>
                </a:solidFill>
                <a:highlight>
                  <a:srgbClr val="FFFF00"/>
                </a:highlight>
                <a:latin typeface="Arial"/>
                <a:ea typeface="Arial"/>
                <a:cs typeface="Arial"/>
                <a:sym typeface="Arial"/>
              </a:rPr>
              <a:t>:</a:t>
            </a:r>
            <a:endParaRPr dirty="0">
              <a:highlight>
                <a:srgbClr val="FFFF00"/>
              </a:highlight>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dirty="0">
                <a:solidFill>
                  <a:srgbClr val="800000"/>
                </a:solidFill>
                <a:highlight>
                  <a:srgbClr val="FFFF00"/>
                </a:highlight>
                <a:latin typeface="Arial"/>
                <a:ea typeface="Arial"/>
                <a:cs typeface="Arial"/>
                <a:sym typeface="Arial"/>
              </a:rPr>
              <a:t>The process of choosing a suitable execution strategy /plan for processing a query.</a:t>
            </a:r>
            <a:endParaRPr sz="2600" b="0" i="0" u="none" dirty="0">
              <a:solidFill>
                <a:srgbClr val="800000"/>
              </a:solidFill>
              <a:highlight>
                <a:srgbClr val="FFFF00"/>
              </a:highlight>
              <a:latin typeface="Arial"/>
              <a:ea typeface="Arial"/>
              <a:cs typeface="Arial"/>
              <a:sym typeface="Arial"/>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dirty="0">
                <a:solidFill>
                  <a:srgbClr val="800000"/>
                </a:solidFill>
                <a:highlight>
                  <a:srgbClr val="FFFF00"/>
                </a:highlight>
                <a:latin typeface="Arial"/>
                <a:ea typeface="Arial"/>
                <a:cs typeface="Arial"/>
                <a:sym typeface="Arial"/>
              </a:rPr>
              <a:t>Query code generator</a:t>
            </a:r>
            <a:endParaRPr dirty="0">
              <a:highlight>
                <a:srgbClr val="FFFF00"/>
              </a:highlight>
            </a:endParaRPr>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dirty="0">
                <a:solidFill>
                  <a:schemeClr val="dk2"/>
                </a:solidFill>
                <a:highlight>
                  <a:srgbClr val="FFFF00"/>
                </a:highlight>
                <a:latin typeface="Arial"/>
                <a:ea typeface="Arial"/>
                <a:cs typeface="Arial"/>
                <a:sym typeface="Arial"/>
              </a:rPr>
              <a:t>Generators code to execute the plan</a:t>
            </a:r>
            <a:endParaRPr dirty="0">
              <a:highlight>
                <a:srgbClr val="FFFF00"/>
              </a:highlight>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dirty="0">
                <a:solidFill>
                  <a:srgbClr val="800000"/>
                </a:solidFill>
                <a:highlight>
                  <a:srgbClr val="FFFF00"/>
                </a:highlight>
                <a:latin typeface="Arial"/>
                <a:ea typeface="Arial"/>
                <a:cs typeface="Arial"/>
                <a:sym typeface="Arial"/>
              </a:rPr>
              <a:t>Runtime database processor</a:t>
            </a:r>
            <a:endParaRPr dirty="0">
              <a:highlight>
                <a:srgbClr val="FFFF00"/>
              </a:highlight>
            </a:endParaRPr>
          </a:p>
          <a:p>
            <a:pPr marL="742950" lvl="1" indent="-285750" algn="l" rtl="0">
              <a:lnSpc>
                <a:spcPct val="100000"/>
              </a:lnSpc>
              <a:spcBef>
                <a:spcPts val="520"/>
              </a:spcBef>
              <a:spcAft>
                <a:spcPts val="0"/>
              </a:spcAft>
              <a:buSzPts val="1430"/>
              <a:buNone/>
            </a:pPr>
            <a:r>
              <a:rPr lang="en-US" sz="2600" b="0" i="0" u="none" dirty="0">
                <a:solidFill>
                  <a:srgbClr val="800000"/>
                </a:solidFill>
                <a:highlight>
                  <a:srgbClr val="FFFF00"/>
                </a:highlight>
                <a:latin typeface="Arial"/>
                <a:ea typeface="Arial"/>
                <a:cs typeface="Arial"/>
                <a:sym typeface="Arial"/>
              </a:rPr>
              <a:t>	runs the query code in compiled/interpreted mode to produce the query result </a:t>
            </a:r>
            <a:endParaRPr dirty="0">
              <a:highlight>
                <a:srgbClr val="FFFF00"/>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3600">
              <a:solidFill>
                <a:srgbClr val="800000"/>
              </a:solidFill>
              <a:latin typeface="Arial"/>
              <a:ea typeface="Arial"/>
              <a:cs typeface="Arial"/>
              <a:sym typeface="Arial"/>
            </a:endParaRPr>
          </a:p>
        </p:txBody>
      </p:sp>
      <p:sp>
        <p:nvSpPr>
          <p:cNvPr id="129" name="Google Shape;129;p20"/>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marR="0" lvl="0" indent="-236220" algn="l" rtl="0">
              <a:spcBef>
                <a:spcPts val="0"/>
              </a:spcBef>
              <a:spcAft>
                <a:spcPts val="0"/>
              </a:spcAft>
              <a:buClr>
                <a:srgbClr val="990033"/>
              </a:buClr>
              <a:buSzPts val="1680"/>
              <a:buFont typeface="Noto Sans Symbols"/>
              <a:buNone/>
            </a:pPr>
            <a:endParaRPr sz="2800">
              <a:solidFill>
                <a:schemeClr val="dk2"/>
              </a:solidFill>
              <a:latin typeface="Arial"/>
              <a:ea typeface="Arial"/>
              <a:cs typeface="Arial"/>
              <a:sym typeface="Arial"/>
            </a:endParaRPr>
          </a:p>
        </p:txBody>
      </p:sp>
      <p:sp>
        <p:nvSpPr>
          <p:cNvPr id="130" name="Google Shape;130;p2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19</a:t>
            </a:fld>
            <a:endParaRPr/>
          </a:p>
        </p:txBody>
      </p:sp>
      <p:sp>
        <p:nvSpPr>
          <p:cNvPr id="131" name="Google Shape;131;p20"/>
          <p:cNvSpPr txBox="1"/>
          <p:nvPr/>
        </p:nvSpPr>
        <p:spPr>
          <a:xfrm>
            <a:off x="239712" y="1600200"/>
            <a:ext cx="8153400" cy="30464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Arial"/>
              <a:buNone/>
            </a:pPr>
            <a:endParaRPr sz="2400" b="0" i="0" u="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b="0" i="0" u="none">
                <a:solidFill>
                  <a:schemeClr val="dk1"/>
                </a:solidFill>
                <a:latin typeface="Arial"/>
                <a:ea typeface="Arial"/>
                <a:cs typeface="Arial"/>
                <a:sym typeface="Arial"/>
              </a:rPr>
              <a:t>Queries are translated into relational algebra queries</a:t>
            </a:r>
            <a:endParaRPr/>
          </a:p>
          <a:p>
            <a:pPr marL="0" marR="0" lvl="0" indent="0" algn="l" rtl="0">
              <a:lnSpc>
                <a:spcPct val="100000"/>
              </a:lnSpc>
              <a:spcBef>
                <a:spcPts val="0"/>
              </a:spcBef>
              <a:spcAft>
                <a:spcPts val="0"/>
              </a:spcAft>
              <a:buClr>
                <a:schemeClr val="dk1"/>
              </a:buClr>
              <a:buSzPts val="2400"/>
              <a:buFont typeface="Arial"/>
              <a:buNone/>
            </a:pPr>
            <a:r>
              <a:rPr lang="en-US" sz="2400" b="0" i="0" u="none">
                <a:solidFill>
                  <a:schemeClr val="dk1"/>
                </a:solidFill>
                <a:latin typeface="Arial"/>
                <a:ea typeface="Arial"/>
                <a:cs typeface="Arial"/>
                <a:sym typeface="Arial"/>
              </a:rPr>
              <a:t> and then optimized</a:t>
            </a:r>
            <a:endParaRPr/>
          </a:p>
          <a:p>
            <a:pPr marL="0" marR="0" lvl="0" indent="0" algn="l" rtl="0">
              <a:lnSpc>
                <a:spcPct val="100000"/>
              </a:lnSpc>
              <a:spcBef>
                <a:spcPts val="0"/>
              </a:spcBef>
              <a:spcAft>
                <a:spcPts val="0"/>
              </a:spcAft>
              <a:buClr>
                <a:schemeClr val="dk1"/>
              </a:buClr>
              <a:buSzPts val="2400"/>
              <a:buFont typeface="Arial"/>
              <a:buNone/>
            </a:pPr>
            <a:endParaRPr sz="2400" b="0" i="0" u="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b="0" i="0" u="none">
                <a:solidFill>
                  <a:schemeClr val="dk1"/>
                </a:solidFill>
                <a:latin typeface="Arial"/>
                <a:ea typeface="Arial"/>
                <a:cs typeface="Arial"/>
                <a:sym typeface="Arial"/>
              </a:rPr>
              <a:t>Optimization is done in two ways</a:t>
            </a:r>
            <a:endParaRPr/>
          </a:p>
          <a:p>
            <a:pPr marL="0" marR="0" lvl="0" indent="-152400" algn="l" rtl="0">
              <a:lnSpc>
                <a:spcPct val="100000"/>
              </a:lnSpc>
              <a:spcBef>
                <a:spcPts val="0"/>
              </a:spcBef>
              <a:spcAft>
                <a:spcPts val="0"/>
              </a:spcAft>
              <a:buClr>
                <a:schemeClr val="dk1"/>
              </a:buClr>
              <a:buSzPts val="2400"/>
              <a:buFont typeface="Arial"/>
              <a:buAutoNum type="arabicPeriod"/>
            </a:pPr>
            <a:r>
              <a:rPr lang="en-US" sz="2400" b="0" i="0" u="none">
                <a:solidFill>
                  <a:schemeClr val="dk1"/>
                </a:solidFill>
                <a:latin typeface="Arial"/>
                <a:ea typeface="Arial"/>
                <a:cs typeface="Arial"/>
                <a:sym typeface="Arial"/>
              </a:rPr>
              <a:t>Heuristic rules and</a:t>
            </a:r>
            <a:endParaRPr/>
          </a:p>
          <a:p>
            <a:pPr marL="0" marR="0" lvl="0" indent="-152400" algn="l" rtl="0">
              <a:lnSpc>
                <a:spcPct val="100000"/>
              </a:lnSpc>
              <a:spcBef>
                <a:spcPts val="0"/>
              </a:spcBef>
              <a:spcAft>
                <a:spcPts val="0"/>
              </a:spcAft>
              <a:buClr>
                <a:schemeClr val="dk1"/>
              </a:buClr>
              <a:buSzPts val="2400"/>
              <a:buFont typeface="Arial"/>
              <a:buAutoNum type="arabicPeriod"/>
            </a:pPr>
            <a:r>
              <a:rPr lang="en-US" sz="2400" b="0" i="0" u="none">
                <a:solidFill>
                  <a:schemeClr val="dk1"/>
                </a:solidFill>
                <a:latin typeface="Arial"/>
                <a:ea typeface="Arial"/>
                <a:cs typeface="Arial"/>
                <a:sym typeface="Arial"/>
              </a:rPr>
              <a:t>Systematic estimation(Lowest cost  estimate) </a:t>
            </a:r>
            <a:endParaRPr/>
          </a:p>
          <a:p>
            <a:pPr marL="0" marR="0" lvl="0" indent="0" algn="l" rtl="0">
              <a:lnSpc>
                <a:spcPct val="100000"/>
              </a:lnSpc>
              <a:spcBef>
                <a:spcPts val="0"/>
              </a:spcBef>
              <a:spcAft>
                <a:spcPts val="0"/>
              </a:spcAft>
              <a:buClr>
                <a:schemeClr val="dk1"/>
              </a:buClr>
              <a:buSzPts val="2400"/>
              <a:buFont typeface="Arial"/>
              <a:buNone/>
            </a:pPr>
            <a:r>
              <a:rPr lang="en-US" sz="2400" b="0" i="0" u="none">
                <a:solidFill>
                  <a:schemeClr val="dk1"/>
                </a:solidFill>
                <a:latin typeface="Arial"/>
                <a:ea typeface="Arial"/>
                <a:cs typeface="Arial"/>
                <a:sym typeface="Arial"/>
              </a:rPr>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20</a:t>
            </a:fld>
            <a:endParaRPr/>
          </a:p>
        </p:txBody>
      </p:sp>
      <p:sp>
        <p:nvSpPr>
          <p:cNvPr id="138" name="Google Shape;138;p2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1. Translating SQL Queries into Relational Algebra (1)</a:t>
            </a:r>
            <a:endParaRPr/>
          </a:p>
        </p:txBody>
      </p:sp>
      <p:sp>
        <p:nvSpPr>
          <p:cNvPr id="139" name="Google Shape;139;p2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680"/>
              <a:buFont typeface="Noto Sans Symbols"/>
              <a:buChar char="■"/>
            </a:pPr>
            <a:r>
              <a:rPr lang="en-US" sz="2800" b="1" i="0" u="none" dirty="0">
                <a:solidFill>
                  <a:schemeClr val="dk2"/>
                </a:solidFill>
                <a:highlight>
                  <a:srgbClr val="FFFF00"/>
                </a:highlight>
                <a:latin typeface="Arial"/>
                <a:ea typeface="Arial"/>
                <a:cs typeface="Arial"/>
                <a:sym typeface="Arial"/>
              </a:rPr>
              <a:t>SQL query is translated into query blocks</a:t>
            </a:r>
            <a:endParaRPr dirty="0">
              <a:highlight>
                <a:srgbClr val="FFFF00"/>
              </a:highlight>
            </a:endParaRPr>
          </a:p>
          <a:p>
            <a:pPr marL="342900" lvl="0" indent="-342900" algn="l" rtl="0">
              <a:lnSpc>
                <a:spcPct val="90000"/>
              </a:lnSpc>
              <a:spcBef>
                <a:spcPts val="560"/>
              </a:spcBef>
              <a:spcAft>
                <a:spcPts val="0"/>
              </a:spcAft>
              <a:buClr>
                <a:srgbClr val="990033"/>
              </a:buClr>
              <a:buSzPts val="1680"/>
              <a:buFont typeface="Noto Sans Symbols"/>
              <a:buChar char="■"/>
            </a:pPr>
            <a:r>
              <a:rPr lang="en-US" sz="2800" b="1" i="0" u="none" dirty="0">
                <a:solidFill>
                  <a:schemeClr val="dk2"/>
                </a:solidFill>
                <a:highlight>
                  <a:srgbClr val="FFFF00"/>
                </a:highlight>
                <a:latin typeface="Arial"/>
                <a:ea typeface="Arial"/>
                <a:cs typeface="Arial"/>
                <a:sym typeface="Arial"/>
              </a:rPr>
              <a:t>Query block</a:t>
            </a:r>
            <a:r>
              <a:rPr lang="en-US" sz="2800" b="0" i="0" u="none" dirty="0">
                <a:solidFill>
                  <a:schemeClr val="dk2"/>
                </a:solidFill>
                <a:highlight>
                  <a:srgbClr val="FFFF00"/>
                </a:highlight>
                <a:latin typeface="Arial"/>
                <a:ea typeface="Arial"/>
                <a:cs typeface="Arial"/>
                <a:sym typeface="Arial"/>
              </a:rPr>
              <a:t>: </a:t>
            </a:r>
            <a:endParaRPr dirty="0">
              <a:highlight>
                <a:srgbClr val="FFFF00"/>
              </a:highlight>
            </a:endParaRPr>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dirty="0">
                <a:solidFill>
                  <a:srgbClr val="800000"/>
                </a:solidFill>
                <a:highlight>
                  <a:srgbClr val="FFFF00"/>
                </a:highlight>
                <a:latin typeface="Arial"/>
                <a:ea typeface="Arial"/>
                <a:cs typeface="Arial"/>
                <a:sym typeface="Arial"/>
              </a:rPr>
              <a:t>The basic unit that can be translated into the algebraic operators and optimized.</a:t>
            </a:r>
            <a:endParaRPr dirty="0">
              <a:highlight>
                <a:srgbClr val="FFFF00"/>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Translating SQL Queries into Relational Algebra (1)</a:t>
            </a:r>
            <a:endParaRPr/>
          </a:p>
        </p:txBody>
      </p:sp>
      <p:sp>
        <p:nvSpPr>
          <p:cNvPr id="145" name="Google Shape;145;p22"/>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marR="0" lvl="0" indent="-342900" algn="l" rtl="0">
              <a:lnSpc>
                <a:spcPct val="9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A query block contains a single SELECT-FROM-WHERE expression, as well as GROUP BY and HAVING clause if these are part of the block.</a:t>
            </a:r>
            <a:endParaRPr/>
          </a:p>
          <a:p>
            <a:pPr marL="342900" marR="0" lvl="0" indent="-342900" algn="l" rtl="0">
              <a:lnSpc>
                <a:spcPct val="90000"/>
              </a:lnSpc>
              <a:spcBef>
                <a:spcPts val="560"/>
              </a:spcBef>
              <a:spcAft>
                <a:spcPts val="0"/>
              </a:spcAft>
              <a:buClr>
                <a:srgbClr val="990033"/>
              </a:buClr>
              <a:buSzPts val="1680"/>
              <a:buFont typeface="Noto Sans Symbols"/>
              <a:buChar char="■"/>
            </a:pPr>
            <a:r>
              <a:rPr lang="en-US" sz="2800" b="1" i="0" u="none">
                <a:solidFill>
                  <a:schemeClr val="dk2"/>
                </a:solidFill>
                <a:latin typeface="Arial"/>
                <a:ea typeface="Arial"/>
                <a:cs typeface="Arial"/>
                <a:sym typeface="Arial"/>
              </a:rPr>
              <a:t>Nested queries</a:t>
            </a:r>
            <a:r>
              <a:rPr lang="en-US" sz="2800" b="0" i="0" u="none">
                <a:solidFill>
                  <a:schemeClr val="dk2"/>
                </a:solidFill>
                <a:latin typeface="Arial"/>
                <a:ea typeface="Arial"/>
                <a:cs typeface="Arial"/>
                <a:sym typeface="Arial"/>
              </a:rPr>
              <a:t> within a query are identified as separate query blocks.</a:t>
            </a:r>
            <a:endParaRPr/>
          </a:p>
          <a:p>
            <a:pPr marL="342900" marR="0" lvl="0" indent="-342900" algn="l" rtl="0">
              <a:lnSpc>
                <a:spcPct val="9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Aggregate operators in SQL must be included in the extended algebra.</a:t>
            </a:r>
            <a:endParaRPr/>
          </a:p>
          <a:p>
            <a:pPr marL="342900" marR="0" lvl="0" indent="-236220" algn="l" rtl="0">
              <a:spcBef>
                <a:spcPts val="560"/>
              </a:spcBef>
              <a:spcAft>
                <a:spcPts val="0"/>
              </a:spcAft>
              <a:buClr>
                <a:srgbClr val="990033"/>
              </a:buClr>
              <a:buSzPts val="1680"/>
              <a:buFont typeface="Noto Sans Symbols"/>
              <a:buNone/>
            </a:pPr>
            <a:endParaRPr sz="2800" b="0" i="0" u="none">
              <a:solidFill>
                <a:schemeClr val="dk2"/>
              </a:solidFill>
              <a:latin typeface="Arial"/>
              <a:ea typeface="Arial"/>
              <a:cs typeface="Arial"/>
              <a:sym typeface="Arial"/>
            </a:endParaRPr>
          </a:p>
        </p:txBody>
      </p:sp>
      <p:sp>
        <p:nvSpPr>
          <p:cNvPr id="146" name="Google Shape;146;p2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22</a:t>
            </a:fld>
            <a:endParaRPr/>
          </a:p>
        </p:txBody>
      </p:sp>
      <p:sp>
        <p:nvSpPr>
          <p:cNvPr id="153" name="Google Shape;153;p2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Translating SQL Queries into Relational Algebra (2)</a:t>
            </a:r>
            <a:endParaRPr/>
          </a:p>
        </p:txBody>
      </p:sp>
      <p:sp>
        <p:nvSpPr>
          <p:cNvPr id="154" name="Google Shape;154;p23"/>
          <p:cNvSpPr txBox="1">
            <a:spLocks noGrp="1"/>
          </p:cNvSpPr>
          <p:nvPr>
            <p:ph type="body" idx="1"/>
          </p:nvPr>
        </p:nvSpPr>
        <p:spPr>
          <a:xfrm>
            <a:off x="762000" y="1676400"/>
            <a:ext cx="7912100" cy="1676400"/>
          </a:xfrm>
          <a:prstGeom prst="rect">
            <a:avLst/>
          </a:prstGeom>
          <a:noFill/>
          <a:ln w="9525" cap="flat" cmpd="sng">
            <a:solidFill>
              <a:schemeClr val="dk1"/>
            </a:solidFill>
            <a:prstDash val="solid"/>
            <a:miter lim="524288"/>
            <a:headEnd type="none" w="sm" len="sm"/>
            <a:tailEnd type="none" w="sm" len="sm"/>
          </a:ln>
        </p:spPr>
        <p:txBody>
          <a:bodyPr spcFirstLastPara="1" wrap="square" lIns="91425" tIns="45700" rIns="0" bIns="45700" anchor="t" anchorCtr="0">
            <a:noAutofit/>
          </a:bodyPr>
          <a:lstStyle/>
          <a:p>
            <a:pPr marL="0" lvl="0" indent="0" algn="l" rtl="0">
              <a:lnSpc>
                <a:spcPct val="90000"/>
              </a:lnSpc>
              <a:spcBef>
                <a:spcPts val="0"/>
              </a:spcBef>
              <a:spcAft>
                <a:spcPts val="0"/>
              </a:spcAft>
              <a:buSzPts val="1200"/>
              <a:buNone/>
            </a:pPr>
            <a:r>
              <a:rPr lang="en-US" sz="2000" b="1" i="0" u="none">
                <a:solidFill>
                  <a:schemeClr val="lt2"/>
                </a:solidFill>
                <a:latin typeface="Times New Roman"/>
                <a:ea typeface="Times New Roman"/>
                <a:cs typeface="Times New Roman"/>
                <a:sym typeface="Times New Roman"/>
              </a:rPr>
              <a:t>SELECT</a:t>
            </a:r>
            <a:r>
              <a:rPr lang="en-US" sz="2000" b="0" i="0" u="none">
                <a:solidFill>
                  <a:schemeClr val="lt2"/>
                </a:solidFill>
                <a:latin typeface="Times New Roman"/>
                <a:ea typeface="Times New Roman"/>
                <a:cs typeface="Times New Roman"/>
                <a:sym typeface="Times New Roman"/>
              </a:rPr>
              <a:t> 	LNAME, FNAME</a:t>
            </a:r>
            <a:endParaRPr/>
          </a:p>
          <a:p>
            <a:pPr marL="0" lvl="0" indent="0" algn="l" rtl="0">
              <a:lnSpc>
                <a:spcPct val="90000"/>
              </a:lnSpc>
              <a:spcBef>
                <a:spcPts val="400"/>
              </a:spcBef>
              <a:spcAft>
                <a:spcPts val="0"/>
              </a:spcAft>
              <a:buSzPts val="1200"/>
              <a:buNone/>
            </a:pPr>
            <a:r>
              <a:rPr lang="en-US" sz="2000" b="1" i="0" u="none">
                <a:solidFill>
                  <a:schemeClr val="lt2"/>
                </a:solidFill>
                <a:latin typeface="Times New Roman"/>
                <a:ea typeface="Times New Roman"/>
                <a:cs typeface="Times New Roman"/>
                <a:sym typeface="Times New Roman"/>
              </a:rPr>
              <a:t>FROM</a:t>
            </a:r>
            <a:r>
              <a:rPr lang="en-US" sz="2000" b="0" i="0" u="none">
                <a:solidFill>
                  <a:schemeClr val="lt2"/>
                </a:solidFill>
                <a:latin typeface="Times New Roman"/>
                <a:ea typeface="Times New Roman"/>
                <a:cs typeface="Times New Roman"/>
                <a:sym typeface="Times New Roman"/>
              </a:rPr>
              <a:t> 		EMPLOYEE</a:t>
            </a:r>
            <a:endParaRPr/>
          </a:p>
          <a:p>
            <a:pPr marL="0" lvl="0" indent="0" algn="l" rtl="0">
              <a:lnSpc>
                <a:spcPct val="90000"/>
              </a:lnSpc>
              <a:spcBef>
                <a:spcPts val="400"/>
              </a:spcBef>
              <a:spcAft>
                <a:spcPts val="0"/>
              </a:spcAft>
              <a:buSzPts val="1200"/>
              <a:buNone/>
            </a:pPr>
            <a:r>
              <a:rPr lang="en-US" sz="2000" b="1" i="0" u="none">
                <a:solidFill>
                  <a:schemeClr val="lt2"/>
                </a:solidFill>
                <a:latin typeface="Times New Roman"/>
                <a:ea typeface="Times New Roman"/>
                <a:cs typeface="Times New Roman"/>
                <a:sym typeface="Times New Roman"/>
              </a:rPr>
              <a:t>WHERE</a:t>
            </a:r>
            <a:r>
              <a:rPr lang="en-US" sz="2000" b="0" i="0" u="none">
                <a:solidFill>
                  <a:schemeClr val="lt2"/>
                </a:solidFill>
                <a:latin typeface="Times New Roman"/>
                <a:ea typeface="Times New Roman"/>
                <a:cs typeface="Times New Roman"/>
                <a:sym typeface="Times New Roman"/>
              </a:rPr>
              <a:t> 	SALARY &gt; (	</a:t>
            </a:r>
            <a:r>
              <a:rPr lang="en-US" sz="2000" b="1" i="0" u="none">
                <a:solidFill>
                  <a:schemeClr val="lt2"/>
                </a:solidFill>
                <a:latin typeface="Times New Roman"/>
                <a:ea typeface="Times New Roman"/>
                <a:cs typeface="Times New Roman"/>
                <a:sym typeface="Times New Roman"/>
              </a:rPr>
              <a:t>SELECT</a:t>
            </a:r>
            <a:r>
              <a:rPr lang="en-US" sz="2000" b="0" i="0" u="none">
                <a:solidFill>
                  <a:schemeClr val="lt2"/>
                </a:solidFill>
                <a:latin typeface="Times New Roman"/>
                <a:ea typeface="Times New Roman"/>
                <a:cs typeface="Times New Roman"/>
                <a:sym typeface="Times New Roman"/>
              </a:rPr>
              <a:t> 	MAX (SALARY)</a:t>
            </a:r>
            <a:endParaRPr/>
          </a:p>
          <a:p>
            <a:pPr marL="0" lvl="0" indent="0" algn="l" rtl="0">
              <a:lnSpc>
                <a:spcPct val="90000"/>
              </a:lnSpc>
              <a:spcBef>
                <a:spcPts val="400"/>
              </a:spcBef>
              <a:spcAft>
                <a:spcPts val="0"/>
              </a:spcAft>
              <a:buSzPts val="1200"/>
              <a:buNone/>
            </a:pPr>
            <a:r>
              <a:rPr lang="en-US" sz="2000" b="0" i="0" u="none">
                <a:solidFill>
                  <a:schemeClr val="lt2"/>
                </a:solidFill>
                <a:latin typeface="Times New Roman"/>
                <a:ea typeface="Times New Roman"/>
                <a:cs typeface="Times New Roman"/>
                <a:sym typeface="Times New Roman"/>
              </a:rPr>
              <a:t>				</a:t>
            </a:r>
            <a:r>
              <a:rPr lang="en-US" sz="2000" b="1" i="0" u="none">
                <a:solidFill>
                  <a:schemeClr val="lt2"/>
                </a:solidFill>
                <a:latin typeface="Times New Roman"/>
                <a:ea typeface="Times New Roman"/>
                <a:cs typeface="Times New Roman"/>
                <a:sym typeface="Times New Roman"/>
              </a:rPr>
              <a:t>FROM</a:t>
            </a:r>
            <a:r>
              <a:rPr lang="en-US" sz="2000" b="0" i="0" u="none">
                <a:solidFill>
                  <a:schemeClr val="lt2"/>
                </a:solidFill>
                <a:latin typeface="Times New Roman"/>
                <a:ea typeface="Times New Roman"/>
                <a:cs typeface="Times New Roman"/>
                <a:sym typeface="Times New Roman"/>
              </a:rPr>
              <a:t>		EMPLOYEE</a:t>
            </a:r>
            <a:endParaRPr/>
          </a:p>
          <a:p>
            <a:pPr marL="0" lvl="0" indent="0" algn="l" rtl="0">
              <a:lnSpc>
                <a:spcPct val="90000"/>
              </a:lnSpc>
              <a:spcBef>
                <a:spcPts val="400"/>
              </a:spcBef>
              <a:spcAft>
                <a:spcPts val="0"/>
              </a:spcAft>
              <a:buSzPts val="1200"/>
              <a:buNone/>
            </a:pPr>
            <a:r>
              <a:rPr lang="en-US" sz="2000" b="0" i="0" u="none">
                <a:solidFill>
                  <a:schemeClr val="lt2"/>
                </a:solidFill>
                <a:latin typeface="Times New Roman"/>
                <a:ea typeface="Times New Roman"/>
                <a:cs typeface="Times New Roman"/>
                <a:sym typeface="Times New Roman"/>
              </a:rPr>
              <a:t>				</a:t>
            </a:r>
            <a:r>
              <a:rPr lang="en-US" sz="2000" b="1" i="0" u="none">
                <a:solidFill>
                  <a:schemeClr val="lt2"/>
                </a:solidFill>
                <a:latin typeface="Times New Roman"/>
                <a:ea typeface="Times New Roman"/>
                <a:cs typeface="Times New Roman"/>
                <a:sym typeface="Times New Roman"/>
              </a:rPr>
              <a:t>WHERE</a:t>
            </a:r>
            <a:r>
              <a:rPr lang="en-US" sz="2000" b="0" i="0" u="none">
                <a:solidFill>
                  <a:schemeClr val="lt2"/>
                </a:solidFill>
                <a:latin typeface="Times New Roman"/>
                <a:ea typeface="Times New Roman"/>
                <a:cs typeface="Times New Roman"/>
                <a:sym typeface="Times New Roman"/>
              </a:rPr>
              <a:t> 	DNO = 5);</a:t>
            </a:r>
            <a:endParaRPr/>
          </a:p>
        </p:txBody>
      </p:sp>
      <p:sp>
        <p:nvSpPr>
          <p:cNvPr id="155" name="Google Shape;155;p23"/>
          <p:cNvSpPr txBox="1"/>
          <p:nvPr/>
        </p:nvSpPr>
        <p:spPr>
          <a:xfrm>
            <a:off x="4813300" y="4292600"/>
            <a:ext cx="4025900" cy="1046162"/>
          </a:xfrm>
          <a:prstGeom prst="rect">
            <a:avLst/>
          </a:prstGeom>
          <a:noFill/>
          <a:ln w="9525" cap="flat" cmpd="sng">
            <a:solidFill>
              <a:schemeClr val="lt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chemeClr val="lt2"/>
              </a:buClr>
              <a:buSzPts val="2000"/>
              <a:buFont typeface="Times New Roman"/>
              <a:buNone/>
            </a:pPr>
            <a:r>
              <a:rPr lang="en-US" sz="2000" b="1" i="0" u="none">
                <a:solidFill>
                  <a:schemeClr val="lt2"/>
                </a:solidFill>
                <a:latin typeface="Times New Roman"/>
                <a:ea typeface="Times New Roman"/>
                <a:cs typeface="Times New Roman"/>
                <a:sym typeface="Times New Roman"/>
              </a:rPr>
              <a:t>SELECT</a:t>
            </a:r>
            <a:r>
              <a:rPr lang="en-US" sz="2000" b="0" i="0" u="none">
                <a:solidFill>
                  <a:schemeClr val="lt2"/>
                </a:solidFill>
                <a:latin typeface="Times New Roman"/>
                <a:ea typeface="Times New Roman"/>
                <a:cs typeface="Times New Roman"/>
                <a:sym typeface="Times New Roman"/>
              </a:rPr>
              <a:t>	MAX (SALARY)</a:t>
            </a:r>
            <a:endParaRPr/>
          </a:p>
          <a:p>
            <a:pPr marL="0" marR="0" lvl="0" indent="0" algn="l" rtl="0">
              <a:lnSpc>
                <a:spcPct val="90000"/>
              </a:lnSpc>
              <a:spcBef>
                <a:spcPts val="400"/>
              </a:spcBef>
              <a:spcAft>
                <a:spcPts val="0"/>
              </a:spcAft>
              <a:buClr>
                <a:schemeClr val="lt2"/>
              </a:buClr>
              <a:buSzPts val="2000"/>
              <a:buFont typeface="Times New Roman"/>
              <a:buNone/>
            </a:pPr>
            <a:r>
              <a:rPr lang="en-US" sz="2000" b="1" i="0" u="none">
                <a:solidFill>
                  <a:schemeClr val="lt2"/>
                </a:solidFill>
                <a:latin typeface="Times New Roman"/>
                <a:ea typeface="Times New Roman"/>
                <a:cs typeface="Times New Roman"/>
                <a:sym typeface="Times New Roman"/>
              </a:rPr>
              <a:t>FROM</a:t>
            </a:r>
            <a:r>
              <a:rPr lang="en-US" sz="2000" b="0" i="0" u="none">
                <a:solidFill>
                  <a:schemeClr val="lt2"/>
                </a:solidFill>
                <a:latin typeface="Times New Roman"/>
                <a:ea typeface="Times New Roman"/>
                <a:cs typeface="Times New Roman"/>
                <a:sym typeface="Times New Roman"/>
              </a:rPr>
              <a:t>		EMPLOYEE</a:t>
            </a:r>
            <a:endParaRPr/>
          </a:p>
          <a:p>
            <a:pPr marL="0" marR="0" lvl="0" indent="0" algn="l" rtl="0">
              <a:lnSpc>
                <a:spcPct val="90000"/>
              </a:lnSpc>
              <a:spcBef>
                <a:spcPts val="400"/>
              </a:spcBef>
              <a:spcAft>
                <a:spcPts val="0"/>
              </a:spcAft>
              <a:buClr>
                <a:schemeClr val="lt2"/>
              </a:buClr>
              <a:buSzPts val="2000"/>
              <a:buFont typeface="Times New Roman"/>
              <a:buNone/>
            </a:pPr>
            <a:r>
              <a:rPr lang="en-US" sz="2000" b="1" i="0" u="none">
                <a:solidFill>
                  <a:schemeClr val="lt2"/>
                </a:solidFill>
                <a:latin typeface="Times New Roman"/>
                <a:ea typeface="Times New Roman"/>
                <a:cs typeface="Times New Roman"/>
                <a:sym typeface="Times New Roman"/>
              </a:rPr>
              <a:t>WHERE</a:t>
            </a:r>
            <a:r>
              <a:rPr lang="en-US" sz="2000" b="0" i="0" u="none">
                <a:solidFill>
                  <a:schemeClr val="lt2"/>
                </a:solidFill>
                <a:latin typeface="Times New Roman"/>
                <a:ea typeface="Times New Roman"/>
                <a:cs typeface="Times New Roman"/>
                <a:sym typeface="Times New Roman"/>
              </a:rPr>
              <a:t> 	DNO = 5</a:t>
            </a:r>
            <a:endParaRPr/>
          </a:p>
        </p:txBody>
      </p:sp>
      <p:sp>
        <p:nvSpPr>
          <p:cNvPr id="156" name="Google Shape;156;p23"/>
          <p:cNvSpPr txBox="1"/>
          <p:nvPr/>
        </p:nvSpPr>
        <p:spPr>
          <a:xfrm>
            <a:off x="520700" y="4140200"/>
            <a:ext cx="4140200" cy="1136650"/>
          </a:xfrm>
          <a:prstGeom prst="rect">
            <a:avLst/>
          </a:prstGeom>
          <a:noFill/>
          <a:ln w="9525" cap="flat" cmpd="sng">
            <a:solidFill>
              <a:schemeClr val="lt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2"/>
              </a:buClr>
              <a:buSzPts val="2000"/>
              <a:buFont typeface="Times New Roman"/>
              <a:buNone/>
            </a:pPr>
            <a:r>
              <a:rPr lang="en-US" sz="2000" b="1" i="0" u="none">
                <a:solidFill>
                  <a:schemeClr val="lt2"/>
                </a:solidFill>
                <a:latin typeface="Times New Roman"/>
                <a:ea typeface="Times New Roman"/>
                <a:cs typeface="Times New Roman"/>
                <a:sym typeface="Times New Roman"/>
              </a:rPr>
              <a:t>SELECT</a:t>
            </a:r>
            <a:r>
              <a:rPr lang="en-US" sz="2000" b="0" i="0" u="none">
                <a:solidFill>
                  <a:schemeClr val="lt2"/>
                </a:solidFill>
                <a:latin typeface="Times New Roman"/>
                <a:ea typeface="Times New Roman"/>
                <a:cs typeface="Times New Roman"/>
                <a:sym typeface="Times New Roman"/>
              </a:rPr>
              <a:t> 	LNAME, FNAME</a:t>
            </a:r>
            <a:endParaRPr/>
          </a:p>
          <a:p>
            <a:pPr marL="0" marR="0" lvl="0" indent="0" algn="l" rtl="0">
              <a:lnSpc>
                <a:spcPct val="100000"/>
              </a:lnSpc>
              <a:spcBef>
                <a:spcPts val="400"/>
              </a:spcBef>
              <a:spcAft>
                <a:spcPts val="0"/>
              </a:spcAft>
              <a:buClr>
                <a:schemeClr val="lt2"/>
              </a:buClr>
              <a:buSzPts val="2000"/>
              <a:buFont typeface="Times New Roman"/>
              <a:buNone/>
            </a:pPr>
            <a:r>
              <a:rPr lang="en-US" sz="2000" b="1" i="0" u="none">
                <a:solidFill>
                  <a:schemeClr val="lt2"/>
                </a:solidFill>
                <a:latin typeface="Times New Roman"/>
                <a:ea typeface="Times New Roman"/>
                <a:cs typeface="Times New Roman"/>
                <a:sym typeface="Times New Roman"/>
              </a:rPr>
              <a:t>FROM</a:t>
            </a:r>
            <a:r>
              <a:rPr lang="en-US" sz="2000" b="0" i="0" u="none">
                <a:solidFill>
                  <a:schemeClr val="lt2"/>
                </a:solidFill>
                <a:latin typeface="Times New Roman"/>
                <a:ea typeface="Times New Roman"/>
                <a:cs typeface="Times New Roman"/>
                <a:sym typeface="Times New Roman"/>
              </a:rPr>
              <a:t> 		EMPLOYEE</a:t>
            </a:r>
            <a:endParaRPr/>
          </a:p>
          <a:p>
            <a:pPr marL="0" marR="0" lvl="0" indent="0" algn="l" rtl="0">
              <a:lnSpc>
                <a:spcPct val="100000"/>
              </a:lnSpc>
              <a:spcBef>
                <a:spcPts val="400"/>
              </a:spcBef>
              <a:spcAft>
                <a:spcPts val="0"/>
              </a:spcAft>
              <a:buClr>
                <a:schemeClr val="lt2"/>
              </a:buClr>
              <a:buSzPts val="2000"/>
              <a:buFont typeface="Times New Roman"/>
              <a:buNone/>
            </a:pPr>
            <a:r>
              <a:rPr lang="en-US" sz="2000" b="1" i="0" u="none">
                <a:solidFill>
                  <a:schemeClr val="lt2"/>
                </a:solidFill>
                <a:latin typeface="Times New Roman"/>
                <a:ea typeface="Times New Roman"/>
                <a:cs typeface="Times New Roman"/>
                <a:sym typeface="Times New Roman"/>
              </a:rPr>
              <a:t>WHERE</a:t>
            </a:r>
            <a:r>
              <a:rPr lang="en-US" sz="2000" b="0" i="0" u="none">
                <a:solidFill>
                  <a:schemeClr val="lt2"/>
                </a:solidFill>
                <a:latin typeface="Times New Roman"/>
                <a:ea typeface="Times New Roman"/>
                <a:cs typeface="Times New Roman"/>
                <a:sym typeface="Times New Roman"/>
              </a:rPr>
              <a:t> 	SALARY &gt; C</a:t>
            </a:r>
            <a:endParaRPr/>
          </a:p>
        </p:txBody>
      </p:sp>
      <p:cxnSp>
        <p:nvCxnSpPr>
          <p:cNvPr id="157" name="Google Shape;157;p23"/>
          <p:cNvCxnSpPr/>
          <p:nvPr/>
        </p:nvCxnSpPr>
        <p:spPr>
          <a:xfrm>
            <a:off x="4660900" y="3492500"/>
            <a:ext cx="1587" cy="241300"/>
          </a:xfrm>
          <a:prstGeom prst="straightConnector1">
            <a:avLst/>
          </a:prstGeom>
          <a:noFill/>
          <a:ln w="9525" cap="flat" cmpd="sng">
            <a:solidFill>
              <a:schemeClr val="dk1"/>
            </a:solidFill>
            <a:prstDash val="solid"/>
            <a:miter lim="800000"/>
            <a:headEnd type="none" w="med" len="med"/>
            <a:tailEnd type="triangle" w="med" len="med"/>
          </a:ln>
        </p:spPr>
      </p:cxnSp>
      <p:cxnSp>
        <p:nvCxnSpPr>
          <p:cNvPr id="158" name="Google Shape;158;p23"/>
          <p:cNvCxnSpPr/>
          <p:nvPr/>
        </p:nvCxnSpPr>
        <p:spPr>
          <a:xfrm>
            <a:off x="2501900" y="3733800"/>
            <a:ext cx="4191000" cy="1587"/>
          </a:xfrm>
          <a:prstGeom prst="straightConnector1">
            <a:avLst/>
          </a:prstGeom>
          <a:noFill/>
          <a:ln w="9525" cap="flat" cmpd="sng">
            <a:solidFill>
              <a:schemeClr val="lt2"/>
            </a:solidFill>
            <a:prstDash val="solid"/>
            <a:miter lim="800000"/>
            <a:headEnd type="none" w="med" len="med"/>
            <a:tailEnd type="none" w="med" len="med"/>
          </a:ln>
        </p:spPr>
      </p:cxnSp>
      <p:cxnSp>
        <p:nvCxnSpPr>
          <p:cNvPr id="159" name="Google Shape;159;p23"/>
          <p:cNvCxnSpPr/>
          <p:nvPr/>
        </p:nvCxnSpPr>
        <p:spPr>
          <a:xfrm>
            <a:off x="4660900" y="3492500"/>
            <a:ext cx="1587" cy="241300"/>
          </a:xfrm>
          <a:prstGeom prst="straightConnector1">
            <a:avLst/>
          </a:prstGeom>
          <a:noFill/>
          <a:ln w="9525" cap="flat" cmpd="sng">
            <a:solidFill>
              <a:schemeClr val="lt2"/>
            </a:solidFill>
            <a:prstDash val="solid"/>
            <a:miter lim="800000"/>
            <a:headEnd type="none" w="med" len="med"/>
            <a:tailEnd type="triangle" w="med" len="med"/>
          </a:ln>
        </p:spPr>
      </p:cxnSp>
      <p:cxnSp>
        <p:nvCxnSpPr>
          <p:cNvPr id="160" name="Google Shape;160;p23"/>
          <p:cNvCxnSpPr/>
          <p:nvPr/>
        </p:nvCxnSpPr>
        <p:spPr>
          <a:xfrm>
            <a:off x="2501900" y="3733800"/>
            <a:ext cx="1587" cy="406400"/>
          </a:xfrm>
          <a:prstGeom prst="straightConnector1">
            <a:avLst/>
          </a:prstGeom>
          <a:noFill/>
          <a:ln w="9525" cap="flat" cmpd="sng">
            <a:solidFill>
              <a:schemeClr val="lt2"/>
            </a:solidFill>
            <a:prstDash val="solid"/>
            <a:miter lim="800000"/>
            <a:headEnd type="none" w="med" len="med"/>
            <a:tailEnd type="triangle" w="med" len="med"/>
          </a:ln>
        </p:spPr>
      </p:cxnSp>
      <p:cxnSp>
        <p:nvCxnSpPr>
          <p:cNvPr id="161" name="Google Shape;161;p23"/>
          <p:cNvCxnSpPr/>
          <p:nvPr/>
        </p:nvCxnSpPr>
        <p:spPr>
          <a:xfrm>
            <a:off x="6692900" y="3733800"/>
            <a:ext cx="1587" cy="406400"/>
          </a:xfrm>
          <a:prstGeom prst="straightConnector1">
            <a:avLst/>
          </a:prstGeom>
          <a:noFill/>
          <a:ln w="9525" cap="flat" cmpd="sng">
            <a:solidFill>
              <a:schemeClr val="lt2"/>
            </a:solidFill>
            <a:prstDash val="solid"/>
            <a:miter lim="800000"/>
            <a:headEnd type="none" w="med" len="med"/>
            <a:tailEnd type="triangle" w="med" len="med"/>
          </a:ln>
        </p:spPr>
      </p:cxnSp>
      <p:sp>
        <p:nvSpPr>
          <p:cNvPr id="162" name="Google Shape;162;p23"/>
          <p:cNvSpPr txBox="1"/>
          <p:nvPr/>
        </p:nvSpPr>
        <p:spPr>
          <a:xfrm>
            <a:off x="368300" y="5689600"/>
            <a:ext cx="4292600" cy="831850"/>
          </a:xfrm>
          <a:prstGeom prst="rect">
            <a:avLst/>
          </a:prstGeom>
          <a:noFill/>
          <a:ln w="9525" cap="flat" cmpd="sng">
            <a:solidFill>
              <a:schemeClr val="lt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2"/>
              </a:buClr>
              <a:buSzPts val="2400"/>
              <a:buFont typeface="Merriweather Sans"/>
              <a:buNone/>
            </a:pPr>
            <a:r>
              <a:rPr lang="en-US" sz="2400" b="0" i="0" u="none">
                <a:solidFill>
                  <a:schemeClr val="lt2"/>
                </a:solidFill>
                <a:latin typeface="Merriweather Sans"/>
                <a:ea typeface="Merriweather Sans"/>
                <a:cs typeface="Merriweather Sans"/>
                <a:sym typeface="Merriweather Sans"/>
              </a:rPr>
              <a:t>π</a:t>
            </a:r>
            <a:r>
              <a:rPr lang="en-US" sz="1800" b="0" i="0" u="none" baseline="-25000">
                <a:solidFill>
                  <a:schemeClr val="lt2"/>
                </a:solidFill>
                <a:latin typeface="Times New Roman"/>
                <a:ea typeface="Times New Roman"/>
                <a:cs typeface="Times New Roman"/>
                <a:sym typeface="Times New Roman"/>
              </a:rPr>
              <a:t>LNAME, FNAME</a:t>
            </a:r>
            <a:r>
              <a:rPr lang="en-US" sz="2000" b="0" i="0" u="none" baseline="-25000">
                <a:solidFill>
                  <a:schemeClr val="lt2"/>
                </a:solidFill>
                <a:latin typeface="Times New Roman"/>
                <a:ea typeface="Times New Roman"/>
                <a:cs typeface="Times New Roman"/>
                <a:sym typeface="Times New Roman"/>
              </a:rPr>
              <a:t> </a:t>
            </a:r>
            <a:r>
              <a:rPr lang="en-US" sz="2000" b="0" i="0" u="none">
                <a:solidFill>
                  <a:schemeClr val="lt2"/>
                </a:solidFill>
                <a:latin typeface="Times New Roman"/>
                <a:ea typeface="Times New Roman"/>
                <a:cs typeface="Times New Roman"/>
                <a:sym typeface="Times New Roman"/>
              </a:rPr>
              <a:t>(</a:t>
            </a:r>
            <a:r>
              <a:rPr lang="en-US" sz="2400" b="0" i="0" u="none">
                <a:solidFill>
                  <a:schemeClr val="lt2"/>
                </a:solidFill>
                <a:latin typeface="Merriweather Sans"/>
                <a:ea typeface="Merriweather Sans"/>
                <a:cs typeface="Merriweather Sans"/>
                <a:sym typeface="Merriweather Sans"/>
              </a:rPr>
              <a:t>σ</a:t>
            </a:r>
            <a:r>
              <a:rPr lang="en-US" sz="1800" b="0" i="0" u="none" baseline="-25000">
                <a:solidFill>
                  <a:schemeClr val="lt2"/>
                </a:solidFill>
                <a:latin typeface="Times New Roman"/>
                <a:ea typeface="Times New Roman"/>
                <a:cs typeface="Times New Roman"/>
                <a:sym typeface="Times New Roman"/>
              </a:rPr>
              <a:t>SALARY&gt;C</a:t>
            </a:r>
            <a:r>
              <a:rPr lang="en-US" sz="2000" b="0" i="0" u="none">
                <a:solidFill>
                  <a:schemeClr val="lt2"/>
                </a:solidFill>
                <a:latin typeface="Times New Roman"/>
                <a:ea typeface="Times New Roman"/>
                <a:cs typeface="Times New Roman"/>
                <a:sym typeface="Times New Roman"/>
              </a:rPr>
              <a:t>(EMPLOYEE))</a:t>
            </a:r>
            <a:endParaRPr/>
          </a:p>
        </p:txBody>
      </p:sp>
      <p:sp>
        <p:nvSpPr>
          <p:cNvPr id="163" name="Google Shape;163;p23"/>
          <p:cNvSpPr txBox="1"/>
          <p:nvPr/>
        </p:nvSpPr>
        <p:spPr>
          <a:xfrm>
            <a:off x="4813300" y="5689600"/>
            <a:ext cx="3860800" cy="466725"/>
          </a:xfrm>
          <a:prstGeom prst="rect">
            <a:avLst/>
          </a:prstGeom>
          <a:noFill/>
          <a:ln w="9525" cap="flat" cmpd="sng">
            <a:solidFill>
              <a:schemeClr val="lt2"/>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2"/>
              </a:buClr>
              <a:buSzPts val="2000"/>
              <a:buFont typeface="Arial"/>
              <a:buNone/>
            </a:pPr>
            <a:r>
              <a:rPr lang="en-US" sz="2000" b="0" i="0" u="none">
                <a:solidFill>
                  <a:schemeClr val="lt2"/>
                </a:solidFill>
                <a:latin typeface="Arial"/>
                <a:ea typeface="Arial"/>
                <a:cs typeface="Arial"/>
                <a:sym typeface="Arial"/>
              </a:rPr>
              <a:t>ℱ</a:t>
            </a:r>
            <a:r>
              <a:rPr lang="en-US" sz="1800" b="0" i="0" u="none" baseline="-25000">
                <a:solidFill>
                  <a:schemeClr val="lt2"/>
                </a:solidFill>
                <a:latin typeface="Times New Roman"/>
                <a:ea typeface="Times New Roman"/>
                <a:cs typeface="Times New Roman"/>
                <a:sym typeface="Times New Roman"/>
              </a:rPr>
              <a:t>MAX SALARY</a:t>
            </a:r>
            <a:r>
              <a:rPr lang="en-US" sz="2000" b="0" i="0" u="none" baseline="-25000">
                <a:solidFill>
                  <a:schemeClr val="lt2"/>
                </a:solidFill>
                <a:latin typeface="Times New Roman"/>
                <a:ea typeface="Times New Roman"/>
                <a:cs typeface="Times New Roman"/>
                <a:sym typeface="Times New Roman"/>
              </a:rPr>
              <a:t> </a:t>
            </a:r>
            <a:r>
              <a:rPr lang="en-US" sz="2000" b="0" i="0" u="none">
                <a:solidFill>
                  <a:schemeClr val="lt2"/>
                </a:solidFill>
                <a:latin typeface="Times New Roman"/>
                <a:ea typeface="Times New Roman"/>
                <a:cs typeface="Times New Roman"/>
                <a:sym typeface="Times New Roman"/>
              </a:rPr>
              <a:t>(</a:t>
            </a:r>
            <a:r>
              <a:rPr lang="en-US" sz="2400" b="0" i="0" u="none">
                <a:solidFill>
                  <a:schemeClr val="lt2"/>
                </a:solidFill>
                <a:latin typeface="Merriweather Sans"/>
                <a:ea typeface="Merriweather Sans"/>
                <a:cs typeface="Merriweather Sans"/>
                <a:sym typeface="Merriweather Sans"/>
              </a:rPr>
              <a:t>σ</a:t>
            </a:r>
            <a:r>
              <a:rPr lang="en-US" sz="1800" b="0" i="0" u="none" baseline="-25000">
                <a:solidFill>
                  <a:schemeClr val="lt2"/>
                </a:solidFill>
                <a:latin typeface="Times New Roman"/>
                <a:ea typeface="Times New Roman"/>
                <a:cs typeface="Times New Roman"/>
                <a:sym typeface="Times New Roman"/>
              </a:rPr>
              <a:t>DNO=5 </a:t>
            </a:r>
            <a:r>
              <a:rPr lang="en-US" sz="2000" b="0" i="0" u="none">
                <a:solidFill>
                  <a:schemeClr val="lt2"/>
                </a:solidFill>
                <a:latin typeface="Times New Roman"/>
                <a:ea typeface="Times New Roman"/>
                <a:cs typeface="Times New Roman"/>
                <a:sym typeface="Times New Roman"/>
              </a:rPr>
              <a:t>(EMPLOYEE))</a:t>
            </a:r>
            <a:endParaRPr/>
          </a:p>
        </p:txBody>
      </p:sp>
      <p:sp>
        <p:nvSpPr>
          <p:cNvPr id="164" name="Google Shape;164;p23"/>
          <p:cNvSpPr/>
          <p:nvPr/>
        </p:nvSpPr>
        <p:spPr>
          <a:xfrm>
            <a:off x="2330450" y="5276850"/>
            <a:ext cx="342900" cy="412750"/>
          </a:xfrm>
          <a:prstGeom prst="downArrow">
            <a:avLst>
              <a:gd name="adj1" fmla="val 50000"/>
              <a:gd name="adj2" fmla="val 50000"/>
            </a:avLst>
          </a:prstGeom>
          <a:noFill/>
          <a:ln w="9525"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
        <p:nvSpPr>
          <p:cNvPr id="165" name="Google Shape;165;p23"/>
          <p:cNvSpPr/>
          <p:nvPr/>
        </p:nvSpPr>
        <p:spPr>
          <a:xfrm>
            <a:off x="6521450" y="5222875"/>
            <a:ext cx="342900" cy="466725"/>
          </a:xfrm>
          <a:prstGeom prst="downArrow">
            <a:avLst>
              <a:gd name="adj1" fmla="val 50000"/>
              <a:gd name="adj2" fmla="val 50000"/>
            </a:avLst>
          </a:prstGeom>
          <a:noFill/>
          <a:ln w="9525" cap="flat" cmpd="sng">
            <a:solidFill>
              <a:schemeClr val="l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Algorithms for External Sorting </a:t>
            </a:r>
            <a:endParaRPr/>
          </a:p>
        </p:txBody>
      </p:sp>
      <p:sp>
        <p:nvSpPr>
          <p:cNvPr id="171" name="Google Shape;171;p24"/>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marR="0" lvl="0" indent="-342900" algn="l" rtl="0">
              <a:lnSpc>
                <a:spcPct val="100000"/>
              </a:lnSpc>
              <a:spcBef>
                <a:spcPts val="0"/>
              </a:spcBef>
              <a:spcAft>
                <a:spcPts val="0"/>
              </a:spcAft>
              <a:buClr>
                <a:srgbClr val="990033"/>
              </a:buClr>
              <a:buSzPts val="1680"/>
              <a:buFont typeface="Noto Sans Symbols"/>
              <a:buChar char="■"/>
            </a:pPr>
            <a:r>
              <a:rPr lang="en-US" sz="2800" b="0" i="0" u="none" dirty="0">
                <a:solidFill>
                  <a:schemeClr val="dk2"/>
                </a:solidFill>
                <a:highlight>
                  <a:srgbClr val="FFFF00"/>
                </a:highlight>
                <a:latin typeface="Arial"/>
                <a:ea typeface="Arial"/>
                <a:cs typeface="Arial"/>
                <a:sym typeface="Arial"/>
              </a:rPr>
              <a:t>Result should me sorted if the query uses</a:t>
            </a:r>
            <a:endParaRPr dirty="0">
              <a:highlight>
                <a:srgbClr val="FFFF00"/>
              </a:highlight>
            </a:endParaRPr>
          </a:p>
          <a:p>
            <a:pPr marL="342900" marR="0" lvl="0" indent="-342900" algn="l" rtl="0">
              <a:lnSpc>
                <a:spcPct val="100000"/>
              </a:lnSpc>
              <a:spcBef>
                <a:spcPts val="560"/>
              </a:spcBef>
              <a:spcAft>
                <a:spcPts val="0"/>
              </a:spcAft>
              <a:buClr>
                <a:srgbClr val="990033"/>
              </a:buClr>
              <a:buSzPts val="1680"/>
              <a:buFont typeface="Noto Sans Symbols"/>
              <a:buNone/>
            </a:pPr>
            <a:r>
              <a:rPr lang="en-US" sz="2800" b="0" i="0" u="none" dirty="0">
                <a:solidFill>
                  <a:schemeClr val="dk2"/>
                </a:solidFill>
                <a:highlight>
                  <a:srgbClr val="FFFF00"/>
                </a:highlight>
                <a:latin typeface="Arial"/>
                <a:ea typeface="Arial"/>
                <a:cs typeface="Arial"/>
                <a:sym typeface="Arial"/>
              </a:rPr>
              <a:t> - order by, join, union, intersection, unique/distinct clause</a:t>
            </a:r>
            <a:endParaRPr dirty="0">
              <a:highlight>
                <a:srgbClr val="FFFF00"/>
              </a:highlight>
            </a:endParaRPr>
          </a:p>
          <a:p>
            <a:pPr marL="342900" marR="0" lvl="0" indent="-342900" algn="l" rtl="0">
              <a:lnSpc>
                <a:spcPct val="100000"/>
              </a:lnSpc>
              <a:spcBef>
                <a:spcPts val="560"/>
              </a:spcBef>
              <a:spcAft>
                <a:spcPts val="0"/>
              </a:spcAft>
              <a:buClr>
                <a:srgbClr val="990033"/>
              </a:buClr>
              <a:buSzPts val="1680"/>
              <a:buFont typeface="Noto Sans Symbols"/>
              <a:buNone/>
            </a:pPr>
            <a:endParaRPr sz="2800" b="0" i="0" u="none" dirty="0">
              <a:solidFill>
                <a:schemeClr val="dk2"/>
              </a:solidFill>
              <a:highlight>
                <a:srgbClr val="FFFF00"/>
              </a:highlight>
              <a:latin typeface="Arial"/>
              <a:ea typeface="Arial"/>
              <a:cs typeface="Arial"/>
              <a:sym typeface="Arial"/>
            </a:endParaRPr>
          </a:p>
          <a:p>
            <a:pPr marL="342900" marR="0" lvl="0" indent="-342900" algn="l" rtl="0">
              <a:lnSpc>
                <a:spcPct val="100000"/>
              </a:lnSpc>
              <a:spcBef>
                <a:spcPts val="560"/>
              </a:spcBef>
              <a:spcAft>
                <a:spcPts val="0"/>
              </a:spcAft>
              <a:buClr>
                <a:srgbClr val="990033"/>
              </a:buClr>
              <a:buSzPts val="1680"/>
              <a:buFont typeface="Noto Sans Symbols"/>
              <a:buNone/>
            </a:pPr>
            <a:r>
              <a:rPr lang="en-US" sz="2800" b="0" i="0" u="none" dirty="0">
                <a:solidFill>
                  <a:schemeClr val="dk2"/>
                </a:solidFill>
                <a:highlight>
                  <a:srgbClr val="FFFF00"/>
                </a:highlight>
                <a:latin typeface="Arial"/>
                <a:ea typeface="Arial"/>
                <a:cs typeface="Arial"/>
                <a:sym typeface="Arial"/>
              </a:rPr>
              <a:t>- Ordering can be avoided if indexing exists  </a:t>
            </a:r>
            <a:endParaRPr dirty="0">
              <a:highlight>
                <a:srgbClr val="FFFF00"/>
              </a:highlight>
            </a:endParaRPr>
          </a:p>
        </p:txBody>
      </p:sp>
      <p:sp>
        <p:nvSpPr>
          <p:cNvPr id="172" name="Google Shape;172;p2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24</a:t>
            </a:fld>
            <a:endParaRPr/>
          </a:p>
        </p:txBody>
      </p:sp>
      <p:sp>
        <p:nvSpPr>
          <p:cNvPr id="179" name="Google Shape;179;p2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2. Algorithms for External Sorting (1)</a:t>
            </a:r>
            <a:endParaRPr/>
          </a:p>
        </p:txBody>
      </p:sp>
      <p:sp>
        <p:nvSpPr>
          <p:cNvPr id="180" name="Google Shape;180;p25"/>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0" lvl="0" indent="0" algn="l" rtl="0">
              <a:lnSpc>
                <a:spcPct val="80000"/>
              </a:lnSpc>
              <a:spcBef>
                <a:spcPts val="0"/>
              </a:spcBef>
              <a:spcAft>
                <a:spcPts val="0"/>
              </a:spcAft>
              <a:buSzPts val="1440"/>
              <a:buNone/>
            </a:pPr>
            <a:r>
              <a:rPr lang="en-US" sz="2400" b="1" i="0" u="none" dirty="0">
                <a:solidFill>
                  <a:schemeClr val="dk2"/>
                </a:solidFill>
                <a:latin typeface="Arial"/>
                <a:ea typeface="Arial"/>
                <a:cs typeface="Arial"/>
                <a:sym typeface="Arial"/>
              </a:rPr>
              <a:t>External sorting</a:t>
            </a:r>
            <a:r>
              <a:rPr lang="en-US" sz="2400" b="0" i="0" u="none" dirty="0">
                <a:solidFill>
                  <a:schemeClr val="dk2"/>
                </a:solidFill>
                <a:latin typeface="Arial"/>
                <a:ea typeface="Arial"/>
                <a:cs typeface="Arial"/>
                <a:sym typeface="Arial"/>
              </a:rPr>
              <a:t>:</a:t>
            </a:r>
            <a:endParaRPr dirty="0"/>
          </a:p>
          <a:p>
            <a:pPr marL="742950" lvl="1" indent="-285750" algn="l" rtl="0">
              <a:lnSpc>
                <a:spcPct val="150000"/>
              </a:lnSpc>
              <a:spcBef>
                <a:spcPts val="440"/>
              </a:spcBef>
              <a:spcAft>
                <a:spcPts val="0"/>
              </a:spcAft>
              <a:buClr>
                <a:schemeClr val="dk2"/>
              </a:buClr>
              <a:buSzPts val="1210"/>
              <a:buFont typeface="Noto Sans Symbols"/>
              <a:buChar char="■"/>
            </a:pPr>
            <a:r>
              <a:rPr lang="en-US" sz="2200" b="0" i="0" u="none" dirty="0">
                <a:solidFill>
                  <a:srgbClr val="800000"/>
                </a:solidFill>
                <a:latin typeface="Arial"/>
                <a:ea typeface="Arial"/>
                <a:cs typeface="Arial"/>
                <a:sym typeface="Arial"/>
              </a:rPr>
              <a:t>Refers to sorting algorithms that are suitable for large files of records stored on disk that do not fit entirely in main memory, such as most database files.</a:t>
            </a:r>
            <a:endParaRPr dirty="0"/>
          </a:p>
          <a:p>
            <a:pPr marL="0" lvl="0" indent="-91440" algn="l" rtl="0">
              <a:lnSpc>
                <a:spcPct val="150000"/>
              </a:lnSpc>
              <a:spcBef>
                <a:spcPts val="480"/>
              </a:spcBef>
              <a:spcAft>
                <a:spcPts val="0"/>
              </a:spcAft>
              <a:buClr>
                <a:srgbClr val="990033"/>
              </a:buClr>
              <a:buSzPts val="1440"/>
              <a:buFont typeface="Noto Sans Symbols"/>
              <a:buChar char="■"/>
            </a:pPr>
            <a:r>
              <a:rPr lang="en-US" sz="2400" b="1" i="0" u="none" dirty="0">
                <a:solidFill>
                  <a:schemeClr val="dk2"/>
                </a:solidFill>
                <a:highlight>
                  <a:srgbClr val="FFFF00"/>
                </a:highlight>
                <a:latin typeface="Arial"/>
                <a:ea typeface="Arial"/>
                <a:cs typeface="Arial"/>
                <a:sym typeface="Arial"/>
              </a:rPr>
              <a:t>Sort-Merge strategy</a:t>
            </a:r>
            <a:r>
              <a:rPr lang="en-US" sz="2400" b="0" i="0" u="none" dirty="0">
                <a:solidFill>
                  <a:schemeClr val="dk2"/>
                </a:solidFill>
                <a:highlight>
                  <a:srgbClr val="FFFF00"/>
                </a:highlight>
                <a:latin typeface="Arial"/>
                <a:ea typeface="Arial"/>
                <a:cs typeface="Arial"/>
                <a:sym typeface="Arial"/>
              </a:rPr>
              <a:t>:</a:t>
            </a:r>
            <a:endParaRPr dirty="0">
              <a:highlight>
                <a:srgbClr val="FFFF00"/>
              </a:highlight>
            </a:endParaRPr>
          </a:p>
          <a:p>
            <a:pPr marL="742950" lvl="1" indent="-285750" algn="l" rtl="0">
              <a:lnSpc>
                <a:spcPct val="150000"/>
              </a:lnSpc>
              <a:spcBef>
                <a:spcPts val="440"/>
              </a:spcBef>
              <a:spcAft>
                <a:spcPts val="0"/>
              </a:spcAft>
              <a:buSzPts val="1210"/>
              <a:buNone/>
            </a:pPr>
            <a:r>
              <a:rPr lang="en-US" sz="2200" b="0" i="0" u="none" dirty="0">
                <a:solidFill>
                  <a:srgbClr val="800000"/>
                </a:solidFill>
                <a:highlight>
                  <a:srgbClr val="FFFF00"/>
                </a:highlight>
                <a:latin typeface="Arial"/>
                <a:ea typeface="Arial"/>
                <a:cs typeface="Arial"/>
                <a:sym typeface="Arial"/>
              </a:rPr>
              <a:t>2 phases</a:t>
            </a:r>
            <a:endParaRPr dirty="0">
              <a:highlight>
                <a:srgbClr val="FFFF00"/>
              </a:highlight>
            </a:endParaRPr>
          </a:p>
          <a:p>
            <a:pPr marL="1143000" lvl="2" indent="-228600" algn="l" rtl="0">
              <a:lnSpc>
                <a:spcPct val="150000"/>
              </a:lnSpc>
              <a:spcBef>
                <a:spcPts val="400"/>
              </a:spcBef>
              <a:spcAft>
                <a:spcPts val="0"/>
              </a:spcAft>
              <a:buClr>
                <a:srgbClr val="990033"/>
              </a:buClr>
              <a:buSzPts val="1000"/>
              <a:buFont typeface="Noto Sans Symbols"/>
              <a:buChar char="■"/>
            </a:pPr>
            <a:r>
              <a:rPr lang="en-US" sz="2000" b="0" i="0" u="none" dirty="0">
                <a:solidFill>
                  <a:srgbClr val="FF0000"/>
                </a:solidFill>
                <a:highlight>
                  <a:srgbClr val="FFFF00"/>
                </a:highlight>
                <a:latin typeface="Arial"/>
                <a:ea typeface="Arial"/>
                <a:cs typeface="Arial"/>
                <a:sym typeface="Arial"/>
              </a:rPr>
              <a:t> Sort phase- sorting </a:t>
            </a:r>
            <a:r>
              <a:rPr lang="en-US" sz="2000" b="0" i="0" u="none" dirty="0">
                <a:solidFill>
                  <a:schemeClr val="dk2"/>
                </a:solidFill>
                <a:highlight>
                  <a:srgbClr val="FFFF00"/>
                </a:highlight>
                <a:latin typeface="Arial"/>
                <a:ea typeface="Arial"/>
                <a:cs typeface="Arial"/>
                <a:sym typeface="Arial"/>
              </a:rPr>
              <a:t>small subfiles (</a:t>
            </a:r>
            <a:r>
              <a:rPr lang="en-US" sz="2000" b="1" i="0" u="none" dirty="0">
                <a:solidFill>
                  <a:schemeClr val="dk2"/>
                </a:solidFill>
                <a:highlight>
                  <a:srgbClr val="FFFF00"/>
                </a:highlight>
                <a:latin typeface="Arial"/>
                <a:ea typeface="Arial"/>
                <a:cs typeface="Arial"/>
                <a:sym typeface="Arial"/>
              </a:rPr>
              <a:t>runs</a:t>
            </a:r>
            <a:r>
              <a:rPr lang="en-US" sz="2000" b="0" i="0" u="none" dirty="0">
                <a:solidFill>
                  <a:schemeClr val="dk2"/>
                </a:solidFill>
                <a:highlight>
                  <a:srgbClr val="FFFF00"/>
                </a:highlight>
                <a:latin typeface="Arial"/>
                <a:ea typeface="Arial"/>
                <a:cs typeface="Arial"/>
                <a:sym typeface="Arial"/>
              </a:rPr>
              <a:t>) of the main file </a:t>
            </a:r>
            <a:endParaRPr dirty="0">
              <a:highlight>
                <a:srgbClr val="FFFF00"/>
              </a:highlight>
            </a:endParaRPr>
          </a:p>
          <a:p>
            <a:pPr marL="1143000" lvl="2" indent="-228600" algn="l" rtl="0">
              <a:lnSpc>
                <a:spcPct val="150000"/>
              </a:lnSpc>
              <a:spcBef>
                <a:spcPts val="400"/>
              </a:spcBef>
              <a:spcAft>
                <a:spcPts val="0"/>
              </a:spcAft>
              <a:buClr>
                <a:srgbClr val="990033"/>
              </a:buClr>
              <a:buSzPts val="1000"/>
              <a:buFont typeface="Noto Sans Symbols"/>
              <a:buChar char="■"/>
            </a:pPr>
            <a:r>
              <a:rPr lang="en-US" sz="2000" b="0" i="0" u="none" dirty="0">
                <a:solidFill>
                  <a:srgbClr val="FF0000"/>
                </a:solidFill>
                <a:highlight>
                  <a:srgbClr val="FFFF00"/>
                </a:highlight>
                <a:latin typeface="Arial"/>
                <a:ea typeface="Arial"/>
                <a:cs typeface="Arial"/>
                <a:sym typeface="Arial"/>
              </a:rPr>
              <a:t>Merge Phase </a:t>
            </a:r>
            <a:r>
              <a:rPr lang="en-US" sz="2000" b="0" i="0" u="none" dirty="0">
                <a:solidFill>
                  <a:schemeClr val="dk2"/>
                </a:solidFill>
                <a:highlight>
                  <a:srgbClr val="FFFF00"/>
                </a:highlight>
                <a:latin typeface="Arial"/>
                <a:ea typeface="Arial"/>
                <a:cs typeface="Arial"/>
                <a:sym typeface="Arial"/>
              </a:rPr>
              <a:t>– Merges  the sorted runs, creating larger sorted subfiles that are merged in turn.</a:t>
            </a:r>
            <a:endParaRPr dirty="0">
              <a:highlight>
                <a:srgbClr val="FFFF00"/>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25</a:t>
            </a:fld>
            <a:endParaRPr/>
          </a:p>
        </p:txBody>
      </p:sp>
      <p:sp>
        <p:nvSpPr>
          <p:cNvPr id="187" name="Google Shape;187;p2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2. Algorithms for External Sorting (1)</a:t>
            </a:r>
            <a:endParaRPr/>
          </a:p>
        </p:txBody>
      </p:sp>
      <p:sp>
        <p:nvSpPr>
          <p:cNvPr id="188" name="Google Shape;188;p26"/>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742950" lvl="1" indent="-285750" algn="l" rtl="0">
              <a:lnSpc>
                <a:spcPct val="150000"/>
              </a:lnSpc>
              <a:spcBef>
                <a:spcPts val="0"/>
              </a:spcBef>
              <a:spcAft>
                <a:spcPts val="0"/>
              </a:spcAft>
              <a:buClr>
                <a:schemeClr val="dk2"/>
              </a:buClr>
              <a:buSzPts val="1210"/>
              <a:buFont typeface="Noto Sans Symbols"/>
              <a:buChar char="■"/>
            </a:pPr>
            <a:r>
              <a:rPr lang="en-US" sz="2200" b="0" i="0" u="none" dirty="0">
                <a:solidFill>
                  <a:srgbClr val="800000"/>
                </a:solidFill>
                <a:highlight>
                  <a:srgbClr val="FFFF00"/>
                </a:highlight>
                <a:latin typeface="Arial"/>
                <a:ea typeface="Arial"/>
                <a:cs typeface="Arial"/>
                <a:sym typeface="Arial"/>
              </a:rPr>
              <a:t>Sorting phase:</a:t>
            </a:r>
            <a:endParaRPr dirty="0">
              <a:highlight>
                <a:srgbClr val="FFFF00"/>
              </a:highlight>
            </a:endParaRPr>
          </a:p>
          <a:p>
            <a:pPr marL="1143000" lvl="2" indent="-228600" algn="l" rtl="0">
              <a:lnSpc>
                <a:spcPct val="150000"/>
              </a:lnSpc>
              <a:spcBef>
                <a:spcPts val="400"/>
              </a:spcBef>
              <a:spcAft>
                <a:spcPts val="0"/>
              </a:spcAft>
              <a:buClr>
                <a:srgbClr val="990033"/>
              </a:buClr>
              <a:buSzPts val="1000"/>
              <a:buFont typeface="Noto Sans Symbols"/>
              <a:buChar char="⮚"/>
            </a:pPr>
            <a:r>
              <a:rPr lang="en-US" sz="2000" b="0" i="0" u="none" dirty="0" err="1">
                <a:solidFill>
                  <a:schemeClr val="dk2"/>
                </a:solidFill>
                <a:highlight>
                  <a:srgbClr val="FFFF00"/>
                </a:highlight>
                <a:latin typeface="Arial"/>
                <a:ea typeface="Arial"/>
                <a:cs typeface="Arial"/>
                <a:sym typeface="Arial"/>
              </a:rPr>
              <a:t>n</a:t>
            </a:r>
            <a:r>
              <a:rPr lang="en-US" sz="2000" b="0" i="0" u="none" baseline="-25000" dirty="0" err="1">
                <a:solidFill>
                  <a:schemeClr val="dk2"/>
                </a:solidFill>
                <a:highlight>
                  <a:srgbClr val="FFFF00"/>
                </a:highlight>
                <a:latin typeface="Arial"/>
                <a:ea typeface="Arial"/>
                <a:cs typeface="Arial"/>
                <a:sym typeface="Arial"/>
              </a:rPr>
              <a:t>R</a:t>
            </a:r>
            <a:r>
              <a:rPr lang="en-US" sz="2000" b="0" i="0" u="none" dirty="0">
                <a:solidFill>
                  <a:schemeClr val="dk2"/>
                </a:solidFill>
                <a:highlight>
                  <a:srgbClr val="FFFF00"/>
                </a:highlight>
                <a:latin typeface="Arial"/>
                <a:ea typeface="Arial"/>
                <a:cs typeface="Arial"/>
                <a:sym typeface="Arial"/>
              </a:rPr>
              <a:t>: number of initial runs;</a:t>
            </a:r>
            <a:endParaRPr dirty="0">
              <a:highlight>
                <a:srgbClr val="FFFF00"/>
              </a:highlight>
            </a:endParaRPr>
          </a:p>
          <a:p>
            <a:pPr marL="1143000" lvl="2" indent="-228600" algn="l" rtl="0">
              <a:lnSpc>
                <a:spcPct val="150000"/>
              </a:lnSpc>
              <a:spcBef>
                <a:spcPts val="400"/>
              </a:spcBef>
              <a:spcAft>
                <a:spcPts val="0"/>
              </a:spcAft>
              <a:buClr>
                <a:srgbClr val="990033"/>
              </a:buClr>
              <a:buSzPts val="1000"/>
              <a:buFont typeface="Noto Sans Symbols"/>
              <a:buChar char="⮚"/>
            </a:pPr>
            <a:r>
              <a:rPr lang="en-US" sz="2000" b="0" i="0" u="none" dirty="0">
                <a:solidFill>
                  <a:schemeClr val="dk2"/>
                </a:solidFill>
                <a:highlight>
                  <a:srgbClr val="FFFF00"/>
                </a:highlight>
                <a:latin typeface="Arial"/>
                <a:ea typeface="Arial"/>
                <a:cs typeface="Arial"/>
                <a:sym typeface="Arial"/>
              </a:rPr>
              <a:t> b: number of file blocks of data; </a:t>
            </a:r>
            <a:endParaRPr dirty="0">
              <a:highlight>
                <a:srgbClr val="FFFF00"/>
              </a:highlight>
            </a:endParaRPr>
          </a:p>
          <a:p>
            <a:pPr marL="1143000" lvl="2" indent="-228600" algn="l" rtl="0">
              <a:lnSpc>
                <a:spcPct val="150000"/>
              </a:lnSpc>
              <a:spcBef>
                <a:spcPts val="400"/>
              </a:spcBef>
              <a:spcAft>
                <a:spcPts val="0"/>
              </a:spcAft>
              <a:buClr>
                <a:srgbClr val="990033"/>
              </a:buClr>
              <a:buSzPts val="1000"/>
              <a:buFont typeface="Noto Sans Symbols"/>
              <a:buChar char="⮚"/>
            </a:pPr>
            <a:r>
              <a:rPr lang="en-US" sz="2000" b="0" i="0" u="none" dirty="0" err="1">
                <a:solidFill>
                  <a:schemeClr val="dk2"/>
                </a:solidFill>
                <a:highlight>
                  <a:srgbClr val="FFFF00"/>
                </a:highlight>
                <a:latin typeface="Arial"/>
                <a:ea typeface="Arial"/>
                <a:cs typeface="Arial"/>
                <a:sym typeface="Arial"/>
              </a:rPr>
              <a:t>n</a:t>
            </a:r>
            <a:r>
              <a:rPr lang="en-US" sz="2000" b="0" i="0" u="none" baseline="-25000" dirty="0" err="1">
                <a:solidFill>
                  <a:schemeClr val="dk2"/>
                </a:solidFill>
                <a:highlight>
                  <a:srgbClr val="FFFF00"/>
                </a:highlight>
                <a:latin typeface="Arial"/>
                <a:ea typeface="Arial"/>
                <a:cs typeface="Arial"/>
                <a:sym typeface="Arial"/>
              </a:rPr>
              <a:t>B</a:t>
            </a:r>
            <a:r>
              <a:rPr lang="en-US" sz="2000" b="0" i="0" u="none" dirty="0">
                <a:solidFill>
                  <a:schemeClr val="dk2"/>
                </a:solidFill>
                <a:highlight>
                  <a:srgbClr val="FFFF00"/>
                </a:highlight>
                <a:latin typeface="Arial"/>
                <a:ea typeface="Arial"/>
                <a:cs typeface="Arial"/>
                <a:sym typeface="Arial"/>
              </a:rPr>
              <a:t>: available buffer space in </a:t>
            </a:r>
            <a:r>
              <a:rPr lang="en-US" sz="2000" b="0" i="0" u="none" dirty="0" err="1">
                <a:solidFill>
                  <a:schemeClr val="dk2"/>
                </a:solidFill>
                <a:highlight>
                  <a:srgbClr val="FFFF00"/>
                </a:highlight>
                <a:latin typeface="Arial"/>
                <a:ea typeface="Arial"/>
                <a:cs typeface="Arial"/>
                <a:sym typeface="Arial"/>
              </a:rPr>
              <a:t>chace</a:t>
            </a:r>
            <a:r>
              <a:rPr lang="en-US" sz="2000" b="0" i="0" u="none" dirty="0">
                <a:solidFill>
                  <a:schemeClr val="dk2"/>
                </a:solidFill>
                <a:highlight>
                  <a:srgbClr val="FFFF00"/>
                </a:highlight>
                <a:latin typeface="Arial"/>
                <a:ea typeface="Arial"/>
                <a:cs typeface="Arial"/>
                <a:sym typeface="Arial"/>
              </a:rPr>
              <a:t>; </a:t>
            </a:r>
            <a:endParaRPr dirty="0">
              <a:highlight>
                <a:srgbClr val="FFFF00"/>
              </a:highlight>
            </a:endParaRPr>
          </a:p>
          <a:p>
            <a:pPr marL="1143000" lvl="2" indent="-228600" algn="l" rtl="0">
              <a:lnSpc>
                <a:spcPct val="150000"/>
              </a:lnSpc>
              <a:spcBef>
                <a:spcPts val="400"/>
              </a:spcBef>
              <a:spcAft>
                <a:spcPts val="0"/>
              </a:spcAft>
              <a:buClr>
                <a:srgbClr val="990033"/>
              </a:buClr>
              <a:buSzPts val="1000"/>
              <a:buFont typeface="Noto Sans Symbols"/>
              <a:buChar char="■"/>
            </a:pPr>
            <a:r>
              <a:rPr lang="en-US" sz="2000" b="0" i="0" u="none" dirty="0">
                <a:solidFill>
                  <a:srgbClr val="FF0000"/>
                </a:solidFill>
                <a:highlight>
                  <a:srgbClr val="FFFF00"/>
                </a:highlight>
                <a:latin typeface="Arial"/>
                <a:ea typeface="Arial"/>
                <a:cs typeface="Arial"/>
                <a:sym typeface="Arial"/>
              </a:rPr>
              <a:t> </a:t>
            </a:r>
            <a:r>
              <a:rPr lang="en-US" sz="2000" b="0" i="0" u="none" dirty="0" err="1">
                <a:solidFill>
                  <a:srgbClr val="FF0000"/>
                </a:solidFill>
                <a:highlight>
                  <a:srgbClr val="FFFF00"/>
                </a:highlight>
                <a:latin typeface="Arial"/>
                <a:ea typeface="Arial"/>
                <a:cs typeface="Arial"/>
                <a:sym typeface="Arial"/>
              </a:rPr>
              <a:t>n</a:t>
            </a:r>
            <a:r>
              <a:rPr lang="en-US" sz="2000" b="0" i="0" u="none" baseline="-25000" dirty="0" err="1">
                <a:solidFill>
                  <a:srgbClr val="FF0000"/>
                </a:solidFill>
                <a:highlight>
                  <a:srgbClr val="FFFF00"/>
                </a:highlight>
                <a:latin typeface="Arial"/>
                <a:ea typeface="Arial"/>
                <a:cs typeface="Arial"/>
                <a:sym typeface="Arial"/>
              </a:rPr>
              <a:t>R</a:t>
            </a:r>
            <a:r>
              <a:rPr lang="en-US" sz="2000" b="0" i="0" u="none" dirty="0">
                <a:solidFill>
                  <a:srgbClr val="FF0000"/>
                </a:solidFill>
                <a:highlight>
                  <a:srgbClr val="FFFF00"/>
                </a:highlight>
                <a:latin typeface="Arial"/>
                <a:ea typeface="Arial"/>
                <a:cs typeface="Arial"/>
                <a:sym typeface="Arial"/>
              </a:rPr>
              <a:t> = ⎡(b/</a:t>
            </a:r>
            <a:r>
              <a:rPr lang="en-US" sz="2000" b="0" i="0" u="none" dirty="0" err="1">
                <a:solidFill>
                  <a:srgbClr val="FF0000"/>
                </a:solidFill>
                <a:highlight>
                  <a:srgbClr val="FFFF00"/>
                </a:highlight>
                <a:latin typeface="Arial"/>
                <a:ea typeface="Arial"/>
                <a:cs typeface="Arial"/>
                <a:sym typeface="Arial"/>
              </a:rPr>
              <a:t>n</a:t>
            </a:r>
            <a:r>
              <a:rPr lang="en-US" sz="2000" b="0" i="0" u="none" baseline="-25000" dirty="0" err="1">
                <a:solidFill>
                  <a:srgbClr val="FF0000"/>
                </a:solidFill>
                <a:highlight>
                  <a:srgbClr val="FFFF00"/>
                </a:highlight>
                <a:latin typeface="Arial"/>
                <a:ea typeface="Arial"/>
                <a:cs typeface="Arial"/>
                <a:sym typeface="Arial"/>
              </a:rPr>
              <a:t>B</a:t>
            </a:r>
            <a:r>
              <a:rPr lang="en-US" sz="2000" b="0" i="0" u="none" dirty="0">
                <a:solidFill>
                  <a:srgbClr val="FF0000"/>
                </a:solidFill>
                <a:highlight>
                  <a:srgbClr val="FFFF00"/>
                </a:highlight>
                <a:latin typeface="Arial"/>
                <a:ea typeface="Arial"/>
                <a:cs typeface="Arial"/>
                <a:sym typeface="Arial"/>
              </a:rPr>
              <a:t>)⎤ </a:t>
            </a:r>
            <a:endParaRPr dirty="0">
              <a:highlight>
                <a:srgbClr val="FFFF00"/>
              </a:highlight>
            </a:endParaRPr>
          </a:p>
          <a:p>
            <a:pPr marL="742950" lvl="1" indent="-285750" algn="l" rtl="0">
              <a:lnSpc>
                <a:spcPct val="150000"/>
              </a:lnSpc>
              <a:spcBef>
                <a:spcPts val="440"/>
              </a:spcBef>
              <a:spcAft>
                <a:spcPts val="0"/>
              </a:spcAft>
              <a:buClr>
                <a:schemeClr val="dk2"/>
              </a:buClr>
              <a:buSzPts val="1210"/>
              <a:buFont typeface="Noto Sans Symbols"/>
              <a:buChar char="■"/>
            </a:pPr>
            <a:r>
              <a:rPr lang="en-US" sz="2200" b="0" i="0" u="none" dirty="0">
                <a:solidFill>
                  <a:srgbClr val="800000"/>
                </a:solidFill>
                <a:highlight>
                  <a:srgbClr val="FFFF00"/>
                </a:highlight>
                <a:latin typeface="Arial"/>
                <a:ea typeface="Arial"/>
                <a:cs typeface="Arial"/>
                <a:sym typeface="Arial"/>
              </a:rPr>
              <a:t>Merging phase: </a:t>
            </a:r>
            <a:endParaRPr dirty="0">
              <a:highlight>
                <a:srgbClr val="FFFF00"/>
              </a:highlight>
            </a:endParaRPr>
          </a:p>
          <a:p>
            <a:pPr marL="1143000" lvl="2" indent="-228600" algn="l" rtl="0">
              <a:lnSpc>
                <a:spcPct val="150000"/>
              </a:lnSpc>
              <a:spcBef>
                <a:spcPts val="400"/>
              </a:spcBef>
              <a:spcAft>
                <a:spcPts val="0"/>
              </a:spcAft>
              <a:buClr>
                <a:srgbClr val="990033"/>
              </a:buClr>
              <a:buSzPts val="1000"/>
              <a:buFont typeface="Noto Sans Symbols"/>
              <a:buChar char="■"/>
            </a:pPr>
            <a:r>
              <a:rPr lang="en-US" sz="2000" b="0" i="0" u="none" dirty="0" err="1">
                <a:solidFill>
                  <a:schemeClr val="dk2"/>
                </a:solidFill>
                <a:highlight>
                  <a:srgbClr val="FFFF00"/>
                </a:highlight>
                <a:latin typeface="Arial"/>
                <a:ea typeface="Arial"/>
                <a:cs typeface="Arial"/>
                <a:sym typeface="Arial"/>
              </a:rPr>
              <a:t>d</a:t>
            </a:r>
            <a:r>
              <a:rPr lang="en-US" sz="2000" b="0" i="0" u="none" baseline="-25000" dirty="0" err="1">
                <a:solidFill>
                  <a:schemeClr val="dk2"/>
                </a:solidFill>
                <a:highlight>
                  <a:srgbClr val="FFFF00"/>
                </a:highlight>
                <a:latin typeface="Arial"/>
                <a:ea typeface="Arial"/>
                <a:cs typeface="Arial"/>
                <a:sym typeface="Arial"/>
              </a:rPr>
              <a:t>M</a:t>
            </a:r>
            <a:r>
              <a:rPr lang="en-US" sz="2000" b="0" i="0" u="none" dirty="0">
                <a:solidFill>
                  <a:schemeClr val="dk2"/>
                </a:solidFill>
                <a:highlight>
                  <a:srgbClr val="FFFF00"/>
                </a:highlight>
                <a:latin typeface="Arial"/>
                <a:ea typeface="Arial"/>
                <a:cs typeface="Arial"/>
                <a:sym typeface="Arial"/>
              </a:rPr>
              <a:t> = Min (n</a:t>
            </a:r>
            <a:r>
              <a:rPr lang="en-US" sz="2000" b="0" i="0" u="none" baseline="-25000" dirty="0">
                <a:solidFill>
                  <a:schemeClr val="dk2"/>
                </a:solidFill>
                <a:highlight>
                  <a:srgbClr val="FFFF00"/>
                </a:highlight>
                <a:latin typeface="Arial"/>
                <a:ea typeface="Arial"/>
                <a:cs typeface="Arial"/>
                <a:sym typeface="Arial"/>
              </a:rPr>
              <a:t>B</a:t>
            </a:r>
            <a:r>
              <a:rPr lang="en-US" sz="2000" b="0" i="0" u="none" dirty="0">
                <a:solidFill>
                  <a:schemeClr val="dk2"/>
                </a:solidFill>
                <a:highlight>
                  <a:srgbClr val="FFFF00"/>
                </a:highlight>
                <a:latin typeface="Arial"/>
                <a:ea typeface="Arial"/>
                <a:cs typeface="Arial"/>
                <a:sym typeface="Arial"/>
              </a:rPr>
              <a:t>-1, </a:t>
            </a:r>
            <a:r>
              <a:rPr lang="en-US" sz="2000" b="0" i="0" u="none" dirty="0" err="1">
                <a:solidFill>
                  <a:schemeClr val="dk2"/>
                </a:solidFill>
                <a:highlight>
                  <a:srgbClr val="FFFF00"/>
                </a:highlight>
                <a:latin typeface="Arial"/>
                <a:ea typeface="Arial"/>
                <a:cs typeface="Arial"/>
                <a:sym typeface="Arial"/>
              </a:rPr>
              <a:t>n</a:t>
            </a:r>
            <a:r>
              <a:rPr lang="en-US" sz="2000" b="0" i="0" u="none" baseline="-25000" dirty="0" err="1">
                <a:solidFill>
                  <a:schemeClr val="dk2"/>
                </a:solidFill>
                <a:highlight>
                  <a:srgbClr val="FFFF00"/>
                </a:highlight>
                <a:latin typeface="Arial"/>
                <a:ea typeface="Arial"/>
                <a:cs typeface="Arial"/>
                <a:sym typeface="Arial"/>
              </a:rPr>
              <a:t>R</a:t>
            </a:r>
            <a:r>
              <a:rPr lang="en-US" sz="2000" b="0" i="0" u="none" dirty="0">
                <a:solidFill>
                  <a:schemeClr val="dk2"/>
                </a:solidFill>
                <a:highlight>
                  <a:srgbClr val="FFFF00"/>
                </a:highlight>
                <a:latin typeface="Arial"/>
                <a:ea typeface="Arial"/>
                <a:cs typeface="Arial"/>
                <a:sym typeface="Arial"/>
              </a:rPr>
              <a:t>); </a:t>
            </a:r>
            <a:endParaRPr dirty="0">
              <a:highlight>
                <a:srgbClr val="FFFF00"/>
              </a:highlight>
            </a:endParaRPr>
          </a:p>
          <a:p>
            <a:pPr marL="1143000" lvl="2" indent="-228600" algn="l" rtl="0">
              <a:lnSpc>
                <a:spcPct val="150000"/>
              </a:lnSpc>
              <a:spcBef>
                <a:spcPts val="400"/>
              </a:spcBef>
              <a:spcAft>
                <a:spcPts val="0"/>
              </a:spcAft>
              <a:buClr>
                <a:srgbClr val="990033"/>
              </a:buClr>
              <a:buSzPts val="1000"/>
              <a:buFont typeface="Noto Sans Symbols"/>
              <a:buChar char="■"/>
            </a:pPr>
            <a:r>
              <a:rPr lang="en-US" sz="2000" b="0" i="0" u="none" dirty="0" err="1">
                <a:solidFill>
                  <a:schemeClr val="dk2"/>
                </a:solidFill>
                <a:highlight>
                  <a:srgbClr val="FFFF00"/>
                </a:highlight>
                <a:latin typeface="Arial"/>
                <a:ea typeface="Arial"/>
                <a:cs typeface="Arial"/>
                <a:sym typeface="Arial"/>
              </a:rPr>
              <a:t>n</a:t>
            </a:r>
            <a:r>
              <a:rPr lang="en-US" sz="2000" b="0" i="0" u="none" baseline="-25000" dirty="0" err="1">
                <a:solidFill>
                  <a:schemeClr val="dk2"/>
                </a:solidFill>
                <a:highlight>
                  <a:srgbClr val="FFFF00"/>
                </a:highlight>
                <a:latin typeface="Arial"/>
                <a:ea typeface="Arial"/>
                <a:cs typeface="Arial"/>
                <a:sym typeface="Arial"/>
              </a:rPr>
              <a:t>P</a:t>
            </a:r>
            <a:r>
              <a:rPr lang="en-US" sz="2000" b="0" i="0" u="none" dirty="0">
                <a:solidFill>
                  <a:schemeClr val="dk2"/>
                </a:solidFill>
                <a:highlight>
                  <a:srgbClr val="FFFF00"/>
                </a:highlight>
                <a:latin typeface="Arial"/>
                <a:ea typeface="Arial"/>
                <a:cs typeface="Arial"/>
                <a:sym typeface="Arial"/>
              </a:rPr>
              <a:t> = ⎡(</a:t>
            </a:r>
            <a:r>
              <a:rPr lang="en-US" sz="2000" b="0" i="0" u="none" dirty="0" err="1">
                <a:solidFill>
                  <a:schemeClr val="dk2"/>
                </a:solidFill>
                <a:highlight>
                  <a:srgbClr val="FFFF00"/>
                </a:highlight>
                <a:latin typeface="Arial"/>
                <a:ea typeface="Arial"/>
                <a:cs typeface="Arial"/>
                <a:sym typeface="Arial"/>
              </a:rPr>
              <a:t>log</a:t>
            </a:r>
            <a:r>
              <a:rPr lang="en-US" sz="2000" b="0" i="0" u="none" baseline="-25000" dirty="0" err="1">
                <a:solidFill>
                  <a:schemeClr val="dk2"/>
                </a:solidFill>
                <a:highlight>
                  <a:srgbClr val="FFFF00"/>
                </a:highlight>
                <a:latin typeface="Arial"/>
                <a:ea typeface="Arial"/>
                <a:cs typeface="Arial"/>
                <a:sym typeface="Arial"/>
              </a:rPr>
              <a:t>dM</a:t>
            </a:r>
            <a:r>
              <a:rPr lang="en-US" sz="2000" b="0" i="0" u="none" dirty="0">
                <a:solidFill>
                  <a:schemeClr val="dk2"/>
                </a:solidFill>
                <a:highlight>
                  <a:srgbClr val="FFFF00"/>
                </a:highlight>
                <a:latin typeface="Arial"/>
                <a:ea typeface="Arial"/>
                <a:cs typeface="Arial"/>
                <a:sym typeface="Arial"/>
              </a:rPr>
              <a:t>(</a:t>
            </a:r>
            <a:r>
              <a:rPr lang="en-US" sz="2000" b="0" i="0" u="none" dirty="0" err="1">
                <a:solidFill>
                  <a:schemeClr val="dk2"/>
                </a:solidFill>
                <a:highlight>
                  <a:srgbClr val="FFFF00"/>
                </a:highlight>
                <a:latin typeface="Arial"/>
                <a:ea typeface="Arial"/>
                <a:cs typeface="Arial"/>
                <a:sym typeface="Arial"/>
              </a:rPr>
              <a:t>n</a:t>
            </a:r>
            <a:r>
              <a:rPr lang="en-US" sz="2000" b="0" i="0" u="none" baseline="-25000" dirty="0" err="1">
                <a:solidFill>
                  <a:schemeClr val="dk2"/>
                </a:solidFill>
                <a:highlight>
                  <a:srgbClr val="FFFF00"/>
                </a:highlight>
                <a:latin typeface="Arial"/>
                <a:ea typeface="Arial"/>
                <a:cs typeface="Arial"/>
                <a:sym typeface="Arial"/>
              </a:rPr>
              <a:t>R</a:t>
            </a:r>
            <a:r>
              <a:rPr lang="en-US" sz="2000" b="0" i="0" u="none" dirty="0">
                <a:solidFill>
                  <a:schemeClr val="dk2"/>
                </a:solidFill>
                <a:highlight>
                  <a:srgbClr val="FFFF00"/>
                </a:highlight>
                <a:latin typeface="Arial"/>
                <a:ea typeface="Arial"/>
                <a:cs typeface="Arial"/>
                <a:sym typeface="Arial"/>
              </a:rPr>
              <a:t>))⎤</a:t>
            </a:r>
            <a:endParaRPr dirty="0">
              <a:highlight>
                <a:srgbClr val="FFFF00"/>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7"/>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3600">
              <a:solidFill>
                <a:srgbClr val="800000"/>
              </a:solidFill>
              <a:latin typeface="Arial"/>
              <a:ea typeface="Arial"/>
              <a:cs typeface="Arial"/>
              <a:sym typeface="Arial"/>
            </a:endParaRPr>
          </a:p>
        </p:txBody>
      </p:sp>
      <p:sp>
        <p:nvSpPr>
          <p:cNvPr id="194" name="Google Shape;194;p27"/>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1143000" marR="0" lvl="2" indent="-165100" algn="l" rtl="0">
              <a:lnSpc>
                <a:spcPct val="150000"/>
              </a:lnSpc>
              <a:spcBef>
                <a:spcPts val="0"/>
              </a:spcBef>
              <a:spcAft>
                <a:spcPts val="0"/>
              </a:spcAft>
              <a:buClr>
                <a:srgbClr val="990033"/>
              </a:buClr>
              <a:buSzPts val="1000"/>
              <a:buFont typeface="Noto Sans Symbols"/>
              <a:buNone/>
            </a:pPr>
            <a:endParaRPr sz="2000" b="0" i="0" u="none" strike="noStrike" cap="none" dirty="0">
              <a:solidFill>
                <a:schemeClr val="dk2"/>
              </a:solidFill>
              <a:highlight>
                <a:srgbClr val="FFFF00"/>
              </a:highlight>
              <a:latin typeface="Arial"/>
              <a:ea typeface="Arial"/>
              <a:cs typeface="Arial"/>
              <a:sym typeface="Arial"/>
            </a:endParaRPr>
          </a:p>
          <a:p>
            <a:pPr marL="1143000" marR="0" lvl="2" indent="-228600" algn="l" rtl="0">
              <a:lnSpc>
                <a:spcPct val="150000"/>
              </a:lnSpc>
              <a:spcBef>
                <a:spcPts val="400"/>
              </a:spcBef>
              <a:spcAft>
                <a:spcPts val="0"/>
              </a:spcAft>
              <a:buClr>
                <a:srgbClr val="990033"/>
              </a:buClr>
              <a:buSzPts val="1000"/>
              <a:buFont typeface="Noto Sans Symbols"/>
              <a:buChar char="⮚"/>
            </a:pPr>
            <a:r>
              <a:rPr lang="en-US" sz="2000" b="0" i="0" u="none" strike="noStrike" cap="none" dirty="0" err="1">
                <a:solidFill>
                  <a:schemeClr val="dk2"/>
                </a:solidFill>
                <a:highlight>
                  <a:srgbClr val="FFFF00"/>
                </a:highlight>
                <a:latin typeface="Arial"/>
                <a:ea typeface="Arial"/>
                <a:cs typeface="Arial"/>
                <a:sym typeface="Arial"/>
              </a:rPr>
              <a:t>d</a:t>
            </a:r>
            <a:r>
              <a:rPr lang="en-US" sz="2000" b="0" i="0" u="none" strike="noStrike" cap="none" baseline="-25000" dirty="0" err="1">
                <a:solidFill>
                  <a:schemeClr val="dk2"/>
                </a:solidFill>
                <a:highlight>
                  <a:srgbClr val="FFFF00"/>
                </a:highlight>
                <a:latin typeface="Arial"/>
                <a:ea typeface="Arial"/>
                <a:cs typeface="Arial"/>
                <a:sym typeface="Arial"/>
              </a:rPr>
              <a:t>M</a:t>
            </a:r>
            <a:r>
              <a:rPr lang="en-US" sz="2000" b="0" i="0" u="none" strike="noStrike" cap="none" dirty="0">
                <a:solidFill>
                  <a:schemeClr val="dk2"/>
                </a:solidFill>
                <a:highlight>
                  <a:srgbClr val="FFFF00"/>
                </a:highlight>
                <a:latin typeface="Arial"/>
                <a:ea typeface="Arial"/>
                <a:cs typeface="Arial"/>
                <a:sym typeface="Arial"/>
              </a:rPr>
              <a:t>: degree of merging, number of sorted subfiles that can be merged in each merge step;</a:t>
            </a:r>
            <a:endParaRPr dirty="0">
              <a:highlight>
                <a:srgbClr val="FFFF00"/>
              </a:highlight>
            </a:endParaRPr>
          </a:p>
          <a:p>
            <a:pPr marL="1143000" marR="0" lvl="2" indent="-228600" algn="l" rtl="0">
              <a:lnSpc>
                <a:spcPct val="150000"/>
              </a:lnSpc>
              <a:spcBef>
                <a:spcPts val="400"/>
              </a:spcBef>
              <a:spcAft>
                <a:spcPts val="0"/>
              </a:spcAft>
              <a:buClr>
                <a:srgbClr val="990033"/>
              </a:buClr>
              <a:buSzPts val="1000"/>
              <a:buFont typeface="Noto Sans Symbols"/>
              <a:buChar char="⮚"/>
            </a:pPr>
            <a:r>
              <a:rPr lang="en-US" sz="2000" b="0" i="0" u="none" strike="noStrike" cap="none" dirty="0" err="1">
                <a:solidFill>
                  <a:schemeClr val="dk2"/>
                </a:solidFill>
                <a:highlight>
                  <a:srgbClr val="FFFF00"/>
                </a:highlight>
                <a:latin typeface="Arial"/>
                <a:ea typeface="Arial"/>
                <a:cs typeface="Arial"/>
                <a:sym typeface="Arial"/>
              </a:rPr>
              <a:t>n</a:t>
            </a:r>
            <a:r>
              <a:rPr lang="en-US" sz="2000" b="0" i="0" u="none" strike="noStrike" cap="none" baseline="-25000" dirty="0" err="1">
                <a:solidFill>
                  <a:schemeClr val="dk2"/>
                </a:solidFill>
                <a:highlight>
                  <a:srgbClr val="FFFF00"/>
                </a:highlight>
                <a:latin typeface="Arial"/>
                <a:ea typeface="Arial"/>
                <a:cs typeface="Arial"/>
                <a:sym typeface="Arial"/>
              </a:rPr>
              <a:t>P</a:t>
            </a:r>
            <a:r>
              <a:rPr lang="en-US" sz="2000" b="0" i="0" u="none" strike="noStrike" cap="none" dirty="0">
                <a:solidFill>
                  <a:schemeClr val="dk2"/>
                </a:solidFill>
                <a:highlight>
                  <a:srgbClr val="FFFF00"/>
                </a:highlight>
                <a:latin typeface="Arial"/>
                <a:ea typeface="Arial"/>
                <a:cs typeface="Arial"/>
                <a:sym typeface="Arial"/>
              </a:rPr>
              <a:t>: number of merge passes </a:t>
            </a:r>
            <a:endParaRPr dirty="0">
              <a:highlight>
                <a:srgbClr val="FFFF00"/>
              </a:highlight>
            </a:endParaRPr>
          </a:p>
          <a:p>
            <a:pPr marL="1143000" marR="0" lvl="2" indent="-228600" algn="l" rtl="0">
              <a:lnSpc>
                <a:spcPct val="150000"/>
              </a:lnSpc>
              <a:spcBef>
                <a:spcPts val="400"/>
              </a:spcBef>
              <a:spcAft>
                <a:spcPts val="0"/>
              </a:spcAft>
              <a:buClr>
                <a:srgbClr val="990033"/>
              </a:buClr>
              <a:buSzPts val="1000"/>
              <a:buFont typeface="Noto Sans Symbols"/>
              <a:buChar char="⮚"/>
            </a:pPr>
            <a:r>
              <a:rPr lang="en-US" sz="2000" b="0" i="0" u="none" strike="noStrike" cap="none" dirty="0">
                <a:solidFill>
                  <a:schemeClr val="dk2"/>
                </a:solidFill>
                <a:highlight>
                  <a:srgbClr val="FFFF00"/>
                </a:highlight>
                <a:latin typeface="Arial"/>
                <a:ea typeface="Arial"/>
                <a:cs typeface="Arial"/>
                <a:sym typeface="Arial"/>
              </a:rPr>
              <a:t>Buffer size= block size. </a:t>
            </a:r>
            <a:endParaRPr dirty="0">
              <a:highlight>
                <a:srgbClr val="FFFF00"/>
              </a:highlight>
            </a:endParaRPr>
          </a:p>
          <a:p>
            <a:pPr marL="342900" marR="0" lvl="0" indent="-266700" algn="l" rtl="0">
              <a:spcBef>
                <a:spcPts val="400"/>
              </a:spcBef>
              <a:spcAft>
                <a:spcPts val="0"/>
              </a:spcAft>
              <a:buClr>
                <a:srgbClr val="990033"/>
              </a:buClr>
              <a:buSzPts val="1200"/>
              <a:buFont typeface="Noto Sans Symbols"/>
              <a:buNone/>
            </a:pPr>
            <a:endParaRPr sz="2000" b="0" i="0" u="none" strike="noStrike" cap="none" dirty="0">
              <a:solidFill>
                <a:schemeClr val="dk2"/>
              </a:solidFill>
              <a:highlight>
                <a:srgbClr val="FFFF00"/>
              </a:highlight>
              <a:latin typeface="Arial"/>
              <a:ea typeface="Arial"/>
              <a:cs typeface="Arial"/>
              <a:sym typeface="Arial"/>
            </a:endParaRPr>
          </a:p>
        </p:txBody>
      </p:sp>
      <p:sp>
        <p:nvSpPr>
          <p:cNvPr id="195" name="Google Shape;195;p27"/>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8"/>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3600">
              <a:solidFill>
                <a:srgbClr val="800000"/>
              </a:solidFill>
              <a:latin typeface="Arial"/>
              <a:ea typeface="Arial"/>
              <a:cs typeface="Arial"/>
              <a:sym typeface="Arial"/>
            </a:endParaRPr>
          </a:p>
        </p:txBody>
      </p:sp>
      <p:sp>
        <p:nvSpPr>
          <p:cNvPr id="201" name="Google Shape;201;p28"/>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0" marR="0" lvl="0" indent="0" algn="l" rtl="0">
              <a:lnSpc>
                <a:spcPct val="100000"/>
              </a:lnSpc>
              <a:spcBef>
                <a:spcPts val="0"/>
              </a:spcBef>
              <a:spcAft>
                <a:spcPts val="0"/>
              </a:spcAft>
              <a:buClr>
                <a:srgbClr val="990033"/>
              </a:buClr>
              <a:buSzPts val="1680"/>
              <a:buFont typeface="Noto Sans Symbols"/>
              <a:buNone/>
            </a:pPr>
            <a:r>
              <a:rPr lang="en-US" sz="2800" b="0" i="1" u="none">
                <a:solidFill>
                  <a:schemeClr val="dk2"/>
                </a:solidFill>
                <a:latin typeface="Arial"/>
                <a:ea typeface="Arial"/>
                <a:cs typeface="Arial"/>
                <a:sym typeface="Arial"/>
              </a:rPr>
              <a:t> </a:t>
            </a:r>
            <a:r>
              <a:rPr lang="en-US" sz="2800" b="0" i="0" u="none">
                <a:solidFill>
                  <a:schemeClr val="dk2"/>
                </a:solidFill>
                <a:latin typeface="Arial"/>
                <a:ea typeface="Arial"/>
                <a:cs typeface="Arial"/>
                <a:sym typeface="Arial"/>
              </a:rPr>
              <a:t>For example,</a:t>
            </a:r>
            <a:endParaRPr/>
          </a:p>
          <a:p>
            <a:pPr marL="0" marR="0" lvl="0" indent="-106679"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size </a:t>
            </a:r>
            <a:r>
              <a:rPr lang="en-US" sz="2800" b="0" i="1" u="none">
                <a:solidFill>
                  <a:schemeClr val="dk2"/>
                </a:solidFill>
                <a:latin typeface="Arial"/>
                <a:ea typeface="Arial"/>
                <a:cs typeface="Arial"/>
                <a:sym typeface="Arial"/>
              </a:rPr>
              <a:t>of </a:t>
            </a:r>
            <a:r>
              <a:rPr lang="en-US" sz="2800" b="0" i="0" u="none">
                <a:solidFill>
                  <a:schemeClr val="dk2"/>
                </a:solidFill>
                <a:latin typeface="Arial"/>
                <a:ea typeface="Arial"/>
                <a:cs typeface="Arial"/>
                <a:sym typeface="Arial"/>
              </a:rPr>
              <a:t>the file </a:t>
            </a:r>
            <a:r>
              <a:rPr lang="en-US" sz="2800" b="0" i="1" u="none">
                <a:solidFill>
                  <a:schemeClr val="dk2"/>
                </a:solidFill>
                <a:latin typeface="Arial"/>
                <a:ea typeface="Arial"/>
                <a:cs typeface="Arial"/>
                <a:sym typeface="Arial"/>
              </a:rPr>
              <a:t>b </a:t>
            </a:r>
            <a:r>
              <a:rPr lang="en-US" sz="2800" b="0" i="0" u="none">
                <a:solidFill>
                  <a:schemeClr val="dk2"/>
                </a:solidFill>
                <a:latin typeface="Arial"/>
                <a:ea typeface="Arial"/>
                <a:cs typeface="Arial"/>
                <a:sym typeface="Arial"/>
              </a:rPr>
              <a:t>= 1024 blocks, </a:t>
            </a:r>
            <a:endParaRPr sz="2800" b="0" i="0" u="none">
              <a:solidFill>
                <a:schemeClr val="dk2"/>
              </a:solidFill>
              <a:latin typeface="Arial"/>
              <a:ea typeface="Arial"/>
              <a:cs typeface="Arial"/>
              <a:sym typeface="Arial"/>
            </a:endParaRPr>
          </a:p>
          <a:p>
            <a:pPr marL="0" marR="0" lvl="0" indent="-106679" algn="l" rtl="0">
              <a:lnSpc>
                <a:spcPct val="100000"/>
              </a:lnSpc>
              <a:spcBef>
                <a:spcPts val="560"/>
              </a:spcBef>
              <a:spcAft>
                <a:spcPts val="0"/>
              </a:spcAft>
              <a:buClr>
                <a:srgbClr val="990033"/>
              </a:buClr>
              <a:buSzPts val="1680"/>
              <a:buFont typeface="Noto Sans Symbols"/>
              <a:buChar char="■"/>
            </a:pPr>
            <a:r>
              <a:rPr lang="en-US" sz="2800" b="0" i="1" u="none">
                <a:solidFill>
                  <a:schemeClr val="dk2"/>
                </a:solidFill>
                <a:latin typeface="Arial"/>
                <a:ea typeface="Arial"/>
                <a:cs typeface="Arial"/>
                <a:sym typeface="Arial"/>
              </a:rPr>
              <a:t>if nB </a:t>
            </a:r>
            <a:r>
              <a:rPr lang="en-US" sz="2800" b="0" i="0" u="none">
                <a:solidFill>
                  <a:schemeClr val="dk2"/>
                </a:solidFill>
                <a:latin typeface="Arial"/>
                <a:ea typeface="Arial"/>
                <a:cs typeface="Arial"/>
                <a:sym typeface="Arial"/>
              </a:rPr>
              <a:t>= 5 blocks </a:t>
            </a:r>
            <a:endParaRPr/>
          </a:p>
          <a:p>
            <a:pPr marL="0" marR="0" lvl="0" indent="0" algn="l" rtl="0">
              <a:lnSpc>
                <a:spcPct val="100000"/>
              </a:lnSpc>
              <a:spcBef>
                <a:spcPts val="560"/>
              </a:spcBef>
              <a:spcAft>
                <a:spcPts val="0"/>
              </a:spcAft>
              <a:buClr>
                <a:srgbClr val="990033"/>
              </a:buClr>
              <a:buSzPts val="1680"/>
              <a:buFont typeface="Noto Sans Symbols"/>
              <a:buNone/>
            </a:pPr>
            <a:endParaRPr sz="2800" b="0" i="0" u="none">
              <a:solidFill>
                <a:schemeClr val="dk2"/>
              </a:solidFill>
              <a:latin typeface="Arial"/>
              <a:ea typeface="Arial"/>
              <a:cs typeface="Arial"/>
              <a:sym typeface="Arial"/>
            </a:endParaRPr>
          </a:p>
          <a:p>
            <a:pPr marL="0" marR="0" lvl="0" indent="-106679"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Then find  runs, degree of merging</a:t>
            </a:r>
            <a:endParaRPr sz="2800" b="0" i="0" u="none">
              <a:solidFill>
                <a:schemeClr val="dk2"/>
              </a:solidFill>
              <a:latin typeface="Arial"/>
              <a:ea typeface="Arial"/>
              <a:cs typeface="Arial"/>
              <a:sym typeface="Arial"/>
            </a:endParaRPr>
          </a:p>
          <a:p>
            <a:pPr marL="342900" marR="0" lvl="0" indent="-236220" algn="l" rtl="0">
              <a:spcBef>
                <a:spcPts val="560"/>
              </a:spcBef>
              <a:spcAft>
                <a:spcPts val="0"/>
              </a:spcAft>
              <a:buClr>
                <a:srgbClr val="990033"/>
              </a:buClr>
              <a:buSzPts val="1680"/>
              <a:buFont typeface="Noto Sans Symbols"/>
              <a:buNone/>
            </a:pPr>
            <a:endParaRPr sz="2800" b="0" i="0" u="none">
              <a:solidFill>
                <a:schemeClr val="dk2"/>
              </a:solidFill>
              <a:latin typeface="Arial"/>
              <a:ea typeface="Arial"/>
              <a:cs typeface="Arial"/>
              <a:sym typeface="Arial"/>
            </a:endParaRPr>
          </a:p>
        </p:txBody>
      </p:sp>
      <p:sp>
        <p:nvSpPr>
          <p:cNvPr id="202" name="Google Shape;202;p28"/>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3600">
              <a:solidFill>
                <a:srgbClr val="800000"/>
              </a:solidFill>
              <a:latin typeface="Arial"/>
              <a:ea typeface="Arial"/>
              <a:cs typeface="Arial"/>
              <a:sym typeface="Arial"/>
            </a:endParaRPr>
          </a:p>
        </p:txBody>
      </p:sp>
      <p:sp>
        <p:nvSpPr>
          <p:cNvPr id="208" name="Google Shape;208;p2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marR="0" lvl="0" indent="-342900" algn="l" rtl="0">
              <a:lnSpc>
                <a:spcPct val="10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nR = [</a:t>
            </a:r>
            <a:r>
              <a:rPr lang="en-US" sz="2800" b="0" i="1" u="none">
                <a:solidFill>
                  <a:schemeClr val="dk2"/>
                </a:solidFill>
                <a:latin typeface="Arial"/>
                <a:ea typeface="Arial"/>
                <a:cs typeface="Arial"/>
                <a:sym typeface="Arial"/>
              </a:rPr>
              <a:t>(b/nB) </a:t>
            </a:r>
            <a:r>
              <a:rPr lang="en-US" sz="2800" b="0" i="0" u="none">
                <a:solidFill>
                  <a:schemeClr val="dk2"/>
                </a:solidFill>
                <a:latin typeface="Arial"/>
                <a:ea typeface="Arial"/>
                <a:cs typeface="Arial"/>
                <a:sym typeface="Arial"/>
              </a:rPr>
              <a:t>l , or 205 initial runs each </a:t>
            </a:r>
            <a:r>
              <a:rPr lang="en-US" sz="2800" b="0" i="1" u="none">
                <a:solidFill>
                  <a:schemeClr val="dk2"/>
                </a:solidFill>
                <a:latin typeface="Arial"/>
                <a:ea typeface="Arial"/>
                <a:cs typeface="Arial"/>
                <a:sym typeface="Arial"/>
              </a:rPr>
              <a:t>of </a:t>
            </a:r>
            <a:r>
              <a:rPr lang="en-US" sz="2800" b="0" i="0" u="none">
                <a:solidFill>
                  <a:schemeClr val="dk2"/>
                </a:solidFill>
                <a:latin typeface="Arial"/>
                <a:ea typeface="Arial"/>
                <a:cs typeface="Arial"/>
                <a:sym typeface="Arial"/>
              </a:rPr>
              <a:t>size 5 blocks (except the last run which will have 4 blocks). </a:t>
            </a:r>
            <a:endParaRPr/>
          </a:p>
          <a:p>
            <a:pPr marL="342900" marR="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Hence, after the sort phase, 205 sorted runs are stored as temporary subfiles on disk.</a:t>
            </a:r>
            <a:endParaRPr/>
          </a:p>
          <a:p>
            <a:pPr marL="342900" marR="0" lvl="0" indent="-236220" algn="l" rtl="0">
              <a:spcBef>
                <a:spcPts val="560"/>
              </a:spcBef>
              <a:spcAft>
                <a:spcPts val="0"/>
              </a:spcAft>
              <a:buClr>
                <a:srgbClr val="990033"/>
              </a:buClr>
              <a:buSzPts val="1680"/>
              <a:buFont typeface="Noto Sans Symbols"/>
              <a:buNone/>
            </a:pPr>
            <a:endParaRPr sz="2800" b="0" i="0" u="none">
              <a:solidFill>
                <a:schemeClr val="dk2"/>
              </a:solidFill>
              <a:latin typeface="Arial"/>
              <a:ea typeface="Arial"/>
              <a:cs typeface="Arial"/>
              <a:sym typeface="Arial"/>
            </a:endParaRPr>
          </a:p>
        </p:txBody>
      </p:sp>
      <p:sp>
        <p:nvSpPr>
          <p:cNvPr id="209" name="Google Shape;209;p2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3600">
              <a:solidFill>
                <a:srgbClr val="800000"/>
              </a:solidFill>
              <a:latin typeface="Arial"/>
              <a:ea typeface="Arial"/>
              <a:cs typeface="Arial"/>
              <a:sym typeface="Arial"/>
            </a:endParaRPr>
          </a:p>
        </p:txBody>
      </p:sp>
      <p:sp>
        <p:nvSpPr>
          <p:cNvPr id="215" name="Google Shape;215;p30"/>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marR="0" lvl="0" indent="-342900" algn="l" rtl="0">
              <a:lnSpc>
                <a:spcPct val="100000"/>
              </a:lnSpc>
              <a:spcBef>
                <a:spcPts val="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 the sorted runs are merged during one or more passes. </a:t>
            </a:r>
            <a:endParaRPr dirty="0"/>
          </a:p>
          <a:p>
            <a:pPr marL="342900" marR="0" lvl="0" indent="-342900" algn="l" rtl="0">
              <a:lnSpc>
                <a:spcPct val="100000"/>
              </a:lnSpc>
              <a:spcBef>
                <a:spcPts val="56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a:t>
            </a:r>
            <a:r>
              <a:rPr lang="en-US" sz="2800" b="0" i="0" u="none" dirty="0">
                <a:solidFill>
                  <a:schemeClr val="dk2"/>
                </a:solidFill>
                <a:highlight>
                  <a:srgbClr val="FFFF00"/>
                </a:highlight>
                <a:latin typeface="Arial"/>
                <a:ea typeface="Arial"/>
                <a:cs typeface="Arial"/>
                <a:sym typeface="Arial"/>
              </a:rPr>
              <a:t>degree of merging </a:t>
            </a:r>
            <a:r>
              <a:rPr lang="en-US" sz="2800" b="0" i="1" u="none" dirty="0">
                <a:solidFill>
                  <a:schemeClr val="dk2"/>
                </a:solidFill>
                <a:highlight>
                  <a:srgbClr val="FFFF00"/>
                </a:highlight>
                <a:latin typeface="Arial"/>
                <a:ea typeface="Arial"/>
                <a:cs typeface="Arial"/>
                <a:sym typeface="Arial"/>
              </a:rPr>
              <a:t>(</a:t>
            </a:r>
            <a:r>
              <a:rPr lang="en-US" sz="2800" b="0" i="1" u="none" dirty="0" err="1">
                <a:solidFill>
                  <a:schemeClr val="dk2"/>
                </a:solidFill>
                <a:highlight>
                  <a:srgbClr val="FFFF00"/>
                </a:highlight>
                <a:latin typeface="Arial"/>
                <a:ea typeface="Arial"/>
                <a:cs typeface="Arial"/>
                <a:sym typeface="Arial"/>
              </a:rPr>
              <a:t>dM</a:t>
            </a:r>
            <a:r>
              <a:rPr lang="en-US" sz="2800" b="0" i="1" u="none" dirty="0">
                <a:solidFill>
                  <a:schemeClr val="dk2"/>
                </a:solidFill>
                <a:highlight>
                  <a:srgbClr val="FFFF00"/>
                </a:highlight>
                <a:latin typeface="Arial"/>
                <a:ea typeface="Arial"/>
                <a:cs typeface="Arial"/>
                <a:sym typeface="Arial"/>
              </a:rPr>
              <a:t>) </a:t>
            </a:r>
            <a:r>
              <a:rPr lang="en-US" sz="2800" b="0" i="0" u="none" dirty="0">
                <a:solidFill>
                  <a:schemeClr val="dk2"/>
                </a:solidFill>
                <a:highlight>
                  <a:srgbClr val="FFFF00"/>
                </a:highlight>
                <a:latin typeface="Arial"/>
                <a:ea typeface="Arial"/>
                <a:cs typeface="Arial"/>
                <a:sym typeface="Arial"/>
              </a:rPr>
              <a:t>is the number </a:t>
            </a:r>
            <a:r>
              <a:rPr lang="en-US" sz="2800" b="0" i="1" u="none" dirty="0">
                <a:solidFill>
                  <a:schemeClr val="dk2"/>
                </a:solidFill>
                <a:highlight>
                  <a:srgbClr val="FFFF00"/>
                </a:highlight>
                <a:latin typeface="Arial"/>
                <a:ea typeface="Arial"/>
                <a:cs typeface="Arial"/>
                <a:sym typeface="Arial"/>
              </a:rPr>
              <a:t>of </a:t>
            </a:r>
            <a:r>
              <a:rPr lang="en-US" sz="2800" b="0" i="0" u="none" dirty="0">
                <a:solidFill>
                  <a:schemeClr val="dk2"/>
                </a:solidFill>
                <a:highlight>
                  <a:srgbClr val="FFFF00"/>
                </a:highlight>
                <a:latin typeface="Arial"/>
                <a:ea typeface="Arial"/>
                <a:cs typeface="Arial"/>
                <a:sym typeface="Arial"/>
              </a:rPr>
              <a:t>runs that can be merged together in each pass.</a:t>
            </a:r>
            <a:endParaRPr dirty="0">
              <a:highlight>
                <a:srgbClr val="FFFF00"/>
              </a:highlight>
            </a:endParaRPr>
          </a:p>
          <a:p>
            <a:pPr marL="342900" marR="0" lvl="0" indent="-342900" algn="l" rtl="0">
              <a:lnSpc>
                <a:spcPct val="100000"/>
              </a:lnSpc>
              <a:spcBef>
                <a:spcPts val="56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In each </a:t>
            </a:r>
            <a:r>
              <a:rPr lang="en-US" sz="2800" b="0" i="0" u="none" dirty="0" err="1">
                <a:solidFill>
                  <a:schemeClr val="dk2"/>
                </a:solidFill>
                <a:latin typeface="Arial"/>
                <a:ea typeface="Arial"/>
                <a:cs typeface="Arial"/>
                <a:sym typeface="Arial"/>
              </a:rPr>
              <a:t>pass,one</a:t>
            </a:r>
            <a:r>
              <a:rPr lang="en-US" sz="2800" b="0" i="0" u="none" dirty="0">
                <a:solidFill>
                  <a:schemeClr val="dk2"/>
                </a:solidFill>
                <a:latin typeface="Arial"/>
                <a:ea typeface="Arial"/>
                <a:cs typeface="Arial"/>
                <a:sym typeface="Arial"/>
              </a:rPr>
              <a:t> buffer block is needed to hold one block </a:t>
            </a:r>
            <a:r>
              <a:rPr lang="en-US" sz="2800" b="0" i="1" u="none" dirty="0">
                <a:solidFill>
                  <a:schemeClr val="dk2"/>
                </a:solidFill>
                <a:latin typeface="Arial"/>
                <a:ea typeface="Arial"/>
                <a:cs typeface="Arial"/>
                <a:sym typeface="Arial"/>
              </a:rPr>
              <a:t>from </a:t>
            </a:r>
            <a:r>
              <a:rPr lang="en-US" sz="2800" b="0" i="0" u="none" dirty="0">
                <a:solidFill>
                  <a:schemeClr val="dk2"/>
                </a:solidFill>
                <a:latin typeface="Arial"/>
                <a:ea typeface="Arial"/>
                <a:cs typeface="Arial"/>
                <a:sym typeface="Arial"/>
              </a:rPr>
              <a:t>each </a:t>
            </a:r>
            <a:r>
              <a:rPr lang="en-US" sz="2800" b="0" i="1" u="none" dirty="0">
                <a:solidFill>
                  <a:schemeClr val="dk2"/>
                </a:solidFill>
                <a:latin typeface="Arial"/>
                <a:ea typeface="Arial"/>
                <a:cs typeface="Arial"/>
                <a:sym typeface="Arial"/>
              </a:rPr>
              <a:t>of </a:t>
            </a:r>
            <a:r>
              <a:rPr lang="en-US" sz="2800" b="0" i="0" u="none" dirty="0">
                <a:solidFill>
                  <a:schemeClr val="dk2"/>
                </a:solidFill>
                <a:latin typeface="Arial"/>
                <a:ea typeface="Arial"/>
                <a:cs typeface="Arial"/>
                <a:sym typeface="Arial"/>
              </a:rPr>
              <a:t>the runs being merged, and one block is needed </a:t>
            </a:r>
            <a:r>
              <a:rPr lang="en-US" sz="2800" b="0" i="1" u="none" dirty="0">
                <a:solidFill>
                  <a:schemeClr val="dk2"/>
                </a:solidFill>
                <a:latin typeface="Arial"/>
                <a:ea typeface="Arial"/>
                <a:cs typeface="Arial"/>
                <a:sym typeface="Arial"/>
              </a:rPr>
              <a:t>for </a:t>
            </a:r>
            <a:r>
              <a:rPr lang="en-US" sz="2800" b="0" i="0" u="none" dirty="0">
                <a:solidFill>
                  <a:schemeClr val="dk2"/>
                </a:solidFill>
                <a:latin typeface="Arial"/>
                <a:ea typeface="Arial"/>
                <a:cs typeface="Arial"/>
                <a:sym typeface="Arial"/>
              </a:rPr>
              <a:t>containing one block </a:t>
            </a:r>
            <a:r>
              <a:rPr lang="en-US" sz="2800" b="0" i="1" u="none" dirty="0">
                <a:solidFill>
                  <a:schemeClr val="dk2"/>
                </a:solidFill>
                <a:latin typeface="Arial"/>
                <a:ea typeface="Arial"/>
                <a:cs typeface="Arial"/>
                <a:sym typeface="Arial"/>
              </a:rPr>
              <a:t>of </a:t>
            </a:r>
            <a:r>
              <a:rPr lang="en-US" sz="2800" b="0" i="0" u="none" dirty="0">
                <a:solidFill>
                  <a:schemeClr val="dk2"/>
                </a:solidFill>
                <a:latin typeface="Arial"/>
                <a:ea typeface="Arial"/>
                <a:cs typeface="Arial"/>
                <a:sym typeface="Arial"/>
              </a:rPr>
              <a:t>the merge result.</a:t>
            </a:r>
            <a:endParaRPr dirty="0"/>
          </a:p>
          <a:p>
            <a:pPr marL="342900" marR="0" lvl="0" indent="-236220" algn="l" rtl="0">
              <a:lnSpc>
                <a:spcPct val="100000"/>
              </a:lnSpc>
              <a:spcBef>
                <a:spcPts val="560"/>
              </a:spcBef>
              <a:spcAft>
                <a:spcPts val="0"/>
              </a:spcAft>
              <a:buClr>
                <a:srgbClr val="990033"/>
              </a:buClr>
              <a:buSzPts val="1680"/>
              <a:buFont typeface="Noto Sans Symbols"/>
              <a:buNone/>
            </a:pPr>
            <a:endParaRPr sz="2800" b="0" i="0" u="none" dirty="0">
              <a:solidFill>
                <a:schemeClr val="dk2"/>
              </a:solidFill>
              <a:latin typeface="Arial"/>
              <a:ea typeface="Arial"/>
              <a:cs typeface="Arial"/>
              <a:sym typeface="Arial"/>
            </a:endParaRPr>
          </a:p>
          <a:p>
            <a:pPr marL="342900" marR="0" lvl="0" indent="-342900" algn="l" rtl="0">
              <a:lnSpc>
                <a:spcPct val="100000"/>
              </a:lnSpc>
              <a:spcBef>
                <a:spcPts val="560"/>
              </a:spcBef>
              <a:spcAft>
                <a:spcPts val="0"/>
              </a:spcAft>
              <a:buClr>
                <a:srgbClr val="990033"/>
              </a:buClr>
              <a:buSzPts val="1680"/>
              <a:buFont typeface="Noto Sans Symbols"/>
              <a:buChar char="📫"/>
            </a:pPr>
            <a:r>
              <a:rPr lang="en-US" sz="2800" b="0" i="0" u="none" dirty="0">
                <a:solidFill>
                  <a:schemeClr val="dk2"/>
                </a:solidFill>
                <a:latin typeface="Arial"/>
                <a:ea typeface="Arial"/>
                <a:cs typeface="Arial"/>
                <a:sym typeface="Arial"/>
              </a:rPr>
              <a:t> , </a:t>
            </a:r>
            <a:r>
              <a:rPr lang="en-US" sz="2800" b="0" i="0" u="none" dirty="0" err="1">
                <a:solidFill>
                  <a:schemeClr val="dk2"/>
                </a:solidFill>
                <a:latin typeface="Arial"/>
                <a:ea typeface="Arial"/>
                <a:cs typeface="Arial"/>
                <a:sym typeface="Arial"/>
              </a:rPr>
              <a:t>dM</a:t>
            </a:r>
            <a:r>
              <a:rPr lang="en-US" sz="2800" b="0" i="0" u="none" dirty="0">
                <a:solidFill>
                  <a:schemeClr val="dk2"/>
                </a:solidFill>
                <a:latin typeface="Arial"/>
                <a:ea typeface="Arial"/>
                <a:cs typeface="Arial"/>
                <a:sym typeface="Arial"/>
              </a:rPr>
              <a:t> =   min(5-1, 205) =4</a:t>
            </a:r>
            <a:endParaRPr dirty="0"/>
          </a:p>
          <a:p>
            <a:pPr marL="342900" marR="0" lvl="0" indent="-236220" algn="l" rtl="0">
              <a:spcBef>
                <a:spcPts val="560"/>
              </a:spcBef>
              <a:spcAft>
                <a:spcPts val="0"/>
              </a:spcAft>
              <a:buClr>
                <a:srgbClr val="990033"/>
              </a:buClr>
              <a:buSzPts val="1680"/>
              <a:buFont typeface="Noto Sans Symbols"/>
              <a:buNone/>
            </a:pPr>
            <a:endParaRPr sz="2800" b="0" i="0" u="none" dirty="0">
              <a:solidFill>
                <a:schemeClr val="dk2"/>
              </a:solidFill>
              <a:latin typeface="Arial"/>
              <a:ea typeface="Arial"/>
              <a:cs typeface="Arial"/>
              <a:sym typeface="Arial"/>
            </a:endParaRPr>
          </a:p>
        </p:txBody>
      </p:sp>
      <p:sp>
        <p:nvSpPr>
          <p:cNvPr id="216" name="Google Shape;216;p3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3600">
              <a:solidFill>
                <a:srgbClr val="800000"/>
              </a:solidFill>
              <a:latin typeface="Arial"/>
              <a:ea typeface="Arial"/>
              <a:cs typeface="Arial"/>
              <a:sym typeface="Arial"/>
            </a:endParaRPr>
          </a:p>
        </p:txBody>
      </p:sp>
      <p:sp>
        <p:nvSpPr>
          <p:cNvPr id="222" name="Google Shape;222;p3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marR="0" lvl="0" indent="-342900" algn="l" rtl="0">
              <a:lnSpc>
                <a:spcPct val="10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4(four-way merging), so the 205 initial sorted runs would be merged into 52 at the end </a:t>
            </a:r>
            <a:r>
              <a:rPr lang="en-US" sz="2800" b="0" i="1" u="none">
                <a:solidFill>
                  <a:schemeClr val="dk2"/>
                </a:solidFill>
                <a:latin typeface="Arial"/>
                <a:ea typeface="Arial"/>
                <a:cs typeface="Arial"/>
                <a:sym typeface="Arial"/>
              </a:rPr>
              <a:t>of </a:t>
            </a:r>
            <a:r>
              <a:rPr lang="en-US" sz="2800" b="0" i="0" u="none">
                <a:solidFill>
                  <a:schemeClr val="dk2"/>
                </a:solidFill>
                <a:latin typeface="Arial"/>
                <a:ea typeface="Arial"/>
                <a:cs typeface="Arial"/>
                <a:sym typeface="Arial"/>
              </a:rPr>
              <a:t>the first pass,</a:t>
            </a:r>
            <a:endParaRPr/>
          </a:p>
          <a:p>
            <a:pPr marL="342900" marR="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which are then merged into 13, then 4, then 1 run, which means that </a:t>
            </a:r>
            <a:r>
              <a:rPr lang="en-US" sz="2800" b="0" i="1" u="none">
                <a:solidFill>
                  <a:schemeClr val="dk2"/>
                </a:solidFill>
                <a:latin typeface="Arial"/>
                <a:ea typeface="Arial"/>
                <a:cs typeface="Arial"/>
                <a:sym typeface="Arial"/>
              </a:rPr>
              <a:t>four passes </a:t>
            </a:r>
            <a:r>
              <a:rPr lang="en-US" sz="2800" b="0" i="0" u="none">
                <a:solidFill>
                  <a:schemeClr val="dk2"/>
                </a:solidFill>
                <a:latin typeface="Arial"/>
                <a:ea typeface="Arial"/>
                <a:cs typeface="Arial"/>
                <a:sym typeface="Arial"/>
              </a:rPr>
              <a:t>are needed.</a:t>
            </a:r>
            <a:endParaRPr/>
          </a:p>
          <a:p>
            <a:pPr marL="342900" marR="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The minimum dM </a:t>
            </a:r>
            <a:r>
              <a:rPr lang="en-US" sz="2800" b="0" i="1" u="none">
                <a:solidFill>
                  <a:schemeClr val="dk2"/>
                </a:solidFill>
                <a:latin typeface="Arial"/>
                <a:ea typeface="Arial"/>
                <a:cs typeface="Arial"/>
                <a:sym typeface="Arial"/>
              </a:rPr>
              <a:t>of </a:t>
            </a:r>
            <a:r>
              <a:rPr lang="en-US" sz="2800" b="0" i="0" u="none">
                <a:solidFill>
                  <a:schemeClr val="dk2"/>
                </a:solidFill>
                <a:latin typeface="Arial"/>
                <a:ea typeface="Arial"/>
                <a:cs typeface="Arial"/>
                <a:sym typeface="Arial"/>
              </a:rPr>
              <a:t>2 gives the worst-case performance </a:t>
            </a:r>
            <a:r>
              <a:rPr lang="en-US" sz="2800" b="0" i="1" u="none">
                <a:solidFill>
                  <a:schemeClr val="dk2"/>
                </a:solidFill>
                <a:latin typeface="Arial"/>
                <a:ea typeface="Arial"/>
                <a:cs typeface="Arial"/>
                <a:sym typeface="Arial"/>
              </a:rPr>
              <a:t>of </a:t>
            </a:r>
            <a:r>
              <a:rPr lang="en-US" sz="2800" b="0" i="0" u="none">
                <a:solidFill>
                  <a:schemeClr val="dk2"/>
                </a:solidFill>
                <a:latin typeface="Arial"/>
                <a:ea typeface="Arial"/>
                <a:cs typeface="Arial"/>
                <a:sym typeface="Arial"/>
              </a:rPr>
              <a:t>the algorithm, which is</a:t>
            </a:r>
            <a:endParaRPr/>
          </a:p>
          <a:p>
            <a:pPr marL="342900" marR="0" lvl="0" indent="-236220" algn="l" rtl="0">
              <a:spcBef>
                <a:spcPts val="560"/>
              </a:spcBef>
              <a:spcAft>
                <a:spcPts val="0"/>
              </a:spcAft>
              <a:buClr>
                <a:srgbClr val="990033"/>
              </a:buClr>
              <a:buSzPts val="1680"/>
              <a:buFont typeface="Noto Sans Symbols"/>
              <a:buNone/>
            </a:pPr>
            <a:endParaRPr sz="2800" b="0" i="0" u="none">
              <a:solidFill>
                <a:schemeClr val="dk2"/>
              </a:solidFill>
              <a:latin typeface="Arial"/>
              <a:ea typeface="Arial"/>
              <a:cs typeface="Arial"/>
              <a:sym typeface="Arial"/>
            </a:endParaRPr>
          </a:p>
        </p:txBody>
      </p:sp>
      <p:sp>
        <p:nvSpPr>
          <p:cNvPr id="223" name="Google Shape;223;p3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31</a:t>
            </a:fld>
            <a:endParaRPr/>
          </a:p>
        </p:txBody>
      </p:sp>
      <p:sp>
        <p:nvSpPr>
          <p:cNvPr id="230" name="Google Shape;230;p3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Algorithms for External Sorting (2)</a:t>
            </a:r>
            <a:endParaRPr/>
          </a:p>
        </p:txBody>
      </p:sp>
      <p:pic>
        <p:nvPicPr>
          <p:cNvPr id="231" name="Google Shape;231;p32" descr="fig15_02"/>
          <p:cNvPicPr preferRelativeResize="0"/>
          <p:nvPr/>
        </p:nvPicPr>
        <p:blipFill rotWithShape="1">
          <a:blip r:embed="rId3">
            <a:alphaModFix/>
          </a:blip>
          <a:srcRect/>
          <a:stretch/>
        </p:blipFill>
        <p:spPr>
          <a:xfrm>
            <a:off x="228600" y="1295400"/>
            <a:ext cx="8610600" cy="5562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32</a:t>
            </a:fld>
            <a:endParaRPr/>
          </a:p>
        </p:txBody>
      </p:sp>
      <p:sp>
        <p:nvSpPr>
          <p:cNvPr id="238" name="Google Shape;238;p3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3. Algorithms for SELECT and JOIN Operations (1)</a:t>
            </a:r>
            <a:endParaRPr/>
          </a:p>
        </p:txBody>
      </p:sp>
      <p:sp>
        <p:nvSpPr>
          <p:cNvPr id="239" name="Google Shape;239;p3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Implementing the SELECT Operation</a:t>
            </a:r>
            <a:endParaRPr/>
          </a:p>
          <a:p>
            <a:pPr marL="342900" lvl="0" indent="-251459" algn="l" rtl="0">
              <a:lnSpc>
                <a:spcPct val="100000"/>
              </a:lnSpc>
              <a:spcBef>
                <a:spcPts val="480"/>
              </a:spcBef>
              <a:spcAft>
                <a:spcPts val="0"/>
              </a:spcAft>
              <a:buClr>
                <a:srgbClr val="990033"/>
              </a:buClr>
              <a:buSzPts val="1440"/>
              <a:buFont typeface="Noto Sans Symbols"/>
              <a:buNone/>
            </a:pPr>
            <a:endParaRPr sz="2400" b="0" i="0" u="none">
              <a:solidFill>
                <a:schemeClr val="dk2"/>
              </a:solidFill>
              <a:latin typeface="Arial"/>
              <a:ea typeface="Arial"/>
              <a:cs typeface="Arial"/>
              <a:sym typeface="Arial"/>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Examples:</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(OP1): </a:t>
            </a:r>
            <a:r>
              <a:rPr lang="en-US" sz="2200" b="0" i="0" u="none">
                <a:solidFill>
                  <a:srgbClr val="800000"/>
                </a:solidFill>
                <a:latin typeface="Noto Sans Symbols"/>
                <a:ea typeface="Noto Sans Symbols"/>
                <a:cs typeface="Noto Sans Symbols"/>
                <a:sym typeface="Noto Sans Symbols"/>
              </a:rPr>
              <a:t>σ</a:t>
            </a:r>
            <a:r>
              <a:rPr lang="en-US" sz="2200" b="0" i="0" u="none">
                <a:solidFill>
                  <a:srgbClr val="800000"/>
                </a:solidFill>
                <a:latin typeface="Arial"/>
                <a:ea typeface="Arial"/>
                <a:cs typeface="Arial"/>
                <a:sym typeface="Arial"/>
              </a:rPr>
              <a:t> </a:t>
            </a:r>
            <a:r>
              <a:rPr lang="en-US" sz="2200" b="0" i="0" u="none" baseline="-25000">
                <a:solidFill>
                  <a:srgbClr val="800000"/>
                </a:solidFill>
                <a:latin typeface="Arial"/>
                <a:ea typeface="Arial"/>
                <a:cs typeface="Arial"/>
                <a:sym typeface="Arial"/>
              </a:rPr>
              <a:t>SSN='123456789' </a:t>
            </a:r>
            <a:r>
              <a:rPr lang="en-US" sz="2200" b="0" i="0" u="none">
                <a:solidFill>
                  <a:srgbClr val="800000"/>
                </a:solidFill>
                <a:latin typeface="Arial"/>
                <a:ea typeface="Arial"/>
                <a:cs typeface="Arial"/>
                <a:sym typeface="Arial"/>
              </a:rPr>
              <a:t>(EMPLOYEE)</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(OP2): </a:t>
            </a:r>
            <a:r>
              <a:rPr lang="en-US" sz="2200" b="0" i="0" u="none">
                <a:solidFill>
                  <a:srgbClr val="800000"/>
                </a:solidFill>
                <a:latin typeface="Noto Sans Symbols"/>
                <a:ea typeface="Noto Sans Symbols"/>
                <a:cs typeface="Noto Sans Symbols"/>
                <a:sym typeface="Noto Sans Symbols"/>
              </a:rPr>
              <a:t>σ</a:t>
            </a:r>
            <a:r>
              <a:rPr lang="en-US" sz="2200" b="0" i="0" u="none">
                <a:solidFill>
                  <a:srgbClr val="800000"/>
                </a:solidFill>
                <a:latin typeface="Arial"/>
                <a:ea typeface="Arial"/>
                <a:cs typeface="Arial"/>
                <a:sym typeface="Arial"/>
              </a:rPr>
              <a:t> </a:t>
            </a:r>
            <a:r>
              <a:rPr lang="en-US" sz="2200" b="0" i="0" u="none" baseline="-25000">
                <a:solidFill>
                  <a:srgbClr val="800000"/>
                </a:solidFill>
                <a:latin typeface="Arial"/>
                <a:ea typeface="Arial"/>
                <a:cs typeface="Arial"/>
                <a:sym typeface="Arial"/>
              </a:rPr>
              <a:t>DNUMBER&gt;5</a:t>
            </a:r>
            <a:r>
              <a:rPr lang="en-US" sz="2200" b="0" i="0" u="none">
                <a:solidFill>
                  <a:srgbClr val="800000"/>
                </a:solidFill>
                <a:latin typeface="Arial"/>
                <a:ea typeface="Arial"/>
                <a:cs typeface="Arial"/>
                <a:sym typeface="Arial"/>
              </a:rPr>
              <a:t>(DEPARTMENT)</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(OP3): </a:t>
            </a:r>
            <a:r>
              <a:rPr lang="en-US" sz="2200" b="0" i="0" u="none">
                <a:solidFill>
                  <a:srgbClr val="800000"/>
                </a:solidFill>
                <a:latin typeface="Noto Sans Symbols"/>
                <a:ea typeface="Noto Sans Symbols"/>
                <a:cs typeface="Noto Sans Symbols"/>
                <a:sym typeface="Noto Sans Symbols"/>
              </a:rPr>
              <a:t>σ</a:t>
            </a:r>
            <a:r>
              <a:rPr lang="en-US" sz="2200" b="0" i="0" u="none">
                <a:solidFill>
                  <a:srgbClr val="800000"/>
                </a:solidFill>
                <a:latin typeface="Arial"/>
                <a:ea typeface="Arial"/>
                <a:cs typeface="Arial"/>
                <a:sym typeface="Arial"/>
              </a:rPr>
              <a:t> </a:t>
            </a:r>
            <a:r>
              <a:rPr lang="en-US" sz="2200" b="0" i="0" u="none" baseline="-25000">
                <a:solidFill>
                  <a:srgbClr val="800000"/>
                </a:solidFill>
                <a:latin typeface="Arial"/>
                <a:ea typeface="Arial"/>
                <a:cs typeface="Arial"/>
                <a:sym typeface="Arial"/>
              </a:rPr>
              <a:t>DNO=5</a:t>
            </a:r>
            <a:r>
              <a:rPr lang="en-US" sz="2200" b="0" i="0" u="none">
                <a:solidFill>
                  <a:srgbClr val="800000"/>
                </a:solidFill>
                <a:latin typeface="Arial"/>
                <a:ea typeface="Arial"/>
                <a:cs typeface="Arial"/>
                <a:sym typeface="Arial"/>
              </a:rPr>
              <a:t>(EMPLOYEE)</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(OP4): </a:t>
            </a:r>
            <a:r>
              <a:rPr lang="en-US" sz="2200" b="0" i="0" u="none">
                <a:solidFill>
                  <a:srgbClr val="800000"/>
                </a:solidFill>
                <a:latin typeface="Noto Sans Symbols"/>
                <a:ea typeface="Noto Sans Symbols"/>
                <a:cs typeface="Noto Sans Symbols"/>
                <a:sym typeface="Noto Sans Symbols"/>
              </a:rPr>
              <a:t>σ</a:t>
            </a:r>
            <a:r>
              <a:rPr lang="en-US" sz="2200" b="0" i="0" u="none">
                <a:solidFill>
                  <a:srgbClr val="800000"/>
                </a:solidFill>
                <a:latin typeface="Arial"/>
                <a:ea typeface="Arial"/>
                <a:cs typeface="Arial"/>
                <a:sym typeface="Arial"/>
              </a:rPr>
              <a:t> </a:t>
            </a:r>
            <a:r>
              <a:rPr lang="en-US" sz="2200" b="0" i="0" u="none" baseline="-25000">
                <a:solidFill>
                  <a:srgbClr val="800000"/>
                </a:solidFill>
                <a:latin typeface="Arial"/>
                <a:ea typeface="Arial"/>
                <a:cs typeface="Arial"/>
                <a:sym typeface="Arial"/>
              </a:rPr>
              <a:t>DNO=5 AND SALARY&gt;30000 AND SEX=F</a:t>
            </a:r>
            <a:r>
              <a:rPr lang="en-US" sz="2200" b="0" i="0" u="none">
                <a:solidFill>
                  <a:srgbClr val="800000"/>
                </a:solidFill>
                <a:latin typeface="Arial"/>
                <a:ea typeface="Arial"/>
                <a:cs typeface="Arial"/>
                <a:sym typeface="Arial"/>
              </a:rPr>
              <a:t>(EMPLOYEE)</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(OP5): </a:t>
            </a:r>
            <a:r>
              <a:rPr lang="en-US" sz="2200" b="0" i="0" u="none">
                <a:solidFill>
                  <a:srgbClr val="800000"/>
                </a:solidFill>
                <a:latin typeface="Noto Sans Symbols"/>
                <a:ea typeface="Noto Sans Symbols"/>
                <a:cs typeface="Noto Sans Symbols"/>
                <a:sym typeface="Noto Sans Symbols"/>
              </a:rPr>
              <a:t>σ</a:t>
            </a:r>
            <a:r>
              <a:rPr lang="en-US" sz="2200" b="0" i="0" u="none">
                <a:solidFill>
                  <a:srgbClr val="800000"/>
                </a:solidFill>
                <a:latin typeface="Arial"/>
                <a:ea typeface="Arial"/>
                <a:cs typeface="Arial"/>
                <a:sym typeface="Arial"/>
              </a:rPr>
              <a:t> </a:t>
            </a:r>
            <a:r>
              <a:rPr lang="en-US" sz="2200" b="0" i="0" u="none" baseline="-25000">
                <a:solidFill>
                  <a:srgbClr val="800000"/>
                </a:solidFill>
                <a:latin typeface="Arial"/>
                <a:ea typeface="Arial"/>
                <a:cs typeface="Arial"/>
                <a:sym typeface="Arial"/>
              </a:rPr>
              <a:t>ESSN=123456789 AND PNO=10</a:t>
            </a:r>
            <a:r>
              <a:rPr lang="en-US" sz="2200" b="0" i="0" u="none">
                <a:solidFill>
                  <a:srgbClr val="800000"/>
                </a:solidFill>
                <a:latin typeface="Arial"/>
                <a:ea typeface="Arial"/>
                <a:cs typeface="Arial"/>
                <a:sym typeface="Arial"/>
              </a:rPr>
              <a:t>(WORKS_ON)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33</a:t>
            </a:fld>
            <a:endParaRPr/>
          </a:p>
        </p:txBody>
      </p:sp>
      <p:sp>
        <p:nvSpPr>
          <p:cNvPr id="246" name="Google Shape;246;p3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SELECT and JOIN Operations (2)</a:t>
            </a:r>
            <a:endParaRPr/>
          </a:p>
        </p:txBody>
      </p:sp>
      <p:sp>
        <p:nvSpPr>
          <p:cNvPr id="247" name="Google Shape;247;p34"/>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dirty="0">
                <a:solidFill>
                  <a:schemeClr val="dk2"/>
                </a:solidFill>
                <a:highlight>
                  <a:srgbClr val="FFFF00"/>
                </a:highlight>
                <a:latin typeface="Arial"/>
                <a:ea typeface="Arial"/>
                <a:cs typeface="Arial"/>
                <a:sym typeface="Arial"/>
              </a:rPr>
              <a:t>Implementing the SELECT Operation (contd.):</a:t>
            </a:r>
            <a:endParaRPr dirty="0">
              <a:highlight>
                <a:srgbClr val="FFFF00"/>
              </a:highlight>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dirty="0">
                <a:solidFill>
                  <a:schemeClr val="dk2"/>
                </a:solidFill>
                <a:highlight>
                  <a:srgbClr val="FFFF00"/>
                </a:highlight>
                <a:latin typeface="Arial"/>
                <a:ea typeface="Arial"/>
                <a:cs typeface="Arial"/>
                <a:sym typeface="Arial"/>
              </a:rPr>
              <a:t>Search Methods for Simple Selection:</a:t>
            </a:r>
            <a:endParaRPr dirty="0">
              <a:highlight>
                <a:srgbClr val="FFFF00"/>
              </a:highlight>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highlight>
                  <a:srgbClr val="FFFF00"/>
                </a:highlight>
                <a:latin typeface="Arial"/>
                <a:ea typeface="Arial"/>
                <a:cs typeface="Arial"/>
                <a:sym typeface="Arial"/>
              </a:rPr>
              <a:t>S1 </a:t>
            </a:r>
            <a:r>
              <a:rPr lang="en-US" sz="2200" b="1" i="0" u="none" dirty="0">
                <a:solidFill>
                  <a:srgbClr val="800000"/>
                </a:solidFill>
                <a:highlight>
                  <a:srgbClr val="FFFF00"/>
                </a:highlight>
                <a:latin typeface="Arial"/>
                <a:ea typeface="Arial"/>
                <a:cs typeface="Arial"/>
                <a:sym typeface="Arial"/>
              </a:rPr>
              <a:t>Linear search</a:t>
            </a:r>
            <a:r>
              <a:rPr lang="en-US" sz="2200" b="0" i="0" u="none" dirty="0">
                <a:solidFill>
                  <a:srgbClr val="800000"/>
                </a:solidFill>
                <a:highlight>
                  <a:srgbClr val="FFFF00"/>
                </a:highlight>
                <a:latin typeface="Arial"/>
                <a:ea typeface="Arial"/>
                <a:cs typeface="Arial"/>
                <a:sym typeface="Arial"/>
              </a:rPr>
              <a:t> (brute force):</a:t>
            </a:r>
            <a:endParaRPr dirty="0">
              <a:highlight>
                <a:srgbClr val="FFFF00"/>
              </a:highlight>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dirty="0">
                <a:solidFill>
                  <a:schemeClr val="dk2"/>
                </a:solidFill>
                <a:highlight>
                  <a:srgbClr val="FFFF00"/>
                </a:highlight>
                <a:latin typeface="Arial"/>
                <a:ea typeface="Arial"/>
                <a:cs typeface="Arial"/>
                <a:sym typeface="Arial"/>
              </a:rPr>
              <a:t>Retrieve every record in the file, and test whether its attribute values satisfy the selection condition.</a:t>
            </a:r>
            <a:endParaRPr dirty="0">
              <a:highlight>
                <a:srgbClr val="FFFF00"/>
              </a:highlight>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highlight>
                  <a:srgbClr val="FFFF00"/>
                </a:highlight>
                <a:latin typeface="Arial"/>
                <a:ea typeface="Arial"/>
                <a:cs typeface="Arial"/>
                <a:sym typeface="Arial"/>
              </a:rPr>
              <a:t>S2 </a:t>
            </a:r>
            <a:r>
              <a:rPr lang="en-US" sz="2200" b="1" i="0" u="none" dirty="0">
                <a:solidFill>
                  <a:srgbClr val="800000"/>
                </a:solidFill>
                <a:highlight>
                  <a:srgbClr val="FFFF00"/>
                </a:highlight>
                <a:latin typeface="Arial"/>
                <a:ea typeface="Arial"/>
                <a:cs typeface="Arial"/>
                <a:sym typeface="Arial"/>
              </a:rPr>
              <a:t>Binary search</a:t>
            </a:r>
            <a:r>
              <a:rPr lang="en-US" sz="2200" b="0" i="0" u="none" dirty="0">
                <a:solidFill>
                  <a:srgbClr val="800000"/>
                </a:solidFill>
                <a:highlight>
                  <a:srgbClr val="FFFF00"/>
                </a:highlight>
                <a:latin typeface="Arial"/>
                <a:ea typeface="Arial"/>
                <a:cs typeface="Arial"/>
                <a:sym typeface="Arial"/>
              </a:rPr>
              <a:t>:</a:t>
            </a:r>
            <a:endParaRPr dirty="0">
              <a:highlight>
                <a:srgbClr val="FFFF00"/>
              </a:highlight>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dirty="0">
                <a:solidFill>
                  <a:schemeClr val="dk2"/>
                </a:solidFill>
                <a:highlight>
                  <a:srgbClr val="FFFF00"/>
                </a:highlight>
                <a:latin typeface="Arial"/>
                <a:ea typeface="Arial"/>
                <a:cs typeface="Arial"/>
                <a:sym typeface="Arial"/>
              </a:rPr>
              <a:t>If the selection condition involves an equality comparison on a key attribute on which the file is ordered, binary search (which is more efficient than linear search) can be used. (See OP1).</a:t>
            </a:r>
            <a:endParaRPr dirty="0">
              <a:highlight>
                <a:srgbClr val="FFFF00"/>
              </a:highlight>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highlight>
                  <a:srgbClr val="FFFF00"/>
                </a:highlight>
                <a:latin typeface="Arial"/>
                <a:ea typeface="Arial"/>
                <a:cs typeface="Arial"/>
                <a:sym typeface="Arial"/>
              </a:rPr>
              <a:t>S3 </a:t>
            </a:r>
            <a:r>
              <a:rPr lang="en-US" sz="2200" b="1" i="0" u="none" dirty="0">
                <a:solidFill>
                  <a:srgbClr val="800000"/>
                </a:solidFill>
                <a:highlight>
                  <a:srgbClr val="FFFF00"/>
                </a:highlight>
                <a:latin typeface="Arial"/>
                <a:ea typeface="Arial"/>
                <a:cs typeface="Arial"/>
                <a:sym typeface="Arial"/>
              </a:rPr>
              <a:t>Using a primary index or hash key to retrieve a single record</a:t>
            </a:r>
            <a:r>
              <a:rPr lang="en-US" sz="2200" b="0" i="0" u="none" dirty="0">
                <a:solidFill>
                  <a:srgbClr val="800000"/>
                </a:solidFill>
                <a:highlight>
                  <a:srgbClr val="FFFF00"/>
                </a:highlight>
                <a:latin typeface="Arial"/>
                <a:ea typeface="Arial"/>
                <a:cs typeface="Arial"/>
                <a:sym typeface="Arial"/>
              </a:rPr>
              <a:t>:</a:t>
            </a:r>
            <a:endParaRPr dirty="0">
              <a:highlight>
                <a:srgbClr val="FFFF00"/>
              </a:highlight>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dirty="0">
                <a:solidFill>
                  <a:schemeClr val="dk2"/>
                </a:solidFill>
                <a:highlight>
                  <a:srgbClr val="FFFF00"/>
                </a:highlight>
                <a:latin typeface="Arial"/>
                <a:ea typeface="Arial"/>
                <a:cs typeface="Arial"/>
                <a:sym typeface="Arial"/>
              </a:rPr>
              <a:t>If the selection condition involves an equality comparison on a key attribute with a primary index (or a hash key), use the primary index (or the hash key) to retrieve the record. </a:t>
            </a:r>
            <a:endParaRPr dirty="0">
              <a:highlight>
                <a:srgbClr val="FFFF00"/>
              </a:high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34</a:t>
            </a:fld>
            <a:endParaRPr/>
          </a:p>
        </p:txBody>
      </p:sp>
      <p:sp>
        <p:nvSpPr>
          <p:cNvPr id="254" name="Google Shape;254;p3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SELECT and JOIN Operations (3)</a:t>
            </a:r>
            <a:endParaRPr/>
          </a:p>
        </p:txBody>
      </p:sp>
      <p:sp>
        <p:nvSpPr>
          <p:cNvPr id="255" name="Google Shape;255;p35"/>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200"/>
              <a:buFont typeface="Noto Sans Symbols"/>
              <a:buChar char="■"/>
            </a:pPr>
            <a:r>
              <a:rPr lang="en-US" sz="2000" b="0" i="0" u="none" dirty="0">
                <a:solidFill>
                  <a:schemeClr val="dk2"/>
                </a:solidFill>
                <a:highlight>
                  <a:srgbClr val="FFFF00"/>
                </a:highlight>
                <a:latin typeface="Arial"/>
                <a:ea typeface="Arial"/>
                <a:cs typeface="Arial"/>
                <a:sym typeface="Arial"/>
              </a:rPr>
              <a:t>Implementing the SELECT Operation (contd.):</a:t>
            </a:r>
            <a:endParaRPr dirty="0">
              <a:highlight>
                <a:srgbClr val="FFFF00"/>
              </a:highlight>
            </a:endParaRPr>
          </a:p>
          <a:p>
            <a:pPr marL="342900" lvl="0" indent="-342900" algn="l" rtl="0">
              <a:lnSpc>
                <a:spcPct val="80000"/>
              </a:lnSpc>
              <a:spcBef>
                <a:spcPts val="400"/>
              </a:spcBef>
              <a:spcAft>
                <a:spcPts val="0"/>
              </a:spcAft>
              <a:buClr>
                <a:srgbClr val="990033"/>
              </a:buClr>
              <a:buSzPts val="1200"/>
              <a:buFont typeface="Noto Sans Symbols"/>
              <a:buChar char="■"/>
            </a:pPr>
            <a:r>
              <a:rPr lang="en-US" sz="2000" b="0" i="0" u="none" dirty="0">
                <a:solidFill>
                  <a:schemeClr val="dk2"/>
                </a:solidFill>
                <a:highlight>
                  <a:srgbClr val="FFFF00"/>
                </a:highlight>
                <a:latin typeface="Arial"/>
                <a:ea typeface="Arial"/>
                <a:cs typeface="Arial"/>
                <a:sym typeface="Arial"/>
              </a:rPr>
              <a:t>Search Methods for Simple Selection:</a:t>
            </a:r>
            <a:endParaRPr dirty="0">
              <a:highlight>
                <a:srgbClr val="FFFF00"/>
              </a:highlight>
            </a:endParaRPr>
          </a:p>
          <a:p>
            <a:pPr marL="742950" lvl="1" indent="-285750" algn="l" rtl="0">
              <a:lnSpc>
                <a:spcPct val="80000"/>
              </a:lnSpc>
              <a:spcBef>
                <a:spcPts val="400"/>
              </a:spcBef>
              <a:spcAft>
                <a:spcPts val="0"/>
              </a:spcAft>
              <a:buClr>
                <a:schemeClr val="dk2"/>
              </a:buClr>
              <a:buSzPts val="1100"/>
              <a:buFont typeface="Noto Sans Symbols"/>
              <a:buChar char="■"/>
            </a:pPr>
            <a:r>
              <a:rPr lang="en-US" sz="2000" b="0" i="0" u="none" dirty="0">
                <a:solidFill>
                  <a:srgbClr val="800000"/>
                </a:solidFill>
                <a:highlight>
                  <a:srgbClr val="FFFF00"/>
                </a:highlight>
                <a:latin typeface="Arial"/>
                <a:ea typeface="Arial"/>
                <a:cs typeface="Arial"/>
                <a:sym typeface="Arial"/>
              </a:rPr>
              <a:t>S4 </a:t>
            </a:r>
            <a:r>
              <a:rPr lang="en-US" sz="2000" b="1" i="0" u="none" dirty="0">
                <a:solidFill>
                  <a:srgbClr val="800000"/>
                </a:solidFill>
                <a:highlight>
                  <a:srgbClr val="FFFF00"/>
                </a:highlight>
                <a:latin typeface="Arial"/>
                <a:ea typeface="Arial"/>
                <a:cs typeface="Arial"/>
                <a:sym typeface="Arial"/>
              </a:rPr>
              <a:t>Using a primary index to retrieve multiple records</a:t>
            </a:r>
            <a:r>
              <a:rPr lang="en-US" sz="2000" b="0" i="0" u="none" dirty="0">
                <a:solidFill>
                  <a:srgbClr val="800000"/>
                </a:solidFill>
                <a:highlight>
                  <a:srgbClr val="FFFF00"/>
                </a:highlight>
                <a:latin typeface="Arial"/>
                <a:ea typeface="Arial"/>
                <a:cs typeface="Arial"/>
                <a:sym typeface="Arial"/>
              </a:rPr>
              <a:t>:</a:t>
            </a:r>
            <a:endParaRPr dirty="0">
              <a:highlight>
                <a:srgbClr val="FFFF00"/>
              </a:highlight>
            </a:endParaRPr>
          </a:p>
          <a:p>
            <a:pPr marL="1143000" lvl="2" indent="-228600" algn="l" rtl="0">
              <a:lnSpc>
                <a:spcPct val="80000"/>
              </a:lnSpc>
              <a:spcBef>
                <a:spcPts val="360"/>
              </a:spcBef>
              <a:spcAft>
                <a:spcPts val="0"/>
              </a:spcAft>
              <a:buClr>
                <a:srgbClr val="990033"/>
              </a:buClr>
              <a:buSzPts val="900"/>
              <a:buFont typeface="Noto Sans Symbols"/>
              <a:buChar char="■"/>
            </a:pPr>
            <a:r>
              <a:rPr lang="en-US" sz="1800" b="0" i="0" u="none" dirty="0">
                <a:solidFill>
                  <a:schemeClr val="dk2"/>
                </a:solidFill>
                <a:highlight>
                  <a:srgbClr val="FFFF00"/>
                </a:highlight>
                <a:latin typeface="Arial"/>
                <a:ea typeface="Arial"/>
                <a:cs typeface="Arial"/>
                <a:sym typeface="Arial"/>
              </a:rPr>
              <a:t>If the comparison condition is &gt;, ≥, &lt;, or ≤ on a key field with a primary index, use the index to find the record satisfying the corresponding equality condition, then retrieve all subsequent records in the (ordered) file. </a:t>
            </a:r>
            <a:endParaRPr dirty="0">
              <a:highlight>
                <a:srgbClr val="FFFF00"/>
              </a:highlight>
            </a:endParaRPr>
          </a:p>
          <a:p>
            <a:pPr marL="742950" lvl="1" indent="-285750" algn="l" rtl="0">
              <a:lnSpc>
                <a:spcPct val="80000"/>
              </a:lnSpc>
              <a:spcBef>
                <a:spcPts val="400"/>
              </a:spcBef>
              <a:spcAft>
                <a:spcPts val="0"/>
              </a:spcAft>
              <a:buClr>
                <a:schemeClr val="dk2"/>
              </a:buClr>
              <a:buSzPts val="1100"/>
              <a:buFont typeface="Noto Sans Symbols"/>
              <a:buChar char="■"/>
            </a:pPr>
            <a:r>
              <a:rPr lang="en-US" sz="2000" b="0" i="0" u="none" dirty="0">
                <a:solidFill>
                  <a:srgbClr val="800000"/>
                </a:solidFill>
                <a:highlight>
                  <a:srgbClr val="FFFF00"/>
                </a:highlight>
                <a:latin typeface="Arial"/>
                <a:ea typeface="Arial"/>
                <a:cs typeface="Arial"/>
                <a:sym typeface="Arial"/>
              </a:rPr>
              <a:t>S5 </a:t>
            </a:r>
            <a:r>
              <a:rPr lang="en-US" sz="2000" b="1" i="0" u="none" dirty="0">
                <a:solidFill>
                  <a:srgbClr val="800000"/>
                </a:solidFill>
                <a:highlight>
                  <a:srgbClr val="FFFF00"/>
                </a:highlight>
                <a:latin typeface="Arial"/>
                <a:ea typeface="Arial"/>
                <a:cs typeface="Arial"/>
                <a:sym typeface="Arial"/>
              </a:rPr>
              <a:t>Using a clustering index to retrieve multiple records</a:t>
            </a:r>
            <a:r>
              <a:rPr lang="en-US" sz="2000" b="0" i="0" u="none" dirty="0">
                <a:solidFill>
                  <a:srgbClr val="800000"/>
                </a:solidFill>
                <a:highlight>
                  <a:srgbClr val="FFFF00"/>
                </a:highlight>
                <a:latin typeface="Arial"/>
                <a:ea typeface="Arial"/>
                <a:cs typeface="Arial"/>
                <a:sym typeface="Arial"/>
              </a:rPr>
              <a:t>:</a:t>
            </a:r>
            <a:endParaRPr dirty="0">
              <a:highlight>
                <a:srgbClr val="FFFF00"/>
              </a:highlight>
            </a:endParaRPr>
          </a:p>
          <a:p>
            <a:pPr marL="1143000" lvl="2" indent="-228600" algn="l" rtl="0">
              <a:lnSpc>
                <a:spcPct val="80000"/>
              </a:lnSpc>
              <a:spcBef>
                <a:spcPts val="360"/>
              </a:spcBef>
              <a:spcAft>
                <a:spcPts val="0"/>
              </a:spcAft>
              <a:buClr>
                <a:srgbClr val="990033"/>
              </a:buClr>
              <a:buSzPts val="900"/>
              <a:buFont typeface="Noto Sans Symbols"/>
              <a:buChar char="■"/>
            </a:pPr>
            <a:r>
              <a:rPr lang="en-US" sz="1800" b="0" i="0" u="none" dirty="0">
                <a:solidFill>
                  <a:schemeClr val="dk2"/>
                </a:solidFill>
                <a:highlight>
                  <a:srgbClr val="FFFF00"/>
                </a:highlight>
                <a:latin typeface="Arial"/>
                <a:ea typeface="Arial"/>
                <a:cs typeface="Arial"/>
                <a:sym typeface="Arial"/>
              </a:rPr>
              <a:t>If the selection condition involves an equality comparison on a non-key attribute with a clustering index, use the clustering index to retrieve all the records satisfying the selection condition.</a:t>
            </a:r>
            <a:endParaRPr dirty="0">
              <a:highlight>
                <a:srgbClr val="FFFF00"/>
              </a:highlight>
            </a:endParaRPr>
          </a:p>
          <a:p>
            <a:pPr marL="742950" lvl="1" indent="-285750" algn="l" rtl="0">
              <a:lnSpc>
                <a:spcPct val="80000"/>
              </a:lnSpc>
              <a:spcBef>
                <a:spcPts val="400"/>
              </a:spcBef>
              <a:spcAft>
                <a:spcPts val="0"/>
              </a:spcAft>
              <a:buClr>
                <a:schemeClr val="dk2"/>
              </a:buClr>
              <a:buSzPts val="1100"/>
              <a:buFont typeface="Noto Sans Symbols"/>
              <a:buChar char="■"/>
            </a:pPr>
            <a:r>
              <a:rPr lang="en-US" sz="2000" b="0" i="0" u="none" dirty="0">
                <a:solidFill>
                  <a:srgbClr val="800000"/>
                </a:solidFill>
                <a:highlight>
                  <a:srgbClr val="FFFF00"/>
                </a:highlight>
                <a:latin typeface="Arial"/>
                <a:ea typeface="Arial"/>
                <a:cs typeface="Arial"/>
                <a:sym typeface="Arial"/>
              </a:rPr>
              <a:t>S6 </a:t>
            </a:r>
            <a:r>
              <a:rPr lang="en-US" sz="2000" b="1" i="0" u="none" dirty="0">
                <a:solidFill>
                  <a:srgbClr val="800000"/>
                </a:solidFill>
                <a:highlight>
                  <a:srgbClr val="FFFF00"/>
                </a:highlight>
                <a:latin typeface="Arial"/>
                <a:ea typeface="Arial"/>
                <a:cs typeface="Arial"/>
                <a:sym typeface="Arial"/>
              </a:rPr>
              <a:t>Using a secondary (B+-tree) index</a:t>
            </a:r>
            <a:r>
              <a:rPr lang="en-US" sz="2000" b="0" i="0" u="none" dirty="0">
                <a:solidFill>
                  <a:srgbClr val="800000"/>
                </a:solidFill>
                <a:highlight>
                  <a:srgbClr val="FFFF00"/>
                </a:highlight>
                <a:latin typeface="Arial"/>
                <a:ea typeface="Arial"/>
                <a:cs typeface="Arial"/>
                <a:sym typeface="Arial"/>
              </a:rPr>
              <a:t>:</a:t>
            </a:r>
            <a:endParaRPr dirty="0">
              <a:highlight>
                <a:srgbClr val="FFFF00"/>
              </a:highlight>
            </a:endParaRPr>
          </a:p>
          <a:p>
            <a:pPr marL="1143000" lvl="2" indent="-228600" algn="l" rtl="0">
              <a:lnSpc>
                <a:spcPct val="80000"/>
              </a:lnSpc>
              <a:spcBef>
                <a:spcPts val="360"/>
              </a:spcBef>
              <a:spcAft>
                <a:spcPts val="0"/>
              </a:spcAft>
              <a:buClr>
                <a:srgbClr val="990033"/>
              </a:buClr>
              <a:buSzPts val="900"/>
              <a:buFont typeface="Noto Sans Symbols"/>
              <a:buChar char="■"/>
            </a:pPr>
            <a:r>
              <a:rPr lang="en-US" sz="1800" b="0" i="0" u="none" dirty="0">
                <a:solidFill>
                  <a:schemeClr val="dk2"/>
                </a:solidFill>
                <a:highlight>
                  <a:srgbClr val="FFFF00"/>
                </a:highlight>
                <a:latin typeface="Arial"/>
                <a:ea typeface="Arial"/>
                <a:cs typeface="Arial"/>
                <a:sym typeface="Arial"/>
              </a:rPr>
              <a:t>On an equality comparison, this search method can be used to retrieve a single record if the indexing field has unique values (is a key) or to retrieve multiple records if the indexing field is not a key.</a:t>
            </a:r>
            <a:endParaRPr dirty="0">
              <a:highlight>
                <a:srgbClr val="FFFF00"/>
              </a:highlight>
            </a:endParaRPr>
          </a:p>
          <a:p>
            <a:pPr marL="1143000" lvl="2" indent="-228600" algn="l" rtl="0">
              <a:lnSpc>
                <a:spcPct val="80000"/>
              </a:lnSpc>
              <a:spcBef>
                <a:spcPts val="360"/>
              </a:spcBef>
              <a:spcAft>
                <a:spcPts val="0"/>
              </a:spcAft>
              <a:buClr>
                <a:srgbClr val="990033"/>
              </a:buClr>
              <a:buSzPts val="900"/>
              <a:buFont typeface="Noto Sans Symbols"/>
              <a:buChar char="■"/>
            </a:pPr>
            <a:r>
              <a:rPr lang="en-US" sz="1800" b="0" i="0" u="none" dirty="0">
                <a:solidFill>
                  <a:schemeClr val="dk2"/>
                </a:solidFill>
                <a:highlight>
                  <a:srgbClr val="FFFF00"/>
                </a:highlight>
                <a:latin typeface="Arial"/>
                <a:ea typeface="Arial"/>
                <a:cs typeface="Arial"/>
                <a:sym typeface="Arial"/>
              </a:rPr>
              <a:t>In addition, it can be used to retrieve records on conditions involving &gt;,&gt;=, &lt;, or &lt;=. (FOR RANGE QUERIES) </a:t>
            </a:r>
            <a:endParaRPr dirty="0">
              <a:highlight>
                <a:srgbClr val="FFFF00"/>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35</a:t>
            </a:fld>
            <a:endParaRPr/>
          </a:p>
        </p:txBody>
      </p:sp>
      <p:sp>
        <p:nvSpPr>
          <p:cNvPr id="262" name="Google Shape;262;p3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SELECT and JOIN Operations (4)</a:t>
            </a:r>
            <a:endParaRPr/>
          </a:p>
        </p:txBody>
      </p:sp>
      <p:sp>
        <p:nvSpPr>
          <p:cNvPr id="263" name="Google Shape;263;p36"/>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440"/>
              <a:buFont typeface="Noto Sans Symbols"/>
              <a:buChar char="■"/>
            </a:pPr>
            <a:r>
              <a:rPr lang="en-US" sz="2400" b="0" i="0" u="none" dirty="0">
                <a:solidFill>
                  <a:schemeClr val="dk2"/>
                </a:solidFill>
                <a:highlight>
                  <a:srgbClr val="FFFF00"/>
                </a:highlight>
                <a:latin typeface="Arial"/>
                <a:ea typeface="Arial"/>
                <a:cs typeface="Arial"/>
                <a:sym typeface="Arial"/>
              </a:rPr>
              <a:t>Implementing the SELECT Operation (contd.):</a:t>
            </a:r>
            <a:endParaRPr dirty="0">
              <a:highlight>
                <a:srgbClr val="FFFF00"/>
              </a:highlight>
            </a:endParaRPr>
          </a:p>
          <a:p>
            <a:pPr marL="342900" lvl="0" indent="-342900" algn="l" rtl="0">
              <a:lnSpc>
                <a:spcPct val="90000"/>
              </a:lnSpc>
              <a:spcBef>
                <a:spcPts val="480"/>
              </a:spcBef>
              <a:spcAft>
                <a:spcPts val="0"/>
              </a:spcAft>
              <a:buClr>
                <a:srgbClr val="990033"/>
              </a:buClr>
              <a:buSzPts val="1440"/>
              <a:buFont typeface="Noto Sans Symbols"/>
              <a:buChar char="■"/>
            </a:pPr>
            <a:r>
              <a:rPr lang="en-US" sz="2400" b="0" i="0" u="none" dirty="0">
                <a:solidFill>
                  <a:schemeClr val="dk2"/>
                </a:solidFill>
                <a:highlight>
                  <a:srgbClr val="FFFF00"/>
                </a:highlight>
                <a:latin typeface="Arial"/>
                <a:ea typeface="Arial"/>
                <a:cs typeface="Arial"/>
                <a:sym typeface="Arial"/>
              </a:rPr>
              <a:t>Search Methods for Simple Selection:</a:t>
            </a:r>
            <a:endParaRPr dirty="0">
              <a:highlight>
                <a:srgbClr val="FFFF00"/>
              </a:highlight>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highlight>
                  <a:srgbClr val="FFFF00"/>
                </a:highlight>
                <a:latin typeface="Arial"/>
                <a:ea typeface="Arial"/>
                <a:cs typeface="Arial"/>
                <a:sym typeface="Arial"/>
              </a:rPr>
              <a:t>S7 </a:t>
            </a:r>
            <a:r>
              <a:rPr lang="en-US" sz="2200" b="1" i="0" u="none" dirty="0">
                <a:solidFill>
                  <a:srgbClr val="800000"/>
                </a:solidFill>
                <a:highlight>
                  <a:srgbClr val="FFFF00"/>
                </a:highlight>
                <a:latin typeface="Arial"/>
                <a:ea typeface="Arial"/>
                <a:cs typeface="Arial"/>
                <a:sym typeface="Arial"/>
              </a:rPr>
              <a:t>Conjunctive selection</a:t>
            </a:r>
            <a:r>
              <a:rPr lang="en-US" sz="2200" b="0" i="0" u="none" dirty="0">
                <a:solidFill>
                  <a:srgbClr val="800000"/>
                </a:solidFill>
                <a:highlight>
                  <a:srgbClr val="FFFF00"/>
                </a:highlight>
                <a:latin typeface="Arial"/>
                <a:ea typeface="Arial"/>
                <a:cs typeface="Arial"/>
                <a:sym typeface="Arial"/>
              </a:rPr>
              <a:t>:</a:t>
            </a:r>
            <a:endParaRPr dirty="0">
              <a:highlight>
                <a:srgbClr val="FFFF00"/>
              </a:highlight>
            </a:endParaRPr>
          </a:p>
          <a:p>
            <a:pPr marL="1143000" lvl="2" indent="-228600" algn="l" rtl="0">
              <a:lnSpc>
                <a:spcPct val="90000"/>
              </a:lnSpc>
              <a:spcBef>
                <a:spcPts val="400"/>
              </a:spcBef>
              <a:spcAft>
                <a:spcPts val="0"/>
              </a:spcAft>
              <a:buClr>
                <a:srgbClr val="990033"/>
              </a:buClr>
              <a:buSzPts val="1000"/>
              <a:buFont typeface="Noto Sans Symbols"/>
              <a:buChar char="■"/>
            </a:pPr>
            <a:r>
              <a:rPr lang="en-US" sz="2000" b="0" i="0" u="none" dirty="0">
                <a:solidFill>
                  <a:schemeClr val="dk2"/>
                </a:solidFill>
                <a:highlight>
                  <a:srgbClr val="FFFF00"/>
                </a:highlight>
                <a:latin typeface="Arial"/>
                <a:ea typeface="Arial"/>
                <a:cs typeface="Arial"/>
                <a:sym typeface="Arial"/>
              </a:rPr>
              <a:t>If an attribute involved in any single simple condition in the conjunctive condition has an access path that permits the use of one of the methods S2 to S6, use that condition to retrieve the records and then check whether each retrieved record satisfies the remaining simple conditions in the conjunctive condition.</a:t>
            </a:r>
            <a:endParaRPr dirty="0">
              <a:highlight>
                <a:srgbClr val="FFFF00"/>
              </a:highlight>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dirty="0">
                <a:solidFill>
                  <a:srgbClr val="800000"/>
                </a:solidFill>
                <a:highlight>
                  <a:srgbClr val="FFFF00"/>
                </a:highlight>
                <a:latin typeface="Arial"/>
                <a:ea typeface="Arial"/>
                <a:cs typeface="Arial"/>
                <a:sym typeface="Arial"/>
              </a:rPr>
              <a:t>S8 </a:t>
            </a:r>
            <a:r>
              <a:rPr lang="en-US" sz="2200" b="1" i="0" u="none" dirty="0">
                <a:solidFill>
                  <a:srgbClr val="800000"/>
                </a:solidFill>
                <a:highlight>
                  <a:srgbClr val="FFFF00"/>
                </a:highlight>
                <a:latin typeface="Arial"/>
                <a:ea typeface="Arial"/>
                <a:cs typeface="Arial"/>
                <a:sym typeface="Arial"/>
              </a:rPr>
              <a:t>Conjunctive selection using a composite index</a:t>
            </a:r>
            <a:endParaRPr dirty="0">
              <a:highlight>
                <a:srgbClr val="FFFF00"/>
              </a:highlight>
            </a:endParaRPr>
          </a:p>
          <a:p>
            <a:pPr marL="1143000" lvl="2" indent="-228600" algn="l" rtl="0">
              <a:lnSpc>
                <a:spcPct val="90000"/>
              </a:lnSpc>
              <a:spcBef>
                <a:spcPts val="400"/>
              </a:spcBef>
              <a:spcAft>
                <a:spcPts val="0"/>
              </a:spcAft>
              <a:buClr>
                <a:srgbClr val="990033"/>
              </a:buClr>
              <a:buSzPts val="1000"/>
              <a:buFont typeface="Noto Sans Symbols"/>
              <a:buChar char="■"/>
            </a:pPr>
            <a:r>
              <a:rPr lang="en-US" sz="2000" b="0" i="0" u="none" dirty="0">
                <a:solidFill>
                  <a:schemeClr val="dk2"/>
                </a:solidFill>
                <a:highlight>
                  <a:srgbClr val="FFFF00"/>
                </a:highlight>
                <a:latin typeface="Arial"/>
                <a:ea typeface="Arial"/>
                <a:cs typeface="Arial"/>
                <a:sym typeface="Arial"/>
              </a:rPr>
              <a:t>If two or more attributes are involved in equality conditions in the conjunctive condition and a composite index (or hash structure) exists on the combined field, we can use the index directly.</a:t>
            </a:r>
            <a:endParaRPr dirty="0">
              <a:highlight>
                <a:srgbClr val="FFFF00"/>
              </a:high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7"/>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36</a:t>
            </a:fld>
            <a:endParaRPr/>
          </a:p>
        </p:txBody>
      </p:sp>
      <p:sp>
        <p:nvSpPr>
          <p:cNvPr id="270" name="Google Shape;270;p37"/>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SELECT and JOIN Operations (5)</a:t>
            </a:r>
            <a:endParaRPr/>
          </a:p>
        </p:txBody>
      </p:sp>
      <p:sp>
        <p:nvSpPr>
          <p:cNvPr id="271" name="Google Shape;271;p37"/>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dirty="0">
                <a:solidFill>
                  <a:schemeClr val="dk2"/>
                </a:solidFill>
                <a:highlight>
                  <a:srgbClr val="FFFF00"/>
                </a:highlight>
                <a:latin typeface="Arial"/>
                <a:ea typeface="Arial"/>
                <a:cs typeface="Arial"/>
                <a:sym typeface="Arial"/>
              </a:rPr>
              <a:t>Implementing the SELECT Operation (contd.):</a:t>
            </a:r>
            <a:endParaRPr dirty="0">
              <a:highlight>
                <a:srgbClr val="FFFF00"/>
              </a:highlight>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dirty="0">
                <a:solidFill>
                  <a:schemeClr val="dk2"/>
                </a:solidFill>
                <a:highlight>
                  <a:srgbClr val="FFFF00"/>
                </a:highlight>
                <a:latin typeface="Arial"/>
                <a:ea typeface="Arial"/>
                <a:cs typeface="Arial"/>
                <a:sym typeface="Arial"/>
              </a:rPr>
              <a:t>Search Methods for Complex Selection:</a:t>
            </a:r>
            <a:endParaRPr dirty="0">
              <a:highlight>
                <a:srgbClr val="FFFF00"/>
              </a:highlight>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dirty="0">
                <a:solidFill>
                  <a:srgbClr val="800000"/>
                </a:solidFill>
                <a:highlight>
                  <a:srgbClr val="FFFF00"/>
                </a:highlight>
                <a:latin typeface="Arial"/>
                <a:ea typeface="Arial"/>
                <a:cs typeface="Arial"/>
                <a:sym typeface="Arial"/>
              </a:rPr>
              <a:t>S9 </a:t>
            </a:r>
            <a:r>
              <a:rPr lang="en-US" sz="2200" b="1" i="0" u="none" dirty="0">
                <a:solidFill>
                  <a:srgbClr val="800000"/>
                </a:solidFill>
                <a:highlight>
                  <a:srgbClr val="FFFF00"/>
                </a:highlight>
                <a:latin typeface="Arial"/>
                <a:ea typeface="Arial"/>
                <a:cs typeface="Arial"/>
                <a:sym typeface="Arial"/>
              </a:rPr>
              <a:t>Conjunctive selection by intersection of record pointers</a:t>
            </a:r>
            <a:r>
              <a:rPr lang="en-US" sz="2200" b="0" i="0" u="none" dirty="0">
                <a:solidFill>
                  <a:srgbClr val="800000"/>
                </a:solidFill>
                <a:highlight>
                  <a:srgbClr val="FFFF00"/>
                </a:highlight>
                <a:latin typeface="Arial"/>
                <a:ea typeface="Arial"/>
                <a:cs typeface="Arial"/>
                <a:sym typeface="Arial"/>
              </a:rPr>
              <a:t>:</a:t>
            </a:r>
            <a:endParaRPr dirty="0">
              <a:highlight>
                <a:srgbClr val="FFFF00"/>
              </a:highlight>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dirty="0">
                <a:solidFill>
                  <a:schemeClr val="dk2"/>
                </a:solidFill>
                <a:highlight>
                  <a:srgbClr val="FFFF00"/>
                </a:highlight>
                <a:latin typeface="Arial"/>
                <a:ea typeface="Arial"/>
                <a:cs typeface="Arial"/>
                <a:sym typeface="Arial"/>
              </a:rPr>
              <a:t>This method is possible if secondary indexes are available on all (or some of) the fields involved in equality comparison conditions in the conjunctive condition and if the indexes include record pointers (rather than block pointers).</a:t>
            </a:r>
            <a:endParaRPr dirty="0">
              <a:highlight>
                <a:srgbClr val="FFFF00"/>
              </a:highlight>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dirty="0">
                <a:solidFill>
                  <a:schemeClr val="dk2"/>
                </a:solidFill>
                <a:highlight>
                  <a:srgbClr val="FFFF00"/>
                </a:highlight>
                <a:latin typeface="Arial"/>
                <a:ea typeface="Arial"/>
                <a:cs typeface="Arial"/>
                <a:sym typeface="Arial"/>
              </a:rPr>
              <a:t>Each index can be used to retrieve the record pointers that satisfy the individual condition.</a:t>
            </a:r>
            <a:endParaRPr dirty="0">
              <a:highlight>
                <a:srgbClr val="FFFF00"/>
              </a:highlight>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dirty="0">
                <a:solidFill>
                  <a:schemeClr val="dk2"/>
                </a:solidFill>
                <a:highlight>
                  <a:srgbClr val="FFFF00"/>
                </a:highlight>
                <a:latin typeface="Arial"/>
                <a:ea typeface="Arial"/>
                <a:cs typeface="Arial"/>
                <a:sym typeface="Arial"/>
              </a:rPr>
              <a:t>The intersection of these sets of record pointers gives the record pointers that satisfy the conjunctive condition, which are then used to retrieve those records directly.</a:t>
            </a:r>
            <a:endParaRPr dirty="0">
              <a:highlight>
                <a:srgbClr val="FFFF00"/>
              </a:highlight>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dirty="0">
                <a:solidFill>
                  <a:schemeClr val="dk2"/>
                </a:solidFill>
                <a:highlight>
                  <a:srgbClr val="FFFF00"/>
                </a:highlight>
                <a:latin typeface="Arial"/>
                <a:ea typeface="Arial"/>
                <a:cs typeface="Arial"/>
                <a:sym typeface="Arial"/>
              </a:rPr>
              <a:t>If only some of the conditions have secondary indexes, each retrieved record is further tested to determine whether it satisfies the remaining conditions.   </a:t>
            </a:r>
            <a:endParaRPr dirty="0">
              <a:highlight>
                <a:srgbClr val="FFFF00"/>
              </a:high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8"/>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37</a:t>
            </a:fld>
            <a:endParaRPr/>
          </a:p>
        </p:txBody>
      </p:sp>
      <p:sp>
        <p:nvSpPr>
          <p:cNvPr id="278" name="Google Shape;278;p38"/>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SELECT and JOIN Operations (7)</a:t>
            </a:r>
            <a:endParaRPr/>
          </a:p>
        </p:txBody>
      </p:sp>
      <p:sp>
        <p:nvSpPr>
          <p:cNvPr id="279" name="Google Shape;279;p38"/>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Implementing the SELECT Operation (contd.):</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Whenever a </a:t>
            </a:r>
            <a:r>
              <a:rPr lang="en-US" sz="2200" b="1" i="0" u="none">
                <a:solidFill>
                  <a:srgbClr val="800000"/>
                </a:solidFill>
                <a:latin typeface="Arial"/>
                <a:ea typeface="Arial"/>
                <a:cs typeface="Arial"/>
                <a:sym typeface="Arial"/>
              </a:rPr>
              <a:t>single condition</a:t>
            </a:r>
            <a:r>
              <a:rPr lang="en-US" sz="2200" b="0" i="0" u="none">
                <a:solidFill>
                  <a:srgbClr val="800000"/>
                </a:solidFill>
                <a:latin typeface="Arial"/>
                <a:ea typeface="Arial"/>
                <a:cs typeface="Arial"/>
                <a:sym typeface="Arial"/>
              </a:rPr>
              <a:t> specifies the selection, we can only check whether an access path exists on the attribute involved in that condition.</a:t>
            </a:r>
            <a:endParaRPr/>
          </a:p>
          <a:p>
            <a:pPr marL="1143000" lvl="2" indent="-228600" algn="l" rtl="0">
              <a:lnSpc>
                <a:spcPct val="9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If an access path exists, the method corresponding to that access path is used; otherwise, the “brute force” linear search approach of method S1 is used. (See OP1, OP2 and OP3)</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For </a:t>
            </a:r>
            <a:r>
              <a:rPr lang="en-US" sz="2200" b="1" i="0" u="none">
                <a:solidFill>
                  <a:srgbClr val="800000"/>
                </a:solidFill>
                <a:latin typeface="Arial"/>
                <a:ea typeface="Arial"/>
                <a:cs typeface="Arial"/>
                <a:sym typeface="Arial"/>
              </a:rPr>
              <a:t>conjunctive selection conditions</a:t>
            </a:r>
            <a:r>
              <a:rPr lang="en-US" sz="2200" b="0" i="0" u="none">
                <a:solidFill>
                  <a:srgbClr val="800000"/>
                </a:solidFill>
                <a:latin typeface="Arial"/>
                <a:ea typeface="Arial"/>
                <a:cs typeface="Arial"/>
                <a:sym typeface="Arial"/>
              </a:rPr>
              <a:t>, whenever </a:t>
            </a:r>
            <a:r>
              <a:rPr lang="en-US" sz="2200" b="0" i="1" u="none">
                <a:solidFill>
                  <a:srgbClr val="800000"/>
                </a:solidFill>
                <a:latin typeface="Arial"/>
                <a:ea typeface="Arial"/>
                <a:cs typeface="Arial"/>
                <a:sym typeface="Arial"/>
              </a:rPr>
              <a:t>more than one</a:t>
            </a:r>
            <a:r>
              <a:rPr lang="en-US" sz="2200" b="0" i="0" u="none">
                <a:solidFill>
                  <a:srgbClr val="800000"/>
                </a:solidFill>
                <a:latin typeface="Arial"/>
                <a:ea typeface="Arial"/>
                <a:cs typeface="Arial"/>
                <a:sym typeface="Arial"/>
              </a:rPr>
              <a:t> of the attributes involved in the conditions have an access path, query optimization should be done to choose the access path that </a:t>
            </a:r>
            <a:r>
              <a:rPr lang="en-US" sz="2200" b="0" i="1" u="none">
                <a:solidFill>
                  <a:srgbClr val="800000"/>
                </a:solidFill>
                <a:latin typeface="Arial"/>
                <a:ea typeface="Arial"/>
                <a:cs typeface="Arial"/>
                <a:sym typeface="Arial"/>
              </a:rPr>
              <a:t>retrieves the fewest records</a:t>
            </a:r>
            <a:r>
              <a:rPr lang="en-US" sz="2200" b="0" i="0" u="none">
                <a:solidFill>
                  <a:srgbClr val="800000"/>
                </a:solidFill>
                <a:latin typeface="Arial"/>
                <a:ea typeface="Arial"/>
                <a:cs typeface="Arial"/>
                <a:sym typeface="Arial"/>
              </a:rPr>
              <a:t> in the most efficient way. </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1" i="0" u="none">
                <a:solidFill>
                  <a:srgbClr val="800000"/>
                </a:solidFill>
                <a:latin typeface="Arial"/>
                <a:ea typeface="Arial"/>
                <a:cs typeface="Arial"/>
                <a:sym typeface="Arial"/>
              </a:rPr>
              <a:t>Disjunctive selection conditions</a:t>
            </a:r>
            <a:r>
              <a:rPr lang="en-US" sz="2200" b="0" i="0" u="none">
                <a:solidFill>
                  <a:srgbClr val="800000"/>
                </a:solidFill>
                <a:latin typeface="Arial"/>
                <a:ea typeface="Arial"/>
                <a:cs typeface="Arial"/>
                <a:sym typeface="Arial"/>
              </a:rPr>
              <a:t>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38</a:t>
            </a:fld>
            <a:endParaRPr/>
          </a:p>
        </p:txBody>
      </p:sp>
      <p:sp>
        <p:nvSpPr>
          <p:cNvPr id="286" name="Google Shape;286;p3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SELECT and JOIN Operations (8)</a:t>
            </a:r>
            <a:endParaRPr/>
          </a:p>
        </p:txBody>
      </p:sp>
      <p:sp>
        <p:nvSpPr>
          <p:cNvPr id="287" name="Google Shape;287;p3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Implementing the JOIN Operation:</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Join (EQUIJOIN, NATURAL JOIN)</a:t>
            </a:r>
            <a:endParaRPr/>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a:solidFill>
                  <a:schemeClr val="dk2"/>
                </a:solidFill>
                <a:latin typeface="Arial"/>
                <a:ea typeface="Arial"/>
                <a:cs typeface="Arial"/>
                <a:sym typeface="Arial"/>
              </a:rPr>
              <a:t>two–way join: a join on two files</a:t>
            </a:r>
            <a:endParaRPr/>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a:solidFill>
                  <a:schemeClr val="dk2"/>
                </a:solidFill>
                <a:latin typeface="Arial"/>
                <a:ea typeface="Arial"/>
                <a:cs typeface="Arial"/>
                <a:sym typeface="Arial"/>
              </a:rPr>
              <a:t>e.g.	 R    </a:t>
            </a:r>
            <a:r>
              <a:rPr lang="en-US" sz="2400" b="0" i="0" u="none" baseline="-25000">
                <a:solidFill>
                  <a:schemeClr val="dk2"/>
                </a:solidFill>
                <a:latin typeface="Arial"/>
                <a:ea typeface="Arial"/>
                <a:cs typeface="Arial"/>
                <a:sym typeface="Arial"/>
              </a:rPr>
              <a:t>A=B</a:t>
            </a:r>
            <a:r>
              <a:rPr lang="en-US" sz="2400" b="0" i="0" u="none">
                <a:solidFill>
                  <a:schemeClr val="dk2"/>
                </a:solidFill>
                <a:latin typeface="Arial"/>
                <a:ea typeface="Arial"/>
                <a:cs typeface="Arial"/>
                <a:sym typeface="Arial"/>
              </a:rPr>
              <a:t> S </a:t>
            </a:r>
            <a:endParaRPr/>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a:solidFill>
                  <a:schemeClr val="dk2"/>
                </a:solidFill>
                <a:latin typeface="Arial"/>
                <a:ea typeface="Arial"/>
                <a:cs typeface="Arial"/>
                <a:sym typeface="Arial"/>
              </a:rPr>
              <a:t>multi-way joins: joins involving more than two files. </a:t>
            </a:r>
            <a:endParaRPr/>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a:solidFill>
                  <a:schemeClr val="dk2"/>
                </a:solidFill>
                <a:latin typeface="Arial"/>
                <a:ea typeface="Arial"/>
                <a:cs typeface="Arial"/>
                <a:sym typeface="Arial"/>
              </a:rPr>
              <a:t>e.g. R    </a:t>
            </a:r>
            <a:r>
              <a:rPr lang="en-US" sz="2400" b="0" i="0" u="none" baseline="-25000">
                <a:solidFill>
                  <a:schemeClr val="dk2"/>
                </a:solidFill>
                <a:latin typeface="Arial"/>
                <a:ea typeface="Arial"/>
                <a:cs typeface="Arial"/>
                <a:sym typeface="Arial"/>
              </a:rPr>
              <a:t>A=B</a:t>
            </a:r>
            <a:r>
              <a:rPr lang="en-US" sz="2400" b="0" i="0" u="none">
                <a:solidFill>
                  <a:schemeClr val="dk2"/>
                </a:solidFill>
                <a:latin typeface="Arial"/>
                <a:ea typeface="Arial"/>
                <a:cs typeface="Arial"/>
                <a:sym typeface="Arial"/>
              </a:rPr>
              <a:t>   S    </a:t>
            </a:r>
            <a:r>
              <a:rPr lang="en-US" sz="2400" b="0" i="0" u="none" baseline="-25000">
                <a:solidFill>
                  <a:schemeClr val="dk2"/>
                </a:solidFill>
                <a:latin typeface="Arial"/>
                <a:ea typeface="Arial"/>
                <a:cs typeface="Arial"/>
                <a:sym typeface="Arial"/>
              </a:rPr>
              <a:t>C=D</a:t>
            </a:r>
            <a:r>
              <a:rPr lang="en-US" sz="2400" b="0" i="0" u="none">
                <a:solidFill>
                  <a:schemeClr val="dk2"/>
                </a:solidFill>
                <a:latin typeface="Arial"/>
                <a:ea typeface="Arial"/>
                <a:cs typeface="Arial"/>
                <a:sym typeface="Arial"/>
              </a:rPr>
              <a:t> T </a:t>
            </a:r>
            <a:endParaRPr/>
          </a:p>
          <a:p>
            <a:pPr marL="34290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Examples</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(OP6): EMPLOYEE     </a:t>
            </a:r>
            <a:r>
              <a:rPr lang="en-US" sz="2400" b="0" i="0" u="none" baseline="-25000">
                <a:solidFill>
                  <a:schemeClr val="dk2"/>
                </a:solidFill>
                <a:latin typeface="Arial"/>
                <a:ea typeface="Arial"/>
                <a:cs typeface="Arial"/>
                <a:sym typeface="Arial"/>
              </a:rPr>
              <a:t>DNO=DNUMBER</a:t>
            </a:r>
            <a:r>
              <a:rPr lang="en-US" sz="2600" b="0" i="0" u="none">
                <a:solidFill>
                  <a:srgbClr val="800000"/>
                </a:solidFill>
                <a:latin typeface="Arial"/>
                <a:ea typeface="Arial"/>
                <a:cs typeface="Arial"/>
                <a:sym typeface="Arial"/>
              </a:rPr>
              <a:t> DEPARTMENT</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(OP7): DEPARTMENT     </a:t>
            </a:r>
            <a:r>
              <a:rPr lang="en-US" sz="2000" b="0" i="0" u="none" baseline="-25000">
                <a:solidFill>
                  <a:schemeClr val="dk2"/>
                </a:solidFill>
                <a:latin typeface="Arial"/>
                <a:ea typeface="Arial"/>
                <a:cs typeface="Arial"/>
                <a:sym typeface="Arial"/>
              </a:rPr>
              <a:t>MGRSSN=SSN</a:t>
            </a:r>
            <a:r>
              <a:rPr lang="en-US" sz="2600" b="0" i="0" u="none">
                <a:solidFill>
                  <a:srgbClr val="800000"/>
                </a:solidFill>
                <a:latin typeface="Arial"/>
                <a:ea typeface="Arial"/>
                <a:cs typeface="Arial"/>
                <a:sym typeface="Arial"/>
              </a:rPr>
              <a:t> EMPLOYEE </a:t>
            </a:r>
            <a:endParaRPr/>
          </a:p>
        </p:txBody>
      </p:sp>
      <p:grpSp>
        <p:nvGrpSpPr>
          <p:cNvPr id="288" name="Google Shape;288;p39"/>
          <p:cNvGrpSpPr/>
          <p:nvPr/>
        </p:nvGrpSpPr>
        <p:grpSpPr>
          <a:xfrm>
            <a:off x="2514600" y="3178175"/>
            <a:ext cx="219075" cy="174625"/>
            <a:chOff x="377" y="2904"/>
            <a:chExt cx="154" cy="110"/>
          </a:xfrm>
        </p:grpSpPr>
        <p:cxnSp>
          <p:nvCxnSpPr>
            <p:cNvPr id="289" name="Google Shape;289;p39"/>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290" name="Google Shape;290;p39"/>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291" name="Google Shape;291;p39"/>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292" name="Google Shape;292;p39"/>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293" name="Google Shape;293;p39"/>
          <p:cNvGrpSpPr/>
          <p:nvPr/>
        </p:nvGrpSpPr>
        <p:grpSpPr>
          <a:xfrm>
            <a:off x="3505200" y="4038600"/>
            <a:ext cx="219075" cy="174625"/>
            <a:chOff x="377" y="2904"/>
            <a:chExt cx="154" cy="110"/>
          </a:xfrm>
        </p:grpSpPr>
        <p:cxnSp>
          <p:nvCxnSpPr>
            <p:cNvPr id="294" name="Google Shape;294;p39"/>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295" name="Google Shape;295;p39"/>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296" name="Google Shape;296;p39"/>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297" name="Google Shape;297;p39"/>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298" name="Google Shape;298;p39"/>
          <p:cNvGrpSpPr/>
          <p:nvPr/>
        </p:nvGrpSpPr>
        <p:grpSpPr>
          <a:xfrm>
            <a:off x="2362200" y="4060825"/>
            <a:ext cx="219075" cy="174625"/>
            <a:chOff x="377" y="2904"/>
            <a:chExt cx="154" cy="110"/>
          </a:xfrm>
        </p:grpSpPr>
        <p:cxnSp>
          <p:nvCxnSpPr>
            <p:cNvPr id="299" name="Google Shape;299;p39"/>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300" name="Google Shape;300;p39"/>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301" name="Google Shape;301;p39"/>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302" name="Google Shape;302;p39"/>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303" name="Google Shape;303;p39"/>
          <p:cNvGrpSpPr/>
          <p:nvPr/>
        </p:nvGrpSpPr>
        <p:grpSpPr>
          <a:xfrm>
            <a:off x="4572000" y="5387975"/>
            <a:ext cx="219075" cy="174625"/>
            <a:chOff x="377" y="2904"/>
            <a:chExt cx="154" cy="110"/>
          </a:xfrm>
        </p:grpSpPr>
        <p:cxnSp>
          <p:nvCxnSpPr>
            <p:cNvPr id="304" name="Google Shape;304;p39"/>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305" name="Google Shape;305;p39"/>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306" name="Google Shape;306;p39"/>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307" name="Google Shape;307;p39"/>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308" name="Google Shape;308;p39"/>
          <p:cNvGrpSpPr/>
          <p:nvPr/>
        </p:nvGrpSpPr>
        <p:grpSpPr>
          <a:xfrm>
            <a:off x="4191000" y="4984750"/>
            <a:ext cx="219075" cy="174625"/>
            <a:chOff x="377" y="2904"/>
            <a:chExt cx="154" cy="110"/>
          </a:xfrm>
        </p:grpSpPr>
        <p:cxnSp>
          <p:nvCxnSpPr>
            <p:cNvPr id="309" name="Google Shape;309;p39"/>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310" name="Google Shape;310;p39"/>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311" name="Google Shape;311;p39"/>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312" name="Google Shape;312;p39"/>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39</a:t>
            </a:fld>
            <a:endParaRPr/>
          </a:p>
        </p:txBody>
      </p:sp>
      <p:sp>
        <p:nvSpPr>
          <p:cNvPr id="319" name="Google Shape;319;p4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SELECT and JOIN Operations (9)</a:t>
            </a:r>
            <a:endParaRPr/>
          </a:p>
        </p:txBody>
      </p:sp>
      <p:sp>
        <p:nvSpPr>
          <p:cNvPr id="320" name="Google Shape;320;p40"/>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Implementing the JOIN Operation (contd.):</a:t>
            </a:r>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Methods for implementing joins:</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J1 </a:t>
            </a:r>
            <a:r>
              <a:rPr lang="en-US" sz="2200" b="1" i="0" u="none">
                <a:solidFill>
                  <a:srgbClr val="800000"/>
                </a:solidFill>
                <a:latin typeface="Arial"/>
                <a:ea typeface="Arial"/>
                <a:cs typeface="Arial"/>
                <a:sym typeface="Arial"/>
              </a:rPr>
              <a:t>Nested-loop join</a:t>
            </a:r>
            <a:r>
              <a:rPr lang="en-US" sz="2200" b="0" i="0" u="none">
                <a:solidFill>
                  <a:srgbClr val="800000"/>
                </a:solidFill>
                <a:latin typeface="Arial"/>
                <a:ea typeface="Arial"/>
                <a:cs typeface="Arial"/>
                <a:sym typeface="Arial"/>
              </a:rPr>
              <a:t> (brute force):</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For each record t in R (outer loop), retrieve every record s from S (inner loop) and test whether the two records satisfy the join condition t[A] = s[B].</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J2 </a:t>
            </a:r>
            <a:r>
              <a:rPr lang="en-US" sz="2200" b="1" i="0" u="none">
                <a:solidFill>
                  <a:srgbClr val="800000"/>
                </a:solidFill>
                <a:latin typeface="Arial"/>
                <a:ea typeface="Arial"/>
                <a:cs typeface="Arial"/>
                <a:sym typeface="Arial"/>
              </a:rPr>
              <a:t>Single-loop join</a:t>
            </a:r>
            <a:r>
              <a:rPr lang="en-US" sz="2200" b="0" i="0" u="none">
                <a:solidFill>
                  <a:srgbClr val="800000"/>
                </a:solidFill>
                <a:latin typeface="Arial"/>
                <a:ea typeface="Arial"/>
                <a:cs typeface="Arial"/>
                <a:sym typeface="Arial"/>
              </a:rPr>
              <a:t> (Using an access structure to retrieve the matching records):</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If an index (or hash key) exists for one of the two join attributes — say, B of S — retrieve each record t in R, one at a time, and then use the access structure to retrieve directly all matching records s from S that satisfy s[B] = t[A].</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40</a:t>
            </a:fld>
            <a:endParaRPr/>
          </a:p>
        </p:txBody>
      </p:sp>
      <p:sp>
        <p:nvSpPr>
          <p:cNvPr id="327" name="Google Shape;327;p4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SELECT and JOIN Operations (10)</a:t>
            </a:r>
            <a:endParaRPr/>
          </a:p>
        </p:txBody>
      </p:sp>
      <p:sp>
        <p:nvSpPr>
          <p:cNvPr id="328" name="Google Shape;328;p4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Implementing the JOIN Operation (contd.):</a:t>
            </a:r>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Methods for implementing joins:</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J3 </a:t>
            </a:r>
            <a:r>
              <a:rPr lang="en-US" sz="2200" b="1" i="0" u="none">
                <a:solidFill>
                  <a:srgbClr val="800000"/>
                </a:solidFill>
                <a:latin typeface="Arial"/>
                <a:ea typeface="Arial"/>
                <a:cs typeface="Arial"/>
                <a:sym typeface="Arial"/>
              </a:rPr>
              <a:t>Sort-merge join</a:t>
            </a:r>
            <a:r>
              <a:rPr lang="en-US" sz="2200" b="0" i="0" u="none">
                <a:solidFill>
                  <a:srgbClr val="800000"/>
                </a:solidFill>
                <a:latin typeface="Arial"/>
                <a:ea typeface="Arial"/>
                <a:cs typeface="Arial"/>
                <a:sym typeface="Arial"/>
              </a:rPr>
              <a:t>:</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If the records of R and S are </a:t>
            </a:r>
            <a:r>
              <a:rPr lang="en-US" sz="2000" b="0" i="1" u="none">
                <a:solidFill>
                  <a:schemeClr val="dk2"/>
                </a:solidFill>
                <a:latin typeface="Arial"/>
                <a:ea typeface="Arial"/>
                <a:cs typeface="Arial"/>
                <a:sym typeface="Arial"/>
              </a:rPr>
              <a:t>physically sorted</a:t>
            </a:r>
            <a:r>
              <a:rPr lang="en-US" sz="2000" b="0" i="0" u="none">
                <a:solidFill>
                  <a:schemeClr val="dk2"/>
                </a:solidFill>
                <a:latin typeface="Arial"/>
                <a:ea typeface="Arial"/>
                <a:cs typeface="Arial"/>
                <a:sym typeface="Arial"/>
              </a:rPr>
              <a:t> (</a:t>
            </a:r>
            <a:r>
              <a:rPr lang="en-US" sz="2000" b="0" i="1" u="none">
                <a:solidFill>
                  <a:schemeClr val="dk2"/>
                </a:solidFill>
                <a:latin typeface="Arial"/>
                <a:ea typeface="Arial"/>
                <a:cs typeface="Arial"/>
                <a:sym typeface="Arial"/>
              </a:rPr>
              <a:t>ordered</a:t>
            </a:r>
            <a:r>
              <a:rPr lang="en-US" sz="2000" b="0" i="0" u="none">
                <a:solidFill>
                  <a:schemeClr val="dk2"/>
                </a:solidFill>
                <a:latin typeface="Arial"/>
                <a:ea typeface="Arial"/>
                <a:cs typeface="Arial"/>
                <a:sym typeface="Arial"/>
              </a:rPr>
              <a:t>) by value of the join attributes A and B, respectively, we can implement the join in the most efficient way possible.</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Both files are scanned in order of the join attributes, matching the records that have the same values for A and B.</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In this method, the records of each file are scanned only once each for matching with the other file—unless both A and B are non-key attributes, in which case the method needs to be modified slightly.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41</a:t>
            </a:fld>
            <a:endParaRPr/>
          </a:p>
        </p:txBody>
      </p:sp>
      <p:sp>
        <p:nvSpPr>
          <p:cNvPr id="335" name="Google Shape;335;p4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SELECT and JOIN Operations (11)</a:t>
            </a:r>
            <a:endParaRPr/>
          </a:p>
        </p:txBody>
      </p:sp>
      <p:sp>
        <p:nvSpPr>
          <p:cNvPr id="336" name="Google Shape;336;p42"/>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Implementing the JOIN Operation (contd.):</a:t>
            </a:r>
            <a:endParaRPr/>
          </a:p>
          <a:p>
            <a:pPr marL="342900" lvl="0" indent="-342900" algn="l" rtl="0">
              <a:lnSpc>
                <a:spcPct val="9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Methods for implementing joins:</a:t>
            </a:r>
            <a:endParaRPr/>
          </a:p>
          <a:p>
            <a:pPr marL="742950" lvl="1" indent="-285750" algn="l" rtl="0">
              <a:lnSpc>
                <a:spcPct val="9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J4 </a:t>
            </a:r>
            <a:r>
              <a:rPr lang="en-US" sz="2600" b="1" i="0" u="none">
                <a:solidFill>
                  <a:srgbClr val="800000"/>
                </a:solidFill>
                <a:latin typeface="Arial"/>
                <a:ea typeface="Arial"/>
                <a:cs typeface="Arial"/>
                <a:sym typeface="Arial"/>
              </a:rPr>
              <a:t>Hash-join</a:t>
            </a:r>
            <a:r>
              <a:rPr lang="en-US" sz="2600" b="0" i="0" u="none">
                <a:solidFill>
                  <a:srgbClr val="800000"/>
                </a:solidFill>
                <a:latin typeface="Arial"/>
                <a:ea typeface="Arial"/>
                <a:cs typeface="Arial"/>
                <a:sym typeface="Arial"/>
              </a:rPr>
              <a:t>:</a:t>
            </a:r>
            <a:endParaRPr/>
          </a:p>
          <a:p>
            <a:pPr marL="1143000" lvl="2" indent="-228600" algn="l" rtl="0">
              <a:lnSpc>
                <a:spcPct val="90000"/>
              </a:lnSpc>
              <a:spcBef>
                <a:spcPts val="480"/>
              </a:spcBef>
              <a:spcAft>
                <a:spcPts val="0"/>
              </a:spcAft>
              <a:buClr>
                <a:srgbClr val="990033"/>
              </a:buClr>
              <a:buSzPts val="1200"/>
              <a:buFont typeface="Noto Sans Symbols"/>
              <a:buChar char="■"/>
            </a:pPr>
            <a:r>
              <a:rPr lang="en-US" sz="2400" b="0" i="0" u="none">
                <a:solidFill>
                  <a:schemeClr val="dk2"/>
                </a:solidFill>
                <a:latin typeface="Arial"/>
                <a:ea typeface="Arial"/>
                <a:cs typeface="Arial"/>
                <a:sym typeface="Arial"/>
              </a:rPr>
              <a:t>The records of files R and S are both hashed to the </a:t>
            </a:r>
            <a:r>
              <a:rPr lang="en-US" sz="2400" b="0" i="1" u="none">
                <a:solidFill>
                  <a:schemeClr val="dk2"/>
                </a:solidFill>
                <a:latin typeface="Arial"/>
                <a:ea typeface="Arial"/>
                <a:cs typeface="Arial"/>
                <a:sym typeface="Arial"/>
              </a:rPr>
              <a:t>same hash file</a:t>
            </a:r>
            <a:r>
              <a:rPr lang="en-US" sz="2400" b="0" i="0" u="none">
                <a:solidFill>
                  <a:schemeClr val="dk2"/>
                </a:solidFill>
                <a:latin typeface="Arial"/>
                <a:ea typeface="Arial"/>
                <a:cs typeface="Arial"/>
                <a:sym typeface="Arial"/>
              </a:rPr>
              <a:t>, using the </a:t>
            </a:r>
            <a:r>
              <a:rPr lang="en-US" sz="2400" b="0" i="1" u="none">
                <a:solidFill>
                  <a:schemeClr val="dk2"/>
                </a:solidFill>
                <a:latin typeface="Arial"/>
                <a:ea typeface="Arial"/>
                <a:cs typeface="Arial"/>
                <a:sym typeface="Arial"/>
              </a:rPr>
              <a:t>same hashing function</a:t>
            </a:r>
            <a:r>
              <a:rPr lang="en-US" sz="2400" b="0" i="0" u="none">
                <a:solidFill>
                  <a:schemeClr val="dk2"/>
                </a:solidFill>
                <a:latin typeface="Arial"/>
                <a:ea typeface="Arial"/>
                <a:cs typeface="Arial"/>
                <a:sym typeface="Arial"/>
              </a:rPr>
              <a:t> on the join attributes A of R and B of S as hash keys.</a:t>
            </a:r>
            <a:endParaRPr/>
          </a:p>
          <a:p>
            <a:pPr marL="1143000" lvl="2" indent="-228600" algn="l" rtl="0">
              <a:lnSpc>
                <a:spcPct val="90000"/>
              </a:lnSpc>
              <a:spcBef>
                <a:spcPts val="480"/>
              </a:spcBef>
              <a:spcAft>
                <a:spcPts val="0"/>
              </a:spcAft>
              <a:buClr>
                <a:srgbClr val="990033"/>
              </a:buClr>
              <a:buSzPts val="1200"/>
              <a:buFont typeface="Noto Sans Symbols"/>
              <a:buChar char="■"/>
            </a:pPr>
            <a:r>
              <a:rPr lang="en-US" sz="2400" b="0" i="0" u="none">
                <a:solidFill>
                  <a:schemeClr val="dk2"/>
                </a:solidFill>
                <a:latin typeface="Arial"/>
                <a:ea typeface="Arial"/>
                <a:cs typeface="Arial"/>
                <a:sym typeface="Arial"/>
              </a:rPr>
              <a:t>A single pass through the file with fewer records (say, R) hashes its records to the hash file buckets.</a:t>
            </a:r>
            <a:endParaRPr/>
          </a:p>
          <a:p>
            <a:pPr marL="1143000" lvl="2" indent="-228600" algn="l" rtl="0">
              <a:lnSpc>
                <a:spcPct val="90000"/>
              </a:lnSpc>
              <a:spcBef>
                <a:spcPts val="480"/>
              </a:spcBef>
              <a:spcAft>
                <a:spcPts val="0"/>
              </a:spcAft>
              <a:buClr>
                <a:srgbClr val="990033"/>
              </a:buClr>
              <a:buSzPts val="1200"/>
              <a:buFont typeface="Noto Sans Symbols"/>
              <a:buChar char="■"/>
            </a:pPr>
            <a:r>
              <a:rPr lang="en-US" sz="2400" b="0" i="0" u="none">
                <a:solidFill>
                  <a:schemeClr val="dk2"/>
                </a:solidFill>
                <a:latin typeface="Arial"/>
                <a:ea typeface="Arial"/>
                <a:cs typeface="Arial"/>
                <a:sym typeface="Arial"/>
              </a:rPr>
              <a:t>A single pass through the other file (S) then hashes each of its records to the appropriate bucket, where the record is combined with all matching records from 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3"/>
          <p:cNvSpPr txBox="1">
            <a:spLocks noGrp="1"/>
          </p:cNvSpPr>
          <p:nvPr>
            <p:ph type="title"/>
          </p:nvPr>
        </p:nvSpPr>
        <p:spPr>
          <a:xfrm>
            <a:off x="0" y="0"/>
            <a:ext cx="8382000" cy="14478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br>
              <a:rPr lang="en-US" sz="3600" b="0" i="0" u="none">
                <a:solidFill>
                  <a:srgbClr val="800000"/>
                </a:solidFill>
                <a:latin typeface="Arial"/>
                <a:ea typeface="Arial"/>
                <a:cs typeface="Arial"/>
                <a:sym typeface="Arial"/>
              </a:rPr>
            </a:br>
            <a:br>
              <a:rPr lang="en-US" sz="3600" b="0" i="0" u="none">
                <a:solidFill>
                  <a:srgbClr val="800000"/>
                </a:solidFill>
                <a:latin typeface="Arial"/>
                <a:ea typeface="Arial"/>
                <a:cs typeface="Arial"/>
                <a:sym typeface="Arial"/>
              </a:rPr>
            </a:br>
            <a:br>
              <a:rPr lang="en-US" sz="3600" b="0" i="0" u="none">
                <a:solidFill>
                  <a:srgbClr val="800000"/>
                </a:solidFill>
                <a:latin typeface="Arial"/>
                <a:ea typeface="Arial"/>
                <a:cs typeface="Arial"/>
                <a:sym typeface="Arial"/>
              </a:rPr>
            </a:br>
            <a:r>
              <a:rPr lang="en-US" sz="3600" b="0" i="0" u="none">
                <a:solidFill>
                  <a:srgbClr val="800000"/>
                </a:solidFill>
                <a:latin typeface="Arial"/>
                <a:ea typeface="Arial"/>
                <a:cs typeface="Arial"/>
                <a:sym typeface="Arial"/>
              </a:rPr>
              <a:t>Implementing Join operation-using sort merge</a:t>
            </a:r>
            <a:endParaRPr/>
          </a:p>
        </p:txBody>
      </p:sp>
      <p:sp>
        <p:nvSpPr>
          <p:cNvPr id="342" name="Google Shape;342;p4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42</a:t>
            </a:fld>
            <a:endParaRPr/>
          </a:p>
        </p:txBody>
      </p:sp>
      <p:pic>
        <p:nvPicPr>
          <p:cNvPr id="343" name="Google Shape;343;p43" descr="Pink tissue paper"/>
          <p:cNvPicPr preferRelativeResize="0"/>
          <p:nvPr/>
        </p:nvPicPr>
        <p:blipFill rotWithShape="1">
          <a:blip r:embed="rId3">
            <a:alphaModFix/>
          </a:blip>
          <a:srcRect/>
          <a:stretch/>
        </p:blipFill>
        <p:spPr>
          <a:xfrm>
            <a:off x="228600" y="1447800"/>
            <a:ext cx="8610600" cy="5105400"/>
          </a:xfrm>
          <a:prstGeom prst="rect">
            <a:avLst/>
          </a:prstGeom>
          <a:noFill/>
          <a:ln>
            <a:noFill/>
          </a:ln>
        </p:spPr>
      </p:pic>
      <p:pic>
        <p:nvPicPr>
          <p:cNvPr id="344" name="Google Shape;344;p43" descr="Pink tissue paper"/>
          <p:cNvPicPr preferRelativeResize="0"/>
          <p:nvPr/>
        </p:nvPicPr>
        <p:blipFill rotWithShape="1">
          <a:blip r:embed="rId4">
            <a:alphaModFix/>
          </a:blip>
          <a:srcRect/>
          <a:stretch/>
        </p:blipFill>
        <p:spPr>
          <a:xfrm>
            <a:off x="4191000" y="704850"/>
            <a:ext cx="2971800" cy="762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Implementing project  operation</a:t>
            </a:r>
            <a:endParaRPr/>
          </a:p>
        </p:txBody>
      </p:sp>
      <p:sp>
        <p:nvSpPr>
          <p:cNvPr id="350" name="Google Shape;350;p4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43</a:t>
            </a:fld>
            <a:endParaRPr/>
          </a:p>
        </p:txBody>
      </p:sp>
      <p:pic>
        <p:nvPicPr>
          <p:cNvPr id="351" name="Google Shape;351;p44" descr="Pink tissue paper"/>
          <p:cNvPicPr preferRelativeResize="0"/>
          <p:nvPr/>
        </p:nvPicPr>
        <p:blipFill rotWithShape="1">
          <a:blip r:embed="rId3">
            <a:alphaModFix/>
          </a:blip>
          <a:srcRect/>
          <a:stretch/>
        </p:blipFill>
        <p:spPr>
          <a:xfrm>
            <a:off x="762000" y="1447800"/>
            <a:ext cx="8229600" cy="3251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Implementing T&lt;-RUS</a:t>
            </a:r>
            <a:endParaRPr/>
          </a:p>
        </p:txBody>
      </p:sp>
      <p:sp>
        <p:nvSpPr>
          <p:cNvPr id="357" name="Google Shape;357;p4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44</a:t>
            </a:fld>
            <a:endParaRPr/>
          </a:p>
        </p:txBody>
      </p:sp>
      <p:pic>
        <p:nvPicPr>
          <p:cNvPr id="358" name="Google Shape;358;p45" descr="Pink tissue paper"/>
          <p:cNvPicPr preferRelativeResize="0"/>
          <p:nvPr/>
        </p:nvPicPr>
        <p:blipFill rotWithShape="1">
          <a:blip r:embed="rId3">
            <a:alphaModFix/>
          </a:blip>
          <a:srcRect/>
          <a:stretch/>
        </p:blipFill>
        <p:spPr>
          <a:xfrm>
            <a:off x="152400" y="1447800"/>
            <a:ext cx="8058150" cy="4267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T&lt;- R 		S</a:t>
            </a:r>
            <a:endParaRPr/>
          </a:p>
        </p:txBody>
      </p:sp>
      <p:sp>
        <p:nvSpPr>
          <p:cNvPr id="364" name="Google Shape;364;p4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45</a:t>
            </a:fld>
            <a:endParaRPr/>
          </a:p>
        </p:txBody>
      </p:sp>
      <p:pic>
        <p:nvPicPr>
          <p:cNvPr id="365" name="Google Shape;365;p46" descr="Pink tissue paper"/>
          <p:cNvPicPr preferRelativeResize="0"/>
          <p:nvPr/>
        </p:nvPicPr>
        <p:blipFill rotWithShape="1">
          <a:blip r:embed="rId3">
            <a:alphaModFix/>
          </a:blip>
          <a:srcRect/>
          <a:stretch/>
        </p:blipFill>
        <p:spPr>
          <a:xfrm>
            <a:off x="76200" y="1447800"/>
            <a:ext cx="8839200" cy="4953000"/>
          </a:xfrm>
          <a:prstGeom prst="rect">
            <a:avLst/>
          </a:prstGeom>
          <a:noFill/>
          <a:ln>
            <a:noFill/>
          </a:ln>
        </p:spPr>
      </p:pic>
      <p:pic>
        <p:nvPicPr>
          <p:cNvPr id="366" name="Google Shape;366;p46" descr="Pink tissue paper"/>
          <p:cNvPicPr preferRelativeResize="0"/>
          <p:nvPr/>
        </p:nvPicPr>
        <p:blipFill rotWithShape="1">
          <a:blip r:embed="rId4">
            <a:alphaModFix/>
          </a:blip>
          <a:srcRect/>
          <a:stretch/>
        </p:blipFill>
        <p:spPr>
          <a:xfrm>
            <a:off x="1828800" y="457200"/>
            <a:ext cx="885825" cy="9620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7"/>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T&lt;- R-S</a:t>
            </a:r>
            <a:endParaRPr/>
          </a:p>
        </p:txBody>
      </p:sp>
      <p:sp>
        <p:nvSpPr>
          <p:cNvPr id="372" name="Google Shape;372;p47"/>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46</a:t>
            </a:fld>
            <a:endParaRPr/>
          </a:p>
        </p:txBody>
      </p:sp>
      <p:pic>
        <p:nvPicPr>
          <p:cNvPr id="373" name="Google Shape;373;p47" descr="Pink tissue paper"/>
          <p:cNvPicPr preferRelativeResize="0"/>
          <p:nvPr/>
        </p:nvPicPr>
        <p:blipFill rotWithShape="1">
          <a:blip r:embed="rId3">
            <a:alphaModFix/>
          </a:blip>
          <a:srcRect/>
          <a:stretch/>
        </p:blipFill>
        <p:spPr>
          <a:xfrm>
            <a:off x="766762" y="1371600"/>
            <a:ext cx="7610475" cy="35052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8"/>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47</a:t>
            </a:fld>
            <a:endParaRPr/>
          </a:p>
        </p:txBody>
      </p:sp>
      <p:sp>
        <p:nvSpPr>
          <p:cNvPr id="380" name="Google Shape;380;p48"/>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SELECT and JOIN Operations (14)</a:t>
            </a:r>
            <a:endParaRPr/>
          </a:p>
        </p:txBody>
      </p:sp>
      <p:sp>
        <p:nvSpPr>
          <p:cNvPr id="381" name="Google Shape;381;p48"/>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Implementing the JOIN Operation (contd.):</a:t>
            </a:r>
            <a:endParaRPr/>
          </a:p>
          <a:p>
            <a:pPr marL="34290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Factors affecting JOIN performance</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Available buffer space</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Join selection factor</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Choice of inner VS outer relation</a:t>
            </a:r>
            <a:endParaRPr/>
          </a:p>
          <a:p>
            <a:pPr marL="342900" lvl="0" indent="-243840" algn="l" rtl="0">
              <a:spcBef>
                <a:spcPts val="520"/>
              </a:spcBef>
              <a:spcAft>
                <a:spcPts val="0"/>
              </a:spcAft>
              <a:buSzPts val="1560"/>
              <a:buNone/>
            </a:pPr>
            <a:endParaRPr sz="2600" b="0" i="0" u="none">
              <a:solidFill>
                <a:srgbClr val="8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48</a:t>
            </a:fld>
            <a:endParaRPr/>
          </a:p>
        </p:txBody>
      </p:sp>
      <p:sp>
        <p:nvSpPr>
          <p:cNvPr id="388" name="Google Shape;388;p4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SELECT and JOIN Operations (15)</a:t>
            </a:r>
            <a:endParaRPr/>
          </a:p>
        </p:txBody>
      </p:sp>
      <p:sp>
        <p:nvSpPr>
          <p:cNvPr id="389" name="Google Shape;389;p4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0" lvl="0" indent="0" algn="l" rtl="0">
              <a:lnSpc>
                <a:spcPct val="80000"/>
              </a:lnSpc>
              <a:spcBef>
                <a:spcPts val="0"/>
              </a:spcBef>
              <a:spcAft>
                <a:spcPts val="0"/>
              </a:spcAft>
              <a:buSzPts val="1440"/>
              <a:buNone/>
            </a:pPr>
            <a:r>
              <a:rPr lang="en-US" sz="2400" b="0" i="0" u="none">
                <a:solidFill>
                  <a:schemeClr val="dk2"/>
                </a:solidFill>
                <a:latin typeface="Arial"/>
                <a:ea typeface="Arial"/>
                <a:cs typeface="Arial"/>
                <a:sym typeface="Arial"/>
              </a:rPr>
              <a:t>Implementing the JOIN Operation (contd.):</a:t>
            </a:r>
            <a:endParaRPr/>
          </a:p>
          <a:p>
            <a:pPr marL="0" lvl="0" indent="-9144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Other types of JOIN algorithms</a:t>
            </a:r>
            <a:endParaRPr/>
          </a:p>
          <a:p>
            <a:pPr marL="0" lvl="0" indent="-9144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Partition hash join</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Partitioning phase:</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Each file (R and S) is first partitioned into M partitions using a partitioning hash function on the join attributes: </a:t>
            </a:r>
            <a:endParaRPr/>
          </a:p>
          <a:p>
            <a:pPr marL="1600200" lvl="3" indent="-228600" algn="l" rtl="0">
              <a:lnSpc>
                <a:spcPct val="80000"/>
              </a:lnSpc>
              <a:spcBef>
                <a:spcPts val="360"/>
              </a:spcBef>
              <a:spcAft>
                <a:spcPts val="0"/>
              </a:spcAft>
              <a:buClr>
                <a:schemeClr val="dk2"/>
              </a:buClr>
              <a:buSzPts val="990"/>
              <a:buFont typeface="Noto Sans Symbols"/>
              <a:buChar char="■"/>
            </a:pPr>
            <a:r>
              <a:rPr lang="en-US" sz="1800" b="0" i="0" u="none">
                <a:solidFill>
                  <a:srgbClr val="800000"/>
                </a:solidFill>
                <a:latin typeface="Arial"/>
                <a:ea typeface="Arial"/>
                <a:cs typeface="Arial"/>
                <a:sym typeface="Arial"/>
              </a:rPr>
              <a:t>R1 , R2 , R3 ,  ...... Rm  and S1 , S2 , S3 , ...... Sm</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Minimum number of in-memory buffers needed for the 	partitioning phase: M+1. </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A disk sub-file is created per partition to store the tuples 	for that partition.  </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Joining or probing phase:</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Involves M iterations, one per partitioned file.</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Iteration i involves joining  partitions Ri and Si.</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5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49</a:t>
            </a:fld>
            <a:endParaRPr/>
          </a:p>
        </p:txBody>
      </p:sp>
      <p:sp>
        <p:nvSpPr>
          <p:cNvPr id="396" name="Google Shape;396;p5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SELECT and JOIN Operations (16)</a:t>
            </a:r>
            <a:endParaRPr/>
          </a:p>
        </p:txBody>
      </p:sp>
      <p:sp>
        <p:nvSpPr>
          <p:cNvPr id="397" name="Google Shape;397;p50"/>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0" lvl="0" indent="0" algn="l" rtl="0">
              <a:lnSpc>
                <a:spcPct val="100000"/>
              </a:lnSpc>
              <a:spcBef>
                <a:spcPts val="0"/>
              </a:spcBef>
              <a:spcAft>
                <a:spcPts val="0"/>
              </a:spcAft>
              <a:buSzPts val="1680"/>
              <a:buNone/>
            </a:pPr>
            <a:r>
              <a:rPr lang="en-US" sz="2800" b="0" i="0" u="none">
                <a:solidFill>
                  <a:schemeClr val="dk2"/>
                </a:solidFill>
                <a:latin typeface="Arial"/>
                <a:ea typeface="Arial"/>
                <a:cs typeface="Arial"/>
                <a:sym typeface="Arial"/>
              </a:rPr>
              <a:t>Implementing the JOIN Operation (contd.):</a:t>
            </a:r>
            <a:endParaRPr/>
          </a:p>
          <a:p>
            <a:pPr marL="0" lvl="0" indent="0" algn="l" rtl="0">
              <a:lnSpc>
                <a:spcPct val="100000"/>
              </a:lnSpc>
              <a:spcBef>
                <a:spcPts val="560"/>
              </a:spcBef>
              <a:spcAft>
                <a:spcPts val="0"/>
              </a:spcAft>
              <a:buClr>
                <a:srgbClr val="990033"/>
              </a:buClr>
              <a:buSzPts val="1680"/>
              <a:buFont typeface="Noto Sans Symbols"/>
              <a:buNone/>
            </a:pPr>
            <a:endParaRPr sz="2800" b="0" i="0" u="none">
              <a:solidFill>
                <a:schemeClr val="dk2"/>
              </a:solidFill>
              <a:latin typeface="Arial"/>
              <a:ea typeface="Arial"/>
              <a:cs typeface="Arial"/>
              <a:sym typeface="Arial"/>
            </a:endParaRPr>
          </a:p>
          <a:p>
            <a:pPr marL="0" lvl="0" indent="-106679"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Partitioned Hash Join Procedure:</a:t>
            </a:r>
            <a:endParaRPr/>
          </a:p>
          <a:p>
            <a:pPr marL="952500" lvl="1" indent="-49530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Assume  Ri is smaller than Si.</a:t>
            </a:r>
            <a:endParaRPr/>
          </a:p>
          <a:p>
            <a:pPr marL="1371600" lvl="2" indent="-457200" algn="l" rtl="0">
              <a:lnSpc>
                <a:spcPct val="100000"/>
              </a:lnSpc>
              <a:spcBef>
                <a:spcPts val="480"/>
              </a:spcBef>
              <a:spcAft>
                <a:spcPts val="0"/>
              </a:spcAft>
              <a:buClr>
                <a:srgbClr val="990033"/>
              </a:buClr>
              <a:buSzPts val="1200"/>
              <a:buFont typeface="Noto Sans Symbols"/>
              <a:buAutoNum type="arabicPeriod"/>
            </a:pPr>
            <a:r>
              <a:rPr lang="en-US" sz="2400" b="0" i="0" u="none">
                <a:solidFill>
                  <a:schemeClr val="dk2"/>
                </a:solidFill>
                <a:latin typeface="Arial"/>
                <a:ea typeface="Arial"/>
                <a:cs typeface="Arial"/>
                <a:sym typeface="Arial"/>
              </a:rPr>
              <a:t>Copy records from Ri  into memory buffers.</a:t>
            </a:r>
            <a:endParaRPr/>
          </a:p>
          <a:p>
            <a:pPr marL="1371600" lvl="2" indent="-457200" algn="l" rtl="0">
              <a:lnSpc>
                <a:spcPct val="100000"/>
              </a:lnSpc>
              <a:spcBef>
                <a:spcPts val="480"/>
              </a:spcBef>
              <a:spcAft>
                <a:spcPts val="0"/>
              </a:spcAft>
              <a:buClr>
                <a:srgbClr val="990033"/>
              </a:buClr>
              <a:buSzPts val="1200"/>
              <a:buFont typeface="Noto Sans Symbols"/>
              <a:buAutoNum type="arabicPeriod"/>
            </a:pPr>
            <a:r>
              <a:rPr lang="en-US" sz="2400" b="0" i="0" u="none">
                <a:solidFill>
                  <a:schemeClr val="dk2"/>
                </a:solidFill>
                <a:latin typeface="Arial"/>
                <a:ea typeface="Arial"/>
                <a:cs typeface="Arial"/>
                <a:sym typeface="Arial"/>
              </a:rPr>
              <a:t>Read all blocks from Si, one at a time and each record from Si is used to </a:t>
            </a:r>
            <a:r>
              <a:rPr lang="en-US" sz="2400" b="0" i="1" u="none">
                <a:solidFill>
                  <a:schemeClr val="dk2"/>
                </a:solidFill>
                <a:latin typeface="Arial"/>
                <a:ea typeface="Arial"/>
                <a:cs typeface="Arial"/>
                <a:sym typeface="Arial"/>
              </a:rPr>
              <a:t>probe</a:t>
            </a:r>
            <a:r>
              <a:rPr lang="en-US" sz="2400" b="0" i="0" u="none">
                <a:solidFill>
                  <a:schemeClr val="dk2"/>
                </a:solidFill>
                <a:latin typeface="Arial"/>
                <a:ea typeface="Arial"/>
                <a:cs typeface="Arial"/>
                <a:sym typeface="Arial"/>
              </a:rPr>
              <a:t> for a matching record(s) from partition Si.</a:t>
            </a:r>
            <a:endParaRPr/>
          </a:p>
          <a:p>
            <a:pPr marL="1371600" lvl="2" indent="-457200" algn="l" rtl="0">
              <a:lnSpc>
                <a:spcPct val="100000"/>
              </a:lnSpc>
              <a:spcBef>
                <a:spcPts val="480"/>
              </a:spcBef>
              <a:spcAft>
                <a:spcPts val="0"/>
              </a:spcAft>
              <a:buClr>
                <a:srgbClr val="990033"/>
              </a:buClr>
              <a:buSzPts val="1200"/>
              <a:buFont typeface="Noto Sans Symbols"/>
              <a:buAutoNum type="arabicPeriod"/>
            </a:pPr>
            <a:r>
              <a:rPr lang="en-US" sz="2400" b="0" i="0" u="none">
                <a:solidFill>
                  <a:schemeClr val="dk2"/>
                </a:solidFill>
                <a:latin typeface="Arial"/>
                <a:ea typeface="Arial"/>
                <a:cs typeface="Arial"/>
                <a:sym typeface="Arial"/>
              </a:rPr>
              <a:t>Write matching record from Ri after joining to the record from Si into the result file.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50</a:t>
            </a:fld>
            <a:endParaRPr/>
          </a:p>
        </p:txBody>
      </p:sp>
      <p:sp>
        <p:nvSpPr>
          <p:cNvPr id="404" name="Google Shape;404;p5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SELECT and JOIN Operations (17)</a:t>
            </a:r>
            <a:endParaRPr/>
          </a:p>
        </p:txBody>
      </p:sp>
      <p:sp>
        <p:nvSpPr>
          <p:cNvPr id="405" name="Google Shape;405;p5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0" lvl="0" indent="0" algn="l" rtl="0">
              <a:lnSpc>
                <a:spcPct val="100000"/>
              </a:lnSpc>
              <a:spcBef>
                <a:spcPts val="0"/>
              </a:spcBef>
              <a:spcAft>
                <a:spcPts val="0"/>
              </a:spcAft>
              <a:buSzPts val="1440"/>
              <a:buNone/>
            </a:pPr>
            <a:r>
              <a:rPr lang="en-US" sz="2400" b="0" i="0" u="none">
                <a:solidFill>
                  <a:schemeClr val="dk2"/>
                </a:solidFill>
                <a:latin typeface="Arial"/>
                <a:ea typeface="Arial"/>
                <a:cs typeface="Arial"/>
                <a:sym typeface="Arial"/>
              </a:rPr>
              <a:t>Implementing the JOIN Operation (contd.):</a:t>
            </a:r>
            <a:endParaRPr/>
          </a:p>
          <a:p>
            <a:pPr marL="0" lvl="0" indent="0" algn="l" rtl="0">
              <a:lnSpc>
                <a:spcPct val="100000"/>
              </a:lnSpc>
              <a:spcBef>
                <a:spcPts val="480"/>
              </a:spcBef>
              <a:spcAft>
                <a:spcPts val="0"/>
              </a:spcAft>
              <a:buClr>
                <a:srgbClr val="990033"/>
              </a:buClr>
              <a:buSzPts val="1440"/>
              <a:buFont typeface="Noto Sans Symbols"/>
              <a:buNone/>
            </a:pPr>
            <a:endParaRPr sz="2400" b="0" i="0" u="none">
              <a:solidFill>
                <a:schemeClr val="dk2"/>
              </a:solidFill>
              <a:latin typeface="Arial"/>
              <a:ea typeface="Arial"/>
              <a:cs typeface="Arial"/>
              <a:sym typeface="Arial"/>
            </a:endParaRPr>
          </a:p>
          <a:p>
            <a:pPr marL="0" lvl="0" indent="-9144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Cost analysis of partition hash join:</a:t>
            </a:r>
            <a:endParaRPr/>
          </a:p>
          <a:p>
            <a:pPr marL="952500" lvl="1" indent="-495300" algn="l" rtl="0">
              <a:lnSpc>
                <a:spcPct val="100000"/>
              </a:lnSpc>
              <a:spcBef>
                <a:spcPts val="440"/>
              </a:spcBef>
              <a:spcAft>
                <a:spcPts val="0"/>
              </a:spcAft>
              <a:buClr>
                <a:schemeClr val="dk2"/>
              </a:buClr>
              <a:buSzPts val="1210"/>
              <a:buFont typeface="Noto Sans Symbols"/>
              <a:buAutoNum type="arabicPeriod"/>
            </a:pPr>
            <a:r>
              <a:rPr lang="en-US" sz="2200" b="0" i="0" u="none">
                <a:solidFill>
                  <a:srgbClr val="800000"/>
                </a:solidFill>
                <a:latin typeface="Arial"/>
                <a:ea typeface="Arial"/>
                <a:cs typeface="Arial"/>
                <a:sym typeface="Arial"/>
              </a:rPr>
              <a:t>Reading and writing each record from R and S during the partitioning phase:</a:t>
            </a:r>
            <a:br>
              <a:rPr lang="en-US" sz="2200" b="0" i="0" u="none">
                <a:solidFill>
                  <a:srgbClr val="800000"/>
                </a:solidFill>
                <a:latin typeface="Arial"/>
                <a:ea typeface="Arial"/>
                <a:cs typeface="Arial"/>
                <a:sym typeface="Arial"/>
              </a:rPr>
            </a:br>
            <a:r>
              <a:rPr lang="en-US" sz="2200" b="0" i="0" u="none">
                <a:solidFill>
                  <a:srgbClr val="800000"/>
                </a:solidFill>
                <a:latin typeface="Arial"/>
                <a:ea typeface="Arial"/>
                <a:cs typeface="Arial"/>
                <a:sym typeface="Arial"/>
              </a:rPr>
              <a:t>		(b</a:t>
            </a:r>
            <a:r>
              <a:rPr lang="en-US" sz="2200" b="0" i="0" u="none" baseline="-25000">
                <a:solidFill>
                  <a:srgbClr val="800000"/>
                </a:solidFill>
                <a:latin typeface="Arial"/>
                <a:ea typeface="Arial"/>
                <a:cs typeface="Arial"/>
                <a:sym typeface="Arial"/>
              </a:rPr>
              <a:t>R</a:t>
            </a:r>
            <a:r>
              <a:rPr lang="en-US" sz="2200" b="0" i="0" u="none">
                <a:solidFill>
                  <a:srgbClr val="800000"/>
                </a:solidFill>
                <a:latin typeface="Arial"/>
                <a:ea typeface="Arial"/>
                <a:cs typeface="Arial"/>
                <a:sym typeface="Arial"/>
              </a:rPr>
              <a:t>  +  b</a:t>
            </a:r>
            <a:r>
              <a:rPr lang="en-US" sz="2200" b="0" i="0" u="none" baseline="-25000">
                <a:solidFill>
                  <a:srgbClr val="800000"/>
                </a:solidFill>
                <a:latin typeface="Arial"/>
                <a:ea typeface="Arial"/>
                <a:cs typeface="Arial"/>
                <a:sym typeface="Arial"/>
              </a:rPr>
              <a:t>S</a:t>
            </a:r>
            <a:r>
              <a:rPr lang="en-US" sz="2200" b="0" i="0" u="none">
                <a:solidFill>
                  <a:srgbClr val="800000"/>
                </a:solidFill>
                <a:latin typeface="Arial"/>
                <a:ea typeface="Arial"/>
                <a:cs typeface="Arial"/>
                <a:sym typeface="Arial"/>
              </a:rPr>
              <a:t>),  (b</a:t>
            </a:r>
            <a:r>
              <a:rPr lang="en-US" sz="2200" b="0" i="0" u="none" baseline="-25000">
                <a:solidFill>
                  <a:srgbClr val="800000"/>
                </a:solidFill>
                <a:latin typeface="Arial"/>
                <a:ea typeface="Arial"/>
                <a:cs typeface="Arial"/>
                <a:sym typeface="Arial"/>
              </a:rPr>
              <a:t>R</a:t>
            </a:r>
            <a:r>
              <a:rPr lang="en-US" sz="2200" b="0" i="0" u="none">
                <a:solidFill>
                  <a:srgbClr val="800000"/>
                </a:solidFill>
                <a:latin typeface="Arial"/>
                <a:ea typeface="Arial"/>
                <a:cs typeface="Arial"/>
                <a:sym typeface="Arial"/>
              </a:rPr>
              <a:t>  +  b</a:t>
            </a:r>
            <a:r>
              <a:rPr lang="en-US" sz="2200" b="0" i="0" u="none" baseline="-25000">
                <a:solidFill>
                  <a:srgbClr val="800000"/>
                </a:solidFill>
                <a:latin typeface="Arial"/>
                <a:ea typeface="Arial"/>
                <a:cs typeface="Arial"/>
                <a:sym typeface="Arial"/>
              </a:rPr>
              <a:t>S</a:t>
            </a:r>
            <a:r>
              <a:rPr lang="en-US" sz="2200" b="0" i="0" u="none">
                <a:solidFill>
                  <a:srgbClr val="800000"/>
                </a:solidFill>
                <a:latin typeface="Arial"/>
                <a:ea typeface="Arial"/>
                <a:cs typeface="Arial"/>
                <a:sym typeface="Arial"/>
              </a:rPr>
              <a:t>)</a:t>
            </a:r>
            <a:endParaRPr/>
          </a:p>
          <a:p>
            <a:pPr marL="952500" lvl="1" indent="-495300" algn="l" rtl="0">
              <a:lnSpc>
                <a:spcPct val="100000"/>
              </a:lnSpc>
              <a:spcBef>
                <a:spcPts val="440"/>
              </a:spcBef>
              <a:spcAft>
                <a:spcPts val="0"/>
              </a:spcAft>
              <a:buClr>
                <a:schemeClr val="dk2"/>
              </a:buClr>
              <a:buSzPts val="1210"/>
              <a:buFont typeface="Noto Sans Symbols"/>
              <a:buAutoNum type="arabicPeriod"/>
            </a:pPr>
            <a:r>
              <a:rPr lang="en-US" sz="2200" b="0" i="0" u="none">
                <a:solidFill>
                  <a:srgbClr val="800000"/>
                </a:solidFill>
                <a:latin typeface="Arial"/>
                <a:ea typeface="Arial"/>
                <a:cs typeface="Arial"/>
                <a:sym typeface="Arial"/>
              </a:rPr>
              <a:t>Reading each record during the joining phase:</a:t>
            </a:r>
            <a:br>
              <a:rPr lang="en-US" sz="2200" b="0" i="0" u="none">
                <a:solidFill>
                  <a:srgbClr val="800000"/>
                </a:solidFill>
                <a:latin typeface="Arial"/>
                <a:ea typeface="Arial"/>
                <a:cs typeface="Arial"/>
                <a:sym typeface="Arial"/>
              </a:rPr>
            </a:br>
            <a:r>
              <a:rPr lang="en-US" sz="2200" b="0" i="0" u="none">
                <a:solidFill>
                  <a:srgbClr val="800000"/>
                </a:solidFill>
                <a:latin typeface="Arial"/>
                <a:ea typeface="Arial"/>
                <a:cs typeface="Arial"/>
                <a:sym typeface="Arial"/>
              </a:rPr>
              <a:t>		(b</a:t>
            </a:r>
            <a:r>
              <a:rPr lang="en-US" sz="2200" b="0" i="0" u="none" baseline="-25000">
                <a:solidFill>
                  <a:srgbClr val="800000"/>
                </a:solidFill>
                <a:latin typeface="Arial"/>
                <a:ea typeface="Arial"/>
                <a:cs typeface="Arial"/>
                <a:sym typeface="Arial"/>
              </a:rPr>
              <a:t>R</a:t>
            </a:r>
            <a:r>
              <a:rPr lang="en-US" sz="2200" b="0" i="0" u="none">
                <a:solidFill>
                  <a:srgbClr val="800000"/>
                </a:solidFill>
                <a:latin typeface="Arial"/>
                <a:ea typeface="Arial"/>
                <a:cs typeface="Arial"/>
                <a:sym typeface="Arial"/>
              </a:rPr>
              <a:t>  +  b</a:t>
            </a:r>
            <a:r>
              <a:rPr lang="en-US" sz="2200" b="0" i="0" u="none" baseline="-25000">
                <a:solidFill>
                  <a:srgbClr val="800000"/>
                </a:solidFill>
                <a:latin typeface="Arial"/>
                <a:ea typeface="Arial"/>
                <a:cs typeface="Arial"/>
                <a:sym typeface="Arial"/>
              </a:rPr>
              <a:t>S</a:t>
            </a:r>
            <a:r>
              <a:rPr lang="en-US" sz="2200" b="0" i="0" u="none">
                <a:solidFill>
                  <a:srgbClr val="800000"/>
                </a:solidFill>
                <a:latin typeface="Arial"/>
                <a:ea typeface="Arial"/>
                <a:cs typeface="Arial"/>
                <a:sym typeface="Arial"/>
              </a:rPr>
              <a:t>)</a:t>
            </a:r>
            <a:endParaRPr/>
          </a:p>
          <a:p>
            <a:pPr marL="952500" lvl="1" indent="-495300" algn="l" rtl="0">
              <a:lnSpc>
                <a:spcPct val="100000"/>
              </a:lnSpc>
              <a:spcBef>
                <a:spcPts val="440"/>
              </a:spcBef>
              <a:spcAft>
                <a:spcPts val="0"/>
              </a:spcAft>
              <a:buClr>
                <a:schemeClr val="dk2"/>
              </a:buClr>
              <a:buSzPts val="1210"/>
              <a:buFont typeface="Noto Sans Symbols"/>
              <a:buAutoNum type="arabicPeriod"/>
            </a:pPr>
            <a:r>
              <a:rPr lang="en-US" sz="2200" b="0" i="0" u="none">
                <a:solidFill>
                  <a:srgbClr val="800000"/>
                </a:solidFill>
                <a:latin typeface="Arial"/>
                <a:ea typeface="Arial"/>
                <a:cs typeface="Arial"/>
                <a:sym typeface="Arial"/>
              </a:rPr>
              <a:t>Writing the result of join:</a:t>
            </a:r>
            <a:br>
              <a:rPr lang="en-US" sz="2200" b="0" i="0" u="none">
                <a:solidFill>
                  <a:srgbClr val="800000"/>
                </a:solidFill>
                <a:latin typeface="Arial"/>
                <a:ea typeface="Arial"/>
                <a:cs typeface="Arial"/>
                <a:sym typeface="Arial"/>
              </a:rPr>
            </a:br>
            <a:r>
              <a:rPr lang="en-US" sz="2200" b="0" i="0" u="none">
                <a:solidFill>
                  <a:srgbClr val="800000"/>
                </a:solidFill>
                <a:latin typeface="Arial"/>
                <a:ea typeface="Arial"/>
                <a:cs typeface="Arial"/>
                <a:sym typeface="Arial"/>
              </a:rPr>
              <a:t>		 b</a:t>
            </a:r>
            <a:r>
              <a:rPr lang="en-US" sz="2200" b="0" i="0" u="none" baseline="-25000">
                <a:solidFill>
                  <a:srgbClr val="800000"/>
                </a:solidFill>
                <a:latin typeface="Arial"/>
                <a:ea typeface="Arial"/>
                <a:cs typeface="Arial"/>
                <a:sym typeface="Arial"/>
              </a:rPr>
              <a:t>RES</a:t>
            </a:r>
            <a:endParaRPr sz="2200" b="0" i="0" u="none">
              <a:solidFill>
                <a:srgbClr val="800000"/>
              </a:solidFill>
              <a:latin typeface="Arial"/>
              <a:ea typeface="Arial"/>
              <a:cs typeface="Arial"/>
              <a:sym typeface="Arial"/>
            </a:endParaRPr>
          </a:p>
          <a:p>
            <a:pPr marL="0" lvl="0" indent="-9144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Total Cost:</a:t>
            </a:r>
            <a:endParaRPr/>
          </a:p>
          <a:p>
            <a:pPr marL="952500" lvl="1" indent="-49530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3* (b</a:t>
            </a:r>
            <a:r>
              <a:rPr lang="en-US" sz="2200" b="0" i="0" u="none" baseline="-25000">
                <a:solidFill>
                  <a:srgbClr val="800000"/>
                </a:solidFill>
                <a:latin typeface="Arial"/>
                <a:ea typeface="Arial"/>
                <a:cs typeface="Arial"/>
                <a:sym typeface="Arial"/>
              </a:rPr>
              <a:t>R</a:t>
            </a:r>
            <a:r>
              <a:rPr lang="en-US" sz="2200" b="0" i="0" u="none">
                <a:solidFill>
                  <a:srgbClr val="800000"/>
                </a:solidFill>
                <a:latin typeface="Arial"/>
                <a:ea typeface="Arial"/>
                <a:cs typeface="Arial"/>
                <a:sym typeface="Arial"/>
              </a:rPr>
              <a:t>  +  b</a:t>
            </a:r>
            <a:r>
              <a:rPr lang="en-US" sz="2200" b="0" i="0" u="none" baseline="-25000">
                <a:solidFill>
                  <a:srgbClr val="800000"/>
                </a:solidFill>
                <a:latin typeface="Arial"/>
                <a:ea typeface="Arial"/>
                <a:cs typeface="Arial"/>
                <a:sym typeface="Arial"/>
              </a:rPr>
              <a:t>S</a:t>
            </a:r>
            <a:r>
              <a:rPr lang="en-US" sz="2200" b="0" i="0" u="none">
                <a:solidFill>
                  <a:srgbClr val="800000"/>
                </a:solidFill>
                <a:latin typeface="Arial"/>
                <a:ea typeface="Arial"/>
                <a:cs typeface="Arial"/>
                <a:sym typeface="Arial"/>
              </a:rPr>
              <a:t>) + b</a:t>
            </a:r>
            <a:r>
              <a:rPr lang="en-US" sz="2200" b="0" i="0" u="none" baseline="-25000">
                <a:solidFill>
                  <a:srgbClr val="800000"/>
                </a:solidFill>
                <a:latin typeface="Arial"/>
                <a:ea typeface="Arial"/>
                <a:cs typeface="Arial"/>
                <a:sym typeface="Arial"/>
              </a:rPr>
              <a:t>RES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5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51</a:t>
            </a:fld>
            <a:endParaRPr/>
          </a:p>
        </p:txBody>
      </p:sp>
      <p:sp>
        <p:nvSpPr>
          <p:cNvPr id="412" name="Google Shape;412;p5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SELECT and JOIN Operations (18)</a:t>
            </a:r>
            <a:endParaRPr/>
          </a:p>
        </p:txBody>
      </p:sp>
      <p:sp>
        <p:nvSpPr>
          <p:cNvPr id="413" name="Google Shape;413;p52"/>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Implementing the JOIN Operation (contd.):</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1" i="0" u="none">
                <a:solidFill>
                  <a:schemeClr val="dk2"/>
                </a:solidFill>
                <a:latin typeface="Arial"/>
                <a:ea typeface="Arial"/>
                <a:cs typeface="Arial"/>
                <a:sym typeface="Arial"/>
              </a:rPr>
              <a:t>Hybrid hash join:</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Same as partitioned hash join except: </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Joining phase of one of the partitions is included during the partitioning phase. </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1" i="0" u="none">
                <a:solidFill>
                  <a:srgbClr val="800000"/>
                </a:solidFill>
                <a:latin typeface="Arial"/>
                <a:ea typeface="Arial"/>
                <a:cs typeface="Arial"/>
                <a:sym typeface="Arial"/>
              </a:rPr>
              <a:t>Partitioning phase</a:t>
            </a:r>
            <a:r>
              <a:rPr lang="en-US" sz="2200" b="0" i="0" u="none">
                <a:solidFill>
                  <a:srgbClr val="800000"/>
                </a:solidFill>
                <a:latin typeface="Arial"/>
                <a:ea typeface="Arial"/>
                <a:cs typeface="Arial"/>
                <a:sym typeface="Arial"/>
              </a:rPr>
              <a:t>:</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Allocate buffers for smaller relation- one block for each of the M-1 partitions, remaining blocks to partition 1.</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Repeat for the larger relation in the pass through S.)</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1" i="0" u="none">
                <a:solidFill>
                  <a:srgbClr val="800000"/>
                </a:solidFill>
                <a:latin typeface="Arial"/>
                <a:ea typeface="Arial"/>
                <a:cs typeface="Arial"/>
                <a:sym typeface="Arial"/>
              </a:rPr>
              <a:t>Joining phase</a:t>
            </a:r>
            <a:r>
              <a:rPr lang="en-US" sz="2200" b="0" i="0" u="none">
                <a:solidFill>
                  <a:srgbClr val="800000"/>
                </a:solidFill>
                <a:latin typeface="Arial"/>
                <a:ea typeface="Arial"/>
                <a:cs typeface="Arial"/>
                <a:sym typeface="Arial"/>
              </a:rPr>
              <a:t>:</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M-1 iterations are needed for the partitions R2 , R3 , R4 ,  ......Rm and S2 , S3 , S4 ,  ......Sm. R1 and S1  are joined during the partitioning of S1, and results of joining R1 and  S1 are already written to the disk by the end of partitioning phase.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52</a:t>
            </a:fld>
            <a:endParaRPr/>
          </a:p>
        </p:txBody>
      </p:sp>
      <p:sp>
        <p:nvSpPr>
          <p:cNvPr id="420" name="Google Shape;420;p5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4. Algorithms for PROJECT and SET Operations (1)</a:t>
            </a:r>
            <a:endParaRPr/>
          </a:p>
        </p:txBody>
      </p:sp>
      <p:sp>
        <p:nvSpPr>
          <p:cNvPr id="421" name="Google Shape;421;p5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457200" lvl="0" indent="-457200" algn="l" rtl="0">
              <a:lnSpc>
                <a:spcPct val="8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Algorithm for PROJECT operations (Figure 15.3b)</a:t>
            </a:r>
            <a:endParaRPr/>
          </a:p>
          <a:p>
            <a:pPr marL="457200" lvl="0" indent="-457200" algn="l" rtl="0">
              <a:lnSpc>
                <a:spcPct val="80000"/>
              </a:lnSpc>
              <a:spcBef>
                <a:spcPts val="640"/>
              </a:spcBef>
              <a:spcAft>
                <a:spcPts val="0"/>
              </a:spcAft>
              <a:buSzPts val="1920"/>
              <a:buNone/>
            </a:pPr>
            <a:r>
              <a:rPr lang="en-US" sz="3200" b="1" i="0" u="none">
                <a:solidFill>
                  <a:schemeClr val="dk2"/>
                </a:solidFill>
                <a:latin typeface="Noto Sans Symbols"/>
                <a:ea typeface="Noto Sans Symbols"/>
                <a:cs typeface="Noto Sans Symbols"/>
                <a:sym typeface="Noto Sans Symbols"/>
              </a:rPr>
              <a:t>	π</a:t>
            </a:r>
            <a:r>
              <a:rPr lang="en-US" sz="2400" b="0" i="0" u="none">
                <a:solidFill>
                  <a:schemeClr val="dk2"/>
                </a:solidFill>
                <a:latin typeface="Arial"/>
                <a:ea typeface="Arial"/>
                <a:cs typeface="Arial"/>
                <a:sym typeface="Arial"/>
              </a:rPr>
              <a:t> </a:t>
            </a:r>
            <a:r>
              <a:rPr lang="en-US" sz="2400" b="0" i="0" u="none" baseline="-25000">
                <a:solidFill>
                  <a:schemeClr val="dk2"/>
                </a:solidFill>
                <a:latin typeface="Arial"/>
                <a:ea typeface="Arial"/>
                <a:cs typeface="Arial"/>
                <a:sym typeface="Arial"/>
              </a:rPr>
              <a:t>&lt;attribute list&gt;</a:t>
            </a:r>
            <a:r>
              <a:rPr lang="en-US" sz="2400" b="0" i="0" u="none">
                <a:solidFill>
                  <a:schemeClr val="dk2"/>
                </a:solidFill>
                <a:latin typeface="Arial"/>
                <a:ea typeface="Arial"/>
                <a:cs typeface="Arial"/>
                <a:sym typeface="Arial"/>
              </a:rPr>
              <a:t>(R)</a:t>
            </a:r>
            <a:endParaRPr/>
          </a:p>
          <a:p>
            <a:pPr marL="457200" lvl="0" indent="-457200" algn="l" rtl="0">
              <a:lnSpc>
                <a:spcPct val="80000"/>
              </a:lnSpc>
              <a:spcBef>
                <a:spcPts val="480"/>
              </a:spcBef>
              <a:spcAft>
                <a:spcPts val="0"/>
              </a:spcAft>
              <a:buSzPts val="1440"/>
              <a:buNone/>
            </a:pPr>
            <a:endParaRPr sz="2400" b="0" i="0" u="none">
              <a:solidFill>
                <a:schemeClr val="dk2"/>
              </a:solidFill>
              <a:latin typeface="Arial"/>
              <a:ea typeface="Arial"/>
              <a:cs typeface="Arial"/>
              <a:sym typeface="Arial"/>
            </a:endParaRPr>
          </a:p>
          <a:p>
            <a:pPr marL="876300" lvl="1" indent="-419100" algn="l" rtl="0">
              <a:lnSpc>
                <a:spcPct val="80000"/>
              </a:lnSpc>
              <a:spcBef>
                <a:spcPts val="440"/>
              </a:spcBef>
              <a:spcAft>
                <a:spcPts val="0"/>
              </a:spcAft>
              <a:buClr>
                <a:schemeClr val="dk2"/>
              </a:buClr>
              <a:buSzPts val="1210"/>
              <a:buFont typeface="Noto Sans Symbols"/>
              <a:buAutoNum type="arabicPeriod"/>
            </a:pPr>
            <a:r>
              <a:rPr lang="en-US" sz="2200" b="0" i="0" u="none">
                <a:solidFill>
                  <a:srgbClr val="800000"/>
                </a:solidFill>
                <a:latin typeface="Arial"/>
                <a:ea typeface="Arial"/>
                <a:cs typeface="Arial"/>
                <a:sym typeface="Arial"/>
              </a:rPr>
              <a:t> If &lt;attribute list&gt; has a key of relation R, extract all tuples from R with only the values for the attributes in &lt;attribute list&gt;.</a:t>
            </a:r>
            <a:endParaRPr/>
          </a:p>
          <a:p>
            <a:pPr marL="876300" lvl="1" indent="-419100" algn="l" rtl="0">
              <a:lnSpc>
                <a:spcPct val="80000"/>
              </a:lnSpc>
              <a:spcBef>
                <a:spcPts val="440"/>
              </a:spcBef>
              <a:spcAft>
                <a:spcPts val="0"/>
              </a:spcAft>
              <a:buClr>
                <a:schemeClr val="dk2"/>
              </a:buClr>
              <a:buSzPts val="1210"/>
              <a:buFont typeface="Noto Sans Symbols"/>
              <a:buAutoNum type="arabicPeriod"/>
            </a:pPr>
            <a:r>
              <a:rPr lang="en-US" sz="2200" b="0" i="0" u="none">
                <a:solidFill>
                  <a:srgbClr val="800000"/>
                </a:solidFill>
                <a:latin typeface="Arial"/>
                <a:ea typeface="Arial"/>
                <a:cs typeface="Arial"/>
                <a:sym typeface="Arial"/>
              </a:rPr>
              <a:t> If &lt;attribute list&gt; does NOT include a key of relation R, duplicated tuples must be removed from the results. </a:t>
            </a:r>
            <a:endParaRPr/>
          </a:p>
          <a:p>
            <a:pPr marL="457200" lvl="0" indent="-365760" algn="l" rtl="0">
              <a:lnSpc>
                <a:spcPct val="80000"/>
              </a:lnSpc>
              <a:spcBef>
                <a:spcPts val="480"/>
              </a:spcBef>
              <a:spcAft>
                <a:spcPts val="0"/>
              </a:spcAft>
              <a:buClr>
                <a:srgbClr val="990033"/>
              </a:buClr>
              <a:buSzPts val="1440"/>
              <a:buFont typeface="Noto Sans Symbols"/>
              <a:buNone/>
            </a:pPr>
            <a:endParaRPr sz="2400" b="0" i="0" u="none">
              <a:solidFill>
                <a:schemeClr val="dk2"/>
              </a:solidFill>
              <a:latin typeface="Arial"/>
              <a:ea typeface="Arial"/>
              <a:cs typeface="Arial"/>
              <a:sym typeface="Arial"/>
            </a:endParaRPr>
          </a:p>
          <a:p>
            <a:pPr marL="457200" lvl="0" indent="-4572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Methods to remove duplicate tuples</a:t>
            </a:r>
            <a:endParaRPr/>
          </a:p>
          <a:p>
            <a:pPr marL="876300" lvl="1" indent="-419100" algn="l" rtl="0">
              <a:lnSpc>
                <a:spcPct val="80000"/>
              </a:lnSpc>
              <a:spcBef>
                <a:spcPts val="440"/>
              </a:spcBef>
              <a:spcAft>
                <a:spcPts val="0"/>
              </a:spcAft>
              <a:buClr>
                <a:schemeClr val="dk2"/>
              </a:buClr>
              <a:buSzPts val="1210"/>
              <a:buFont typeface="Noto Sans Symbols"/>
              <a:buAutoNum type="arabicPeriod"/>
            </a:pPr>
            <a:r>
              <a:rPr lang="en-US" sz="2200" b="0" i="0" u="none">
                <a:solidFill>
                  <a:srgbClr val="800000"/>
                </a:solidFill>
                <a:latin typeface="Arial"/>
                <a:ea typeface="Arial"/>
                <a:cs typeface="Arial"/>
                <a:sym typeface="Arial"/>
              </a:rPr>
              <a:t> Sorting</a:t>
            </a:r>
            <a:endParaRPr/>
          </a:p>
          <a:p>
            <a:pPr marL="876300" lvl="1" indent="-419100" algn="l" rtl="0">
              <a:lnSpc>
                <a:spcPct val="80000"/>
              </a:lnSpc>
              <a:spcBef>
                <a:spcPts val="440"/>
              </a:spcBef>
              <a:spcAft>
                <a:spcPts val="0"/>
              </a:spcAft>
              <a:buClr>
                <a:schemeClr val="dk2"/>
              </a:buClr>
              <a:buSzPts val="1210"/>
              <a:buFont typeface="Noto Sans Symbols"/>
              <a:buAutoNum type="arabicPeriod"/>
            </a:pPr>
            <a:r>
              <a:rPr lang="en-US" sz="2200" b="0" i="0" u="none">
                <a:solidFill>
                  <a:srgbClr val="800000"/>
                </a:solidFill>
                <a:latin typeface="Arial"/>
                <a:ea typeface="Arial"/>
                <a:cs typeface="Arial"/>
                <a:sym typeface="Arial"/>
              </a:rPr>
              <a:t> Hashing</a:t>
            </a:r>
            <a:endParaRPr/>
          </a:p>
          <a:p>
            <a:pPr marL="342900" lvl="0" indent="-259080" algn="l" rtl="0">
              <a:spcBef>
                <a:spcPts val="440"/>
              </a:spcBef>
              <a:spcAft>
                <a:spcPts val="0"/>
              </a:spcAft>
              <a:buSzPts val="1320"/>
              <a:buNone/>
            </a:pPr>
            <a:endParaRPr sz="2200" b="0" i="0" u="none">
              <a:solidFill>
                <a:srgbClr val="800000"/>
              </a:solidFill>
              <a:latin typeface="Arial"/>
              <a:ea typeface="Arial"/>
              <a:cs typeface="Arial"/>
              <a:sym typeface="Arial"/>
            </a:endParaRPr>
          </a:p>
        </p:txBody>
      </p:sp>
      <p:sp>
        <p:nvSpPr>
          <p:cNvPr id="422" name="Google Shape;422;p53"/>
          <p:cNvSpPr txBox="1"/>
          <p:nvPr/>
        </p:nvSpPr>
        <p:spPr>
          <a:xfrm>
            <a:off x="685800" y="1320800"/>
            <a:ext cx="8242300" cy="4978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5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53</a:t>
            </a:fld>
            <a:endParaRPr/>
          </a:p>
        </p:txBody>
      </p:sp>
      <p:sp>
        <p:nvSpPr>
          <p:cNvPr id="429" name="Google Shape;429;p5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PROJECT and SET Operations (2)</a:t>
            </a:r>
            <a:endParaRPr/>
          </a:p>
        </p:txBody>
      </p:sp>
      <p:sp>
        <p:nvSpPr>
          <p:cNvPr id="430" name="Google Shape;430;p54"/>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1" i="0" u="none">
                <a:solidFill>
                  <a:schemeClr val="dk2"/>
                </a:solidFill>
                <a:latin typeface="Arial"/>
                <a:ea typeface="Arial"/>
                <a:cs typeface="Arial"/>
                <a:sym typeface="Arial"/>
              </a:rPr>
              <a:t>Algorithm for SET operations</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1" i="0" u="none">
                <a:solidFill>
                  <a:schemeClr val="dk2"/>
                </a:solidFill>
                <a:latin typeface="Arial"/>
                <a:ea typeface="Arial"/>
                <a:cs typeface="Arial"/>
                <a:sym typeface="Arial"/>
              </a:rPr>
              <a:t>Set operations</a:t>
            </a:r>
            <a:r>
              <a:rPr lang="en-US" sz="2400" b="0" i="0" u="none">
                <a:solidFill>
                  <a:schemeClr val="dk2"/>
                </a:solidFill>
                <a:latin typeface="Arial"/>
                <a:ea typeface="Arial"/>
                <a:cs typeface="Arial"/>
                <a:sym typeface="Arial"/>
              </a:rPr>
              <a:t>:</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UNION, INTERSECTION, SET DIFFERENCE and CARTESIAN PRODUCT</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1" i="0" u="none">
                <a:solidFill>
                  <a:schemeClr val="dk2"/>
                </a:solidFill>
                <a:latin typeface="Arial"/>
                <a:ea typeface="Arial"/>
                <a:cs typeface="Arial"/>
                <a:sym typeface="Arial"/>
              </a:rPr>
              <a:t>CARTESIAN PRODUCT</a:t>
            </a:r>
            <a:r>
              <a:rPr lang="en-US" sz="2400" b="0" i="0" u="none">
                <a:solidFill>
                  <a:schemeClr val="dk2"/>
                </a:solidFill>
                <a:latin typeface="Arial"/>
                <a:ea typeface="Arial"/>
                <a:cs typeface="Arial"/>
                <a:sym typeface="Arial"/>
              </a:rPr>
              <a:t> of relations R and S include all possible combinations of  records from R and S. The attribute of the result include all attributes of R and S. </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1" i="0" u="none">
                <a:solidFill>
                  <a:schemeClr val="dk2"/>
                </a:solidFill>
                <a:latin typeface="Arial"/>
                <a:ea typeface="Arial"/>
                <a:cs typeface="Arial"/>
                <a:sym typeface="Arial"/>
              </a:rPr>
              <a:t>Cost analysis</a:t>
            </a:r>
            <a:r>
              <a:rPr lang="en-US" sz="2400" b="0" i="0" u="none">
                <a:solidFill>
                  <a:schemeClr val="dk2"/>
                </a:solidFill>
                <a:latin typeface="Arial"/>
                <a:ea typeface="Arial"/>
                <a:cs typeface="Arial"/>
                <a:sym typeface="Arial"/>
              </a:rPr>
              <a:t> of CARTESIAN PRODUCT </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If R has n records and j attributes and S has m records and k attributes, the result relation will have n*m records and j+k attributes.</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CARTESIAN PRODUCT operation is </a:t>
            </a:r>
            <a:r>
              <a:rPr lang="en-US" sz="2400" b="1" i="0" u="none">
                <a:solidFill>
                  <a:schemeClr val="dk2"/>
                </a:solidFill>
                <a:latin typeface="Arial"/>
                <a:ea typeface="Arial"/>
                <a:cs typeface="Arial"/>
                <a:sym typeface="Arial"/>
              </a:rPr>
              <a:t>very</a:t>
            </a:r>
            <a:r>
              <a:rPr lang="en-US" sz="2400" b="0" i="0" u="none">
                <a:solidFill>
                  <a:schemeClr val="dk2"/>
                </a:solidFill>
                <a:latin typeface="Arial"/>
                <a:ea typeface="Arial"/>
                <a:cs typeface="Arial"/>
                <a:sym typeface="Arial"/>
              </a:rPr>
              <a:t> </a:t>
            </a:r>
            <a:r>
              <a:rPr lang="en-US" sz="2400" b="1" i="0" u="none">
                <a:solidFill>
                  <a:schemeClr val="dk2"/>
                </a:solidFill>
                <a:latin typeface="Arial"/>
                <a:ea typeface="Arial"/>
                <a:cs typeface="Arial"/>
                <a:sym typeface="Arial"/>
              </a:rPr>
              <a:t>expensive</a:t>
            </a:r>
            <a:r>
              <a:rPr lang="en-US" sz="2400" b="0" i="0" u="none">
                <a:solidFill>
                  <a:schemeClr val="dk2"/>
                </a:solidFill>
                <a:latin typeface="Arial"/>
                <a:ea typeface="Arial"/>
                <a:cs typeface="Arial"/>
                <a:sym typeface="Arial"/>
              </a:rPr>
              <a:t> and should be avoided if possible.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5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54</a:t>
            </a:fld>
            <a:endParaRPr/>
          </a:p>
        </p:txBody>
      </p:sp>
      <p:sp>
        <p:nvSpPr>
          <p:cNvPr id="437" name="Google Shape;437;p5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Algorithms for PROJECT and SET Operations (3)</a:t>
            </a:r>
            <a:endParaRPr/>
          </a:p>
        </p:txBody>
      </p:sp>
      <p:sp>
        <p:nvSpPr>
          <p:cNvPr id="438" name="Google Shape;438;p55"/>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1" i="0" u="none">
                <a:solidFill>
                  <a:schemeClr val="dk2"/>
                </a:solidFill>
                <a:latin typeface="Arial"/>
                <a:ea typeface="Arial"/>
                <a:cs typeface="Arial"/>
                <a:sym typeface="Arial"/>
              </a:rPr>
              <a:t>Algorithm for SET operations (contd.)</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1" i="0" u="none">
                <a:solidFill>
                  <a:schemeClr val="dk2"/>
                </a:solidFill>
                <a:latin typeface="Arial"/>
                <a:ea typeface="Arial"/>
                <a:cs typeface="Arial"/>
                <a:sym typeface="Arial"/>
              </a:rPr>
              <a:t>UNION</a:t>
            </a:r>
            <a:r>
              <a:rPr lang="en-US" sz="2400" b="0" i="0" u="none">
                <a:solidFill>
                  <a:schemeClr val="dk2"/>
                </a:solidFill>
                <a:latin typeface="Arial"/>
                <a:ea typeface="Arial"/>
                <a:cs typeface="Arial"/>
                <a:sym typeface="Arial"/>
              </a:rPr>
              <a:t> (See Figure 15.3c) </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Sort the two relations on the same attributes.</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Scan and merge both sorted files concurrently, whenever the same tuple exists in both relations, only one is kept in the merged results.</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1" i="0" u="none">
                <a:solidFill>
                  <a:schemeClr val="dk2"/>
                </a:solidFill>
                <a:latin typeface="Arial"/>
                <a:ea typeface="Arial"/>
                <a:cs typeface="Arial"/>
                <a:sym typeface="Arial"/>
              </a:rPr>
              <a:t>INTERSECTION</a:t>
            </a:r>
            <a:r>
              <a:rPr lang="en-US" sz="2400" b="0" i="0" u="none">
                <a:solidFill>
                  <a:schemeClr val="dk2"/>
                </a:solidFill>
                <a:latin typeface="Arial"/>
                <a:ea typeface="Arial"/>
                <a:cs typeface="Arial"/>
                <a:sym typeface="Arial"/>
              </a:rPr>
              <a:t> (See Figure 15.3d)</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Sort the two relations on the same attributes.</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Scan and merge both sorted files concurrently, keep in the merged results only those tuples that appear in both relations.</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1" i="0" u="none">
                <a:solidFill>
                  <a:schemeClr val="dk2"/>
                </a:solidFill>
                <a:latin typeface="Arial"/>
                <a:ea typeface="Arial"/>
                <a:cs typeface="Arial"/>
                <a:sym typeface="Arial"/>
              </a:rPr>
              <a:t>SET DIFFERENCE R-S</a:t>
            </a:r>
            <a:r>
              <a:rPr lang="en-US" sz="2400" b="0" i="0" u="none">
                <a:solidFill>
                  <a:schemeClr val="dk2"/>
                </a:solidFill>
                <a:latin typeface="Arial"/>
                <a:ea typeface="Arial"/>
                <a:cs typeface="Arial"/>
                <a:sym typeface="Arial"/>
              </a:rPr>
              <a:t> (See Figure 15.3e)</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Keep in the merged results only those tuples that appear in relation R but not in relation 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5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55</a:t>
            </a:fld>
            <a:endParaRPr/>
          </a:p>
        </p:txBody>
      </p:sp>
      <p:sp>
        <p:nvSpPr>
          <p:cNvPr id="445" name="Google Shape;445;p5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5. Implementing Aggregate Operations and Outer Joins (1)</a:t>
            </a:r>
            <a:endParaRPr/>
          </a:p>
        </p:txBody>
      </p:sp>
      <p:sp>
        <p:nvSpPr>
          <p:cNvPr id="446" name="Google Shape;446;p56"/>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Implementing Aggregate Operations:</a:t>
            </a:r>
            <a:endParaRPr/>
          </a:p>
          <a:p>
            <a:pPr marL="342900" lvl="0" indent="-342900" algn="l" rtl="0">
              <a:lnSpc>
                <a:spcPct val="90000"/>
              </a:lnSpc>
              <a:spcBef>
                <a:spcPts val="400"/>
              </a:spcBef>
              <a:spcAft>
                <a:spcPts val="0"/>
              </a:spcAft>
              <a:buClr>
                <a:srgbClr val="990033"/>
              </a:buClr>
              <a:buSzPts val="1200"/>
              <a:buFont typeface="Noto Sans Symbols"/>
              <a:buChar char="■"/>
            </a:pPr>
            <a:r>
              <a:rPr lang="en-US" sz="2000" b="1" i="0" u="none">
                <a:solidFill>
                  <a:schemeClr val="dk2"/>
                </a:solidFill>
                <a:latin typeface="Arial"/>
                <a:ea typeface="Arial"/>
                <a:cs typeface="Arial"/>
                <a:sym typeface="Arial"/>
              </a:rPr>
              <a:t>Aggregate operators</a:t>
            </a:r>
            <a:r>
              <a:rPr lang="en-US" sz="2000" b="0" i="0" u="none">
                <a:solidFill>
                  <a:schemeClr val="dk2"/>
                </a:solidFill>
                <a:latin typeface="Arial"/>
                <a:ea typeface="Arial"/>
                <a:cs typeface="Arial"/>
                <a:sym typeface="Arial"/>
              </a:rPr>
              <a:t>:</a:t>
            </a:r>
            <a:endParaRPr/>
          </a:p>
          <a:p>
            <a:pPr marL="742950" lvl="1" indent="-285750" algn="l" rtl="0">
              <a:lnSpc>
                <a:spcPct val="90000"/>
              </a:lnSpc>
              <a:spcBef>
                <a:spcPts val="400"/>
              </a:spcBef>
              <a:spcAft>
                <a:spcPts val="0"/>
              </a:spcAft>
              <a:buClr>
                <a:schemeClr val="dk2"/>
              </a:buClr>
              <a:buSzPts val="1100"/>
              <a:buFont typeface="Noto Sans Symbols"/>
              <a:buChar char="■"/>
            </a:pPr>
            <a:r>
              <a:rPr lang="en-US" sz="2000" b="1" i="0" u="none">
                <a:solidFill>
                  <a:srgbClr val="800000"/>
                </a:solidFill>
                <a:latin typeface="Arial"/>
                <a:ea typeface="Arial"/>
                <a:cs typeface="Arial"/>
                <a:sym typeface="Arial"/>
              </a:rPr>
              <a:t>MIN, MAX, SUM, COUNT </a:t>
            </a:r>
            <a:r>
              <a:rPr lang="en-US" sz="2000" b="0" i="0" u="none">
                <a:solidFill>
                  <a:srgbClr val="800000"/>
                </a:solidFill>
                <a:latin typeface="Arial"/>
                <a:ea typeface="Arial"/>
                <a:cs typeface="Arial"/>
                <a:sym typeface="Arial"/>
              </a:rPr>
              <a:t>and</a:t>
            </a:r>
            <a:r>
              <a:rPr lang="en-US" sz="2000" b="1" i="0" u="none">
                <a:solidFill>
                  <a:srgbClr val="800000"/>
                </a:solidFill>
                <a:latin typeface="Arial"/>
                <a:ea typeface="Arial"/>
                <a:cs typeface="Arial"/>
                <a:sym typeface="Arial"/>
              </a:rPr>
              <a:t> AVG </a:t>
            </a:r>
            <a:endParaRPr/>
          </a:p>
          <a:p>
            <a:pPr marL="342900" lvl="0" indent="-342900" algn="l" rtl="0">
              <a:lnSpc>
                <a:spcPct val="90000"/>
              </a:lnSpc>
              <a:spcBef>
                <a:spcPts val="40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Options to implement aggregate operators:</a:t>
            </a:r>
            <a:endParaRPr/>
          </a:p>
          <a:p>
            <a:pPr marL="742950" lvl="1" indent="-285750" algn="l" rtl="0">
              <a:lnSpc>
                <a:spcPct val="90000"/>
              </a:lnSpc>
              <a:spcBef>
                <a:spcPts val="400"/>
              </a:spcBef>
              <a:spcAft>
                <a:spcPts val="0"/>
              </a:spcAft>
              <a:buClr>
                <a:schemeClr val="dk2"/>
              </a:buClr>
              <a:buSzPts val="1100"/>
              <a:buFont typeface="Noto Sans Symbols"/>
              <a:buChar char="■"/>
            </a:pPr>
            <a:r>
              <a:rPr lang="en-US" sz="2000" b="1" i="0" u="none">
                <a:solidFill>
                  <a:srgbClr val="800000"/>
                </a:solidFill>
                <a:latin typeface="Arial"/>
                <a:ea typeface="Arial"/>
                <a:cs typeface="Arial"/>
                <a:sym typeface="Arial"/>
              </a:rPr>
              <a:t>Table Scan</a:t>
            </a:r>
            <a:endParaRPr/>
          </a:p>
          <a:p>
            <a:pPr marL="742950" lvl="1" indent="-285750" algn="l" rtl="0">
              <a:lnSpc>
                <a:spcPct val="90000"/>
              </a:lnSpc>
              <a:spcBef>
                <a:spcPts val="400"/>
              </a:spcBef>
              <a:spcAft>
                <a:spcPts val="0"/>
              </a:spcAft>
              <a:buClr>
                <a:schemeClr val="dk2"/>
              </a:buClr>
              <a:buSzPts val="1100"/>
              <a:buFont typeface="Noto Sans Symbols"/>
              <a:buChar char="■"/>
            </a:pPr>
            <a:r>
              <a:rPr lang="en-US" sz="2000" b="1" i="0" u="none">
                <a:solidFill>
                  <a:srgbClr val="800000"/>
                </a:solidFill>
                <a:latin typeface="Arial"/>
                <a:ea typeface="Arial"/>
                <a:cs typeface="Arial"/>
                <a:sym typeface="Arial"/>
              </a:rPr>
              <a:t>Index</a:t>
            </a:r>
            <a:endParaRPr/>
          </a:p>
          <a:p>
            <a:pPr marL="342900" lvl="0" indent="-342900" algn="l" rtl="0">
              <a:lnSpc>
                <a:spcPct val="90000"/>
              </a:lnSpc>
              <a:spcBef>
                <a:spcPts val="40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Example</a:t>
            </a:r>
            <a:endParaRPr/>
          </a:p>
          <a:p>
            <a:pPr marL="742950" lvl="1" indent="-285750" algn="l" rtl="0">
              <a:lnSpc>
                <a:spcPct val="9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SELECT 	MAX (SALARY) </a:t>
            </a:r>
            <a:endParaRPr/>
          </a:p>
          <a:p>
            <a:pPr marL="742950" lvl="1" indent="-285750" algn="l" rtl="0">
              <a:lnSpc>
                <a:spcPct val="9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FROM 	EMPLOYEE; </a:t>
            </a:r>
            <a:endParaRPr/>
          </a:p>
          <a:p>
            <a:pPr marL="342900" lvl="0" indent="-342900" algn="l" rtl="0">
              <a:lnSpc>
                <a:spcPct val="90000"/>
              </a:lnSpc>
              <a:spcBef>
                <a:spcPts val="40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If an (ascending) index on SALARY exists for the employee relation, then the optimizer could decide on traversing the index for the largest value, which would entail following the right most pointer in each index node from the root to a leaf. </a:t>
            </a:r>
            <a:endParaRPr/>
          </a:p>
          <a:p>
            <a:pPr marL="342900" lvl="0" indent="-266700" algn="l" rtl="0">
              <a:spcBef>
                <a:spcPts val="400"/>
              </a:spcBef>
              <a:spcAft>
                <a:spcPts val="0"/>
              </a:spcAft>
              <a:buSzPts val="1200"/>
              <a:buNone/>
            </a:pPr>
            <a:endParaRPr sz="2000" b="0" i="0" u="none">
              <a:solidFill>
                <a:schemeClr val="dk2"/>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57"/>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56</a:t>
            </a:fld>
            <a:endParaRPr/>
          </a:p>
        </p:txBody>
      </p:sp>
      <p:sp>
        <p:nvSpPr>
          <p:cNvPr id="453" name="Google Shape;453;p57"/>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Implementing Aggregate Operations and Outer Joins (2)</a:t>
            </a:r>
            <a:endParaRPr/>
          </a:p>
        </p:txBody>
      </p:sp>
      <p:sp>
        <p:nvSpPr>
          <p:cNvPr id="454" name="Google Shape;454;p57"/>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0" lvl="0" indent="0" algn="l" rtl="0">
              <a:lnSpc>
                <a:spcPct val="90000"/>
              </a:lnSpc>
              <a:spcBef>
                <a:spcPts val="0"/>
              </a:spcBef>
              <a:spcAft>
                <a:spcPts val="0"/>
              </a:spcAft>
              <a:buSzPts val="1200"/>
              <a:buNone/>
            </a:pPr>
            <a:r>
              <a:rPr lang="en-US" sz="2000" b="0" i="0" u="none">
                <a:solidFill>
                  <a:schemeClr val="dk2"/>
                </a:solidFill>
                <a:latin typeface="Arial"/>
                <a:ea typeface="Arial"/>
                <a:cs typeface="Arial"/>
                <a:sym typeface="Arial"/>
              </a:rPr>
              <a:t>Implementing Aggregate Operations (contd.):</a:t>
            </a:r>
            <a:endParaRPr/>
          </a:p>
          <a:p>
            <a:pPr marL="0" lvl="0" indent="-76200" algn="l" rtl="0">
              <a:lnSpc>
                <a:spcPct val="90000"/>
              </a:lnSpc>
              <a:spcBef>
                <a:spcPts val="400"/>
              </a:spcBef>
              <a:spcAft>
                <a:spcPts val="0"/>
              </a:spcAft>
              <a:buClr>
                <a:srgbClr val="990033"/>
              </a:buClr>
              <a:buSzPts val="1200"/>
              <a:buFont typeface="Noto Sans Symbols"/>
              <a:buChar char="■"/>
            </a:pPr>
            <a:r>
              <a:rPr lang="en-US" sz="2000" b="1" i="0" u="none">
                <a:solidFill>
                  <a:schemeClr val="dk2"/>
                </a:solidFill>
                <a:latin typeface="Arial"/>
                <a:ea typeface="Arial"/>
                <a:cs typeface="Arial"/>
                <a:sym typeface="Arial"/>
              </a:rPr>
              <a:t>SUM, COUNT and AVG  </a:t>
            </a:r>
            <a:endParaRPr/>
          </a:p>
          <a:p>
            <a:pPr marL="0" lvl="0" indent="-76200" algn="l" rtl="0">
              <a:lnSpc>
                <a:spcPct val="90000"/>
              </a:lnSpc>
              <a:spcBef>
                <a:spcPts val="40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For a </a:t>
            </a:r>
            <a:r>
              <a:rPr lang="en-US" sz="2000" b="1" i="0" u="none">
                <a:solidFill>
                  <a:schemeClr val="dk2"/>
                </a:solidFill>
                <a:latin typeface="Arial"/>
                <a:ea typeface="Arial"/>
                <a:cs typeface="Arial"/>
                <a:sym typeface="Arial"/>
              </a:rPr>
              <a:t>dense index</a:t>
            </a:r>
            <a:r>
              <a:rPr lang="en-US" sz="2000" b="0" i="0" u="none">
                <a:solidFill>
                  <a:schemeClr val="dk2"/>
                </a:solidFill>
                <a:latin typeface="Arial"/>
                <a:ea typeface="Arial"/>
                <a:cs typeface="Arial"/>
                <a:sym typeface="Arial"/>
              </a:rPr>
              <a:t> (each record has one index entry):</a:t>
            </a:r>
            <a:endParaRPr/>
          </a:p>
          <a:p>
            <a:pPr marL="742950" lvl="1" indent="-285750" algn="l" rtl="0">
              <a:lnSpc>
                <a:spcPct val="9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Apply the associated computation to the values in the index. </a:t>
            </a:r>
            <a:endParaRPr/>
          </a:p>
          <a:p>
            <a:pPr marL="0" lvl="0" indent="-76200" algn="l" rtl="0">
              <a:lnSpc>
                <a:spcPct val="90000"/>
              </a:lnSpc>
              <a:spcBef>
                <a:spcPts val="40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For a </a:t>
            </a:r>
            <a:r>
              <a:rPr lang="en-US" sz="2000" b="1" i="0" u="none">
                <a:solidFill>
                  <a:schemeClr val="dk2"/>
                </a:solidFill>
                <a:latin typeface="Arial"/>
                <a:ea typeface="Arial"/>
                <a:cs typeface="Arial"/>
                <a:sym typeface="Arial"/>
              </a:rPr>
              <a:t>non-dense index</a:t>
            </a:r>
            <a:r>
              <a:rPr lang="en-US" sz="2000" b="0" i="0" u="none">
                <a:solidFill>
                  <a:schemeClr val="dk2"/>
                </a:solidFill>
                <a:latin typeface="Arial"/>
                <a:ea typeface="Arial"/>
                <a:cs typeface="Arial"/>
                <a:sym typeface="Arial"/>
              </a:rPr>
              <a:t>:</a:t>
            </a:r>
            <a:endParaRPr/>
          </a:p>
          <a:p>
            <a:pPr marL="742950" lvl="1" indent="-285750" algn="l" rtl="0">
              <a:lnSpc>
                <a:spcPct val="9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Actual number of records associated with each index entry must be accounted for  </a:t>
            </a:r>
            <a:endParaRPr/>
          </a:p>
          <a:p>
            <a:pPr marL="0" lvl="0" indent="-76200" algn="l" rtl="0">
              <a:lnSpc>
                <a:spcPct val="90000"/>
              </a:lnSpc>
              <a:spcBef>
                <a:spcPts val="40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With </a:t>
            </a:r>
            <a:r>
              <a:rPr lang="en-US" sz="2000" b="1" i="0" u="none">
                <a:solidFill>
                  <a:schemeClr val="dk2"/>
                </a:solidFill>
                <a:latin typeface="Arial"/>
                <a:ea typeface="Arial"/>
                <a:cs typeface="Arial"/>
                <a:sym typeface="Arial"/>
              </a:rPr>
              <a:t>GROUP BY</a:t>
            </a:r>
            <a:r>
              <a:rPr lang="en-US" sz="2000" b="0" i="0" u="none">
                <a:solidFill>
                  <a:schemeClr val="dk2"/>
                </a:solidFill>
                <a:latin typeface="Arial"/>
                <a:ea typeface="Arial"/>
                <a:cs typeface="Arial"/>
                <a:sym typeface="Arial"/>
              </a:rPr>
              <a:t>: the aggregate operator must be applied  separately to each group of tuples. </a:t>
            </a:r>
            <a:endParaRPr/>
          </a:p>
          <a:p>
            <a:pPr marL="742950" lvl="1" indent="-285750" algn="l" rtl="0">
              <a:lnSpc>
                <a:spcPct val="9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Use sorting or hashing on the group attributes to partition the file into the appropriate groups;</a:t>
            </a:r>
            <a:endParaRPr/>
          </a:p>
          <a:p>
            <a:pPr marL="742950" lvl="1" indent="-285750" algn="l" rtl="0">
              <a:lnSpc>
                <a:spcPct val="9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Computes the aggregate function for the tuples in each group. </a:t>
            </a:r>
            <a:endParaRPr/>
          </a:p>
          <a:p>
            <a:pPr marL="342900" lvl="0" indent="-266700" algn="l" rtl="0">
              <a:spcBef>
                <a:spcPts val="400"/>
              </a:spcBef>
              <a:spcAft>
                <a:spcPts val="0"/>
              </a:spcAft>
              <a:buSzPts val="1200"/>
              <a:buNone/>
            </a:pPr>
            <a:endParaRPr sz="2000" b="0" i="0" u="none">
              <a:solidFill>
                <a:srgbClr val="8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8"/>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57</a:t>
            </a:fld>
            <a:endParaRPr/>
          </a:p>
        </p:txBody>
      </p:sp>
      <p:sp>
        <p:nvSpPr>
          <p:cNvPr id="461" name="Google Shape;461;p58"/>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Implementing Aggregate Operations and Outer Joins (3)</a:t>
            </a:r>
            <a:endParaRPr/>
          </a:p>
        </p:txBody>
      </p:sp>
      <p:sp>
        <p:nvSpPr>
          <p:cNvPr id="462" name="Google Shape;462;p58"/>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0" lvl="0" indent="0" algn="l" rtl="0">
              <a:lnSpc>
                <a:spcPct val="80000"/>
              </a:lnSpc>
              <a:spcBef>
                <a:spcPts val="0"/>
              </a:spcBef>
              <a:spcAft>
                <a:spcPts val="0"/>
              </a:spcAft>
              <a:buSzPts val="1080"/>
              <a:buNone/>
            </a:pPr>
            <a:r>
              <a:rPr lang="en-US" sz="1800" b="0" i="0" u="none">
                <a:solidFill>
                  <a:schemeClr val="dk2"/>
                </a:solidFill>
                <a:latin typeface="Arial"/>
                <a:ea typeface="Arial"/>
                <a:cs typeface="Arial"/>
                <a:sym typeface="Arial"/>
              </a:rPr>
              <a:t>Implementing Outer Join:</a:t>
            </a:r>
            <a:endParaRPr/>
          </a:p>
          <a:p>
            <a:pPr marL="0" lvl="0" indent="-68580" algn="l" rtl="0">
              <a:lnSpc>
                <a:spcPct val="80000"/>
              </a:lnSpc>
              <a:spcBef>
                <a:spcPts val="360"/>
              </a:spcBef>
              <a:spcAft>
                <a:spcPts val="0"/>
              </a:spcAft>
              <a:buClr>
                <a:srgbClr val="990033"/>
              </a:buClr>
              <a:buSzPts val="1080"/>
              <a:buFont typeface="Noto Sans Symbols"/>
              <a:buChar char="■"/>
            </a:pPr>
            <a:r>
              <a:rPr lang="en-US" sz="1800" b="1" i="0" u="none">
                <a:solidFill>
                  <a:schemeClr val="dk2"/>
                </a:solidFill>
                <a:latin typeface="Arial"/>
                <a:ea typeface="Arial"/>
                <a:cs typeface="Arial"/>
                <a:sym typeface="Arial"/>
              </a:rPr>
              <a:t>Outer Join Operators</a:t>
            </a:r>
            <a:r>
              <a:rPr lang="en-US" sz="1800" b="0" i="0" u="none">
                <a:solidFill>
                  <a:schemeClr val="dk2"/>
                </a:solidFill>
                <a:latin typeface="Arial"/>
                <a:ea typeface="Arial"/>
                <a:cs typeface="Arial"/>
                <a:sym typeface="Arial"/>
              </a:rPr>
              <a:t>:</a:t>
            </a:r>
            <a:endParaRPr/>
          </a:p>
          <a:p>
            <a:pPr marL="742950" lvl="1" indent="-285750" algn="l" rtl="0">
              <a:lnSpc>
                <a:spcPct val="80000"/>
              </a:lnSpc>
              <a:spcBef>
                <a:spcPts val="340"/>
              </a:spcBef>
              <a:spcAft>
                <a:spcPts val="0"/>
              </a:spcAft>
              <a:buClr>
                <a:schemeClr val="dk2"/>
              </a:buClr>
              <a:buSzPts val="935"/>
              <a:buFont typeface="Noto Sans Symbols"/>
              <a:buChar char="■"/>
            </a:pPr>
            <a:r>
              <a:rPr lang="en-US" sz="1700" b="1" i="0" u="none">
                <a:solidFill>
                  <a:srgbClr val="800000"/>
                </a:solidFill>
                <a:latin typeface="Arial"/>
                <a:ea typeface="Arial"/>
                <a:cs typeface="Arial"/>
                <a:sym typeface="Arial"/>
              </a:rPr>
              <a:t>LEFT OUTER JOIN</a:t>
            </a:r>
            <a:endParaRPr/>
          </a:p>
          <a:p>
            <a:pPr marL="742950" lvl="1" indent="-285750" algn="l" rtl="0">
              <a:lnSpc>
                <a:spcPct val="80000"/>
              </a:lnSpc>
              <a:spcBef>
                <a:spcPts val="340"/>
              </a:spcBef>
              <a:spcAft>
                <a:spcPts val="0"/>
              </a:spcAft>
              <a:buClr>
                <a:schemeClr val="dk2"/>
              </a:buClr>
              <a:buSzPts val="935"/>
              <a:buFont typeface="Noto Sans Symbols"/>
              <a:buChar char="■"/>
            </a:pPr>
            <a:r>
              <a:rPr lang="en-US" sz="1700" b="1" i="0" u="none">
                <a:solidFill>
                  <a:srgbClr val="800000"/>
                </a:solidFill>
                <a:latin typeface="Arial"/>
                <a:ea typeface="Arial"/>
                <a:cs typeface="Arial"/>
                <a:sym typeface="Arial"/>
              </a:rPr>
              <a:t>RIGHT OUTER JOIN</a:t>
            </a:r>
            <a:endParaRPr/>
          </a:p>
          <a:p>
            <a:pPr marL="742950" lvl="1" indent="-285750" algn="l" rtl="0">
              <a:lnSpc>
                <a:spcPct val="80000"/>
              </a:lnSpc>
              <a:spcBef>
                <a:spcPts val="340"/>
              </a:spcBef>
              <a:spcAft>
                <a:spcPts val="0"/>
              </a:spcAft>
              <a:buClr>
                <a:schemeClr val="dk2"/>
              </a:buClr>
              <a:buSzPts val="935"/>
              <a:buFont typeface="Noto Sans Symbols"/>
              <a:buChar char="■"/>
            </a:pPr>
            <a:r>
              <a:rPr lang="en-US" sz="1700" b="1" i="0" u="none">
                <a:solidFill>
                  <a:srgbClr val="800000"/>
                </a:solidFill>
                <a:latin typeface="Arial"/>
                <a:ea typeface="Arial"/>
                <a:cs typeface="Arial"/>
                <a:sym typeface="Arial"/>
              </a:rPr>
              <a:t>FULL OUTER JOIN</a:t>
            </a:r>
            <a:r>
              <a:rPr lang="en-US" sz="1700" b="0" i="0" u="none">
                <a:solidFill>
                  <a:srgbClr val="800000"/>
                </a:solidFill>
                <a:latin typeface="Arial"/>
                <a:ea typeface="Arial"/>
                <a:cs typeface="Arial"/>
                <a:sym typeface="Arial"/>
              </a:rPr>
              <a:t>.</a:t>
            </a:r>
            <a:endParaRPr/>
          </a:p>
          <a:p>
            <a:pPr marL="0" lvl="0" indent="-68580" algn="l" rtl="0">
              <a:lnSpc>
                <a:spcPct val="80000"/>
              </a:lnSpc>
              <a:spcBef>
                <a:spcPts val="360"/>
              </a:spcBef>
              <a:spcAft>
                <a:spcPts val="0"/>
              </a:spcAft>
              <a:buClr>
                <a:srgbClr val="990033"/>
              </a:buClr>
              <a:buSzPts val="1080"/>
              <a:buFont typeface="Noto Sans Symbols"/>
              <a:buChar char="■"/>
            </a:pPr>
            <a:r>
              <a:rPr lang="en-US" sz="1800" b="0" i="0" u="none">
                <a:solidFill>
                  <a:schemeClr val="dk2"/>
                </a:solidFill>
                <a:latin typeface="Arial"/>
                <a:ea typeface="Arial"/>
                <a:cs typeface="Arial"/>
                <a:sym typeface="Arial"/>
              </a:rPr>
              <a:t>The full outer join produces a result which is equivalent to the union of the results of the left and right outer joins. </a:t>
            </a:r>
            <a:endParaRPr/>
          </a:p>
          <a:p>
            <a:pPr marL="0" lvl="0" indent="-68580" algn="l" rtl="0">
              <a:lnSpc>
                <a:spcPct val="80000"/>
              </a:lnSpc>
              <a:spcBef>
                <a:spcPts val="360"/>
              </a:spcBef>
              <a:spcAft>
                <a:spcPts val="0"/>
              </a:spcAft>
              <a:buClr>
                <a:srgbClr val="990033"/>
              </a:buClr>
              <a:buSzPts val="1080"/>
              <a:buFont typeface="Noto Sans Symbols"/>
              <a:buChar char="■"/>
            </a:pPr>
            <a:r>
              <a:rPr lang="en-US" sz="1800" b="0" i="0" u="none">
                <a:solidFill>
                  <a:schemeClr val="dk2"/>
                </a:solidFill>
                <a:latin typeface="Arial"/>
                <a:ea typeface="Arial"/>
                <a:cs typeface="Arial"/>
                <a:sym typeface="Arial"/>
              </a:rPr>
              <a:t>Example:</a:t>
            </a:r>
            <a:endParaRPr/>
          </a:p>
          <a:p>
            <a:pPr marL="742950" lvl="1" indent="-285750" algn="l" rtl="0">
              <a:lnSpc>
                <a:spcPct val="80000"/>
              </a:lnSpc>
              <a:spcBef>
                <a:spcPts val="340"/>
              </a:spcBef>
              <a:spcAft>
                <a:spcPts val="0"/>
              </a:spcAft>
              <a:buSzPts val="935"/>
              <a:buNone/>
            </a:pPr>
            <a:r>
              <a:rPr lang="en-US" sz="1700" b="1" i="0" u="none">
                <a:solidFill>
                  <a:schemeClr val="lt2"/>
                </a:solidFill>
                <a:latin typeface="Arial"/>
                <a:ea typeface="Arial"/>
                <a:cs typeface="Arial"/>
                <a:sym typeface="Arial"/>
              </a:rPr>
              <a:t>SELECT	</a:t>
            </a:r>
            <a:r>
              <a:rPr lang="en-US" sz="1700" b="0" i="0" u="none">
                <a:solidFill>
                  <a:schemeClr val="lt2"/>
                </a:solidFill>
                <a:latin typeface="Arial"/>
                <a:ea typeface="Arial"/>
                <a:cs typeface="Arial"/>
                <a:sym typeface="Arial"/>
              </a:rPr>
              <a:t>FNAME, DNAME </a:t>
            </a:r>
            <a:endParaRPr/>
          </a:p>
          <a:p>
            <a:pPr marL="742950" lvl="1" indent="-285750" algn="l" rtl="0">
              <a:lnSpc>
                <a:spcPct val="80000"/>
              </a:lnSpc>
              <a:spcBef>
                <a:spcPts val="340"/>
              </a:spcBef>
              <a:spcAft>
                <a:spcPts val="0"/>
              </a:spcAft>
              <a:buSzPts val="935"/>
              <a:buNone/>
            </a:pPr>
            <a:r>
              <a:rPr lang="en-US" sz="1700" b="1" i="0" u="none">
                <a:solidFill>
                  <a:schemeClr val="lt2"/>
                </a:solidFill>
                <a:latin typeface="Arial"/>
                <a:ea typeface="Arial"/>
                <a:cs typeface="Arial"/>
                <a:sym typeface="Arial"/>
              </a:rPr>
              <a:t>FROM	</a:t>
            </a:r>
            <a:r>
              <a:rPr lang="en-US" sz="1700" b="0" i="0" u="none">
                <a:solidFill>
                  <a:schemeClr val="lt2"/>
                </a:solidFill>
                <a:latin typeface="Arial"/>
                <a:ea typeface="Arial"/>
                <a:cs typeface="Arial"/>
                <a:sym typeface="Arial"/>
              </a:rPr>
              <a:t>(EMPLOYEE </a:t>
            </a:r>
            <a:r>
              <a:rPr lang="en-US" sz="1700" b="1" i="0" u="none">
                <a:solidFill>
                  <a:schemeClr val="lt2"/>
                </a:solidFill>
                <a:latin typeface="Arial"/>
                <a:ea typeface="Arial"/>
                <a:cs typeface="Arial"/>
                <a:sym typeface="Arial"/>
              </a:rPr>
              <a:t>LEFT OUTER JOIN</a:t>
            </a:r>
            <a:r>
              <a:rPr lang="en-US" sz="1700" b="0" i="0" u="none">
                <a:solidFill>
                  <a:schemeClr val="lt2"/>
                </a:solidFill>
                <a:latin typeface="Arial"/>
                <a:ea typeface="Arial"/>
                <a:cs typeface="Arial"/>
                <a:sym typeface="Arial"/>
              </a:rPr>
              <a:t> DEPARTMENT </a:t>
            </a:r>
            <a:endParaRPr/>
          </a:p>
          <a:p>
            <a:pPr marL="742950" lvl="1" indent="-285750" algn="l" rtl="0">
              <a:lnSpc>
                <a:spcPct val="80000"/>
              </a:lnSpc>
              <a:spcBef>
                <a:spcPts val="340"/>
              </a:spcBef>
              <a:spcAft>
                <a:spcPts val="0"/>
              </a:spcAft>
              <a:buSzPts val="935"/>
              <a:buNone/>
            </a:pPr>
            <a:r>
              <a:rPr lang="en-US" sz="1700" b="0" i="0" u="none">
                <a:solidFill>
                  <a:schemeClr val="lt2"/>
                </a:solidFill>
                <a:latin typeface="Arial"/>
                <a:ea typeface="Arial"/>
                <a:cs typeface="Arial"/>
                <a:sym typeface="Arial"/>
              </a:rPr>
              <a:t>               	</a:t>
            </a:r>
            <a:r>
              <a:rPr lang="en-US" sz="1700" b="1" i="0" u="none">
                <a:solidFill>
                  <a:schemeClr val="lt2"/>
                </a:solidFill>
                <a:latin typeface="Arial"/>
                <a:ea typeface="Arial"/>
                <a:cs typeface="Arial"/>
                <a:sym typeface="Arial"/>
              </a:rPr>
              <a:t>ON</a:t>
            </a:r>
            <a:r>
              <a:rPr lang="en-US" sz="1700" b="0" i="0" u="none">
                <a:solidFill>
                  <a:schemeClr val="lt2"/>
                </a:solidFill>
                <a:latin typeface="Arial"/>
                <a:ea typeface="Arial"/>
                <a:cs typeface="Arial"/>
                <a:sym typeface="Arial"/>
              </a:rPr>
              <a:t> DNO = DNUMBER); </a:t>
            </a:r>
            <a:endParaRPr sz="1700" b="0" i="0" u="none">
              <a:solidFill>
                <a:srgbClr val="800000"/>
              </a:solidFill>
              <a:latin typeface="Arial"/>
              <a:ea typeface="Arial"/>
              <a:cs typeface="Arial"/>
              <a:sym typeface="Arial"/>
            </a:endParaRPr>
          </a:p>
          <a:p>
            <a:pPr marL="0" lvl="0" indent="-68580" algn="l" rtl="0">
              <a:lnSpc>
                <a:spcPct val="80000"/>
              </a:lnSpc>
              <a:spcBef>
                <a:spcPts val="360"/>
              </a:spcBef>
              <a:spcAft>
                <a:spcPts val="0"/>
              </a:spcAft>
              <a:buClr>
                <a:srgbClr val="990033"/>
              </a:buClr>
              <a:buSzPts val="1080"/>
              <a:buFont typeface="Noto Sans Symbols"/>
              <a:buChar char="■"/>
            </a:pPr>
            <a:r>
              <a:rPr lang="en-US" sz="1800" b="0" i="0" u="none">
                <a:solidFill>
                  <a:schemeClr val="dk2"/>
                </a:solidFill>
                <a:latin typeface="Arial"/>
                <a:ea typeface="Arial"/>
                <a:cs typeface="Arial"/>
                <a:sym typeface="Arial"/>
              </a:rPr>
              <a:t>Note: The result of this query is a table of employee names and their associated departments. It is similar to a regular join result, with the exception that if an employee does  not have an associated department, the employee's name will still appear in the resulting table, although the department name would be indicated as null. </a:t>
            </a:r>
            <a:endParaRPr/>
          </a:p>
          <a:p>
            <a:pPr marL="342900" lvl="0" indent="-274320" algn="l" rtl="0">
              <a:spcBef>
                <a:spcPts val="360"/>
              </a:spcBef>
              <a:spcAft>
                <a:spcPts val="0"/>
              </a:spcAft>
              <a:buSzPts val="1080"/>
              <a:buNone/>
            </a:pPr>
            <a:endParaRPr sz="1800" b="0" i="0" u="none">
              <a:solidFill>
                <a:schemeClr val="dk2"/>
              </a:solidFill>
              <a:latin typeface="Arial"/>
              <a:ea typeface="Arial"/>
              <a:cs typeface="Arial"/>
              <a:sym typeface="Arial"/>
            </a:endParaRPr>
          </a:p>
        </p:txBody>
      </p:sp>
      <p:sp>
        <p:nvSpPr>
          <p:cNvPr id="463" name="Google Shape;463;p58"/>
          <p:cNvSpPr txBox="1"/>
          <p:nvPr/>
        </p:nvSpPr>
        <p:spPr>
          <a:xfrm>
            <a:off x="685800" y="1282700"/>
            <a:ext cx="8458200" cy="4965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2400" b="0" i="0" u="none">
              <a:solidFill>
                <a:schemeClr val="dk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5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58</a:t>
            </a:fld>
            <a:endParaRPr/>
          </a:p>
        </p:txBody>
      </p:sp>
      <p:sp>
        <p:nvSpPr>
          <p:cNvPr id="470" name="Google Shape;470;p5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Implementing Aggregate Operations and Outer Joins (4)</a:t>
            </a:r>
            <a:endParaRPr/>
          </a:p>
        </p:txBody>
      </p:sp>
      <p:sp>
        <p:nvSpPr>
          <p:cNvPr id="471" name="Google Shape;471;p5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0" lvl="0" indent="0" algn="l" rtl="0">
              <a:lnSpc>
                <a:spcPct val="100000"/>
              </a:lnSpc>
              <a:spcBef>
                <a:spcPts val="0"/>
              </a:spcBef>
              <a:spcAft>
                <a:spcPts val="0"/>
              </a:spcAft>
              <a:buSzPts val="1440"/>
              <a:buNone/>
            </a:pPr>
            <a:r>
              <a:rPr lang="en-US" sz="2400" b="0" i="0" u="none">
                <a:solidFill>
                  <a:schemeClr val="dk2"/>
                </a:solidFill>
                <a:latin typeface="Arial"/>
                <a:ea typeface="Arial"/>
                <a:cs typeface="Arial"/>
                <a:sym typeface="Arial"/>
              </a:rPr>
              <a:t>Implementing Outer Join (contd.):</a:t>
            </a:r>
            <a:endParaRPr/>
          </a:p>
          <a:p>
            <a:pPr marL="0" lvl="0" indent="-91440" algn="l" rtl="0">
              <a:lnSpc>
                <a:spcPct val="100000"/>
              </a:lnSpc>
              <a:spcBef>
                <a:spcPts val="480"/>
              </a:spcBef>
              <a:spcAft>
                <a:spcPts val="0"/>
              </a:spcAft>
              <a:buClr>
                <a:srgbClr val="990033"/>
              </a:buClr>
              <a:buSzPts val="1440"/>
              <a:buFont typeface="Noto Sans Symbols"/>
              <a:buChar char="■"/>
            </a:pPr>
            <a:r>
              <a:rPr lang="en-US" sz="2400" b="1" i="0" u="none">
                <a:solidFill>
                  <a:schemeClr val="dk2"/>
                </a:solidFill>
                <a:latin typeface="Arial"/>
                <a:ea typeface="Arial"/>
                <a:cs typeface="Arial"/>
                <a:sym typeface="Arial"/>
              </a:rPr>
              <a:t>Modifying Join Algorithms</a:t>
            </a:r>
            <a:r>
              <a:rPr lang="en-US" sz="2400" b="0" i="0" u="none">
                <a:solidFill>
                  <a:schemeClr val="dk2"/>
                </a:solidFill>
                <a:latin typeface="Arial"/>
                <a:ea typeface="Arial"/>
                <a:cs typeface="Arial"/>
                <a:sym typeface="Arial"/>
              </a:rPr>
              <a:t>:</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Nested Loop or Sort-Merge joins can be modified to implement outer join. E.g.,</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For left outer join, use the left relation as outer relation and construct result from every tuple in the left relation.</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If there is a match, the concatenated tuple is saved in the result.</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However, if an outer tuple does not match, then the tuple is still included in the result but is padded with a null value(s).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6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59</a:t>
            </a:fld>
            <a:endParaRPr/>
          </a:p>
        </p:txBody>
      </p:sp>
      <p:sp>
        <p:nvSpPr>
          <p:cNvPr id="478" name="Google Shape;478;p6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Implementing Aggregate Operations and Outer Joins (5)</a:t>
            </a:r>
            <a:endParaRPr/>
          </a:p>
        </p:txBody>
      </p:sp>
      <p:sp>
        <p:nvSpPr>
          <p:cNvPr id="479" name="Google Shape;479;p60"/>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Implementing Outer Join (contd.):</a:t>
            </a:r>
            <a:endParaRPr/>
          </a:p>
          <a:p>
            <a:pPr marL="342900" lvl="0" indent="-342900" algn="l" rtl="0">
              <a:lnSpc>
                <a:spcPct val="80000"/>
              </a:lnSpc>
              <a:spcBef>
                <a:spcPts val="40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Executing  a  combination of   relational algebra operators. </a:t>
            </a:r>
            <a:endParaRPr/>
          </a:p>
          <a:p>
            <a:pPr marL="342900" lvl="0" indent="-342900" algn="l" rtl="0">
              <a:lnSpc>
                <a:spcPct val="80000"/>
              </a:lnSpc>
              <a:spcBef>
                <a:spcPts val="40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Implement the previous left outer join example 	</a:t>
            </a:r>
            <a:endParaRPr/>
          </a:p>
          <a:p>
            <a:pPr marL="742950" lvl="1" indent="-285750" algn="l" rtl="0">
              <a:lnSpc>
                <a:spcPct val="8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{Compute the JOIN of the EMPLOYEE and DEPARTMENT tables}</a:t>
            </a:r>
            <a:endParaRPr/>
          </a:p>
          <a:p>
            <a:pPr marL="1143000" lvl="2" indent="-228600" algn="l" rtl="0">
              <a:lnSpc>
                <a:spcPct val="80000"/>
              </a:lnSpc>
              <a:spcBef>
                <a:spcPts val="400"/>
              </a:spcBef>
              <a:spcAft>
                <a:spcPts val="0"/>
              </a:spcAft>
              <a:buClr>
                <a:srgbClr val="990033"/>
              </a:buClr>
              <a:buSzPts val="900"/>
              <a:buFont typeface="Noto Sans Symbols"/>
              <a:buChar char="■"/>
            </a:pPr>
            <a:r>
              <a:rPr lang="en-US" sz="1800" b="0" i="0" u="none">
                <a:solidFill>
                  <a:schemeClr val="dk2"/>
                </a:solidFill>
                <a:latin typeface="Arial"/>
                <a:ea typeface="Arial"/>
                <a:cs typeface="Arial"/>
                <a:sym typeface="Arial"/>
              </a:rPr>
              <a:t>TEMP1←</a:t>
            </a:r>
            <a:r>
              <a:rPr lang="en-US" sz="2000" b="1" i="0" u="none">
                <a:solidFill>
                  <a:schemeClr val="dk2"/>
                </a:solidFill>
                <a:latin typeface="Noto Sans Symbols"/>
                <a:ea typeface="Noto Sans Symbols"/>
                <a:cs typeface="Noto Sans Symbols"/>
                <a:sym typeface="Noto Sans Symbols"/>
              </a:rPr>
              <a:t>π</a:t>
            </a:r>
            <a:r>
              <a:rPr lang="en-US" sz="1800" b="0" i="0" u="none" baseline="-25000">
                <a:solidFill>
                  <a:schemeClr val="dk2"/>
                </a:solidFill>
                <a:latin typeface="Arial"/>
                <a:ea typeface="Arial"/>
                <a:cs typeface="Arial"/>
                <a:sym typeface="Arial"/>
              </a:rPr>
              <a:t>FNAME,DNAME</a:t>
            </a:r>
            <a:r>
              <a:rPr lang="en-US" sz="1800" b="0" i="0" u="none">
                <a:solidFill>
                  <a:schemeClr val="dk2"/>
                </a:solidFill>
                <a:latin typeface="Arial"/>
                <a:ea typeface="Arial"/>
                <a:cs typeface="Arial"/>
                <a:sym typeface="Arial"/>
              </a:rPr>
              <a:t>(EMPLOYEE      </a:t>
            </a:r>
            <a:r>
              <a:rPr lang="en-US" sz="1800" b="0" i="0" u="none" baseline="-25000">
                <a:solidFill>
                  <a:schemeClr val="dk2"/>
                </a:solidFill>
                <a:latin typeface="Arial"/>
                <a:ea typeface="Arial"/>
                <a:cs typeface="Arial"/>
                <a:sym typeface="Arial"/>
              </a:rPr>
              <a:t>DNO=DNUMBER</a:t>
            </a:r>
            <a:r>
              <a:rPr lang="en-US" sz="1800" b="0" i="0" u="none">
                <a:solidFill>
                  <a:schemeClr val="dk2"/>
                </a:solidFill>
                <a:latin typeface="Arial"/>
                <a:ea typeface="Arial"/>
                <a:cs typeface="Arial"/>
                <a:sym typeface="Arial"/>
              </a:rPr>
              <a:t> DEPARTMENT)  </a:t>
            </a:r>
            <a:endParaRPr/>
          </a:p>
          <a:p>
            <a:pPr marL="742950" lvl="1" indent="-285750" algn="l" rtl="0">
              <a:lnSpc>
                <a:spcPct val="8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{Find the EMPLOYEEs that do not appear in the JOIN}</a:t>
            </a:r>
            <a:endParaRPr/>
          </a:p>
          <a:p>
            <a:pPr marL="1143000" lvl="2" indent="-228600" algn="l" rtl="0">
              <a:lnSpc>
                <a:spcPct val="80000"/>
              </a:lnSpc>
              <a:spcBef>
                <a:spcPts val="400"/>
              </a:spcBef>
              <a:spcAft>
                <a:spcPts val="0"/>
              </a:spcAft>
              <a:buClr>
                <a:srgbClr val="990033"/>
              </a:buClr>
              <a:buSzPts val="900"/>
              <a:buFont typeface="Noto Sans Symbols"/>
              <a:buChar char="■"/>
            </a:pPr>
            <a:r>
              <a:rPr lang="en-US" sz="1800" b="0" i="0" u="none">
                <a:solidFill>
                  <a:schemeClr val="dk2"/>
                </a:solidFill>
                <a:latin typeface="Arial"/>
                <a:ea typeface="Arial"/>
                <a:cs typeface="Arial"/>
                <a:sym typeface="Arial"/>
              </a:rPr>
              <a:t>TEMP2 ← </a:t>
            </a:r>
            <a:r>
              <a:rPr lang="en-US" sz="2000" b="1" i="0" u="none">
                <a:solidFill>
                  <a:schemeClr val="dk2"/>
                </a:solidFill>
                <a:latin typeface="Noto Sans Symbols"/>
                <a:ea typeface="Noto Sans Symbols"/>
                <a:cs typeface="Noto Sans Symbols"/>
                <a:sym typeface="Noto Sans Symbols"/>
              </a:rPr>
              <a:t>π</a:t>
            </a:r>
            <a:r>
              <a:rPr lang="en-US" sz="1800" b="0" i="0" u="none">
                <a:solidFill>
                  <a:schemeClr val="dk2"/>
                </a:solidFill>
                <a:latin typeface="Arial"/>
                <a:ea typeface="Arial"/>
                <a:cs typeface="Arial"/>
                <a:sym typeface="Arial"/>
              </a:rPr>
              <a:t> </a:t>
            </a:r>
            <a:r>
              <a:rPr lang="en-US" sz="1800" b="0" i="0" u="none" baseline="-25000">
                <a:solidFill>
                  <a:schemeClr val="dk2"/>
                </a:solidFill>
                <a:latin typeface="Arial"/>
                <a:ea typeface="Arial"/>
                <a:cs typeface="Arial"/>
                <a:sym typeface="Arial"/>
              </a:rPr>
              <a:t>FNAME</a:t>
            </a:r>
            <a:r>
              <a:rPr lang="en-US" sz="1800" b="0" i="0" u="none">
                <a:solidFill>
                  <a:schemeClr val="dk2"/>
                </a:solidFill>
                <a:latin typeface="Arial"/>
                <a:ea typeface="Arial"/>
                <a:cs typeface="Arial"/>
                <a:sym typeface="Arial"/>
              </a:rPr>
              <a:t> (EMPLOYEE)  - </a:t>
            </a:r>
            <a:r>
              <a:rPr lang="en-US" sz="2000" b="1" i="0" u="none">
                <a:solidFill>
                  <a:schemeClr val="dk2"/>
                </a:solidFill>
                <a:latin typeface="Noto Sans Symbols"/>
                <a:ea typeface="Noto Sans Symbols"/>
                <a:cs typeface="Noto Sans Symbols"/>
                <a:sym typeface="Noto Sans Symbols"/>
              </a:rPr>
              <a:t>π</a:t>
            </a:r>
            <a:r>
              <a:rPr lang="en-US" sz="1800" b="0" i="0" u="none" baseline="-25000">
                <a:solidFill>
                  <a:schemeClr val="dk2"/>
                </a:solidFill>
                <a:latin typeface="Arial"/>
                <a:ea typeface="Arial"/>
                <a:cs typeface="Arial"/>
                <a:sym typeface="Arial"/>
              </a:rPr>
              <a:t>FNAME</a:t>
            </a:r>
            <a:r>
              <a:rPr lang="en-US" sz="1800" b="0" i="0" u="none">
                <a:solidFill>
                  <a:schemeClr val="dk2"/>
                </a:solidFill>
                <a:latin typeface="Arial"/>
                <a:ea typeface="Arial"/>
                <a:cs typeface="Arial"/>
                <a:sym typeface="Arial"/>
              </a:rPr>
              <a:t> (Temp1)</a:t>
            </a:r>
            <a:endParaRPr/>
          </a:p>
          <a:p>
            <a:pPr marL="742950" lvl="1" indent="-285750" algn="l" rtl="0">
              <a:lnSpc>
                <a:spcPct val="8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{Pad each tuple in TEMP2 with a null DNAME field} 		</a:t>
            </a:r>
            <a:endParaRPr/>
          </a:p>
          <a:p>
            <a:pPr marL="1143000" lvl="2" indent="-228600" algn="l" rtl="0">
              <a:lnSpc>
                <a:spcPct val="80000"/>
              </a:lnSpc>
              <a:spcBef>
                <a:spcPts val="360"/>
              </a:spcBef>
              <a:spcAft>
                <a:spcPts val="0"/>
              </a:spcAft>
              <a:buClr>
                <a:srgbClr val="990033"/>
              </a:buClr>
              <a:buSzPts val="900"/>
              <a:buFont typeface="Noto Sans Symbols"/>
              <a:buChar char="■"/>
            </a:pPr>
            <a:r>
              <a:rPr lang="en-US" sz="1800" b="0" i="0" u="none">
                <a:solidFill>
                  <a:schemeClr val="dk2"/>
                </a:solidFill>
                <a:latin typeface="Arial"/>
                <a:ea typeface="Arial"/>
                <a:cs typeface="Arial"/>
                <a:sym typeface="Arial"/>
              </a:rPr>
              <a:t>TEMP2 ←  TEMP2  x   'null' </a:t>
            </a:r>
            <a:endParaRPr/>
          </a:p>
          <a:p>
            <a:pPr marL="742950" lvl="1" indent="-285750" algn="l" rtl="0">
              <a:lnSpc>
                <a:spcPct val="8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{UNION  the temporary tables to produce the LEFT OUTER JOIN}                </a:t>
            </a:r>
            <a:endParaRPr/>
          </a:p>
          <a:p>
            <a:pPr marL="1143000" lvl="2" indent="-228600" algn="l" rtl="0">
              <a:lnSpc>
                <a:spcPct val="80000"/>
              </a:lnSpc>
              <a:spcBef>
                <a:spcPts val="360"/>
              </a:spcBef>
              <a:spcAft>
                <a:spcPts val="0"/>
              </a:spcAft>
              <a:buClr>
                <a:srgbClr val="990033"/>
              </a:buClr>
              <a:buSzPts val="900"/>
              <a:buFont typeface="Noto Sans Symbols"/>
              <a:buChar char="■"/>
            </a:pPr>
            <a:r>
              <a:rPr lang="en-US" sz="1800" b="0" i="0" u="none">
                <a:solidFill>
                  <a:schemeClr val="dk2"/>
                </a:solidFill>
                <a:latin typeface="Arial"/>
                <a:ea typeface="Arial"/>
                <a:cs typeface="Arial"/>
                <a:sym typeface="Arial"/>
              </a:rPr>
              <a:t>RESULT  ← TEMP1 </a:t>
            </a:r>
            <a:r>
              <a:rPr lang="en-US" sz="1800" b="0" i="0" u="none">
                <a:solidFill>
                  <a:schemeClr val="dk2"/>
                </a:solidFill>
                <a:latin typeface="Merriweather Sans"/>
                <a:ea typeface="Merriweather Sans"/>
                <a:cs typeface="Merriweather Sans"/>
                <a:sym typeface="Merriweather Sans"/>
              </a:rPr>
              <a:t>υ</a:t>
            </a:r>
            <a:r>
              <a:rPr lang="en-US" sz="1800" b="0" i="0" u="none">
                <a:solidFill>
                  <a:schemeClr val="dk2"/>
                </a:solidFill>
                <a:latin typeface="Arial"/>
                <a:ea typeface="Arial"/>
                <a:cs typeface="Arial"/>
                <a:sym typeface="Arial"/>
              </a:rPr>
              <a:t>  TEMP2 </a:t>
            </a:r>
            <a:endParaRPr/>
          </a:p>
          <a:p>
            <a:pPr marL="342900" lvl="0" indent="-342900" algn="l" rtl="0">
              <a:lnSpc>
                <a:spcPct val="80000"/>
              </a:lnSpc>
              <a:spcBef>
                <a:spcPts val="40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The cost of the outer join, as computed above, would include the cost of the  associated steps (i.e., join, projections and union).</a:t>
            </a:r>
            <a:endParaRPr/>
          </a:p>
        </p:txBody>
      </p:sp>
      <p:grpSp>
        <p:nvGrpSpPr>
          <p:cNvPr id="480" name="Google Shape;480;p60"/>
          <p:cNvGrpSpPr/>
          <p:nvPr/>
        </p:nvGrpSpPr>
        <p:grpSpPr>
          <a:xfrm>
            <a:off x="5114925" y="3101975"/>
            <a:ext cx="219075" cy="174625"/>
            <a:chOff x="377" y="2904"/>
            <a:chExt cx="154" cy="110"/>
          </a:xfrm>
        </p:grpSpPr>
        <p:cxnSp>
          <p:nvCxnSpPr>
            <p:cNvPr id="481" name="Google Shape;481;p60"/>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82" name="Google Shape;482;p60"/>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483" name="Google Shape;483;p60"/>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484" name="Google Shape;484;p60"/>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6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60</a:t>
            </a:fld>
            <a:endParaRPr/>
          </a:p>
        </p:txBody>
      </p:sp>
      <p:sp>
        <p:nvSpPr>
          <p:cNvPr id="491" name="Google Shape;491;p6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6. Combining Operations using Pipelining (1)</a:t>
            </a:r>
            <a:endParaRPr/>
          </a:p>
        </p:txBody>
      </p:sp>
      <p:sp>
        <p:nvSpPr>
          <p:cNvPr id="492" name="Google Shape;492;p6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Motivation</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A query is mapped into a sequence of operations.</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Each execution of an operation produces a temporary result.</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Generating and saving temporary files on disk is time consuming and expensive. </a:t>
            </a:r>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Alternative: </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Avoid constructing temporary results as much as possible.</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Pipeline the data through multiple operations - pass the result of a previous operator to the next without waiting to complete the previous operation. </a:t>
            </a:r>
            <a:endParaRPr/>
          </a:p>
          <a:p>
            <a:pPr marL="342900" lvl="0" indent="-259080" algn="l" rtl="0">
              <a:spcBef>
                <a:spcPts val="440"/>
              </a:spcBef>
              <a:spcAft>
                <a:spcPts val="0"/>
              </a:spcAft>
              <a:buSzPts val="1320"/>
              <a:buNone/>
            </a:pPr>
            <a:endParaRPr sz="2200" b="0" i="0" u="none">
              <a:solidFill>
                <a:srgbClr val="8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6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61</a:t>
            </a:fld>
            <a:endParaRPr/>
          </a:p>
        </p:txBody>
      </p:sp>
      <p:sp>
        <p:nvSpPr>
          <p:cNvPr id="499" name="Google Shape;499;p6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Combining Operations using Pipelining (2)</a:t>
            </a:r>
            <a:endParaRPr/>
          </a:p>
        </p:txBody>
      </p:sp>
      <p:sp>
        <p:nvSpPr>
          <p:cNvPr id="500" name="Google Shape;500;p62"/>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Example:</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For a 2-way join, combine the 2 selections on the input and one projection on the output with the Join. </a:t>
            </a:r>
            <a:endParaRPr/>
          </a:p>
          <a:p>
            <a:pPr marL="34290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Dynamic generation of code to allow for multiple operations to be pipelined.</a:t>
            </a:r>
            <a:endParaRPr/>
          </a:p>
          <a:p>
            <a:pPr marL="34290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Results of a select operation are fed in a "Pipeline" to the join algorithm.  </a:t>
            </a:r>
            <a:endParaRPr/>
          </a:p>
          <a:p>
            <a:pPr marL="34290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Also known as stream-based processing.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6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62</a:t>
            </a:fld>
            <a:endParaRPr/>
          </a:p>
        </p:txBody>
      </p:sp>
      <p:sp>
        <p:nvSpPr>
          <p:cNvPr id="507" name="Google Shape;507;p6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7. Using Heuristics in Query Optimization(1)</a:t>
            </a:r>
            <a:endParaRPr/>
          </a:p>
        </p:txBody>
      </p:sp>
      <p:sp>
        <p:nvSpPr>
          <p:cNvPr id="508" name="Google Shape;508;p6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457200" lvl="0" indent="-457200" algn="l" rtl="0">
              <a:lnSpc>
                <a:spcPct val="9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Process for heuristics optimization</a:t>
            </a:r>
            <a:endParaRPr/>
          </a:p>
          <a:p>
            <a:pPr marL="876300" lvl="1" indent="-419100" algn="l" rtl="0">
              <a:lnSpc>
                <a:spcPct val="90000"/>
              </a:lnSpc>
              <a:spcBef>
                <a:spcPts val="440"/>
              </a:spcBef>
              <a:spcAft>
                <a:spcPts val="0"/>
              </a:spcAft>
              <a:buClr>
                <a:schemeClr val="dk2"/>
              </a:buClr>
              <a:buSzPts val="1210"/>
              <a:buFont typeface="Noto Sans Symbols"/>
              <a:buAutoNum type="arabicPeriod"/>
            </a:pPr>
            <a:r>
              <a:rPr lang="en-US" sz="2200" b="0" i="0" u="none">
                <a:solidFill>
                  <a:srgbClr val="800000"/>
                </a:solidFill>
                <a:latin typeface="Arial"/>
                <a:ea typeface="Arial"/>
                <a:cs typeface="Arial"/>
                <a:sym typeface="Arial"/>
              </a:rPr>
              <a:t>The parser of a high-level query generates an initial internal representation;</a:t>
            </a:r>
            <a:endParaRPr/>
          </a:p>
          <a:p>
            <a:pPr marL="876300" lvl="1" indent="-419100" algn="l" rtl="0">
              <a:lnSpc>
                <a:spcPct val="90000"/>
              </a:lnSpc>
              <a:spcBef>
                <a:spcPts val="440"/>
              </a:spcBef>
              <a:spcAft>
                <a:spcPts val="0"/>
              </a:spcAft>
              <a:buClr>
                <a:schemeClr val="dk2"/>
              </a:buClr>
              <a:buSzPts val="1210"/>
              <a:buFont typeface="Noto Sans Symbols"/>
              <a:buAutoNum type="arabicPeriod"/>
            </a:pPr>
            <a:r>
              <a:rPr lang="en-US" sz="2200" b="0" i="0" u="none">
                <a:solidFill>
                  <a:srgbClr val="800000"/>
                </a:solidFill>
                <a:latin typeface="Arial"/>
                <a:ea typeface="Arial"/>
                <a:cs typeface="Arial"/>
                <a:sym typeface="Arial"/>
              </a:rPr>
              <a:t>Apply heuristics rules to optimize the internal representation.</a:t>
            </a:r>
            <a:endParaRPr/>
          </a:p>
          <a:p>
            <a:pPr marL="876300" lvl="1" indent="-419100" algn="l" rtl="0">
              <a:lnSpc>
                <a:spcPct val="90000"/>
              </a:lnSpc>
              <a:spcBef>
                <a:spcPts val="440"/>
              </a:spcBef>
              <a:spcAft>
                <a:spcPts val="0"/>
              </a:spcAft>
              <a:buClr>
                <a:schemeClr val="dk2"/>
              </a:buClr>
              <a:buSzPts val="1210"/>
              <a:buFont typeface="Noto Sans Symbols"/>
              <a:buAutoNum type="arabicPeriod"/>
            </a:pPr>
            <a:r>
              <a:rPr lang="en-US" sz="2200" b="0" i="0" u="none">
                <a:solidFill>
                  <a:srgbClr val="800000"/>
                </a:solidFill>
                <a:latin typeface="Arial"/>
                <a:ea typeface="Arial"/>
                <a:cs typeface="Arial"/>
                <a:sym typeface="Arial"/>
              </a:rPr>
              <a:t>A query execution plan is generated to execute groups of operations based on the access paths available on the files involved in the query.</a:t>
            </a:r>
            <a:endParaRPr/>
          </a:p>
          <a:p>
            <a:pPr marL="457200" lvl="0" indent="-365760" algn="l" rtl="0">
              <a:lnSpc>
                <a:spcPct val="90000"/>
              </a:lnSpc>
              <a:spcBef>
                <a:spcPts val="480"/>
              </a:spcBef>
              <a:spcAft>
                <a:spcPts val="0"/>
              </a:spcAft>
              <a:buClr>
                <a:srgbClr val="990033"/>
              </a:buClr>
              <a:buSzPts val="1440"/>
              <a:buFont typeface="Noto Sans Symbols"/>
              <a:buNone/>
            </a:pPr>
            <a:endParaRPr sz="2400" b="0" i="0" u="none">
              <a:solidFill>
                <a:schemeClr val="dk2"/>
              </a:solidFill>
              <a:latin typeface="Arial"/>
              <a:ea typeface="Arial"/>
              <a:cs typeface="Arial"/>
              <a:sym typeface="Arial"/>
            </a:endParaRPr>
          </a:p>
          <a:p>
            <a:pPr marL="457200" lvl="0" indent="-457200" algn="l" rtl="0">
              <a:lnSpc>
                <a:spcPct val="9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The main heuristic is to apply first the operations that reduce the size of intermediate results. </a:t>
            </a:r>
            <a:endParaRPr/>
          </a:p>
          <a:p>
            <a:pPr marL="876300" lvl="1" indent="-41910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E.g., Apply  SELECT and PROJECT operations before applying the JOIN or other binary operations.</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6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63</a:t>
            </a:fld>
            <a:endParaRPr/>
          </a:p>
        </p:txBody>
      </p:sp>
      <p:sp>
        <p:nvSpPr>
          <p:cNvPr id="515" name="Google Shape;515;p6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(2)</a:t>
            </a:r>
            <a:endParaRPr/>
          </a:p>
        </p:txBody>
      </p:sp>
      <p:sp>
        <p:nvSpPr>
          <p:cNvPr id="516" name="Google Shape;516;p64"/>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1" i="0" u="none">
                <a:solidFill>
                  <a:schemeClr val="dk2"/>
                </a:solidFill>
                <a:latin typeface="Arial"/>
                <a:ea typeface="Arial"/>
                <a:cs typeface="Arial"/>
                <a:sym typeface="Arial"/>
              </a:rPr>
              <a:t>Query tree</a:t>
            </a:r>
            <a:r>
              <a:rPr lang="en-US" sz="2400" b="0" i="0" u="none">
                <a:solidFill>
                  <a:schemeClr val="dk2"/>
                </a:solidFill>
                <a:latin typeface="Arial"/>
                <a:ea typeface="Arial"/>
                <a:cs typeface="Arial"/>
                <a:sym typeface="Arial"/>
              </a:rPr>
              <a:t>:</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A tree data structure that corresponds to a relational algebra expression. It represents the input relations of the query as </a:t>
            </a:r>
            <a:r>
              <a:rPr lang="en-US" sz="2200" b="1" i="0" u="none">
                <a:solidFill>
                  <a:srgbClr val="800000"/>
                </a:solidFill>
                <a:latin typeface="Arial"/>
                <a:ea typeface="Arial"/>
                <a:cs typeface="Arial"/>
                <a:sym typeface="Arial"/>
              </a:rPr>
              <a:t>leaf nodes</a:t>
            </a:r>
            <a:r>
              <a:rPr lang="en-US" sz="2200" b="0" i="0" u="none">
                <a:solidFill>
                  <a:srgbClr val="800000"/>
                </a:solidFill>
                <a:latin typeface="Arial"/>
                <a:ea typeface="Arial"/>
                <a:cs typeface="Arial"/>
                <a:sym typeface="Arial"/>
              </a:rPr>
              <a:t> of the </a:t>
            </a:r>
            <a:r>
              <a:rPr lang="en-US" sz="2200" b="1" i="0" u="none">
                <a:solidFill>
                  <a:srgbClr val="800000"/>
                </a:solidFill>
                <a:latin typeface="Arial"/>
                <a:ea typeface="Arial"/>
                <a:cs typeface="Arial"/>
                <a:sym typeface="Arial"/>
              </a:rPr>
              <a:t>tree</a:t>
            </a:r>
            <a:r>
              <a:rPr lang="en-US" sz="2200" b="0" i="0" u="none">
                <a:solidFill>
                  <a:srgbClr val="800000"/>
                </a:solidFill>
                <a:latin typeface="Arial"/>
                <a:ea typeface="Arial"/>
                <a:cs typeface="Arial"/>
                <a:sym typeface="Arial"/>
              </a:rPr>
              <a:t>, and represents the relational algebra operations as internal nodes.  </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An execution of the query tree consists of executing an internal node operation whenever its operands are available and then replacing that internal node by the relation that results from executing the operation.</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1" i="0" u="none">
                <a:solidFill>
                  <a:schemeClr val="dk2"/>
                </a:solidFill>
                <a:latin typeface="Arial"/>
                <a:ea typeface="Arial"/>
                <a:cs typeface="Arial"/>
                <a:sym typeface="Arial"/>
              </a:rPr>
              <a:t>Query graph</a:t>
            </a:r>
            <a:r>
              <a:rPr lang="en-US" sz="2400" b="0" i="0" u="none">
                <a:solidFill>
                  <a:schemeClr val="dk2"/>
                </a:solidFill>
                <a:latin typeface="Arial"/>
                <a:ea typeface="Arial"/>
                <a:cs typeface="Arial"/>
                <a:sym typeface="Arial"/>
              </a:rPr>
              <a:t>:</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A graph data structure that corresponds to a relational calculus expression. It does </a:t>
            </a:r>
            <a:r>
              <a:rPr lang="en-US" sz="2200" b="0" i="1" u="none">
                <a:solidFill>
                  <a:srgbClr val="800000"/>
                </a:solidFill>
                <a:latin typeface="Arial"/>
                <a:ea typeface="Arial"/>
                <a:cs typeface="Arial"/>
                <a:sym typeface="Arial"/>
              </a:rPr>
              <a:t>not</a:t>
            </a:r>
            <a:r>
              <a:rPr lang="en-US" sz="2200" b="0" i="0" u="none">
                <a:solidFill>
                  <a:srgbClr val="800000"/>
                </a:solidFill>
                <a:latin typeface="Arial"/>
                <a:ea typeface="Arial"/>
                <a:cs typeface="Arial"/>
                <a:sym typeface="Arial"/>
              </a:rPr>
              <a:t> indicate an order on which operations to perform first. There is only a </a:t>
            </a:r>
            <a:r>
              <a:rPr lang="en-US" sz="2200" b="0" i="1" u="none">
                <a:solidFill>
                  <a:srgbClr val="800000"/>
                </a:solidFill>
                <a:latin typeface="Arial"/>
                <a:ea typeface="Arial"/>
                <a:cs typeface="Arial"/>
                <a:sym typeface="Arial"/>
              </a:rPr>
              <a:t>single</a:t>
            </a:r>
            <a:r>
              <a:rPr lang="en-US" sz="2200" b="0" i="0" u="none">
                <a:solidFill>
                  <a:srgbClr val="800000"/>
                </a:solidFill>
                <a:latin typeface="Arial"/>
                <a:ea typeface="Arial"/>
                <a:cs typeface="Arial"/>
                <a:sym typeface="Arial"/>
              </a:rPr>
              <a:t> graph corresponding to each query.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6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3600">
              <a:solidFill>
                <a:srgbClr val="800000"/>
              </a:solidFill>
              <a:latin typeface="Arial"/>
              <a:ea typeface="Arial"/>
              <a:cs typeface="Arial"/>
              <a:sym typeface="Arial"/>
            </a:endParaRPr>
          </a:p>
        </p:txBody>
      </p:sp>
      <p:sp>
        <p:nvSpPr>
          <p:cNvPr id="522" name="Google Shape;522;p65"/>
          <p:cNvSpPr txBox="1">
            <a:spLocks noGrp="1"/>
          </p:cNvSpPr>
          <p:nvPr>
            <p:ph type="body" idx="1"/>
          </p:nvPr>
        </p:nvSpPr>
        <p:spPr>
          <a:xfrm>
            <a:off x="239712" y="1600200"/>
            <a:ext cx="8904287" cy="4572000"/>
          </a:xfrm>
          <a:prstGeom prst="rect">
            <a:avLst/>
          </a:prstGeom>
          <a:noFill/>
          <a:ln>
            <a:noFill/>
          </a:ln>
        </p:spPr>
        <p:txBody>
          <a:bodyPr spcFirstLastPara="1" wrap="square" lIns="91425" tIns="45700" rIns="0" bIns="45700" anchor="t" anchorCtr="0">
            <a:noAutofit/>
          </a:bodyPr>
          <a:lstStyle/>
          <a:p>
            <a:pPr marL="342900" marR="0" lvl="0" indent="-342900" algn="l" rtl="0">
              <a:lnSpc>
                <a:spcPct val="10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Emp-</a:t>
            </a:r>
            <a:endParaRPr/>
          </a:p>
          <a:p>
            <a:pPr marL="342900" marR="0" lvl="0" indent="-342900" algn="l" rtl="0">
              <a:lnSpc>
                <a:spcPct val="100000"/>
              </a:lnSpc>
              <a:spcBef>
                <a:spcPts val="560"/>
              </a:spcBef>
              <a:spcAft>
                <a:spcPts val="0"/>
              </a:spcAft>
              <a:buClr>
                <a:srgbClr val="990033"/>
              </a:buClr>
              <a:buSzPts val="1680"/>
              <a:buFont typeface="Noto Sans Symbols"/>
              <a:buNone/>
            </a:pPr>
            <a:r>
              <a:rPr lang="en-US" sz="2800" b="0" i="0" u="none">
                <a:solidFill>
                  <a:schemeClr val="dk2"/>
                </a:solidFill>
                <a:latin typeface="Arial"/>
                <a:ea typeface="Arial"/>
                <a:cs typeface="Arial"/>
                <a:sym typeface="Arial"/>
              </a:rPr>
              <a:t> ( FNAME, LNAME, SSN, BDATE, ADDRESS,CITY, SUPERVISOR-SSN)</a:t>
            </a:r>
            <a:endParaRPr/>
          </a:p>
          <a:p>
            <a:pPr marL="342900" marR="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DEPT</a:t>
            </a:r>
            <a:endParaRPr/>
          </a:p>
          <a:p>
            <a:pPr marL="342900" marR="0" lvl="0" indent="-342900" algn="l" rtl="0">
              <a:lnSpc>
                <a:spcPct val="100000"/>
              </a:lnSpc>
              <a:spcBef>
                <a:spcPts val="560"/>
              </a:spcBef>
              <a:spcAft>
                <a:spcPts val="0"/>
              </a:spcAft>
              <a:buClr>
                <a:srgbClr val="990033"/>
              </a:buClr>
              <a:buSzPts val="1680"/>
              <a:buFont typeface="Noto Sans Symbols"/>
              <a:buNone/>
            </a:pPr>
            <a:r>
              <a:rPr lang="en-US" sz="2800" b="0" i="0" u="none">
                <a:solidFill>
                  <a:schemeClr val="dk2"/>
                </a:solidFill>
                <a:latin typeface="Arial"/>
                <a:ea typeface="Arial"/>
                <a:cs typeface="Arial"/>
                <a:sym typeface="Arial"/>
              </a:rPr>
              <a:t>-(DNAME, DNUMBER, MGR-SSN, START-DATE)</a:t>
            </a:r>
            <a:endParaRPr/>
          </a:p>
          <a:p>
            <a:pPr marL="342900" marR="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WORKS- ON(ESSN,PNO,HOURS)</a:t>
            </a:r>
            <a:endParaRPr/>
          </a:p>
          <a:p>
            <a:pPr marL="342900" marR="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PROJECT</a:t>
            </a:r>
            <a:endParaRPr/>
          </a:p>
          <a:p>
            <a:pPr marL="342900" marR="0" lvl="0" indent="-342900" algn="l" rtl="0">
              <a:lnSpc>
                <a:spcPct val="100000"/>
              </a:lnSpc>
              <a:spcBef>
                <a:spcPts val="560"/>
              </a:spcBef>
              <a:spcAft>
                <a:spcPts val="0"/>
              </a:spcAft>
              <a:buClr>
                <a:srgbClr val="990033"/>
              </a:buClr>
              <a:buSzPts val="1680"/>
              <a:buFont typeface="Noto Sans Symbols"/>
              <a:buNone/>
            </a:pPr>
            <a:r>
              <a:rPr lang="en-US" sz="2800" b="0" i="0" u="none">
                <a:solidFill>
                  <a:schemeClr val="dk2"/>
                </a:solidFill>
                <a:latin typeface="Arial"/>
                <a:ea typeface="Arial"/>
                <a:cs typeface="Arial"/>
                <a:sym typeface="Arial"/>
              </a:rPr>
              <a:t>  (PNAME, PNUMBER,PLOCATION,DNUM)</a:t>
            </a:r>
            <a:endParaRPr/>
          </a:p>
          <a:p>
            <a:pPr marL="342900" marR="0" lvl="0" indent="-236220" algn="l" rtl="0">
              <a:spcBef>
                <a:spcPts val="560"/>
              </a:spcBef>
              <a:spcAft>
                <a:spcPts val="0"/>
              </a:spcAft>
              <a:buClr>
                <a:srgbClr val="990033"/>
              </a:buClr>
              <a:buSzPts val="1680"/>
              <a:buFont typeface="Noto Sans Symbols"/>
              <a:buNone/>
            </a:pPr>
            <a:endParaRPr sz="2800" b="0" i="0" u="none">
              <a:solidFill>
                <a:schemeClr val="dk2"/>
              </a:solidFill>
              <a:latin typeface="Arial"/>
              <a:ea typeface="Arial"/>
              <a:cs typeface="Arial"/>
              <a:sym typeface="Arial"/>
            </a:endParaRPr>
          </a:p>
        </p:txBody>
      </p:sp>
      <p:sp>
        <p:nvSpPr>
          <p:cNvPr id="523" name="Google Shape;523;p6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6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65</a:t>
            </a:fld>
            <a:endParaRPr/>
          </a:p>
        </p:txBody>
      </p:sp>
      <p:sp>
        <p:nvSpPr>
          <p:cNvPr id="530" name="Google Shape;530;p6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(3)</a:t>
            </a:r>
            <a:endParaRPr/>
          </a:p>
        </p:txBody>
      </p:sp>
      <p:sp>
        <p:nvSpPr>
          <p:cNvPr id="531" name="Google Shape;531;p66"/>
          <p:cNvSpPr txBox="1">
            <a:spLocks noGrp="1"/>
          </p:cNvSpPr>
          <p:nvPr>
            <p:ph type="body" idx="1"/>
          </p:nvPr>
        </p:nvSpPr>
        <p:spPr>
          <a:xfrm>
            <a:off x="0" y="1447800"/>
            <a:ext cx="9144000" cy="51054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Example:</a:t>
            </a:r>
            <a:endParaRPr/>
          </a:p>
          <a:p>
            <a:pPr marL="742950" lvl="1" indent="-285750" algn="l" rtl="0">
              <a:lnSpc>
                <a:spcPct val="8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For every project located in ‘Stafford’, retrieve the project number, the controlling department number and the department manager’s last name, address and birthdate.</a:t>
            </a:r>
            <a:endParaRPr/>
          </a:p>
          <a:p>
            <a:pPr marL="342900" lvl="0" indent="-266700" algn="l" rtl="0">
              <a:lnSpc>
                <a:spcPct val="80000"/>
              </a:lnSpc>
              <a:spcBef>
                <a:spcPts val="400"/>
              </a:spcBef>
              <a:spcAft>
                <a:spcPts val="0"/>
              </a:spcAft>
              <a:buClr>
                <a:srgbClr val="990033"/>
              </a:buClr>
              <a:buSzPts val="1200"/>
              <a:buFont typeface="Noto Sans Symbols"/>
              <a:buNone/>
            </a:pPr>
            <a:endParaRPr sz="2000" b="0" i="0" u="none">
              <a:solidFill>
                <a:schemeClr val="dk2"/>
              </a:solidFill>
              <a:latin typeface="Arial"/>
              <a:ea typeface="Arial"/>
              <a:cs typeface="Arial"/>
              <a:sym typeface="Arial"/>
            </a:endParaRPr>
          </a:p>
          <a:p>
            <a:pPr marL="342900" lvl="0" indent="-342900" algn="l" rtl="0">
              <a:lnSpc>
                <a:spcPct val="80000"/>
              </a:lnSpc>
              <a:spcBef>
                <a:spcPts val="40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SQL query:</a:t>
            </a:r>
            <a:endParaRPr/>
          </a:p>
          <a:p>
            <a:pPr marL="742950" lvl="1" indent="-285750" algn="l" rtl="0">
              <a:lnSpc>
                <a:spcPct val="150000"/>
              </a:lnSpc>
              <a:spcBef>
                <a:spcPts val="400"/>
              </a:spcBef>
              <a:spcAft>
                <a:spcPts val="0"/>
              </a:spcAft>
              <a:buSzPts val="1100"/>
              <a:buNone/>
            </a:pPr>
            <a:r>
              <a:rPr lang="en-US" sz="2000" b="1" i="0" u="none">
                <a:solidFill>
                  <a:srgbClr val="800000"/>
                </a:solidFill>
                <a:latin typeface="Times New Roman"/>
                <a:ea typeface="Times New Roman"/>
                <a:cs typeface="Times New Roman"/>
                <a:sym typeface="Times New Roman"/>
              </a:rPr>
              <a:t>Q2: 	SELECT  	P.NUMBER,P.DNUM,E.LNAME,</a:t>
            </a:r>
            <a:br>
              <a:rPr lang="en-US" sz="2000" b="1" i="0" u="none">
                <a:solidFill>
                  <a:srgbClr val="800000"/>
                </a:solidFill>
                <a:latin typeface="Times New Roman"/>
                <a:ea typeface="Times New Roman"/>
                <a:cs typeface="Times New Roman"/>
                <a:sym typeface="Times New Roman"/>
              </a:rPr>
            </a:br>
            <a:r>
              <a:rPr lang="en-US" sz="2000" b="1" i="0" u="none">
                <a:solidFill>
                  <a:srgbClr val="800000"/>
                </a:solidFill>
                <a:latin typeface="Times New Roman"/>
                <a:ea typeface="Times New Roman"/>
                <a:cs typeface="Times New Roman"/>
                <a:sym typeface="Times New Roman"/>
              </a:rPr>
              <a:t>				E.ADDRESS, E.BDATE</a:t>
            </a:r>
            <a:endParaRPr/>
          </a:p>
          <a:p>
            <a:pPr marL="742950" lvl="1" indent="-285750" algn="l" rtl="0">
              <a:lnSpc>
                <a:spcPct val="150000"/>
              </a:lnSpc>
              <a:spcBef>
                <a:spcPts val="400"/>
              </a:spcBef>
              <a:spcAft>
                <a:spcPts val="0"/>
              </a:spcAft>
              <a:buSzPts val="1100"/>
              <a:buNone/>
            </a:pPr>
            <a:r>
              <a:rPr lang="en-US" sz="2000" b="1" i="0" u="none">
                <a:solidFill>
                  <a:srgbClr val="800000"/>
                </a:solidFill>
                <a:latin typeface="Times New Roman"/>
                <a:ea typeface="Times New Roman"/>
                <a:cs typeface="Times New Roman"/>
                <a:sym typeface="Times New Roman"/>
              </a:rPr>
              <a:t>			FROM		PROJECT AS P,DEPARTMENT AS D, 					EMPLOYEE AS E</a:t>
            </a:r>
            <a:endParaRPr/>
          </a:p>
          <a:p>
            <a:pPr marL="742950" lvl="1" indent="-285750" algn="l" rtl="0">
              <a:lnSpc>
                <a:spcPct val="150000"/>
              </a:lnSpc>
              <a:spcBef>
                <a:spcPts val="400"/>
              </a:spcBef>
              <a:spcAft>
                <a:spcPts val="0"/>
              </a:spcAft>
              <a:buSzPts val="1100"/>
              <a:buNone/>
            </a:pPr>
            <a:r>
              <a:rPr lang="en-US" sz="2000" b="1" i="0" u="none">
                <a:solidFill>
                  <a:srgbClr val="800000"/>
                </a:solidFill>
                <a:latin typeface="Times New Roman"/>
                <a:ea typeface="Times New Roman"/>
                <a:cs typeface="Times New Roman"/>
                <a:sym typeface="Times New Roman"/>
              </a:rPr>
              <a:t>			WHERE  	P.DNUM=D.DNUMBER AND 						D.MGRSSN=E.SSN AND	</a:t>
            </a:r>
            <a:endParaRPr/>
          </a:p>
          <a:p>
            <a:pPr marL="742950" lvl="1" indent="-285750" algn="l" rtl="0">
              <a:lnSpc>
                <a:spcPct val="150000"/>
              </a:lnSpc>
              <a:spcBef>
                <a:spcPts val="400"/>
              </a:spcBef>
              <a:spcAft>
                <a:spcPts val="0"/>
              </a:spcAft>
              <a:buSzPts val="1100"/>
              <a:buNone/>
            </a:pPr>
            <a:r>
              <a:rPr lang="en-US" sz="2000" b="1" i="0" u="none">
                <a:solidFill>
                  <a:srgbClr val="800000"/>
                </a:solidFill>
                <a:latin typeface="Times New Roman"/>
                <a:ea typeface="Times New Roman"/>
                <a:cs typeface="Times New Roman"/>
                <a:sym typeface="Times New Roman"/>
              </a:rPr>
              <a:t>					P.PLOCATION=‘STAFFORD’;</a:t>
            </a:r>
            <a:endParaRPr/>
          </a:p>
        </p:txBody>
      </p:sp>
      <p:grpSp>
        <p:nvGrpSpPr>
          <p:cNvPr id="532" name="Google Shape;532;p66"/>
          <p:cNvGrpSpPr/>
          <p:nvPr/>
        </p:nvGrpSpPr>
        <p:grpSpPr>
          <a:xfrm>
            <a:off x="1000125" y="3406775"/>
            <a:ext cx="219075" cy="174625"/>
            <a:chOff x="377" y="2904"/>
            <a:chExt cx="154" cy="110"/>
          </a:xfrm>
        </p:grpSpPr>
        <p:cxnSp>
          <p:nvCxnSpPr>
            <p:cNvPr id="533" name="Google Shape;533;p66"/>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534" name="Google Shape;534;p66"/>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535" name="Google Shape;535;p66"/>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536" name="Google Shape;536;p66"/>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68"/>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3600">
              <a:solidFill>
                <a:srgbClr val="800000"/>
              </a:solidFill>
              <a:latin typeface="Arial"/>
              <a:ea typeface="Arial"/>
              <a:cs typeface="Arial"/>
              <a:sym typeface="Arial"/>
            </a:endParaRPr>
          </a:p>
        </p:txBody>
      </p:sp>
      <p:sp>
        <p:nvSpPr>
          <p:cNvPr id="549" name="Google Shape;549;p68"/>
          <p:cNvSpPr txBox="1">
            <a:spLocks noGrp="1"/>
          </p:cNvSpPr>
          <p:nvPr>
            <p:ph type="body" idx="1"/>
          </p:nvPr>
        </p:nvSpPr>
        <p:spPr>
          <a:xfrm>
            <a:off x="239712" y="1600200"/>
            <a:ext cx="8828087" cy="4572000"/>
          </a:xfrm>
          <a:prstGeom prst="rect">
            <a:avLst/>
          </a:prstGeom>
          <a:noFill/>
          <a:ln>
            <a:noFill/>
          </a:ln>
        </p:spPr>
        <p:txBody>
          <a:bodyPr spcFirstLastPara="1" wrap="square" lIns="91425" tIns="45700" rIns="0" bIns="45700" anchor="t" anchorCtr="0">
            <a:noAutofit/>
          </a:bodyPr>
          <a:lstStyle/>
          <a:p>
            <a:pPr marL="342900" marR="0" lvl="0" indent="-342900" algn="l" rtl="0">
              <a:lnSpc>
                <a:spcPct val="80000"/>
              </a:lnSpc>
              <a:spcBef>
                <a:spcPts val="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Relation algebra:</a:t>
            </a:r>
            <a:endParaRPr/>
          </a:p>
          <a:p>
            <a:pPr marL="742950" marR="0" lvl="1" indent="-285750" algn="l" rtl="0">
              <a:lnSpc>
                <a:spcPct val="80000"/>
              </a:lnSpc>
              <a:spcBef>
                <a:spcPts val="560"/>
              </a:spcBef>
              <a:spcAft>
                <a:spcPts val="0"/>
              </a:spcAft>
              <a:buClr>
                <a:schemeClr val="dk2"/>
              </a:buClr>
              <a:buSzPts val="1540"/>
              <a:buFont typeface="Noto Sans Symbols"/>
              <a:buNone/>
            </a:pPr>
            <a:r>
              <a:rPr lang="en-US" sz="2800" b="0" i="0" u="none" strike="noStrike" cap="none">
                <a:solidFill>
                  <a:srgbClr val="800000"/>
                </a:solidFill>
                <a:latin typeface="Times New Roman"/>
                <a:ea typeface="Times New Roman"/>
                <a:cs typeface="Times New Roman"/>
                <a:sym typeface="Times New Roman"/>
              </a:rPr>
              <a:t></a:t>
            </a:r>
            <a:r>
              <a:rPr lang="en-US" sz="2400" b="0" i="0" u="none" strike="noStrike" cap="none" baseline="-25000">
                <a:solidFill>
                  <a:srgbClr val="800000"/>
                </a:solidFill>
                <a:latin typeface="Times New Roman"/>
                <a:ea typeface="Times New Roman"/>
                <a:cs typeface="Times New Roman"/>
                <a:sym typeface="Times New Roman"/>
              </a:rPr>
              <a:t>PNUMBER, DNUM, LNAME, ADDRESS, BDATE</a:t>
            </a:r>
            <a:endParaRPr/>
          </a:p>
          <a:p>
            <a:pPr marL="742950" marR="0" lvl="1" indent="-285750" algn="l" rtl="0">
              <a:lnSpc>
                <a:spcPct val="80000"/>
              </a:lnSpc>
              <a:spcBef>
                <a:spcPts val="480"/>
              </a:spcBef>
              <a:spcAft>
                <a:spcPts val="0"/>
              </a:spcAft>
              <a:buClr>
                <a:schemeClr val="dk2"/>
              </a:buClr>
              <a:buSzPts val="1320"/>
              <a:buFont typeface="Noto Sans Symbols"/>
              <a:buNone/>
            </a:pPr>
            <a:r>
              <a:rPr lang="en-US" sz="2400" b="0" i="0" u="none" strike="noStrike" cap="none">
                <a:solidFill>
                  <a:srgbClr val="800000"/>
                </a:solidFill>
                <a:latin typeface="Times New Roman"/>
                <a:ea typeface="Times New Roman"/>
                <a:cs typeface="Times New Roman"/>
                <a:sym typeface="Times New Roman"/>
              </a:rPr>
              <a:t>(((</a:t>
            </a:r>
            <a:r>
              <a:rPr lang="en-US" sz="2400" b="0" i="0" u="none" strike="noStrike" cap="none" baseline="-25000">
                <a:solidFill>
                  <a:srgbClr val="800000"/>
                </a:solidFill>
                <a:latin typeface="Times New Roman"/>
                <a:ea typeface="Times New Roman"/>
                <a:cs typeface="Times New Roman"/>
                <a:sym typeface="Times New Roman"/>
              </a:rPr>
              <a:t>PLOCATION=‘STAFFORD’</a:t>
            </a:r>
            <a:r>
              <a:rPr lang="en-US" sz="2400" b="0" i="0" u="none" strike="noStrike" cap="none">
                <a:solidFill>
                  <a:srgbClr val="800000"/>
                </a:solidFill>
                <a:latin typeface="Times New Roman"/>
                <a:ea typeface="Times New Roman"/>
                <a:cs typeface="Times New Roman"/>
                <a:sym typeface="Times New Roman"/>
              </a:rPr>
              <a:t>(PROJECT))</a:t>
            </a:r>
            <a:br>
              <a:rPr lang="en-US" sz="2400" b="0" i="0" u="none" strike="noStrike" cap="none">
                <a:solidFill>
                  <a:srgbClr val="800000"/>
                </a:solidFill>
                <a:latin typeface="Times New Roman"/>
                <a:ea typeface="Times New Roman"/>
                <a:cs typeface="Times New Roman"/>
                <a:sym typeface="Times New Roman"/>
              </a:rPr>
            </a:br>
            <a:r>
              <a:rPr lang="en-US" sz="2400" b="0" i="0" u="none" strike="noStrike" cap="none">
                <a:solidFill>
                  <a:srgbClr val="800000"/>
                </a:solidFill>
                <a:latin typeface="Times New Roman"/>
                <a:ea typeface="Times New Roman"/>
                <a:cs typeface="Times New Roman"/>
                <a:sym typeface="Times New Roman"/>
              </a:rPr>
              <a:t>	</a:t>
            </a:r>
            <a:endParaRPr/>
          </a:p>
          <a:p>
            <a:pPr marL="742950" marR="0" lvl="1" indent="-285750" algn="l" rtl="0">
              <a:lnSpc>
                <a:spcPct val="80000"/>
              </a:lnSpc>
              <a:spcBef>
                <a:spcPts val="480"/>
              </a:spcBef>
              <a:spcAft>
                <a:spcPts val="0"/>
              </a:spcAft>
              <a:buClr>
                <a:schemeClr val="dk2"/>
              </a:buClr>
              <a:buSzPts val="1320"/>
              <a:buFont typeface="Noto Sans Symbols"/>
              <a:buNone/>
            </a:pPr>
            <a:r>
              <a:rPr lang="en-US" sz="2400" b="0" i="0" u="none" strike="noStrike" cap="none" baseline="-25000">
                <a:solidFill>
                  <a:srgbClr val="800000"/>
                </a:solidFill>
                <a:latin typeface="Times New Roman"/>
                <a:ea typeface="Times New Roman"/>
                <a:cs typeface="Times New Roman"/>
                <a:sym typeface="Times New Roman"/>
              </a:rPr>
              <a:t>DNUM=DNUMBER</a:t>
            </a:r>
            <a:r>
              <a:rPr lang="en-US" sz="2400" b="0" i="0" u="none" strike="noStrike" cap="none">
                <a:solidFill>
                  <a:srgbClr val="800000"/>
                </a:solidFill>
                <a:latin typeface="Times New Roman"/>
                <a:ea typeface="Times New Roman"/>
                <a:cs typeface="Times New Roman"/>
                <a:sym typeface="Times New Roman"/>
              </a:rPr>
              <a:t> (DEPARTMENT))    </a:t>
            </a:r>
            <a:r>
              <a:rPr lang="en-US" sz="2400" b="0" i="0" u="none" strike="noStrike" cap="none" baseline="-25000">
                <a:solidFill>
                  <a:srgbClr val="800000"/>
                </a:solidFill>
                <a:latin typeface="Times New Roman"/>
                <a:ea typeface="Times New Roman"/>
                <a:cs typeface="Times New Roman"/>
                <a:sym typeface="Times New Roman"/>
              </a:rPr>
              <a:t>  MGRSSN=SSN</a:t>
            </a:r>
            <a:r>
              <a:rPr lang="en-US" sz="2400" b="0" i="0" u="none" strike="noStrike" cap="none">
                <a:solidFill>
                  <a:srgbClr val="800000"/>
                </a:solidFill>
                <a:latin typeface="Times New Roman"/>
                <a:ea typeface="Times New Roman"/>
                <a:cs typeface="Times New Roman"/>
                <a:sym typeface="Times New Roman"/>
              </a:rPr>
              <a:t> (EMPLOYEE))</a:t>
            </a:r>
            <a:endParaRPr/>
          </a:p>
          <a:p>
            <a:pPr marL="342900" marR="0" lvl="0" indent="-342900" algn="l" rtl="0">
              <a:lnSpc>
                <a:spcPct val="80000"/>
              </a:lnSpc>
              <a:spcBef>
                <a:spcPts val="480"/>
              </a:spcBef>
              <a:spcAft>
                <a:spcPts val="0"/>
              </a:spcAft>
              <a:buClr>
                <a:srgbClr val="990033"/>
              </a:buClr>
              <a:buSzPts val="1440"/>
              <a:buFont typeface="Noto Sans Symbols"/>
              <a:buNone/>
            </a:pPr>
            <a:r>
              <a:rPr lang="en-US" sz="2400" b="0" i="0" u="none">
                <a:solidFill>
                  <a:schemeClr val="dk2"/>
                </a:solidFill>
                <a:latin typeface="Times New Roman"/>
                <a:ea typeface="Times New Roman"/>
                <a:cs typeface="Times New Roman"/>
                <a:sym typeface="Times New Roman"/>
              </a:rPr>
              <a:t>	</a:t>
            </a:r>
            <a:endParaRPr/>
          </a:p>
          <a:p>
            <a:pPr marL="342900" marR="0" lvl="0" indent="-251459" algn="l" rtl="0">
              <a:spcBef>
                <a:spcPts val="480"/>
              </a:spcBef>
              <a:spcAft>
                <a:spcPts val="0"/>
              </a:spcAft>
              <a:buClr>
                <a:srgbClr val="990033"/>
              </a:buClr>
              <a:buSzPts val="1440"/>
              <a:buFont typeface="Noto Sans Symbols"/>
              <a:buNone/>
            </a:pPr>
            <a:endParaRPr sz="2400" b="0" i="0" u="none">
              <a:solidFill>
                <a:schemeClr val="dk2"/>
              </a:solidFill>
              <a:latin typeface="Times New Roman"/>
              <a:ea typeface="Times New Roman"/>
              <a:cs typeface="Times New Roman"/>
              <a:sym typeface="Times New Roman"/>
            </a:endParaRPr>
          </a:p>
        </p:txBody>
      </p:sp>
      <p:sp>
        <p:nvSpPr>
          <p:cNvPr id="550" name="Google Shape;550;p68"/>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66</a:t>
            </a:fld>
            <a:endParaRPr/>
          </a:p>
        </p:txBody>
      </p:sp>
      <p:grpSp>
        <p:nvGrpSpPr>
          <p:cNvPr id="551" name="Google Shape;551;p68"/>
          <p:cNvGrpSpPr/>
          <p:nvPr/>
        </p:nvGrpSpPr>
        <p:grpSpPr>
          <a:xfrm>
            <a:off x="4983162" y="3124200"/>
            <a:ext cx="219075" cy="174625"/>
            <a:chOff x="377" y="2904"/>
            <a:chExt cx="154" cy="110"/>
          </a:xfrm>
        </p:grpSpPr>
        <p:cxnSp>
          <p:nvCxnSpPr>
            <p:cNvPr id="552" name="Google Shape;552;p68"/>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553" name="Google Shape;553;p68"/>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554" name="Google Shape;554;p68"/>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555" name="Google Shape;555;p68"/>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556" name="Google Shape;556;p68"/>
          <p:cNvGrpSpPr/>
          <p:nvPr/>
        </p:nvGrpSpPr>
        <p:grpSpPr>
          <a:xfrm>
            <a:off x="5486400" y="2455862"/>
            <a:ext cx="219075" cy="174625"/>
            <a:chOff x="377" y="2904"/>
            <a:chExt cx="154" cy="110"/>
          </a:xfrm>
        </p:grpSpPr>
        <p:cxnSp>
          <p:nvCxnSpPr>
            <p:cNvPr id="557" name="Google Shape;557;p68"/>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558" name="Google Shape;558;p68"/>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559" name="Google Shape;559;p68"/>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560" name="Google Shape;560;p68"/>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6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67</a:t>
            </a:fld>
            <a:endParaRPr/>
          </a:p>
        </p:txBody>
      </p:sp>
      <p:sp>
        <p:nvSpPr>
          <p:cNvPr id="567" name="Google Shape;567;p6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(4)</a:t>
            </a:r>
            <a:endParaRPr/>
          </a:p>
        </p:txBody>
      </p:sp>
      <p:pic>
        <p:nvPicPr>
          <p:cNvPr id="568" name="Google Shape;568;p69" descr="fig15_04a"/>
          <p:cNvPicPr preferRelativeResize="0"/>
          <p:nvPr/>
        </p:nvPicPr>
        <p:blipFill rotWithShape="1">
          <a:blip r:embed="rId3">
            <a:alphaModFix/>
          </a:blip>
          <a:srcRect/>
          <a:stretch/>
        </p:blipFill>
        <p:spPr>
          <a:xfrm>
            <a:off x="1905000" y="1646237"/>
            <a:ext cx="5562600" cy="4700587"/>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7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68</a:t>
            </a:fld>
            <a:endParaRPr/>
          </a:p>
        </p:txBody>
      </p:sp>
      <p:sp>
        <p:nvSpPr>
          <p:cNvPr id="575" name="Google Shape;575;p7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(5)</a:t>
            </a:r>
            <a:endParaRPr/>
          </a:p>
        </p:txBody>
      </p:sp>
      <p:pic>
        <p:nvPicPr>
          <p:cNvPr id="576" name="Google Shape;576;p70" descr="fig15_04b"/>
          <p:cNvPicPr preferRelativeResize="0"/>
          <p:nvPr/>
        </p:nvPicPr>
        <p:blipFill rotWithShape="1">
          <a:blip r:embed="rId3">
            <a:alphaModFix/>
          </a:blip>
          <a:srcRect/>
          <a:stretch/>
        </p:blipFill>
        <p:spPr>
          <a:xfrm>
            <a:off x="257175" y="2590800"/>
            <a:ext cx="8353425" cy="2700337"/>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7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69</a:t>
            </a:fld>
            <a:endParaRPr/>
          </a:p>
        </p:txBody>
      </p:sp>
      <p:sp>
        <p:nvSpPr>
          <p:cNvPr id="583" name="Google Shape;583;p7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(6)</a:t>
            </a:r>
            <a:endParaRPr/>
          </a:p>
        </p:txBody>
      </p:sp>
      <p:sp>
        <p:nvSpPr>
          <p:cNvPr id="584" name="Google Shape;584;p7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Heuristic Optimization of Query Trees:</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The same query could correspond to many different relational algebra expressions — and hence many different query trees.</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The task of heuristic optimization of query trees is to find a </a:t>
            </a:r>
            <a:r>
              <a:rPr lang="en-US" sz="2200" b="1" i="0" u="none">
                <a:solidFill>
                  <a:srgbClr val="800000"/>
                </a:solidFill>
                <a:latin typeface="Arial"/>
                <a:ea typeface="Arial"/>
                <a:cs typeface="Arial"/>
                <a:sym typeface="Arial"/>
              </a:rPr>
              <a:t>final query tree</a:t>
            </a:r>
            <a:r>
              <a:rPr lang="en-US" sz="2200" b="0" i="0" u="none">
                <a:solidFill>
                  <a:srgbClr val="800000"/>
                </a:solidFill>
                <a:latin typeface="Arial"/>
                <a:ea typeface="Arial"/>
                <a:cs typeface="Arial"/>
                <a:sym typeface="Arial"/>
              </a:rPr>
              <a:t> that is efficient to execute.</a:t>
            </a:r>
            <a:endParaRPr/>
          </a:p>
          <a:p>
            <a:pPr marL="342900" lvl="0" indent="-342900" algn="l" rtl="0">
              <a:lnSpc>
                <a:spcPct val="9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Example:</a:t>
            </a:r>
            <a:endParaRPr/>
          </a:p>
          <a:p>
            <a:pPr marL="742950" lvl="1" indent="-285750" algn="l" rtl="0">
              <a:lnSpc>
                <a:spcPct val="90000"/>
              </a:lnSpc>
              <a:spcBef>
                <a:spcPts val="440"/>
              </a:spcBef>
              <a:spcAft>
                <a:spcPts val="0"/>
              </a:spcAft>
              <a:buSzPts val="1210"/>
              <a:buNone/>
            </a:pPr>
            <a:r>
              <a:rPr lang="en-US" sz="2200" b="0" i="0" u="none">
                <a:solidFill>
                  <a:srgbClr val="800000"/>
                </a:solidFill>
                <a:latin typeface="Arial"/>
                <a:ea typeface="Arial"/>
                <a:cs typeface="Arial"/>
                <a:sym typeface="Arial"/>
              </a:rPr>
              <a:t>Q: 	SELECT 	LNAME</a:t>
            </a:r>
            <a:endParaRPr/>
          </a:p>
          <a:p>
            <a:pPr marL="742950" lvl="1" indent="-285750" algn="l" rtl="0">
              <a:lnSpc>
                <a:spcPct val="90000"/>
              </a:lnSpc>
              <a:spcBef>
                <a:spcPts val="440"/>
              </a:spcBef>
              <a:spcAft>
                <a:spcPts val="0"/>
              </a:spcAft>
              <a:buSzPts val="1210"/>
              <a:buNone/>
            </a:pPr>
            <a:r>
              <a:rPr lang="en-US" sz="2200" b="0" i="0" u="none">
                <a:solidFill>
                  <a:srgbClr val="800000"/>
                </a:solidFill>
                <a:latin typeface="Arial"/>
                <a:ea typeface="Arial"/>
                <a:cs typeface="Arial"/>
                <a:sym typeface="Arial"/>
              </a:rPr>
              <a:t>		FROM 	  	EMPLOYEE, WORKS_ON, PROJECT</a:t>
            </a:r>
            <a:endParaRPr/>
          </a:p>
          <a:p>
            <a:pPr marL="742950" lvl="1" indent="-285750" algn="l" rtl="0">
              <a:lnSpc>
                <a:spcPct val="90000"/>
              </a:lnSpc>
              <a:spcBef>
                <a:spcPts val="440"/>
              </a:spcBef>
              <a:spcAft>
                <a:spcPts val="0"/>
              </a:spcAft>
              <a:buSzPts val="1210"/>
              <a:buNone/>
            </a:pPr>
            <a:r>
              <a:rPr lang="en-US" sz="2200" b="0" i="0" u="none">
                <a:solidFill>
                  <a:srgbClr val="800000"/>
                </a:solidFill>
                <a:latin typeface="Arial"/>
                <a:ea typeface="Arial"/>
                <a:cs typeface="Arial"/>
                <a:sym typeface="Arial"/>
              </a:rPr>
              <a:t>		WHERE  	PNAME = ‘AQUARIUS’ AND  				PNMUBER=PNO AND ESSN=SSN 				AND BDATE &gt; ‘1957-12-31’;</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7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70</a:t>
            </a:fld>
            <a:endParaRPr/>
          </a:p>
        </p:txBody>
      </p:sp>
      <p:sp>
        <p:nvSpPr>
          <p:cNvPr id="591" name="Google Shape;591;p7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(7)</a:t>
            </a:r>
            <a:endParaRPr/>
          </a:p>
        </p:txBody>
      </p:sp>
      <p:pic>
        <p:nvPicPr>
          <p:cNvPr id="592" name="Google Shape;592;p72" descr="fig15_05a"/>
          <p:cNvPicPr preferRelativeResize="0"/>
          <p:nvPr/>
        </p:nvPicPr>
        <p:blipFill rotWithShape="1">
          <a:blip r:embed="rId3">
            <a:alphaModFix/>
          </a:blip>
          <a:srcRect/>
          <a:stretch/>
        </p:blipFill>
        <p:spPr>
          <a:xfrm>
            <a:off x="152400" y="-1219200"/>
            <a:ext cx="9829800" cy="614362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7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3600">
              <a:solidFill>
                <a:srgbClr val="800000"/>
              </a:solidFill>
              <a:latin typeface="Arial"/>
              <a:ea typeface="Arial"/>
              <a:cs typeface="Arial"/>
              <a:sym typeface="Arial"/>
            </a:endParaRPr>
          </a:p>
        </p:txBody>
      </p:sp>
      <p:sp>
        <p:nvSpPr>
          <p:cNvPr id="598" name="Google Shape;598;p7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7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72</a:t>
            </a:fld>
            <a:endParaRPr/>
          </a:p>
        </p:txBody>
      </p:sp>
      <p:sp>
        <p:nvSpPr>
          <p:cNvPr id="605" name="Google Shape;605;p7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(7)</a:t>
            </a:r>
            <a:endParaRPr/>
          </a:p>
        </p:txBody>
      </p:sp>
      <p:pic>
        <p:nvPicPr>
          <p:cNvPr id="606" name="Google Shape;606;p74" descr="fig15_05a"/>
          <p:cNvPicPr preferRelativeResize="0"/>
          <p:nvPr/>
        </p:nvPicPr>
        <p:blipFill rotWithShape="1">
          <a:blip r:embed="rId3">
            <a:alphaModFix/>
          </a:blip>
          <a:srcRect/>
          <a:stretch/>
        </p:blipFill>
        <p:spPr>
          <a:xfrm>
            <a:off x="1981200" y="1524000"/>
            <a:ext cx="5562600" cy="5021262"/>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7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73</a:t>
            </a:fld>
            <a:endParaRPr/>
          </a:p>
        </p:txBody>
      </p:sp>
      <p:sp>
        <p:nvSpPr>
          <p:cNvPr id="613" name="Google Shape;613;p7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(7)</a:t>
            </a:r>
            <a:endParaRPr/>
          </a:p>
        </p:txBody>
      </p:sp>
      <p:pic>
        <p:nvPicPr>
          <p:cNvPr id="614" name="Google Shape;614;p75" descr="fig15_05a"/>
          <p:cNvPicPr preferRelativeResize="0"/>
          <p:nvPr/>
        </p:nvPicPr>
        <p:blipFill rotWithShape="1">
          <a:blip r:embed="rId3">
            <a:alphaModFix/>
          </a:blip>
          <a:srcRect/>
          <a:stretch/>
        </p:blipFill>
        <p:spPr>
          <a:xfrm>
            <a:off x="1981200" y="1524000"/>
            <a:ext cx="5562600" cy="5021262"/>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7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74</a:t>
            </a:fld>
            <a:endParaRPr/>
          </a:p>
        </p:txBody>
      </p:sp>
      <p:sp>
        <p:nvSpPr>
          <p:cNvPr id="621" name="Google Shape;621;p7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(7)</a:t>
            </a:r>
            <a:endParaRPr/>
          </a:p>
        </p:txBody>
      </p:sp>
      <p:pic>
        <p:nvPicPr>
          <p:cNvPr id="622" name="Google Shape;622;p76" descr="fig15_05a"/>
          <p:cNvPicPr preferRelativeResize="0"/>
          <p:nvPr/>
        </p:nvPicPr>
        <p:blipFill rotWithShape="1">
          <a:blip r:embed="rId3">
            <a:alphaModFix/>
          </a:blip>
          <a:srcRect/>
          <a:stretch/>
        </p:blipFill>
        <p:spPr>
          <a:xfrm>
            <a:off x="1981200" y="1524000"/>
            <a:ext cx="5562600" cy="5021262"/>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78"/>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75</a:t>
            </a:fld>
            <a:endParaRPr/>
          </a:p>
        </p:txBody>
      </p:sp>
      <p:sp>
        <p:nvSpPr>
          <p:cNvPr id="635" name="Google Shape;635;p78"/>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(8)</a:t>
            </a:r>
            <a:endParaRPr/>
          </a:p>
        </p:txBody>
      </p:sp>
      <p:pic>
        <p:nvPicPr>
          <p:cNvPr id="636" name="Google Shape;636;p78" descr="fig15_05b"/>
          <p:cNvPicPr preferRelativeResize="0"/>
          <p:nvPr/>
        </p:nvPicPr>
        <p:blipFill rotWithShape="1">
          <a:blip r:embed="rId3">
            <a:alphaModFix/>
          </a:blip>
          <a:srcRect/>
          <a:stretch/>
        </p:blipFill>
        <p:spPr>
          <a:xfrm>
            <a:off x="1143000" y="1662112"/>
            <a:ext cx="7239000" cy="4814887"/>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7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76</a:t>
            </a:fld>
            <a:endParaRPr/>
          </a:p>
        </p:txBody>
      </p:sp>
      <p:sp>
        <p:nvSpPr>
          <p:cNvPr id="643" name="Google Shape;643;p7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(9)</a:t>
            </a:r>
            <a:endParaRPr/>
          </a:p>
        </p:txBody>
      </p:sp>
      <p:sp>
        <p:nvSpPr>
          <p:cNvPr id="644" name="Google Shape;644;p7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General Transformation Rules for Relational Algebra Operations:</a:t>
            </a:r>
            <a:endParaRPr/>
          </a:p>
          <a:p>
            <a:pPr marL="342900" lvl="0" indent="-342900" algn="l" rtl="0">
              <a:lnSpc>
                <a:spcPct val="80000"/>
              </a:lnSpc>
              <a:spcBef>
                <a:spcPts val="480"/>
              </a:spcBef>
              <a:spcAft>
                <a:spcPts val="0"/>
              </a:spcAft>
              <a:buSzPts val="1200"/>
              <a:buNone/>
            </a:pPr>
            <a:r>
              <a:rPr lang="en-US" sz="2000" b="0" i="0" u="none">
                <a:solidFill>
                  <a:schemeClr val="dk2"/>
                </a:solidFill>
                <a:latin typeface="Arial"/>
                <a:ea typeface="Arial"/>
                <a:cs typeface="Arial"/>
                <a:sym typeface="Arial"/>
              </a:rPr>
              <a:t>1. Cascade of </a:t>
            </a:r>
            <a:r>
              <a:rPr lang="en-US" sz="2400" b="0" i="0" u="none">
                <a:solidFill>
                  <a:schemeClr val="dk2"/>
                </a:solidFill>
                <a:latin typeface="Noto Sans Symbols"/>
                <a:ea typeface="Noto Sans Symbols"/>
                <a:cs typeface="Noto Sans Symbols"/>
                <a:sym typeface="Noto Sans Symbols"/>
              </a:rPr>
              <a:t>σ</a:t>
            </a:r>
            <a:r>
              <a:rPr lang="en-US" sz="2000" b="0" i="0" u="none">
                <a:solidFill>
                  <a:schemeClr val="dk2"/>
                </a:solidFill>
                <a:latin typeface="Arial"/>
                <a:ea typeface="Arial"/>
                <a:cs typeface="Arial"/>
                <a:sym typeface="Arial"/>
              </a:rPr>
              <a:t>: A conjunctive selection condition can be broken up into a cascade (sequence) of individual </a:t>
            </a:r>
            <a:r>
              <a:rPr lang="en-US" sz="2400" b="0" i="0" u="none">
                <a:solidFill>
                  <a:schemeClr val="dk2"/>
                </a:solidFill>
                <a:latin typeface="Noto Sans Symbols"/>
                <a:ea typeface="Noto Sans Symbols"/>
                <a:cs typeface="Noto Sans Symbols"/>
                <a:sym typeface="Noto Sans Symbols"/>
              </a:rPr>
              <a:t>σ</a:t>
            </a:r>
            <a:r>
              <a:rPr lang="en-US" sz="2000" b="0" i="0" u="none">
                <a:solidFill>
                  <a:schemeClr val="dk2"/>
                </a:solidFill>
                <a:latin typeface="Arial"/>
                <a:ea typeface="Arial"/>
                <a:cs typeface="Arial"/>
                <a:sym typeface="Arial"/>
              </a:rPr>
              <a:t> operations:</a:t>
            </a:r>
            <a:endParaRPr/>
          </a:p>
          <a:p>
            <a:pPr marL="742950" lvl="1" indent="-285750" algn="l" rtl="0">
              <a:lnSpc>
                <a:spcPct val="80000"/>
              </a:lnSpc>
              <a:spcBef>
                <a:spcPts val="480"/>
              </a:spcBef>
              <a:spcAft>
                <a:spcPts val="0"/>
              </a:spcAft>
              <a:buClr>
                <a:schemeClr val="dk2"/>
              </a:buClr>
              <a:buSzPts val="1320"/>
              <a:buFont typeface="Noto Sans Symbols"/>
              <a:buChar char="■"/>
            </a:pPr>
            <a:r>
              <a:rPr lang="en-US" sz="2400" b="0" i="0" u="none">
                <a:solidFill>
                  <a:srgbClr val="800000"/>
                </a:solidFill>
                <a:latin typeface="Noto Sans Symbols"/>
                <a:ea typeface="Noto Sans Symbols"/>
                <a:cs typeface="Noto Sans Symbols"/>
                <a:sym typeface="Noto Sans Symbols"/>
              </a:rPr>
              <a:t>σ</a:t>
            </a:r>
            <a:r>
              <a:rPr lang="en-US" sz="2000" b="0" i="0" u="none">
                <a:solidFill>
                  <a:srgbClr val="800000"/>
                </a:solidFill>
                <a:latin typeface="Arial"/>
                <a:ea typeface="Arial"/>
                <a:cs typeface="Arial"/>
                <a:sym typeface="Arial"/>
              </a:rPr>
              <a:t> </a:t>
            </a:r>
            <a:r>
              <a:rPr lang="en-US" sz="2000" b="0" i="0" u="none" baseline="-25000">
                <a:solidFill>
                  <a:srgbClr val="800000"/>
                </a:solidFill>
                <a:latin typeface="Arial"/>
                <a:ea typeface="Arial"/>
                <a:cs typeface="Arial"/>
                <a:sym typeface="Arial"/>
              </a:rPr>
              <a:t>c1 AND c2 AND ... AND cn</a:t>
            </a:r>
            <a:r>
              <a:rPr lang="en-US" sz="2000" b="0" i="0" u="none">
                <a:solidFill>
                  <a:srgbClr val="800000"/>
                </a:solidFill>
                <a:latin typeface="Arial"/>
                <a:ea typeface="Arial"/>
                <a:cs typeface="Arial"/>
                <a:sym typeface="Arial"/>
              </a:rPr>
              <a:t>(R) = </a:t>
            </a:r>
            <a:r>
              <a:rPr lang="en-US" sz="2400" b="0" i="0" u="none">
                <a:solidFill>
                  <a:srgbClr val="800000"/>
                </a:solidFill>
                <a:latin typeface="Noto Sans Symbols"/>
                <a:ea typeface="Noto Sans Symbols"/>
                <a:cs typeface="Noto Sans Symbols"/>
                <a:sym typeface="Noto Sans Symbols"/>
              </a:rPr>
              <a:t>σ</a:t>
            </a:r>
            <a:r>
              <a:rPr lang="en-US" sz="2000" b="0" i="0" u="none" baseline="-25000">
                <a:solidFill>
                  <a:srgbClr val="800000"/>
                </a:solidFill>
                <a:latin typeface="Arial"/>
                <a:ea typeface="Arial"/>
                <a:cs typeface="Arial"/>
                <a:sym typeface="Arial"/>
              </a:rPr>
              <a:t>c1</a:t>
            </a:r>
            <a:r>
              <a:rPr lang="en-US" sz="2000" b="0" i="0" u="none">
                <a:solidFill>
                  <a:srgbClr val="800000"/>
                </a:solidFill>
                <a:latin typeface="Arial"/>
                <a:ea typeface="Arial"/>
                <a:cs typeface="Arial"/>
                <a:sym typeface="Arial"/>
              </a:rPr>
              <a:t> (</a:t>
            </a:r>
            <a:r>
              <a:rPr lang="en-US" sz="2400" b="0" i="0" u="none">
                <a:solidFill>
                  <a:srgbClr val="800000"/>
                </a:solidFill>
                <a:latin typeface="Noto Sans Symbols"/>
                <a:ea typeface="Noto Sans Symbols"/>
                <a:cs typeface="Noto Sans Symbols"/>
                <a:sym typeface="Noto Sans Symbols"/>
              </a:rPr>
              <a:t>σ</a:t>
            </a:r>
            <a:r>
              <a:rPr lang="en-US" sz="2000" b="0" i="0" u="none" baseline="-25000">
                <a:solidFill>
                  <a:srgbClr val="800000"/>
                </a:solidFill>
                <a:latin typeface="Arial"/>
                <a:ea typeface="Arial"/>
                <a:cs typeface="Arial"/>
                <a:sym typeface="Arial"/>
              </a:rPr>
              <a:t>c2</a:t>
            </a:r>
            <a:r>
              <a:rPr lang="en-US" sz="2000" b="0" i="0" u="none">
                <a:solidFill>
                  <a:srgbClr val="800000"/>
                </a:solidFill>
                <a:latin typeface="Arial"/>
                <a:ea typeface="Arial"/>
                <a:cs typeface="Arial"/>
                <a:sym typeface="Arial"/>
              </a:rPr>
              <a:t> (...(</a:t>
            </a:r>
            <a:r>
              <a:rPr lang="en-US" sz="2400" b="0" i="0" u="none">
                <a:solidFill>
                  <a:srgbClr val="800000"/>
                </a:solidFill>
                <a:latin typeface="Noto Sans Symbols"/>
                <a:ea typeface="Noto Sans Symbols"/>
                <a:cs typeface="Noto Sans Symbols"/>
                <a:sym typeface="Noto Sans Symbols"/>
              </a:rPr>
              <a:t>σ</a:t>
            </a:r>
            <a:r>
              <a:rPr lang="en-US" sz="2000" b="0" i="0" u="none" baseline="-25000">
                <a:solidFill>
                  <a:srgbClr val="800000"/>
                </a:solidFill>
                <a:latin typeface="Arial"/>
                <a:ea typeface="Arial"/>
                <a:cs typeface="Arial"/>
                <a:sym typeface="Arial"/>
              </a:rPr>
              <a:t>cn</a:t>
            </a:r>
            <a:r>
              <a:rPr lang="en-US" sz="2000" b="0" i="0" u="none">
                <a:solidFill>
                  <a:srgbClr val="800000"/>
                </a:solidFill>
                <a:latin typeface="Arial"/>
                <a:ea typeface="Arial"/>
                <a:cs typeface="Arial"/>
                <a:sym typeface="Arial"/>
              </a:rPr>
              <a:t>(R))...) ) 	</a:t>
            </a:r>
            <a:endParaRPr/>
          </a:p>
          <a:p>
            <a:pPr marL="342900" lvl="0" indent="-342900" algn="l" rtl="0">
              <a:lnSpc>
                <a:spcPct val="80000"/>
              </a:lnSpc>
              <a:spcBef>
                <a:spcPts val="480"/>
              </a:spcBef>
              <a:spcAft>
                <a:spcPts val="0"/>
              </a:spcAft>
              <a:buSzPts val="1200"/>
              <a:buNone/>
            </a:pPr>
            <a:r>
              <a:rPr lang="en-US" sz="2000" b="0" i="0" u="none">
                <a:solidFill>
                  <a:schemeClr val="dk2"/>
                </a:solidFill>
                <a:latin typeface="Arial"/>
                <a:ea typeface="Arial"/>
                <a:cs typeface="Arial"/>
                <a:sym typeface="Arial"/>
              </a:rPr>
              <a:t>2. Commutativity of </a:t>
            </a:r>
            <a:r>
              <a:rPr lang="en-US" sz="2400" b="0" i="0" u="none">
                <a:solidFill>
                  <a:schemeClr val="dk2"/>
                </a:solidFill>
                <a:latin typeface="Noto Sans Symbols"/>
                <a:ea typeface="Noto Sans Symbols"/>
                <a:cs typeface="Noto Sans Symbols"/>
                <a:sym typeface="Noto Sans Symbols"/>
              </a:rPr>
              <a:t>σ</a:t>
            </a:r>
            <a:r>
              <a:rPr lang="en-US" sz="2000" b="0" i="0" u="none">
                <a:solidFill>
                  <a:schemeClr val="dk2"/>
                </a:solidFill>
                <a:latin typeface="Arial"/>
                <a:ea typeface="Arial"/>
                <a:cs typeface="Arial"/>
                <a:sym typeface="Arial"/>
              </a:rPr>
              <a:t>: The </a:t>
            </a:r>
            <a:r>
              <a:rPr lang="en-US" sz="2400" b="0" i="0" u="none">
                <a:solidFill>
                  <a:schemeClr val="dk2"/>
                </a:solidFill>
                <a:latin typeface="Noto Sans Symbols"/>
                <a:ea typeface="Noto Sans Symbols"/>
                <a:cs typeface="Noto Sans Symbols"/>
                <a:sym typeface="Noto Sans Symbols"/>
              </a:rPr>
              <a:t>σ</a:t>
            </a:r>
            <a:r>
              <a:rPr lang="en-US" sz="2000" b="0" i="0" u="none">
                <a:solidFill>
                  <a:schemeClr val="dk2"/>
                </a:solidFill>
                <a:latin typeface="Arial"/>
                <a:ea typeface="Arial"/>
                <a:cs typeface="Arial"/>
                <a:sym typeface="Arial"/>
              </a:rPr>
              <a:t> operation is commutative:</a:t>
            </a:r>
            <a:endParaRPr/>
          </a:p>
          <a:p>
            <a:pPr marL="742950" lvl="1" indent="-285750" algn="l" rtl="0">
              <a:lnSpc>
                <a:spcPct val="80000"/>
              </a:lnSpc>
              <a:spcBef>
                <a:spcPts val="480"/>
              </a:spcBef>
              <a:spcAft>
                <a:spcPts val="0"/>
              </a:spcAft>
              <a:buClr>
                <a:schemeClr val="dk2"/>
              </a:buClr>
              <a:buSzPts val="1320"/>
              <a:buFont typeface="Noto Sans Symbols"/>
              <a:buChar char="■"/>
            </a:pPr>
            <a:r>
              <a:rPr lang="en-US" sz="2400" b="0" i="0" u="none">
                <a:solidFill>
                  <a:srgbClr val="800000"/>
                </a:solidFill>
                <a:latin typeface="Noto Sans Symbols"/>
                <a:ea typeface="Noto Sans Symbols"/>
                <a:cs typeface="Noto Sans Symbols"/>
                <a:sym typeface="Noto Sans Symbols"/>
              </a:rPr>
              <a:t>σ</a:t>
            </a:r>
            <a:r>
              <a:rPr lang="en-US" sz="2000" b="0" i="0" u="none" baseline="-25000">
                <a:solidFill>
                  <a:srgbClr val="800000"/>
                </a:solidFill>
                <a:latin typeface="Arial"/>
                <a:ea typeface="Arial"/>
                <a:cs typeface="Arial"/>
                <a:sym typeface="Arial"/>
              </a:rPr>
              <a:t>c1</a:t>
            </a:r>
            <a:r>
              <a:rPr lang="en-US" sz="2000" b="0" i="0" u="none">
                <a:solidFill>
                  <a:srgbClr val="800000"/>
                </a:solidFill>
                <a:latin typeface="Arial"/>
                <a:ea typeface="Arial"/>
                <a:cs typeface="Arial"/>
                <a:sym typeface="Arial"/>
              </a:rPr>
              <a:t> (</a:t>
            </a:r>
            <a:r>
              <a:rPr lang="en-US" sz="2400" b="0" i="0" u="none">
                <a:solidFill>
                  <a:srgbClr val="800000"/>
                </a:solidFill>
                <a:latin typeface="Noto Sans Symbols"/>
                <a:ea typeface="Noto Sans Symbols"/>
                <a:cs typeface="Noto Sans Symbols"/>
                <a:sym typeface="Noto Sans Symbols"/>
              </a:rPr>
              <a:t>σ</a:t>
            </a:r>
            <a:r>
              <a:rPr lang="en-US" sz="2000" b="0" i="0" u="none" baseline="-25000">
                <a:solidFill>
                  <a:srgbClr val="800000"/>
                </a:solidFill>
                <a:latin typeface="Arial"/>
                <a:ea typeface="Arial"/>
                <a:cs typeface="Arial"/>
                <a:sym typeface="Arial"/>
              </a:rPr>
              <a:t>c2</a:t>
            </a:r>
            <a:r>
              <a:rPr lang="en-US" sz="2000" b="0" i="0" u="none">
                <a:solidFill>
                  <a:srgbClr val="800000"/>
                </a:solidFill>
                <a:latin typeface="Arial"/>
                <a:ea typeface="Arial"/>
                <a:cs typeface="Arial"/>
                <a:sym typeface="Arial"/>
              </a:rPr>
              <a:t>(R)) = </a:t>
            </a:r>
            <a:r>
              <a:rPr lang="en-US" sz="2400" b="0" i="0" u="none">
                <a:solidFill>
                  <a:srgbClr val="800000"/>
                </a:solidFill>
                <a:latin typeface="Noto Sans Symbols"/>
                <a:ea typeface="Noto Sans Symbols"/>
                <a:cs typeface="Noto Sans Symbols"/>
                <a:sym typeface="Noto Sans Symbols"/>
              </a:rPr>
              <a:t>σ</a:t>
            </a:r>
            <a:r>
              <a:rPr lang="en-US" sz="2000" b="0" i="0" u="none" baseline="-25000">
                <a:solidFill>
                  <a:srgbClr val="800000"/>
                </a:solidFill>
                <a:latin typeface="Arial"/>
                <a:ea typeface="Arial"/>
                <a:cs typeface="Arial"/>
                <a:sym typeface="Arial"/>
              </a:rPr>
              <a:t>c2</a:t>
            </a:r>
            <a:r>
              <a:rPr lang="en-US" sz="2000" b="0" i="0" u="none">
                <a:solidFill>
                  <a:srgbClr val="800000"/>
                </a:solidFill>
                <a:latin typeface="Arial"/>
                <a:ea typeface="Arial"/>
                <a:cs typeface="Arial"/>
                <a:sym typeface="Arial"/>
              </a:rPr>
              <a:t> (</a:t>
            </a:r>
            <a:r>
              <a:rPr lang="en-US" sz="2400" b="0" i="0" u="none">
                <a:solidFill>
                  <a:srgbClr val="800000"/>
                </a:solidFill>
                <a:latin typeface="Noto Sans Symbols"/>
                <a:ea typeface="Noto Sans Symbols"/>
                <a:cs typeface="Noto Sans Symbols"/>
                <a:sym typeface="Noto Sans Symbols"/>
              </a:rPr>
              <a:t>σ</a:t>
            </a:r>
            <a:r>
              <a:rPr lang="en-US" sz="2000" b="0" i="0" u="none" baseline="-25000">
                <a:solidFill>
                  <a:srgbClr val="800000"/>
                </a:solidFill>
                <a:latin typeface="Arial"/>
                <a:ea typeface="Arial"/>
                <a:cs typeface="Arial"/>
                <a:sym typeface="Arial"/>
              </a:rPr>
              <a:t>c1</a:t>
            </a:r>
            <a:r>
              <a:rPr lang="en-US" sz="2000" b="0" i="0" u="none">
                <a:solidFill>
                  <a:srgbClr val="800000"/>
                </a:solidFill>
                <a:latin typeface="Arial"/>
                <a:ea typeface="Arial"/>
                <a:cs typeface="Arial"/>
                <a:sym typeface="Arial"/>
              </a:rPr>
              <a:t>(R)) </a:t>
            </a:r>
            <a:endParaRPr/>
          </a:p>
          <a:p>
            <a:pPr marL="342900" lvl="0" indent="-342900" algn="l" rtl="0">
              <a:lnSpc>
                <a:spcPct val="80000"/>
              </a:lnSpc>
              <a:spcBef>
                <a:spcPts val="480"/>
              </a:spcBef>
              <a:spcAft>
                <a:spcPts val="0"/>
              </a:spcAft>
              <a:buSzPts val="1200"/>
              <a:buNone/>
            </a:pPr>
            <a:r>
              <a:rPr lang="en-US" sz="2000" b="0" i="0" u="none">
                <a:solidFill>
                  <a:schemeClr val="dk2"/>
                </a:solidFill>
                <a:latin typeface="Arial"/>
                <a:ea typeface="Arial"/>
                <a:cs typeface="Arial"/>
                <a:sym typeface="Arial"/>
              </a:rPr>
              <a:t>3. Cascade of </a:t>
            </a:r>
            <a:r>
              <a:rPr lang="en-US" sz="2400" b="0" i="0" u="none">
                <a:solidFill>
                  <a:schemeClr val="dk2"/>
                </a:solidFill>
                <a:latin typeface="Noto Sans Symbols"/>
                <a:ea typeface="Noto Sans Symbols"/>
                <a:cs typeface="Noto Sans Symbols"/>
                <a:sym typeface="Noto Sans Symbols"/>
              </a:rPr>
              <a:t>π</a:t>
            </a:r>
            <a:r>
              <a:rPr lang="en-US" sz="2000" b="0" i="0" u="none">
                <a:solidFill>
                  <a:schemeClr val="dk2"/>
                </a:solidFill>
                <a:latin typeface="Arial"/>
                <a:ea typeface="Arial"/>
                <a:cs typeface="Arial"/>
                <a:sym typeface="Arial"/>
              </a:rPr>
              <a:t>: In a cascade (sequence) of </a:t>
            </a:r>
            <a:r>
              <a:rPr lang="en-US" sz="2400" b="0" i="0" u="none">
                <a:solidFill>
                  <a:schemeClr val="dk2"/>
                </a:solidFill>
                <a:latin typeface="Noto Sans Symbols"/>
                <a:ea typeface="Noto Sans Symbols"/>
                <a:cs typeface="Noto Sans Symbols"/>
                <a:sym typeface="Noto Sans Symbols"/>
              </a:rPr>
              <a:t>π</a:t>
            </a:r>
            <a:r>
              <a:rPr lang="en-US" sz="2000" b="0" i="0" u="none">
                <a:solidFill>
                  <a:schemeClr val="dk2"/>
                </a:solidFill>
                <a:latin typeface="Arial"/>
                <a:ea typeface="Arial"/>
                <a:cs typeface="Arial"/>
                <a:sym typeface="Arial"/>
              </a:rPr>
              <a:t> operations, all but the last one can be ignored: </a:t>
            </a:r>
            <a:endParaRPr/>
          </a:p>
          <a:p>
            <a:pPr marL="742950" lvl="1" indent="-285750" algn="l" rtl="0">
              <a:lnSpc>
                <a:spcPct val="80000"/>
              </a:lnSpc>
              <a:spcBef>
                <a:spcPts val="480"/>
              </a:spcBef>
              <a:spcAft>
                <a:spcPts val="0"/>
              </a:spcAft>
              <a:buClr>
                <a:schemeClr val="dk2"/>
              </a:buClr>
              <a:buSzPts val="1320"/>
              <a:buFont typeface="Noto Sans Symbols"/>
              <a:buChar char="■"/>
            </a:pPr>
            <a:r>
              <a:rPr lang="en-US" sz="2400" b="0" i="0" u="none">
                <a:solidFill>
                  <a:srgbClr val="800000"/>
                </a:solidFill>
                <a:latin typeface="Noto Sans Symbols"/>
                <a:ea typeface="Noto Sans Symbols"/>
                <a:cs typeface="Noto Sans Symbols"/>
                <a:sym typeface="Noto Sans Symbols"/>
              </a:rPr>
              <a:t>π</a:t>
            </a:r>
            <a:r>
              <a:rPr lang="en-US" sz="2000" b="0" i="0" u="none" baseline="-25000">
                <a:solidFill>
                  <a:srgbClr val="800000"/>
                </a:solidFill>
                <a:latin typeface="Arial"/>
                <a:ea typeface="Arial"/>
                <a:cs typeface="Arial"/>
                <a:sym typeface="Arial"/>
              </a:rPr>
              <a:t>List1</a:t>
            </a:r>
            <a:r>
              <a:rPr lang="en-US" sz="2000" b="0" i="0" u="none">
                <a:solidFill>
                  <a:srgbClr val="800000"/>
                </a:solidFill>
                <a:latin typeface="Arial"/>
                <a:ea typeface="Arial"/>
                <a:cs typeface="Arial"/>
                <a:sym typeface="Arial"/>
              </a:rPr>
              <a:t> (</a:t>
            </a:r>
            <a:r>
              <a:rPr lang="en-US" sz="2400" b="0" i="0" u="none">
                <a:solidFill>
                  <a:srgbClr val="800000"/>
                </a:solidFill>
                <a:latin typeface="Noto Sans Symbols"/>
                <a:ea typeface="Noto Sans Symbols"/>
                <a:cs typeface="Noto Sans Symbols"/>
                <a:sym typeface="Noto Sans Symbols"/>
              </a:rPr>
              <a:t>π</a:t>
            </a:r>
            <a:r>
              <a:rPr lang="en-US" sz="2000" b="0" i="0" u="none" baseline="-25000">
                <a:solidFill>
                  <a:srgbClr val="800000"/>
                </a:solidFill>
                <a:latin typeface="Arial"/>
                <a:ea typeface="Arial"/>
                <a:cs typeface="Arial"/>
                <a:sym typeface="Arial"/>
              </a:rPr>
              <a:t>List2</a:t>
            </a:r>
            <a:r>
              <a:rPr lang="en-US" sz="2000" b="0" i="0" u="none">
                <a:solidFill>
                  <a:srgbClr val="800000"/>
                </a:solidFill>
                <a:latin typeface="Arial"/>
                <a:ea typeface="Arial"/>
                <a:cs typeface="Arial"/>
                <a:sym typeface="Arial"/>
              </a:rPr>
              <a:t> (...(</a:t>
            </a:r>
            <a:r>
              <a:rPr lang="en-US" sz="2400" b="0" i="0" u="none">
                <a:solidFill>
                  <a:srgbClr val="800000"/>
                </a:solidFill>
                <a:latin typeface="Noto Sans Symbols"/>
                <a:ea typeface="Noto Sans Symbols"/>
                <a:cs typeface="Noto Sans Symbols"/>
                <a:sym typeface="Noto Sans Symbols"/>
              </a:rPr>
              <a:t>π</a:t>
            </a:r>
            <a:r>
              <a:rPr lang="en-US" sz="2000" b="0" i="0" u="none" baseline="-25000">
                <a:solidFill>
                  <a:srgbClr val="800000"/>
                </a:solidFill>
                <a:latin typeface="Arial"/>
                <a:ea typeface="Arial"/>
                <a:cs typeface="Arial"/>
                <a:sym typeface="Arial"/>
              </a:rPr>
              <a:t>Listn</a:t>
            </a:r>
            <a:r>
              <a:rPr lang="en-US" sz="2000" b="0" i="0" u="none">
                <a:solidFill>
                  <a:srgbClr val="800000"/>
                </a:solidFill>
                <a:latin typeface="Arial"/>
                <a:ea typeface="Arial"/>
                <a:cs typeface="Arial"/>
                <a:sym typeface="Arial"/>
              </a:rPr>
              <a:t>(R))...) ) = </a:t>
            </a:r>
            <a:r>
              <a:rPr lang="en-US" sz="2400" b="0" i="0" u="none">
                <a:solidFill>
                  <a:srgbClr val="800000"/>
                </a:solidFill>
                <a:latin typeface="Noto Sans Symbols"/>
                <a:ea typeface="Noto Sans Symbols"/>
                <a:cs typeface="Noto Sans Symbols"/>
                <a:sym typeface="Noto Sans Symbols"/>
              </a:rPr>
              <a:t>π</a:t>
            </a:r>
            <a:r>
              <a:rPr lang="en-US" sz="2000" b="0" i="0" u="none" baseline="-25000">
                <a:solidFill>
                  <a:srgbClr val="800000"/>
                </a:solidFill>
                <a:latin typeface="Arial"/>
                <a:ea typeface="Arial"/>
                <a:cs typeface="Arial"/>
                <a:sym typeface="Arial"/>
              </a:rPr>
              <a:t>List1</a:t>
            </a:r>
            <a:r>
              <a:rPr lang="en-US" sz="2000" b="0" i="0" u="none">
                <a:solidFill>
                  <a:srgbClr val="800000"/>
                </a:solidFill>
                <a:latin typeface="Arial"/>
                <a:ea typeface="Arial"/>
                <a:cs typeface="Arial"/>
                <a:sym typeface="Arial"/>
              </a:rPr>
              <a:t>(R) </a:t>
            </a:r>
            <a:endParaRPr/>
          </a:p>
          <a:p>
            <a:pPr marL="342900" lvl="0" indent="-342900" algn="l" rtl="0">
              <a:lnSpc>
                <a:spcPct val="80000"/>
              </a:lnSpc>
              <a:spcBef>
                <a:spcPts val="480"/>
              </a:spcBef>
              <a:spcAft>
                <a:spcPts val="0"/>
              </a:spcAft>
              <a:buSzPts val="1200"/>
              <a:buNone/>
            </a:pPr>
            <a:r>
              <a:rPr lang="en-US" sz="2000" b="0" i="0" u="none">
                <a:solidFill>
                  <a:schemeClr val="dk2"/>
                </a:solidFill>
                <a:latin typeface="Arial"/>
                <a:ea typeface="Arial"/>
                <a:cs typeface="Arial"/>
                <a:sym typeface="Arial"/>
              </a:rPr>
              <a:t>4. Commuting </a:t>
            </a:r>
            <a:r>
              <a:rPr lang="en-US" sz="2400" b="0" i="0" u="none">
                <a:solidFill>
                  <a:schemeClr val="dk2"/>
                </a:solidFill>
                <a:latin typeface="Noto Sans Symbols"/>
                <a:ea typeface="Noto Sans Symbols"/>
                <a:cs typeface="Noto Sans Symbols"/>
                <a:sym typeface="Noto Sans Symbols"/>
              </a:rPr>
              <a:t>σ</a:t>
            </a:r>
            <a:r>
              <a:rPr lang="en-US" sz="2000" b="0" i="0" u="none">
                <a:solidFill>
                  <a:schemeClr val="dk2"/>
                </a:solidFill>
                <a:latin typeface="Arial"/>
                <a:ea typeface="Arial"/>
                <a:cs typeface="Arial"/>
                <a:sym typeface="Arial"/>
              </a:rPr>
              <a:t> with </a:t>
            </a:r>
            <a:r>
              <a:rPr lang="en-US" sz="2400" b="0" i="0" u="none">
                <a:solidFill>
                  <a:schemeClr val="dk2"/>
                </a:solidFill>
                <a:latin typeface="Noto Sans Symbols"/>
                <a:ea typeface="Noto Sans Symbols"/>
                <a:cs typeface="Noto Sans Symbols"/>
                <a:sym typeface="Noto Sans Symbols"/>
              </a:rPr>
              <a:t>π</a:t>
            </a:r>
            <a:r>
              <a:rPr lang="en-US" sz="2000" b="0" i="0" u="none">
                <a:solidFill>
                  <a:schemeClr val="dk2"/>
                </a:solidFill>
                <a:latin typeface="Arial"/>
                <a:ea typeface="Arial"/>
                <a:cs typeface="Arial"/>
                <a:sym typeface="Arial"/>
              </a:rPr>
              <a:t>: If the selection condition c involves only the attributes A1, ..., An in the projection list, the two operations can be commuted:</a:t>
            </a:r>
            <a:endParaRPr/>
          </a:p>
          <a:p>
            <a:pPr marL="742950" lvl="1" indent="-285750" algn="l" rtl="0">
              <a:lnSpc>
                <a:spcPct val="80000"/>
              </a:lnSpc>
              <a:spcBef>
                <a:spcPts val="480"/>
              </a:spcBef>
              <a:spcAft>
                <a:spcPts val="0"/>
              </a:spcAft>
              <a:buClr>
                <a:schemeClr val="dk2"/>
              </a:buClr>
              <a:buSzPts val="1320"/>
              <a:buFont typeface="Noto Sans Symbols"/>
              <a:buChar char="■"/>
            </a:pPr>
            <a:r>
              <a:rPr lang="en-US" sz="2400" b="0" i="0" u="none">
                <a:solidFill>
                  <a:srgbClr val="800000"/>
                </a:solidFill>
                <a:latin typeface="Noto Sans Symbols"/>
                <a:ea typeface="Noto Sans Symbols"/>
                <a:cs typeface="Noto Sans Symbols"/>
                <a:sym typeface="Noto Sans Symbols"/>
              </a:rPr>
              <a:t>π</a:t>
            </a:r>
            <a:r>
              <a:rPr lang="en-US" sz="2000" b="0" i="0" u="none" baseline="-25000">
                <a:solidFill>
                  <a:srgbClr val="800000"/>
                </a:solidFill>
                <a:latin typeface="Arial"/>
                <a:ea typeface="Arial"/>
                <a:cs typeface="Arial"/>
                <a:sym typeface="Arial"/>
              </a:rPr>
              <a:t>A1, A2, ..., An</a:t>
            </a:r>
            <a:r>
              <a:rPr lang="en-US" sz="2000" b="0" i="0" u="none">
                <a:solidFill>
                  <a:srgbClr val="800000"/>
                </a:solidFill>
                <a:latin typeface="Arial"/>
                <a:ea typeface="Arial"/>
                <a:cs typeface="Arial"/>
                <a:sym typeface="Arial"/>
              </a:rPr>
              <a:t> (</a:t>
            </a:r>
            <a:r>
              <a:rPr lang="en-US" sz="2400" b="0" i="0" u="none">
                <a:solidFill>
                  <a:srgbClr val="800000"/>
                </a:solidFill>
                <a:latin typeface="Noto Sans Symbols"/>
                <a:ea typeface="Noto Sans Symbols"/>
                <a:cs typeface="Noto Sans Symbols"/>
                <a:sym typeface="Noto Sans Symbols"/>
              </a:rPr>
              <a:t>σ</a:t>
            </a:r>
            <a:r>
              <a:rPr lang="en-US" sz="2000" b="0" i="0" u="none" baseline="-25000">
                <a:solidFill>
                  <a:srgbClr val="800000"/>
                </a:solidFill>
                <a:latin typeface="Arial"/>
                <a:ea typeface="Arial"/>
                <a:cs typeface="Arial"/>
                <a:sym typeface="Arial"/>
              </a:rPr>
              <a:t>c</a:t>
            </a:r>
            <a:r>
              <a:rPr lang="en-US" sz="2000" b="0" i="0" u="none">
                <a:solidFill>
                  <a:srgbClr val="800000"/>
                </a:solidFill>
                <a:latin typeface="Arial"/>
                <a:ea typeface="Arial"/>
                <a:cs typeface="Arial"/>
                <a:sym typeface="Arial"/>
              </a:rPr>
              <a:t> (R)) = </a:t>
            </a:r>
            <a:r>
              <a:rPr lang="en-US" sz="2400" b="0" i="0" u="none">
                <a:solidFill>
                  <a:srgbClr val="800000"/>
                </a:solidFill>
                <a:latin typeface="Noto Sans Symbols"/>
                <a:ea typeface="Noto Sans Symbols"/>
                <a:cs typeface="Noto Sans Symbols"/>
                <a:sym typeface="Noto Sans Symbols"/>
              </a:rPr>
              <a:t>σ</a:t>
            </a:r>
            <a:r>
              <a:rPr lang="en-US" sz="2000" b="0" i="0" u="none" baseline="-25000">
                <a:solidFill>
                  <a:srgbClr val="800000"/>
                </a:solidFill>
                <a:latin typeface="Arial"/>
                <a:ea typeface="Arial"/>
                <a:cs typeface="Arial"/>
                <a:sym typeface="Arial"/>
              </a:rPr>
              <a:t>c</a:t>
            </a:r>
            <a:r>
              <a:rPr lang="en-US" sz="2000" b="0" i="0" u="none">
                <a:solidFill>
                  <a:srgbClr val="800000"/>
                </a:solidFill>
                <a:latin typeface="Arial"/>
                <a:ea typeface="Arial"/>
                <a:cs typeface="Arial"/>
                <a:sym typeface="Arial"/>
              </a:rPr>
              <a:t> (</a:t>
            </a:r>
            <a:r>
              <a:rPr lang="en-US" sz="2400" b="0" i="0" u="none">
                <a:solidFill>
                  <a:srgbClr val="800000"/>
                </a:solidFill>
                <a:latin typeface="Noto Sans Symbols"/>
                <a:ea typeface="Noto Sans Symbols"/>
                <a:cs typeface="Noto Sans Symbols"/>
                <a:sym typeface="Noto Sans Symbols"/>
              </a:rPr>
              <a:t>π</a:t>
            </a:r>
            <a:r>
              <a:rPr lang="en-US" sz="2000" b="0" i="0" u="none" baseline="-25000">
                <a:solidFill>
                  <a:srgbClr val="800000"/>
                </a:solidFill>
                <a:latin typeface="Arial"/>
                <a:ea typeface="Arial"/>
                <a:cs typeface="Arial"/>
                <a:sym typeface="Arial"/>
              </a:rPr>
              <a:t>A1, A2, ..., An</a:t>
            </a:r>
            <a:r>
              <a:rPr lang="en-US" sz="2000" b="0" i="0" u="none">
                <a:solidFill>
                  <a:srgbClr val="800000"/>
                </a:solidFill>
                <a:latin typeface="Arial"/>
                <a:ea typeface="Arial"/>
                <a:cs typeface="Arial"/>
                <a:sym typeface="Arial"/>
              </a:rPr>
              <a:t> (R))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8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77</a:t>
            </a:fld>
            <a:endParaRPr/>
          </a:p>
        </p:txBody>
      </p:sp>
      <p:sp>
        <p:nvSpPr>
          <p:cNvPr id="651" name="Google Shape;651;p8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(10)</a:t>
            </a:r>
            <a:endParaRPr/>
          </a:p>
        </p:txBody>
      </p:sp>
      <p:sp>
        <p:nvSpPr>
          <p:cNvPr id="652" name="Google Shape;652;p80"/>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General Transformation Rules for Relational Algebra Operations (contd.):</a:t>
            </a:r>
            <a:endParaRPr/>
          </a:p>
          <a:p>
            <a:pPr marL="342900" lvl="0" indent="-342900" algn="l" rtl="0">
              <a:lnSpc>
                <a:spcPct val="90000"/>
              </a:lnSpc>
              <a:spcBef>
                <a:spcPts val="400"/>
              </a:spcBef>
              <a:spcAft>
                <a:spcPts val="0"/>
              </a:spcAft>
              <a:buSzPts val="1200"/>
              <a:buNone/>
            </a:pPr>
            <a:r>
              <a:rPr lang="en-US" sz="2000" b="0" i="0" u="none">
                <a:solidFill>
                  <a:schemeClr val="dk2"/>
                </a:solidFill>
                <a:latin typeface="Arial"/>
                <a:ea typeface="Arial"/>
                <a:cs typeface="Arial"/>
                <a:sym typeface="Arial"/>
              </a:rPr>
              <a:t>5. Commutativity of     ( and x ): The     operation is commutative as is the x operation:</a:t>
            </a:r>
            <a:endParaRPr/>
          </a:p>
          <a:p>
            <a:pPr marL="742950" lvl="1" indent="-285750" algn="l" rtl="0">
              <a:lnSpc>
                <a:spcPct val="9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R    </a:t>
            </a:r>
            <a:r>
              <a:rPr lang="en-US" sz="2000" b="0" i="0" u="none" baseline="-25000">
                <a:solidFill>
                  <a:srgbClr val="800000"/>
                </a:solidFill>
                <a:latin typeface="Arial"/>
                <a:ea typeface="Arial"/>
                <a:cs typeface="Arial"/>
                <a:sym typeface="Arial"/>
              </a:rPr>
              <a:t>C</a:t>
            </a:r>
            <a:r>
              <a:rPr lang="en-US" sz="2000" b="0" i="0" u="none">
                <a:solidFill>
                  <a:srgbClr val="800000"/>
                </a:solidFill>
                <a:latin typeface="Arial"/>
                <a:ea typeface="Arial"/>
                <a:cs typeface="Arial"/>
                <a:sym typeface="Arial"/>
              </a:rPr>
              <a:t> S = S    </a:t>
            </a:r>
            <a:r>
              <a:rPr lang="en-US" sz="2000" b="0" i="0" u="none" baseline="-25000">
                <a:solidFill>
                  <a:srgbClr val="800000"/>
                </a:solidFill>
                <a:latin typeface="Arial"/>
                <a:ea typeface="Arial"/>
                <a:cs typeface="Arial"/>
                <a:sym typeface="Arial"/>
              </a:rPr>
              <a:t>C</a:t>
            </a:r>
            <a:r>
              <a:rPr lang="en-US" sz="2000" b="0" i="0" u="none">
                <a:solidFill>
                  <a:srgbClr val="800000"/>
                </a:solidFill>
                <a:latin typeface="Arial"/>
                <a:ea typeface="Arial"/>
                <a:cs typeface="Arial"/>
                <a:sym typeface="Arial"/>
              </a:rPr>
              <a:t> R;  R x  S = S x  R 	</a:t>
            </a:r>
            <a:endParaRPr/>
          </a:p>
          <a:p>
            <a:pPr marL="342900" lvl="0" indent="-342900" algn="l" rtl="0">
              <a:lnSpc>
                <a:spcPct val="90000"/>
              </a:lnSpc>
              <a:spcBef>
                <a:spcPts val="480"/>
              </a:spcBef>
              <a:spcAft>
                <a:spcPts val="0"/>
              </a:spcAft>
              <a:buSzPts val="1200"/>
              <a:buNone/>
            </a:pPr>
            <a:r>
              <a:rPr lang="en-US" sz="2000" b="0" i="0" u="none">
                <a:solidFill>
                  <a:schemeClr val="dk2"/>
                </a:solidFill>
                <a:latin typeface="Arial"/>
                <a:ea typeface="Arial"/>
                <a:cs typeface="Arial"/>
                <a:sym typeface="Arial"/>
              </a:rPr>
              <a:t>6. Commuting </a:t>
            </a:r>
            <a:r>
              <a:rPr lang="en-US" sz="2400" b="0" i="0" u="none">
                <a:solidFill>
                  <a:schemeClr val="dk2"/>
                </a:solidFill>
                <a:latin typeface="Noto Sans Symbols"/>
                <a:ea typeface="Noto Sans Symbols"/>
                <a:cs typeface="Noto Sans Symbols"/>
                <a:sym typeface="Noto Sans Symbols"/>
              </a:rPr>
              <a:t>σ</a:t>
            </a:r>
            <a:r>
              <a:rPr lang="en-US" sz="2000" b="0" i="0" u="none">
                <a:solidFill>
                  <a:schemeClr val="dk2"/>
                </a:solidFill>
                <a:latin typeface="Arial"/>
                <a:ea typeface="Arial"/>
                <a:cs typeface="Arial"/>
                <a:sym typeface="Arial"/>
              </a:rPr>
              <a:t> with     (or x ): If all the attributes in the selection condition c involve only the attributes of one of the relations being joined—say, R—the two operations can be commuted as follows: </a:t>
            </a:r>
            <a:endParaRPr/>
          </a:p>
          <a:p>
            <a:pPr marL="742950" lvl="1" indent="-285750" algn="l" rtl="0">
              <a:lnSpc>
                <a:spcPct val="90000"/>
              </a:lnSpc>
              <a:spcBef>
                <a:spcPts val="480"/>
              </a:spcBef>
              <a:spcAft>
                <a:spcPts val="0"/>
              </a:spcAft>
              <a:buClr>
                <a:schemeClr val="dk2"/>
              </a:buClr>
              <a:buSzPts val="1320"/>
              <a:buFont typeface="Noto Sans Symbols"/>
              <a:buChar char="■"/>
            </a:pPr>
            <a:r>
              <a:rPr lang="en-US" sz="2400" b="0" i="0" u="none">
                <a:solidFill>
                  <a:srgbClr val="800000"/>
                </a:solidFill>
                <a:latin typeface="Noto Sans Symbols"/>
                <a:ea typeface="Noto Sans Symbols"/>
                <a:cs typeface="Noto Sans Symbols"/>
                <a:sym typeface="Noto Sans Symbols"/>
              </a:rPr>
              <a:t>σ</a:t>
            </a:r>
            <a:r>
              <a:rPr lang="en-US" sz="2000" b="0" i="0" u="none" baseline="-25000">
                <a:solidFill>
                  <a:srgbClr val="800000"/>
                </a:solidFill>
                <a:latin typeface="Arial"/>
                <a:ea typeface="Arial"/>
                <a:cs typeface="Arial"/>
                <a:sym typeface="Arial"/>
              </a:rPr>
              <a:t>c</a:t>
            </a:r>
            <a:r>
              <a:rPr lang="en-US" sz="2000" b="0" i="0" u="none">
                <a:solidFill>
                  <a:srgbClr val="800000"/>
                </a:solidFill>
                <a:latin typeface="Arial"/>
                <a:ea typeface="Arial"/>
                <a:cs typeface="Arial"/>
                <a:sym typeface="Arial"/>
              </a:rPr>
              <a:t> ( R     S ) =  (</a:t>
            </a:r>
            <a:r>
              <a:rPr lang="en-US" sz="2400" b="0" i="0" u="none">
                <a:solidFill>
                  <a:srgbClr val="800000"/>
                </a:solidFill>
                <a:latin typeface="Noto Sans Symbols"/>
                <a:ea typeface="Noto Sans Symbols"/>
                <a:cs typeface="Noto Sans Symbols"/>
                <a:sym typeface="Noto Sans Symbols"/>
              </a:rPr>
              <a:t>σ</a:t>
            </a:r>
            <a:r>
              <a:rPr lang="en-US" sz="2000" b="0" i="0" u="none" baseline="-25000">
                <a:solidFill>
                  <a:srgbClr val="800000"/>
                </a:solidFill>
                <a:latin typeface="Arial"/>
                <a:ea typeface="Arial"/>
                <a:cs typeface="Arial"/>
                <a:sym typeface="Arial"/>
              </a:rPr>
              <a:t>c</a:t>
            </a:r>
            <a:r>
              <a:rPr lang="en-US" sz="2000" b="0" i="0" u="none">
                <a:solidFill>
                  <a:srgbClr val="800000"/>
                </a:solidFill>
                <a:latin typeface="Arial"/>
                <a:ea typeface="Arial"/>
                <a:cs typeface="Arial"/>
                <a:sym typeface="Arial"/>
              </a:rPr>
              <a:t> (R))     S</a:t>
            </a:r>
            <a:endParaRPr/>
          </a:p>
          <a:p>
            <a:pPr marL="342900" lvl="0" indent="-342900" algn="l" rtl="0">
              <a:lnSpc>
                <a:spcPct val="90000"/>
              </a:lnSpc>
              <a:spcBef>
                <a:spcPts val="40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Alternatively, if the selection condition c can be written as (c1 and c2), where condition c1 involves only the attributes of R and condition c2 involves only the attributes of S, the operations commute as follows: </a:t>
            </a:r>
            <a:endParaRPr/>
          </a:p>
          <a:p>
            <a:pPr marL="742950" lvl="1" indent="-285750" algn="l" rtl="0">
              <a:lnSpc>
                <a:spcPct val="90000"/>
              </a:lnSpc>
              <a:spcBef>
                <a:spcPts val="480"/>
              </a:spcBef>
              <a:spcAft>
                <a:spcPts val="0"/>
              </a:spcAft>
              <a:buClr>
                <a:schemeClr val="dk2"/>
              </a:buClr>
              <a:buSzPts val="1320"/>
              <a:buFont typeface="Noto Sans Symbols"/>
              <a:buChar char="■"/>
            </a:pPr>
            <a:r>
              <a:rPr lang="en-US" sz="2400" b="0" i="0" u="none">
                <a:solidFill>
                  <a:srgbClr val="800000"/>
                </a:solidFill>
                <a:latin typeface="Noto Sans Symbols"/>
                <a:ea typeface="Noto Sans Symbols"/>
                <a:cs typeface="Noto Sans Symbols"/>
                <a:sym typeface="Noto Sans Symbols"/>
              </a:rPr>
              <a:t>σ</a:t>
            </a:r>
            <a:r>
              <a:rPr lang="en-US" sz="2000" b="0" i="0" u="none" baseline="-25000">
                <a:solidFill>
                  <a:srgbClr val="800000"/>
                </a:solidFill>
                <a:latin typeface="Arial"/>
                <a:ea typeface="Arial"/>
                <a:cs typeface="Arial"/>
                <a:sym typeface="Arial"/>
              </a:rPr>
              <a:t>c</a:t>
            </a:r>
            <a:r>
              <a:rPr lang="en-US" sz="2000" b="0" i="0" u="none">
                <a:solidFill>
                  <a:srgbClr val="800000"/>
                </a:solidFill>
                <a:latin typeface="Arial"/>
                <a:ea typeface="Arial"/>
                <a:cs typeface="Arial"/>
                <a:sym typeface="Arial"/>
              </a:rPr>
              <a:t> ( R     S )  =  (</a:t>
            </a:r>
            <a:r>
              <a:rPr lang="en-US" sz="2400" b="0" i="0" u="none">
                <a:solidFill>
                  <a:srgbClr val="800000"/>
                </a:solidFill>
                <a:latin typeface="Noto Sans Symbols"/>
                <a:ea typeface="Noto Sans Symbols"/>
                <a:cs typeface="Noto Sans Symbols"/>
                <a:sym typeface="Noto Sans Symbols"/>
              </a:rPr>
              <a:t>σ</a:t>
            </a:r>
            <a:r>
              <a:rPr lang="en-US" sz="2000" b="0" i="0" u="none" baseline="-25000">
                <a:solidFill>
                  <a:srgbClr val="800000"/>
                </a:solidFill>
                <a:latin typeface="Arial"/>
                <a:ea typeface="Arial"/>
                <a:cs typeface="Arial"/>
                <a:sym typeface="Arial"/>
              </a:rPr>
              <a:t>c1</a:t>
            </a:r>
            <a:r>
              <a:rPr lang="en-US" sz="2000" b="0" i="0" u="none">
                <a:solidFill>
                  <a:srgbClr val="800000"/>
                </a:solidFill>
                <a:latin typeface="Arial"/>
                <a:ea typeface="Arial"/>
                <a:cs typeface="Arial"/>
                <a:sym typeface="Arial"/>
              </a:rPr>
              <a:t> (R))     (</a:t>
            </a:r>
            <a:r>
              <a:rPr lang="en-US" sz="2400" b="0" i="0" u="none">
                <a:solidFill>
                  <a:srgbClr val="800000"/>
                </a:solidFill>
                <a:latin typeface="Noto Sans Symbols"/>
                <a:ea typeface="Noto Sans Symbols"/>
                <a:cs typeface="Noto Sans Symbols"/>
                <a:sym typeface="Noto Sans Symbols"/>
              </a:rPr>
              <a:t>σ</a:t>
            </a:r>
            <a:r>
              <a:rPr lang="en-US" sz="2000" b="0" i="0" u="none" baseline="-25000">
                <a:solidFill>
                  <a:srgbClr val="800000"/>
                </a:solidFill>
                <a:latin typeface="Arial"/>
                <a:ea typeface="Arial"/>
                <a:cs typeface="Arial"/>
                <a:sym typeface="Arial"/>
              </a:rPr>
              <a:t>c2</a:t>
            </a:r>
            <a:r>
              <a:rPr lang="en-US" sz="2000" b="0" i="0" u="none">
                <a:solidFill>
                  <a:srgbClr val="800000"/>
                </a:solidFill>
                <a:latin typeface="Arial"/>
                <a:ea typeface="Arial"/>
                <a:cs typeface="Arial"/>
                <a:sym typeface="Arial"/>
              </a:rPr>
              <a:t> (S)) </a:t>
            </a:r>
            <a:endParaRPr/>
          </a:p>
        </p:txBody>
      </p:sp>
      <p:grpSp>
        <p:nvGrpSpPr>
          <p:cNvPr id="653" name="Google Shape;653;p80"/>
          <p:cNvGrpSpPr/>
          <p:nvPr/>
        </p:nvGrpSpPr>
        <p:grpSpPr>
          <a:xfrm>
            <a:off x="4419600" y="2263775"/>
            <a:ext cx="219075" cy="174625"/>
            <a:chOff x="377" y="2904"/>
            <a:chExt cx="154" cy="110"/>
          </a:xfrm>
        </p:grpSpPr>
        <p:cxnSp>
          <p:nvCxnSpPr>
            <p:cNvPr id="654" name="Google Shape;654;p80"/>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55" name="Google Shape;655;p80"/>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56" name="Google Shape;656;p80"/>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657" name="Google Shape;657;p80"/>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658" name="Google Shape;658;p80"/>
          <p:cNvGrpSpPr/>
          <p:nvPr/>
        </p:nvGrpSpPr>
        <p:grpSpPr>
          <a:xfrm>
            <a:off x="2590800" y="2286000"/>
            <a:ext cx="219075" cy="174625"/>
            <a:chOff x="377" y="2904"/>
            <a:chExt cx="154" cy="110"/>
          </a:xfrm>
        </p:grpSpPr>
        <p:cxnSp>
          <p:nvCxnSpPr>
            <p:cNvPr id="659" name="Google Shape;659;p80"/>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60" name="Google Shape;660;p80"/>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61" name="Google Shape;661;p80"/>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662" name="Google Shape;662;p80"/>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663" name="Google Shape;663;p80"/>
          <p:cNvGrpSpPr/>
          <p:nvPr/>
        </p:nvGrpSpPr>
        <p:grpSpPr>
          <a:xfrm>
            <a:off x="1295400" y="2881312"/>
            <a:ext cx="212725" cy="174625"/>
            <a:chOff x="377" y="2904"/>
            <a:chExt cx="154" cy="110"/>
          </a:xfrm>
        </p:grpSpPr>
        <p:cxnSp>
          <p:nvCxnSpPr>
            <p:cNvPr id="664" name="Google Shape;664;p80"/>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65" name="Google Shape;665;p80"/>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66" name="Google Shape;666;p80"/>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667" name="Google Shape;667;p80"/>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668" name="Google Shape;668;p80"/>
          <p:cNvGrpSpPr/>
          <p:nvPr/>
        </p:nvGrpSpPr>
        <p:grpSpPr>
          <a:xfrm>
            <a:off x="2438400" y="2873375"/>
            <a:ext cx="219075" cy="174625"/>
            <a:chOff x="377" y="2904"/>
            <a:chExt cx="154" cy="110"/>
          </a:xfrm>
        </p:grpSpPr>
        <p:cxnSp>
          <p:nvCxnSpPr>
            <p:cNvPr id="669" name="Google Shape;669;p80"/>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70" name="Google Shape;670;p80"/>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71" name="Google Shape;671;p80"/>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672" name="Google Shape;672;p80"/>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673" name="Google Shape;673;p80"/>
          <p:cNvGrpSpPr/>
          <p:nvPr/>
        </p:nvGrpSpPr>
        <p:grpSpPr>
          <a:xfrm>
            <a:off x="2743200" y="3330575"/>
            <a:ext cx="219075" cy="174625"/>
            <a:chOff x="377" y="2904"/>
            <a:chExt cx="154" cy="110"/>
          </a:xfrm>
        </p:grpSpPr>
        <p:cxnSp>
          <p:nvCxnSpPr>
            <p:cNvPr id="674" name="Google Shape;674;p80"/>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75" name="Google Shape;675;p80"/>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76" name="Google Shape;676;p80"/>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677" name="Google Shape;677;p80"/>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678" name="Google Shape;678;p80"/>
          <p:cNvGrpSpPr/>
          <p:nvPr/>
        </p:nvGrpSpPr>
        <p:grpSpPr>
          <a:xfrm>
            <a:off x="1838325" y="4191000"/>
            <a:ext cx="219075" cy="174625"/>
            <a:chOff x="377" y="2904"/>
            <a:chExt cx="154" cy="110"/>
          </a:xfrm>
        </p:grpSpPr>
        <p:cxnSp>
          <p:nvCxnSpPr>
            <p:cNvPr id="679" name="Google Shape;679;p80"/>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80" name="Google Shape;680;p80"/>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81" name="Google Shape;681;p80"/>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682" name="Google Shape;682;p80"/>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683" name="Google Shape;683;p80"/>
          <p:cNvGrpSpPr/>
          <p:nvPr/>
        </p:nvGrpSpPr>
        <p:grpSpPr>
          <a:xfrm>
            <a:off x="3733800" y="4191000"/>
            <a:ext cx="219075" cy="174625"/>
            <a:chOff x="377" y="2904"/>
            <a:chExt cx="154" cy="110"/>
          </a:xfrm>
        </p:grpSpPr>
        <p:cxnSp>
          <p:nvCxnSpPr>
            <p:cNvPr id="684" name="Google Shape;684;p80"/>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85" name="Google Shape;685;p80"/>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86" name="Google Shape;686;p80"/>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687" name="Google Shape;687;p80"/>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688" name="Google Shape;688;p80"/>
          <p:cNvGrpSpPr/>
          <p:nvPr/>
        </p:nvGrpSpPr>
        <p:grpSpPr>
          <a:xfrm>
            <a:off x="3886200" y="5486400"/>
            <a:ext cx="219075" cy="174625"/>
            <a:chOff x="377" y="2904"/>
            <a:chExt cx="154" cy="110"/>
          </a:xfrm>
        </p:grpSpPr>
        <p:cxnSp>
          <p:nvCxnSpPr>
            <p:cNvPr id="689" name="Google Shape;689;p80"/>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90" name="Google Shape;690;p80"/>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91" name="Google Shape;691;p80"/>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692" name="Google Shape;692;p80"/>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693" name="Google Shape;693;p80"/>
          <p:cNvGrpSpPr/>
          <p:nvPr/>
        </p:nvGrpSpPr>
        <p:grpSpPr>
          <a:xfrm>
            <a:off x="1828800" y="5486400"/>
            <a:ext cx="219075" cy="174625"/>
            <a:chOff x="377" y="2904"/>
            <a:chExt cx="154" cy="110"/>
          </a:xfrm>
        </p:grpSpPr>
        <p:cxnSp>
          <p:nvCxnSpPr>
            <p:cNvPr id="694" name="Google Shape;694;p80"/>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95" name="Google Shape;695;p80"/>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696" name="Google Shape;696;p80"/>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697" name="Google Shape;697;p80"/>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8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78</a:t>
            </a:fld>
            <a:endParaRPr/>
          </a:p>
        </p:txBody>
      </p:sp>
      <p:sp>
        <p:nvSpPr>
          <p:cNvPr id="704" name="Google Shape;704;p8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(11)</a:t>
            </a:r>
            <a:endParaRPr/>
          </a:p>
        </p:txBody>
      </p:sp>
      <p:sp>
        <p:nvSpPr>
          <p:cNvPr id="705" name="Google Shape;705;p8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General Transformation Rules for Relational Algebra Operations (contd.):</a:t>
            </a:r>
            <a:endParaRPr/>
          </a:p>
          <a:p>
            <a:pPr marL="342900" lvl="0" indent="-342900" algn="l" rtl="0">
              <a:lnSpc>
                <a:spcPct val="100000"/>
              </a:lnSpc>
              <a:spcBef>
                <a:spcPts val="560"/>
              </a:spcBef>
              <a:spcAft>
                <a:spcPts val="0"/>
              </a:spcAft>
              <a:buSzPts val="1440"/>
              <a:buNone/>
            </a:pPr>
            <a:r>
              <a:rPr lang="en-US" sz="2400" b="0" i="0" u="none">
                <a:solidFill>
                  <a:schemeClr val="dk2"/>
                </a:solidFill>
                <a:latin typeface="Arial"/>
                <a:ea typeface="Arial"/>
                <a:cs typeface="Arial"/>
                <a:sym typeface="Arial"/>
              </a:rPr>
              <a:t>7. Commuting </a:t>
            </a:r>
            <a:r>
              <a:rPr lang="en-US" sz="2800" b="0" i="0" u="none">
                <a:solidFill>
                  <a:schemeClr val="dk2"/>
                </a:solidFill>
                <a:latin typeface="Noto Sans Symbols"/>
                <a:ea typeface="Noto Sans Symbols"/>
                <a:cs typeface="Noto Sans Symbols"/>
                <a:sym typeface="Noto Sans Symbols"/>
              </a:rPr>
              <a:t>π</a:t>
            </a:r>
            <a:r>
              <a:rPr lang="en-US" sz="2400" b="0" i="0" u="none">
                <a:solidFill>
                  <a:schemeClr val="dk2"/>
                </a:solidFill>
                <a:latin typeface="Arial"/>
                <a:ea typeface="Arial"/>
                <a:cs typeface="Arial"/>
                <a:sym typeface="Arial"/>
              </a:rPr>
              <a:t> with    (or x): Suppose that the projection list is L = {A1, ..., An, B1, ..., Bm}, where A1, ..., An are attributes of R and B1, ..., Bm are attributes of S. If the join condition c involves only attributes in L, the two operations can be commuted as follows: 	</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Noto Sans Symbols"/>
                <a:ea typeface="Noto Sans Symbols"/>
                <a:cs typeface="Noto Sans Symbols"/>
                <a:sym typeface="Noto Sans Symbols"/>
              </a:rPr>
              <a:t>π</a:t>
            </a:r>
            <a:r>
              <a:rPr lang="en-US" sz="2200" b="0" i="0" u="none" baseline="-25000">
                <a:solidFill>
                  <a:srgbClr val="800000"/>
                </a:solidFill>
                <a:latin typeface="Arial"/>
                <a:ea typeface="Arial"/>
                <a:cs typeface="Arial"/>
                <a:sym typeface="Arial"/>
              </a:rPr>
              <a:t>L</a:t>
            </a:r>
            <a:r>
              <a:rPr lang="en-US" sz="2200" b="0" i="0" u="none">
                <a:solidFill>
                  <a:srgbClr val="800000"/>
                </a:solidFill>
                <a:latin typeface="Arial"/>
                <a:ea typeface="Arial"/>
                <a:cs typeface="Arial"/>
                <a:sym typeface="Arial"/>
              </a:rPr>
              <a:t> ( R    </a:t>
            </a:r>
            <a:r>
              <a:rPr lang="en-US" sz="2200" b="0" i="0" u="none" baseline="-25000">
                <a:solidFill>
                  <a:srgbClr val="800000"/>
                </a:solidFill>
                <a:latin typeface="Arial"/>
                <a:ea typeface="Arial"/>
                <a:cs typeface="Arial"/>
                <a:sym typeface="Arial"/>
              </a:rPr>
              <a:t>C</a:t>
            </a:r>
            <a:r>
              <a:rPr lang="en-US" sz="2200" b="0" i="0" u="none">
                <a:solidFill>
                  <a:srgbClr val="800000"/>
                </a:solidFill>
                <a:latin typeface="Arial"/>
                <a:ea typeface="Arial"/>
                <a:cs typeface="Arial"/>
                <a:sym typeface="Arial"/>
              </a:rPr>
              <a:t> S )  = (</a:t>
            </a:r>
            <a:r>
              <a:rPr lang="en-US" sz="2600" b="0" i="0" u="none">
                <a:solidFill>
                  <a:srgbClr val="800000"/>
                </a:solidFill>
                <a:latin typeface="Noto Sans Symbols"/>
                <a:ea typeface="Noto Sans Symbols"/>
                <a:cs typeface="Noto Sans Symbols"/>
                <a:sym typeface="Noto Sans Symbols"/>
              </a:rPr>
              <a:t>π</a:t>
            </a:r>
            <a:r>
              <a:rPr lang="en-US" sz="2200" b="0" i="0" u="none" baseline="-25000">
                <a:solidFill>
                  <a:srgbClr val="800000"/>
                </a:solidFill>
                <a:latin typeface="Arial"/>
                <a:ea typeface="Arial"/>
                <a:cs typeface="Arial"/>
                <a:sym typeface="Arial"/>
              </a:rPr>
              <a:t>A1, ..., An</a:t>
            </a:r>
            <a:r>
              <a:rPr lang="en-US" sz="2200" b="0" i="0" u="none">
                <a:solidFill>
                  <a:srgbClr val="800000"/>
                </a:solidFill>
                <a:latin typeface="Arial"/>
                <a:ea typeface="Arial"/>
                <a:cs typeface="Arial"/>
                <a:sym typeface="Arial"/>
              </a:rPr>
              <a:t> (R))     </a:t>
            </a:r>
            <a:r>
              <a:rPr lang="en-US" sz="2200" b="0" i="0" u="none" baseline="-25000">
                <a:solidFill>
                  <a:srgbClr val="800000"/>
                </a:solidFill>
                <a:latin typeface="Arial"/>
                <a:ea typeface="Arial"/>
                <a:cs typeface="Arial"/>
                <a:sym typeface="Arial"/>
              </a:rPr>
              <a:t>C</a:t>
            </a:r>
            <a:r>
              <a:rPr lang="en-US" sz="2200" b="0" i="0" u="none">
                <a:solidFill>
                  <a:srgbClr val="800000"/>
                </a:solidFill>
                <a:latin typeface="Arial"/>
                <a:ea typeface="Arial"/>
                <a:cs typeface="Arial"/>
                <a:sym typeface="Arial"/>
              </a:rPr>
              <a:t> (</a:t>
            </a:r>
            <a:r>
              <a:rPr lang="en-US" sz="2600" b="0" i="0" u="none">
                <a:solidFill>
                  <a:srgbClr val="800000"/>
                </a:solidFill>
                <a:latin typeface="Noto Sans Symbols"/>
                <a:ea typeface="Noto Sans Symbols"/>
                <a:cs typeface="Noto Sans Symbols"/>
                <a:sym typeface="Noto Sans Symbols"/>
              </a:rPr>
              <a:t>π</a:t>
            </a:r>
            <a:r>
              <a:rPr lang="en-US" sz="2200" b="0" i="0" u="none">
                <a:solidFill>
                  <a:srgbClr val="800000"/>
                </a:solidFill>
                <a:latin typeface="Arial"/>
                <a:ea typeface="Arial"/>
                <a:cs typeface="Arial"/>
                <a:sym typeface="Arial"/>
              </a:rPr>
              <a:t> </a:t>
            </a:r>
            <a:r>
              <a:rPr lang="en-US" sz="2200" b="0" i="0" u="none" baseline="-25000">
                <a:solidFill>
                  <a:srgbClr val="800000"/>
                </a:solidFill>
                <a:latin typeface="Arial"/>
                <a:ea typeface="Arial"/>
                <a:cs typeface="Arial"/>
                <a:sym typeface="Arial"/>
              </a:rPr>
              <a:t>B1, ..., Bm</a:t>
            </a:r>
            <a:r>
              <a:rPr lang="en-US" sz="2200" b="0" i="0" u="none">
                <a:solidFill>
                  <a:srgbClr val="800000"/>
                </a:solidFill>
                <a:latin typeface="Arial"/>
                <a:ea typeface="Arial"/>
                <a:cs typeface="Arial"/>
                <a:sym typeface="Arial"/>
              </a:rPr>
              <a:t> (S))</a:t>
            </a:r>
            <a:endParaRPr/>
          </a:p>
          <a:p>
            <a:pPr marL="342900" lvl="0" indent="-342900" algn="l" rtl="0">
              <a:lnSpc>
                <a:spcPct val="100000"/>
              </a:lnSpc>
              <a:spcBef>
                <a:spcPts val="56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If the join condition C contains additional attributes not in L, these must be added to the projection list, and a final </a:t>
            </a:r>
            <a:r>
              <a:rPr lang="en-US" sz="2800" b="0" i="0" u="none">
                <a:solidFill>
                  <a:schemeClr val="dk2"/>
                </a:solidFill>
                <a:latin typeface="Noto Sans Symbols"/>
                <a:ea typeface="Noto Sans Symbols"/>
                <a:cs typeface="Noto Sans Symbols"/>
                <a:sym typeface="Noto Sans Symbols"/>
              </a:rPr>
              <a:t>π</a:t>
            </a:r>
            <a:r>
              <a:rPr lang="en-US" sz="2400" b="0" i="0" u="none">
                <a:solidFill>
                  <a:schemeClr val="dk2"/>
                </a:solidFill>
                <a:latin typeface="Arial"/>
                <a:ea typeface="Arial"/>
                <a:cs typeface="Arial"/>
                <a:sym typeface="Arial"/>
              </a:rPr>
              <a:t> operation is needed. </a:t>
            </a:r>
            <a:endParaRPr/>
          </a:p>
        </p:txBody>
      </p:sp>
      <p:grpSp>
        <p:nvGrpSpPr>
          <p:cNvPr id="706" name="Google Shape;706;p81"/>
          <p:cNvGrpSpPr/>
          <p:nvPr/>
        </p:nvGrpSpPr>
        <p:grpSpPr>
          <a:xfrm>
            <a:off x="1828800" y="4549775"/>
            <a:ext cx="219075" cy="174625"/>
            <a:chOff x="377" y="2904"/>
            <a:chExt cx="154" cy="110"/>
          </a:xfrm>
        </p:grpSpPr>
        <p:cxnSp>
          <p:nvCxnSpPr>
            <p:cNvPr id="707" name="Google Shape;707;p81"/>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08" name="Google Shape;708;p81"/>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09" name="Google Shape;709;p81"/>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710" name="Google Shape;710;p81"/>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711" name="Google Shape;711;p81"/>
          <p:cNvGrpSpPr/>
          <p:nvPr/>
        </p:nvGrpSpPr>
        <p:grpSpPr>
          <a:xfrm>
            <a:off x="4876800" y="4549775"/>
            <a:ext cx="219075" cy="174625"/>
            <a:chOff x="377" y="2904"/>
            <a:chExt cx="154" cy="110"/>
          </a:xfrm>
        </p:grpSpPr>
        <p:cxnSp>
          <p:nvCxnSpPr>
            <p:cNvPr id="712" name="Google Shape;712;p81"/>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13" name="Google Shape;713;p81"/>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14" name="Google Shape;714;p81"/>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715" name="Google Shape;715;p81"/>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716" name="Google Shape;716;p81"/>
          <p:cNvGrpSpPr/>
          <p:nvPr/>
        </p:nvGrpSpPr>
        <p:grpSpPr>
          <a:xfrm>
            <a:off x="3200400" y="2644775"/>
            <a:ext cx="219075" cy="174625"/>
            <a:chOff x="377" y="2904"/>
            <a:chExt cx="154" cy="110"/>
          </a:xfrm>
        </p:grpSpPr>
        <p:cxnSp>
          <p:nvCxnSpPr>
            <p:cNvPr id="717" name="Google Shape;717;p81"/>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18" name="Google Shape;718;p81"/>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19" name="Google Shape;719;p81"/>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720" name="Google Shape;720;p81"/>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8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79</a:t>
            </a:fld>
            <a:endParaRPr/>
          </a:p>
        </p:txBody>
      </p:sp>
      <p:sp>
        <p:nvSpPr>
          <p:cNvPr id="727" name="Google Shape;727;p8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(12)</a:t>
            </a:r>
            <a:endParaRPr/>
          </a:p>
        </p:txBody>
      </p:sp>
      <p:sp>
        <p:nvSpPr>
          <p:cNvPr id="728" name="Google Shape;728;p82"/>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General Transformation Rules for Relational Algebra Operations (contd.):</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8. Commutativity of set operations: The set operations </a:t>
            </a:r>
            <a:r>
              <a:rPr lang="en-US" sz="2400" b="0" i="0" u="none">
                <a:solidFill>
                  <a:schemeClr val="dk2"/>
                </a:solidFill>
                <a:latin typeface="Merriweather Sans"/>
                <a:ea typeface="Merriweather Sans"/>
                <a:cs typeface="Merriweather Sans"/>
                <a:sym typeface="Merriweather Sans"/>
              </a:rPr>
              <a:t>υ</a:t>
            </a:r>
            <a:r>
              <a:rPr lang="en-US" sz="2400" b="0" i="0" u="none">
                <a:solidFill>
                  <a:schemeClr val="dk2"/>
                </a:solidFill>
                <a:latin typeface="Arial"/>
                <a:ea typeface="Arial"/>
                <a:cs typeface="Arial"/>
                <a:sym typeface="Arial"/>
              </a:rPr>
              <a:t> and ∩ are commutative but “–” is not. </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9. Associativity of     , x, </a:t>
            </a:r>
            <a:r>
              <a:rPr lang="en-US" sz="2400" b="0" i="0" u="none">
                <a:solidFill>
                  <a:schemeClr val="dk2"/>
                </a:solidFill>
                <a:latin typeface="Merriweather Sans"/>
                <a:ea typeface="Merriweather Sans"/>
                <a:cs typeface="Merriweather Sans"/>
                <a:sym typeface="Merriweather Sans"/>
              </a:rPr>
              <a:t>υ</a:t>
            </a:r>
            <a:r>
              <a:rPr lang="en-US" sz="2400" b="0" i="0" u="none">
                <a:solidFill>
                  <a:schemeClr val="dk2"/>
                </a:solidFill>
                <a:latin typeface="Arial"/>
                <a:ea typeface="Arial"/>
                <a:cs typeface="Arial"/>
                <a:sym typeface="Arial"/>
              </a:rPr>
              <a:t>, and ∩ : These four operations are individually associative; that is, if </a:t>
            </a:r>
            <a:r>
              <a:rPr lang="en-US" sz="2400" b="0" i="0" u="none">
                <a:solidFill>
                  <a:schemeClr val="dk2"/>
                </a:solidFill>
                <a:latin typeface="Noto Sans Symbols"/>
                <a:ea typeface="Noto Sans Symbols"/>
                <a:cs typeface="Noto Sans Symbols"/>
                <a:sym typeface="Noto Sans Symbols"/>
              </a:rPr>
              <a:t>θ</a:t>
            </a:r>
            <a:r>
              <a:rPr lang="en-US" sz="2400" b="0" i="0" u="none">
                <a:solidFill>
                  <a:schemeClr val="dk2"/>
                </a:solidFill>
                <a:latin typeface="Arial"/>
                <a:ea typeface="Arial"/>
                <a:cs typeface="Arial"/>
                <a:sym typeface="Arial"/>
              </a:rPr>
              <a:t> stands for any one of these four operations (throughout the expression), we have</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 R </a:t>
            </a:r>
            <a:r>
              <a:rPr lang="en-US" sz="2200" b="0" i="0" u="none">
                <a:solidFill>
                  <a:srgbClr val="800000"/>
                </a:solidFill>
                <a:latin typeface="Noto Sans Symbols"/>
                <a:ea typeface="Noto Sans Symbols"/>
                <a:cs typeface="Noto Sans Symbols"/>
                <a:sym typeface="Noto Sans Symbols"/>
              </a:rPr>
              <a:t>θ</a:t>
            </a:r>
            <a:r>
              <a:rPr lang="en-US" sz="2200" b="0" i="0" u="none">
                <a:solidFill>
                  <a:srgbClr val="800000"/>
                </a:solidFill>
                <a:latin typeface="Arial"/>
                <a:ea typeface="Arial"/>
                <a:cs typeface="Arial"/>
                <a:sym typeface="Arial"/>
              </a:rPr>
              <a:t> S ) </a:t>
            </a:r>
            <a:r>
              <a:rPr lang="en-US" sz="2200" b="0" i="0" u="none">
                <a:solidFill>
                  <a:srgbClr val="800000"/>
                </a:solidFill>
                <a:latin typeface="Noto Sans Symbols"/>
                <a:ea typeface="Noto Sans Symbols"/>
                <a:cs typeface="Noto Sans Symbols"/>
                <a:sym typeface="Noto Sans Symbols"/>
              </a:rPr>
              <a:t>θ</a:t>
            </a:r>
            <a:r>
              <a:rPr lang="en-US" sz="2200" b="0" i="0" u="none">
                <a:solidFill>
                  <a:srgbClr val="800000"/>
                </a:solidFill>
                <a:latin typeface="Arial"/>
                <a:ea typeface="Arial"/>
                <a:cs typeface="Arial"/>
                <a:sym typeface="Arial"/>
              </a:rPr>
              <a:t> T  =  R </a:t>
            </a:r>
            <a:r>
              <a:rPr lang="en-US" sz="2200" b="0" i="0" u="none">
                <a:solidFill>
                  <a:srgbClr val="800000"/>
                </a:solidFill>
                <a:latin typeface="Noto Sans Symbols"/>
                <a:ea typeface="Noto Sans Symbols"/>
                <a:cs typeface="Noto Sans Symbols"/>
                <a:sym typeface="Noto Sans Symbols"/>
              </a:rPr>
              <a:t>θ</a:t>
            </a:r>
            <a:r>
              <a:rPr lang="en-US" sz="2200" b="0" i="0" u="none">
                <a:solidFill>
                  <a:srgbClr val="800000"/>
                </a:solidFill>
                <a:latin typeface="Arial"/>
                <a:ea typeface="Arial"/>
                <a:cs typeface="Arial"/>
                <a:sym typeface="Arial"/>
              </a:rPr>
              <a:t> ( S </a:t>
            </a:r>
            <a:r>
              <a:rPr lang="en-US" sz="2200" b="0" i="0" u="none">
                <a:solidFill>
                  <a:srgbClr val="800000"/>
                </a:solidFill>
                <a:latin typeface="Noto Sans Symbols"/>
                <a:ea typeface="Noto Sans Symbols"/>
                <a:cs typeface="Noto Sans Symbols"/>
                <a:sym typeface="Noto Sans Symbols"/>
              </a:rPr>
              <a:t>θ</a:t>
            </a:r>
            <a:r>
              <a:rPr lang="en-US" sz="2200" b="0" i="0" u="none">
                <a:solidFill>
                  <a:srgbClr val="800000"/>
                </a:solidFill>
                <a:latin typeface="Arial"/>
                <a:ea typeface="Arial"/>
                <a:cs typeface="Arial"/>
                <a:sym typeface="Arial"/>
              </a:rPr>
              <a:t> T ) </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10. Commuting </a:t>
            </a:r>
            <a:r>
              <a:rPr lang="en-US" sz="2400" b="0" i="0" u="none">
                <a:solidFill>
                  <a:schemeClr val="dk2"/>
                </a:solidFill>
                <a:latin typeface="Noto Sans Symbols"/>
                <a:ea typeface="Noto Sans Symbols"/>
                <a:cs typeface="Noto Sans Symbols"/>
                <a:sym typeface="Noto Sans Symbols"/>
              </a:rPr>
              <a:t>σ</a:t>
            </a:r>
            <a:r>
              <a:rPr lang="en-US" sz="2400" b="0" i="0" u="none">
                <a:solidFill>
                  <a:schemeClr val="dk2"/>
                </a:solidFill>
                <a:latin typeface="Arial"/>
                <a:ea typeface="Arial"/>
                <a:cs typeface="Arial"/>
                <a:sym typeface="Arial"/>
              </a:rPr>
              <a:t> with set operations: The </a:t>
            </a:r>
            <a:r>
              <a:rPr lang="en-US" sz="2400" b="0" i="0" u="none">
                <a:solidFill>
                  <a:schemeClr val="dk2"/>
                </a:solidFill>
                <a:latin typeface="Noto Sans Symbols"/>
                <a:ea typeface="Noto Sans Symbols"/>
                <a:cs typeface="Noto Sans Symbols"/>
                <a:sym typeface="Noto Sans Symbols"/>
              </a:rPr>
              <a:t>σ</a:t>
            </a:r>
            <a:r>
              <a:rPr lang="en-US" sz="2400" b="0" i="0" u="none">
                <a:solidFill>
                  <a:schemeClr val="dk2"/>
                </a:solidFill>
                <a:latin typeface="Arial"/>
                <a:ea typeface="Arial"/>
                <a:cs typeface="Arial"/>
                <a:sym typeface="Arial"/>
              </a:rPr>
              <a:t> operation commutes with </a:t>
            </a:r>
            <a:r>
              <a:rPr lang="en-US" sz="2400" b="0" i="0" u="none">
                <a:solidFill>
                  <a:schemeClr val="dk2"/>
                </a:solidFill>
                <a:latin typeface="Merriweather Sans"/>
                <a:ea typeface="Merriweather Sans"/>
                <a:cs typeface="Merriweather Sans"/>
                <a:sym typeface="Merriweather Sans"/>
              </a:rPr>
              <a:t>υ</a:t>
            </a:r>
            <a:r>
              <a:rPr lang="en-US" sz="2400" b="0" i="0" u="none">
                <a:solidFill>
                  <a:schemeClr val="dk2"/>
                </a:solidFill>
                <a:latin typeface="Arial"/>
                <a:ea typeface="Arial"/>
                <a:cs typeface="Arial"/>
                <a:sym typeface="Arial"/>
              </a:rPr>
              <a:t> , ∩ , and –. If </a:t>
            </a:r>
            <a:r>
              <a:rPr lang="en-US" sz="2400" b="0" i="0" u="none">
                <a:solidFill>
                  <a:schemeClr val="dk2"/>
                </a:solidFill>
                <a:latin typeface="Noto Sans Symbols"/>
                <a:ea typeface="Noto Sans Symbols"/>
                <a:cs typeface="Noto Sans Symbols"/>
                <a:sym typeface="Noto Sans Symbols"/>
              </a:rPr>
              <a:t>θ</a:t>
            </a:r>
            <a:r>
              <a:rPr lang="en-US" sz="2400" b="0" i="0" u="none">
                <a:solidFill>
                  <a:schemeClr val="dk2"/>
                </a:solidFill>
                <a:latin typeface="Arial"/>
                <a:ea typeface="Arial"/>
                <a:cs typeface="Arial"/>
                <a:sym typeface="Arial"/>
              </a:rPr>
              <a:t> stands for any one of these three operations, we have </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Noto Sans Symbols"/>
                <a:ea typeface="Noto Sans Symbols"/>
                <a:cs typeface="Noto Sans Symbols"/>
                <a:sym typeface="Noto Sans Symbols"/>
              </a:rPr>
              <a:t>σ</a:t>
            </a:r>
            <a:r>
              <a:rPr lang="en-US" sz="2200" b="0" i="0" u="none" baseline="-25000">
                <a:solidFill>
                  <a:srgbClr val="800000"/>
                </a:solidFill>
                <a:latin typeface="Arial"/>
                <a:ea typeface="Arial"/>
                <a:cs typeface="Arial"/>
                <a:sym typeface="Arial"/>
              </a:rPr>
              <a:t>c</a:t>
            </a:r>
            <a:r>
              <a:rPr lang="en-US" sz="2200" b="0" i="0" u="none">
                <a:solidFill>
                  <a:srgbClr val="800000"/>
                </a:solidFill>
                <a:latin typeface="Arial"/>
                <a:ea typeface="Arial"/>
                <a:cs typeface="Arial"/>
                <a:sym typeface="Arial"/>
              </a:rPr>
              <a:t> ( R </a:t>
            </a:r>
            <a:r>
              <a:rPr lang="en-US" sz="2200" b="0" i="0" u="none">
                <a:solidFill>
                  <a:srgbClr val="800000"/>
                </a:solidFill>
                <a:latin typeface="Noto Sans Symbols"/>
                <a:ea typeface="Noto Sans Symbols"/>
                <a:cs typeface="Noto Sans Symbols"/>
                <a:sym typeface="Noto Sans Symbols"/>
              </a:rPr>
              <a:t>θ</a:t>
            </a:r>
            <a:r>
              <a:rPr lang="en-US" sz="2200" b="0" i="0" u="none">
                <a:solidFill>
                  <a:srgbClr val="800000"/>
                </a:solidFill>
                <a:latin typeface="Arial"/>
                <a:ea typeface="Arial"/>
                <a:cs typeface="Arial"/>
                <a:sym typeface="Arial"/>
              </a:rPr>
              <a:t> S )  =  (</a:t>
            </a:r>
            <a:r>
              <a:rPr lang="en-US" sz="2200" b="0" i="0" u="none">
                <a:solidFill>
                  <a:srgbClr val="800000"/>
                </a:solidFill>
                <a:latin typeface="Noto Sans Symbols"/>
                <a:ea typeface="Noto Sans Symbols"/>
                <a:cs typeface="Noto Sans Symbols"/>
                <a:sym typeface="Noto Sans Symbols"/>
              </a:rPr>
              <a:t>σ</a:t>
            </a:r>
            <a:r>
              <a:rPr lang="en-US" sz="2200" b="0" i="0" u="none" baseline="-25000">
                <a:solidFill>
                  <a:srgbClr val="800000"/>
                </a:solidFill>
                <a:latin typeface="Arial"/>
                <a:ea typeface="Arial"/>
                <a:cs typeface="Arial"/>
                <a:sym typeface="Arial"/>
              </a:rPr>
              <a:t>c</a:t>
            </a:r>
            <a:r>
              <a:rPr lang="en-US" sz="2200" b="0" i="0" u="none">
                <a:solidFill>
                  <a:srgbClr val="800000"/>
                </a:solidFill>
                <a:latin typeface="Arial"/>
                <a:ea typeface="Arial"/>
                <a:cs typeface="Arial"/>
                <a:sym typeface="Arial"/>
              </a:rPr>
              <a:t> (R)) </a:t>
            </a:r>
            <a:r>
              <a:rPr lang="en-US" sz="2200" b="0" i="0" u="none">
                <a:solidFill>
                  <a:srgbClr val="800000"/>
                </a:solidFill>
                <a:latin typeface="Noto Sans Symbols"/>
                <a:ea typeface="Noto Sans Symbols"/>
                <a:cs typeface="Noto Sans Symbols"/>
                <a:sym typeface="Noto Sans Symbols"/>
              </a:rPr>
              <a:t>θ</a:t>
            </a:r>
            <a:r>
              <a:rPr lang="en-US" sz="2200" b="0" i="0" u="none">
                <a:solidFill>
                  <a:srgbClr val="800000"/>
                </a:solidFill>
                <a:latin typeface="Arial"/>
                <a:ea typeface="Arial"/>
                <a:cs typeface="Arial"/>
                <a:sym typeface="Arial"/>
              </a:rPr>
              <a:t> (</a:t>
            </a:r>
            <a:r>
              <a:rPr lang="en-US" sz="2200" b="0" i="0" u="none">
                <a:solidFill>
                  <a:srgbClr val="800000"/>
                </a:solidFill>
                <a:latin typeface="Noto Sans Symbols"/>
                <a:ea typeface="Noto Sans Symbols"/>
                <a:cs typeface="Noto Sans Symbols"/>
                <a:sym typeface="Noto Sans Symbols"/>
              </a:rPr>
              <a:t>σ</a:t>
            </a:r>
            <a:r>
              <a:rPr lang="en-US" sz="2200" b="0" i="0" u="none" baseline="-25000">
                <a:solidFill>
                  <a:srgbClr val="800000"/>
                </a:solidFill>
                <a:latin typeface="Arial"/>
                <a:ea typeface="Arial"/>
                <a:cs typeface="Arial"/>
                <a:sym typeface="Arial"/>
              </a:rPr>
              <a:t>c</a:t>
            </a:r>
            <a:r>
              <a:rPr lang="en-US" sz="2200" b="0" i="0" u="none">
                <a:solidFill>
                  <a:srgbClr val="800000"/>
                </a:solidFill>
                <a:latin typeface="Arial"/>
                <a:ea typeface="Arial"/>
                <a:cs typeface="Arial"/>
                <a:sym typeface="Arial"/>
              </a:rPr>
              <a:t> (S)) </a:t>
            </a:r>
            <a:endParaRPr/>
          </a:p>
        </p:txBody>
      </p:sp>
      <p:grpSp>
        <p:nvGrpSpPr>
          <p:cNvPr id="729" name="Google Shape;729;p82"/>
          <p:cNvGrpSpPr/>
          <p:nvPr/>
        </p:nvGrpSpPr>
        <p:grpSpPr>
          <a:xfrm>
            <a:off x="2819400" y="3048000"/>
            <a:ext cx="219075" cy="174625"/>
            <a:chOff x="377" y="2904"/>
            <a:chExt cx="154" cy="110"/>
          </a:xfrm>
        </p:grpSpPr>
        <p:cxnSp>
          <p:nvCxnSpPr>
            <p:cNvPr id="730" name="Google Shape;730;p82"/>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31" name="Google Shape;731;p82"/>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32" name="Google Shape;732;p82"/>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733" name="Google Shape;733;p82"/>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8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80</a:t>
            </a:fld>
            <a:endParaRPr/>
          </a:p>
        </p:txBody>
      </p:sp>
      <p:sp>
        <p:nvSpPr>
          <p:cNvPr id="740" name="Google Shape;740;p8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(13)</a:t>
            </a:r>
            <a:endParaRPr/>
          </a:p>
        </p:txBody>
      </p:sp>
      <p:sp>
        <p:nvSpPr>
          <p:cNvPr id="741" name="Google Shape;741;p8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General Transformation Rules for Relational Algebra Operations (contd.):</a:t>
            </a:r>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The </a:t>
            </a:r>
            <a:r>
              <a:rPr lang="en-US" sz="2400" b="0" i="0" u="none">
                <a:solidFill>
                  <a:schemeClr val="dk2"/>
                </a:solidFill>
                <a:latin typeface="Noto Sans Symbols"/>
                <a:ea typeface="Noto Sans Symbols"/>
                <a:cs typeface="Noto Sans Symbols"/>
                <a:sym typeface="Noto Sans Symbols"/>
              </a:rPr>
              <a:t>π</a:t>
            </a:r>
            <a:r>
              <a:rPr lang="en-US" sz="2400" b="0" i="0" u="none">
                <a:solidFill>
                  <a:schemeClr val="dk2"/>
                </a:solidFill>
                <a:latin typeface="Arial"/>
                <a:ea typeface="Arial"/>
                <a:cs typeface="Arial"/>
                <a:sym typeface="Arial"/>
              </a:rPr>
              <a:t> operation commutes with </a:t>
            </a:r>
            <a:r>
              <a:rPr lang="en-US" sz="2400" b="0" i="0" u="none">
                <a:solidFill>
                  <a:schemeClr val="dk2"/>
                </a:solidFill>
                <a:latin typeface="Merriweather Sans"/>
                <a:ea typeface="Merriweather Sans"/>
                <a:cs typeface="Merriweather Sans"/>
                <a:sym typeface="Merriweather Sans"/>
              </a:rPr>
              <a:t>υ</a:t>
            </a:r>
            <a:r>
              <a:rPr lang="en-US" sz="2400" b="0" i="0" u="none">
                <a:solidFill>
                  <a:schemeClr val="dk2"/>
                </a:solidFill>
                <a:latin typeface="Arial"/>
                <a:ea typeface="Arial"/>
                <a:cs typeface="Arial"/>
                <a:sym typeface="Arial"/>
              </a:rPr>
              <a:t>. 					</a:t>
            </a:r>
            <a:r>
              <a:rPr lang="en-US" sz="2400" b="0" i="0" u="none">
                <a:solidFill>
                  <a:schemeClr val="dk2"/>
                </a:solidFill>
                <a:latin typeface="Noto Sans Symbols"/>
                <a:ea typeface="Noto Sans Symbols"/>
                <a:cs typeface="Noto Sans Symbols"/>
                <a:sym typeface="Noto Sans Symbols"/>
              </a:rPr>
              <a:t>π</a:t>
            </a:r>
            <a:r>
              <a:rPr lang="en-US" sz="2400" b="0" i="0" u="none" baseline="-25000">
                <a:solidFill>
                  <a:schemeClr val="dk2"/>
                </a:solidFill>
                <a:latin typeface="Arial"/>
                <a:ea typeface="Arial"/>
                <a:cs typeface="Arial"/>
                <a:sym typeface="Arial"/>
              </a:rPr>
              <a:t>L</a:t>
            </a:r>
            <a:r>
              <a:rPr lang="en-US" sz="2400" b="0" i="0" u="none">
                <a:solidFill>
                  <a:schemeClr val="dk2"/>
                </a:solidFill>
                <a:latin typeface="Arial"/>
                <a:ea typeface="Arial"/>
                <a:cs typeface="Arial"/>
                <a:sym typeface="Arial"/>
              </a:rPr>
              <a:t> ( R </a:t>
            </a:r>
            <a:r>
              <a:rPr lang="en-US" sz="2400" b="0" i="0" u="none">
                <a:solidFill>
                  <a:schemeClr val="dk2"/>
                </a:solidFill>
                <a:latin typeface="Merriweather Sans"/>
                <a:ea typeface="Merriweather Sans"/>
                <a:cs typeface="Merriweather Sans"/>
                <a:sym typeface="Merriweather Sans"/>
              </a:rPr>
              <a:t>υ</a:t>
            </a:r>
            <a:r>
              <a:rPr lang="en-US" sz="2400" b="0" i="0" u="none">
                <a:solidFill>
                  <a:schemeClr val="dk2"/>
                </a:solidFill>
                <a:latin typeface="Arial"/>
                <a:ea typeface="Arial"/>
                <a:cs typeface="Arial"/>
                <a:sym typeface="Arial"/>
              </a:rPr>
              <a:t> S )  =  (</a:t>
            </a:r>
            <a:r>
              <a:rPr lang="en-US" sz="2400" b="0" i="0" u="none">
                <a:solidFill>
                  <a:schemeClr val="dk2"/>
                </a:solidFill>
                <a:latin typeface="Noto Sans Symbols"/>
                <a:ea typeface="Noto Sans Symbols"/>
                <a:cs typeface="Noto Sans Symbols"/>
                <a:sym typeface="Noto Sans Symbols"/>
              </a:rPr>
              <a:t>π</a:t>
            </a:r>
            <a:r>
              <a:rPr lang="en-US" sz="2400" b="0" i="0" u="none" baseline="-25000">
                <a:solidFill>
                  <a:schemeClr val="dk2"/>
                </a:solidFill>
                <a:latin typeface="Arial"/>
                <a:ea typeface="Arial"/>
                <a:cs typeface="Arial"/>
                <a:sym typeface="Arial"/>
              </a:rPr>
              <a:t>L</a:t>
            </a:r>
            <a:r>
              <a:rPr lang="en-US" sz="2400" b="0" i="0" u="none">
                <a:solidFill>
                  <a:schemeClr val="dk2"/>
                </a:solidFill>
                <a:latin typeface="Arial"/>
                <a:ea typeface="Arial"/>
                <a:cs typeface="Arial"/>
                <a:sym typeface="Arial"/>
              </a:rPr>
              <a:t> (R)) </a:t>
            </a:r>
            <a:r>
              <a:rPr lang="en-US" sz="2400" b="0" i="0" u="none">
                <a:solidFill>
                  <a:schemeClr val="dk2"/>
                </a:solidFill>
                <a:latin typeface="Merriweather Sans"/>
                <a:ea typeface="Merriweather Sans"/>
                <a:cs typeface="Merriweather Sans"/>
                <a:sym typeface="Merriweather Sans"/>
              </a:rPr>
              <a:t>υ</a:t>
            </a:r>
            <a:r>
              <a:rPr lang="en-US" sz="2400" b="0" i="0" u="none">
                <a:solidFill>
                  <a:schemeClr val="dk2"/>
                </a:solidFill>
                <a:latin typeface="Arial"/>
                <a:ea typeface="Arial"/>
                <a:cs typeface="Arial"/>
                <a:sym typeface="Arial"/>
              </a:rPr>
              <a:t> (</a:t>
            </a:r>
            <a:r>
              <a:rPr lang="en-US" sz="2400" b="0" i="0" u="none">
                <a:solidFill>
                  <a:schemeClr val="dk2"/>
                </a:solidFill>
                <a:latin typeface="Noto Sans Symbols"/>
                <a:ea typeface="Noto Sans Symbols"/>
                <a:cs typeface="Noto Sans Symbols"/>
                <a:sym typeface="Noto Sans Symbols"/>
              </a:rPr>
              <a:t>π</a:t>
            </a:r>
            <a:r>
              <a:rPr lang="en-US" sz="2400" b="0" i="0" u="none" baseline="-25000">
                <a:solidFill>
                  <a:schemeClr val="dk2"/>
                </a:solidFill>
                <a:latin typeface="Arial"/>
                <a:ea typeface="Arial"/>
                <a:cs typeface="Arial"/>
                <a:sym typeface="Arial"/>
              </a:rPr>
              <a:t>L</a:t>
            </a:r>
            <a:r>
              <a:rPr lang="en-US" sz="2400" b="0" i="0" u="none">
                <a:solidFill>
                  <a:schemeClr val="dk2"/>
                </a:solidFill>
                <a:latin typeface="Arial"/>
                <a:ea typeface="Arial"/>
                <a:cs typeface="Arial"/>
                <a:sym typeface="Arial"/>
              </a:rPr>
              <a:t> (S))  </a:t>
            </a:r>
            <a:endParaRPr/>
          </a:p>
          <a:p>
            <a:pPr marL="342900" lvl="0" indent="-251459" algn="l" rtl="0">
              <a:lnSpc>
                <a:spcPct val="100000"/>
              </a:lnSpc>
              <a:spcBef>
                <a:spcPts val="480"/>
              </a:spcBef>
              <a:spcAft>
                <a:spcPts val="0"/>
              </a:spcAft>
              <a:buClr>
                <a:srgbClr val="990033"/>
              </a:buClr>
              <a:buSzPts val="1440"/>
              <a:buFont typeface="Noto Sans Symbols"/>
              <a:buNone/>
            </a:pPr>
            <a:endParaRPr sz="2400" b="0" i="0" u="none">
              <a:solidFill>
                <a:schemeClr val="dk2"/>
              </a:solidFill>
              <a:latin typeface="Arial"/>
              <a:ea typeface="Arial"/>
              <a:cs typeface="Arial"/>
              <a:sym typeface="Arial"/>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Converting a (</a:t>
            </a:r>
            <a:r>
              <a:rPr lang="en-US" sz="2400" b="0" i="0" u="none">
                <a:solidFill>
                  <a:schemeClr val="dk2"/>
                </a:solidFill>
                <a:latin typeface="Noto Sans Symbols"/>
                <a:ea typeface="Noto Sans Symbols"/>
                <a:cs typeface="Noto Sans Symbols"/>
                <a:sym typeface="Noto Sans Symbols"/>
              </a:rPr>
              <a:t>σ</a:t>
            </a:r>
            <a:r>
              <a:rPr lang="en-US" sz="2400" b="0" i="0" u="none">
                <a:solidFill>
                  <a:schemeClr val="dk2"/>
                </a:solidFill>
                <a:latin typeface="Arial"/>
                <a:ea typeface="Arial"/>
                <a:cs typeface="Arial"/>
                <a:sym typeface="Arial"/>
              </a:rPr>
              <a:t>, x) sequence into    : If the condition c of a </a:t>
            </a:r>
            <a:r>
              <a:rPr lang="en-US" sz="2400" b="0" i="0" u="none">
                <a:solidFill>
                  <a:schemeClr val="dk2"/>
                </a:solidFill>
                <a:latin typeface="Noto Sans Symbols"/>
                <a:ea typeface="Noto Sans Symbols"/>
                <a:cs typeface="Noto Sans Symbols"/>
                <a:sym typeface="Noto Sans Symbols"/>
              </a:rPr>
              <a:t>σ</a:t>
            </a:r>
            <a:r>
              <a:rPr lang="en-US" sz="2400" b="0" i="0" u="none">
                <a:solidFill>
                  <a:schemeClr val="dk2"/>
                </a:solidFill>
                <a:latin typeface="Arial"/>
                <a:ea typeface="Arial"/>
                <a:cs typeface="Arial"/>
                <a:sym typeface="Arial"/>
              </a:rPr>
              <a:t> that follows a  x Corresponds to a join condition, convert the (</a:t>
            </a:r>
            <a:r>
              <a:rPr lang="en-US" sz="2400" b="0" i="0" u="none">
                <a:solidFill>
                  <a:schemeClr val="dk2"/>
                </a:solidFill>
                <a:latin typeface="Noto Sans Symbols"/>
                <a:ea typeface="Noto Sans Symbols"/>
                <a:cs typeface="Noto Sans Symbols"/>
                <a:sym typeface="Noto Sans Symbols"/>
              </a:rPr>
              <a:t>σ</a:t>
            </a:r>
            <a:r>
              <a:rPr lang="en-US" sz="2400" b="0" i="0" u="none">
                <a:solidFill>
                  <a:schemeClr val="dk2"/>
                </a:solidFill>
                <a:latin typeface="Arial"/>
                <a:ea typeface="Arial"/>
                <a:cs typeface="Arial"/>
                <a:sym typeface="Arial"/>
              </a:rPr>
              <a:t>, x) sequence into a      as follows:					 (</a:t>
            </a:r>
            <a:r>
              <a:rPr lang="en-US" sz="2400" b="0" i="0" u="none">
                <a:solidFill>
                  <a:schemeClr val="dk2"/>
                </a:solidFill>
                <a:latin typeface="Noto Sans Symbols"/>
                <a:ea typeface="Noto Sans Symbols"/>
                <a:cs typeface="Noto Sans Symbols"/>
                <a:sym typeface="Noto Sans Symbols"/>
              </a:rPr>
              <a:t>σ</a:t>
            </a:r>
            <a:r>
              <a:rPr lang="en-US" sz="2400" b="0" i="0" u="none" baseline="-25000">
                <a:solidFill>
                  <a:schemeClr val="dk2"/>
                </a:solidFill>
                <a:latin typeface="Arial"/>
                <a:ea typeface="Arial"/>
                <a:cs typeface="Arial"/>
                <a:sym typeface="Arial"/>
              </a:rPr>
              <a:t>C</a:t>
            </a:r>
            <a:r>
              <a:rPr lang="en-US" sz="2400" b="0" i="0" u="none">
                <a:solidFill>
                  <a:schemeClr val="dk2"/>
                </a:solidFill>
                <a:latin typeface="Arial"/>
                <a:ea typeface="Arial"/>
                <a:cs typeface="Arial"/>
                <a:sym typeface="Arial"/>
              </a:rPr>
              <a:t> (R x S))  =  (R    </a:t>
            </a:r>
            <a:r>
              <a:rPr lang="en-US" sz="2400" b="0" i="0" u="none" baseline="-25000">
                <a:solidFill>
                  <a:schemeClr val="dk2"/>
                </a:solidFill>
                <a:latin typeface="Arial"/>
                <a:ea typeface="Arial"/>
                <a:cs typeface="Arial"/>
                <a:sym typeface="Arial"/>
              </a:rPr>
              <a:t>C</a:t>
            </a:r>
            <a:r>
              <a:rPr lang="en-US" sz="2400" b="0" i="0" u="none">
                <a:solidFill>
                  <a:schemeClr val="dk2"/>
                </a:solidFill>
                <a:latin typeface="Arial"/>
                <a:ea typeface="Arial"/>
                <a:cs typeface="Arial"/>
                <a:sym typeface="Arial"/>
              </a:rPr>
              <a:t> S)</a:t>
            </a:r>
            <a:endParaRPr/>
          </a:p>
          <a:p>
            <a:pPr marL="342900" lvl="0" indent="-251459" algn="l" rtl="0">
              <a:lnSpc>
                <a:spcPct val="100000"/>
              </a:lnSpc>
              <a:spcBef>
                <a:spcPts val="480"/>
              </a:spcBef>
              <a:spcAft>
                <a:spcPts val="0"/>
              </a:spcAft>
              <a:buClr>
                <a:srgbClr val="990033"/>
              </a:buClr>
              <a:buSzPts val="1440"/>
              <a:buFont typeface="Noto Sans Symbols"/>
              <a:buNone/>
            </a:pPr>
            <a:endParaRPr sz="2400" b="0" i="0" u="none">
              <a:solidFill>
                <a:schemeClr val="dk2"/>
              </a:solidFill>
              <a:latin typeface="Arial"/>
              <a:ea typeface="Arial"/>
              <a:cs typeface="Arial"/>
              <a:sym typeface="Arial"/>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Other transformations </a:t>
            </a:r>
            <a:endParaRPr/>
          </a:p>
        </p:txBody>
      </p:sp>
      <p:grpSp>
        <p:nvGrpSpPr>
          <p:cNvPr id="742" name="Google Shape;742;p83"/>
          <p:cNvGrpSpPr/>
          <p:nvPr/>
        </p:nvGrpSpPr>
        <p:grpSpPr>
          <a:xfrm>
            <a:off x="4352925" y="4549775"/>
            <a:ext cx="219075" cy="174625"/>
            <a:chOff x="377" y="2904"/>
            <a:chExt cx="154" cy="110"/>
          </a:xfrm>
        </p:grpSpPr>
        <p:cxnSp>
          <p:nvCxnSpPr>
            <p:cNvPr id="743" name="Google Shape;743;p83"/>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44" name="Google Shape;744;p83"/>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45" name="Google Shape;745;p83"/>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746" name="Google Shape;746;p83"/>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747" name="Google Shape;747;p83"/>
          <p:cNvGrpSpPr/>
          <p:nvPr/>
        </p:nvGrpSpPr>
        <p:grpSpPr>
          <a:xfrm>
            <a:off x="5648325" y="4876800"/>
            <a:ext cx="219075" cy="174625"/>
            <a:chOff x="377" y="2904"/>
            <a:chExt cx="154" cy="110"/>
          </a:xfrm>
        </p:grpSpPr>
        <p:cxnSp>
          <p:nvCxnSpPr>
            <p:cNvPr id="748" name="Google Shape;748;p83"/>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49" name="Google Shape;749;p83"/>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50" name="Google Shape;750;p83"/>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751" name="Google Shape;751;p83"/>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752" name="Google Shape;752;p83"/>
          <p:cNvGrpSpPr/>
          <p:nvPr/>
        </p:nvGrpSpPr>
        <p:grpSpPr>
          <a:xfrm>
            <a:off x="5245100" y="3863975"/>
            <a:ext cx="219075" cy="174625"/>
            <a:chOff x="377" y="2904"/>
            <a:chExt cx="154" cy="110"/>
          </a:xfrm>
        </p:grpSpPr>
        <p:cxnSp>
          <p:nvCxnSpPr>
            <p:cNvPr id="753" name="Google Shape;753;p83"/>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54" name="Google Shape;754;p83"/>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755" name="Google Shape;755;p83"/>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756" name="Google Shape;756;p83"/>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8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81</a:t>
            </a:fld>
            <a:endParaRPr/>
          </a:p>
        </p:txBody>
      </p:sp>
      <p:sp>
        <p:nvSpPr>
          <p:cNvPr id="763" name="Google Shape;763;p8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(14)</a:t>
            </a:r>
            <a:endParaRPr/>
          </a:p>
        </p:txBody>
      </p:sp>
      <p:sp>
        <p:nvSpPr>
          <p:cNvPr id="764" name="Google Shape;764;p84"/>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81000" lvl="0" indent="-381000" algn="l" rtl="0">
              <a:lnSpc>
                <a:spcPct val="80000"/>
              </a:lnSpc>
              <a:spcBef>
                <a:spcPts val="0"/>
              </a:spcBef>
              <a:spcAft>
                <a:spcPts val="0"/>
              </a:spcAft>
              <a:buClr>
                <a:srgbClr val="990033"/>
              </a:buClr>
              <a:buSzPts val="1080"/>
              <a:buFont typeface="Noto Sans Symbols"/>
              <a:buChar char="■"/>
            </a:pPr>
            <a:r>
              <a:rPr lang="en-US" sz="1800" b="0" i="0" u="none">
                <a:solidFill>
                  <a:schemeClr val="dk2"/>
                </a:solidFill>
                <a:latin typeface="Arial"/>
                <a:ea typeface="Arial"/>
                <a:cs typeface="Arial"/>
                <a:sym typeface="Arial"/>
              </a:rPr>
              <a:t>Outline of a Heuristic Algebraic Optimization Algorithm:</a:t>
            </a:r>
            <a:endParaRPr/>
          </a:p>
          <a:p>
            <a:pPr marL="381000" lvl="0" indent="-381000" algn="l" rtl="0">
              <a:lnSpc>
                <a:spcPct val="80000"/>
              </a:lnSpc>
              <a:spcBef>
                <a:spcPts val="360"/>
              </a:spcBef>
              <a:spcAft>
                <a:spcPts val="0"/>
              </a:spcAft>
              <a:buClr>
                <a:srgbClr val="990033"/>
              </a:buClr>
              <a:buSzPts val="1080"/>
              <a:buFont typeface="Noto Sans Symbols"/>
              <a:buAutoNum type="arabicPeriod"/>
            </a:pPr>
            <a:r>
              <a:rPr lang="en-US" sz="1800" b="0" i="0" u="none">
                <a:solidFill>
                  <a:schemeClr val="dk2"/>
                </a:solidFill>
                <a:latin typeface="Arial"/>
                <a:ea typeface="Arial"/>
                <a:cs typeface="Arial"/>
                <a:sym typeface="Arial"/>
              </a:rPr>
              <a:t>Using rule 1, break up any select operations with conjunctive conditions into a cascade of select operations. 	</a:t>
            </a:r>
            <a:endParaRPr/>
          </a:p>
          <a:p>
            <a:pPr marL="381000" lvl="0" indent="-381000" algn="l" rtl="0">
              <a:lnSpc>
                <a:spcPct val="80000"/>
              </a:lnSpc>
              <a:spcBef>
                <a:spcPts val="360"/>
              </a:spcBef>
              <a:spcAft>
                <a:spcPts val="0"/>
              </a:spcAft>
              <a:buClr>
                <a:srgbClr val="990033"/>
              </a:buClr>
              <a:buSzPts val="1080"/>
              <a:buFont typeface="Noto Sans Symbols"/>
              <a:buAutoNum type="arabicPeriod"/>
            </a:pPr>
            <a:r>
              <a:rPr lang="en-US" sz="1800" b="0" i="0" u="none">
                <a:solidFill>
                  <a:schemeClr val="dk2"/>
                </a:solidFill>
                <a:latin typeface="Arial"/>
                <a:ea typeface="Arial"/>
                <a:cs typeface="Arial"/>
                <a:sym typeface="Arial"/>
              </a:rPr>
              <a:t>Using rules 2, 4, 6, and 10 concerning the commutativity of select with other operations, move each select operation as far down the query tree as is permitted by the attributes involved in the select condition. </a:t>
            </a:r>
            <a:endParaRPr/>
          </a:p>
          <a:p>
            <a:pPr marL="381000" lvl="0" indent="-381000" algn="l" rtl="0">
              <a:lnSpc>
                <a:spcPct val="80000"/>
              </a:lnSpc>
              <a:spcBef>
                <a:spcPts val="360"/>
              </a:spcBef>
              <a:spcAft>
                <a:spcPts val="0"/>
              </a:spcAft>
              <a:buClr>
                <a:srgbClr val="990033"/>
              </a:buClr>
              <a:buSzPts val="1080"/>
              <a:buFont typeface="Noto Sans Symbols"/>
              <a:buAutoNum type="arabicPeriod"/>
            </a:pPr>
            <a:r>
              <a:rPr lang="en-US" sz="1800" b="0" i="0" u="none">
                <a:solidFill>
                  <a:schemeClr val="dk2"/>
                </a:solidFill>
                <a:latin typeface="Arial"/>
                <a:ea typeface="Arial"/>
                <a:cs typeface="Arial"/>
                <a:sym typeface="Arial"/>
              </a:rPr>
              <a:t>Using rule 9 concerning associativity of binary operations, rearrange the leaf nodes of the tree so that the leaf node relations with the most restrictive select operations are executed first in the query tree representation. </a:t>
            </a:r>
            <a:endParaRPr/>
          </a:p>
          <a:p>
            <a:pPr marL="381000" lvl="0" indent="-381000" algn="l" rtl="0">
              <a:lnSpc>
                <a:spcPct val="80000"/>
              </a:lnSpc>
              <a:spcBef>
                <a:spcPts val="360"/>
              </a:spcBef>
              <a:spcAft>
                <a:spcPts val="0"/>
              </a:spcAft>
              <a:buClr>
                <a:srgbClr val="990033"/>
              </a:buClr>
              <a:buSzPts val="1080"/>
              <a:buFont typeface="Noto Sans Symbols"/>
              <a:buAutoNum type="arabicPeriod"/>
            </a:pPr>
            <a:r>
              <a:rPr lang="en-US" sz="1800" b="0" i="0" u="none">
                <a:solidFill>
                  <a:schemeClr val="dk2"/>
                </a:solidFill>
                <a:latin typeface="Arial"/>
                <a:ea typeface="Arial"/>
                <a:cs typeface="Arial"/>
                <a:sym typeface="Arial"/>
              </a:rPr>
              <a:t>Using Rule 12, combine a Cartesian product operation with a subsequent select operation in the tree into a join operation. </a:t>
            </a:r>
            <a:endParaRPr/>
          </a:p>
          <a:p>
            <a:pPr marL="381000" lvl="0" indent="-381000" algn="l" rtl="0">
              <a:lnSpc>
                <a:spcPct val="80000"/>
              </a:lnSpc>
              <a:spcBef>
                <a:spcPts val="360"/>
              </a:spcBef>
              <a:spcAft>
                <a:spcPts val="0"/>
              </a:spcAft>
              <a:buClr>
                <a:srgbClr val="990033"/>
              </a:buClr>
              <a:buSzPts val="1080"/>
              <a:buFont typeface="Noto Sans Symbols"/>
              <a:buAutoNum type="arabicPeriod"/>
            </a:pPr>
            <a:r>
              <a:rPr lang="en-US" sz="1800" b="0" i="0" u="none">
                <a:solidFill>
                  <a:schemeClr val="dk2"/>
                </a:solidFill>
                <a:latin typeface="Arial"/>
                <a:ea typeface="Arial"/>
                <a:cs typeface="Arial"/>
                <a:sym typeface="Arial"/>
              </a:rPr>
              <a:t>Using rules 3, 4, 7, and 11 concerning the cascading of project and the commuting of project with other operations, break down and move lists of projection attributes down the tree as far as possible by creating new project operations as needed. 	</a:t>
            </a:r>
            <a:endParaRPr/>
          </a:p>
          <a:p>
            <a:pPr marL="381000" lvl="0" indent="-381000" algn="l" rtl="0">
              <a:lnSpc>
                <a:spcPct val="80000"/>
              </a:lnSpc>
              <a:spcBef>
                <a:spcPts val="360"/>
              </a:spcBef>
              <a:spcAft>
                <a:spcPts val="0"/>
              </a:spcAft>
              <a:buClr>
                <a:srgbClr val="990033"/>
              </a:buClr>
              <a:buSzPts val="1080"/>
              <a:buFont typeface="Noto Sans Symbols"/>
              <a:buAutoNum type="arabicPeriod"/>
            </a:pPr>
            <a:r>
              <a:rPr lang="en-US" sz="1800" b="0" i="0" u="none">
                <a:solidFill>
                  <a:schemeClr val="dk2"/>
                </a:solidFill>
                <a:latin typeface="Arial"/>
                <a:ea typeface="Arial"/>
                <a:cs typeface="Arial"/>
                <a:sym typeface="Arial"/>
              </a:rPr>
              <a:t>Identify subtrees that represent groups of operations that can be executed by a single algorithm. </a:t>
            </a:r>
            <a:endParaRPr/>
          </a:p>
          <a:p>
            <a:pPr marL="342900" lvl="0" indent="-274320" algn="l" rtl="0">
              <a:spcBef>
                <a:spcPts val="360"/>
              </a:spcBef>
              <a:spcAft>
                <a:spcPts val="0"/>
              </a:spcAft>
              <a:buSzPts val="1080"/>
              <a:buNone/>
            </a:pPr>
            <a:endParaRPr sz="1800" b="0" i="0" u="none">
              <a:solidFill>
                <a:schemeClr val="dk2"/>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8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82</a:t>
            </a:fld>
            <a:endParaRPr/>
          </a:p>
        </p:txBody>
      </p:sp>
      <p:sp>
        <p:nvSpPr>
          <p:cNvPr id="771" name="Google Shape;771;p8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(15)</a:t>
            </a:r>
            <a:endParaRPr/>
          </a:p>
        </p:txBody>
      </p:sp>
      <p:sp>
        <p:nvSpPr>
          <p:cNvPr id="772" name="Google Shape;772;p85"/>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457200" lvl="0" indent="-457200" algn="l" rtl="0">
              <a:lnSpc>
                <a:spcPct val="9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Summary of Heuristics for Algebraic Optimization: </a:t>
            </a:r>
            <a:endParaRPr/>
          </a:p>
          <a:p>
            <a:pPr marL="876300" lvl="1" indent="-419100" algn="l" rtl="0">
              <a:lnSpc>
                <a:spcPct val="90000"/>
              </a:lnSpc>
              <a:spcBef>
                <a:spcPts val="440"/>
              </a:spcBef>
              <a:spcAft>
                <a:spcPts val="0"/>
              </a:spcAft>
              <a:buClr>
                <a:schemeClr val="dk2"/>
              </a:buClr>
              <a:buSzPts val="1210"/>
              <a:buFont typeface="Noto Sans Symbols"/>
              <a:buAutoNum type="arabicPeriod"/>
            </a:pPr>
            <a:r>
              <a:rPr lang="en-US" sz="2200" b="0" i="0" u="none">
                <a:solidFill>
                  <a:srgbClr val="800000"/>
                </a:solidFill>
                <a:latin typeface="Arial"/>
                <a:ea typeface="Arial"/>
                <a:cs typeface="Arial"/>
                <a:sym typeface="Arial"/>
              </a:rPr>
              <a:t>The main heuristic is to apply first the operations that reduce the size of intermediate results. </a:t>
            </a:r>
            <a:endParaRPr/>
          </a:p>
          <a:p>
            <a:pPr marL="876300" lvl="1" indent="-419100" algn="l" rtl="0">
              <a:lnSpc>
                <a:spcPct val="90000"/>
              </a:lnSpc>
              <a:spcBef>
                <a:spcPts val="440"/>
              </a:spcBef>
              <a:spcAft>
                <a:spcPts val="0"/>
              </a:spcAft>
              <a:buClr>
                <a:schemeClr val="dk2"/>
              </a:buClr>
              <a:buSzPts val="1210"/>
              <a:buFont typeface="Noto Sans Symbols"/>
              <a:buAutoNum type="arabicPeriod"/>
            </a:pPr>
            <a:r>
              <a:rPr lang="en-US" sz="2200" b="0" i="0" u="none">
                <a:solidFill>
                  <a:srgbClr val="800000"/>
                </a:solidFill>
                <a:latin typeface="Arial"/>
                <a:ea typeface="Arial"/>
                <a:cs typeface="Arial"/>
                <a:sym typeface="Arial"/>
              </a:rPr>
              <a:t>Perform select operations as early as possible to reduce the number of tuples and perform project operations as early as possible to reduce the number of attributes. (This is done by moving select and project operations as far down the tree as possible.)</a:t>
            </a:r>
            <a:endParaRPr/>
          </a:p>
          <a:p>
            <a:pPr marL="876300" lvl="1" indent="-419100" algn="l" rtl="0">
              <a:lnSpc>
                <a:spcPct val="90000"/>
              </a:lnSpc>
              <a:spcBef>
                <a:spcPts val="440"/>
              </a:spcBef>
              <a:spcAft>
                <a:spcPts val="0"/>
              </a:spcAft>
              <a:buClr>
                <a:schemeClr val="dk2"/>
              </a:buClr>
              <a:buSzPts val="1210"/>
              <a:buFont typeface="Noto Sans Symbols"/>
              <a:buAutoNum type="arabicPeriod"/>
            </a:pPr>
            <a:r>
              <a:rPr lang="en-US" sz="2200" b="0" i="0" u="none">
                <a:solidFill>
                  <a:srgbClr val="800000"/>
                </a:solidFill>
                <a:latin typeface="Arial"/>
                <a:ea typeface="Arial"/>
                <a:cs typeface="Arial"/>
                <a:sym typeface="Arial"/>
              </a:rPr>
              <a:t>The select and join operations that are most restrictive should be executed before other similar operations. (This is done by reordering the leaf nodes of the tree among themselves and adjusting the rest of the tree appropriately.)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8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83</a:t>
            </a:fld>
            <a:endParaRPr/>
          </a:p>
        </p:txBody>
      </p:sp>
      <p:sp>
        <p:nvSpPr>
          <p:cNvPr id="779" name="Google Shape;779;p8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Heuristics in Query Optimization (16)</a:t>
            </a:r>
            <a:endParaRPr/>
          </a:p>
        </p:txBody>
      </p:sp>
      <p:sp>
        <p:nvSpPr>
          <p:cNvPr id="780" name="Google Shape;780;p86"/>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Query Execution Plans </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An execution plan for a relational algebra query consists of a combination of the relational algebra query tree and information about the access methods  to be used for each relation as well as the methods to be used in computing the relational operators stored in the tree.</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1" i="0" u="none">
                <a:solidFill>
                  <a:srgbClr val="800000"/>
                </a:solidFill>
                <a:latin typeface="Arial"/>
                <a:ea typeface="Arial"/>
                <a:cs typeface="Arial"/>
                <a:sym typeface="Arial"/>
              </a:rPr>
              <a:t>Materialized evaluation</a:t>
            </a:r>
            <a:r>
              <a:rPr lang="en-US" sz="2200" b="0" i="0" u="none">
                <a:solidFill>
                  <a:srgbClr val="800000"/>
                </a:solidFill>
                <a:latin typeface="Arial"/>
                <a:ea typeface="Arial"/>
                <a:cs typeface="Arial"/>
                <a:sym typeface="Arial"/>
              </a:rPr>
              <a:t>: the result of an operation is stored as a temporary relation.</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1" i="0" u="none">
                <a:solidFill>
                  <a:srgbClr val="800000"/>
                </a:solidFill>
                <a:latin typeface="Arial"/>
                <a:ea typeface="Arial"/>
                <a:cs typeface="Arial"/>
                <a:sym typeface="Arial"/>
              </a:rPr>
              <a:t>Pipelined evaluation</a:t>
            </a:r>
            <a:r>
              <a:rPr lang="en-US" sz="2200" b="0" i="0" u="none">
                <a:solidFill>
                  <a:srgbClr val="800000"/>
                </a:solidFill>
                <a:latin typeface="Arial"/>
                <a:ea typeface="Arial"/>
                <a:cs typeface="Arial"/>
                <a:sym typeface="Arial"/>
              </a:rPr>
              <a:t>: as the result of an operator is  produced, it is forwarded to the next operator in sequence.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87"/>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84</a:t>
            </a:fld>
            <a:endParaRPr/>
          </a:p>
        </p:txBody>
      </p:sp>
      <p:sp>
        <p:nvSpPr>
          <p:cNvPr id="787" name="Google Shape;787;p87"/>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8. Using Selectivity and Cost Estimates in Query Optimization (1)</a:t>
            </a:r>
            <a:endParaRPr/>
          </a:p>
        </p:txBody>
      </p:sp>
      <p:sp>
        <p:nvSpPr>
          <p:cNvPr id="788" name="Google Shape;788;p87"/>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1" i="0" u="none">
                <a:solidFill>
                  <a:schemeClr val="dk2"/>
                </a:solidFill>
                <a:latin typeface="Arial"/>
                <a:ea typeface="Arial"/>
                <a:cs typeface="Arial"/>
                <a:sym typeface="Arial"/>
              </a:rPr>
              <a:t>Cost-based query optimization</a:t>
            </a:r>
            <a:r>
              <a:rPr lang="en-US" sz="2800" b="0" i="0" u="none">
                <a:solidFill>
                  <a:schemeClr val="dk2"/>
                </a:solidFill>
                <a:latin typeface="Arial"/>
                <a:ea typeface="Arial"/>
                <a:cs typeface="Arial"/>
                <a:sym typeface="Arial"/>
              </a:rPr>
              <a:t>:</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Estimate and compare the costs of executing a query using different execution strategies and choose the strategy with the lowest cost estimate. </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(Compare to heuristic query optimization)</a:t>
            </a:r>
            <a:endParaRPr/>
          </a:p>
          <a:p>
            <a:pPr marL="342900" lvl="0" indent="-236220" algn="l" rtl="0">
              <a:lnSpc>
                <a:spcPct val="100000"/>
              </a:lnSpc>
              <a:spcBef>
                <a:spcPts val="560"/>
              </a:spcBef>
              <a:spcAft>
                <a:spcPts val="0"/>
              </a:spcAft>
              <a:buClr>
                <a:srgbClr val="990033"/>
              </a:buClr>
              <a:buSzPts val="1680"/>
              <a:buFont typeface="Noto Sans Symbols"/>
              <a:buNone/>
            </a:pPr>
            <a:endParaRPr sz="2800" b="0" i="0" u="none">
              <a:solidFill>
                <a:schemeClr val="dk2"/>
              </a:solidFill>
              <a:latin typeface="Arial"/>
              <a:ea typeface="Arial"/>
              <a:cs typeface="Arial"/>
              <a:sym typeface="Arial"/>
            </a:endParaRPr>
          </a:p>
          <a:p>
            <a:pPr marL="34290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Issues </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Cost function</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Number of execution strategies to be considered</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88"/>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85</a:t>
            </a:fld>
            <a:endParaRPr/>
          </a:p>
        </p:txBody>
      </p:sp>
      <p:sp>
        <p:nvSpPr>
          <p:cNvPr id="795" name="Google Shape;795;p88"/>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Selectivity and Cost Estimates in Query Optimization (2)</a:t>
            </a:r>
            <a:endParaRPr/>
          </a:p>
        </p:txBody>
      </p:sp>
      <p:sp>
        <p:nvSpPr>
          <p:cNvPr id="796" name="Google Shape;796;p88"/>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533400" lvl="0" indent="-533400" algn="l" rtl="0">
              <a:lnSpc>
                <a:spcPct val="10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Cost Components for Query Execution</a:t>
            </a:r>
            <a:endParaRPr/>
          </a:p>
          <a:p>
            <a:pPr marL="952500" lvl="1" indent="-495300" algn="l" rtl="0">
              <a:lnSpc>
                <a:spcPct val="100000"/>
              </a:lnSpc>
              <a:spcBef>
                <a:spcPts val="520"/>
              </a:spcBef>
              <a:spcAft>
                <a:spcPts val="0"/>
              </a:spcAft>
              <a:buClr>
                <a:schemeClr val="dk2"/>
              </a:buClr>
              <a:buSzPts val="1430"/>
              <a:buFont typeface="Noto Sans Symbols"/>
              <a:buAutoNum type="arabicPeriod"/>
            </a:pPr>
            <a:r>
              <a:rPr lang="en-US" sz="2600" b="0" i="0" u="none">
                <a:solidFill>
                  <a:srgbClr val="800000"/>
                </a:solidFill>
                <a:latin typeface="Arial"/>
                <a:ea typeface="Arial"/>
                <a:cs typeface="Arial"/>
                <a:sym typeface="Arial"/>
              </a:rPr>
              <a:t>Access cost to secondary storage</a:t>
            </a:r>
            <a:endParaRPr/>
          </a:p>
          <a:p>
            <a:pPr marL="952500" lvl="1" indent="-495300" algn="l" rtl="0">
              <a:lnSpc>
                <a:spcPct val="100000"/>
              </a:lnSpc>
              <a:spcBef>
                <a:spcPts val="520"/>
              </a:spcBef>
              <a:spcAft>
                <a:spcPts val="0"/>
              </a:spcAft>
              <a:buClr>
                <a:schemeClr val="dk2"/>
              </a:buClr>
              <a:buSzPts val="1430"/>
              <a:buFont typeface="Noto Sans Symbols"/>
              <a:buAutoNum type="arabicPeriod"/>
            </a:pPr>
            <a:r>
              <a:rPr lang="en-US" sz="2600" b="0" i="0" u="none">
                <a:solidFill>
                  <a:srgbClr val="800000"/>
                </a:solidFill>
                <a:latin typeface="Arial"/>
                <a:ea typeface="Arial"/>
                <a:cs typeface="Arial"/>
                <a:sym typeface="Arial"/>
              </a:rPr>
              <a:t>Storage cost</a:t>
            </a:r>
            <a:endParaRPr/>
          </a:p>
          <a:p>
            <a:pPr marL="952500" lvl="1" indent="-495300" algn="l" rtl="0">
              <a:lnSpc>
                <a:spcPct val="100000"/>
              </a:lnSpc>
              <a:spcBef>
                <a:spcPts val="520"/>
              </a:spcBef>
              <a:spcAft>
                <a:spcPts val="0"/>
              </a:spcAft>
              <a:buClr>
                <a:schemeClr val="dk2"/>
              </a:buClr>
              <a:buSzPts val="1430"/>
              <a:buFont typeface="Noto Sans Symbols"/>
              <a:buAutoNum type="arabicPeriod"/>
            </a:pPr>
            <a:r>
              <a:rPr lang="en-US" sz="2600" b="0" i="0" u="none">
                <a:solidFill>
                  <a:srgbClr val="800000"/>
                </a:solidFill>
                <a:latin typeface="Arial"/>
                <a:ea typeface="Arial"/>
                <a:cs typeface="Arial"/>
                <a:sym typeface="Arial"/>
              </a:rPr>
              <a:t>Computation cost</a:t>
            </a:r>
            <a:endParaRPr/>
          </a:p>
          <a:p>
            <a:pPr marL="952500" lvl="1" indent="-495300" algn="l" rtl="0">
              <a:lnSpc>
                <a:spcPct val="100000"/>
              </a:lnSpc>
              <a:spcBef>
                <a:spcPts val="520"/>
              </a:spcBef>
              <a:spcAft>
                <a:spcPts val="0"/>
              </a:spcAft>
              <a:buClr>
                <a:schemeClr val="dk2"/>
              </a:buClr>
              <a:buSzPts val="1430"/>
              <a:buFont typeface="Noto Sans Symbols"/>
              <a:buAutoNum type="arabicPeriod"/>
            </a:pPr>
            <a:r>
              <a:rPr lang="en-US" sz="2600" b="0" i="0" u="none">
                <a:solidFill>
                  <a:srgbClr val="800000"/>
                </a:solidFill>
                <a:latin typeface="Arial"/>
                <a:ea typeface="Arial"/>
                <a:cs typeface="Arial"/>
                <a:sym typeface="Arial"/>
              </a:rPr>
              <a:t>Memory usage cost</a:t>
            </a:r>
            <a:endParaRPr/>
          </a:p>
          <a:p>
            <a:pPr marL="952500" lvl="1" indent="-495300" algn="l" rtl="0">
              <a:lnSpc>
                <a:spcPct val="100000"/>
              </a:lnSpc>
              <a:spcBef>
                <a:spcPts val="520"/>
              </a:spcBef>
              <a:spcAft>
                <a:spcPts val="0"/>
              </a:spcAft>
              <a:buClr>
                <a:schemeClr val="dk2"/>
              </a:buClr>
              <a:buSzPts val="1430"/>
              <a:buFont typeface="Noto Sans Symbols"/>
              <a:buAutoNum type="arabicPeriod"/>
            </a:pPr>
            <a:r>
              <a:rPr lang="en-US" sz="2600" b="0" i="0" u="none">
                <a:solidFill>
                  <a:srgbClr val="800000"/>
                </a:solidFill>
                <a:latin typeface="Arial"/>
                <a:ea typeface="Arial"/>
                <a:cs typeface="Arial"/>
                <a:sym typeface="Arial"/>
              </a:rPr>
              <a:t>Communication cost</a:t>
            </a:r>
            <a:endParaRPr/>
          </a:p>
          <a:p>
            <a:pPr marL="533400" lvl="0" indent="-426719" algn="l" rtl="0">
              <a:lnSpc>
                <a:spcPct val="100000"/>
              </a:lnSpc>
              <a:spcBef>
                <a:spcPts val="560"/>
              </a:spcBef>
              <a:spcAft>
                <a:spcPts val="0"/>
              </a:spcAft>
              <a:buClr>
                <a:srgbClr val="990033"/>
              </a:buClr>
              <a:buSzPts val="1680"/>
              <a:buFont typeface="Noto Sans Symbols"/>
              <a:buNone/>
            </a:pPr>
            <a:endParaRPr sz="2800" b="0" i="0" u="none">
              <a:solidFill>
                <a:schemeClr val="dk2"/>
              </a:solidFill>
              <a:latin typeface="Arial"/>
              <a:ea typeface="Arial"/>
              <a:cs typeface="Arial"/>
              <a:sym typeface="Arial"/>
            </a:endParaRPr>
          </a:p>
          <a:p>
            <a:pPr marL="533400" lvl="0" indent="-5334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Note: Different database systems may focus on different cost components.</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8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86</a:t>
            </a:fld>
            <a:endParaRPr/>
          </a:p>
        </p:txBody>
      </p:sp>
      <p:sp>
        <p:nvSpPr>
          <p:cNvPr id="803" name="Google Shape;803;p8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Selectivity and Cost Estimates in Query Optimization (3)</a:t>
            </a:r>
            <a:endParaRPr/>
          </a:p>
        </p:txBody>
      </p:sp>
      <p:sp>
        <p:nvSpPr>
          <p:cNvPr id="804" name="Google Shape;804;p8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Catalog Information Used in Cost Functions</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Information about the size of a file </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number of records (tuples) (r), </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record size (R), </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number of blocks (b) </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blocking factor (bfr) </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Information about indexes and indexing attributes of a file</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Number of levels (x) of each multilevel index</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Number of first-level index blocks (bI1)</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Number of distinct values (d) of an attribute</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Selectivity (sl) of an attribute is the fraction of records satisfying the equality condition on the attribute</a:t>
            </a:r>
            <a:endParaRPr/>
          </a:p>
          <a:p>
            <a:pPr marL="1143000" lvl="2" indent="-228600" algn="l" rtl="0">
              <a:lnSpc>
                <a:spcPct val="10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Selection cardinality (s) of an attribute. (s = sl * r)</a:t>
            </a:r>
            <a:endParaRPr/>
          </a:p>
          <a:p>
            <a:pPr marL="342900" lvl="0" indent="-342900" algn="l" rtl="0">
              <a:lnSpc>
                <a:spcPct val="100000"/>
              </a:lnSpc>
              <a:spcBef>
                <a:spcPts val="480"/>
              </a:spcBef>
              <a:spcAft>
                <a:spcPts val="0"/>
              </a:spcAft>
              <a:buSzPts val="1440"/>
              <a:buNone/>
            </a:pPr>
            <a:endParaRPr sz="2400" b="0" i="0" u="none">
              <a:solidFill>
                <a:schemeClr val="dk2"/>
              </a:solidFill>
              <a:latin typeface="Arial"/>
              <a:ea typeface="Arial"/>
              <a:cs typeface="Arial"/>
              <a:sym typeface="Arial"/>
            </a:endParaRPr>
          </a:p>
          <a:p>
            <a:pPr marL="342900" lvl="0" indent="-251459" algn="l" rtl="0">
              <a:spcBef>
                <a:spcPts val="480"/>
              </a:spcBef>
              <a:spcAft>
                <a:spcPts val="0"/>
              </a:spcAft>
              <a:buSzPts val="1440"/>
              <a:buNone/>
            </a:pPr>
            <a:endParaRPr sz="2400" b="0" i="0" u="none">
              <a:solidFill>
                <a:schemeClr val="dk2"/>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90"/>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87</a:t>
            </a:fld>
            <a:endParaRPr/>
          </a:p>
        </p:txBody>
      </p:sp>
      <p:sp>
        <p:nvSpPr>
          <p:cNvPr id="811" name="Google Shape;811;p90"/>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Selectivity and Cost Estimates in Query Optimization (4)</a:t>
            </a:r>
            <a:endParaRPr/>
          </a:p>
        </p:txBody>
      </p:sp>
      <p:sp>
        <p:nvSpPr>
          <p:cNvPr id="812" name="Google Shape;812;p90"/>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Examples of Cost Functions for SELECT</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S1. Linear search (brute force) approach </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C</a:t>
            </a:r>
            <a:r>
              <a:rPr lang="en-US" sz="2200" b="0" i="0" u="none" baseline="-25000">
                <a:solidFill>
                  <a:srgbClr val="800000"/>
                </a:solidFill>
                <a:latin typeface="Arial"/>
                <a:ea typeface="Arial"/>
                <a:cs typeface="Arial"/>
                <a:sym typeface="Arial"/>
              </a:rPr>
              <a:t>S1a</a:t>
            </a:r>
            <a:r>
              <a:rPr lang="en-US" sz="2200" b="0" i="0" u="none">
                <a:solidFill>
                  <a:srgbClr val="800000"/>
                </a:solidFill>
                <a:latin typeface="Arial"/>
                <a:ea typeface="Arial"/>
                <a:cs typeface="Arial"/>
                <a:sym typeface="Arial"/>
              </a:rPr>
              <a:t> = b; </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For an equality condition on a key, C</a:t>
            </a:r>
            <a:r>
              <a:rPr lang="en-US" sz="2200" b="0" i="0" u="none" baseline="-25000">
                <a:solidFill>
                  <a:srgbClr val="800000"/>
                </a:solidFill>
                <a:latin typeface="Arial"/>
                <a:ea typeface="Arial"/>
                <a:cs typeface="Arial"/>
                <a:sym typeface="Arial"/>
              </a:rPr>
              <a:t>S1a</a:t>
            </a:r>
            <a:r>
              <a:rPr lang="en-US" sz="2200" b="0" i="0" u="none">
                <a:solidFill>
                  <a:srgbClr val="800000"/>
                </a:solidFill>
                <a:latin typeface="Arial"/>
                <a:ea typeface="Arial"/>
                <a:cs typeface="Arial"/>
                <a:sym typeface="Arial"/>
              </a:rPr>
              <a:t> = (b/2) if the record is found; otherwise C</a:t>
            </a:r>
            <a:r>
              <a:rPr lang="en-US" sz="2200" b="0" i="0" u="none" baseline="-25000">
                <a:solidFill>
                  <a:srgbClr val="800000"/>
                </a:solidFill>
                <a:latin typeface="Arial"/>
                <a:ea typeface="Arial"/>
                <a:cs typeface="Arial"/>
                <a:sym typeface="Arial"/>
              </a:rPr>
              <a:t>S1a</a:t>
            </a:r>
            <a:r>
              <a:rPr lang="en-US" sz="2200" b="0" i="0" u="none">
                <a:solidFill>
                  <a:srgbClr val="800000"/>
                </a:solidFill>
                <a:latin typeface="Arial"/>
                <a:ea typeface="Arial"/>
                <a:cs typeface="Arial"/>
                <a:sym typeface="Arial"/>
              </a:rPr>
              <a:t> = b.</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S2. Binary search:</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C</a:t>
            </a:r>
            <a:r>
              <a:rPr lang="en-US" sz="2200" b="0" i="0" u="none" baseline="-25000">
                <a:solidFill>
                  <a:srgbClr val="800000"/>
                </a:solidFill>
                <a:latin typeface="Arial"/>
                <a:ea typeface="Arial"/>
                <a:cs typeface="Arial"/>
                <a:sym typeface="Arial"/>
              </a:rPr>
              <a:t>S2</a:t>
            </a:r>
            <a:r>
              <a:rPr lang="en-US" sz="2200" b="0" i="0" u="none">
                <a:solidFill>
                  <a:srgbClr val="800000"/>
                </a:solidFill>
                <a:latin typeface="Arial"/>
                <a:ea typeface="Arial"/>
                <a:cs typeface="Arial"/>
                <a:sym typeface="Arial"/>
              </a:rPr>
              <a:t> = log</a:t>
            </a:r>
            <a:r>
              <a:rPr lang="en-US" sz="2200" b="0" i="0" u="none" baseline="-25000">
                <a:solidFill>
                  <a:srgbClr val="800000"/>
                </a:solidFill>
                <a:latin typeface="Arial"/>
                <a:ea typeface="Arial"/>
                <a:cs typeface="Arial"/>
                <a:sym typeface="Arial"/>
              </a:rPr>
              <a:t>2</a:t>
            </a:r>
            <a:r>
              <a:rPr lang="en-US" sz="2200" b="0" i="0" u="none">
                <a:solidFill>
                  <a:srgbClr val="800000"/>
                </a:solidFill>
                <a:latin typeface="Arial"/>
                <a:ea typeface="Arial"/>
                <a:cs typeface="Arial"/>
                <a:sym typeface="Arial"/>
              </a:rPr>
              <a:t>b + (s/bfr)⎤ –1</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For an equality condition on a unique (key) attribute, C</a:t>
            </a:r>
            <a:r>
              <a:rPr lang="en-US" sz="2200" b="0" i="0" u="none" baseline="-25000">
                <a:solidFill>
                  <a:srgbClr val="800000"/>
                </a:solidFill>
                <a:latin typeface="Arial"/>
                <a:ea typeface="Arial"/>
                <a:cs typeface="Arial"/>
                <a:sym typeface="Arial"/>
              </a:rPr>
              <a:t>S2</a:t>
            </a:r>
            <a:r>
              <a:rPr lang="en-US" sz="2200" b="0" i="0" u="none">
                <a:solidFill>
                  <a:srgbClr val="800000"/>
                </a:solidFill>
                <a:latin typeface="Arial"/>
                <a:ea typeface="Arial"/>
                <a:cs typeface="Arial"/>
                <a:sym typeface="Arial"/>
              </a:rPr>
              <a:t> =log</a:t>
            </a:r>
            <a:r>
              <a:rPr lang="en-US" sz="2200" b="0" i="0" u="none" baseline="-25000">
                <a:solidFill>
                  <a:srgbClr val="800000"/>
                </a:solidFill>
                <a:latin typeface="Arial"/>
                <a:ea typeface="Arial"/>
                <a:cs typeface="Arial"/>
                <a:sym typeface="Arial"/>
              </a:rPr>
              <a:t>2</a:t>
            </a:r>
            <a:r>
              <a:rPr lang="en-US" sz="2200" b="0" i="0" u="none">
                <a:solidFill>
                  <a:srgbClr val="800000"/>
                </a:solidFill>
                <a:latin typeface="Arial"/>
                <a:ea typeface="Arial"/>
                <a:cs typeface="Arial"/>
                <a:sym typeface="Arial"/>
              </a:rPr>
              <a:t>b</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S3. Using a primary index (S3a) or hash key (S3b) to retrieve a single record</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C</a:t>
            </a:r>
            <a:r>
              <a:rPr lang="en-US" sz="2200" b="0" i="0" u="none" baseline="-25000">
                <a:solidFill>
                  <a:srgbClr val="800000"/>
                </a:solidFill>
                <a:latin typeface="Arial"/>
                <a:ea typeface="Arial"/>
                <a:cs typeface="Arial"/>
                <a:sym typeface="Arial"/>
              </a:rPr>
              <a:t>S3a</a:t>
            </a:r>
            <a:r>
              <a:rPr lang="en-US" sz="2200" b="0" i="0" u="none">
                <a:solidFill>
                  <a:srgbClr val="800000"/>
                </a:solidFill>
                <a:latin typeface="Arial"/>
                <a:ea typeface="Arial"/>
                <a:cs typeface="Arial"/>
                <a:sym typeface="Arial"/>
              </a:rPr>
              <a:t> = x + 1;  C</a:t>
            </a:r>
            <a:r>
              <a:rPr lang="en-US" sz="2200" b="0" i="0" u="none" baseline="-25000">
                <a:solidFill>
                  <a:srgbClr val="800000"/>
                </a:solidFill>
                <a:latin typeface="Arial"/>
                <a:ea typeface="Arial"/>
                <a:cs typeface="Arial"/>
                <a:sym typeface="Arial"/>
              </a:rPr>
              <a:t>S3b</a:t>
            </a:r>
            <a:r>
              <a:rPr lang="en-US" sz="2200" b="0" i="0" u="none">
                <a:solidFill>
                  <a:srgbClr val="800000"/>
                </a:solidFill>
                <a:latin typeface="Arial"/>
                <a:ea typeface="Arial"/>
                <a:cs typeface="Arial"/>
                <a:sym typeface="Arial"/>
              </a:rPr>
              <a:t> = 1 for static or linear hashing;</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C</a:t>
            </a:r>
            <a:r>
              <a:rPr lang="en-US" sz="2200" b="0" i="0" u="none" baseline="-25000">
                <a:solidFill>
                  <a:srgbClr val="800000"/>
                </a:solidFill>
                <a:latin typeface="Arial"/>
                <a:ea typeface="Arial"/>
                <a:cs typeface="Arial"/>
                <a:sym typeface="Arial"/>
              </a:rPr>
              <a:t>S3b</a:t>
            </a:r>
            <a:r>
              <a:rPr lang="en-US" sz="2200" b="0" i="0" u="none">
                <a:solidFill>
                  <a:srgbClr val="800000"/>
                </a:solidFill>
                <a:latin typeface="Arial"/>
                <a:ea typeface="Arial"/>
                <a:cs typeface="Arial"/>
                <a:sym typeface="Arial"/>
              </a:rPr>
              <a:t> = 1 for extendible hashing;</a:t>
            </a:r>
            <a:endParaRPr/>
          </a:p>
          <a:p>
            <a:pPr marL="742950" lvl="1" indent="-285750" algn="l" rtl="0">
              <a:lnSpc>
                <a:spcPct val="80000"/>
              </a:lnSpc>
              <a:spcBef>
                <a:spcPts val="440"/>
              </a:spcBef>
              <a:spcAft>
                <a:spcPts val="0"/>
              </a:spcAft>
              <a:buSzPts val="1210"/>
              <a:buNone/>
            </a:pPr>
            <a:r>
              <a:rPr lang="en-US" sz="2200" b="0" i="0" u="none">
                <a:solidFill>
                  <a:srgbClr val="800000"/>
                </a:solidFill>
                <a:latin typeface="Arial"/>
                <a:ea typeface="Arial"/>
                <a:cs typeface="Arial"/>
                <a:sym typeface="Arial"/>
              </a:rPr>
              <a:t> number</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91"/>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88</a:t>
            </a:fld>
            <a:endParaRPr/>
          </a:p>
        </p:txBody>
      </p:sp>
      <p:sp>
        <p:nvSpPr>
          <p:cNvPr id="819" name="Google Shape;819;p91"/>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Selectivity and Cost Estimates in Query Optimization (5)</a:t>
            </a:r>
            <a:endParaRPr/>
          </a:p>
        </p:txBody>
      </p:sp>
      <p:sp>
        <p:nvSpPr>
          <p:cNvPr id="820" name="Google Shape;820;p91"/>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Examples of Cost Functions for SELECT (contd.)</a:t>
            </a:r>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S4. Using an ordering index to retrieve multiple records: </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For the comparison condition on a key field with an ordering index, C</a:t>
            </a:r>
            <a:r>
              <a:rPr lang="en-US" sz="2200" b="0" i="0" u="none" baseline="-25000">
                <a:solidFill>
                  <a:srgbClr val="800000"/>
                </a:solidFill>
                <a:latin typeface="Arial"/>
                <a:ea typeface="Arial"/>
                <a:cs typeface="Arial"/>
                <a:sym typeface="Arial"/>
              </a:rPr>
              <a:t>S4</a:t>
            </a:r>
            <a:r>
              <a:rPr lang="en-US" sz="2200" b="0" i="0" u="none">
                <a:solidFill>
                  <a:srgbClr val="800000"/>
                </a:solidFill>
                <a:latin typeface="Arial"/>
                <a:ea typeface="Arial"/>
                <a:cs typeface="Arial"/>
                <a:sym typeface="Arial"/>
              </a:rPr>
              <a:t> = x + (b/2) </a:t>
            </a:r>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S5. Using a clustering index to retrieve multiple records:</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C</a:t>
            </a:r>
            <a:r>
              <a:rPr lang="en-US" sz="2200" b="0" i="0" u="none" baseline="-25000">
                <a:solidFill>
                  <a:srgbClr val="800000"/>
                </a:solidFill>
                <a:latin typeface="Arial"/>
                <a:ea typeface="Arial"/>
                <a:cs typeface="Arial"/>
                <a:sym typeface="Arial"/>
              </a:rPr>
              <a:t>S5</a:t>
            </a:r>
            <a:r>
              <a:rPr lang="en-US" sz="2200" b="0" i="0" u="none">
                <a:solidFill>
                  <a:srgbClr val="800000"/>
                </a:solidFill>
                <a:latin typeface="Arial"/>
                <a:ea typeface="Arial"/>
                <a:cs typeface="Arial"/>
                <a:sym typeface="Arial"/>
              </a:rPr>
              <a:t> = x + ┌ (s/bfr) ┐</a:t>
            </a:r>
            <a:endParaRPr sz="2200" b="0" i="0" u="none">
              <a:solidFill>
                <a:srgbClr val="800000"/>
              </a:solidFill>
              <a:latin typeface="Arial"/>
              <a:ea typeface="Arial"/>
              <a:cs typeface="Arial"/>
              <a:sym typeface="Arial"/>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S6. Using a secondary (B+-tree) index:</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For an equality comparison, C</a:t>
            </a:r>
            <a:r>
              <a:rPr lang="en-US" sz="2200" b="0" i="0" u="none" baseline="-25000">
                <a:solidFill>
                  <a:srgbClr val="800000"/>
                </a:solidFill>
                <a:latin typeface="Arial"/>
                <a:ea typeface="Arial"/>
                <a:cs typeface="Arial"/>
                <a:sym typeface="Arial"/>
              </a:rPr>
              <a:t>S6a</a:t>
            </a:r>
            <a:r>
              <a:rPr lang="en-US" sz="2200" b="0" i="0" u="none">
                <a:solidFill>
                  <a:srgbClr val="800000"/>
                </a:solidFill>
                <a:latin typeface="Arial"/>
                <a:ea typeface="Arial"/>
                <a:cs typeface="Arial"/>
                <a:sym typeface="Arial"/>
              </a:rPr>
              <a:t> = x + s;  </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For an comparison condition such as &gt;, &lt;, &gt;=, or &lt;=, </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C</a:t>
            </a:r>
            <a:r>
              <a:rPr lang="en-US" sz="2200" b="0" i="0" u="none" baseline="-25000">
                <a:solidFill>
                  <a:srgbClr val="800000"/>
                </a:solidFill>
                <a:latin typeface="Arial"/>
                <a:ea typeface="Arial"/>
                <a:cs typeface="Arial"/>
                <a:sym typeface="Arial"/>
              </a:rPr>
              <a:t>S6a</a:t>
            </a:r>
            <a:r>
              <a:rPr lang="en-US" sz="2200" b="0" i="0" u="none">
                <a:solidFill>
                  <a:srgbClr val="800000"/>
                </a:solidFill>
                <a:latin typeface="Arial"/>
                <a:ea typeface="Arial"/>
                <a:cs typeface="Arial"/>
                <a:sym typeface="Arial"/>
              </a:rPr>
              <a:t> = x + (b</a:t>
            </a:r>
            <a:r>
              <a:rPr lang="en-US" sz="2200" b="0" i="0" u="none" baseline="-25000">
                <a:solidFill>
                  <a:srgbClr val="800000"/>
                </a:solidFill>
                <a:latin typeface="Arial"/>
                <a:ea typeface="Arial"/>
                <a:cs typeface="Arial"/>
                <a:sym typeface="Arial"/>
              </a:rPr>
              <a:t>I1</a:t>
            </a:r>
            <a:r>
              <a:rPr lang="en-US" sz="2200" b="0" i="0" u="none">
                <a:solidFill>
                  <a:srgbClr val="800000"/>
                </a:solidFill>
                <a:latin typeface="Arial"/>
                <a:ea typeface="Arial"/>
                <a:cs typeface="Arial"/>
                <a:sym typeface="Arial"/>
              </a:rPr>
              <a:t>/2) + (r/2)</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92"/>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89</a:t>
            </a:fld>
            <a:endParaRPr/>
          </a:p>
        </p:txBody>
      </p:sp>
      <p:sp>
        <p:nvSpPr>
          <p:cNvPr id="827" name="Google Shape;827;p92"/>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Selectivity and Cost Estimates in Query Optimization (6)</a:t>
            </a:r>
            <a:endParaRPr/>
          </a:p>
        </p:txBody>
      </p:sp>
      <p:sp>
        <p:nvSpPr>
          <p:cNvPr id="828" name="Google Shape;828;p92"/>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Examples of Cost Functions for SELECT (contd.)</a:t>
            </a:r>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S7. Conjunctive selection: </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Use either S1 or one of the methods S2 to S6 to solve. </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For the latter case, use one condition to retrieve the records and then check in the memory buffer whether each retrieved record satisfies the remaining conditions in the conjunction.</a:t>
            </a:r>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S8. Conjunctive selection using a composite index:</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Same as S3a, S5 or S6a, depending on the type of index.</a:t>
            </a:r>
            <a:endParaRPr/>
          </a:p>
          <a:p>
            <a:pPr marL="342900" lvl="0" indent="-251459" algn="l" rtl="0">
              <a:lnSpc>
                <a:spcPct val="100000"/>
              </a:lnSpc>
              <a:spcBef>
                <a:spcPts val="480"/>
              </a:spcBef>
              <a:spcAft>
                <a:spcPts val="0"/>
              </a:spcAft>
              <a:buClr>
                <a:srgbClr val="990033"/>
              </a:buClr>
              <a:buSzPts val="1440"/>
              <a:buFont typeface="Noto Sans Symbols"/>
              <a:buNone/>
            </a:pPr>
            <a:endParaRPr sz="2400" b="0" i="0" u="none">
              <a:solidFill>
                <a:schemeClr val="dk2"/>
              </a:solidFill>
              <a:latin typeface="Arial"/>
              <a:ea typeface="Arial"/>
              <a:cs typeface="Arial"/>
              <a:sym typeface="Arial"/>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Examples of using the cost functions.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93"/>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90</a:t>
            </a:fld>
            <a:endParaRPr/>
          </a:p>
        </p:txBody>
      </p:sp>
      <p:sp>
        <p:nvSpPr>
          <p:cNvPr id="835" name="Google Shape;835;p93"/>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Selectivity and Cost Estimates in Query Optimization (7)</a:t>
            </a:r>
            <a:endParaRPr/>
          </a:p>
        </p:txBody>
      </p:sp>
      <p:sp>
        <p:nvSpPr>
          <p:cNvPr id="836" name="Google Shape;836;p93"/>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Examples of Cost Functions for JOIN</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Join selectivity (js)</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js = | (R     </a:t>
            </a:r>
            <a:r>
              <a:rPr lang="en-US" sz="2600" b="0" i="0" u="none" baseline="-25000">
                <a:solidFill>
                  <a:srgbClr val="800000"/>
                </a:solidFill>
                <a:latin typeface="Arial"/>
                <a:ea typeface="Arial"/>
                <a:cs typeface="Arial"/>
                <a:sym typeface="Arial"/>
              </a:rPr>
              <a:t>C</a:t>
            </a:r>
            <a:r>
              <a:rPr lang="en-US" sz="2600" b="0" i="0" u="none">
                <a:solidFill>
                  <a:srgbClr val="800000"/>
                </a:solidFill>
                <a:latin typeface="Arial"/>
                <a:ea typeface="Arial"/>
                <a:cs typeface="Arial"/>
                <a:sym typeface="Arial"/>
              </a:rPr>
              <a:t> S) | / | R x  S | = | (R    </a:t>
            </a:r>
            <a:r>
              <a:rPr lang="en-US" sz="2600" b="0" i="0" u="none" baseline="-25000">
                <a:solidFill>
                  <a:srgbClr val="800000"/>
                </a:solidFill>
                <a:latin typeface="Arial"/>
                <a:ea typeface="Arial"/>
                <a:cs typeface="Arial"/>
                <a:sym typeface="Arial"/>
              </a:rPr>
              <a:t>C</a:t>
            </a:r>
            <a:r>
              <a:rPr lang="en-US" sz="2600" b="0" i="0" u="none">
                <a:solidFill>
                  <a:srgbClr val="800000"/>
                </a:solidFill>
                <a:latin typeface="Arial"/>
                <a:ea typeface="Arial"/>
                <a:cs typeface="Arial"/>
                <a:sym typeface="Arial"/>
              </a:rPr>
              <a:t> S) | / (|R| * |S |)</a:t>
            </a:r>
            <a:endParaRPr/>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a:solidFill>
                  <a:schemeClr val="dk2"/>
                </a:solidFill>
                <a:latin typeface="Arial"/>
                <a:ea typeface="Arial"/>
                <a:cs typeface="Arial"/>
                <a:sym typeface="Arial"/>
              </a:rPr>
              <a:t>If condition C does not exist, js = 1;</a:t>
            </a:r>
            <a:endParaRPr/>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a:solidFill>
                  <a:schemeClr val="dk2"/>
                </a:solidFill>
                <a:latin typeface="Arial"/>
                <a:ea typeface="Arial"/>
                <a:cs typeface="Arial"/>
                <a:sym typeface="Arial"/>
              </a:rPr>
              <a:t>If no tuples from the relations satisfy condition C, js = 0;</a:t>
            </a:r>
            <a:endParaRPr/>
          </a:p>
          <a:p>
            <a:pPr marL="1143000" lvl="2" indent="-228600" algn="l" rtl="0">
              <a:lnSpc>
                <a:spcPct val="100000"/>
              </a:lnSpc>
              <a:spcBef>
                <a:spcPts val="480"/>
              </a:spcBef>
              <a:spcAft>
                <a:spcPts val="0"/>
              </a:spcAft>
              <a:buClr>
                <a:srgbClr val="990033"/>
              </a:buClr>
              <a:buSzPts val="1200"/>
              <a:buFont typeface="Noto Sans Symbols"/>
              <a:buChar char="■"/>
            </a:pPr>
            <a:r>
              <a:rPr lang="en-US" sz="2400" b="0" i="0" u="none">
                <a:solidFill>
                  <a:schemeClr val="dk2"/>
                </a:solidFill>
                <a:latin typeface="Arial"/>
                <a:ea typeface="Arial"/>
                <a:cs typeface="Arial"/>
                <a:sym typeface="Arial"/>
              </a:rPr>
              <a:t>Usually, 0 &lt;= js &lt;= 1;</a:t>
            </a:r>
            <a:endParaRPr/>
          </a:p>
          <a:p>
            <a:pPr marL="342900" lvl="0" indent="-342900" algn="l" rtl="0">
              <a:lnSpc>
                <a:spcPct val="100000"/>
              </a:lnSpc>
              <a:spcBef>
                <a:spcPts val="560"/>
              </a:spcBef>
              <a:spcAft>
                <a:spcPts val="0"/>
              </a:spcAft>
              <a:buClr>
                <a:srgbClr val="990033"/>
              </a:buClr>
              <a:buSzPts val="1680"/>
              <a:buFont typeface="Noto Sans Symbols"/>
              <a:buChar char="■"/>
            </a:pPr>
            <a:r>
              <a:rPr lang="en-US" sz="2800" b="0" i="0" u="none">
                <a:solidFill>
                  <a:schemeClr val="dk2"/>
                </a:solidFill>
                <a:latin typeface="Arial"/>
                <a:ea typeface="Arial"/>
                <a:cs typeface="Arial"/>
                <a:sym typeface="Arial"/>
              </a:rPr>
              <a:t>Size of the result file after join operation</a:t>
            </a:r>
            <a:endParaRPr/>
          </a:p>
          <a:p>
            <a:pPr marL="742950" lvl="1" indent="-285750" algn="l" rtl="0">
              <a:lnSpc>
                <a:spcPct val="100000"/>
              </a:lnSpc>
              <a:spcBef>
                <a:spcPts val="520"/>
              </a:spcBef>
              <a:spcAft>
                <a:spcPts val="0"/>
              </a:spcAft>
              <a:buClr>
                <a:schemeClr val="dk2"/>
              </a:buClr>
              <a:buSzPts val="1430"/>
              <a:buFont typeface="Noto Sans Symbols"/>
              <a:buChar char="■"/>
            </a:pPr>
            <a:r>
              <a:rPr lang="en-US" sz="2600" b="0" i="0" u="none">
                <a:solidFill>
                  <a:srgbClr val="800000"/>
                </a:solidFill>
                <a:latin typeface="Arial"/>
                <a:ea typeface="Arial"/>
                <a:cs typeface="Arial"/>
                <a:sym typeface="Arial"/>
              </a:rPr>
              <a:t>| (R     </a:t>
            </a:r>
            <a:r>
              <a:rPr lang="en-US" sz="2600" b="0" i="0" u="none" baseline="-25000">
                <a:solidFill>
                  <a:srgbClr val="800000"/>
                </a:solidFill>
                <a:latin typeface="Arial"/>
                <a:ea typeface="Arial"/>
                <a:cs typeface="Arial"/>
                <a:sym typeface="Arial"/>
              </a:rPr>
              <a:t>C</a:t>
            </a:r>
            <a:r>
              <a:rPr lang="en-US" sz="2600" b="0" i="0" u="none">
                <a:solidFill>
                  <a:srgbClr val="800000"/>
                </a:solidFill>
                <a:latin typeface="Arial"/>
                <a:ea typeface="Arial"/>
                <a:cs typeface="Arial"/>
                <a:sym typeface="Arial"/>
              </a:rPr>
              <a:t> S) |  = js * |R| * |S |</a:t>
            </a:r>
            <a:endParaRPr/>
          </a:p>
        </p:txBody>
      </p:sp>
      <p:grpSp>
        <p:nvGrpSpPr>
          <p:cNvPr id="837" name="Google Shape;837;p93"/>
          <p:cNvGrpSpPr/>
          <p:nvPr/>
        </p:nvGrpSpPr>
        <p:grpSpPr>
          <a:xfrm>
            <a:off x="1752600" y="5845175"/>
            <a:ext cx="219075" cy="174625"/>
            <a:chOff x="377" y="2904"/>
            <a:chExt cx="154" cy="110"/>
          </a:xfrm>
        </p:grpSpPr>
        <p:cxnSp>
          <p:nvCxnSpPr>
            <p:cNvPr id="838" name="Google Shape;838;p93"/>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839" name="Google Shape;839;p93"/>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840" name="Google Shape;840;p93"/>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841" name="Google Shape;841;p93"/>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842" name="Google Shape;842;p93"/>
          <p:cNvGrpSpPr/>
          <p:nvPr/>
        </p:nvGrpSpPr>
        <p:grpSpPr>
          <a:xfrm>
            <a:off x="5953125" y="2720975"/>
            <a:ext cx="219075" cy="174625"/>
            <a:chOff x="377" y="2904"/>
            <a:chExt cx="154" cy="110"/>
          </a:xfrm>
        </p:grpSpPr>
        <p:cxnSp>
          <p:nvCxnSpPr>
            <p:cNvPr id="843" name="Google Shape;843;p93"/>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844" name="Google Shape;844;p93"/>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845" name="Google Shape;845;p93"/>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846" name="Google Shape;846;p93"/>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grpSp>
        <p:nvGrpSpPr>
          <p:cNvPr id="847" name="Google Shape;847;p93"/>
          <p:cNvGrpSpPr/>
          <p:nvPr/>
        </p:nvGrpSpPr>
        <p:grpSpPr>
          <a:xfrm>
            <a:off x="2371725" y="2720975"/>
            <a:ext cx="219075" cy="174625"/>
            <a:chOff x="377" y="2904"/>
            <a:chExt cx="154" cy="110"/>
          </a:xfrm>
        </p:grpSpPr>
        <p:cxnSp>
          <p:nvCxnSpPr>
            <p:cNvPr id="848" name="Google Shape;848;p93"/>
            <p:cNvCxnSpPr/>
            <p:nvPr/>
          </p:nvCxnSpPr>
          <p:spPr>
            <a:xfrm>
              <a:off x="381"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849" name="Google Shape;849;p93"/>
            <p:cNvCxnSpPr/>
            <p:nvPr/>
          </p:nvCxnSpPr>
          <p:spPr>
            <a:xfrm>
              <a:off x="527" y="2904"/>
              <a:ext cx="0" cy="110"/>
            </a:xfrm>
            <a:prstGeom prst="straightConnector1">
              <a:avLst/>
            </a:prstGeom>
            <a:noFill/>
            <a:ln w="15875" cap="flat" cmpd="sng">
              <a:solidFill>
                <a:schemeClr val="lt2"/>
              </a:solidFill>
              <a:prstDash val="solid"/>
              <a:miter lim="800000"/>
              <a:headEnd type="none" w="med" len="med"/>
              <a:tailEnd type="none" w="med" len="med"/>
            </a:ln>
          </p:spPr>
        </p:cxnSp>
        <p:cxnSp>
          <p:nvCxnSpPr>
            <p:cNvPr id="850" name="Google Shape;850;p93"/>
            <p:cNvCxnSpPr/>
            <p:nvPr/>
          </p:nvCxnSpPr>
          <p:spPr>
            <a:xfrm>
              <a:off x="385" y="2904"/>
              <a:ext cx="138" cy="110"/>
            </a:xfrm>
            <a:prstGeom prst="straightConnector1">
              <a:avLst/>
            </a:prstGeom>
            <a:noFill/>
            <a:ln w="15875" cap="flat" cmpd="sng">
              <a:solidFill>
                <a:schemeClr val="lt2"/>
              </a:solidFill>
              <a:prstDash val="solid"/>
              <a:miter lim="800000"/>
              <a:headEnd type="none" w="med" len="med"/>
              <a:tailEnd type="none" w="med" len="med"/>
            </a:ln>
          </p:spPr>
        </p:cxnSp>
        <p:cxnSp>
          <p:nvCxnSpPr>
            <p:cNvPr id="851" name="Google Shape;851;p93"/>
            <p:cNvCxnSpPr/>
            <p:nvPr/>
          </p:nvCxnSpPr>
          <p:spPr>
            <a:xfrm flipH="1">
              <a:off x="377" y="2904"/>
              <a:ext cx="154" cy="110"/>
            </a:xfrm>
            <a:prstGeom prst="straightConnector1">
              <a:avLst/>
            </a:prstGeom>
            <a:noFill/>
            <a:ln w="15875" cap="flat" cmpd="sng">
              <a:solidFill>
                <a:schemeClr val="lt2"/>
              </a:solidFill>
              <a:prstDash val="solid"/>
              <a:miter lim="800000"/>
              <a:headEnd type="none" w="med" len="med"/>
              <a:tailEnd type="none" w="med" len="med"/>
            </a:ln>
          </p:spPr>
        </p:cxn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94"/>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91</a:t>
            </a:fld>
            <a:endParaRPr/>
          </a:p>
        </p:txBody>
      </p:sp>
      <p:sp>
        <p:nvSpPr>
          <p:cNvPr id="858" name="Google Shape;858;p94"/>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Selectivity and Cost Estimates in Query Optimization (8)</a:t>
            </a:r>
            <a:endParaRPr/>
          </a:p>
        </p:txBody>
      </p:sp>
      <p:sp>
        <p:nvSpPr>
          <p:cNvPr id="859" name="Google Shape;859;p94"/>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10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Examples of Cost Functions for JOIN (contd.)</a:t>
            </a:r>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J1. Nested-loop join:</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C</a:t>
            </a:r>
            <a:r>
              <a:rPr lang="en-US" sz="2200" b="0" i="0" u="none" baseline="-25000">
                <a:solidFill>
                  <a:srgbClr val="800000"/>
                </a:solidFill>
                <a:latin typeface="Arial"/>
                <a:ea typeface="Arial"/>
                <a:cs typeface="Arial"/>
                <a:sym typeface="Arial"/>
              </a:rPr>
              <a:t>J1</a:t>
            </a:r>
            <a:r>
              <a:rPr lang="en-US" sz="2200" b="0" i="0" u="none">
                <a:solidFill>
                  <a:srgbClr val="800000"/>
                </a:solidFill>
                <a:latin typeface="Arial"/>
                <a:ea typeface="Arial"/>
                <a:cs typeface="Arial"/>
                <a:sym typeface="Arial"/>
              </a:rPr>
              <a:t> = b</a:t>
            </a:r>
            <a:r>
              <a:rPr lang="en-US" sz="2200" b="0" i="0" u="none" baseline="-25000">
                <a:solidFill>
                  <a:srgbClr val="800000"/>
                </a:solidFill>
                <a:latin typeface="Arial"/>
                <a:ea typeface="Arial"/>
                <a:cs typeface="Arial"/>
                <a:sym typeface="Arial"/>
              </a:rPr>
              <a:t>R</a:t>
            </a:r>
            <a:r>
              <a:rPr lang="en-US" sz="2200" b="0" i="0" u="none">
                <a:solidFill>
                  <a:srgbClr val="800000"/>
                </a:solidFill>
                <a:latin typeface="Arial"/>
                <a:ea typeface="Arial"/>
                <a:cs typeface="Arial"/>
                <a:sym typeface="Arial"/>
              </a:rPr>
              <a:t> + (b</a:t>
            </a:r>
            <a:r>
              <a:rPr lang="en-US" sz="2200" b="0" i="0" u="none" baseline="-25000">
                <a:solidFill>
                  <a:srgbClr val="800000"/>
                </a:solidFill>
                <a:latin typeface="Arial"/>
                <a:ea typeface="Arial"/>
                <a:cs typeface="Arial"/>
                <a:sym typeface="Arial"/>
              </a:rPr>
              <a:t>R</a:t>
            </a:r>
            <a:r>
              <a:rPr lang="en-US" sz="2200" b="0" i="0" u="none">
                <a:solidFill>
                  <a:srgbClr val="800000"/>
                </a:solidFill>
                <a:latin typeface="Arial"/>
                <a:ea typeface="Arial"/>
                <a:cs typeface="Arial"/>
                <a:sym typeface="Arial"/>
              </a:rPr>
              <a:t>*b</a:t>
            </a:r>
            <a:r>
              <a:rPr lang="en-US" sz="2200" b="0" i="0" u="none" baseline="-25000">
                <a:solidFill>
                  <a:srgbClr val="800000"/>
                </a:solidFill>
                <a:latin typeface="Arial"/>
                <a:ea typeface="Arial"/>
                <a:cs typeface="Arial"/>
                <a:sym typeface="Arial"/>
              </a:rPr>
              <a:t>S</a:t>
            </a:r>
            <a:r>
              <a:rPr lang="en-US" sz="2200" b="0" i="0" u="none">
                <a:solidFill>
                  <a:srgbClr val="800000"/>
                </a:solidFill>
                <a:latin typeface="Arial"/>
                <a:ea typeface="Arial"/>
                <a:cs typeface="Arial"/>
                <a:sym typeface="Arial"/>
              </a:rPr>
              <a:t>) + ((js* |R|* |S|)/bfr</a:t>
            </a:r>
            <a:r>
              <a:rPr lang="en-US" sz="2200" b="0" i="0" u="none" baseline="-25000">
                <a:solidFill>
                  <a:srgbClr val="800000"/>
                </a:solidFill>
                <a:latin typeface="Arial"/>
                <a:ea typeface="Arial"/>
                <a:cs typeface="Arial"/>
                <a:sym typeface="Arial"/>
              </a:rPr>
              <a:t>RS</a:t>
            </a:r>
            <a:r>
              <a:rPr lang="en-US" sz="2200" b="0" i="0" u="none">
                <a:solidFill>
                  <a:srgbClr val="800000"/>
                </a:solidFill>
                <a:latin typeface="Arial"/>
                <a:ea typeface="Arial"/>
                <a:cs typeface="Arial"/>
                <a:sym typeface="Arial"/>
              </a:rPr>
              <a:t>)</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(Use R for outer loop)</a:t>
            </a:r>
            <a:endParaRPr/>
          </a:p>
          <a:p>
            <a:pPr marL="342900" lvl="0" indent="-342900" algn="l" rtl="0">
              <a:lnSpc>
                <a:spcPct val="10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J2. Single-loop join (using an access structure to retrieve the matching record(s))</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If  an index exists for the join attribute B of S with index levels x</a:t>
            </a:r>
            <a:r>
              <a:rPr lang="en-US" sz="2200" b="0" i="0" u="none" baseline="-25000">
                <a:solidFill>
                  <a:srgbClr val="800000"/>
                </a:solidFill>
                <a:latin typeface="Arial"/>
                <a:ea typeface="Arial"/>
                <a:cs typeface="Arial"/>
                <a:sym typeface="Arial"/>
              </a:rPr>
              <a:t>B</a:t>
            </a:r>
            <a:r>
              <a:rPr lang="en-US" sz="2200" b="0" i="0" u="none">
                <a:solidFill>
                  <a:srgbClr val="800000"/>
                </a:solidFill>
                <a:latin typeface="Arial"/>
                <a:ea typeface="Arial"/>
                <a:cs typeface="Arial"/>
                <a:sym typeface="Arial"/>
              </a:rPr>
              <a:t>, we can retrieve each record s in R and then use the index to retrieve all the matching records t from S that satisfy t[B] = s[A].</a:t>
            </a:r>
            <a:endParaRPr/>
          </a:p>
          <a:p>
            <a:pPr marL="742950" lvl="1" indent="-285750" algn="l" rtl="0">
              <a:lnSpc>
                <a:spcPct val="10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The cost depends on the type of index. </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95"/>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92</a:t>
            </a:fld>
            <a:endParaRPr/>
          </a:p>
        </p:txBody>
      </p:sp>
      <p:sp>
        <p:nvSpPr>
          <p:cNvPr id="866" name="Google Shape;866;p95"/>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Selectivity and Cost Estimates in Query Optimization (9)</a:t>
            </a:r>
            <a:endParaRPr/>
          </a:p>
        </p:txBody>
      </p:sp>
      <p:sp>
        <p:nvSpPr>
          <p:cNvPr id="867" name="Google Shape;867;p95"/>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Examples of Cost Functions for JOIN (contd.)</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J2. Single-loop join (contd.)</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For a secondary index, </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C</a:t>
            </a:r>
            <a:r>
              <a:rPr lang="en-US" sz="2000" b="0" i="0" u="none" baseline="-25000">
                <a:solidFill>
                  <a:schemeClr val="dk2"/>
                </a:solidFill>
                <a:latin typeface="Arial"/>
                <a:ea typeface="Arial"/>
                <a:cs typeface="Arial"/>
                <a:sym typeface="Arial"/>
              </a:rPr>
              <a:t>J2a</a:t>
            </a:r>
            <a:r>
              <a:rPr lang="en-US" sz="2000" b="0" i="0" u="none">
                <a:solidFill>
                  <a:schemeClr val="dk2"/>
                </a:solidFill>
                <a:latin typeface="Arial"/>
                <a:ea typeface="Arial"/>
                <a:cs typeface="Arial"/>
                <a:sym typeface="Arial"/>
              </a:rPr>
              <a:t> =  b</a:t>
            </a:r>
            <a:r>
              <a:rPr lang="en-US" sz="2000" b="0" i="0" u="none" baseline="-25000">
                <a:solidFill>
                  <a:schemeClr val="dk2"/>
                </a:solidFill>
                <a:latin typeface="Arial"/>
                <a:ea typeface="Arial"/>
                <a:cs typeface="Arial"/>
                <a:sym typeface="Arial"/>
              </a:rPr>
              <a:t>R</a:t>
            </a:r>
            <a:r>
              <a:rPr lang="en-US" sz="2000" b="0" i="0" u="none">
                <a:solidFill>
                  <a:schemeClr val="dk2"/>
                </a:solidFill>
                <a:latin typeface="Arial"/>
                <a:ea typeface="Arial"/>
                <a:cs typeface="Arial"/>
                <a:sym typeface="Arial"/>
              </a:rPr>
              <a:t> + (|R| * (x</a:t>
            </a:r>
            <a:r>
              <a:rPr lang="en-US" sz="2000" b="0" i="0" u="none" baseline="-25000">
                <a:solidFill>
                  <a:schemeClr val="dk2"/>
                </a:solidFill>
                <a:latin typeface="Arial"/>
                <a:ea typeface="Arial"/>
                <a:cs typeface="Arial"/>
                <a:sym typeface="Arial"/>
              </a:rPr>
              <a:t>B</a:t>
            </a:r>
            <a:r>
              <a:rPr lang="en-US" sz="2000" b="0" i="0" u="none">
                <a:solidFill>
                  <a:schemeClr val="dk2"/>
                </a:solidFill>
                <a:latin typeface="Arial"/>
                <a:ea typeface="Arial"/>
                <a:cs typeface="Arial"/>
                <a:sym typeface="Arial"/>
              </a:rPr>
              <a:t> + s</a:t>
            </a:r>
            <a:r>
              <a:rPr lang="en-US" sz="2000" b="0" i="0" u="none" baseline="-25000">
                <a:solidFill>
                  <a:schemeClr val="dk2"/>
                </a:solidFill>
                <a:latin typeface="Arial"/>
                <a:ea typeface="Arial"/>
                <a:cs typeface="Arial"/>
                <a:sym typeface="Arial"/>
              </a:rPr>
              <a:t>B</a:t>
            </a:r>
            <a:r>
              <a:rPr lang="en-US" sz="2000" b="0" i="0" u="none">
                <a:solidFill>
                  <a:schemeClr val="dk2"/>
                </a:solidFill>
                <a:latin typeface="Arial"/>
                <a:ea typeface="Arial"/>
                <a:cs typeface="Arial"/>
                <a:sym typeface="Arial"/>
              </a:rPr>
              <a:t>)) + ((js* |R|* |S|)/bfr</a:t>
            </a:r>
            <a:r>
              <a:rPr lang="en-US" sz="2000" b="0" i="0" u="none" baseline="-25000">
                <a:solidFill>
                  <a:schemeClr val="dk2"/>
                </a:solidFill>
                <a:latin typeface="Arial"/>
                <a:ea typeface="Arial"/>
                <a:cs typeface="Arial"/>
                <a:sym typeface="Arial"/>
              </a:rPr>
              <a:t>RS</a:t>
            </a:r>
            <a:r>
              <a:rPr lang="en-US" sz="2000" b="0" i="0" u="none">
                <a:solidFill>
                  <a:schemeClr val="dk2"/>
                </a:solidFill>
                <a:latin typeface="Arial"/>
                <a:ea typeface="Arial"/>
                <a:cs typeface="Arial"/>
                <a:sym typeface="Arial"/>
              </a:rPr>
              <a:t>);</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For a clustering index,</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C</a:t>
            </a:r>
            <a:r>
              <a:rPr lang="en-US" sz="2000" b="0" i="0" u="none" baseline="-25000">
                <a:solidFill>
                  <a:schemeClr val="dk2"/>
                </a:solidFill>
                <a:latin typeface="Arial"/>
                <a:ea typeface="Arial"/>
                <a:cs typeface="Arial"/>
                <a:sym typeface="Arial"/>
              </a:rPr>
              <a:t>J2b</a:t>
            </a:r>
            <a:r>
              <a:rPr lang="en-US" sz="2000" b="0" i="0" u="none">
                <a:solidFill>
                  <a:schemeClr val="dk2"/>
                </a:solidFill>
                <a:latin typeface="Arial"/>
                <a:ea typeface="Arial"/>
                <a:cs typeface="Arial"/>
                <a:sym typeface="Arial"/>
              </a:rPr>
              <a:t> =  b</a:t>
            </a:r>
            <a:r>
              <a:rPr lang="en-US" sz="2000" b="0" i="0" u="none" baseline="-25000">
                <a:solidFill>
                  <a:schemeClr val="dk2"/>
                </a:solidFill>
                <a:latin typeface="Arial"/>
                <a:ea typeface="Arial"/>
                <a:cs typeface="Arial"/>
                <a:sym typeface="Arial"/>
              </a:rPr>
              <a:t>R</a:t>
            </a:r>
            <a:r>
              <a:rPr lang="en-US" sz="2000" b="0" i="0" u="none">
                <a:solidFill>
                  <a:schemeClr val="dk2"/>
                </a:solidFill>
                <a:latin typeface="Arial"/>
                <a:ea typeface="Arial"/>
                <a:cs typeface="Arial"/>
                <a:sym typeface="Arial"/>
              </a:rPr>
              <a:t> + (|R| * (x</a:t>
            </a:r>
            <a:r>
              <a:rPr lang="en-US" sz="2000" b="0" i="0" u="none" baseline="-25000">
                <a:solidFill>
                  <a:schemeClr val="dk2"/>
                </a:solidFill>
                <a:latin typeface="Arial"/>
                <a:ea typeface="Arial"/>
                <a:cs typeface="Arial"/>
                <a:sym typeface="Arial"/>
              </a:rPr>
              <a:t>B</a:t>
            </a:r>
            <a:r>
              <a:rPr lang="en-US" sz="2000" b="0" i="0" u="none">
                <a:solidFill>
                  <a:schemeClr val="dk2"/>
                </a:solidFill>
                <a:latin typeface="Arial"/>
                <a:ea typeface="Arial"/>
                <a:cs typeface="Arial"/>
                <a:sym typeface="Arial"/>
              </a:rPr>
              <a:t> + (s</a:t>
            </a:r>
            <a:r>
              <a:rPr lang="en-US" sz="2000" b="0" i="0" u="none" baseline="-25000">
                <a:solidFill>
                  <a:schemeClr val="dk2"/>
                </a:solidFill>
                <a:latin typeface="Arial"/>
                <a:ea typeface="Arial"/>
                <a:cs typeface="Arial"/>
                <a:sym typeface="Arial"/>
              </a:rPr>
              <a:t>B</a:t>
            </a:r>
            <a:r>
              <a:rPr lang="en-US" sz="2000" b="0" i="0" u="none">
                <a:solidFill>
                  <a:schemeClr val="dk2"/>
                </a:solidFill>
                <a:latin typeface="Arial"/>
                <a:ea typeface="Arial"/>
                <a:cs typeface="Arial"/>
                <a:sym typeface="Arial"/>
              </a:rPr>
              <a:t>/bfr</a:t>
            </a:r>
            <a:r>
              <a:rPr lang="en-US" sz="2000" b="0" i="0" u="none" baseline="-25000">
                <a:solidFill>
                  <a:schemeClr val="dk2"/>
                </a:solidFill>
                <a:latin typeface="Arial"/>
                <a:ea typeface="Arial"/>
                <a:cs typeface="Arial"/>
                <a:sym typeface="Arial"/>
              </a:rPr>
              <a:t>B</a:t>
            </a:r>
            <a:r>
              <a:rPr lang="en-US" sz="2000" b="0" i="0" u="none">
                <a:solidFill>
                  <a:schemeClr val="dk2"/>
                </a:solidFill>
                <a:latin typeface="Arial"/>
                <a:ea typeface="Arial"/>
                <a:cs typeface="Arial"/>
                <a:sym typeface="Arial"/>
              </a:rPr>
              <a:t>))) + ((js* |R|* |S|)/bfr</a:t>
            </a:r>
            <a:r>
              <a:rPr lang="en-US" sz="2000" b="0" i="0" u="none" baseline="-25000">
                <a:solidFill>
                  <a:schemeClr val="dk2"/>
                </a:solidFill>
                <a:latin typeface="Arial"/>
                <a:ea typeface="Arial"/>
                <a:cs typeface="Arial"/>
                <a:sym typeface="Arial"/>
              </a:rPr>
              <a:t>RS</a:t>
            </a:r>
            <a:r>
              <a:rPr lang="en-US" sz="2000" b="0" i="0" u="none">
                <a:solidFill>
                  <a:schemeClr val="dk2"/>
                </a:solidFill>
                <a:latin typeface="Arial"/>
                <a:ea typeface="Arial"/>
                <a:cs typeface="Arial"/>
                <a:sym typeface="Arial"/>
              </a:rPr>
              <a:t>);</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For a primary index,</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C</a:t>
            </a:r>
            <a:r>
              <a:rPr lang="en-US" sz="2000" b="0" i="0" u="none" baseline="-25000">
                <a:solidFill>
                  <a:schemeClr val="dk2"/>
                </a:solidFill>
                <a:latin typeface="Arial"/>
                <a:ea typeface="Arial"/>
                <a:cs typeface="Arial"/>
                <a:sym typeface="Arial"/>
              </a:rPr>
              <a:t>J2c</a:t>
            </a:r>
            <a:r>
              <a:rPr lang="en-US" sz="2000" b="0" i="0" u="none">
                <a:solidFill>
                  <a:schemeClr val="dk2"/>
                </a:solidFill>
                <a:latin typeface="Arial"/>
                <a:ea typeface="Arial"/>
                <a:cs typeface="Arial"/>
                <a:sym typeface="Arial"/>
              </a:rPr>
              <a:t> =  b</a:t>
            </a:r>
            <a:r>
              <a:rPr lang="en-US" sz="2000" b="0" i="0" u="none" baseline="-25000">
                <a:solidFill>
                  <a:schemeClr val="dk2"/>
                </a:solidFill>
                <a:latin typeface="Arial"/>
                <a:ea typeface="Arial"/>
                <a:cs typeface="Arial"/>
                <a:sym typeface="Arial"/>
              </a:rPr>
              <a:t>R</a:t>
            </a:r>
            <a:r>
              <a:rPr lang="en-US" sz="2000" b="0" i="0" u="none">
                <a:solidFill>
                  <a:schemeClr val="dk2"/>
                </a:solidFill>
                <a:latin typeface="Arial"/>
                <a:ea typeface="Arial"/>
                <a:cs typeface="Arial"/>
                <a:sym typeface="Arial"/>
              </a:rPr>
              <a:t> + (|R| * (x</a:t>
            </a:r>
            <a:r>
              <a:rPr lang="en-US" sz="2000" b="0" i="0" u="none" baseline="-25000">
                <a:solidFill>
                  <a:schemeClr val="dk2"/>
                </a:solidFill>
                <a:latin typeface="Arial"/>
                <a:ea typeface="Arial"/>
                <a:cs typeface="Arial"/>
                <a:sym typeface="Arial"/>
              </a:rPr>
              <a:t>B</a:t>
            </a:r>
            <a:r>
              <a:rPr lang="en-US" sz="2000" b="0" i="0" u="none">
                <a:solidFill>
                  <a:schemeClr val="dk2"/>
                </a:solidFill>
                <a:latin typeface="Arial"/>
                <a:ea typeface="Arial"/>
                <a:cs typeface="Arial"/>
                <a:sym typeface="Arial"/>
              </a:rPr>
              <a:t> + 1)) + ((js* |R|* |S|)/bfr</a:t>
            </a:r>
            <a:r>
              <a:rPr lang="en-US" sz="2000" b="0" i="0" u="none" baseline="-25000">
                <a:solidFill>
                  <a:schemeClr val="dk2"/>
                </a:solidFill>
                <a:latin typeface="Arial"/>
                <a:ea typeface="Arial"/>
                <a:cs typeface="Arial"/>
                <a:sym typeface="Arial"/>
              </a:rPr>
              <a:t>RS</a:t>
            </a:r>
            <a:r>
              <a:rPr lang="en-US" sz="2000" b="0" i="0" u="none">
                <a:solidFill>
                  <a:schemeClr val="dk2"/>
                </a:solidFill>
                <a:latin typeface="Arial"/>
                <a:ea typeface="Arial"/>
                <a:cs typeface="Arial"/>
                <a:sym typeface="Arial"/>
              </a:rPr>
              <a:t>);</a:t>
            </a:r>
            <a:endParaRPr/>
          </a:p>
          <a:p>
            <a:pPr marL="742950" lvl="1" indent="-285750" algn="l" rtl="0">
              <a:lnSpc>
                <a:spcPct val="8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If a hash key exists for one of the two join attributes — B of S</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C</a:t>
            </a:r>
            <a:r>
              <a:rPr lang="en-US" sz="2000" b="0" i="0" u="none" baseline="-25000">
                <a:solidFill>
                  <a:schemeClr val="dk2"/>
                </a:solidFill>
                <a:latin typeface="Arial"/>
                <a:ea typeface="Arial"/>
                <a:cs typeface="Arial"/>
                <a:sym typeface="Arial"/>
              </a:rPr>
              <a:t>J2d</a:t>
            </a:r>
            <a:r>
              <a:rPr lang="en-US" sz="2000" b="0" i="0" u="none">
                <a:solidFill>
                  <a:schemeClr val="dk2"/>
                </a:solidFill>
                <a:latin typeface="Arial"/>
                <a:ea typeface="Arial"/>
                <a:cs typeface="Arial"/>
                <a:sym typeface="Arial"/>
              </a:rPr>
              <a:t> =  b</a:t>
            </a:r>
            <a:r>
              <a:rPr lang="en-US" sz="2000" b="0" i="0" u="none" baseline="-25000">
                <a:solidFill>
                  <a:schemeClr val="dk2"/>
                </a:solidFill>
                <a:latin typeface="Arial"/>
                <a:ea typeface="Arial"/>
                <a:cs typeface="Arial"/>
                <a:sym typeface="Arial"/>
              </a:rPr>
              <a:t>R</a:t>
            </a:r>
            <a:r>
              <a:rPr lang="en-US" sz="2000" b="0" i="0" u="none">
                <a:solidFill>
                  <a:schemeClr val="dk2"/>
                </a:solidFill>
                <a:latin typeface="Arial"/>
                <a:ea typeface="Arial"/>
                <a:cs typeface="Arial"/>
                <a:sym typeface="Arial"/>
              </a:rPr>
              <a:t> + (|R| * h) + ((js* |R|* |S|)/bfr</a:t>
            </a:r>
            <a:r>
              <a:rPr lang="en-US" sz="2000" b="0" i="0" u="none" baseline="-25000">
                <a:solidFill>
                  <a:schemeClr val="dk2"/>
                </a:solidFill>
                <a:latin typeface="Arial"/>
                <a:ea typeface="Arial"/>
                <a:cs typeface="Arial"/>
                <a:sym typeface="Arial"/>
              </a:rPr>
              <a:t>RS</a:t>
            </a:r>
            <a:r>
              <a:rPr lang="en-US" sz="2000" b="0" i="0" u="none">
                <a:solidFill>
                  <a:schemeClr val="dk2"/>
                </a:solidFill>
                <a:latin typeface="Arial"/>
                <a:ea typeface="Arial"/>
                <a:cs typeface="Arial"/>
                <a:sym typeface="Arial"/>
              </a:rPr>
              <a:t>);</a:t>
            </a:r>
            <a:endParaRPr/>
          </a:p>
          <a:p>
            <a:pPr marL="342900" lvl="0" indent="-342900" algn="l" rtl="0">
              <a:lnSpc>
                <a:spcPct val="80000"/>
              </a:lnSpc>
              <a:spcBef>
                <a:spcPts val="48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J3. Sort-merge join:</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C</a:t>
            </a:r>
            <a:r>
              <a:rPr lang="en-US" sz="1800" b="0" i="0" u="none" baseline="-25000">
                <a:solidFill>
                  <a:schemeClr val="dk2"/>
                </a:solidFill>
                <a:latin typeface="Arial"/>
                <a:ea typeface="Arial"/>
                <a:cs typeface="Arial"/>
                <a:sym typeface="Arial"/>
              </a:rPr>
              <a:t>J3a</a:t>
            </a:r>
            <a:r>
              <a:rPr lang="en-US" sz="2000" b="0" i="0" u="none">
                <a:solidFill>
                  <a:schemeClr val="dk2"/>
                </a:solidFill>
                <a:latin typeface="Arial"/>
                <a:ea typeface="Arial"/>
                <a:cs typeface="Arial"/>
                <a:sym typeface="Arial"/>
              </a:rPr>
              <a:t> =  C</a:t>
            </a:r>
            <a:r>
              <a:rPr lang="en-US" sz="1800" b="0" i="0" u="none" baseline="-25000">
                <a:solidFill>
                  <a:schemeClr val="dk2"/>
                </a:solidFill>
                <a:latin typeface="Arial"/>
                <a:ea typeface="Arial"/>
                <a:cs typeface="Arial"/>
                <a:sym typeface="Arial"/>
              </a:rPr>
              <a:t>S</a:t>
            </a:r>
            <a:r>
              <a:rPr lang="en-US" sz="2000" b="0" i="0" u="none">
                <a:solidFill>
                  <a:schemeClr val="dk2"/>
                </a:solidFill>
                <a:latin typeface="Arial"/>
                <a:ea typeface="Arial"/>
                <a:cs typeface="Arial"/>
                <a:sym typeface="Arial"/>
              </a:rPr>
              <a:t> + b</a:t>
            </a:r>
            <a:r>
              <a:rPr lang="en-US" sz="1800" b="0" i="0" u="none" baseline="-25000">
                <a:solidFill>
                  <a:schemeClr val="dk2"/>
                </a:solidFill>
                <a:latin typeface="Arial"/>
                <a:ea typeface="Arial"/>
                <a:cs typeface="Arial"/>
                <a:sym typeface="Arial"/>
              </a:rPr>
              <a:t>R</a:t>
            </a:r>
            <a:r>
              <a:rPr lang="en-US" sz="2000" b="0" i="0" u="none">
                <a:solidFill>
                  <a:schemeClr val="dk2"/>
                </a:solidFill>
                <a:latin typeface="Arial"/>
                <a:ea typeface="Arial"/>
                <a:cs typeface="Arial"/>
                <a:sym typeface="Arial"/>
              </a:rPr>
              <a:t> + b</a:t>
            </a:r>
            <a:r>
              <a:rPr lang="en-US" sz="1800" b="0" i="0" u="none" baseline="-25000">
                <a:solidFill>
                  <a:schemeClr val="dk2"/>
                </a:solidFill>
                <a:latin typeface="Arial"/>
                <a:ea typeface="Arial"/>
                <a:cs typeface="Arial"/>
                <a:sym typeface="Arial"/>
              </a:rPr>
              <a:t>S</a:t>
            </a:r>
            <a:r>
              <a:rPr lang="en-US" sz="2000" b="0" i="0" u="none">
                <a:solidFill>
                  <a:schemeClr val="dk2"/>
                </a:solidFill>
                <a:latin typeface="Arial"/>
                <a:ea typeface="Arial"/>
                <a:cs typeface="Arial"/>
                <a:sym typeface="Arial"/>
              </a:rPr>
              <a:t> + ((js* |R|* |S|)/bfr</a:t>
            </a:r>
            <a:r>
              <a:rPr lang="en-US" sz="1800" b="0" i="0" u="none" baseline="-25000">
                <a:solidFill>
                  <a:schemeClr val="dk2"/>
                </a:solidFill>
                <a:latin typeface="Arial"/>
                <a:ea typeface="Arial"/>
                <a:cs typeface="Arial"/>
                <a:sym typeface="Arial"/>
              </a:rPr>
              <a:t>RS</a:t>
            </a:r>
            <a:r>
              <a:rPr lang="en-US" sz="2000" b="0" i="0" u="none">
                <a:solidFill>
                  <a:schemeClr val="dk2"/>
                </a:solidFill>
                <a:latin typeface="Arial"/>
                <a:ea typeface="Arial"/>
                <a:cs typeface="Arial"/>
                <a:sym typeface="Arial"/>
              </a:rPr>
              <a:t>); 	</a:t>
            </a:r>
            <a:endParaRPr/>
          </a:p>
          <a:p>
            <a:pPr marL="1143000" lvl="2" indent="-228600" algn="l" rtl="0">
              <a:lnSpc>
                <a:spcPct val="8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(CS: Cost for sorting files)</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96"/>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93</a:t>
            </a:fld>
            <a:endParaRPr/>
          </a:p>
        </p:txBody>
      </p:sp>
      <p:sp>
        <p:nvSpPr>
          <p:cNvPr id="874" name="Google Shape;874;p96"/>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Using Selectivity and Cost Estimates in Query Optimization (10)</a:t>
            </a:r>
            <a:endParaRPr/>
          </a:p>
        </p:txBody>
      </p:sp>
      <p:sp>
        <p:nvSpPr>
          <p:cNvPr id="875" name="Google Shape;875;p96"/>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440"/>
              <a:buFont typeface="Noto Sans Symbols"/>
              <a:buChar char="■"/>
            </a:pPr>
            <a:r>
              <a:rPr lang="en-US" sz="2400" b="1" i="0" u="none">
                <a:solidFill>
                  <a:schemeClr val="dk2"/>
                </a:solidFill>
                <a:latin typeface="Arial"/>
                <a:ea typeface="Arial"/>
                <a:cs typeface="Arial"/>
                <a:sym typeface="Arial"/>
              </a:rPr>
              <a:t>Multiple Relation Queries and Join Ordering</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A query joining n relations will have n-1 join operations, and hence can have a large number of different join orders when we apply the algebraic transformation rules. </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Current query optimizers typically limit the structure of a (join) query tree to that of left-deep (or right-deep) trees.</a:t>
            </a:r>
            <a:endParaRPr/>
          </a:p>
          <a:p>
            <a:pPr marL="342900" lvl="0" indent="-251459" algn="l" rtl="0">
              <a:lnSpc>
                <a:spcPct val="90000"/>
              </a:lnSpc>
              <a:spcBef>
                <a:spcPts val="480"/>
              </a:spcBef>
              <a:spcAft>
                <a:spcPts val="0"/>
              </a:spcAft>
              <a:buClr>
                <a:srgbClr val="990033"/>
              </a:buClr>
              <a:buSzPts val="1440"/>
              <a:buFont typeface="Noto Sans Symbols"/>
              <a:buNone/>
            </a:pPr>
            <a:endParaRPr sz="2400" b="0" i="0" u="none">
              <a:solidFill>
                <a:schemeClr val="dk2"/>
              </a:solidFill>
              <a:latin typeface="Arial"/>
              <a:ea typeface="Arial"/>
              <a:cs typeface="Arial"/>
              <a:sym typeface="Arial"/>
            </a:endParaRPr>
          </a:p>
          <a:p>
            <a:pPr marL="342900" lvl="0" indent="-342900" algn="l" rtl="0">
              <a:lnSpc>
                <a:spcPct val="90000"/>
              </a:lnSpc>
              <a:spcBef>
                <a:spcPts val="480"/>
              </a:spcBef>
              <a:spcAft>
                <a:spcPts val="0"/>
              </a:spcAft>
              <a:buClr>
                <a:srgbClr val="990033"/>
              </a:buClr>
              <a:buSzPts val="1440"/>
              <a:buFont typeface="Noto Sans Symbols"/>
              <a:buChar char="■"/>
            </a:pPr>
            <a:r>
              <a:rPr lang="en-US" sz="2400" b="1" i="0" u="none">
                <a:solidFill>
                  <a:schemeClr val="dk2"/>
                </a:solidFill>
                <a:latin typeface="Arial"/>
                <a:ea typeface="Arial"/>
                <a:cs typeface="Arial"/>
                <a:sym typeface="Arial"/>
              </a:rPr>
              <a:t>Left-deep tree</a:t>
            </a:r>
            <a:r>
              <a:rPr lang="en-US" sz="2400" b="0" i="0" u="none">
                <a:solidFill>
                  <a:schemeClr val="dk2"/>
                </a:solidFill>
                <a:latin typeface="Arial"/>
                <a:ea typeface="Arial"/>
                <a:cs typeface="Arial"/>
                <a:sym typeface="Arial"/>
              </a:rPr>
              <a:t>:</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A binary tree where the right child of each non-leaf node is always a base relation.</a:t>
            </a:r>
            <a:endParaRPr/>
          </a:p>
          <a:p>
            <a:pPr marL="1143000" lvl="2" indent="-228600" algn="l" rtl="0">
              <a:lnSpc>
                <a:spcPct val="9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Amenable to pipelining</a:t>
            </a:r>
            <a:endParaRPr/>
          </a:p>
          <a:p>
            <a:pPr marL="1143000" lvl="2" indent="-228600" algn="l" rtl="0">
              <a:lnSpc>
                <a:spcPct val="9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Could utilize any access paths on the base relation (the right child) when executing the join.</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p97"/>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94</a:t>
            </a:fld>
            <a:endParaRPr/>
          </a:p>
        </p:txBody>
      </p:sp>
      <p:sp>
        <p:nvSpPr>
          <p:cNvPr id="882" name="Google Shape;882;p97"/>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200"/>
              <a:buFont typeface="Arial"/>
              <a:buNone/>
            </a:pPr>
            <a:r>
              <a:rPr lang="en-US" sz="3200" b="0" i="0" u="none">
                <a:solidFill>
                  <a:srgbClr val="800000"/>
                </a:solidFill>
                <a:latin typeface="Arial"/>
                <a:ea typeface="Arial"/>
                <a:cs typeface="Arial"/>
                <a:sym typeface="Arial"/>
              </a:rPr>
              <a:t>9. Overview of Query Optimization in Oracle</a:t>
            </a:r>
            <a:endParaRPr/>
          </a:p>
        </p:txBody>
      </p:sp>
      <p:sp>
        <p:nvSpPr>
          <p:cNvPr id="883" name="Google Shape;883;p97"/>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90000"/>
              </a:lnSpc>
              <a:spcBef>
                <a:spcPts val="0"/>
              </a:spcBef>
              <a:spcAft>
                <a:spcPts val="0"/>
              </a:spcAft>
              <a:buClr>
                <a:srgbClr val="990033"/>
              </a:buClr>
              <a:buSzPts val="1440"/>
              <a:buFont typeface="Noto Sans Symbols"/>
              <a:buChar char="■"/>
            </a:pPr>
            <a:r>
              <a:rPr lang="en-US" sz="2400" b="0" i="0" u="none">
                <a:solidFill>
                  <a:schemeClr val="dk2"/>
                </a:solidFill>
                <a:latin typeface="Arial"/>
                <a:ea typeface="Arial"/>
                <a:cs typeface="Arial"/>
                <a:sym typeface="Arial"/>
              </a:rPr>
              <a:t>Oracle DBMS V8</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1" i="0" u="none">
                <a:solidFill>
                  <a:srgbClr val="800000"/>
                </a:solidFill>
                <a:latin typeface="Arial"/>
                <a:ea typeface="Arial"/>
                <a:cs typeface="Arial"/>
                <a:sym typeface="Arial"/>
              </a:rPr>
              <a:t>Rule-based query optimization</a:t>
            </a:r>
            <a:r>
              <a:rPr lang="en-US" sz="2200" b="0" i="0" u="none">
                <a:solidFill>
                  <a:srgbClr val="800000"/>
                </a:solidFill>
                <a:latin typeface="Arial"/>
                <a:ea typeface="Arial"/>
                <a:cs typeface="Arial"/>
                <a:sym typeface="Arial"/>
              </a:rPr>
              <a:t>: the optimizer chooses execution plans based on heuristically ranked operations. </a:t>
            </a:r>
            <a:endParaRPr/>
          </a:p>
          <a:p>
            <a:pPr marL="1143000" lvl="2" indent="-228600" algn="l" rtl="0">
              <a:lnSpc>
                <a:spcPct val="9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(Currently it is being phased out) </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1" i="0" u="none">
                <a:solidFill>
                  <a:srgbClr val="800000"/>
                </a:solidFill>
                <a:latin typeface="Arial"/>
                <a:ea typeface="Arial"/>
                <a:cs typeface="Arial"/>
                <a:sym typeface="Arial"/>
              </a:rPr>
              <a:t>Cost-based query optimization</a:t>
            </a:r>
            <a:r>
              <a:rPr lang="en-US" sz="2200" b="0" i="0" u="none">
                <a:solidFill>
                  <a:srgbClr val="800000"/>
                </a:solidFill>
                <a:latin typeface="Arial"/>
                <a:ea typeface="Arial"/>
                <a:cs typeface="Arial"/>
                <a:sym typeface="Arial"/>
              </a:rPr>
              <a:t>: the optimizer examines alternative access paths and operator algorithms and chooses the execution plan with lowest estimate cost.</a:t>
            </a:r>
            <a:endParaRPr/>
          </a:p>
          <a:p>
            <a:pPr marL="1143000" lvl="2" indent="-228600" algn="l" rtl="0">
              <a:lnSpc>
                <a:spcPct val="90000"/>
              </a:lnSpc>
              <a:spcBef>
                <a:spcPts val="400"/>
              </a:spcBef>
              <a:spcAft>
                <a:spcPts val="0"/>
              </a:spcAft>
              <a:buClr>
                <a:srgbClr val="990033"/>
              </a:buClr>
              <a:buSzPts val="1000"/>
              <a:buFont typeface="Noto Sans Symbols"/>
              <a:buChar char="■"/>
            </a:pPr>
            <a:r>
              <a:rPr lang="en-US" sz="2000" b="0" i="0" u="none">
                <a:solidFill>
                  <a:schemeClr val="dk2"/>
                </a:solidFill>
                <a:latin typeface="Arial"/>
                <a:ea typeface="Arial"/>
                <a:cs typeface="Arial"/>
                <a:sym typeface="Arial"/>
              </a:rPr>
              <a:t>The query cost is calculated based on the estimated usage of resources such as I/O, CPU and memory needed.</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Application developers could specify hints to the ORACLE query optimizer.</a:t>
            </a:r>
            <a:endParaRPr/>
          </a:p>
          <a:p>
            <a:pPr marL="742950" lvl="1" indent="-285750" algn="l" rtl="0">
              <a:lnSpc>
                <a:spcPct val="90000"/>
              </a:lnSpc>
              <a:spcBef>
                <a:spcPts val="440"/>
              </a:spcBef>
              <a:spcAft>
                <a:spcPts val="0"/>
              </a:spcAft>
              <a:buClr>
                <a:schemeClr val="dk2"/>
              </a:buClr>
              <a:buSzPts val="1210"/>
              <a:buFont typeface="Noto Sans Symbols"/>
              <a:buChar char="■"/>
            </a:pPr>
            <a:r>
              <a:rPr lang="en-US" sz="2200" b="0" i="0" u="none">
                <a:solidFill>
                  <a:srgbClr val="800000"/>
                </a:solidFill>
                <a:latin typeface="Arial"/>
                <a:ea typeface="Arial"/>
                <a:cs typeface="Arial"/>
                <a:sym typeface="Arial"/>
              </a:rPr>
              <a:t>The idea is that an application developer might know more information about the data.</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p98"/>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95</a:t>
            </a:fld>
            <a:endParaRPr/>
          </a:p>
        </p:txBody>
      </p:sp>
      <p:sp>
        <p:nvSpPr>
          <p:cNvPr id="890" name="Google Shape;890;p98"/>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10. Semantic Query Optimization</a:t>
            </a:r>
            <a:endParaRPr/>
          </a:p>
        </p:txBody>
      </p:sp>
      <p:sp>
        <p:nvSpPr>
          <p:cNvPr id="891" name="Google Shape;891;p98"/>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Clr>
                <a:srgbClr val="990033"/>
              </a:buClr>
              <a:buSzPts val="1200"/>
              <a:buFont typeface="Noto Sans Symbols"/>
              <a:buChar char="■"/>
            </a:pPr>
            <a:r>
              <a:rPr lang="en-US" sz="2000" b="1" i="0" u="none">
                <a:solidFill>
                  <a:schemeClr val="dk2"/>
                </a:solidFill>
                <a:latin typeface="Arial"/>
                <a:ea typeface="Arial"/>
                <a:cs typeface="Arial"/>
                <a:sym typeface="Arial"/>
              </a:rPr>
              <a:t>Semantic Query Optimization</a:t>
            </a:r>
            <a:r>
              <a:rPr lang="en-US" sz="2000" b="0" i="0" u="none">
                <a:solidFill>
                  <a:schemeClr val="dk2"/>
                </a:solidFill>
                <a:latin typeface="Arial"/>
                <a:ea typeface="Arial"/>
                <a:cs typeface="Arial"/>
                <a:sym typeface="Arial"/>
              </a:rPr>
              <a:t>:</a:t>
            </a:r>
            <a:endParaRPr/>
          </a:p>
          <a:p>
            <a:pPr marL="742950" lvl="1" indent="-285750" algn="l" rtl="0">
              <a:lnSpc>
                <a:spcPct val="8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Uses constraints specified on the database schema in order to modify one query into another query that is more efficient to execute. </a:t>
            </a:r>
            <a:endParaRPr/>
          </a:p>
          <a:p>
            <a:pPr marL="342900" lvl="0" indent="-342900" algn="l" rtl="0">
              <a:lnSpc>
                <a:spcPct val="80000"/>
              </a:lnSpc>
              <a:spcBef>
                <a:spcPts val="40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Consider the following SQL query,</a:t>
            </a:r>
            <a:endParaRPr/>
          </a:p>
          <a:p>
            <a:pPr marL="342900" lvl="0" indent="-342900" algn="l" rtl="0">
              <a:lnSpc>
                <a:spcPct val="80000"/>
              </a:lnSpc>
              <a:spcBef>
                <a:spcPts val="400"/>
              </a:spcBef>
              <a:spcAft>
                <a:spcPts val="0"/>
              </a:spcAft>
              <a:buSzPts val="1200"/>
              <a:buNone/>
            </a:pPr>
            <a:r>
              <a:rPr lang="en-US" sz="2000" b="0" i="0" u="none">
                <a:solidFill>
                  <a:schemeClr val="dk2"/>
                </a:solidFill>
                <a:latin typeface="Arial"/>
                <a:ea typeface="Arial"/>
                <a:cs typeface="Arial"/>
                <a:sym typeface="Arial"/>
              </a:rPr>
              <a:t>	SELECT	E.LNAME, M.LNAME</a:t>
            </a:r>
            <a:endParaRPr/>
          </a:p>
          <a:p>
            <a:pPr marL="342900" lvl="0" indent="-342900" algn="l" rtl="0">
              <a:lnSpc>
                <a:spcPct val="80000"/>
              </a:lnSpc>
              <a:spcBef>
                <a:spcPts val="400"/>
              </a:spcBef>
              <a:spcAft>
                <a:spcPts val="0"/>
              </a:spcAft>
              <a:buSzPts val="1200"/>
              <a:buNone/>
            </a:pPr>
            <a:r>
              <a:rPr lang="en-US" sz="2000" b="0" i="0" u="none">
                <a:solidFill>
                  <a:schemeClr val="dk2"/>
                </a:solidFill>
                <a:latin typeface="Arial"/>
                <a:ea typeface="Arial"/>
                <a:cs typeface="Arial"/>
                <a:sym typeface="Arial"/>
              </a:rPr>
              <a:t>	FROM	EMPLOYEE E M</a:t>
            </a:r>
            <a:endParaRPr/>
          </a:p>
          <a:p>
            <a:pPr marL="342900" lvl="0" indent="-342900" algn="l" rtl="0">
              <a:lnSpc>
                <a:spcPct val="80000"/>
              </a:lnSpc>
              <a:spcBef>
                <a:spcPts val="400"/>
              </a:spcBef>
              <a:spcAft>
                <a:spcPts val="0"/>
              </a:spcAft>
              <a:buSzPts val="1200"/>
              <a:buNone/>
            </a:pPr>
            <a:r>
              <a:rPr lang="en-US" sz="2000" b="0" i="0" u="none">
                <a:solidFill>
                  <a:schemeClr val="dk2"/>
                </a:solidFill>
                <a:latin typeface="Arial"/>
                <a:ea typeface="Arial"/>
                <a:cs typeface="Arial"/>
                <a:sym typeface="Arial"/>
              </a:rPr>
              <a:t>	WHERE	E.SUPERSSN=M.SSN AND E.SALARY&gt;M.SALARY </a:t>
            </a:r>
            <a:endParaRPr/>
          </a:p>
          <a:p>
            <a:pPr marL="342900" lvl="0" indent="-342900" algn="l" rtl="0">
              <a:lnSpc>
                <a:spcPct val="80000"/>
              </a:lnSpc>
              <a:spcBef>
                <a:spcPts val="400"/>
              </a:spcBef>
              <a:spcAft>
                <a:spcPts val="0"/>
              </a:spcAft>
              <a:buClr>
                <a:srgbClr val="990033"/>
              </a:buClr>
              <a:buSzPts val="1200"/>
              <a:buFont typeface="Noto Sans Symbols"/>
              <a:buChar char="■"/>
            </a:pPr>
            <a:r>
              <a:rPr lang="en-US" sz="2000" b="0" i="0" u="none">
                <a:solidFill>
                  <a:schemeClr val="dk2"/>
                </a:solidFill>
                <a:latin typeface="Arial"/>
                <a:ea typeface="Arial"/>
                <a:cs typeface="Arial"/>
                <a:sym typeface="Arial"/>
              </a:rPr>
              <a:t>Explanation:</a:t>
            </a:r>
            <a:endParaRPr/>
          </a:p>
          <a:p>
            <a:pPr marL="742950" lvl="1" indent="-285750" algn="l" rtl="0">
              <a:lnSpc>
                <a:spcPct val="80000"/>
              </a:lnSpc>
              <a:spcBef>
                <a:spcPts val="400"/>
              </a:spcBef>
              <a:spcAft>
                <a:spcPts val="0"/>
              </a:spcAft>
              <a:buClr>
                <a:schemeClr val="dk2"/>
              </a:buClr>
              <a:buSzPts val="1100"/>
              <a:buFont typeface="Noto Sans Symbols"/>
              <a:buChar char="■"/>
            </a:pPr>
            <a:r>
              <a:rPr lang="en-US" sz="2000" b="0" i="0" u="none">
                <a:solidFill>
                  <a:srgbClr val="800000"/>
                </a:solidFill>
                <a:latin typeface="Arial"/>
                <a:ea typeface="Arial"/>
                <a:cs typeface="Arial"/>
                <a:sym typeface="Arial"/>
              </a:rPr>
              <a:t>Suppose that we had a constraint on the database schema that stated that no employee can earn more than his or her direct supervisor. If the semantic query optimizer checks for the existence of this constraint, it need not execute the query at all because it knows that the result of the query will be empty. Techniques known as theorem proving can be used for this purpose.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99"/>
          <p:cNvSpPr txBox="1"/>
          <p:nvPr/>
        </p:nvSpPr>
        <p:spPr>
          <a:xfrm>
            <a:off x="6934200" y="6400800"/>
            <a:ext cx="19050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990033"/>
              </a:buClr>
              <a:buSzPts val="1400"/>
              <a:buFont typeface="Arial"/>
              <a:buNone/>
            </a:pPr>
            <a:r>
              <a:rPr lang="en-US" sz="1400" b="1" i="0" u="none">
                <a:solidFill>
                  <a:srgbClr val="990033"/>
                </a:solidFill>
                <a:latin typeface="Arial"/>
                <a:ea typeface="Arial"/>
                <a:cs typeface="Arial"/>
                <a:sym typeface="Arial"/>
              </a:rPr>
              <a:t>Slide 15- </a:t>
            </a:r>
            <a:fld id="{00000000-1234-1234-1234-123412341234}" type="slidenum">
              <a:rPr lang="en-US" sz="1400" b="1" i="0" u="none">
                <a:solidFill>
                  <a:srgbClr val="990033"/>
                </a:solidFill>
                <a:latin typeface="Arial"/>
                <a:ea typeface="Arial"/>
                <a:cs typeface="Arial"/>
                <a:sym typeface="Arial"/>
              </a:rPr>
              <a:t>96</a:t>
            </a:fld>
            <a:endParaRPr/>
          </a:p>
        </p:txBody>
      </p:sp>
      <p:sp>
        <p:nvSpPr>
          <p:cNvPr id="898" name="Google Shape;898;p99"/>
          <p:cNvSpPr txBox="1">
            <a:spLocks noGrp="1"/>
          </p:cNvSpPr>
          <p:nvPr>
            <p:ph type="title"/>
          </p:nvPr>
        </p:nvSpPr>
        <p:spPr>
          <a:xfrm>
            <a:off x="228600" y="303212"/>
            <a:ext cx="7796212" cy="9921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800000"/>
              </a:buClr>
              <a:buSzPts val="3600"/>
              <a:buFont typeface="Arial"/>
              <a:buNone/>
            </a:pPr>
            <a:r>
              <a:rPr lang="en-US" sz="3600" b="0" i="0" u="none">
                <a:solidFill>
                  <a:srgbClr val="800000"/>
                </a:solidFill>
                <a:latin typeface="Arial"/>
                <a:ea typeface="Arial"/>
                <a:cs typeface="Arial"/>
                <a:sym typeface="Arial"/>
              </a:rPr>
              <a:t>Summary</a:t>
            </a:r>
            <a:endParaRPr/>
          </a:p>
        </p:txBody>
      </p:sp>
      <p:sp>
        <p:nvSpPr>
          <p:cNvPr id="899" name="Google Shape;899;p99"/>
          <p:cNvSpPr txBox="1">
            <a:spLocks noGrp="1"/>
          </p:cNvSpPr>
          <p:nvPr>
            <p:ph type="body" idx="1"/>
          </p:nvPr>
        </p:nvSpPr>
        <p:spPr>
          <a:xfrm>
            <a:off x="239712" y="1600200"/>
            <a:ext cx="8294687" cy="4572000"/>
          </a:xfrm>
          <a:prstGeom prst="rect">
            <a:avLst/>
          </a:prstGeom>
          <a:noFill/>
          <a:ln>
            <a:noFill/>
          </a:ln>
        </p:spPr>
        <p:txBody>
          <a:bodyPr spcFirstLastPara="1" wrap="square" lIns="91425" tIns="45700" rIns="0" bIns="45700" anchor="t" anchorCtr="0">
            <a:noAutofit/>
          </a:bodyPr>
          <a:lstStyle/>
          <a:p>
            <a:pPr marL="342900" lvl="0" indent="-342900" algn="l" rtl="0">
              <a:lnSpc>
                <a:spcPct val="80000"/>
              </a:lnSpc>
              <a:spcBef>
                <a:spcPts val="0"/>
              </a:spcBef>
              <a:spcAft>
                <a:spcPts val="0"/>
              </a:spcAft>
              <a:buSzPts val="1440"/>
              <a:buNone/>
            </a:pPr>
            <a:r>
              <a:rPr lang="en-US" sz="2400" b="0" i="0" u="none">
                <a:solidFill>
                  <a:schemeClr val="dk2"/>
                </a:solidFill>
                <a:latin typeface="Arial"/>
                <a:ea typeface="Arial"/>
                <a:cs typeface="Arial"/>
                <a:sym typeface="Arial"/>
              </a:rPr>
              <a:t>0. Introduction to Query Processing</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1. Translating SQL Queries into Relational Algebra </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2. Algorithms for External Sorting</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3. Algorithms for SELECT and JOIN Operations</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4. Algorithms for PROJECT and SET Operations</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5. Implementing Aggregate Operations and Outer Joins</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6. Combining Operations using Pipelining</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7. Using Heuristics in Query Optimization</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8. Using Selectivity and Cost Estimates in Query Optimization</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9. Overview of Query Optimization in Oracle</a:t>
            </a:r>
            <a:endParaRPr/>
          </a:p>
          <a:p>
            <a:pPr marL="342900" lvl="0" indent="-342900" algn="l" rtl="0">
              <a:lnSpc>
                <a:spcPct val="80000"/>
              </a:lnSpc>
              <a:spcBef>
                <a:spcPts val="480"/>
              </a:spcBef>
              <a:spcAft>
                <a:spcPts val="0"/>
              </a:spcAft>
              <a:buSzPts val="1440"/>
              <a:buNone/>
            </a:pPr>
            <a:r>
              <a:rPr lang="en-US" sz="2400" b="0" i="0" u="none">
                <a:solidFill>
                  <a:schemeClr val="dk2"/>
                </a:solidFill>
                <a:latin typeface="Arial"/>
                <a:ea typeface="Arial"/>
                <a:cs typeface="Arial"/>
                <a:sym typeface="Arial"/>
              </a:rPr>
              <a:t>10. Semantic Query Optimization</a:t>
            </a:r>
            <a:endParaRPr/>
          </a:p>
        </p:txBody>
      </p:sp>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381</TotalTime>
  <Words>7965</Words>
  <Application>Microsoft Office PowerPoint</Application>
  <PresentationFormat>On-screen Show (4:3)</PresentationFormat>
  <Paragraphs>795</Paragraphs>
  <Slides>96</Slides>
  <Notes>89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96</vt:i4>
      </vt:variant>
    </vt:vector>
  </HeadingPairs>
  <TitlesOfParts>
    <vt:vector size="106" baseType="lpstr">
      <vt:lpstr>Arial</vt:lpstr>
      <vt:lpstr>Merriweather Sans</vt:lpstr>
      <vt:lpstr>Times New Roman</vt:lpstr>
      <vt:lpstr>Noto Sans Symbols</vt:lpstr>
      <vt:lpstr>Monotype Sorts</vt:lpstr>
      <vt:lpstr>Calibri</vt:lpstr>
      <vt:lpstr>ＭＳ Ｐゴシック</vt:lpstr>
      <vt:lpstr>Tahoma</vt:lpstr>
      <vt:lpstr>Blends</vt:lpstr>
      <vt:lpstr>1_Blends</vt:lpstr>
      <vt:lpstr>PowerPoint Presentation</vt:lpstr>
      <vt:lpstr>Chapter 15</vt:lpstr>
      <vt:lpstr>Chapter Outline (1)</vt:lpstr>
      <vt:lpstr>Introduction to Query Processing (2)</vt:lpstr>
      <vt:lpstr>Steps in query processing</vt:lpstr>
      <vt:lpstr>Parsing and Translation</vt:lpstr>
      <vt:lpstr>Example:</vt:lpstr>
      <vt:lpstr>PowerPoint Presentation</vt:lpstr>
      <vt:lpstr>PowerPoint Presentation</vt:lpstr>
      <vt:lpstr>Tree representation of relational algebra:</vt:lpstr>
      <vt:lpstr>Evaluation</vt:lpstr>
      <vt:lpstr>Query optimization</vt:lpstr>
      <vt:lpstr>Basic Steps in Query Processing : Optimization</vt:lpstr>
      <vt:lpstr>nested query</vt:lpstr>
      <vt:lpstr>join query</vt:lpstr>
      <vt:lpstr>query with with clause</vt:lpstr>
      <vt:lpstr>Introduction to Query Processing (2)</vt:lpstr>
      <vt:lpstr>0. Introduction to Query Processing (1)</vt:lpstr>
      <vt:lpstr>PowerPoint Presentation</vt:lpstr>
      <vt:lpstr>1. Translating SQL Queries into Relational Algebra (1)</vt:lpstr>
      <vt:lpstr>Translating SQL Queries into Relational Algebra (1)</vt:lpstr>
      <vt:lpstr>Translating SQL Queries into Relational Algebra (2)</vt:lpstr>
      <vt:lpstr>Algorithms for External Sorting </vt:lpstr>
      <vt:lpstr>2. Algorithms for External Sorting (1)</vt:lpstr>
      <vt:lpstr>2. Algorithms for External Sorting (1)</vt:lpstr>
      <vt:lpstr>PowerPoint Presentation</vt:lpstr>
      <vt:lpstr>PowerPoint Presentation</vt:lpstr>
      <vt:lpstr>PowerPoint Presentation</vt:lpstr>
      <vt:lpstr>PowerPoint Presentation</vt:lpstr>
      <vt:lpstr>PowerPoint Presentation</vt:lpstr>
      <vt:lpstr>Algorithms for External Sorting (2)</vt:lpstr>
      <vt:lpstr>3. Algorithms for SELECT and JOIN Operations (1)</vt:lpstr>
      <vt:lpstr>Algorithms for SELECT and JOIN Operations (2)</vt:lpstr>
      <vt:lpstr>Algorithms for SELECT and JOIN Operations (3)</vt:lpstr>
      <vt:lpstr>Algorithms for SELECT and JOIN Operations (4)</vt:lpstr>
      <vt:lpstr>Algorithms for SELECT and JOIN Operations (5)</vt:lpstr>
      <vt:lpstr>Algorithms for SELECT and JOIN Operations (7)</vt:lpstr>
      <vt:lpstr>Algorithms for SELECT and JOIN Operations (8)</vt:lpstr>
      <vt:lpstr>Algorithms for SELECT and JOIN Operations (9)</vt:lpstr>
      <vt:lpstr>Algorithms for SELECT and JOIN Operations (10)</vt:lpstr>
      <vt:lpstr>Algorithms for SELECT and JOIN Operations (11)</vt:lpstr>
      <vt:lpstr>   Implementing Join operation-using sort merge</vt:lpstr>
      <vt:lpstr>Implementing project  operation</vt:lpstr>
      <vt:lpstr>Implementing T&lt;-RUS</vt:lpstr>
      <vt:lpstr>T&lt;- R   S</vt:lpstr>
      <vt:lpstr>T&lt;- R-S</vt:lpstr>
      <vt:lpstr>Algorithms for SELECT and JOIN Operations (14)</vt:lpstr>
      <vt:lpstr>Algorithms for SELECT and JOIN Operations (15)</vt:lpstr>
      <vt:lpstr>Algorithms for SELECT and JOIN Operations (16)</vt:lpstr>
      <vt:lpstr>Algorithms for SELECT and JOIN Operations (17)</vt:lpstr>
      <vt:lpstr>Algorithms for SELECT and JOIN Operations (18)</vt:lpstr>
      <vt:lpstr>4. Algorithms for PROJECT and SET Operations (1)</vt:lpstr>
      <vt:lpstr>Algorithms for PROJECT and SET Operations (2)</vt:lpstr>
      <vt:lpstr>Algorithms for PROJECT and SET Operations (3)</vt:lpstr>
      <vt:lpstr>5. Implementing Aggregate Operations and Outer Joins (1)</vt:lpstr>
      <vt:lpstr>Implementing Aggregate Operations and Outer Joins (2)</vt:lpstr>
      <vt:lpstr>Implementing Aggregate Operations and Outer Joins (3)</vt:lpstr>
      <vt:lpstr>Implementing Aggregate Operations and Outer Joins (4)</vt:lpstr>
      <vt:lpstr>Implementing Aggregate Operations and Outer Joins (5)</vt:lpstr>
      <vt:lpstr>6. Combining Operations using Pipelining (1)</vt:lpstr>
      <vt:lpstr>Combining Operations using Pipelining (2)</vt:lpstr>
      <vt:lpstr>7. Using Heuristics in Query Optimization(1)</vt:lpstr>
      <vt:lpstr>Using Heuristics in Query Optimization (2)</vt:lpstr>
      <vt:lpstr>PowerPoint Presentation</vt:lpstr>
      <vt:lpstr>Using Heuristics in Query Optimization (3)</vt:lpstr>
      <vt:lpstr>PowerPoint Presentation</vt:lpstr>
      <vt:lpstr>Using Heuristics in Query Optimization (4)</vt:lpstr>
      <vt:lpstr>Using Heuristics in Query Optimization (5)</vt:lpstr>
      <vt:lpstr>Using Heuristics in Query Optimization (6)</vt:lpstr>
      <vt:lpstr>Using Heuristics in Query Optimization (7)</vt:lpstr>
      <vt:lpstr>PowerPoint Presentation</vt:lpstr>
      <vt:lpstr>Using Heuristics in Query Optimization (7)</vt:lpstr>
      <vt:lpstr>Using Heuristics in Query Optimization (7)</vt:lpstr>
      <vt:lpstr>Using Heuristics in Query Optimization (7)</vt:lpstr>
      <vt:lpstr>Using Heuristics in Query Optimization (8)</vt:lpstr>
      <vt:lpstr>Using Heuristics in Query Optimization (9)</vt:lpstr>
      <vt:lpstr>Using Heuristics in Query Optimization (10)</vt:lpstr>
      <vt:lpstr>Using Heuristics in Query Optimization (11)</vt:lpstr>
      <vt:lpstr>Using Heuristics in Query Optimization (12)</vt:lpstr>
      <vt:lpstr>Using Heuristics in Query Optimization (13)</vt:lpstr>
      <vt:lpstr>Using Heuristics in Query Optimization (14)</vt:lpstr>
      <vt:lpstr>Using Heuristics in Query Optimization (15)</vt:lpstr>
      <vt:lpstr>Using Heuristics in Query Optimization (16)</vt:lpstr>
      <vt:lpstr>8. Using Selectivity and Cost Estimates in Query Optimization (1)</vt:lpstr>
      <vt:lpstr>Using Selectivity and Cost Estimates in Query Optimization (2)</vt:lpstr>
      <vt:lpstr>Using Selectivity and Cost Estimates in Query Optimization (3)</vt:lpstr>
      <vt:lpstr>Using Selectivity and Cost Estimates in Query Optimization (4)</vt:lpstr>
      <vt:lpstr>Using Selectivity and Cost Estimates in Query Optimization (5)</vt:lpstr>
      <vt:lpstr>Using Selectivity and Cost Estimates in Query Optimization (6)</vt:lpstr>
      <vt:lpstr>Using Selectivity and Cost Estimates in Query Optimization (7)</vt:lpstr>
      <vt:lpstr>Using Selectivity and Cost Estimates in Query Optimization (8)</vt:lpstr>
      <vt:lpstr>Using Selectivity and Cost Estimates in Query Optimization (9)</vt:lpstr>
      <vt:lpstr>Using Selectivity and Cost Estimates in Query Optimization (10)</vt:lpstr>
      <vt:lpstr>9. Overview of Query Optimization in Oracle</vt:lpstr>
      <vt:lpstr>10. Semantic Query Optimization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Om Thanage</cp:lastModifiedBy>
  <cp:revision>11</cp:revision>
  <dcterms:modified xsi:type="dcterms:W3CDTF">2025-05-04T19:16:14Z</dcterms:modified>
</cp:coreProperties>
</file>