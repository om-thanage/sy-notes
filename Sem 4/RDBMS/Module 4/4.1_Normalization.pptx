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83" r:id="rId10"/>
    <p:sldId id="284" r:id="rId11"/>
    <p:sldId id="285" r:id="rId12"/>
    <p:sldId id="286" r:id="rId13"/>
    <p:sldId id="287" r:id="rId14"/>
    <p:sldId id="288" r:id="rId15"/>
    <p:sldId id="289" r:id="rId16"/>
    <p:sldId id="264" r:id="rId17"/>
    <p:sldId id="290" r:id="rId18"/>
    <p:sldId id="313" r:id="rId19"/>
    <p:sldId id="265" r:id="rId20"/>
    <p:sldId id="266" r:id="rId21"/>
    <p:sldId id="267" r:id="rId22"/>
    <p:sldId id="268" r:id="rId23"/>
    <p:sldId id="293" r:id="rId24"/>
    <p:sldId id="292" r:id="rId25"/>
    <p:sldId id="269" r:id="rId26"/>
    <p:sldId id="271" r:id="rId27"/>
    <p:sldId id="272" r:id="rId28"/>
    <p:sldId id="314" r:id="rId29"/>
    <p:sldId id="273" r:id="rId30"/>
    <p:sldId id="298" r:id="rId31"/>
    <p:sldId id="299" r:id="rId32"/>
    <p:sldId id="274" r:id="rId33"/>
    <p:sldId id="312" r:id="rId34"/>
    <p:sldId id="275" r:id="rId35"/>
    <p:sldId id="276" r:id="rId36"/>
    <p:sldId id="277" r:id="rId37"/>
    <p:sldId id="294" r:id="rId38"/>
    <p:sldId id="295" r:id="rId39"/>
    <p:sldId id="296" r:id="rId40"/>
    <p:sldId id="297" r:id="rId41"/>
    <p:sldId id="278" r:id="rId42"/>
    <p:sldId id="279" r:id="rId43"/>
    <p:sldId id="280" r:id="rId44"/>
    <p:sldId id="282" r:id="rId45"/>
    <p:sldId id="300" r:id="rId46"/>
    <p:sldId id="301" r:id="rId47"/>
    <p:sldId id="302" r:id="rId48"/>
    <p:sldId id="303" r:id="rId49"/>
    <p:sldId id="304" r:id="rId50"/>
    <p:sldId id="305" r:id="rId51"/>
    <p:sldId id="307" r:id="rId52"/>
    <p:sldId id="308" r:id="rId53"/>
    <p:sldId id="309" r:id="rId54"/>
    <p:sldId id="310" r:id="rId55"/>
    <p:sldId id="306" r:id="rId56"/>
    <p:sldId id="311" r:id="rId5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FA7CE5-1940-41F2-8829-636E3081F82D}" type="datetimeFigureOut">
              <a:rPr lang="en-IN" smtClean="0"/>
              <a:t>19-04-2025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60D9C4-76FC-4BF7-A8D6-4EC1DD9EE8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9458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9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5" name="Google Shape;305;p2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30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3" name="Google Shape;313;p3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1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1" name="Google Shape;321;p3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32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6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9" name="Google Shape;329;p3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4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4" name="Google Shape;344;p3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35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8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2" name="Google Shape;352;p3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6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16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0" name="Google Shape;360;p3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37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19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8" name="Google Shape;368;p3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38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20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7" name="Google Shape;377;p3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39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6" name="Google Shape;386;p3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40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4" name="Google Shape;394;p4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5" name="Google Shape;445;p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41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2" name="Google Shape;402;p4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3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26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2" name="Google Shape;422;p4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44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0" name="Google Shape;430;p4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45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32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8" name="Google Shape;438;p4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42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33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3" name="Google Shape;413;p4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46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34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6" name="Google Shape;446;p4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47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35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4" name="Google Shape;454;p4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48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36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2" name="Google Shape;462;p4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49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41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0" name="Google Shape;470;p4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50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42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9" name="Google Shape;479;p5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51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43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8" name="Google Shape;488;p5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53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44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04" name="Google Shape;504;p5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2F2BE-1044-4102-A9C1-3B42A02D3128}" type="datetimeFigureOut">
              <a:rPr lang="en-IN" smtClean="0"/>
              <a:t>19-04-2025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7E320-F949-4A5B-A7FA-5E2CB4CE6F0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9869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2F2BE-1044-4102-A9C1-3B42A02D3128}" type="datetimeFigureOut">
              <a:rPr lang="en-IN" smtClean="0"/>
              <a:t>19-04-2025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7E320-F949-4A5B-A7FA-5E2CB4CE6F0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9266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2F2BE-1044-4102-A9C1-3B42A02D3128}" type="datetimeFigureOut">
              <a:rPr lang="en-IN" smtClean="0"/>
              <a:t>19-04-2025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7E320-F949-4A5B-A7FA-5E2CB4CE6F0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65630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2F2BE-1044-4102-A9C1-3B42A02D3128}" type="datetimeFigureOut">
              <a:rPr lang="en-IN" smtClean="0"/>
              <a:t>19-04-2025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7E320-F949-4A5B-A7FA-5E2CB4CE6F0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5957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2F2BE-1044-4102-A9C1-3B42A02D3128}" type="datetimeFigureOut">
              <a:rPr lang="en-IN" smtClean="0"/>
              <a:t>19-04-2025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7E320-F949-4A5B-A7FA-5E2CB4CE6F0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2372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2F2BE-1044-4102-A9C1-3B42A02D3128}" type="datetimeFigureOut">
              <a:rPr lang="en-IN" smtClean="0"/>
              <a:t>19-04-2025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7E320-F949-4A5B-A7FA-5E2CB4CE6F0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1941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2F2BE-1044-4102-A9C1-3B42A02D3128}" type="datetimeFigureOut">
              <a:rPr lang="en-IN" smtClean="0"/>
              <a:t>19-04-2025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7E320-F949-4A5B-A7FA-5E2CB4CE6F0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59052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2F2BE-1044-4102-A9C1-3B42A02D3128}" type="datetimeFigureOut">
              <a:rPr lang="en-IN" smtClean="0"/>
              <a:t>19-04-2025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7E320-F949-4A5B-A7FA-5E2CB4CE6F0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89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2F2BE-1044-4102-A9C1-3B42A02D3128}" type="datetimeFigureOut">
              <a:rPr lang="en-IN" smtClean="0"/>
              <a:t>19-04-2025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7E320-F949-4A5B-A7FA-5E2CB4CE6F0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6756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2F2BE-1044-4102-A9C1-3B42A02D3128}" type="datetimeFigureOut">
              <a:rPr lang="en-IN" smtClean="0"/>
              <a:t>19-04-2025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7E320-F949-4A5B-A7FA-5E2CB4CE6F0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6194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2F2BE-1044-4102-A9C1-3B42A02D3128}" type="datetimeFigureOut">
              <a:rPr lang="en-IN" smtClean="0"/>
              <a:t>19-04-2025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7E320-F949-4A5B-A7FA-5E2CB4CE6F0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793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C2F2BE-1044-4102-A9C1-3B42A02D3128}" type="datetimeFigureOut">
              <a:rPr lang="en-IN" smtClean="0"/>
              <a:t>19-04-2025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7E320-F949-4A5B-A7FA-5E2CB4CE6F0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15218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568" y="1124744"/>
            <a:ext cx="7772400" cy="1470025"/>
          </a:xfrm>
        </p:spPr>
        <p:txBody>
          <a:bodyPr/>
          <a:lstStyle/>
          <a:p>
            <a:r>
              <a:rPr lang="en-US" dirty="0"/>
              <a:t>Normalization</a:t>
            </a:r>
            <a:endParaRPr lang="en-IN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3284984"/>
            <a:ext cx="7272808" cy="30051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98759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2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42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3 Normal Forms Based on Primary Keys </a:t>
            </a:r>
            <a:endParaRPr/>
          </a:p>
        </p:txBody>
      </p:sp>
      <p:sp>
        <p:nvSpPr>
          <p:cNvPr id="309" name="Google Shape;309;p42"/>
          <p:cNvSpPr txBox="1">
            <a:spLocks noGrp="1"/>
          </p:cNvSpPr>
          <p:nvPr>
            <p:ph type="body" idx="1"/>
          </p:nvPr>
        </p:nvSpPr>
        <p:spPr>
          <a:xfrm>
            <a:off x="239712" y="1600200"/>
            <a:ext cx="8294687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3.1	Normalization of Relations 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3.2	Practical Use of Normal Forms 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3.3	Definitions of Keys and Attributes Participating in Keys 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3.4	First Normal Form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3.5	Second Normal Form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3.6	Third Normal Form</a:t>
            </a:r>
            <a:endParaRPr/>
          </a:p>
          <a:p>
            <a:pPr marL="342900" lvl="0" indent="-23622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680"/>
              <a:buNone/>
            </a:pPr>
            <a:endParaRPr sz="2800" b="0" i="0" u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0242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3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43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600"/>
              <a:buFont typeface="Arial"/>
              <a:buNone/>
            </a:pPr>
            <a:r>
              <a:rPr lang="en-US" sz="3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3.1 Normalization of Relations (1)</a:t>
            </a:r>
            <a:endParaRPr/>
          </a:p>
        </p:txBody>
      </p:sp>
      <p:sp>
        <p:nvSpPr>
          <p:cNvPr id="317" name="Google Shape;317;p43"/>
          <p:cNvSpPr txBox="1">
            <a:spLocks noGrp="1"/>
          </p:cNvSpPr>
          <p:nvPr>
            <p:ph type="body" idx="1"/>
          </p:nvPr>
        </p:nvSpPr>
        <p:spPr>
          <a:xfrm>
            <a:off x="239712" y="1600200"/>
            <a:ext cx="8294687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1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Normalization:</a:t>
            </a:r>
            <a:endParaRPr dirty="0"/>
          </a:p>
          <a:p>
            <a:pPr marL="742950" lvl="1" indent="-285750" algn="l" rtl="0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2"/>
              </a:buClr>
              <a:buSzPts val="1430"/>
              <a:buFont typeface="Noto Sans Symbols"/>
              <a:buChar char="■"/>
            </a:pPr>
            <a:r>
              <a:rPr lang="en-US" sz="2600" b="0" i="0" u="none" dirty="0">
                <a:solidFill>
                  <a:srgbClr val="800000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The process of decomposing unsatisfactory "bad" relations by breaking up their attributes into smaller relations</a:t>
            </a:r>
            <a:endParaRPr dirty="0">
              <a:highlight>
                <a:srgbClr val="FFFF00"/>
              </a:highlight>
            </a:endParaRPr>
          </a:p>
          <a:p>
            <a:pPr marL="342900" lvl="0" indent="-23622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None/>
            </a:pPr>
            <a:endParaRPr sz="2800" b="0" i="0" u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1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Normal form:</a:t>
            </a:r>
            <a:endParaRPr dirty="0"/>
          </a:p>
          <a:p>
            <a:pPr marL="742950" lvl="1" indent="-285750" algn="l" rtl="0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2"/>
              </a:buClr>
              <a:buSzPts val="1430"/>
              <a:buFont typeface="Noto Sans Symbols"/>
              <a:buChar char="■"/>
            </a:pPr>
            <a:r>
              <a:rPr lang="en-US" sz="26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Condition using keys and FDs of a relation to certify whether a relation schema is in a particular normal form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79150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Slide 10- </a:t>
            </a: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sp>
        <p:nvSpPr>
          <p:cNvPr id="5" name="AutoShape 2" descr="DBMS Normalization: 1NF, 2NF, 3NF and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4100" name="Picture 4" descr="DBMS Normalization: 1NF, 2NF, 3NF and BCNF with Examples - javatpoin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73" y="1954906"/>
            <a:ext cx="7658793" cy="3706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3243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4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44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600"/>
              <a:buFont typeface="Arial"/>
              <a:buNone/>
            </a:pPr>
            <a:r>
              <a:rPr lang="en-US" sz="3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Normalization of Relations (2)</a:t>
            </a:r>
            <a:endParaRPr/>
          </a:p>
        </p:txBody>
      </p:sp>
      <p:sp>
        <p:nvSpPr>
          <p:cNvPr id="325" name="Google Shape;325;p44"/>
          <p:cNvSpPr txBox="1">
            <a:spLocks noGrp="1"/>
          </p:cNvSpPr>
          <p:nvPr>
            <p:ph type="body" idx="1"/>
          </p:nvPr>
        </p:nvSpPr>
        <p:spPr>
          <a:xfrm>
            <a:off x="239712" y="1600200"/>
            <a:ext cx="8294687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2NF, 3NF, BCNF 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2"/>
              </a:buClr>
              <a:buSzPts val="1430"/>
              <a:buFont typeface="Noto Sans Symbols"/>
              <a:buChar char="■"/>
            </a:pP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based on keys and FDs of a relation schema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4NF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2"/>
              </a:buClr>
              <a:buSzPts val="1430"/>
              <a:buFont typeface="Noto Sans Symbols"/>
              <a:buChar char="■"/>
            </a:pP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based on keys, multi-valued dependencies : MVDs; 5NF based on keys, join dependencies : JDs (Chapter 11)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Additional properties may be needed to ensure a good relational design (lossless join, dependency preservation; Chapter 11)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8912969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45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45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600"/>
              <a:buFont typeface="Arial"/>
              <a:buNone/>
            </a:pPr>
            <a:r>
              <a:rPr lang="en-US" sz="3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3.2	Practical Use of Normal Forms</a:t>
            </a:r>
            <a:endParaRPr/>
          </a:p>
        </p:txBody>
      </p:sp>
      <p:sp>
        <p:nvSpPr>
          <p:cNvPr id="333" name="Google Shape;333;p45"/>
          <p:cNvSpPr txBox="1">
            <a:spLocks noGrp="1"/>
          </p:cNvSpPr>
          <p:nvPr>
            <p:ph type="body" idx="1"/>
          </p:nvPr>
        </p:nvSpPr>
        <p:spPr>
          <a:xfrm>
            <a:off x="239712" y="1600200"/>
            <a:ext cx="8294687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t" anchorCtr="0">
            <a:noAutofit/>
          </a:bodyPr>
          <a:lstStyle/>
          <a:p>
            <a:pPr marL="342900" lvl="0" indent="-34290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sz="2400" b="1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Normalization</a:t>
            </a:r>
            <a:r>
              <a:rPr lang="en-US" sz="2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is carried out in practice so that the resulting designs are of high quality and meet the desirable properties </a:t>
            </a:r>
            <a:endParaRPr/>
          </a:p>
          <a:p>
            <a:pPr marL="342900" lvl="0" indent="-342900" algn="l" rtl="0">
              <a:lnSpc>
                <a:spcPct val="80000"/>
              </a:lnSpc>
              <a:spcBef>
                <a:spcPts val="480"/>
              </a:spcBef>
              <a:spcAft>
                <a:spcPts val="0"/>
              </a:spcAft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sz="2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practical utility of these normal forms becomes questionable when the constraints on which they are based are </a:t>
            </a:r>
            <a:r>
              <a:rPr lang="en-US" sz="2400" b="0" i="1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hard to understand</a:t>
            </a:r>
            <a:r>
              <a:rPr lang="en-US" sz="2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or to </a:t>
            </a:r>
            <a:r>
              <a:rPr lang="en-US" sz="2400" b="0" i="1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detect</a:t>
            </a:r>
            <a:endParaRPr/>
          </a:p>
          <a:p>
            <a:pPr marL="342900" lvl="0" indent="-342900" algn="l" rtl="0">
              <a:lnSpc>
                <a:spcPct val="80000"/>
              </a:lnSpc>
              <a:spcBef>
                <a:spcPts val="480"/>
              </a:spcBef>
              <a:spcAft>
                <a:spcPts val="0"/>
              </a:spcAft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sz="2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database designers </a:t>
            </a:r>
            <a:r>
              <a:rPr lang="en-US" sz="2400" b="0" i="1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need not</a:t>
            </a:r>
            <a:r>
              <a:rPr lang="en-US" sz="2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normalize to the highest possible normal form</a:t>
            </a:r>
            <a:endParaRPr/>
          </a:p>
          <a:p>
            <a:pPr marL="742950" lvl="1" indent="-285750" algn="l" rtl="0">
              <a:lnSpc>
                <a:spcPct val="80000"/>
              </a:lnSpc>
              <a:spcBef>
                <a:spcPts val="440"/>
              </a:spcBef>
              <a:spcAft>
                <a:spcPts val="0"/>
              </a:spcAft>
              <a:buClr>
                <a:schemeClr val="dk2"/>
              </a:buClr>
              <a:buSzPts val="1210"/>
              <a:buFont typeface="Noto Sans Symbols"/>
              <a:buChar char="■"/>
            </a:pPr>
            <a:r>
              <a:rPr lang="en-US" sz="22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(usually up to 3NF, BCNF or 4NF)</a:t>
            </a:r>
            <a:endParaRPr/>
          </a:p>
          <a:p>
            <a:pPr marL="342900" lvl="0" indent="-342900" algn="l" rtl="0">
              <a:lnSpc>
                <a:spcPct val="80000"/>
              </a:lnSpc>
              <a:spcBef>
                <a:spcPts val="480"/>
              </a:spcBef>
              <a:spcAft>
                <a:spcPts val="0"/>
              </a:spcAft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sz="2400" b="1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Denormalization</a:t>
            </a:r>
            <a:r>
              <a:rPr lang="en-US" sz="2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/>
          </a:p>
          <a:p>
            <a:pPr marL="742950" lvl="1" indent="-285750" algn="l" rtl="0">
              <a:lnSpc>
                <a:spcPct val="80000"/>
              </a:lnSpc>
              <a:spcBef>
                <a:spcPts val="440"/>
              </a:spcBef>
              <a:spcAft>
                <a:spcPts val="0"/>
              </a:spcAft>
              <a:buClr>
                <a:schemeClr val="dk2"/>
              </a:buClr>
              <a:buSzPts val="1210"/>
              <a:buFont typeface="Noto Sans Symbols"/>
              <a:buChar char="■"/>
            </a:pPr>
            <a:r>
              <a:rPr lang="en-US" sz="22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The process of storing the join of higher normal form relations as a base relation—which is in a lower normal form   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40106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47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47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3.3	Definitions of Keys and Attributes 	Participating in Keys (1)</a:t>
            </a:r>
            <a:endParaRPr/>
          </a:p>
        </p:txBody>
      </p:sp>
      <p:sp>
        <p:nvSpPr>
          <p:cNvPr id="348" name="Google Shape;348;p47"/>
          <p:cNvSpPr txBox="1">
            <a:spLocks noGrp="1"/>
          </p:cNvSpPr>
          <p:nvPr>
            <p:ph type="body" idx="1"/>
          </p:nvPr>
        </p:nvSpPr>
        <p:spPr>
          <a:xfrm>
            <a:off x="239712" y="1600200"/>
            <a:ext cx="8294687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2800" b="1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key</a:t>
            </a: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of a relation schema R = {A1, A2, ...., An} is a set of attributes S </a:t>
            </a:r>
            <a:r>
              <a:rPr lang="en-US" sz="2800" b="0" i="1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subset-of</a:t>
            </a: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R with the property that no two tuples t1 and t2 in any legal relation state r of R will have t1[S] = t2[S] 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680"/>
              <a:buNone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Eg: {SSN},{SSN,ENAME}, {SSN,ENAME,SEX}</a:t>
            </a:r>
            <a:endParaRPr/>
          </a:p>
          <a:p>
            <a:pPr marL="342900" lvl="0" indent="-23622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None/>
            </a:pPr>
            <a:endParaRPr sz="2800" b="0" i="0" u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2800" b="1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key</a:t>
            </a: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K is a </a:t>
            </a:r>
            <a:r>
              <a:rPr lang="en-US" sz="2800" b="1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superkey</a:t>
            </a: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with the </a:t>
            </a:r>
            <a:r>
              <a:rPr lang="en-US" sz="2800" b="0" i="1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additional property</a:t>
            </a: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that removal of any attribute from K will cause K not to be a superkey any more. 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680"/>
              <a:buNone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Eg:{SSN,ENAME}, {SSN,ENAME,SEX}</a:t>
            </a:r>
            <a:endParaRPr/>
          </a:p>
          <a:p>
            <a:pPr marL="342900" lvl="0" indent="-23622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680"/>
              <a:buNone/>
            </a:pPr>
            <a:endParaRPr sz="2800" b="0" i="0" u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483676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48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48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Definitions of Keys and Attributes 	Participating in Keys (2)</a:t>
            </a:r>
            <a:endParaRPr/>
          </a:p>
        </p:txBody>
      </p:sp>
      <p:sp>
        <p:nvSpPr>
          <p:cNvPr id="356" name="Google Shape;356;p48"/>
          <p:cNvSpPr txBox="1">
            <a:spLocks noGrp="1"/>
          </p:cNvSpPr>
          <p:nvPr>
            <p:ph type="body" idx="1"/>
          </p:nvPr>
        </p:nvSpPr>
        <p:spPr>
          <a:xfrm>
            <a:off x="0" y="1447800"/>
            <a:ext cx="876300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If a relation schema has more than one key, each is called a </a:t>
            </a:r>
            <a:r>
              <a:rPr lang="en-US" sz="2800" b="1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candidate</a:t>
            </a: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key.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2"/>
              </a:buClr>
              <a:buSzPts val="1430"/>
              <a:buFont typeface="Noto Sans Symbols"/>
              <a:buChar char="■"/>
            </a:pP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One of the candidate keys is </a:t>
            </a:r>
            <a:r>
              <a:rPr lang="en-US" sz="2600" b="0" i="1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arbitrarily</a:t>
            </a: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designated to be the </a:t>
            </a:r>
            <a:r>
              <a:rPr lang="en-US" sz="2600" b="1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primary key</a:t>
            </a: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, and the others are called </a:t>
            </a:r>
            <a:r>
              <a:rPr lang="en-US" sz="2600" b="1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secondary keys</a:t>
            </a: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SzPts val="1430"/>
              <a:buNone/>
            </a:pP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Eg: PRIMARY KEY = {SSN},  Secondary Key ={ESSN}, 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2800" b="1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Prime attribute</a:t>
            </a: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must be a member of </a:t>
            </a:r>
            <a:r>
              <a:rPr lang="en-US" sz="2800" b="0" i="1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some</a:t>
            </a: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candidate key 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680"/>
              <a:buNone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    Eg: SSN, PNO of  Works-on {SSN,PNO} 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2800" b="1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Nonprime attribute</a:t>
            </a: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is not a prime attribute—that is, it is not a member of any candidate key.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50414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8" y="1700808"/>
            <a:ext cx="5988424" cy="4427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12747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due to redundancy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5358" y="2708920"/>
            <a:ext cx="5734050" cy="2771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197409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anomaly</a:t>
            </a:r>
            <a:endParaRPr lang="en-IN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412776"/>
            <a:ext cx="4791472" cy="26798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099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4509120"/>
            <a:ext cx="5286375" cy="1057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38034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Deletion </a:t>
            </a:r>
            <a:r>
              <a:rPr lang="en-US" dirty="0" err="1"/>
              <a:t>Anamoly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736" y="1484784"/>
            <a:ext cx="6105525" cy="2428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8186" y="4208481"/>
            <a:ext cx="5616624" cy="22230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484359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Updation</a:t>
            </a:r>
            <a:r>
              <a:rPr lang="en-US" dirty="0"/>
              <a:t> </a:t>
            </a:r>
            <a:r>
              <a:rPr lang="en-US" dirty="0" err="1"/>
              <a:t>Anamoly</a:t>
            </a:r>
            <a:endParaRPr lang="en-IN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2191532"/>
            <a:ext cx="2828553" cy="526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412776"/>
            <a:ext cx="5364485" cy="26242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8" name="Picture 4"/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4149080"/>
            <a:ext cx="4797946" cy="22794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5904037" y="4562547"/>
            <a:ext cx="321421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While updating the table, if one </a:t>
            </a:r>
          </a:p>
          <a:p>
            <a:r>
              <a:rPr lang="en-US" dirty="0"/>
              <a:t>Of the row missed to update,</a:t>
            </a:r>
          </a:p>
          <a:p>
            <a:r>
              <a:rPr lang="en-US" dirty="0"/>
              <a:t>Data inconsistency can occur.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34031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8931" y="304056"/>
            <a:ext cx="8229600" cy="4525963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327" y="1124744"/>
            <a:ext cx="8445938" cy="18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9909" y="3645024"/>
            <a:ext cx="6200775" cy="171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980820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1700808"/>
            <a:ext cx="7343076" cy="4042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722374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49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16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49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600"/>
              <a:buFont typeface="Arial"/>
              <a:buNone/>
            </a:pPr>
            <a:r>
              <a:rPr lang="en-US" sz="36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First Normal Form </a:t>
            </a:r>
            <a:endParaRPr dirty="0"/>
          </a:p>
        </p:txBody>
      </p:sp>
      <p:sp>
        <p:nvSpPr>
          <p:cNvPr id="364" name="Google Shape;364;p49"/>
          <p:cNvSpPr txBox="1">
            <a:spLocks noGrp="1"/>
          </p:cNvSpPr>
          <p:nvPr>
            <p:ph type="body" idx="1"/>
          </p:nvPr>
        </p:nvSpPr>
        <p:spPr>
          <a:xfrm>
            <a:off x="239712" y="1600200"/>
            <a:ext cx="8294687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t" anchorCtr="0">
            <a:noAutofit/>
          </a:bodyPr>
          <a:lstStyle/>
          <a:p>
            <a:pPr marL="342900" lvl="0" indent="-23622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None/>
            </a:pPr>
            <a:endParaRPr sz="2800" b="0" i="0" u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All the attributes must have atomic values 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Disallows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2"/>
              </a:buClr>
              <a:buSzPts val="1430"/>
              <a:buFont typeface="Noto Sans Symbols"/>
              <a:buChar char="■"/>
            </a:pP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composite attributes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2"/>
              </a:buClr>
              <a:buSzPts val="1430"/>
              <a:buFont typeface="Noto Sans Symbols"/>
              <a:buChar char="■"/>
            </a:pP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multivalued attributes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2"/>
              </a:buClr>
              <a:buSzPts val="1430"/>
              <a:buFont typeface="Noto Sans Symbols"/>
              <a:buChar char="■"/>
            </a:pPr>
            <a:r>
              <a:rPr lang="en-US" sz="2600" b="1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nested relations</a:t>
            </a: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; attributes whose values for an </a:t>
            </a:r>
            <a:r>
              <a:rPr lang="en-US" sz="2600" b="0" i="1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individual tuple</a:t>
            </a: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are non-atomic</a:t>
            </a:r>
            <a:endParaRPr/>
          </a:p>
          <a:p>
            <a:pPr marL="342900" lvl="0" indent="-23622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None/>
            </a:pPr>
            <a:endParaRPr sz="2800" b="0" i="0" u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23622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680"/>
              <a:buNone/>
            </a:pPr>
            <a:endParaRPr sz="2800" b="0" i="0" u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7941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student table, subject column is multivalued attribute. </a:t>
            </a:r>
          </a:p>
          <a:p>
            <a:r>
              <a:rPr lang="en-US" dirty="0"/>
              <a:t>Student table is not in 1NF</a:t>
            </a:r>
            <a:endParaRPr lang="en-IN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3527300"/>
            <a:ext cx="4054996" cy="18417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8144" y="2492896"/>
            <a:ext cx="2724150" cy="3400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ight Arrow 3"/>
          <p:cNvSpPr/>
          <p:nvPr/>
        </p:nvSpPr>
        <p:spPr>
          <a:xfrm>
            <a:off x="5004048" y="4653136"/>
            <a:ext cx="618368" cy="24231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/>
          <p:cNvSpPr txBox="1"/>
          <p:nvPr/>
        </p:nvSpPr>
        <p:spPr>
          <a:xfrm>
            <a:off x="6156175" y="6196662"/>
            <a:ext cx="1984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Normalize into 1NF</a:t>
            </a:r>
            <a:endParaRPr lang="en-IN" dirty="0"/>
          </a:p>
        </p:txBody>
      </p:sp>
      <p:sp>
        <p:nvSpPr>
          <p:cNvPr id="8" name="TextBox 7"/>
          <p:cNvSpPr txBox="1"/>
          <p:nvPr/>
        </p:nvSpPr>
        <p:spPr>
          <a:xfrm>
            <a:off x="6041603" y="212356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 1: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61680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92322289"/>
              </p:ext>
            </p:extLst>
          </p:nvPr>
        </p:nvGraphicFramePr>
        <p:xfrm>
          <a:off x="457200" y="1600200"/>
          <a:ext cx="8229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Roll No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Sub1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Sub2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101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Akon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102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Bkon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C++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103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Ckon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JAVA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NULL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8217881"/>
              </p:ext>
            </p:extLst>
          </p:nvPr>
        </p:nvGraphicFramePr>
        <p:xfrm>
          <a:off x="467544" y="4221088"/>
          <a:ext cx="215060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24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Roll No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101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Akon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102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Bkon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103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Ckon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67544" y="1117800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 2:</a:t>
            </a:r>
            <a:endParaRPr lang="en-IN" dirty="0"/>
          </a:p>
        </p:txBody>
      </p:sp>
      <p:sp>
        <p:nvSpPr>
          <p:cNvPr id="9" name="TextBox 8"/>
          <p:cNvSpPr txBox="1"/>
          <p:nvPr/>
        </p:nvSpPr>
        <p:spPr>
          <a:xfrm>
            <a:off x="467544" y="328498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 3:</a:t>
            </a:r>
            <a:endParaRPr lang="en-IN" dirty="0"/>
          </a:p>
        </p:txBody>
      </p:sp>
      <p:graphicFrame>
        <p:nvGraphicFramePr>
          <p:cNvPr id="11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26335715"/>
              </p:ext>
            </p:extLst>
          </p:nvPr>
        </p:nvGraphicFramePr>
        <p:xfrm>
          <a:off x="2987824" y="4149080"/>
          <a:ext cx="2150609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24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8832">
                <a:tc>
                  <a:txBody>
                    <a:bodyPr/>
                    <a:lstStyle/>
                    <a:p>
                      <a:r>
                        <a:rPr lang="en-US" dirty="0"/>
                        <a:t>Roll No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Subject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101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101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102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102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C++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103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JAVA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9552" y="3933056"/>
            <a:ext cx="9231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Student</a:t>
            </a:r>
            <a:endParaRPr lang="en-IN" dirty="0"/>
          </a:p>
        </p:txBody>
      </p:sp>
      <p:sp>
        <p:nvSpPr>
          <p:cNvPr id="13" name="TextBox 12"/>
          <p:cNvSpPr txBox="1"/>
          <p:nvPr/>
        </p:nvSpPr>
        <p:spPr>
          <a:xfrm>
            <a:off x="2987824" y="3654316"/>
            <a:ext cx="1716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Student_subject</a:t>
            </a:r>
            <a:endParaRPr lang="en-IN" dirty="0"/>
          </a:p>
        </p:txBody>
      </p:sp>
      <p:sp>
        <p:nvSpPr>
          <p:cNvPr id="14" name="TextBox 13"/>
          <p:cNvSpPr txBox="1"/>
          <p:nvPr/>
        </p:nvSpPr>
        <p:spPr>
          <a:xfrm>
            <a:off x="5341484" y="4023648"/>
            <a:ext cx="35509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Decompose the relation student_</a:t>
            </a:r>
          </a:p>
          <a:p>
            <a:r>
              <a:rPr lang="en-US" dirty="0"/>
              <a:t>subject </a:t>
            </a:r>
            <a:r>
              <a:rPr lang="en-US" dirty="0" err="1"/>
              <a:t>alongwith</a:t>
            </a:r>
            <a:r>
              <a:rPr lang="en-US" dirty="0"/>
              <a:t> PK 	{</a:t>
            </a:r>
            <a:r>
              <a:rPr lang="en-US" dirty="0" err="1"/>
              <a:t>RollNo,Subject</a:t>
            </a:r>
            <a:r>
              <a:rPr lang="en-US" dirty="0"/>
              <a:t>}.</a:t>
            </a:r>
          </a:p>
          <a:p>
            <a:endParaRPr lang="en-US" dirty="0"/>
          </a:p>
          <a:p>
            <a:r>
              <a:rPr lang="en-US" dirty="0"/>
              <a:t>This decomposes the non-1NF </a:t>
            </a:r>
            <a:r>
              <a:rPr lang="en-US" dirty="0" err="1"/>
              <a:t>realtion</a:t>
            </a:r>
            <a:r>
              <a:rPr lang="en-US" dirty="0"/>
              <a:t>  into two 1NF relations.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1413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0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19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50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600"/>
              <a:buFont typeface="Arial"/>
              <a:buNone/>
            </a:pPr>
            <a:r>
              <a:rPr lang="en-US" sz="36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Figure 10.8 Normalization into 1NF</a:t>
            </a:r>
            <a:endParaRPr dirty="0"/>
          </a:p>
        </p:txBody>
      </p:sp>
      <p:sp>
        <p:nvSpPr>
          <p:cNvPr id="372" name="Google Shape;372;p50"/>
          <p:cNvSpPr txBox="1"/>
          <p:nvPr/>
        </p:nvSpPr>
        <p:spPr>
          <a:xfrm>
            <a:off x="1828800" y="1309687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3" name="Google Shape;373;p50" descr="fig10_0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71600" y="1600200"/>
            <a:ext cx="6096000" cy="46704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555008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1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20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51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Figure 10.9 Normalization nested relations into 1NF</a:t>
            </a:r>
            <a:endParaRPr/>
          </a:p>
        </p:txBody>
      </p:sp>
      <p:sp>
        <p:nvSpPr>
          <p:cNvPr id="381" name="Google Shape;381;p51"/>
          <p:cNvSpPr txBox="1"/>
          <p:nvPr/>
        </p:nvSpPr>
        <p:spPr>
          <a:xfrm>
            <a:off x="1828800" y="1309687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2" name="Google Shape;382;p51" descr="fig10_0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" y="1524000"/>
            <a:ext cx="8610600" cy="48006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807309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52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21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52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600"/>
              <a:buFont typeface="Arial"/>
              <a:buNone/>
            </a:pPr>
            <a:r>
              <a:rPr lang="en-US" sz="36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Second Normal Form (1) </a:t>
            </a:r>
            <a:endParaRPr dirty="0"/>
          </a:p>
        </p:txBody>
      </p:sp>
      <p:sp>
        <p:nvSpPr>
          <p:cNvPr id="390" name="Google Shape;390;p52"/>
          <p:cNvSpPr txBox="1">
            <a:spLocks noGrp="1"/>
          </p:cNvSpPr>
          <p:nvPr>
            <p:ph type="body" idx="1"/>
          </p:nvPr>
        </p:nvSpPr>
        <p:spPr>
          <a:xfrm>
            <a:off x="239712" y="1600200"/>
            <a:ext cx="8294687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t" anchorCtr="0">
            <a:no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sz="24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Uses the concepts of </a:t>
            </a:r>
            <a:r>
              <a:rPr lang="en-US" sz="2400" b="1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FDs, primary key</a:t>
            </a:r>
            <a:endParaRPr dirty="0"/>
          </a:p>
          <a:p>
            <a:pPr marL="342900" lvl="0" indent="-3429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sz="24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Definitions</a:t>
            </a:r>
            <a:endParaRPr dirty="0"/>
          </a:p>
          <a:p>
            <a:pPr marL="742950" lvl="1" indent="-28575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2"/>
              </a:buClr>
              <a:buSzPts val="1210"/>
              <a:buFont typeface="Noto Sans Symbols"/>
              <a:buChar char="■"/>
            </a:pPr>
            <a:r>
              <a:rPr lang="en-US" sz="2200" b="1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Prime attribute:</a:t>
            </a:r>
            <a:r>
              <a:rPr lang="en-US" sz="22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An attribute that is member of the candidate key K</a:t>
            </a:r>
            <a:endParaRPr dirty="0"/>
          </a:p>
          <a:p>
            <a:pPr marL="742950" lvl="1" indent="-28575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2"/>
              </a:buClr>
              <a:buSzPts val="1210"/>
              <a:buFont typeface="Noto Sans Symbols"/>
              <a:buChar char="■"/>
            </a:pPr>
            <a:r>
              <a:rPr lang="en-US" sz="2200" b="1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Full functional dependency:</a:t>
            </a:r>
            <a:r>
              <a:rPr lang="en-US" sz="22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a FD  X -&gt; Y where removal of any attribute from </a:t>
            </a:r>
            <a:r>
              <a:rPr lang="en-US" sz="2200" dirty="0"/>
              <a:t>X</a:t>
            </a:r>
            <a:r>
              <a:rPr lang="en-US" sz="22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means the FD does not hold any more</a:t>
            </a:r>
            <a:endParaRPr dirty="0"/>
          </a:p>
          <a:p>
            <a:pPr marL="342900" lvl="0" indent="-3429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sz="24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Examples:</a:t>
            </a:r>
            <a:endParaRPr dirty="0"/>
          </a:p>
          <a:p>
            <a:pPr marL="742950" lvl="1" indent="-28575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2"/>
              </a:buClr>
              <a:buSzPts val="1210"/>
              <a:buFont typeface="Noto Sans Symbols"/>
              <a:buChar char="■"/>
            </a:pPr>
            <a:r>
              <a:rPr lang="en-US" sz="22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{SSN, PNUMBER} -&gt; HOURS is a full FD since neither SSN -&gt; HOURS nor PNUMBER -&gt; HOURS hold </a:t>
            </a:r>
            <a:endParaRPr dirty="0"/>
          </a:p>
          <a:p>
            <a:pPr marL="742950" lvl="1" indent="-28575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2"/>
              </a:buClr>
              <a:buSzPts val="1210"/>
              <a:buFont typeface="Noto Sans Symbols"/>
              <a:buChar char="■"/>
            </a:pPr>
            <a:r>
              <a:rPr lang="en-US" sz="22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{SSN, PNUMBER} -&gt; ENAME is not  a full FD (it is called a partial dependency ) since SSN -&gt; ENAME also holds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261215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53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22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53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600"/>
              <a:buFont typeface="Arial"/>
              <a:buNone/>
            </a:pPr>
            <a:r>
              <a:rPr lang="en-US" sz="3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Second Normal Form (2)</a:t>
            </a:r>
            <a:endParaRPr/>
          </a:p>
        </p:txBody>
      </p:sp>
      <p:sp>
        <p:nvSpPr>
          <p:cNvPr id="398" name="Google Shape;398;p53"/>
          <p:cNvSpPr txBox="1">
            <a:spLocks noGrp="1"/>
          </p:cNvSpPr>
          <p:nvPr>
            <p:ph type="body" idx="1"/>
          </p:nvPr>
        </p:nvSpPr>
        <p:spPr>
          <a:xfrm>
            <a:off x="239712" y="1600200"/>
            <a:ext cx="8294687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 relation should be in 1NF.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endParaRPr lang="en-US" sz="2800" b="0" i="0" u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 relation schema R is in </a:t>
            </a:r>
            <a:r>
              <a:rPr lang="en-US" sz="2800" b="1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second normal form (2NF)</a:t>
            </a:r>
            <a:r>
              <a:rPr lang="en-US" sz="28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if every non-prime attribute A in R is fully functionally dependent on the primary key</a:t>
            </a:r>
            <a:endParaRPr dirty="0"/>
          </a:p>
          <a:p>
            <a:pPr marL="342900" lvl="0" indent="-23622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None/>
            </a:pPr>
            <a:endParaRPr sz="2800" b="0" i="0" u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 can be decomposed into 2NF relations via the process of 2NF normalization 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028202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51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/>
              <a:t>2NF</a:t>
            </a:r>
            <a:endParaRPr/>
          </a:p>
        </p:txBody>
      </p:sp>
      <p:sp>
        <p:nvSpPr>
          <p:cNvPr id="439" name="Google Shape;439;p51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/>
          </a:p>
        </p:txBody>
      </p:sp>
      <p:graphicFrame>
        <p:nvGraphicFramePr>
          <p:cNvPr id="7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19835889"/>
              </p:ext>
            </p:extLst>
          </p:nvPr>
        </p:nvGraphicFramePr>
        <p:xfrm>
          <a:off x="683568" y="1412776"/>
          <a:ext cx="468052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Cust_ID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Store_ID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Delhi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Mumbai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Delhi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Banglore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Mumbai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8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8438287"/>
              </p:ext>
            </p:extLst>
          </p:nvPr>
        </p:nvGraphicFramePr>
        <p:xfrm>
          <a:off x="755576" y="4221088"/>
          <a:ext cx="288032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Cust_ID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Store_ID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93706028"/>
              </p:ext>
            </p:extLst>
          </p:nvPr>
        </p:nvGraphicFramePr>
        <p:xfrm>
          <a:off x="4572000" y="4437112"/>
          <a:ext cx="338437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Store_ID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Delhi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Banglore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Mumbai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809234" y="1017347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Customer</a:t>
            </a:r>
            <a:endParaRPr lang="en-IN" dirty="0"/>
          </a:p>
        </p:txBody>
      </p:sp>
      <p:sp>
        <p:nvSpPr>
          <p:cNvPr id="3" name="TextBox 2"/>
          <p:cNvSpPr txBox="1"/>
          <p:nvPr/>
        </p:nvSpPr>
        <p:spPr>
          <a:xfrm>
            <a:off x="755576" y="3851756"/>
            <a:ext cx="1185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Cust_store</a:t>
            </a:r>
            <a:endParaRPr lang="en-IN" dirty="0"/>
          </a:p>
        </p:txBody>
      </p:sp>
      <p:sp>
        <p:nvSpPr>
          <p:cNvPr id="4" name="TextBox 3"/>
          <p:cNvSpPr txBox="1"/>
          <p:nvPr/>
        </p:nvSpPr>
        <p:spPr>
          <a:xfrm>
            <a:off x="4572000" y="3995772"/>
            <a:ext cx="1592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Store_Location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7372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5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IN" sz="2800"/>
              <a:t>Example:</a:t>
            </a:r>
            <a:endParaRPr/>
          </a:p>
        </p:txBody>
      </p:sp>
      <p:sp>
        <p:nvSpPr>
          <p:cNvPr id="448" name="Google Shape;448;p52"/>
          <p:cNvSpPr txBox="1">
            <a:spLocks noGrp="1"/>
          </p:cNvSpPr>
          <p:nvPr>
            <p:ph type="body" idx="1"/>
          </p:nvPr>
        </p:nvSpPr>
        <p:spPr>
          <a:xfrm>
            <a:off x="433668" y="1532965"/>
            <a:ext cx="4081182" cy="464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dirty="0"/>
              <a:t>Check whether given relation is in 2NF 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dirty="0"/>
              <a:t>R(ABCDEF)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dirty="0"/>
              <a:t>FD: {C 🡪 F, E 🡪 A, EC 🡪 D, A 🡪 B}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dirty="0"/>
              <a:t>STEP 1: WHAT IS CANDIDATE KEYS?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dirty="0"/>
              <a:t>CHECK L.H.S </a:t>
            </a:r>
            <a:endParaRPr dirty="0"/>
          </a:p>
          <a:p>
            <a:pPr marL="45720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IN" dirty="0"/>
              <a:t>C 🡪 F,</a:t>
            </a:r>
            <a:endParaRPr dirty="0"/>
          </a:p>
          <a:p>
            <a:pPr marL="45720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IN" dirty="0"/>
              <a:t>E 🡪A, </a:t>
            </a:r>
            <a:endParaRPr dirty="0"/>
          </a:p>
          <a:p>
            <a:pPr marL="45720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IN" dirty="0"/>
              <a:t>EC 🡪 D, </a:t>
            </a:r>
            <a:endParaRPr dirty="0"/>
          </a:p>
          <a:p>
            <a:pPr marL="45720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IN" dirty="0"/>
              <a:t>A 🡪 B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dirty="0"/>
              <a:t>EC = {FADB}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dirty="0"/>
              <a:t>Find closure of EC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dirty="0"/>
              <a:t>EC+ =ECFADB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dirty="0"/>
              <a:t>CK ={ EC}</a:t>
            </a:r>
            <a:endParaRPr dirty="0"/>
          </a:p>
        </p:txBody>
      </p:sp>
      <p:sp>
        <p:nvSpPr>
          <p:cNvPr id="449" name="Google Shape;449;p52"/>
          <p:cNvSpPr txBox="1">
            <a:spLocks noGrp="1"/>
          </p:cNvSpPr>
          <p:nvPr>
            <p:ph type="body" idx="2"/>
          </p:nvPr>
        </p:nvSpPr>
        <p:spPr>
          <a:xfrm>
            <a:off x="4514850" y="1532965"/>
            <a:ext cx="4000500" cy="464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62500" lnSpcReduction="20000"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dirty="0"/>
              <a:t>STEP2: PRIME ATTRIBUTES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dirty="0"/>
              <a:t>{E ,C }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dirty="0"/>
              <a:t>NON-PRIME ATTRIBUTES: {A,B,D,F} 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dirty="0"/>
              <a:t>CHECK PARTIAL DEPENDANCY 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dirty="0"/>
              <a:t>{LHS should be proper subset of CK and RHS should be a non primary key. }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dirty="0"/>
              <a:t>Part of candidate key determines non key attribute.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dirty="0"/>
              <a:t>For C 🡪 F, C is a part of CK and it determines non-key attribute. It is not in 2NF.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dirty="0"/>
              <a:t>E 🡪A,  FD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dirty="0"/>
              <a:t>A 🡪 B</a:t>
            </a:r>
            <a:endParaRPr dirty="0"/>
          </a:p>
          <a:p>
            <a:pPr marL="228600" lvl="0" indent="-10414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dirty="0"/>
              <a:t>Given relation is not in 2NF.</a:t>
            </a:r>
            <a:endParaRPr dirty="0"/>
          </a:p>
          <a:p>
            <a:pPr marL="228600" lvl="0" indent="-10414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7171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4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4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4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4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4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4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4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4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4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4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4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4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4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4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4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4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44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44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4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4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4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4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4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4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4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4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4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4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4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4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44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44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44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44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44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44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44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44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4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25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54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Figure 10.10 Normalizing into 2NF and 3NF</a:t>
            </a:r>
            <a:endParaRPr/>
          </a:p>
        </p:txBody>
      </p:sp>
      <p:sp>
        <p:nvSpPr>
          <p:cNvPr id="406" name="Google Shape;406;p54"/>
          <p:cNvSpPr txBox="1"/>
          <p:nvPr/>
        </p:nvSpPr>
        <p:spPr>
          <a:xfrm>
            <a:off x="1828800" y="1309687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7" name="Google Shape;407;p54" descr="fig10_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" y="1627187"/>
            <a:ext cx="8458200" cy="5002212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54"/>
          <p:cNvSpPr txBox="1"/>
          <p:nvPr/>
        </p:nvSpPr>
        <p:spPr>
          <a:xfrm>
            <a:off x="1219200" y="5124450"/>
            <a:ext cx="457200" cy="1143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54"/>
          <p:cNvSpPr/>
          <p:nvPr/>
        </p:nvSpPr>
        <p:spPr>
          <a:xfrm>
            <a:off x="1331912" y="5124450"/>
            <a:ext cx="228600" cy="152400"/>
          </a:xfrm>
          <a:prstGeom prst="downArrow">
            <a:avLst>
              <a:gd name="adj1" fmla="val 10800"/>
              <a:gd name="adj2" fmla="val 50000"/>
            </a:avLst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927385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56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26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56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600"/>
              <a:buFont typeface="Arial"/>
              <a:buNone/>
            </a:pPr>
            <a:r>
              <a:rPr lang="en-US" sz="36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Third Normal Form (1)</a:t>
            </a:r>
            <a:endParaRPr dirty="0"/>
          </a:p>
        </p:txBody>
      </p:sp>
      <p:sp>
        <p:nvSpPr>
          <p:cNvPr id="426" name="Google Shape;426;p56"/>
          <p:cNvSpPr txBox="1">
            <a:spLocks noGrp="1"/>
          </p:cNvSpPr>
          <p:nvPr>
            <p:ph type="body" idx="1"/>
          </p:nvPr>
        </p:nvSpPr>
        <p:spPr>
          <a:xfrm>
            <a:off x="239712" y="1600200"/>
            <a:ext cx="8294687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t" anchorCtr="0">
            <a:no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Definition: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20"/>
              </a:spcBef>
              <a:spcAft>
                <a:spcPts val="0"/>
              </a:spcAft>
              <a:buClr>
                <a:schemeClr val="dk2"/>
              </a:buClr>
              <a:buSzPts val="1430"/>
              <a:buFont typeface="Noto Sans Symbols"/>
              <a:buChar char="■"/>
            </a:pPr>
            <a:r>
              <a:rPr lang="en-US" sz="2600" b="1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Transitive functional dependency:</a:t>
            </a: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a FD  X -&gt; Z that can be derived from two FDs   X -&gt; Y and Y -&gt; Z </a:t>
            </a:r>
            <a:endParaRPr/>
          </a:p>
          <a:p>
            <a:pPr marL="34290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Examples: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20"/>
              </a:spcBef>
              <a:spcAft>
                <a:spcPts val="0"/>
              </a:spcAft>
              <a:buClr>
                <a:schemeClr val="dk2"/>
              </a:buClr>
              <a:buSzPts val="1430"/>
              <a:buFont typeface="Noto Sans Symbols"/>
              <a:buChar char="■"/>
            </a:pP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SSN -&gt; DMGRSSN is a </a:t>
            </a:r>
            <a:r>
              <a:rPr lang="en-US" sz="2600" b="1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transitive</a:t>
            </a: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FD </a:t>
            </a:r>
            <a:endParaRPr/>
          </a:p>
          <a:p>
            <a:pPr marL="1143000" lvl="2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990033"/>
              </a:buClr>
              <a:buSzPts val="1200"/>
              <a:buFont typeface="Noto Sans Symbols"/>
              <a:buChar char="■"/>
            </a:pPr>
            <a:r>
              <a:rPr lang="en-US" sz="2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Since SSN -&gt; DNUMBER and DNUMBER -&gt; DMGRSSN hold 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20"/>
              </a:spcBef>
              <a:spcAft>
                <a:spcPts val="0"/>
              </a:spcAft>
              <a:buClr>
                <a:schemeClr val="dk2"/>
              </a:buClr>
              <a:buSzPts val="1430"/>
              <a:buFont typeface="Noto Sans Symbols"/>
              <a:buChar char="■"/>
            </a:pP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SSN -&gt; ENAME is </a:t>
            </a:r>
            <a:r>
              <a:rPr lang="en-US" sz="2600" b="1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non-transitive</a:t>
            </a:r>
            <a:endParaRPr/>
          </a:p>
          <a:p>
            <a:pPr marL="1143000" lvl="2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990033"/>
              </a:buClr>
              <a:buSzPts val="1200"/>
              <a:buFont typeface="Noto Sans Symbols"/>
              <a:buChar char="■"/>
            </a:pPr>
            <a:r>
              <a:rPr lang="en-US" sz="2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Since there is no set of attributes X where SSN -&gt; X and X -&gt; ENAME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8082447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57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27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57"/>
          <p:cNvSpPr txBox="1">
            <a:spLocks noGrp="1"/>
          </p:cNvSpPr>
          <p:nvPr>
            <p:ph type="title"/>
          </p:nvPr>
        </p:nvSpPr>
        <p:spPr>
          <a:xfrm>
            <a:off x="323528" y="303213"/>
            <a:ext cx="7701284" cy="749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600"/>
              <a:buFont typeface="Arial"/>
              <a:buNone/>
            </a:pPr>
            <a:r>
              <a:rPr lang="en-US" sz="36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Third Normal Form (2)</a:t>
            </a:r>
            <a:endParaRPr dirty="0"/>
          </a:p>
        </p:txBody>
      </p:sp>
      <p:sp>
        <p:nvSpPr>
          <p:cNvPr id="434" name="Google Shape;434;p57"/>
          <p:cNvSpPr txBox="1">
            <a:spLocks noGrp="1"/>
          </p:cNvSpPr>
          <p:nvPr>
            <p:ph type="body" idx="1"/>
          </p:nvPr>
        </p:nvSpPr>
        <p:spPr>
          <a:xfrm>
            <a:off x="323528" y="1052736"/>
            <a:ext cx="8294687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t" anchorCtr="0">
            <a:no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sz="24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 relation schema R is in </a:t>
            </a:r>
            <a:r>
              <a:rPr lang="en-US" sz="2400" b="1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third normal form (3NF)</a:t>
            </a:r>
            <a:r>
              <a:rPr lang="en-US" sz="24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if it is in 2NF </a:t>
            </a:r>
            <a:r>
              <a:rPr lang="en-US" sz="2400" b="0" i="1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and</a:t>
            </a:r>
            <a:r>
              <a:rPr lang="en-US" sz="24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no non-prime attribute A in R is transitively dependent on the primary key</a:t>
            </a:r>
          </a:p>
          <a:p>
            <a:pPr lvl="1">
              <a:lnSpc>
                <a:spcPct val="90000"/>
              </a:lnSpc>
              <a:spcBef>
                <a:spcPts val="0"/>
              </a:spcBef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dirty="0"/>
              <a:t>A </a:t>
            </a:r>
            <a:r>
              <a:rPr lang="en-US" b="1" dirty="0"/>
              <a:t>non-prime attribute </a:t>
            </a:r>
            <a:r>
              <a:rPr lang="en-US" dirty="0"/>
              <a:t>(a column that is not a part of any candidate key) should not be dependent on </a:t>
            </a:r>
            <a:r>
              <a:rPr lang="en-US" b="1" dirty="0"/>
              <a:t>another non-prime attribute.</a:t>
            </a:r>
          </a:p>
          <a:p>
            <a:pPr lvl="1">
              <a:lnSpc>
                <a:spcPct val="90000"/>
              </a:lnSpc>
              <a:spcBef>
                <a:spcPts val="0"/>
              </a:spcBef>
              <a:buClr>
                <a:srgbClr val="990033"/>
              </a:buClr>
              <a:buSzPts val="1440"/>
              <a:buFont typeface="Noto Sans Symbols"/>
              <a:buChar char="■"/>
            </a:pPr>
            <a:endParaRPr lang="en-US" dirty="0"/>
          </a:p>
          <a:p>
            <a:pPr lvl="1">
              <a:lnSpc>
                <a:spcPct val="90000"/>
              </a:lnSpc>
              <a:spcBef>
                <a:spcPts val="0"/>
              </a:spcBef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dirty="0"/>
              <a:t>A non-prime attribute should depend only on the primary key.</a:t>
            </a:r>
            <a:endParaRPr dirty="0"/>
          </a:p>
          <a:p>
            <a:pPr marL="342900" lvl="0" indent="-3429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sz="24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 can be decomposed into 3NF relations via the process of 3NF normalization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286917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90000"/>
              </a:lnSpc>
              <a:spcBef>
                <a:spcPts val="480"/>
              </a:spcBef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sz="24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endParaRPr lang="en-US" dirty="0"/>
          </a:p>
          <a:p>
            <a:pPr lvl="1">
              <a:lnSpc>
                <a:spcPct val="90000"/>
              </a:lnSpc>
              <a:spcBef>
                <a:spcPts val="440"/>
              </a:spcBef>
              <a:buClr>
                <a:schemeClr val="dk2"/>
              </a:buClr>
              <a:buSzPts val="1210"/>
              <a:buFont typeface="Noto Sans Symbols"/>
              <a:buChar char="■"/>
            </a:pPr>
            <a:r>
              <a:rPr lang="en-US" sz="2200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In X -&gt; Y and Y -&gt; Z, with X as the primary key, we consider this a problem only if Y is not a part of a candidate key.</a:t>
            </a:r>
            <a:endParaRPr lang="en-US" dirty="0"/>
          </a:p>
          <a:p>
            <a:pPr lvl="1">
              <a:lnSpc>
                <a:spcPct val="90000"/>
              </a:lnSpc>
              <a:spcBef>
                <a:spcPts val="440"/>
              </a:spcBef>
              <a:buClr>
                <a:schemeClr val="dk2"/>
              </a:buClr>
              <a:buSzPts val="1210"/>
              <a:buFont typeface="Noto Sans Symbols"/>
              <a:buChar char="■"/>
            </a:pPr>
            <a:r>
              <a:rPr lang="en-US" sz="2200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When Y is a candidate key, there is no problem with the transitive dependency .</a:t>
            </a:r>
            <a:endParaRPr lang="en-US" dirty="0"/>
          </a:p>
          <a:p>
            <a:pPr lvl="1">
              <a:lnSpc>
                <a:spcPct val="90000"/>
              </a:lnSpc>
              <a:spcBef>
                <a:spcPts val="440"/>
              </a:spcBef>
              <a:buClr>
                <a:schemeClr val="dk2"/>
              </a:buClr>
              <a:buSzPts val="1210"/>
              <a:buFont typeface="Noto Sans Symbols"/>
              <a:buChar char="■"/>
            </a:pPr>
            <a:r>
              <a:rPr lang="en-US" sz="2200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E.g., Consider EMP (SSN, </a:t>
            </a:r>
            <a:r>
              <a:rPr lang="en-US" sz="2200" dirty="0" err="1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Emp</a:t>
            </a:r>
            <a:r>
              <a:rPr lang="en-US" sz="2200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#, Salary ). </a:t>
            </a:r>
            <a:endParaRPr lang="en-US" dirty="0"/>
          </a:p>
          <a:p>
            <a:pPr lvl="2">
              <a:lnSpc>
                <a:spcPct val="90000"/>
              </a:lnSpc>
              <a:spcBef>
                <a:spcPts val="400"/>
              </a:spcBef>
              <a:buClr>
                <a:srgbClr val="990033"/>
              </a:buClr>
              <a:buSzPts val="1000"/>
              <a:buFont typeface="Noto Sans Symbols"/>
              <a:buChar char="■"/>
            </a:pPr>
            <a:r>
              <a:rPr lang="en-US" sz="20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Here, SSN -&gt; </a:t>
            </a:r>
            <a:r>
              <a:rPr lang="en-US" sz="2000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Emp</a:t>
            </a:r>
            <a:r>
              <a:rPr lang="en-US" sz="20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# -&gt; Salary and </a:t>
            </a:r>
            <a:r>
              <a:rPr lang="en-US" sz="2000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Emp</a:t>
            </a:r>
            <a:r>
              <a:rPr lang="en-US" sz="20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# is a candidate key. </a:t>
            </a: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82180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1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Here,</a:t>
            </a:r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ct val="100000"/>
              <a:buChar char="•"/>
            </a:pPr>
            <a:r>
              <a:rPr lang="en-IN" dirty="0"/>
              <a:t>CK/PK :{</a:t>
            </a:r>
            <a:r>
              <a:rPr lang="en-IN" dirty="0" err="1"/>
              <a:t>rollno</a:t>
            </a:r>
            <a:r>
              <a:rPr lang="en-IN" dirty="0"/>
              <a:t>}</a:t>
            </a:r>
          </a:p>
          <a:p>
            <a:pPr marL="685800" lvl="1" indent="-22860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ct val="100000"/>
              <a:buChar char="•"/>
            </a:pPr>
            <a:r>
              <a:rPr lang="en-IN" dirty="0"/>
              <a:t>FD: </a:t>
            </a:r>
            <a:r>
              <a:rPr lang="en-IN" dirty="0" err="1"/>
              <a:t>Rollno</a:t>
            </a:r>
            <a:r>
              <a:rPr lang="en-IN" dirty="0"/>
              <a:t> 🡪 State</a:t>
            </a:r>
          </a:p>
          <a:p>
            <a:pPr marL="457200" lvl="1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ct val="100000"/>
              <a:buNone/>
            </a:pPr>
            <a:r>
              <a:rPr lang="en-IN" dirty="0"/>
              <a:t>         State 🡪 City</a:t>
            </a:r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ct val="100000"/>
              <a:buChar char="•"/>
            </a:pPr>
            <a:r>
              <a:rPr lang="en-IN" dirty="0"/>
              <a:t>state is a non-prime attribute, which is transitively dependent.</a:t>
            </a:r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ct val="100000"/>
              <a:buChar char="•"/>
            </a:pPr>
            <a:r>
              <a:rPr lang="en-US" dirty="0"/>
              <a:t>Given relation is not in 3NF.</a:t>
            </a:r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ct val="100000"/>
              <a:buChar char="•"/>
            </a:pPr>
            <a:r>
              <a:rPr lang="en-US" dirty="0"/>
              <a:t>Decompose relation as:</a:t>
            </a:r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ct val="100000"/>
              <a:buChar char="•"/>
            </a:pPr>
            <a:r>
              <a:rPr lang="en-US" dirty="0"/>
              <a:t>Stud(</a:t>
            </a:r>
            <a:r>
              <a:rPr lang="en-US" dirty="0" err="1"/>
              <a:t>Rollno,City</a:t>
            </a:r>
            <a:r>
              <a:rPr lang="en-US" dirty="0"/>
              <a:t>), City(</a:t>
            </a:r>
            <a:r>
              <a:rPr lang="en-US" dirty="0" err="1"/>
              <a:t>city,state</a:t>
            </a:r>
            <a:r>
              <a:rPr lang="en-US" dirty="0"/>
              <a:t>)</a:t>
            </a:r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Slide 10- </a:t>
            </a:r>
            <a:fld id="{00000000-1234-1234-1234-123412341234}" type="slidenum">
              <a:rPr lang="en-US" smtClean="0"/>
              <a:t>29</a:t>
            </a:fld>
            <a:endParaRPr lang="en-US"/>
          </a:p>
        </p:txBody>
      </p:sp>
      <p:pic>
        <p:nvPicPr>
          <p:cNvPr id="5" name="Google Shape;456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12160" y="1268760"/>
            <a:ext cx="1878495" cy="211330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556529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Given relation is not in 3NF</a:t>
            </a:r>
            <a:endParaRPr lang="en-IN" dirty="0"/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1628800"/>
            <a:ext cx="7503082" cy="35021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818522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Solution:</a:t>
            </a:r>
          </a:p>
          <a:p>
            <a:r>
              <a:rPr lang="en-US" dirty="0"/>
              <a:t>Split the relation into two relations, such as-</a:t>
            </a:r>
            <a:endParaRPr lang="en-IN" dirty="0"/>
          </a:p>
        </p:txBody>
      </p:sp>
      <p:pic>
        <p:nvPicPr>
          <p:cNvPr id="1536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3212976"/>
            <a:ext cx="7210425" cy="203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492757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58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32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58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600"/>
              <a:buFont typeface="Arial"/>
              <a:buNone/>
            </a:pPr>
            <a:r>
              <a:rPr lang="en-US" sz="3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Normal Forms Defined Informally	</a:t>
            </a:r>
            <a:endParaRPr/>
          </a:p>
        </p:txBody>
      </p:sp>
      <p:sp>
        <p:nvSpPr>
          <p:cNvPr id="442" name="Google Shape;442;p58"/>
          <p:cNvSpPr txBox="1">
            <a:spLocks noGrp="1"/>
          </p:cNvSpPr>
          <p:nvPr>
            <p:ph type="body" idx="1"/>
          </p:nvPr>
        </p:nvSpPr>
        <p:spPr>
          <a:xfrm>
            <a:off x="239712" y="1600200"/>
            <a:ext cx="8294687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2800" b="0" i="0" u="none" baseline="30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st</a:t>
            </a: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normal form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2"/>
              </a:buClr>
              <a:buSzPts val="1430"/>
              <a:buFont typeface="Noto Sans Symbols"/>
              <a:buChar char="■"/>
            </a:pP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All attributes depend on </a:t>
            </a:r>
            <a:r>
              <a:rPr lang="en-US" sz="2600" b="1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the key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-US" sz="2800" b="0" i="0" u="none" baseline="30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normal form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2"/>
              </a:buClr>
              <a:buSzPts val="1430"/>
              <a:buFont typeface="Noto Sans Symbols"/>
              <a:buChar char="■"/>
            </a:pP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All attributes depend on </a:t>
            </a:r>
            <a:r>
              <a:rPr lang="en-US" sz="2600" b="1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the whole key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2800" b="0" i="0" u="none" baseline="30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rd</a:t>
            </a: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normal form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2"/>
              </a:buClr>
              <a:buSzPts val="1430"/>
              <a:buFont typeface="Noto Sans Symbols"/>
              <a:buChar char="■"/>
            </a:pP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All attributes depend on </a:t>
            </a:r>
            <a:r>
              <a:rPr lang="en-US" sz="2600" b="1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nothing but the key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2899513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55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33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55"/>
          <p:cNvSpPr txBox="1">
            <a:spLocks noGrp="1"/>
          </p:cNvSpPr>
          <p:nvPr>
            <p:ph type="title"/>
          </p:nvPr>
        </p:nvSpPr>
        <p:spPr>
          <a:xfrm>
            <a:off x="76200" y="38100"/>
            <a:ext cx="906780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Figure 10.11 Normalization into 2NF and 3NF</a:t>
            </a:r>
            <a:endParaRPr/>
          </a:p>
        </p:txBody>
      </p:sp>
      <p:sp>
        <p:nvSpPr>
          <p:cNvPr id="417" name="Google Shape;417;p55"/>
          <p:cNvSpPr txBox="1"/>
          <p:nvPr/>
        </p:nvSpPr>
        <p:spPr>
          <a:xfrm>
            <a:off x="1828800" y="1309687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8" name="Google Shape;418;p55" descr="fig10_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09600"/>
            <a:ext cx="9144000" cy="62484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540967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59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34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59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200"/>
              <a:buFont typeface="Arial"/>
              <a:buNone/>
            </a:pPr>
            <a:r>
              <a:rPr lang="en-US" sz="32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General Normal Form Definitions (For Multiple Keys) (1)</a:t>
            </a:r>
            <a:endParaRPr dirty="0"/>
          </a:p>
        </p:txBody>
      </p:sp>
      <p:sp>
        <p:nvSpPr>
          <p:cNvPr id="450" name="Google Shape;450;p59"/>
          <p:cNvSpPr txBox="1">
            <a:spLocks noGrp="1"/>
          </p:cNvSpPr>
          <p:nvPr>
            <p:ph type="body" idx="1"/>
          </p:nvPr>
        </p:nvSpPr>
        <p:spPr>
          <a:xfrm>
            <a:off x="239712" y="1600200"/>
            <a:ext cx="8294687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above definitions consider the primary key only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following more general definitions take into account relations with multiple candidate keys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 relation schema R is in </a:t>
            </a:r>
            <a:r>
              <a:rPr lang="en-US" sz="2800" b="1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second normal form (2NF)</a:t>
            </a: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if every non-prime attribute A in R is fully functionally dependent on </a:t>
            </a:r>
            <a:r>
              <a:rPr lang="en-US" sz="2800" b="0" i="1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every</a:t>
            </a: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key  of R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1116687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0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35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60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8915400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600"/>
              <a:buFont typeface="Arial"/>
              <a:buNone/>
            </a:pPr>
            <a:r>
              <a:rPr lang="en-US" sz="3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General Normal Form Definitions </a:t>
            </a:r>
            <a:br>
              <a:rPr lang="en-US" sz="3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600" b="1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Third normal form (3NF)</a:t>
            </a:r>
            <a:endParaRPr/>
          </a:p>
        </p:txBody>
      </p:sp>
      <p:sp>
        <p:nvSpPr>
          <p:cNvPr id="458" name="Google Shape;458;p60"/>
          <p:cNvSpPr txBox="1">
            <a:spLocks noGrp="1"/>
          </p:cNvSpPr>
          <p:nvPr>
            <p:ph type="body" idx="1"/>
          </p:nvPr>
        </p:nvSpPr>
        <p:spPr>
          <a:xfrm>
            <a:off x="28575" y="1600200"/>
            <a:ext cx="896302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680"/>
              <a:buFont typeface="Noto Sans Symbols"/>
              <a:buChar char="■"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Definition: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2"/>
              </a:buClr>
              <a:buSzPts val="1430"/>
              <a:buFont typeface="Noto Sans Symbols"/>
              <a:buChar char="■"/>
            </a:pPr>
            <a:r>
              <a:rPr lang="en-US" sz="2600" b="1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Superkey</a:t>
            </a: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of relation schema R - a set of attributes S of R that contains a key of R</a:t>
            </a:r>
            <a:endParaRPr/>
          </a:p>
          <a:p>
            <a:pPr marL="742950" lvl="1" indent="-194944" algn="l" rtl="0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2"/>
              </a:buClr>
              <a:buSzPts val="1430"/>
              <a:buFont typeface="Noto Sans Symbols"/>
              <a:buNone/>
            </a:pPr>
            <a:endParaRPr sz="2600" b="0" i="0" u="none">
              <a:solidFill>
                <a:srgbClr val="8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2950" lvl="1" indent="-285750" algn="l" rtl="0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2"/>
              </a:buClr>
              <a:buSzPts val="1430"/>
              <a:buFont typeface="Noto Sans Symbols"/>
              <a:buChar char="■"/>
            </a:pP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A relation schema R is in </a:t>
            </a:r>
            <a:r>
              <a:rPr lang="en-US" sz="2600" b="1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third normal form (3NF)</a:t>
            </a:r>
            <a:r>
              <a:rPr lang="en-US" sz="26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if whenever a FD X -&gt; A holds in R, then either: </a:t>
            </a:r>
            <a:endParaRPr/>
          </a:p>
          <a:p>
            <a:pPr marL="1143000" lvl="2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990033"/>
              </a:buClr>
              <a:buSzPts val="1200"/>
              <a:buFont typeface="Noto Sans Symbols"/>
              <a:buChar char="■"/>
            </a:pPr>
            <a:r>
              <a:rPr lang="en-US" sz="2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(a) X is a key of R, or </a:t>
            </a:r>
            <a:endParaRPr/>
          </a:p>
          <a:p>
            <a:pPr marL="1143000" lvl="2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990033"/>
              </a:buClr>
              <a:buSzPts val="1200"/>
              <a:buFont typeface="Noto Sans Symbols"/>
              <a:buChar char="■"/>
            </a:pPr>
            <a:r>
              <a:rPr lang="en-US" sz="2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(b) A is a prime attribute of R</a:t>
            </a:r>
            <a:endParaRPr/>
          </a:p>
          <a:p>
            <a:pPr marL="342900" lvl="0" indent="-251459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1440"/>
              <a:buNone/>
            </a:pPr>
            <a:endParaRPr sz="2400" b="0" i="0" u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2551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61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36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61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600"/>
              <a:buFont typeface="Arial"/>
              <a:buNone/>
            </a:pPr>
            <a:r>
              <a:rPr lang="en-US" sz="36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BCNF (Boyce-</a:t>
            </a:r>
            <a:r>
              <a:rPr lang="en-US" sz="3600" b="0" i="0" u="none" dirty="0" err="1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Codd</a:t>
            </a:r>
            <a:r>
              <a:rPr lang="en-US" sz="36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Normal Form) </a:t>
            </a:r>
            <a:endParaRPr dirty="0"/>
          </a:p>
        </p:txBody>
      </p:sp>
      <p:sp>
        <p:nvSpPr>
          <p:cNvPr id="466" name="Google Shape;466;p61"/>
          <p:cNvSpPr txBox="1">
            <a:spLocks noGrp="1"/>
          </p:cNvSpPr>
          <p:nvPr>
            <p:ph type="body" idx="1"/>
          </p:nvPr>
        </p:nvSpPr>
        <p:spPr>
          <a:xfrm>
            <a:off x="239712" y="1600200"/>
            <a:ext cx="8294687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sz="24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 relation schema R is in </a:t>
            </a:r>
            <a:r>
              <a:rPr lang="en-US" sz="2400" b="1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Boyce-</a:t>
            </a:r>
            <a:r>
              <a:rPr lang="en-US" sz="2400" b="1" i="0" u="none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Codd</a:t>
            </a:r>
            <a:r>
              <a:rPr lang="en-US" sz="2400" b="1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Normal Form (BCNF)</a:t>
            </a:r>
            <a:r>
              <a:rPr lang="en-US" sz="24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if whenever an </a:t>
            </a:r>
            <a:r>
              <a:rPr lang="en-US" sz="2400" b="1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FD X -&gt; A</a:t>
            </a:r>
            <a:r>
              <a:rPr lang="en-US" sz="24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holds in R, then </a:t>
            </a:r>
            <a:r>
              <a:rPr lang="en-US" sz="2400" b="1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X is a </a:t>
            </a:r>
            <a:r>
              <a:rPr lang="en-US" sz="2400" b="1" i="0" u="none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superkey</a:t>
            </a:r>
            <a:r>
              <a:rPr lang="en-US" sz="24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of R</a:t>
            </a:r>
          </a:p>
          <a:p>
            <a:pPr>
              <a:spcBef>
                <a:spcPts val="0"/>
              </a:spcBef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dirty="0"/>
              <a:t>In simple terms, for any case (say, X-&gt;Y), X can't be a non-prime attribute.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sz="24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Each normal form is strictly stronger than the previous one</a:t>
            </a:r>
            <a:endParaRPr dirty="0"/>
          </a:p>
          <a:p>
            <a:pPr marL="742950" lvl="1" indent="-285750" algn="l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chemeClr val="dk2"/>
              </a:buClr>
              <a:buSzPts val="1210"/>
              <a:buFont typeface="Noto Sans Symbols"/>
              <a:buChar char="■"/>
            </a:pPr>
            <a:r>
              <a:rPr lang="en-US" sz="22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Every 2NF relation is in 1NF</a:t>
            </a:r>
            <a:endParaRPr dirty="0"/>
          </a:p>
          <a:p>
            <a:pPr marL="742950" lvl="1" indent="-285750" algn="l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chemeClr val="dk2"/>
              </a:buClr>
              <a:buSzPts val="1210"/>
              <a:buFont typeface="Noto Sans Symbols"/>
              <a:buChar char="■"/>
            </a:pPr>
            <a:r>
              <a:rPr lang="en-US" sz="22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Every 3NF relation is in 2NF</a:t>
            </a:r>
            <a:endParaRPr dirty="0"/>
          </a:p>
          <a:p>
            <a:pPr marL="742950" lvl="1" indent="-285750" algn="l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chemeClr val="dk2"/>
              </a:buClr>
              <a:buSzPts val="1210"/>
              <a:buFont typeface="Noto Sans Symbols"/>
              <a:buChar char="■"/>
            </a:pPr>
            <a:r>
              <a:rPr lang="en-US" sz="22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Every BCNF relation is in 3NF</a:t>
            </a:r>
            <a:endParaRPr dirty="0"/>
          </a:p>
          <a:p>
            <a:pPr marL="342900" lvl="0" indent="-3429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sz="2400" b="0" i="0" u="none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There exist relations that are in 3NF but not in BCNF</a:t>
            </a:r>
            <a:endParaRPr dirty="0"/>
          </a:p>
          <a:p>
            <a:pPr marL="342900" lvl="0" indent="-3429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sz="2400" b="0" i="0" u="none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The goal is to have each relation in BCNF (or 3NF)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452709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8" y="1772816"/>
            <a:ext cx="5495925" cy="3419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007580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1NF</a:t>
            </a:r>
            <a:endParaRPr lang="en-IN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966" y="2251243"/>
            <a:ext cx="5591505" cy="504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26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3140968"/>
            <a:ext cx="6962775" cy="16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874513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620688"/>
            <a:ext cx="8219256" cy="5505475"/>
          </a:xfrm>
        </p:spPr>
        <p:txBody>
          <a:bodyPr/>
          <a:lstStyle/>
          <a:p>
            <a:r>
              <a:rPr lang="en-US" dirty="0"/>
              <a:t>3NF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BCNF</a:t>
            </a:r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707" y="4005064"/>
            <a:ext cx="5591175" cy="220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446" y="1052736"/>
            <a:ext cx="6991350" cy="200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094029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decompose the table</a:t>
            </a:r>
            <a:endParaRPr lang="en-IN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2614022"/>
            <a:ext cx="2855210" cy="15040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31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2766600"/>
            <a:ext cx="3765779" cy="13693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456945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62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41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62"/>
          <p:cNvSpPr txBox="1">
            <a:spLocks noGrp="1"/>
          </p:cNvSpPr>
          <p:nvPr>
            <p:ph type="title"/>
          </p:nvPr>
        </p:nvSpPr>
        <p:spPr>
          <a:xfrm>
            <a:off x="381000" y="476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Figure 10.12 Boyce-Codd normal form</a:t>
            </a:r>
            <a:endParaRPr/>
          </a:p>
        </p:txBody>
      </p:sp>
      <p:sp>
        <p:nvSpPr>
          <p:cNvPr id="474" name="Google Shape;474;p62"/>
          <p:cNvSpPr txBox="1"/>
          <p:nvPr/>
        </p:nvSpPr>
        <p:spPr>
          <a:xfrm>
            <a:off x="1828800" y="1309687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5" name="Google Shape;475;p62" descr="fig10_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996950"/>
            <a:ext cx="9144000" cy="561816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50665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63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42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63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Figure 10.13 a relation TEACH that is in 3NF but not in BCNF</a:t>
            </a:r>
            <a:endParaRPr/>
          </a:p>
        </p:txBody>
      </p:sp>
      <p:sp>
        <p:nvSpPr>
          <p:cNvPr id="483" name="Google Shape;483;p63"/>
          <p:cNvSpPr txBox="1"/>
          <p:nvPr/>
        </p:nvSpPr>
        <p:spPr>
          <a:xfrm>
            <a:off x="1828800" y="1309687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4" name="Google Shape;484;p63" descr="fig10_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9150" y="2057400"/>
            <a:ext cx="7505700" cy="38639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469508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64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43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64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Achieving the BCNF by Decomposition (1)</a:t>
            </a:r>
            <a:endParaRPr/>
          </a:p>
        </p:txBody>
      </p:sp>
      <p:sp>
        <p:nvSpPr>
          <p:cNvPr id="492" name="Google Shape;492;p64"/>
          <p:cNvSpPr txBox="1">
            <a:spLocks noGrp="1"/>
          </p:cNvSpPr>
          <p:nvPr>
            <p:ph type="body" idx="1"/>
          </p:nvPr>
        </p:nvSpPr>
        <p:spPr>
          <a:xfrm>
            <a:off x="239712" y="1600200"/>
            <a:ext cx="8294687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t" anchorCtr="0">
            <a:no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sz="24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Two FDs exist in the relation TEACH:</a:t>
            </a:r>
            <a:endParaRPr dirty="0"/>
          </a:p>
          <a:p>
            <a:pPr marL="742950" lvl="1" indent="-28575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2"/>
              </a:buClr>
              <a:buSzPts val="1210"/>
              <a:buFont typeface="Noto Sans Symbols"/>
              <a:buChar char="■"/>
            </a:pPr>
            <a:r>
              <a:rPr lang="en-US" sz="22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fd1: { student, course} -&gt; instructor</a:t>
            </a:r>
            <a:endParaRPr dirty="0"/>
          </a:p>
          <a:p>
            <a:pPr marL="742950" lvl="1" indent="-28575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2"/>
              </a:buClr>
              <a:buSzPts val="1210"/>
              <a:buFont typeface="Noto Sans Symbols"/>
              <a:buChar char="■"/>
            </a:pPr>
            <a:r>
              <a:rPr lang="en-US" sz="22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fd2: instructor  -&gt; course </a:t>
            </a:r>
            <a:endParaRPr dirty="0"/>
          </a:p>
          <a:p>
            <a:pPr marL="342900" lvl="0" indent="-3429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sz="24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{student, course} is a candidate key for this relation and that the dependencies shown follow the pattern in Figure 10.12 (b).</a:t>
            </a:r>
            <a:endParaRPr dirty="0"/>
          </a:p>
          <a:p>
            <a:pPr marL="742950" lvl="1" indent="-28575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2"/>
              </a:buClr>
              <a:buSzPts val="1210"/>
              <a:buFont typeface="Noto Sans Symbols"/>
              <a:buChar char="■"/>
            </a:pPr>
            <a:r>
              <a:rPr lang="en-US" sz="22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So this relation is in 3NF </a:t>
            </a:r>
            <a:r>
              <a:rPr lang="en-US" sz="2200" b="0" i="1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but not in</a:t>
            </a:r>
            <a:r>
              <a:rPr lang="en-US" sz="22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BCNF </a:t>
            </a:r>
            <a:endParaRPr dirty="0"/>
          </a:p>
          <a:p>
            <a:pPr marL="342900" lvl="0" indent="-3429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990033"/>
              </a:buClr>
              <a:buSzPts val="1440"/>
              <a:buFont typeface="Noto Sans Symbols"/>
              <a:buChar char="■"/>
            </a:pPr>
            <a:r>
              <a:rPr lang="en-US" sz="24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 relation </a:t>
            </a:r>
            <a:r>
              <a:rPr lang="en-US" sz="2400" b="1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lang="en-US" sz="24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in BCNF should be decomposed so as to meet this property, while possibly forgoing the preservation of all functional dependencies in the decomposed relations.</a:t>
            </a:r>
            <a:endParaRPr dirty="0"/>
          </a:p>
          <a:p>
            <a:pPr marL="742950" lvl="1" indent="-28575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2"/>
              </a:buClr>
              <a:buSzPts val="1210"/>
              <a:buFont typeface="Noto Sans Symbols"/>
              <a:buChar char="■"/>
            </a:pPr>
            <a:r>
              <a:rPr lang="en-US" sz="22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402309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66"/>
          <p:cNvSpPr txBox="1"/>
          <p:nvPr/>
        </p:nvSpPr>
        <p:spPr>
          <a:xfrm>
            <a:off x="69342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Slide 10- </a:t>
            </a:r>
            <a:fld id="{00000000-1234-1234-1234-123412341234}" type="slidenum">
              <a:rPr lang="en-US" sz="1400" b="1" i="0" u="none" strike="noStrike" cap="none">
                <a:solidFill>
                  <a:srgbClr val="990033"/>
                </a:solidFill>
                <a:latin typeface="Arial"/>
                <a:ea typeface="Arial"/>
                <a:cs typeface="Arial"/>
                <a:sym typeface="Arial"/>
              </a:rPr>
              <a:t>44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66"/>
          <p:cNvSpPr txBox="1">
            <a:spLocks noGrp="1"/>
          </p:cNvSpPr>
          <p:nvPr>
            <p:ph type="title"/>
          </p:nvPr>
        </p:nvSpPr>
        <p:spPr>
          <a:xfrm>
            <a:off x="228600" y="303212"/>
            <a:ext cx="7796212" cy="992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Achieving the BCNF by Decomposition (2)</a:t>
            </a:r>
            <a:endParaRPr/>
          </a:p>
        </p:txBody>
      </p:sp>
      <p:sp>
        <p:nvSpPr>
          <p:cNvPr id="508" name="Google Shape;508;p66"/>
          <p:cNvSpPr txBox="1">
            <a:spLocks noGrp="1"/>
          </p:cNvSpPr>
          <p:nvPr>
            <p:ph type="body" idx="1"/>
          </p:nvPr>
        </p:nvSpPr>
        <p:spPr>
          <a:xfrm>
            <a:off x="239712" y="1600200"/>
            <a:ext cx="8294687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t" anchorCtr="0">
            <a:no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990033"/>
              </a:buClr>
              <a:buSzPts val="1200"/>
              <a:buFont typeface="Noto Sans Symbols"/>
              <a:buChar char="■"/>
            </a:pPr>
            <a:r>
              <a:rPr lang="en-US" sz="20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Three possible decompositions for relation TEACH</a:t>
            </a:r>
            <a:endParaRPr dirty="0"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oto Sans Symbols"/>
              <a:buChar char="■"/>
            </a:pPr>
            <a:r>
              <a:rPr lang="en-US" sz="20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{</a:t>
            </a:r>
            <a:r>
              <a:rPr lang="en-US" sz="2000" b="0" i="0" u="sng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student, instructor</a:t>
            </a:r>
            <a:r>
              <a:rPr lang="en-US" sz="20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} and {</a:t>
            </a:r>
            <a:r>
              <a:rPr lang="en-US" sz="2000" b="0" i="0" u="sng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student, course</a:t>
            </a:r>
            <a:r>
              <a:rPr lang="en-US" sz="20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}</a:t>
            </a:r>
            <a:endParaRPr dirty="0"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oto Sans Symbols"/>
              <a:buChar char="■"/>
            </a:pPr>
            <a:r>
              <a:rPr lang="en-US" sz="20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{course, </a:t>
            </a:r>
            <a:r>
              <a:rPr lang="en-US" sz="2000" b="0" i="0" u="sng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instructor</a:t>
            </a:r>
            <a:r>
              <a:rPr lang="en-US" sz="20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} and {</a:t>
            </a:r>
            <a:r>
              <a:rPr lang="en-US" sz="2000" b="0" i="0" u="sng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course, student</a:t>
            </a:r>
            <a:r>
              <a:rPr lang="en-US" sz="20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}</a:t>
            </a:r>
            <a:endParaRPr dirty="0"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oto Sans Symbols"/>
              <a:buChar char="■"/>
            </a:pPr>
            <a:r>
              <a:rPr lang="en-US" sz="20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{</a:t>
            </a:r>
            <a:r>
              <a:rPr lang="en-US" sz="2000" b="0" i="0" u="sng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instructor</a:t>
            </a:r>
            <a:r>
              <a:rPr lang="en-US" sz="20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, course } and {</a:t>
            </a:r>
            <a:r>
              <a:rPr lang="en-US" sz="2000" b="0" i="0" u="sng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instructor, student</a:t>
            </a:r>
            <a:r>
              <a:rPr lang="en-US" sz="20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}</a:t>
            </a:r>
            <a:endParaRPr dirty="0"/>
          </a:p>
          <a:p>
            <a:pPr marL="342900" lvl="0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90033"/>
              </a:buClr>
              <a:buSzPts val="1200"/>
              <a:buFont typeface="Noto Sans Symbols"/>
              <a:buChar char="■"/>
            </a:pPr>
            <a:r>
              <a:rPr lang="en-US" sz="20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All three decompositions will lose fd1. </a:t>
            </a:r>
            <a:endParaRPr dirty="0"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oto Sans Symbols"/>
              <a:buChar char="■"/>
            </a:pPr>
            <a:r>
              <a:rPr lang="en-US" sz="2000" b="0" i="0" u="none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We have to settle for sacrificing the functional dependency preservation. But we cannot sacrifice the non-additivity property after decomposition.</a:t>
            </a:r>
            <a:endParaRPr dirty="0"/>
          </a:p>
          <a:p>
            <a:pPr marL="342900" lvl="0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90033"/>
              </a:buClr>
              <a:buSzPts val="1200"/>
              <a:buFont typeface="Noto Sans Symbols"/>
              <a:buChar char="■"/>
            </a:pPr>
            <a:r>
              <a:rPr lang="en-US" sz="20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Out of the above three, only the 3rd decomposition will not generate spurious tuples after join.(and hence has the non-additivity property).</a:t>
            </a:r>
            <a:endParaRPr dirty="0"/>
          </a:p>
          <a:p>
            <a:pPr marL="342900" lvl="0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90033"/>
              </a:buClr>
              <a:buSzPts val="1200"/>
              <a:buFont typeface="Noto Sans Symbols"/>
              <a:buChar char="■"/>
            </a:pPr>
            <a:r>
              <a:rPr lang="en-US" sz="20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 test to determine whether a binary decomposition (decomposition into two relations) is non-additive (lossless) is discussed in </a:t>
            </a:r>
            <a:r>
              <a:rPr lang="en-US" sz="20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next section </a:t>
            </a:r>
            <a:r>
              <a:rPr lang="en-US" sz="20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under Property LJ1. Verify that the third decomposition above meets the property.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141039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Fourth Normal Form (4NF)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MULTIVALUED DEPENDANCY</a:t>
            </a:r>
          </a:p>
          <a:p>
            <a:r>
              <a:rPr lang="en-US" dirty="0"/>
              <a:t>A </a:t>
            </a:r>
            <a:r>
              <a:rPr lang="en-US" dirty="0">
                <a:sym typeface="Wingdings" panose="05000000000000000000" pitchFamily="2" charset="2"/>
              </a:rPr>
              <a:t> B, is multivalued dependency if 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IN" dirty="0"/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2914470"/>
            <a:ext cx="1297660" cy="8021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765839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rgbClr val="7030A0"/>
                </a:solidFill>
              </a:rPr>
              <a:t>3 conditions for Multivalued Dependency</a:t>
            </a:r>
            <a:endParaRPr lang="en-IN" sz="3600" dirty="0">
              <a:solidFill>
                <a:srgbClr val="7030A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</a:t>
            </a:r>
            <a:r>
              <a:rPr lang="en-US" dirty="0">
                <a:sym typeface="Wingdings" panose="05000000000000000000" pitchFamily="2" charset="2"/>
              </a:rPr>
              <a:t>B ,for a single value of A, more than one value of B exists.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ym typeface="Wingdings" panose="05000000000000000000" pitchFamily="2" charset="2"/>
              </a:rPr>
              <a:t>Tables should have at least 3 columns.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(if table has only 2 columns, we can use 1NF to resolve it).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3.    For this table with A,B,C columns, B and C should be  independent.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b="1" dirty="0">
                <a:sym typeface="Wingdings" panose="05000000000000000000" pitchFamily="2" charset="2"/>
              </a:rPr>
              <a:t>If ALL THE 3 CONDITIONS ARE TRUE, THEN WE CAN SAY THAT THE TABLE MAY HAVE MULTI-VALUED DEPENDENCY.</a:t>
            </a:r>
            <a:r>
              <a:rPr lang="en-US" dirty="0">
                <a:sym typeface="Wingdings" panose="05000000000000000000" pitchFamily="2" charset="2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36015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EXAMPLE 1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3" y="1556792"/>
            <a:ext cx="5191125" cy="179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41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3" y="3573016"/>
            <a:ext cx="5701680" cy="24984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03870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4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74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74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4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74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74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DECOMPOSITION of the table:</a:t>
            </a:r>
            <a:endParaRPr lang="en-IN" dirty="0"/>
          </a:p>
        </p:txBody>
      </p:sp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6455" y="2276872"/>
            <a:ext cx="6248400" cy="272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719814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552" y="274638"/>
            <a:ext cx="8147248" cy="562074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Example 2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1945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908720"/>
            <a:ext cx="7077075" cy="299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45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90" y="4077072"/>
            <a:ext cx="6702176" cy="24500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23668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4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4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4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19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Decomposition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process of decomposition in DBMS helps us remove </a:t>
            </a:r>
          </a:p>
          <a:p>
            <a:pPr lvl="1"/>
            <a:r>
              <a:rPr lang="en-US" dirty="0"/>
              <a:t>redundancy, </a:t>
            </a:r>
          </a:p>
          <a:p>
            <a:pPr lvl="1"/>
            <a:r>
              <a:rPr lang="en-US" dirty="0"/>
              <a:t>Inconsistencies, </a:t>
            </a:r>
          </a:p>
          <a:p>
            <a:pPr lvl="1"/>
            <a:r>
              <a:rPr lang="en-US" dirty="0"/>
              <a:t>anomalies from a database when we divide the table into numerous tables. </a:t>
            </a:r>
          </a:p>
          <a:p>
            <a:r>
              <a:rPr lang="en-US" dirty="0"/>
              <a:t>In simpler words, the process of decomposition refers to dividing a relation X into {X1, X2,……</a:t>
            </a:r>
            <a:r>
              <a:rPr lang="en-US" dirty="0" err="1"/>
              <a:t>Xn</a:t>
            </a:r>
            <a:r>
              <a:rPr lang="en-US" dirty="0"/>
              <a:t>}.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29794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Types of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363272" cy="4781128"/>
          </a:xfrm>
        </p:spPr>
        <p:txBody>
          <a:bodyPr>
            <a:normAutofit fontScale="850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IN" b="1" u="sng" dirty="0"/>
              <a:t>Lossless Join Decomposition </a:t>
            </a:r>
            <a:r>
              <a:rPr lang="en-IN" b="1" u="sng"/>
              <a:t>(Non-additive):</a:t>
            </a:r>
            <a:endParaRPr lang="en-IN" b="1" u="sng" dirty="0"/>
          </a:p>
          <a:p>
            <a:r>
              <a:rPr lang="en-US" dirty="0"/>
              <a:t>Consider there is a relation R which is decomposed into sub relations R1 , R2 , …. , Rn. </a:t>
            </a:r>
          </a:p>
          <a:p>
            <a:r>
              <a:rPr lang="en-US" dirty="0"/>
              <a:t>This decomposition is called lossless join decomposition when the join of the sub relations results in the same relation R that was decomposed.  </a:t>
            </a:r>
          </a:p>
          <a:p>
            <a:r>
              <a:rPr lang="en-US" dirty="0"/>
              <a:t>For lossless join decomposition, we always have</a:t>
            </a:r>
          </a:p>
          <a:p>
            <a:pPr marL="0" indent="0">
              <a:buNone/>
            </a:pPr>
            <a:r>
              <a:rPr lang="pt-BR" dirty="0"/>
              <a:t>    R1 ⋈ R2 ⋈ R3 ……. ⋈ Rn = R, </a:t>
            </a:r>
            <a:r>
              <a:rPr lang="en-US" dirty="0"/>
              <a:t>where ⋈ is a natural join   operator</a:t>
            </a:r>
            <a:endParaRPr lang="en-IN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0800" y="1226452"/>
            <a:ext cx="4410075" cy="1390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165390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b="1" u="sng" dirty="0" err="1"/>
              <a:t>Lossy</a:t>
            </a:r>
            <a:r>
              <a:rPr lang="en-IN" b="1" u="sng" dirty="0"/>
              <a:t> Join Decomposition:</a:t>
            </a:r>
          </a:p>
          <a:p>
            <a:r>
              <a:rPr lang="en-US" sz="2600" dirty="0"/>
              <a:t>Consider there is a relation R which is decomposed into sub relations R1 , R2 , …. , Rn.  </a:t>
            </a:r>
          </a:p>
          <a:p>
            <a:r>
              <a:rPr lang="en-US" sz="2600" dirty="0"/>
              <a:t>This decomposition is called </a:t>
            </a:r>
            <a:r>
              <a:rPr lang="en-US" sz="2600" dirty="0" err="1"/>
              <a:t>lossy</a:t>
            </a:r>
            <a:r>
              <a:rPr lang="en-US" sz="2600" dirty="0"/>
              <a:t> join decomposition when the join of the sub relations does not result in the same relation R that was decomposed.  </a:t>
            </a:r>
          </a:p>
          <a:p>
            <a:r>
              <a:rPr lang="en-US" sz="2600" dirty="0"/>
              <a:t>The natural join of the sub relations is always found to have some extraneous tuples. </a:t>
            </a:r>
          </a:p>
          <a:p>
            <a:r>
              <a:rPr lang="en-US" sz="2600" dirty="0"/>
              <a:t>For </a:t>
            </a:r>
            <a:r>
              <a:rPr lang="en-US" sz="2600" dirty="0" err="1"/>
              <a:t>lossy</a:t>
            </a:r>
            <a:r>
              <a:rPr lang="en-US" sz="2600" dirty="0"/>
              <a:t> join decomposition</a:t>
            </a:r>
            <a:r>
              <a:rPr lang="en-US" dirty="0"/>
              <a:t>, </a:t>
            </a:r>
            <a:r>
              <a:rPr lang="en-US" sz="2400" dirty="0"/>
              <a:t>we always have- </a:t>
            </a:r>
          </a:p>
          <a:p>
            <a:r>
              <a:rPr lang="pt-BR" sz="2400" dirty="0"/>
              <a:t>R1 ⋈ R2 ⋈ R3 ……. ⋈ Rn ⊃ R, </a:t>
            </a:r>
            <a:r>
              <a:rPr lang="en-US" sz="2400" dirty="0"/>
              <a:t>where ⋈ is a natural join operator</a:t>
            </a:r>
            <a:endParaRPr lang="en-IN" sz="2400" b="1" u="sng" dirty="0"/>
          </a:p>
        </p:txBody>
      </p:sp>
    </p:spTree>
    <p:extLst>
      <p:ext uri="{BB962C8B-B14F-4D97-AF65-F5344CB8AC3E}">
        <p14:creationId xmlns:p14="http://schemas.microsoft.com/office/powerpoint/2010/main" val="124537863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544" y="274638"/>
            <a:ext cx="8219256" cy="994122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Determining Whether Decomposition Is Lossless Or </a:t>
            </a:r>
            <a:r>
              <a:rPr lang="en-US" sz="2400" dirty="0" err="1"/>
              <a:t>Lossy</a:t>
            </a:r>
            <a:endParaRPr lang="en-IN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84784"/>
            <a:ext cx="8219256" cy="4641379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Consider a relation R is decomposed into two sub relations R1 and R2. Then, </a:t>
            </a:r>
          </a:p>
          <a:p>
            <a:r>
              <a:rPr lang="en-US" dirty="0"/>
              <a:t>If all the following conditions satisfy, then the decomposition is lossless. </a:t>
            </a:r>
          </a:p>
          <a:p>
            <a:r>
              <a:rPr lang="en-US" dirty="0"/>
              <a:t>If any of these conditions fail, then the decomposition is </a:t>
            </a:r>
            <a:r>
              <a:rPr lang="en-US" dirty="0" err="1"/>
              <a:t>lossy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b="1" dirty="0"/>
              <a:t>Condition-01</a:t>
            </a:r>
          </a:p>
          <a:p>
            <a:r>
              <a:rPr lang="en-US" dirty="0"/>
              <a:t>Union of both the sub relations must contain all the attributes that are present in the original relation R. </a:t>
            </a:r>
          </a:p>
          <a:p>
            <a:r>
              <a:rPr lang="en-US" dirty="0"/>
              <a:t>Thus, R1 ∪ R2 = R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703350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Cntd</a:t>
            </a:r>
            <a:r>
              <a:rPr lang="en-US" dirty="0"/>
              <a:t>…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91264" cy="4709120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Condition-02</a:t>
            </a:r>
          </a:p>
          <a:p>
            <a:r>
              <a:rPr lang="en-US" dirty="0"/>
              <a:t>Intersection of both the sub relations must not be null. </a:t>
            </a:r>
          </a:p>
          <a:p>
            <a:r>
              <a:rPr lang="en-US" dirty="0"/>
              <a:t>In other words, there must be some common attribute which is present in both the sub relations. </a:t>
            </a:r>
          </a:p>
          <a:p>
            <a:r>
              <a:rPr lang="en-US" dirty="0"/>
              <a:t>Thus, R1 ∩ R2 ≠ ∅ </a:t>
            </a:r>
          </a:p>
          <a:p>
            <a:r>
              <a:rPr lang="en-US" b="1" dirty="0"/>
              <a:t>Condition-03</a:t>
            </a:r>
          </a:p>
          <a:p>
            <a:r>
              <a:rPr lang="en-US" dirty="0"/>
              <a:t>Intersection of both the sub relations must be a super key of either R1 or R2 or both. </a:t>
            </a:r>
          </a:p>
          <a:p>
            <a:r>
              <a:rPr lang="en-US" dirty="0"/>
              <a:t>Thus, R1 ∩ R2 = Super key of R1 or R2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7495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Properties of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80920" cy="4968552"/>
          </a:xfrm>
        </p:spPr>
        <p:txBody>
          <a:bodyPr>
            <a:normAutofit fontScale="55000" lnSpcReduction="20000"/>
          </a:bodyPr>
          <a:lstStyle/>
          <a:p>
            <a:pPr fontAlgn="base"/>
            <a:r>
              <a:rPr lang="en-US" b="1" dirty="0"/>
              <a:t>Lossless:</a:t>
            </a:r>
            <a:r>
              <a:rPr lang="en-US" dirty="0"/>
              <a:t> </a:t>
            </a:r>
          </a:p>
          <a:p>
            <a:pPr fontAlgn="base"/>
            <a:r>
              <a:rPr lang="en-US" dirty="0"/>
              <a:t>All the decomposition that we perform in Database management system should be lossless. </a:t>
            </a:r>
          </a:p>
          <a:p>
            <a:pPr fontAlgn="base"/>
            <a:r>
              <a:rPr lang="en-US" dirty="0"/>
              <a:t>All the information should not be lost while performing the join on the sub-relation to get back the original relation. It helps to remove the redundant data from the database.</a:t>
            </a:r>
          </a:p>
          <a:p>
            <a:pPr fontAlgn="base"/>
            <a:r>
              <a:rPr lang="en-US" b="1" dirty="0"/>
              <a:t>Dependency Preservation:</a:t>
            </a:r>
            <a:r>
              <a:rPr lang="en-US" dirty="0"/>
              <a:t> </a:t>
            </a:r>
          </a:p>
          <a:p>
            <a:pPr fontAlgn="base"/>
            <a:r>
              <a:rPr lang="en-US" dirty="0"/>
              <a:t>Dependency Preservation is an important technique in database management system. </a:t>
            </a:r>
          </a:p>
          <a:p>
            <a:pPr fontAlgn="base"/>
            <a:r>
              <a:rPr lang="en-US" dirty="0"/>
              <a:t>It ensures that the functional dependencies between the entities is maintained while performing decomposition. </a:t>
            </a:r>
          </a:p>
          <a:p>
            <a:pPr fontAlgn="base"/>
            <a:r>
              <a:rPr lang="en-US" dirty="0"/>
              <a:t>It helps to improve the database efficiency, maintain consistency and integrity.</a:t>
            </a:r>
          </a:p>
          <a:p>
            <a:pPr fontAlgn="base"/>
            <a:r>
              <a:rPr lang="en-US" b="1" dirty="0"/>
              <a:t>Lack of Data Redundancy:</a:t>
            </a:r>
            <a:r>
              <a:rPr lang="en-US" dirty="0"/>
              <a:t> </a:t>
            </a:r>
          </a:p>
          <a:p>
            <a:pPr fontAlgn="base"/>
            <a:r>
              <a:rPr lang="en-US" dirty="0"/>
              <a:t>Data Redundancy is generally termed as duplicate data or repeated data. </a:t>
            </a:r>
          </a:p>
          <a:p>
            <a:pPr fontAlgn="base"/>
            <a:r>
              <a:rPr lang="en-US" dirty="0"/>
              <a:t>This property states that the decomposition performed should not suffer redundant data. </a:t>
            </a:r>
          </a:p>
          <a:p>
            <a:pPr fontAlgn="base"/>
            <a:r>
              <a:rPr lang="en-US" dirty="0"/>
              <a:t>It will help us to get rid of unwanted data and focus only on the useful data or information.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235219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preservation example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69095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929</TotalTime>
  <Words>2631</Words>
  <Application>Microsoft Office PowerPoint</Application>
  <PresentationFormat>On-screen Show (4:3)</PresentationFormat>
  <Paragraphs>396</Paragraphs>
  <Slides>56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2" baseType="lpstr">
      <vt:lpstr>Arial</vt:lpstr>
      <vt:lpstr>Calibri</vt:lpstr>
      <vt:lpstr>Noto Sans Symbols</vt:lpstr>
      <vt:lpstr>Tahoma</vt:lpstr>
      <vt:lpstr>Wingdings</vt:lpstr>
      <vt:lpstr>Office Theme</vt:lpstr>
      <vt:lpstr>Normalization</vt:lpstr>
      <vt:lpstr>3 Normal Forms Based on Primary Keys </vt:lpstr>
      <vt:lpstr>3.1 Normalization of Relations (1)</vt:lpstr>
      <vt:lpstr>PowerPoint Presentation</vt:lpstr>
      <vt:lpstr>Normalization of Relations (2)</vt:lpstr>
      <vt:lpstr>3.2 Practical Use of Normal Forms</vt:lpstr>
      <vt:lpstr>3.3 Definitions of Keys and Attributes  Participating in Keys (1)</vt:lpstr>
      <vt:lpstr>Definitions of Keys and Attributes  Participating in Keys (2)</vt:lpstr>
      <vt:lpstr>PowerPoint Presentation</vt:lpstr>
      <vt:lpstr>Problems due to redundancy</vt:lpstr>
      <vt:lpstr>Insertion anomaly</vt:lpstr>
      <vt:lpstr>Deletion Anamoly</vt:lpstr>
      <vt:lpstr>Updation Anamoly</vt:lpstr>
      <vt:lpstr>PowerPoint Presentation</vt:lpstr>
      <vt:lpstr>PowerPoint Presentation</vt:lpstr>
      <vt:lpstr>First Normal Form </vt:lpstr>
      <vt:lpstr>Example </vt:lpstr>
      <vt:lpstr>PowerPoint Presentation</vt:lpstr>
      <vt:lpstr>Figure 10.8 Normalization into 1NF</vt:lpstr>
      <vt:lpstr>Figure 10.9 Normalization nested relations into 1NF</vt:lpstr>
      <vt:lpstr>Second Normal Form (1) </vt:lpstr>
      <vt:lpstr>Second Normal Form (2)</vt:lpstr>
      <vt:lpstr>2NF</vt:lpstr>
      <vt:lpstr>Example:</vt:lpstr>
      <vt:lpstr>Figure 10.10 Normalizing into 2NF and 3NF</vt:lpstr>
      <vt:lpstr>Third Normal Form (1)</vt:lpstr>
      <vt:lpstr>Third Normal Form (2)</vt:lpstr>
      <vt:lpstr>PowerPoint Presentation</vt:lpstr>
      <vt:lpstr>Example 1</vt:lpstr>
      <vt:lpstr>Example 2</vt:lpstr>
      <vt:lpstr>PowerPoint Presentation</vt:lpstr>
      <vt:lpstr>Normal Forms Defined Informally </vt:lpstr>
      <vt:lpstr>Figure 10.11 Normalization into 2NF and 3NF</vt:lpstr>
      <vt:lpstr>General Normal Form Definitions (For Multiple Keys) (1)</vt:lpstr>
      <vt:lpstr>General Normal Form Definitions  Third normal form (3NF)</vt:lpstr>
      <vt:lpstr>BCNF (Boyce-Codd Normal Form) </vt:lpstr>
      <vt:lpstr>Example </vt:lpstr>
      <vt:lpstr>PowerPoint Presentation</vt:lpstr>
      <vt:lpstr>PowerPoint Presentation</vt:lpstr>
      <vt:lpstr>PowerPoint Presentation</vt:lpstr>
      <vt:lpstr>Figure 10.12 Boyce-Codd normal form</vt:lpstr>
      <vt:lpstr>Figure 10.13 a relation TEACH that is in 3NF but not in BCNF</vt:lpstr>
      <vt:lpstr>Achieving the BCNF by Decomposition (1)</vt:lpstr>
      <vt:lpstr>Achieving the BCNF by Decomposition (2)</vt:lpstr>
      <vt:lpstr>Fourth Normal Form (4NF)</vt:lpstr>
      <vt:lpstr>3 conditions for Multivalued Dependency</vt:lpstr>
      <vt:lpstr>EXAMPLE 1</vt:lpstr>
      <vt:lpstr>PowerPoint Presentation</vt:lpstr>
      <vt:lpstr>Example 2</vt:lpstr>
      <vt:lpstr>Decomposition</vt:lpstr>
      <vt:lpstr>Types of Decomposition</vt:lpstr>
      <vt:lpstr>PowerPoint Presentation</vt:lpstr>
      <vt:lpstr>Determining Whether Decomposition Is Lossless Or Lossy</vt:lpstr>
      <vt:lpstr>Cntd…</vt:lpstr>
      <vt:lpstr>Properties of Decomposition</vt:lpstr>
      <vt:lpstr>Dependency preservation example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Normalization</dc:title>
  <dc:creator>kjscecomp</dc:creator>
  <cp:lastModifiedBy>Om Thanage</cp:lastModifiedBy>
  <cp:revision>43</cp:revision>
  <dcterms:created xsi:type="dcterms:W3CDTF">2024-04-04T04:39:24Z</dcterms:created>
  <dcterms:modified xsi:type="dcterms:W3CDTF">2025-04-19T09:07:01Z</dcterms:modified>
</cp:coreProperties>
</file>