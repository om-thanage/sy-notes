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64" r:id="rId17"/>
    <p:sldId id="290" r:id="rId18"/>
    <p:sldId id="313" r:id="rId19"/>
    <p:sldId id="265" r:id="rId20"/>
    <p:sldId id="266" r:id="rId21"/>
    <p:sldId id="267" r:id="rId22"/>
    <p:sldId id="268" r:id="rId23"/>
    <p:sldId id="293" r:id="rId24"/>
    <p:sldId id="292" r:id="rId25"/>
    <p:sldId id="269" r:id="rId26"/>
    <p:sldId id="271" r:id="rId27"/>
    <p:sldId id="272" r:id="rId28"/>
    <p:sldId id="314" r:id="rId29"/>
    <p:sldId id="273" r:id="rId30"/>
    <p:sldId id="298" r:id="rId31"/>
    <p:sldId id="299" r:id="rId32"/>
    <p:sldId id="274" r:id="rId33"/>
    <p:sldId id="312" r:id="rId34"/>
    <p:sldId id="275" r:id="rId35"/>
    <p:sldId id="276" r:id="rId36"/>
    <p:sldId id="277" r:id="rId37"/>
    <p:sldId id="294" r:id="rId38"/>
    <p:sldId id="295" r:id="rId39"/>
    <p:sldId id="296" r:id="rId40"/>
    <p:sldId id="297" r:id="rId41"/>
    <p:sldId id="278" r:id="rId42"/>
    <p:sldId id="279" r:id="rId43"/>
    <p:sldId id="280" r:id="rId44"/>
    <p:sldId id="282" r:id="rId45"/>
    <p:sldId id="300" r:id="rId46"/>
    <p:sldId id="301" r:id="rId47"/>
    <p:sldId id="302" r:id="rId48"/>
    <p:sldId id="303" r:id="rId49"/>
    <p:sldId id="304" r:id="rId50"/>
    <p:sldId id="305" r:id="rId51"/>
    <p:sldId id="307" r:id="rId52"/>
    <p:sldId id="308" r:id="rId53"/>
    <p:sldId id="309" r:id="rId54"/>
    <p:sldId id="310" r:id="rId55"/>
    <p:sldId id="306" r:id="rId56"/>
    <p:sldId id="311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A7CE5-1940-41F2-8829-636E3081F82D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0D9C4-76FC-4BF7-A8D6-4EC1DD9EE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458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p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86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26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56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9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37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94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90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75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19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9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2F2BE-1044-4102-A9C1-3B42A02D312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7E320-F949-4A5B-A7FA-5E2CB4CE6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52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124744"/>
            <a:ext cx="7772400" cy="1470025"/>
          </a:xfrm>
        </p:spPr>
        <p:txBody>
          <a:bodyPr/>
          <a:lstStyle/>
          <a:p>
            <a:r>
              <a:rPr lang="en-US" dirty="0"/>
              <a:t>Normalization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284984"/>
            <a:ext cx="7272808" cy="3005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0F463A-9798-B68C-49FE-7B6F0EA11F77}"/>
              </a:ext>
            </a:extLst>
          </p:cNvPr>
          <p:cNvSpPr txBox="1"/>
          <p:nvPr/>
        </p:nvSpPr>
        <p:spPr>
          <a:xfrm>
            <a:off x="683568" y="476672"/>
            <a:ext cx="7416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Data redundancy ?</a:t>
            </a:r>
            <a:br>
              <a:rPr lang="en-US" dirty="0"/>
            </a:br>
            <a:r>
              <a:rPr lang="en-US" dirty="0"/>
              <a:t>Data redundancy is when multiple copies of the same information are stored in more than one place at a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75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2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Normal Forms Based on Primary Keys </a:t>
            </a:r>
            <a:endParaRPr/>
          </a:p>
        </p:txBody>
      </p:sp>
      <p:sp>
        <p:nvSpPr>
          <p:cNvPr id="309" name="Google Shape;309;p42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3.1	Normalization of Relations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3.2	Practical Use of Normal Forms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3.3	Definitions of Keys and Attributes Participating in Keys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3.4	First Normal Form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3.5	Second Normal Form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3.6	Third Normal Form</a:t>
            </a:r>
            <a:endParaRPr/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endParaRPr sz="2800" b="0" i="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024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3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 Normalization of Relations (1)</a:t>
            </a:r>
            <a:endParaRPr/>
          </a:p>
        </p:txBody>
      </p:sp>
      <p:sp>
        <p:nvSpPr>
          <p:cNvPr id="317" name="Google Shape;317;p43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1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Normalization: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process of decomposing unsatisfactory "bad" relations by breaking up their attributes into smaller relations</a:t>
            </a:r>
            <a:endParaRPr dirty="0">
              <a:highlight>
                <a:srgbClr val="FFFF00"/>
              </a:highlight>
            </a:endParaRPr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endParaRPr sz="2800" b="0" i="0" u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1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Normal form: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Condition using keys and FDs of a relation to certify whether a relation schema is in a particular normal form 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7915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AutoShape 2" descr="DBMS Normalization: 1NF, 2NF, 3NF and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00" name="Picture 4" descr="DBMS Normalization: 1NF, 2NF, 3NF and BCNF with Examples - javat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3" y="1954906"/>
            <a:ext cx="7658793" cy="3706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243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4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Normalization of Relations (2)</a:t>
            </a:r>
            <a:endParaRPr/>
          </a:p>
        </p:txBody>
      </p:sp>
      <p:sp>
        <p:nvSpPr>
          <p:cNvPr id="325" name="Google Shape;325;p44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2NF, 3NF, BCNF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based on keys and FDs of a relation schema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4NF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based on keys, multi-valued dependencies : MVDs; 5NF based on keys, join dependencies : JDs (Chapter 11)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Additional properties may be needed to ensure a good relational design (lossless join, dependency preservation; Chapter 11)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129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5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3.2	Practical Use of Normal Forms</a:t>
            </a:r>
            <a:endParaRPr/>
          </a:p>
        </p:txBody>
      </p:sp>
      <p:sp>
        <p:nvSpPr>
          <p:cNvPr id="333" name="Google Shape;333;p45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Normalization</a:t>
            </a: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is carried out in practice so that the resulting designs are of high quality and meet the desirable properties 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practical utility of these normal forms becomes questionable when the constraints on which they are based are </a:t>
            </a:r>
            <a:r>
              <a:rPr lang="en-US" sz="2400" b="0" i="1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hard to understand</a:t>
            </a: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or to </a:t>
            </a:r>
            <a:r>
              <a:rPr lang="en-US" sz="2400" b="0" i="1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detect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database designers </a:t>
            </a:r>
            <a:r>
              <a:rPr lang="en-US" sz="2400" b="0" i="1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need not</a:t>
            </a: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normalize to the highest possible normal form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(usually up to 3NF, BCNF or 4NF)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1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Denormalization</a:t>
            </a:r>
            <a:r>
              <a:rPr lang="en-US" sz="24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742950" lvl="1" indent="-28575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process of storing the join of higher normal form relations as a base relation—which is in a lower normal form  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010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7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3.3	Definitions of Keys and Attributes 	Participating in Keys (1)</a:t>
            </a:r>
            <a:endParaRPr/>
          </a:p>
        </p:txBody>
      </p:sp>
      <p:sp>
        <p:nvSpPr>
          <p:cNvPr id="348" name="Google Shape;348;p47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 relation schema R = {A1, A2, ...., An} is a set of attributes S </a:t>
            </a:r>
            <a:r>
              <a:rPr lang="en-US" sz="2800" b="0" i="1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subset-of</a:t>
            </a: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 with the property that no two tuples t1 and t2 in any legal relation state r of R will have t1[S] = t2[S]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lang="en-US" sz="2800" b="0" i="0" u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Eg</a:t>
            </a: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{SSN},{SSN,ENAME}, {SSN,ENAME,SEX}</a:t>
            </a:r>
            <a:endParaRPr dirty="0"/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endParaRPr sz="2800" b="0" i="0" u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K is a </a:t>
            </a:r>
            <a:r>
              <a:rPr lang="en-US" sz="2800" b="1" i="0" u="none" dirty="0" err="1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with the </a:t>
            </a:r>
            <a:r>
              <a:rPr lang="en-US" sz="2800" b="0" i="1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additional property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that removal of any attribute from K will cause K not to be a </a:t>
            </a:r>
            <a:r>
              <a:rPr lang="en-US" sz="2800" b="0" i="0" u="none" dirty="0" err="1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any more. 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lang="en-US" sz="2800" b="0" i="0" u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Eg</a:t>
            </a: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:{SSN,ENAME}, {SSN,ENAME,SEX}</a:t>
            </a:r>
            <a:endParaRPr dirty="0"/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endParaRPr sz="2800" b="0" i="0" u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8367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8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Definitions of Keys and Attributes 	Participating in Keys (2)</a:t>
            </a:r>
            <a:endParaRPr/>
          </a:p>
        </p:txBody>
      </p:sp>
      <p:sp>
        <p:nvSpPr>
          <p:cNvPr id="356" name="Google Shape;356;p48"/>
          <p:cNvSpPr txBox="1">
            <a:spLocks noGrp="1"/>
          </p:cNvSpPr>
          <p:nvPr>
            <p:ph type="body" idx="1"/>
          </p:nvPr>
        </p:nvSpPr>
        <p:spPr>
          <a:xfrm>
            <a:off x="0" y="14478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If a relation schema has more than one key, each is called a </a:t>
            </a:r>
            <a:r>
              <a:rPr lang="en-US" sz="28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candidate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key.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One of the candidate keys is </a:t>
            </a:r>
            <a:r>
              <a:rPr lang="en-US" sz="2600" b="0" i="1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arbitrarily</a:t>
            </a: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designated to be the </a:t>
            </a:r>
            <a:r>
              <a:rPr lang="en-US" sz="2600" b="1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primary key</a:t>
            </a: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, and the others are called </a:t>
            </a:r>
            <a:r>
              <a:rPr lang="en-US" sz="2600" b="1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secondary keys</a:t>
            </a: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lang="en-US" sz="2600" b="0" i="0" u="none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Eg</a:t>
            </a:r>
            <a:r>
              <a:rPr lang="en-US" sz="2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 PRIMARY KEY = {SSN},  Secondary Key ={ESSN},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Prime attribute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must be a member of </a:t>
            </a:r>
            <a:r>
              <a:rPr lang="en-US" sz="2800" b="0" i="1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some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candidate key 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800" b="0" i="0" u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Eg</a:t>
            </a: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SSN, PNO of  Works-on {SSN,PNO}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Nonprime attribute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is not a prime attribute—that is, it is not a member of any candidate key. 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5041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00808"/>
            <a:ext cx="5988424" cy="4427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747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due to redundancy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358" y="2708920"/>
            <a:ext cx="5734050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9740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anomaly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4791472" cy="2679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509120"/>
            <a:ext cx="52863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8034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</a:t>
            </a:r>
            <a:r>
              <a:rPr lang="en-US" dirty="0" err="1"/>
              <a:t>Anamoly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736" y="1484784"/>
            <a:ext cx="61055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186" y="4208481"/>
            <a:ext cx="5616624" cy="2223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843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Updation</a:t>
            </a:r>
            <a:r>
              <a:rPr lang="en-US" dirty="0"/>
              <a:t> </a:t>
            </a:r>
            <a:r>
              <a:rPr lang="en-US" dirty="0" err="1"/>
              <a:t>Anamoly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191532"/>
            <a:ext cx="2828553" cy="52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5364485" cy="2624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149080"/>
            <a:ext cx="4797946" cy="2279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04037" y="4562547"/>
            <a:ext cx="3214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While updating the table, if one </a:t>
            </a:r>
          </a:p>
          <a:p>
            <a:r>
              <a:rPr lang="en-US" dirty="0"/>
              <a:t>Of the row missed to update,</a:t>
            </a:r>
          </a:p>
          <a:p>
            <a:r>
              <a:rPr lang="en-US" dirty="0"/>
              <a:t>Data inconsistency can occur.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403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931" y="304056"/>
            <a:ext cx="8229600" cy="452596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27" y="1124744"/>
            <a:ext cx="8445938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09" y="3645024"/>
            <a:ext cx="62007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8082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7343076" cy="404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237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9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First Normal Form </a:t>
            </a:r>
            <a:endParaRPr dirty="0"/>
          </a:p>
        </p:txBody>
      </p:sp>
      <p:sp>
        <p:nvSpPr>
          <p:cNvPr id="364" name="Google Shape;364;p49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2362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endParaRPr sz="2800" b="0" i="0" u="none" dirty="0">
              <a:solidFill>
                <a:schemeClr val="dk2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All the attributes must have atomic values 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Disallows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composite attributes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multivalued attributes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1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nested relations</a:t>
            </a: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; attributes whose values for an </a:t>
            </a:r>
            <a:r>
              <a:rPr lang="en-US" sz="2600" b="0" i="1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individual tuple</a:t>
            </a: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are non-atomic</a:t>
            </a:r>
            <a:endParaRPr dirty="0">
              <a:highlight>
                <a:srgbClr val="FFFF00"/>
              </a:highlight>
            </a:endParaRPr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endParaRPr sz="2800" b="0" i="0" u="none" dirty="0">
              <a:solidFill>
                <a:schemeClr val="dk2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endParaRPr sz="2800" b="0" i="0" u="none" dirty="0">
              <a:solidFill>
                <a:schemeClr val="dk2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86DF3-F789-A1B8-2654-829533E0BAE4}"/>
              </a:ext>
            </a:extLst>
          </p:cNvPr>
          <p:cNvSpPr txBox="1"/>
          <p:nvPr/>
        </p:nvSpPr>
        <p:spPr>
          <a:xfrm>
            <a:off x="3981872" y="1523999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Atomic means only one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7941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student table, subject column is multivalued attribute. </a:t>
            </a:r>
          </a:p>
          <a:p>
            <a:r>
              <a:rPr lang="en-US" dirty="0"/>
              <a:t>Student table is not in 1NF</a:t>
            </a: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527300"/>
            <a:ext cx="4054996" cy="1841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492896"/>
            <a:ext cx="2724150" cy="340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5004048" y="4653136"/>
            <a:ext cx="618368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6156175" y="6196662"/>
            <a:ext cx="1984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Normalize into 1NF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041603" y="212356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1: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68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322289"/>
              </p:ext>
            </p:extLst>
          </p:nvPr>
        </p:nvGraphicFramePr>
        <p:xfrm>
          <a:off x="457200" y="1600200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Akon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Bkon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C++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Ckon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8217881"/>
              </p:ext>
            </p:extLst>
          </p:nvPr>
        </p:nvGraphicFramePr>
        <p:xfrm>
          <a:off x="467544" y="4221088"/>
          <a:ext cx="215060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Akon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Bkon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Ckon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7544" y="111780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2: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328498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3:</a:t>
            </a:r>
            <a:endParaRPr lang="en-IN" dirty="0"/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6335715"/>
              </p:ext>
            </p:extLst>
          </p:nvPr>
        </p:nvGraphicFramePr>
        <p:xfrm>
          <a:off x="2987824" y="4149080"/>
          <a:ext cx="2150609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C++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9552" y="3933056"/>
            <a:ext cx="92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2987824" y="3654316"/>
            <a:ext cx="1716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Student_subject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341484" y="4023648"/>
            <a:ext cx="3550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Decompose the relation student_</a:t>
            </a:r>
          </a:p>
          <a:p>
            <a:r>
              <a:rPr lang="en-US" dirty="0"/>
              <a:t>subject </a:t>
            </a:r>
            <a:r>
              <a:rPr lang="en-US" dirty="0" err="1"/>
              <a:t>alongwith</a:t>
            </a:r>
            <a:r>
              <a:rPr lang="en-US" dirty="0"/>
              <a:t> PK 	{</a:t>
            </a:r>
            <a:r>
              <a:rPr lang="en-US" dirty="0" err="1"/>
              <a:t>RollNo,Subject</a:t>
            </a:r>
            <a:r>
              <a:rPr lang="en-US" dirty="0"/>
              <a:t>}.</a:t>
            </a:r>
          </a:p>
          <a:p>
            <a:endParaRPr lang="en-US" dirty="0"/>
          </a:p>
          <a:p>
            <a:r>
              <a:rPr lang="en-US" dirty="0"/>
              <a:t>This decomposes the non-1NF </a:t>
            </a:r>
            <a:r>
              <a:rPr lang="en-US" dirty="0" err="1"/>
              <a:t>realtion</a:t>
            </a:r>
            <a:r>
              <a:rPr lang="en-US" dirty="0"/>
              <a:t>  into two 1NF relations.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41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0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10.8 Normalization into 1NF</a:t>
            </a:r>
            <a:endParaRPr dirty="0"/>
          </a:p>
        </p:txBody>
      </p:sp>
      <p:sp>
        <p:nvSpPr>
          <p:cNvPr id="372" name="Google Shape;372;p50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50" descr="fig10_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600200"/>
            <a:ext cx="6096000" cy="4670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5500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1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10.9 Normalization nested relations into 1NF</a:t>
            </a:r>
            <a:endParaRPr/>
          </a:p>
        </p:txBody>
      </p:sp>
      <p:sp>
        <p:nvSpPr>
          <p:cNvPr id="381" name="Google Shape;381;p51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51" descr="fig10_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524000"/>
            <a:ext cx="8610600" cy="48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0730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2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Second Normal Form (1) </a:t>
            </a:r>
            <a:endParaRPr dirty="0"/>
          </a:p>
        </p:txBody>
      </p:sp>
      <p:sp>
        <p:nvSpPr>
          <p:cNvPr id="390" name="Google Shape;390;p52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Uses the concepts of </a:t>
            </a:r>
            <a:r>
              <a:rPr lang="en-US" sz="24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FDs, primary key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Definitions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1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Prime attribute:</a:t>
            </a:r>
            <a:r>
              <a:rPr lang="en-US" sz="22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An attribute that is member of the candidate key K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1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Full functional dependency:</a:t>
            </a:r>
            <a:r>
              <a:rPr lang="en-US" sz="22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a FD  X -&gt; Y where removal of any attribute from </a:t>
            </a:r>
            <a:r>
              <a:rPr lang="en-US" sz="2200" dirty="0">
                <a:highlight>
                  <a:srgbClr val="FFFF00"/>
                </a:highlight>
              </a:rPr>
              <a:t>X</a:t>
            </a:r>
            <a:r>
              <a:rPr lang="en-US" sz="22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means the FD does not hold any more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{SSN, PNUMBER} -&gt; HOURS is a full FD since neither SSN -&gt; HOURS nor PNUMBER -&gt; HOURS hold 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{SSN, PNUMBER} -&gt; ENAME is not  a full FD (it is called a partial dependency ) since SSN -&gt; ENAME also holds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6121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3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Second Normal Form (2)</a:t>
            </a:r>
            <a:endParaRPr/>
          </a:p>
        </p:txBody>
      </p:sp>
      <p:sp>
        <p:nvSpPr>
          <p:cNvPr id="398" name="Google Shape;398;p53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relation should be in 1NF.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endParaRPr lang="en-US" sz="2800" b="0" i="0" u="none" dirty="0">
              <a:solidFill>
                <a:schemeClr val="dk2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lang="en-US" sz="28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second normal form (2NF)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if every non-prime attribute A in R is fully functionally dependent on the primary key</a:t>
            </a:r>
            <a:endParaRPr dirty="0">
              <a:highlight>
                <a:srgbClr val="FFFF00"/>
              </a:highlight>
            </a:endParaRPr>
          </a:p>
          <a:p>
            <a:pPr marL="342900" lvl="0" indent="-23622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endParaRPr sz="2800" b="0" i="0" u="none" dirty="0">
              <a:solidFill>
                <a:schemeClr val="dk2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 can be decomposed into 2NF relations via the process of 2NF normalization .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02820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2NF</a:t>
            </a:r>
            <a:endParaRPr/>
          </a:p>
        </p:txBody>
      </p:sp>
      <p:sp>
        <p:nvSpPr>
          <p:cNvPr id="439" name="Google Shape;439;p5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9835889"/>
              </p:ext>
            </p:extLst>
          </p:nvPr>
        </p:nvGraphicFramePr>
        <p:xfrm>
          <a:off x="683568" y="1412776"/>
          <a:ext cx="46805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Cust_ID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Store_ID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Delhi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Mumbai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Delhi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Banglore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Mumbai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8438287"/>
              </p:ext>
            </p:extLst>
          </p:nvPr>
        </p:nvGraphicFramePr>
        <p:xfrm>
          <a:off x="755576" y="4221088"/>
          <a:ext cx="28803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Cust_ID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Store_ID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3706028"/>
              </p:ext>
            </p:extLst>
          </p:nvPr>
        </p:nvGraphicFramePr>
        <p:xfrm>
          <a:off x="4572000" y="4437112"/>
          <a:ext cx="33843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Store_ID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Delhi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Banglore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Mumbai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809234" y="101734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3851756"/>
            <a:ext cx="1185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Cust_store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3995772"/>
            <a:ext cx="1592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Store_Location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37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Example:</a:t>
            </a:r>
            <a:endParaRPr/>
          </a:p>
        </p:txBody>
      </p:sp>
      <p:sp>
        <p:nvSpPr>
          <p:cNvPr id="448" name="Google Shape;448;p52"/>
          <p:cNvSpPr txBox="1">
            <a:spLocks noGrp="1"/>
          </p:cNvSpPr>
          <p:nvPr>
            <p:ph type="body" idx="1"/>
          </p:nvPr>
        </p:nvSpPr>
        <p:spPr>
          <a:xfrm>
            <a:off x="433668" y="1532965"/>
            <a:ext cx="4081182" cy="464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Check whether given relation is in 2NF 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R(ABCDEF)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FD: {C 🡪 F, E 🡪 A, EC 🡪 D, A 🡪 B}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STEP 1: WHAT IS CANDIDATE KEYS?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CHECK L.H.S 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/>
              <a:t>C 🡪 F,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/>
              <a:t>E 🡪A, 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/>
              <a:t>EC 🡪 D, 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/>
              <a:t>A 🡪 B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EC = {FADB}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Find closure of EC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EC+ =ECFADB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CK ={ EC}</a:t>
            </a:r>
            <a:endParaRPr dirty="0"/>
          </a:p>
        </p:txBody>
      </p:sp>
      <p:sp>
        <p:nvSpPr>
          <p:cNvPr id="449" name="Google Shape;449;p52"/>
          <p:cNvSpPr txBox="1">
            <a:spLocks noGrp="1"/>
          </p:cNvSpPr>
          <p:nvPr>
            <p:ph type="body" idx="2"/>
          </p:nvPr>
        </p:nvSpPr>
        <p:spPr>
          <a:xfrm>
            <a:off x="4514850" y="1532965"/>
            <a:ext cx="4000500" cy="464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STEP2: PRIME ATTRIBUTES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{E ,C 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NON-PRIME ATTRIBUTES: {A,B,D,F}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CHECK PARTIAL DEPENDANCY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{LHS should be proper subset of CK and RHS should be a non primary key. 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Part of candidate key determines non key attribute.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For C 🡪 F, C is a part of CK and it determines non-key attribute. It is not in 2NF.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E 🡪A,  FD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A 🡪 B</a:t>
            </a: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dirty="0"/>
              <a:t>Given relation is not in 2NF.</a:t>
            </a:r>
            <a:endParaRPr dirty="0"/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717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4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10.10 Normalizing into 2NF and 3NF</a:t>
            </a:r>
            <a:endParaRPr/>
          </a:p>
        </p:txBody>
      </p:sp>
      <p:sp>
        <p:nvSpPr>
          <p:cNvPr id="406" name="Google Shape;406;p54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54" descr="fig1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627187"/>
            <a:ext cx="8458200" cy="500221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4"/>
          <p:cNvSpPr txBox="1"/>
          <p:nvPr/>
        </p:nvSpPr>
        <p:spPr>
          <a:xfrm>
            <a:off x="1219200" y="5124450"/>
            <a:ext cx="457200" cy="11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4"/>
          <p:cNvSpPr/>
          <p:nvPr/>
        </p:nvSpPr>
        <p:spPr>
          <a:xfrm>
            <a:off x="1331912" y="5124450"/>
            <a:ext cx="228600" cy="152400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2738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6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Third Normal Form (1)</a:t>
            </a:r>
            <a:endParaRPr dirty="0"/>
          </a:p>
        </p:txBody>
      </p:sp>
      <p:sp>
        <p:nvSpPr>
          <p:cNvPr id="426" name="Google Shape;426;p56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Definition: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1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Transitive functional dependency:</a:t>
            </a: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a FD  X -&gt; Z that can be derived from two FDs   X -&gt; Y and Y -&gt; Z 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Examples: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SSN -&gt; DMGRSSN is a </a:t>
            </a:r>
            <a:r>
              <a:rPr lang="en-US" sz="2600" b="1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transitive</a:t>
            </a: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FD </a:t>
            </a:r>
            <a:endParaRPr dirty="0">
              <a:highlight>
                <a:srgbClr val="FFFF00"/>
              </a:highlight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Since SSN -&gt; DNUMBER and DNUMBER -&gt; DMGRSSN hold 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SSN -&gt; ENAME is </a:t>
            </a:r>
            <a:r>
              <a:rPr lang="en-US" sz="2600" b="1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non-transitive</a:t>
            </a:r>
            <a:endParaRPr dirty="0">
              <a:highlight>
                <a:srgbClr val="FFFF00"/>
              </a:highlight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Since there is no set of attributes X where SSN -&gt; X and X -&gt; ENAME 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08244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7"/>
          <p:cNvSpPr txBox="1">
            <a:spLocks noGrp="1"/>
          </p:cNvSpPr>
          <p:nvPr>
            <p:ph type="title"/>
          </p:nvPr>
        </p:nvSpPr>
        <p:spPr>
          <a:xfrm>
            <a:off x="323528" y="303213"/>
            <a:ext cx="7701284" cy="74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Third Normal Form (2)</a:t>
            </a:r>
            <a:endParaRPr dirty="0"/>
          </a:p>
        </p:txBody>
      </p:sp>
      <p:sp>
        <p:nvSpPr>
          <p:cNvPr id="434" name="Google Shape;434;p57"/>
          <p:cNvSpPr txBox="1">
            <a:spLocks noGrp="1"/>
          </p:cNvSpPr>
          <p:nvPr>
            <p:ph type="body" idx="1"/>
          </p:nvPr>
        </p:nvSpPr>
        <p:spPr>
          <a:xfrm>
            <a:off x="323528" y="1052736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lang="en-US" sz="24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third normal form (3NF)</a:t>
            </a: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if it is in 2NF </a:t>
            </a:r>
            <a:r>
              <a:rPr lang="en-US" sz="2400" b="0" i="1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no non-prime attribute A in R is transitively dependent on the primary key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dirty="0">
                <a:highlight>
                  <a:srgbClr val="FFFF00"/>
                </a:highlight>
              </a:rPr>
              <a:t>A </a:t>
            </a:r>
            <a:r>
              <a:rPr lang="en-US" b="1" dirty="0">
                <a:highlight>
                  <a:srgbClr val="FFFF00"/>
                </a:highlight>
              </a:rPr>
              <a:t>non-prime attribute </a:t>
            </a:r>
            <a:r>
              <a:rPr lang="en-US" dirty="0">
                <a:highlight>
                  <a:srgbClr val="FFFF00"/>
                </a:highlight>
              </a:rPr>
              <a:t>(a column that is not a part of any candidate key) should not be dependent on </a:t>
            </a:r>
            <a:r>
              <a:rPr lang="en-US" b="1" dirty="0">
                <a:highlight>
                  <a:srgbClr val="FFFF00"/>
                </a:highlight>
              </a:rPr>
              <a:t>another non-prime attribute.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990033"/>
              </a:buClr>
              <a:buSzPts val="1440"/>
              <a:buFont typeface="Noto Sans Symbols"/>
              <a:buChar char="■"/>
            </a:pPr>
            <a:endParaRPr lang="en-US" dirty="0">
              <a:highlight>
                <a:srgbClr val="FFFF00"/>
              </a:highlight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dirty="0">
                <a:highlight>
                  <a:srgbClr val="FFFF00"/>
                </a:highlight>
              </a:rPr>
              <a:t>A non-prime attribute should depend only on the primary key.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 can be decomposed into 3NF relations via the process of 3NF normalization 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28691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90000"/>
              </a:lnSpc>
              <a:spcBef>
                <a:spcPts val="480"/>
              </a:spcBef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endParaRPr lang="en-US" dirty="0"/>
          </a:p>
          <a:p>
            <a:pPr lvl="1">
              <a:lnSpc>
                <a:spcPct val="90000"/>
              </a:lnSpc>
              <a:spcBef>
                <a:spcPts val="440"/>
              </a:spcBef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In X -&gt; Y and Y -&gt; Z, with X as the primary key, we consider this a problem only if Y is not a part of a candidate key.</a:t>
            </a:r>
            <a:endParaRPr lang="en-US" dirty="0">
              <a:highlight>
                <a:srgbClr val="FFFF00"/>
              </a:highlight>
            </a:endParaRPr>
          </a:p>
          <a:p>
            <a:pPr lvl="1">
              <a:lnSpc>
                <a:spcPct val="90000"/>
              </a:lnSpc>
              <a:spcBef>
                <a:spcPts val="440"/>
              </a:spcBef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When Y is a candidate key, there is no problem with the transitive dependency .</a:t>
            </a:r>
            <a:endParaRPr lang="en-US" dirty="0">
              <a:highlight>
                <a:srgbClr val="FFFF00"/>
              </a:highlight>
            </a:endParaRPr>
          </a:p>
          <a:p>
            <a:pPr lvl="1">
              <a:lnSpc>
                <a:spcPct val="90000"/>
              </a:lnSpc>
              <a:spcBef>
                <a:spcPts val="440"/>
              </a:spcBef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E.g., Consider EMP (SSN, </a:t>
            </a:r>
            <a:r>
              <a:rPr lang="en-US" sz="2200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</a:t>
            </a:r>
            <a:r>
              <a:rPr lang="en-US" sz="220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#, Salary ). </a:t>
            </a:r>
            <a:endParaRPr lang="en-US" dirty="0"/>
          </a:p>
          <a:p>
            <a:pPr lvl="2">
              <a:lnSpc>
                <a:spcPct val="90000"/>
              </a:lnSpc>
              <a:spcBef>
                <a:spcPts val="400"/>
              </a:spcBef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lang="en-U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Here, SSN -&gt; </a:t>
            </a:r>
            <a:r>
              <a:rPr lang="en-US" sz="20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Emp</a:t>
            </a:r>
            <a:r>
              <a:rPr lang="en-U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-&gt; Salary and </a:t>
            </a:r>
            <a:r>
              <a:rPr lang="en-US" sz="20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Emp</a:t>
            </a:r>
            <a:r>
              <a:rPr lang="en-U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is a candidate key.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218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Here,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Char char="•"/>
            </a:pPr>
            <a:r>
              <a:rPr lang="en-IN" dirty="0"/>
              <a:t>CK/PK :{</a:t>
            </a:r>
            <a:r>
              <a:rPr lang="en-IN" dirty="0" err="1"/>
              <a:t>rollno</a:t>
            </a:r>
            <a:r>
              <a:rPr lang="en-IN" dirty="0"/>
              <a:t>}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Char char="•"/>
            </a:pPr>
            <a:r>
              <a:rPr lang="en-IN" dirty="0"/>
              <a:t>FD: </a:t>
            </a:r>
            <a:r>
              <a:rPr lang="en-IN" dirty="0" err="1"/>
              <a:t>Rollno</a:t>
            </a:r>
            <a:r>
              <a:rPr lang="en-IN" dirty="0"/>
              <a:t> 🡪 State</a:t>
            </a:r>
          </a:p>
          <a:p>
            <a:pPr marL="457200" lvl="1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None/>
            </a:pPr>
            <a:r>
              <a:rPr lang="en-IN" dirty="0"/>
              <a:t>         State 🡪 City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Char char="•"/>
            </a:pPr>
            <a:r>
              <a:rPr lang="en-IN" dirty="0"/>
              <a:t>state is a non-prime attribute, which is transitively dependent.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Char char="•"/>
            </a:pPr>
            <a:r>
              <a:rPr lang="en-US" dirty="0"/>
              <a:t>Given relation is not in 3NF.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Char char="•"/>
            </a:pPr>
            <a:r>
              <a:rPr lang="en-US" dirty="0"/>
              <a:t>Decompose relation as: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Char char="•"/>
            </a:pPr>
            <a:r>
              <a:rPr lang="en-US" dirty="0"/>
              <a:t>Stud(</a:t>
            </a:r>
            <a:r>
              <a:rPr lang="en-US" dirty="0" err="1"/>
              <a:t>Rollno,City</a:t>
            </a:r>
            <a:r>
              <a:rPr lang="en-US" dirty="0"/>
              <a:t>), City(</a:t>
            </a:r>
            <a:r>
              <a:rPr lang="en-US" dirty="0" err="1"/>
              <a:t>city,state</a:t>
            </a:r>
            <a:r>
              <a:rPr lang="en-US" dirty="0"/>
              <a:t>)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pic>
        <p:nvPicPr>
          <p:cNvPr id="5" name="Google Shape;456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12160" y="1268760"/>
            <a:ext cx="1878495" cy="21133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5652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Given relation is not in 3NF</a:t>
            </a:r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28800"/>
            <a:ext cx="7503082" cy="3502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1852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</a:t>
            </a:r>
          </a:p>
          <a:p>
            <a:r>
              <a:rPr lang="en-US" dirty="0"/>
              <a:t>Split the relation into two relations, such as-</a:t>
            </a:r>
            <a:endParaRPr lang="en-IN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12976"/>
            <a:ext cx="721042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92757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8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Normal Forms Defined Informally	</a:t>
            </a:r>
            <a:endParaRPr/>
          </a:p>
        </p:txBody>
      </p:sp>
      <p:sp>
        <p:nvSpPr>
          <p:cNvPr id="442" name="Google Shape;442;p58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800" b="0" i="0" u="none" baseline="30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normal form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attributes depend on </a:t>
            </a:r>
            <a:r>
              <a:rPr lang="en-US" sz="2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key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800" b="0" i="0" u="none" baseline="30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normal form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attributes depend on </a:t>
            </a:r>
            <a:r>
              <a:rPr lang="en-US" sz="2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whole key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800" b="0" i="0" u="none" baseline="30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lang="en-US" sz="28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normal form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attributes depend on </a:t>
            </a:r>
            <a:r>
              <a:rPr lang="en-US" sz="2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nothing but the key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9951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5"/>
          <p:cNvSpPr txBox="1">
            <a:spLocks noGrp="1"/>
          </p:cNvSpPr>
          <p:nvPr>
            <p:ph type="title"/>
          </p:nvPr>
        </p:nvSpPr>
        <p:spPr>
          <a:xfrm>
            <a:off x="76200" y="38100"/>
            <a:ext cx="9067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10.11 Normalization into 2NF and 3NF</a:t>
            </a:r>
            <a:endParaRPr/>
          </a:p>
        </p:txBody>
      </p:sp>
      <p:sp>
        <p:nvSpPr>
          <p:cNvPr id="417" name="Google Shape;417;p55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55" descr="fig1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9600"/>
            <a:ext cx="9144000" cy="624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4096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9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 Normal Form Definitions (For Multiple Keys) (1)</a:t>
            </a:r>
            <a:endParaRPr dirty="0"/>
          </a:p>
        </p:txBody>
      </p:sp>
      <p:sp>
        <p:nvSpPr>
          <p:cNvPr id="450" name="Google Shape;450;p59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above definitions consider the primary key only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following more general definitions take into account relations with multiple candidate keys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lang="en-US" sz="28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second normal form (2NF)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if every non-prime attribute A in R is fully functionally dependent on </a:t>
            </a:r>
            <a:r>
              <a:rPr lang="en-US" sz="2800" b="0" i="1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every</a:t>
            </a:r>
            <a:r>
              <a:rPr lang="en-US" sz="28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key  of R 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1668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0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8915400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 Normal Form Definitions </a:t>
            </a:r>
            <a:br>
              <a:rPr lang="en-US" sz="36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Third normal form (3NF)</a:t>
            </a:r>
            <a:endParaRPr/>
          </a:p>
        </p:txBody>
      </p:sp>
      <p:sp>
        <p:nvSpPr>
          <p:cNvPr id="458" name="Google Shape;458;p60"/>
          <p:cNvSpPr txBox="1">
            <a:spLocks noGrp="1"/>
          </p:cNvSpPr>
          <p:nvPr>
            <p:ph type="body" idx="1"/>
          </p:nvPr>
        </p:nvSpPr>
        <p:spPr>
          <a:xfrm>
            <a:off x="28575" y="1600200"/>
            <a:ext cx="896302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1" i="0" u="none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US" sz="2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relation schema R - a set of attributes S of R that contains a key of R</a:t>
            </a:r>
            <a:endParaRPr dirty="0"/>
          </a:p>
          <a:p>
            <a:pPr marL="742950" lvl="1" indent="-194944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None/>
            </a:pPr>
            <a:endParaRPr sz="2600" b="0" i="0" u="none" dirty="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lang="en-US" sz="2600" b="1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third normal form (3NF)</a:t>
            </a:r>
            <a:r>
              <a:rPr lang="en-US" sz="26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if whenever a FD X -&gt; A holds in R, then either: </a:t>
            </a:r>
            <a:endParaRPr dirty="0">
              <a:highlight>
                <a:srgbClr val="FFFF00"/>
              </a:highlight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(a) X is a key of R, or </a:t>
            </a:r>
            <a:endParaRPr dirty="0">
              <a:highlight>
                <a:srgbClr val="FFFF00"/>
              </a:highlight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(b) A is a prime attribute of R</a:t>
            </a:r>
            <a:endParaRPr dirty="0">
              <a:highlight>
                <a:srgbClr val="FFFF00"/>
              </a:highlight>
            </a:endParaRPr>
          </a:p>
          <a:p>
            <a:pPr marL="342900" lvl="0" indent="-25145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 b="0" i="0" u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3255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1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lang="en-US" sz="3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BCNF (Boyce-</a:t>
            </a:r>
            <a:r>
              <a:rPr lang="en-US" sz="3600" b="0" i="0" u="none" dirty="0" err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Codd</a:t>
            </a:r>
            <a:r>
              <a:rPr lang="en-US" sz="36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Normal Form) </a:t>
            </a:r>
            <a:endParaRPr dirty="0"/>
          </a:p>
        </p:txBody>
      </p:sp>
      <p:sp>
        <p:nvSpPr>
          <p:cNvPr id="466" name="Google Shape;466;p61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lang="en-US" sz="24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Boyce-</a:t>
            </a:r>
            <a:r>
              <a:rPr lang="en-US" sz="2400" b="1" i="0" u="none" dirty="0" err="1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Codd</a:t>
            </a:r>
            <a:r>
              <a:rPr lang="en-US" sz="24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Normal Form (BCNF)</a:t>
            </a: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if whenever an </a:t>
            </a:r>
            <a:r>
              <a:rPr lang="en-US" sz="24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FD X -&gt; A</a:t>
            </a: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holds in R, then </a:t>
            </a:r>
            <a:r>
              <a:rPr lang="en-US" sz="24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X is a </a:t>
            </a:r>
            <a:r>
              <a:rPr lang="en-US" sz="2400" b="1" i="0" u="none" dirty="0" err="1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of R</a:t>
            </a:r>
          </a:p>
          <a:p>
            <a:pPr>
              <a:spcBef>
                <a:spcPts val="0"/>
              </a:spcBef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dirty="0"/>
              <a:t>In simple terms, for any case (say, X-&gt;Y), X can't be a non-prime attribute.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Each normal form is strictly stronger than the previous one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Every 2NF relation is in 1NF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Every 3NF relation is in 2NF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Every BCNF relation is in 3NF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There exist relations that are in 3NF but not in BCNF</a:t>
            </a:r>
            <a:endParaRPr dirty="0">
              <a:highlight>
                <a:srgbClr val="FFFF00"/>
              </a:highlight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goal is to have each relation in BCNF (or 3NF) 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452709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72816"/>
            <a:ext cx="5495925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0758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1NF</a:t>
            </a: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66" y="2251243"/>
            <a:ext cx="5591505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140968"/>
            <a:ext cx="69627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7451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20688"/>
            <a:ext cx="8219256" cy="5505475"/>
          </a:xfrm>
        </p:spPr>
        <p:txBody>
          <a:bodyPr/>
          <a:lstStyle/>
          <a:p>
            <a:r>
              <a:rPr lang="en-US" dirty="0"/>
              <a:t>3NF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BCNF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7" y="4005064"/>
            <a:ext cx="559117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46" y="1052736"/>
            <a:ext cx="699135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402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decompose the table</a:t>
            </a:r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14022"/>
            <a:ext cx="2855210" cy="1504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66600"/>
            <a:ext cx="3765779" cy="1369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56945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2"/>
          <p:cNvSpPr txBox="1">
            <a:spLocks noGrp="1"/>
          </p:cNvSpPr>
          <p:nvPr>
            <p:ph type="title"/>
          </p:nvPr>
        </p:nvSpPr>
        <p:spPr>
          <a:xfrm>
            <a:off x="381000" y="476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10.12 Boyce-Codd normal form</a:t>
            </a:r>
            <a:endParaRPr/>
          </a:p>
        </p:txBody>
      </p:sp>
      <p:sp>
        <p:nvSpPr>
          <p:cNvPr id="474" name="Google Shape;474;p62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62" descr="fig1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96950"/>
            <a:ext cx="9144000" cy="56181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5066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3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10.13 a relation TEACH that is in 3NF but not in BCNF</a:t>
            </a:r>
            <a:endParaRPr/>
          </a:p>
        </p:txBody>
      </p:sp>
      <p:sp>
        <p:nvSpPr>
          <p:cNvPr id="483" name="Google Shape;483;p63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63" descr="fig1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150" y="2057400"/>
            <a:ext cx="7505700" cy="3863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6950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64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Achieving the BCNF by Decomposition (1)</a:t>
            </a:r>
            <a:endParaRPr/>
          </a:p>
        </p:txBody>
      </p:sp>
      <p:sp>
        <p:nvSpPr>
          <p:cNvPr id="492" name="Google Shape;492;p64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FDs exist in the relation TEACH: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fd1: { student, course} -&gt; instructor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fd2: instructor  -&gt; course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{student, course} is a candidate key for this relation and that the dependencies shown follow the pattern in Figure 10.12 (b).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So this relation is in 3NF </a:t>
            </a:r>
            <a:r>
              <a:rPr lang="en-US" sz="2200" b="0" i="1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but not in</a:t>
            </a: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BCNF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 relation </a:t>
            </a:r>
            <a:r>
              <a:rPr lang="en-US" sz="2400" b="1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400" b="0" i="0" u="none" dirty="0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in BCNF should be decomposed so as to meet this property, while possibly forgoing the preservation of all functional dependencies in the decomposed relations.</a:t>
            </a:r>
            <a:endParaRPr dirty="0">
              <a:highlight>
                <a:srgbClr val="FFFF00"/>
              </a:highlight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lang="en-US" sz="22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0230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lang="en-US" sz="1400" b="1" i="0" u="none" strike="noStrike" cap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66"/>
          <p:cNvSpPr txBox="1">
            <a:spLocks noGrp="1"/>
          </p:cNvSpPr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Achieving the BCNF by Decomposition (2)</a:t>
            </a:r>
            <a:endParaRPr/>
          </a:p>
        </p:txBody>
      </p:sp>
      <p:sp>
        <p:nvSpPr>
          <p:cNvPr id="508" name="Google Shape;508;p66"/>
          <p:cNvSpPr txBox="1">
            <a:spLocks noGrp="1"/>
          </p:cNvSpPr>
          <p:nvPr>
            <p:ph type="body" idx="1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0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 possible decompositions for relation TEACH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0" u="sng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student, instructor</a:t>
            </a: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} and {</a:t>
            </a:r>
            <a:r>
              <a:rPr lang="en-US" sz="2000" b="0" i="0" u="sng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student, course</a:t>
            </a: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{course, </a:t>
            </a:r>
            <a:r>
              <a:rPr lang="en-US" sz="2000" b="0" i="0" u="sng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} and {</a:t>
            </a:r>
            <a:r>
              <a:rPr lang="en-US" sz="2000" b="0" i="0" u="sng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course, student</a:t>
            </a: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0" u="sng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course } and {</a:t>
            </a:r>
            <a:r>
              <a:rPr lang="en-US" sz="2000" b="0" i="0" u="sng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instructor, student</a:t>
            </a: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0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three decompositions will lose fd1. 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lang="en-US" sz="2000" b="0" i="0" u="none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have to settle for sacrificing the functional dependency preservation. But we cannot sacrifice the non-additivity property after decomposition.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0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 of the above three, only the 3rd decomposition will not generate spurious tuples after join.(and hence has the non-additivity property).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lang="en-US" sz="20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test to determine whether a binary decomposition (decomposition into two relations) is non-additive (lossless) is discussed in </a:t>
            </a:r>
            <a:r>
              <a:rPr lang="en-U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next section </a:t>
            </a:r>
            <a:r>
              <a:rPr lang="en-US" sz="20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under Property LJ1. Verify that the third decomposition above meets the property.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41039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Fourth Normal Form (4NF)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MULTIVALUED DEPENDANCY</a:t>
            </a:r>
          </a:p>
          <a:p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 B, is multivalued dependency if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914470"/>
            <a:ext cx="1297660" cy="80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5839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7030A0"/>
                </a:solidFill>
              </a:rPr>
              <a:t>3 conditions for Multivalued Dependency</a:t>
            </a:r>
            <a:endParaRPr lang="en-IN" sz="36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</a:t>
            </a:r>
            <a:r>
              <a:rPr lang="en-US" dirty="0">
                <a:sym typeface="Wingdings" panose="05000000000000000000" pitchFamily="2" charset="2"/>
              </a:rPr>
              <a:t>B ,for a single value of A, more than one value of B exists.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Tables should have at least 3 columns.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   (if table has only 2 columns, we can use 1NF to resolve it).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3.    For this table with A,B,C columns, B and C should be  independent.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>
                <a:sym typeface="Wingdings" panose="05000000000000000000" pitchFamily="2" charset="2"/>
              </a:rPr>
              <a:t>If ALL THE 3 CONDITIONS ARE TRUE, THEN WE CAN SAY THAT THE TABLE MAY HAVE MULTI-VALUED DEPENDENCY.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601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1556792"/>
            <a:ext cx="51911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" y="3573016"/>
            <a:ext cx="5701680" cy="249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387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DECOMPOSITION of the table:</a:t>
            </a:r>
            <a:endParaRPr lang="en-IN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455" y="2276872"/>
            <a:ext cx="62484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19814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147248" cy="56207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Example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08720"/>
            <a:ext cx="7077075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0" y="4077072"/>
            <a:ext cx="6702176" cy="2450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366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process of decomposition in DBMS helps us remove </a:t>
            </a:r>
          </a:p>
          <a:p>
            <a:pPr lvl="1"/>
            <a:r>
              <a:rPr lang="en-US" dirty="0"/>
              <a:t>redundancy, </a:t>
            </a:r>
          </a:p>
          <a:p>
            <a:pPr lvl="1"/>
            <a:r>
              <a:rPr lang="en-US" dirty="0"/>
              <a:t>Inconsistencies, </a:t>
            </a:r>
          </a:p>
          <a:p>
            <a:pPr lvl="1"/>
            <a:r>
              <a:rPr lang="en-US" dirty="0"/>
              <a:t>anomalies from a database when we divide the table into numerous tables. </a:t>
            </a:r>
          </a:p>
          <a:p>
            <a:r>
              <a:rPr lang="en-US" dirty="0"/>
              <a:t>In simpler words, the process of decomposition refers to dividing a relation X into {X1, X2,……</a:t>
            </a:r>
            <a:r>
              <a:rPr lang="en-US" dirty="0" err="1"/>
              <a:t>Xn</a:t>
            </a:r>
            <a:r>
              <a:rPr lang="en-US" dirty="0"/>
              <a:t>}.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9794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781128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IN" b="1" u="sng" dirty="0">
                <a:highlight>
                  <a:srgbClr val="FFFF00"/>
                </a:highlight>
              </a:rPr>
              <a:t>Lossless Join Decomposition (Non-additive):</a:t>
            </a:r>
          </a:p>
          <a:p>
            <a:r>
              <a:rPr lang="en-US" dirty="0">
                <a:highlight>
                  <a:srgbClr val="FFFF00"/>
                </a:highlight>
              </a:rPr>
              <a:t>Consider there is a relation R which is decomposed into sub relations R1 , R2 , …. , Rn. </a:t>
            </a:r>
          </a:p>
          <a:p>
            <a:r>
              <a:rPr lang="en-US" dirty="0">
                <a:highlight>
                  <a:srgbClr val="FFFF00"/>
                </a:highlight>
              </a:rPr>
              <a:t>This decomposition is called lossless join decomposition when the join of the sub relations results in the same relation R that was decomposed.  </a:t>
            </a:r>
          </a:p>
          <a:p>
            <a:r>
              <a:rPr lang="en-US" dirty="0">
                <a:highlight>
                  <a:srgbClr val="FFFF00"/>
                </a:highlight>
              </a:rPr>
              <a:t>For lossless join decomposition, we always have</a:t>
            </a:r>
          </a:p>
          <a:p>
            <a:pPr marL="0" indent="0">
              <a:buNone/>
            </a:pPr>
            <a:r>
              <a:rPr lang="pt-BR" dirty="0">
                <a:highlight>
                  <a:srgbClr val="FFFF00"/>
                </a:highlight>
              </a:rPr>
              <a:t>    R1 ⋈ R2 ⋈ R3 ……. ⋈ Rn = R, </a:t>
            </a:r>
            <a:r>
              <a:rPr lang="en-US" dirty="0">
                <a:highlight>
                  <a:srgbClr val="FFFF00"/>
                </a:highlight>
              </a:rPr>
              <a:t>where ⋈ is a natural join   operator</a:t>
            </a: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800" y="1226452"/>
            <a:ext cx="4410075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65390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u="sng" dirty="0" err="1"/>
              <a:t>Lossy</a:t>
            </a:r>
            <a:r>
              <a:rPr lang="en-IN" b="1" u="sng" dirty="0"/>
              <a:t> Join Decomposition:</a:t>
            </a:r>
          </a:p>
          <a:p>
            <a:r>
              <a:rPr lang="en-US" sz="2600" dirty="0"/>
              <a:t>Consider there is a relation R which is decomposed into sub relations R1 , R2 , …. , Rn.  </a:t>
            </a:r>
          </a:p>
          <a:p>
            <a:r>
              <a:rPr lang="en-US" sz="2600" dirty="0">
                <a:highlight>
                  <a:srgbClr val="FFFF00"/>
                </a:highlight>
              </a:rPr>
              <a:t>This decomposition is called </a:t>
            </a:r>
            <a:r>
              <a:rPr lang="en-US" sz="2600" dirty="0" err="1">
                <a:highlight>
                  <a:srgbClr val="FFFF00"/>
                </a:highlight>
              </a:rPr>
              <a:t>lossy</a:t>
            </a:r>
            <a:r>
              <a:rPr lang="en-US" sz="2600" dirty="0">
                <a:highlight>
                  <a:srgbClr val="FFFF00"/>
                </a:highlight>
              </a:rPr>
              <a:t> join decomposition when the join of the sub relations does not result in the same relation R that was decomposed.  </a:t>
            </a:r>
          </a:p>
          <a:p>
            <a:r>
              <a:rPr lang="en-US" sz="2600" dirty="0"/>
              <a:t>The natural join of the sub relations is always found to have some extraneous tuples. </a:t>
            </a:r>
          </a:p>
          <a:p>
            <a:r>
              <a:rPr lang="en-US" sz="2600" dirty="0"/>
              <a:t>For </a:t>
            </a:r>
            <a:r>
              <a:rPr lang="en-US" sz="2600" dirty="0" err="1"/>
              <a:t>lossy</a:t>
            </a:r>
            <a:r>
              <a:rPr lang="en-US" sz="2600" dirty="0"/>
              <a:t> join decomposition</a:t>
            </a:r>
            <a:r>
              <a:rPr lang="en-US" dirty="0"/>
              <a:t>, </a:t>
            </a:r>
            <a:r>
              <a:rPr lang="en-US" sz="2400" dirty="0"/>
              <a:t>we always have- </a:t>
            </a:r>
          </a:p>
          <a:p>
            <a:r>
              <a:rPr lang="pt-BR" sz="2400" dirty="0"/>
              <a:t>R1 ⋈ R2 ⋈ R3 ……. ⋈ Rn ⊃ R, </a:t>
            </a:r>
            <a:r>
              <a:rPr lang="en-US" sz="2400" dirty="0"/>
              <a:t>where ⋈ is a natural join operator</a:t>
            </a: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12453786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994122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Determining Whether Decomposition Is Lossless Or </a:t>
            </a:r>
            <a:r>
              <a:rPr lang="en-US" sz="2400" dirty="0" err="1"/>
              <a:t>Lossy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8219256" cy="464137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Consider a relation R is decomposed into two sub relations R1 and R2. Then, </a:t>
            </a:r>
          </a:p>
          <a:p>
            <a:r>
              <a:rPr lang="en-US" dirty="0"/>
              <a:t>If all the following conditions satisfy, then the decomposition is lossless. </a:t>
            </a:r>
          </a:p>
          <a:p>
            <a:r>
              <a:rPr lang="en-US" dirty="0"/>
              <a:t>If any of these conditions fail, then the decomposition is </a:t>
            </a:r>
            <a:r>
              <a:rPr lang="en-US" dirty="0" err="1"/>
              <a:t>lossy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/>
              <a:t>Condition-01</a:t>
            </a:r>
          </a:p>
          <a:p>
            <a:r>
              <a:rPr lang="en-US" dirty="0">
                <a:highlight>
                  <a:srgbClr val="FFFF00"/>
                </a:highlight>
              </a:rPr>
              <a:t>Union of both the sub relations must contain all the attributes that are present in the original relation R. </a:t>
            </a:r>
          </a:p>
          <a:p>
            <a:r>
              <a:rPr lang="en-US" dirty="0">
                <a:highlight>
                  <a:srgbClr val="FFFF00"/>
                </a:highlight>
              </a:rPr>
              <a:t>Thus, R1 ∪ R2 = R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870335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70912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Condition-02</a:t>
            </a:r>
          </a:p>
          <a:p>
            <a:r>
              <a:rPr lang="en-US" dirty="0"/>
              <a:t>Intersection of both the sub relations must not be null. </a:t>
            </a:r>
          </a:p>
          <a:p>
            <a:r>
              <a:rPr lang="en-US" dirty="0"/>
              <a:t>In other words,</a:t>
            </a:r>
            <a:r>
              <a:rPr lang="en-US" dirty="0">
                <a:highlight>
                  <a:srgbClr val="FFFF00"/>
                </a:highlight>
              </a:rPr>
              <a:t> there must be some common attribute which is present in both the sub relations. </a:t>
            </a:r>
          </a:p>
          <a:p>
            <a:r>
              <a:rPr lang="en-US" dirty="0"/>
              <a:t>Thus, R1 ∩ R2 ≠ ∅ </a:t>
            </a:r>
          </a:p>
          <a:p>
            <a:r>
              <a:rPr lang="en-US" b="1" dirty="0"/>
              <a:t>Condition-03</a:t>
            </a:r>
          </a:p>
          <a:p>
            <a:r>
              <a:rPr lang="en-US" dirty="0">
                <a:highlight>
                  <a:srgbClr val="FFFF00"/>
                </a:highlight>
              </a:rPr>
              <a:t>Intersection of both the sub relations must be a super key of either R1 or R2 or both. </a:t>
            </a:r>
          </a:p>
          <a:p>
            <a:r>
              <a:rPr lang="en-US" dirty="0">
                <a:highlight>
                  <a:srgbClr val="FFFF00"/>
                </a:highlight>
              </a:rPr>
              <a:t>Thus, R1 ∩ R2 = Super key of R1 or R2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074951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80920" cy="4968552"/>
          </a:xfrm>
        </p:spPr>
        <p:txBody>
          <a:bodyPr>
            <a:normAutofit fontScale="55000" lnSpcReduction="20000"/>
          </a:bodyPr>
          <a:lstStyle/>
          <a:p>
            <a:pPr fontAlgn="base"/>
            <a:r>
              <a:rPr lang="en-US" b="1" dirty="0">
                <a:highlight>
                  <a:srgbClr val="FFFF00"/>
                </a:highlight>
              </a:rPr>
              <a:t>Lossless:</a:t>
            </a:r>
            <a:r>
              <a:rPr lang="en-US" dirty="0">
                <a:highlight>
                  <a:srgbClr val="FFFF00"/>
                </a:highlight>
              </a:rPr>
              <a:t> </a:t>
            </a:r>
          </a:p>
          <a:p>
            <a:pPr fontAlgn="base"/>
            <a:r>
              <a:rPr lang="en-US" dirty="0">
                <a:highlight>
                  <a:srgbClr val="FFFF00"/>
                </a:highlight>
              </a:rPr>
              <a:t>All the decomposition that we perform in Database management system should be lossless. </a:t>
            </a:r>
          </a:p>
          <a:p>
            <a:pPr fontAlgn="base"/>
            <a:r>
              <a:rPr lang="en-US" dirty="0">
                <a:highlight>
                  <a:srgbClr val="FFFF00"/>
                </a:highlight>
              </a:rPr>
              <a:t>All the information should not be lost while performing the join on the sub-relation to get back the original relation. It helps to remove the redundant data from the database.</a:t>
            </a:r>
          </a:p>
          <a:p>
            <a:pPr fontAlgn="base"/>
            <a:r>
              <a:rPr lang="en-US" b="1" dirty="0">
                <a:highlight>
                  <a:srgbClr val="FFFF00"/>
                </a:highlight>
              </a:rPr>
              <a:t>Dependency Preservation:</a:t>
            </a:r>
            <a:r>
              <a:rPr lang="en-US" dirty="0">
                <a:highlight>
                  <a:srgbClr val="FFFF00"/>
                </a:highlight>
              </a:rPr>
              <a:t> </a:t>
            </a:r>
          </a:p>
          <a:p>
            <a:pPr fontAlgn="base"/>
            <a:r>
              <a:rPr lang="en-US" dirty="0">
                <a:highlight>
                  <a:srgbClr val="FFFF00"/>
                </a:highlight>
              </a:rPr>
              <a:t>Dependency Preservation is an important technique in database management system. </a:t>
            </a:r>
          </a:p>
          <a:p>
            <a:pPr fontAlgn="base"/>
            <a:r>
              <a:rPr lang="en-US" dirty="0">
                <a:highlight>
                  <a:srgbClr val="FFFF00"/>
                </a:highlight>
              </a:rPr>
              <a:t>It ensures that the functional dependencies between the entities is maintained while performing decomposition. </a:t>
            </a:r>
          </a:p>
          <a:p>
            <a:pPr fontAlgn="base"/>
            <a:r>
              <a:rPr lang="en-US" dirty="0">
                <a:highlight>
                  <a:srgbClr val="FFFF00"/>
                </a:highlight>
              </a:rPr>
              <a:t>It helps to improve the database efficiency, maintain consistency and integrity.</a:t>
            </a:r>
          </a:p>
          <a:p>
            <a:pPr fontAlgn="base"/>
            <a:r>
              <a:rPr lang="en-US" b="1" dirty="0">
                <a:highlight>
                  <a:srgbClr val="FFFF00"/>
                </a:highlight>
              </a:rPr>
              <a:t>Lack of Data Redundancy:</a:t>
            </a:r>
            <a:r>
              <a:rPr lang="en-US" dirty="0">
                <a:highlight>
                  <a:srgbClr val="FFFF00"/>
                </a:highlight>
              </a:rPr>
              <a:t> </a:t>
            </a:r>
          </a:p>
          <a:p>
            <a:pPr fontAlgn="base"/>
            <a:r>
              <a:rPr lang="en-US" dirty="0">
                <a:highlight>
                  <a:srgbClr val="FFFF00"/>
                </a:highlight>
              </a:rPr>
              <a:t>Data Redundancy is generally termed as duplicate data or repeated data. </a:t>
            </a:r>
          </a:p>
          <a:p>
            <a:pPr fontAlgn="base"/>
            <a:r>
              <a:rPr lang="en-US" dirty="0">
                <a:highlight>
                  <a:srgbClr val="FFFF00"/>
                </a:highlight>
              </a:rPr>
              <a:t>This property states that the decomposition performed should not suffer redundant data. </a:t>
            </a:r>
          </a:p>
          <a:p>
            <a:pPr fontAlgn="base"/>
            <a:r>
              <a:rPr lang="en-US" dirty="0">
                <a:highlight>
                  <a:srgbClr val="FFFF00"/>
                </a:highlight>
              </a:rPr>
              <a:t>It will help us to get rid of unwanted data and focus only on the useful data or information.</a:t>
            </a:r>
          </a:p>
          <a:p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823521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preservation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90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2662</Words>
  <Application>Microsoft Office PowerPoint</Application>
  <PresentationFormat>On-screen Show (4:3)</PresentationFormat>
  <Paragraphs>398</Paragraphs>
  <Slides>56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Calibri</vt:lpstr>
      <vt:lpstr>Noto Sans Symbols</vt:lpstr>
      <vt:lpstr>Tahoma</vt:lpstr>
      <vt:lpstr>Wingdings</vt:lpstr>
      <vt:lpstr>Office Theme</vt:lpstr>
      <vt:lpstr>Normalization</vt:lpstr>
      <vt:lpstr>3 Normal Forms Based on Primary Keys </vt:lpstr>
      <vt:lpstr>3.1 Normalization of Relations (1)</vt:lpstr>
      <vt:lpstr>PowerPoint Presentation</vt:lpstr>
      <vt:lpstr>Normalization of Relations (2)</vt:lpstr>
      <vt:lpstr>3.2 Practical Use of Normal Forms</vt:lpstr>
      <vt:lpstr>3.3 Definitions of Keys and Attributes  Participating in Keys (1)</vt:lpstr>
      <vt:lpstr>Definitions of Keys and Attributes  Participating in Keys (2)</vt:lpstr>
      <vt:lpstr>PowerPoint Presentation</vt:lpstr>
      <vt:lpstr>Problems due to redundancy</vt:lpstr>
      <vt:lpstr>Insertion anomaly</vt:lpstr>
      <vt:lpstr>Deletion Anamoly</vt:lpstr>
      <vt:lpstr>Updation Anamoly</vt:lpstr>
      <vt:lpstr>PowerPoint Presentation</vt:lpstr>
      <vt:lpstr>PowerPoint Presentation</vt:lpstr>
      <vt:lpstr>First Normal Form </vt:lpstr>
      <vt:lpstr>Example </vt:lpstr>
      <vt:lpstr>PowerPoint Presentation</vt:lpstr>
      <vt:lpstr>Figure 10.8 Normalization into 1NF</vt:lpstr>
      <vt:lpstr>Figure 10.9 Normalization nested relations into 1NF</vt:lpstr>
      <vt:lpstr>Second Normal Form (1) </vt:lpstr>
      <vt:lpstr>Second Normal Form (2)</vt:lpstr>
      <vt:lpstr>2NF</vt:lpstr>
      <vt:lpstr>Example:</vt:lpstr>
      <vt:lpstr>Figure 10.10 Normalizing into 2NF and 3NF</vt:lpstr>
      <vt:lpstr>Third Normal Form (1)</vt:lpstr>
      <vt:lpstr>Third Normal Form (2)</vt:lpstr>
      <vt:lpstr>PowerPoint Presentation</vt:lpstr>
      <vt:lpstr>Example 1</vt:lpstr>
      <vt:lpstr>Example 2</vt:lpstr>
      <vt:lpstr>PowerPoint Presentation</vt:lpstr>
      <vt:lpstr>Normal Forms Defined Informally </vt:lpstr>
      <vt:lpstr>Figure 10.11 Normalization into 2NF and 3NF</vt:lpstr>
      <vt:lpstr>General Normal Form Definitions (For Multiple Keys) (1)</vt:lpstr>
      <vt:lpstr>General Normal Form Definitions  Third normal form (3NF)</vt:lpstr>
      <vt:lpstr>BCNF (Boyce-Codd Normal Form) </vt:lpstr>
      <vt:lpstr>Example </vt:lpstr>
      <vt:lpstr>PowerPoint Presentation</vt:lpstr>
      <vt:lpstr>PowerPoint Presentation</vt:lpstr>
      <vt:lpstr>PowerPoint Presentation</vt:lpstr>
      <vt:lpstr>Figure 10.12 Boyce-Codd normal form</vt:lpstr>
      <vt:lpstr>Figure 10.13 a relation TEACH that is in 3NF but not in BCNF</vt:lpstr>
      <vt:lpstr>Achieving the BCNF by Decomposition (1)</vt:lpstr>
      <vt:lpstr>Achieving the BCNF by Decomposition (2)</vt:lpstr>
      <vt:lpstr>Fourth Normal Form (4NF)</vt:lpstr>
      <vt:lpstr>3 conditions for Multivalued Dependency</vt:lpstr>
      <vt:lpstr>EXAMPLE 1</vt:lpstr>
      <vt:lpstr>PowerPoint Presentation</vt:lpstr>
      <vt:lpstr>Example 2</vt:lpstr>
      <vt:lpstr>Decomposition</vt:lpstr>
      <vt:lpstr>Types of Decomposition</vt:lpstr>
      <vt:lpstr>PowerPoint Presentation</vt:lpstr>
      <vt:lpstr>Determining Whether Decomposition Is Lossless Or Lossy</vt:lpstr>
      <vt:lpstr>Cntd…</vt:lpstr>
      <vt:lpstr>Properties of Decomposition</vt:lpstr>
      <vt:lpstr>Dependency preservation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</dc:title>
  <dc:creator>kjscecomp</dc:creator>
  <cp:lastModifiedBy>Om Thanage</cp:lastModifiedBy>
  <cp:revision>46</cp:revision>
  <dcterms:created xsi:type="dcterms:W3CDTF">2024-04-04T04:39:24Z</dcterms:created>
  <dcterms:modified xsi:type="dcterms:W3CDTF">2025-05-05T11:15:03Z</dcterms:modified>
</cp:coreProperties>
</file>