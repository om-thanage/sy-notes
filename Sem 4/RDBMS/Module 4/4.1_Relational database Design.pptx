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6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355" r:id="rId12"/>
    <p:sldId id="265" r:id="rId13"/>
    <p:sldId id="266" r:id="rId14"/>
    <p:sldId id="267" r:id="rId15"/>
    <p:sldId id="268" r:id="rId16"/>
    <p:sldId id="269" r:id="rId17"/>
    <p:sldId id="271" r:id="rId18"/>
    <p:sldId id="310" r:id="rId19"/>
    <p:sldId id="272" r:id="rId20"/>
    <p:sldId id="273" r:id="rId21"/>
    <p:sldId id="311" r:id="rId22"/>
    <p:sldId id="356" r:id="rId23"/>
    <p:sldId id="357" r:id="rId24"/>
    <p:sldId id="274" r:id="rId25"/>
    <p:sldId id="314" r:id="rId26"/>
    <p:sldId id="315" r:id="rId27"/>
    <p:sldId id="316" r:id="rId28"/>
    <p:sldId id="317" r:id="rId29"/>
    <p:sldId id="319" r:id="rId30"/>
    <p:sldId id="318" r:id="rId31"/>
    <p:sldId id="320" r:id="rId32"/>
    <p:sldId id="321" r:id="rId33"/>
    <p:sldId id="322" r:id="rId34"/>
    <p:sldId id="275" r:id="rId35"/>
    <p:sldId id="276" r:id="rId36"/>
    <p:sldId id="277" r:id="rId37"/>
    <p:sldId id="323" r:id="rId38"/>
    <p:sldId id="324" r:id="rId39"/>
    <p:sldId id="325" r:id="rId40"/>
    <p:sldId id="326" r:id="rId41"/>
    <p:sldId id="278" r:id="rId42"/>
    <p:sldId id="342" r:id="rId43"/>
    <p:sldId id="279" r:id="rId44"/>
    <p:sldId id="280" r:id="rId45"/>
    <p:sldId id="331" r:id="rId46"/>
    <p:sldId id="339" r:id="rId47"/>
    <p:sldId id="340" r:id="rId48"/>
    <p:sldId id="333" r:id="rId49"/>
    <p:sldId id="334" r:id="rId50"/>
    <p:sldId id="335" r:id="rId51"/>
    <p:sldId id="336" r:id="rId52"/>
    <p:sldId id="358" r:id="rId53"/>
    <p:sldId id="359" r:id="rId54"/>
    <p:sldId id="360" r:id="rId55"/>
    <p:sldId id="341" r:id="rId56"/>
    <p:sldId id="343" r:id="rId57"/>
    <p:sldId id="344" r:id="rId58"/>
    <p:sldId id="345" r:id="rId59"/>
    <p:sldId id="346" r:id="rId60"/>
    <p:sldId id="349" r:id="rId61"/>
    <p:sldId id="361" r:id="rId62"/>
    <p:sldId id="348" r:id="rId63"/>
  </p:sldIdLst>
  <p:sldSz cx="9144000" cy="6858000" type="screen4x3"/>
  <p:notesSz cx="6858000" cy="9144000"/>
  <p:embeddedFontLst>
    <p:embeddedFont>
      <p:font typeface="Tahoma" panose="020B0604030504040204" pitchFamily="34" charset="0"/>
      <p:regular r:id="rId65"/>
      <p:bold r:id="rId66"/>
    </p:embeddedFont>
    <p:embeddedFont>
      <p:font typeface="Calibri" panose="020F0502020204030204" pitchFamily="34" charset="0"/>
      <p:regular r:id="rId67"/>
      <p:bold r:id="rId68"/>
      <p:italic r:id="rId69"/>
      <p:boldItalic r:id="rId70"/>
    </p:embeddedFont>
    <p:embeddedFont>
      <p:font typeface="Inter" panose="020B0604020202020204" charset="0"/>
      <p:regular r:id="rId71"/>
      <p:bold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9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1206" y="96"/>
      </p:cViewPr>
      <p:guideLst>
        <p:guide orient="horz" pos="19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font" Target="fonts/font4.fntdata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font" Target="fonts/font2.fntdata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font" Target="fonts/font1.fntdata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8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6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93816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 rot="5400000">
            <a:off x="2101055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35052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marL="914400" lvl="1" indent="-32639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marL="1371600" lvl="2" indent="-30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marL="1828800" lvl="3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marL="2286000" lvl="4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marL="2743200" lvl="5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marL="3200400" lvl="6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marL="3657600" lvl="7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marL="4114800" lvl="8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marL="914400" lvl="1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marL="1371600" lvl="2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marL="1828800" lvl="3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marL="2286000" lvl="4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marL="2743200" lvl="5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marL="3200400" lvl="6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marL="3657600" lvl="7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marL="4114800" lvl="8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marL="914400" lvl="1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marL="1371600" lvl="2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marL="1828800" lvl="3" indent="-2844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marL="2286000" lvl="4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marL="2743200" lvl="5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marL="3200400" lvl="6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marL="3657600" lvl="7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marL="4114800" lvl="8" indent="-279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33528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marL="914400" lvl="1" indent="-3124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marL="1371600" lvl="2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marL="1828800" lvl="3" indent="-29146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marL="2286000" lvl="4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marL="2743200" lvl="5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marL="3200400" lvl="6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marL="3657600" lvl="7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marL="4114800" lvl="8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33528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marL="914400" lvl="1" indent="-3124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marL="1371600" lvl="2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marL="1828800" lvl="3" indent="-29146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marL="2286000" lvl="4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marL="2743200" lvl="5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marL="3200400" lvl="6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marL="3657600" lvl="7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marL="4114800" lvl="8" indent="-2857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 descr="Pink tissue paper"/>
          <p:cNvSpPr txBox="1">
            <a:spLocks noGrp="1"/>
          </p:cNvSpPr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 descr="Pink tissue paper"/>
          <p:cNvSpPr txBox="1">
            <a:spLocks noGrp="1"/>
          </p:cNvSpPr>
          <p:nvPr>
            <p:ph type="subTitle" idx="1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 sz="32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ftr" idx="11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8936037" y="1449387"/>
            <a:ext cx="207962" cy="5408612"/>
            <a:chOff x="5606" y="889"/>
            <a:chExt cx="154" cy="3431"/>
          </a:xfrm>
        </p:grpSpPr>
        <p:sp>
          <p:nvSpPr>
            <p:cNvPr id="11" name="Google Shape;11;p1"/>
            <p:cNvSpPr txBox="1"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1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1"/>
              <p:cNvSpPr txBox="1"/>
              <p:nvPr/>
            </p:nvSpPr>
            <p:spPr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"/>
              <p:cNvSpPr txBox="1"/>
              <p:nvPr/>
            </p:nvSpPr>
            <p:spPr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" name="Google Shape;15;p1"/>
          <p:cNvSpPr txBox="1"/>
          <p:nvPr/>
        </p:nvSpPr>
        <p:spPr>
          <a:xfrm>
            <a:off x="-1" y="1"/>
            <a:ext cx="9140825" cy="1449387"/>
          </a:xfrm>
          <a:prstGeom prst="rect">
            <a:avLst/>
          </a:prstGeom>
          <a:solidFill>
            <a:srgbClr val="677228">
              <a:alpha val="3529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18" name="Google Shape;18;p1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marR="0" lvl="0" indent="-33528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9405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sz="2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sz="20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</a:t>
            </a: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Ramez Elmasri and Shamkant B. Navathe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529"/>
                </a:srgbClr>
              </a:gs>
              <a:gs pos="100000">
                <a:srgbClr val="5A642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2"/>
          <p:cNvSpPr txBox="1"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13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7315200" y="2438400"/>
            <a:ext cx="1828800" cy="2290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12" descr="awtri_4c UPDATE_col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" y="5949950"/>
            <a:ext cx="684212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2" descr="elmasri_thumb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marR="0" lvl="0" indent="-33528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9405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sz="26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sz="20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b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83" name="Google Shape;83;p14" descr="Elmasri_cov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</a:t>
            </a: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Ramez Elmasri and Shamkant B. Navathe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 descr="Pink tissue paper"/>
          <p:cNvSpPr txBox="1">
            <a:spLocks noGrp="1"/>
          </p:cNvSpPr>
          <p:nvPr>
            <p:ph type="subTitle" idx="1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32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Functional Dependencies and Normalization for Relational Databases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 Outline</a:t>
            </a:r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Informal Design Guidelines for Relational Databases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1.1Semantics of the Relation Attributes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1.2 Redundant Information in Tuples and Update Anomalies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1.3 Null Values in Tuples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1.4 Spurious Tuples</a:t>
            </a:r>
            <a:endParaRPr/>
          </a:p>
          <a:p>
            <a:pPr marL="742950" lvl="1" indent="-20891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None/>
            </a:pPr>
            <a:endParaRPr sz="2200" b="0" i="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 Functional Dependencies (FDs)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2.1 Definition of FD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2.2 Inference Rules for FDs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2.3 Equivalence of Sets of FDs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2.4 Minimal Sets of FDs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 Outline</a:t>
            </a:r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Normal Forms Based on Primary Keys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3.1 Normalization of Relations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3.2 Practical Use of Normal Forms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3.3 Definitions of Keys and Attributes Participating in Keys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First Normal Form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Second Normal Form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3.6 Third Normal Form</a:t>
            </a:r>
            <a:endParaRPr/>
          </a:p>
          <a:p>
            <a:pPr marL="742950" lvl="1" indent="-208915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None/>
            </a:pPr>
            <a:endParaRPr sz="2200" b="0" i="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 General Normal Form Definitions (4NF For Multiple Keys)</a:t>
            </a:r>
            <a:endParaRPr/>
          </a:p>
          <a:p>
            <a:pPr marL="342900" lvl="0" indent="-251459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None/>
            </a:pPr>
            <a:endParaRPr sz="2400" b="0" i="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 BCNF (Boyce-Codd Normal Form)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 Informal Design Guidelines for Relational Databases (1)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is relational database design?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grouping of attributes to form "good" relation schemas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 Two levels of relation schemas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logical "user view" level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storage "base relation" level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 Design is concerned mainly with base relations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 What are the criteria for "good" base relations? </a:t>
            </a:r>
            <a:endParaRPr/>
          </a:p>
          <a:p>
            <a:pPr marL="342900" lvl="0" indent="-23622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endParaRPr sz="2800" b="0" i="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Informal Design Guidelines for Relational Databases (2)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first discuss informal guidelines for good relational design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Then we discuss formal concepts of functional dependencies and normal forms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- 1NF (First Normal Form)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- 2NF (Second Normal Form)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- 3NF (Third Normal Form)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 BCNF (Boyce-Codd Normal Form)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Additional types of dependencies, further normal forms, relational design algorithms by synthesis are discussed in Chapter 11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1.1	Semantics of the Relation Attributes 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GUIDELINE 1: Informally, each tuple in a relation should represent one entity or relationship instance. (Applies to individual relations and their attributes</a:t>
            </a: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Attributes of different entities (EMPLOYEEs, DEPARTMENTs, PROJECTs) should not be mixed in the same relation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Only foreign keys should be used to refer to other entities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and relationship attributes should be kept apart as much as possible.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Bottom Line:</a:t>
            </a: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 a schema that can be explained easily relation by relation. The semantics of attributes should be easy to interpret.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6858000" y="625792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10.1 A simplified COMPANY relational database schema</a:t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1" descr="fig10_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1524000"/>
            <a:ext cx="5105400" cy="493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1.2 Redundant Information in Tuples and Update Anomalies </a:t>
            </a:r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Information is stored redundantly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Wastes storage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Causes problems with update anomalies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Insertion anomalies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Deletion anomalies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Modification anomalies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8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Guideline to Redundant Information in Tuples and Update Anomalies</a:t>
            </a:r>
            <a:endParaRPr/>
          </a:p>
        </p:txBody>
      </p:sp>
      <p:sp>
        <p:nvSpPr>
          <p:cNvPr id="197" name="Google Shape;197;p28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GUIDELINE 2: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Design a schema that does not suffer from the insertion, deletion and update anomalies</a:t>
            </a: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If there are any anomalies present, then note them so that applications can be made to take them into account.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731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AN UPDATE ANOMALY</a:t>
            </a:r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Consider the relation: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EMP_PROJ(Emp#, Proj#, Ename, Pname, No_hours)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Update Anomaly: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Changing the name of  project number P1 from “Billing” to “Customer-Accounting” may cause this update to be made for all 100 employees working on project P1.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AN INSERT ANOMALY</a:t>
            </a:r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Consider the relation: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EMP_PROJ(Emp#, Proj#, Ename, Pname, No_hours)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Insert  Anomaly: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Cannot insert a project unless an employee is assigned to it.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Conversely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Cannot insert an employee unless an he/she is assigned to a project.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AN DELETE ANOMALY</a:t>
            </a:r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Consider the relation: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EMP_PROJ(Emp#, Proj#, Ename, Pname, No_hours)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Delete Anomaly: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When a project is deleted, it will result in deleting all the employees who work on that project.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Alternately, if an employee is the sole employee on a project, deleting that employee would result in deleting the corresponding project.</a:t>
            </a:r>
            <a:endParaRPr/>
          </a:p>
          <a:p>
            <a:pPr marL="342900" lvl="0" indent="-24384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560"/>
              <a:buNone/>
            </a:pPr>
            <a:endParaRPr sz="2600" b="0" i="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10.3 Two relation schemas suffering from update anomalies</a:t>
            </a:r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6" descr="fig10_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025" y="2057400"/>
            <a:ext cx="8207375" cy="3392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7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10.4 Example States for EMP_DEPT and EMP_PROJ</a:t>
            </a:r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9" y="2213453"/>
            <a:ext cx="8894909" cy="311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9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1.3 Null Values in Tuples </a:t>
            </a:r>
            <a:endParaRPr/>
          </a:p>
        </p:txBody>
      </p:sp>
      <p:sp>
        <p:nvSpPr>
          <p:cNvPr id="205" name="Google Shape;205;p29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GUIDELINE 3: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Relations should be designed such that their tuples will have as few NULL values as possible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Attributes that are NULL frequently could be placed in separate relations (with the primary key</a:t>
            </a:r>
            <a:r>
              <a:rPr lang="en-US" sz="2600" b="0" i="0" u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dirty="0" smtClean="0">
                <a:solidFill>
                  <a:srgbClr val="FF0000"/>
                </a:solidFill>
              </a:rPr>
              <a:t>It causes confusion in COUNT  and SUM operation.</a:t>
            </a:r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dirty="0" smtClean="0">
                <a:solidFill>
                  <a:srgbClr val="FF0000"/>
                </a:solidFill>
              </a:rPr>
              <a:t>If NULL value comes in comparison with SELECT or JOIN operation, the result will unpredictable.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13984" y="1870880"/>
            <a:ext cx="6144016" cy="2716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560"/>
              </a:spcBef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dirty="0">
                <a:solidFill>
                  <a:schemeClr val="dk2"/>
                </a:solidFill>
              </a:rPr>
              <a:t>Reasons for nulls:</a:t>
            </a:r>
            <a:endParaRPr lang="en-US" dirty="0"/>
          </a:p>
          <a:p>
            <a:pPr marL="742950" lvl="1" indent="-285750">
              <a:spcBef>
                <a:spcPts val="520"/>
              </a:spcBef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dirty="0">
                <a:solidFill>
                  <a:srgbClr val="800000"/>
                </a:solidFill>
              </a:rPr>
              <a:t>Attribute not applicable or invalid</a:t>
            </a:r>
            <a:endParaRPr lang="en-US" dirty="0"/>
          </a:p>
          <a:p>
            <a:pPr marL="742950" lvl="1" indent="-285750">
              <a:spcBef>
                <a:spcPts val="520"/>
              </a:spcBef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dirty="0">
                <a:solidFill>
                  <a:srgbClr val="800000"/>
                </a:solidFill>
              </a:rPr>
              <a:t>Attribute value unknown  (may exist)</a:t>
            </a:r>
            <a:endParaRPr lang="en-US" dirty="0"/>
          </a:p>
          <a:p>
            <a:pPr marL="742950" lvl="1" indent="-285750">
              <a:spcBef>
                <a:spcPts val="520"/>
              </a:spcBef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dirty="0">
                <a:solidFill>
                  <a:srgbClr val="800000"/>
                </a:solidFill>
              </a:rPr>
              <a:t>Value known to exist, but </a:t>
            </a:r>
            <a:r>
              <a:rPr lang="en-US" sz="2600" dirty="0" smtClean="0">
                <a:solidFill>
                  <a:srgbClr val="800000"/>
                </a:solidFill>
              </a:rPr>
              <a:t>unavailable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19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1.4 Spurious Tuples </a:t>
            </a:r>
            <a:endParaRPr/>
          </a:p>
        </p:txBody>
      </p:sp>
      <p:sp>
        <p:nvSpPr>
          <p:cNvPr id="213" name="Google Shape;213;p30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5994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Bad designs for a relational database may result in erroneous results for certain JOIN operations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"lossless join" property is used to guarantee meaningful results for join </a:t>
            </a:r>
            <a:r>
              <a:rPr lang="en-US" sz="2800" b="0" i="0" u="none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operations. </a:t>
            </a:r>
            <a:endParaRPr dirty="0"/>
          </a:p>
          <a:p>
            <a:pPr marL="342900" lvl="0" indent="-23622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endParaRPr sz="2800" b="0" i="0" u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GUIDELINE 4: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relations should be designed to satisfy the lossless join </a:t>
            </a:r>
            <a:r>
              <a:rPr lang="en-US" sz="2600" b="0" i="0" u="none" dirty="0" smtClean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condition. It means  </a:t>
            </a:r>
            <a:r>
              <a:rPr lang="en-US" sz="2600" b="0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spurious tuples should be generated by doing a natural-join of any relations.</a:t>
            </a:r>
            <a:endParaRPr dirty="0"/>
          </a:p>
          <a:p>
            <a:pPr marL="342900" lvl="0" indent="-24384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560"/>
              <a:buNone/>
            </a:pPr>
            <a:endParaRPr sz="2600" b="0" i="0" u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1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Spurious Tuples (2)</a:t>
            </a:r>
            <a:endParaRPr/>
          </a:p>
        </p:txBody>
      </p:sp>
      <p:sp>
        <p:nvSpPr>
          <p:cNvPr id="221" name="Google Shape;221;p31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are two important properties of decompositions: </a:t>
            </a:r>
            <a:endParaRPr dirty="0"/>
          </a:p>
          <a:p>
            <a:pPr marL="876300" lvl="1" indent="-4191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AutoNum type="alphaLcParenR"/>
            </a:pP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Non-additive or </a:t>
            </a:r>
            <a:r>
              <a:rPr lang="en-US" sz="2200" b="0" i="0" u="none" dirty="0" err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losslessness</a:t>
            </a: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the corresponding join</a:t>
            </a:r>
            <a:endParaRPr dirty="0"/>
          </a:p>
          <a:p>
            <a:pPr marL="876300" lvl="1" indent="-4191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AutoNum type="alphaLcParenR"/>
            </a:pP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Preservation of the functional dependencies. </a:t>
            </a:r>
            <a:endParaRPr dirty="0"/>
          </a:p>
          <a:p>
            <a:pPr marL="457200" lvl="0" indent="-36576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None/>
            </a:pPr>
            <a:endParaRPr sz="2400" b="0" i="0" u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 that:</a:t>
            </a:r>
            <a:endParaRPr dirty="0"/>
          </a:p>
          <a:p>
            <a:pPr marL="876300" lvl="1" indent="-4191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Property (a) is extremely important and </a:t>
            </a:r>
            <a:r>
              <a:rPr lang="en-US" sz="2200" b="0" i="1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cannot</a:t>
            </a: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be sacrificed.</a:t>
            </a:r>
            <a:endParaRPr dirty="0"/>
          </a:p>
          <a:p>
            <a:pPr marL="876300" lvl="1" indent="-4191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Property (b) is less stringent and may be sacrificed</a:t>
            </a:r>
            <a:r>
              <a:rPr lang="en-US" sz="2200" b="0" i="0" u="none" dirty="0" smtClean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sz="2400" dirty="0" smtClean="0"/>
              <a:t>The relation EMP_PROJ is decomposed into two relations: EMP_LOCS and EMP_PROJ1.</a:t>
            </a:r>
          </a:p>
          <a:p>
            <a:r>
              <a:rPr lang="en-US" sz="2400" dirty="0" smtClean="0"/>
              <a:t>by re-joining of these two relations will generate some spurious tuples.</a:t>
            </a:r>
          </a:p>
          <a:p>
            <a:r>
              <a:rPr lang="en-US" sz="2400" dirty="0" smtClean="0"/>
              <a:t>So the join operation will not get original </a:t>
            </a:r>
            <a:r>
              <a:rPr lang="en-US" sz="2400" dirty="0" err="1" smtClean="0"/>
              <a:t>EMP_Proj</a:t>
            </a:r>
            <a:r>
              <a:rPr lang="en-US" sz="2400" dirty="0" smtClean="0"/>
              <a:t> relation.</a:t>
            </a: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24" y="1521521"/>
            <a:ext cx="6762750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624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994" y="365843"/>
            <a:ext cx="7761765" cy="498454"/>
          </a:xfrm>
        </p:spPr>
        <p:txBody>
          <a:bodyPr/>
          <a:lstStyle/>
          <a:p>
            <a:r>
              <a:rPr lang="en-US" dirty="0" smtClean="0"/>
              <a:t>Example: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pPr marL="160020" indent="0">
              <a:buNone/>
            </a:pPr>
            <a:r>
              <a:rPr lang="en-US" dirty="0" smtClean="0"/>
              <a:t>Now</a:t>
            </a:r>
            <a:r>
              <a:rPr lang="en-US" dirty="0"/>
              <a:t>, if we </a:t>
            </a:r>
            <a:r>
              <a:rPr lang="en-US" dirty="0" smtClean="0"/>
              <a:t>decompose </a:t>
            </a:r>
            <a:r>
              <a:rPr lang="en-US" dirty="0"/>
              <a:t>EMP-PROJ1 and EMP-LOCS using the common attribute </a:t>
            </a:r>
            <a:r>
              <a:rPr lang="en-US" dirty="0" err="1"/>
              <a:t>Plocation</a:t>
            </a:r>
            <a:r>
              <a:rPr lang="en-US" dirty="0" smtClean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151631"/>
              </p:ext>
            </p:extLst>
          </p:nvPr>
        </p:nvGraphicFramePr>
        <p:xfrm>
          <a:off x="866015" y="796447"/>
          <a:ext cx="5409525" cy="1219200"/>
        </p:xfrm>
        <a:graphic>
          <a:graphicData uri="http://schemas.openxmlformats.org/drawingml/2006/table">
            <a:tbl>
              <a:tblPr/>
              <a:tblGrid>
                <a:gridCol w="712265"/>
                <a:gridCol w="951978"/>
                <a:gridCol w="889348"/>
                <a:gridCol w="926926"/>
                <a:gridCol w="1002082"/>
                <a:gridCol w="926926"/>
              </a:tblGrid>
              <a:tr h="304800">
                <a:tc>
                  <a:txBody>
                    <a:bodyPr/>
                    <a:lstStyle/>
                    <a:p>
                      <a:r>
                        <a:rPr lang="en-IN" sz="1400" dirty="0" err="1"/>
                        <a:t>Ssn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Pnumber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Ename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Plocation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Alpha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Beta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Alpha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14" y="3241044"/>
            <a:ext cx="614362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012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994" y="365843"/>
            <a:ext cx="7761765" cy="498454"/>
          </a:xfrm>
        </p:spPr>
        <p:txBody>
          <a:bodyPr/>
          <a:lstStyle/>
          <a:p>
            <a:r>
              <a:rPr lang="en-US" dirty="0" smtClean="0"/>
              <a:t>Example: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pPr marL="160020" indent="0">
              <a:buNone/>
            </a:pPr>
            <a:endParaRPr lang="en-US" dirty="0" smtClean="0"/>
          </a:p>
          <a:p>
            <a:pPr marL="160020" indent="0">
              <a:buNone/>
            </a:pPr>
            <a:r>
              <a:rPr lang="en-US" dirty="0" smtClean="0"/>
              <a:t>Result </a:t>
            </a:r>
            <a:r>
              <a:rPr lang="en-US" dirty="0"/>
              <a:t>of Natural Join (EMP-PROJ1 ⨝ EMP-LOCS on </a:t>
            </a:r>
            <a:r>
              <a:rPr lang="en-US" dirty="0" err="1"/>
              <a:t>Plocation</a:t>
            </a:r>
            <a:r>
              <a:rPr lang="en-US" dirty="0"/>
              <a:t>)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696678"/>
              </p:ext>
            </p:extLst>
          </p:nvPr>
        </p:nvGraphicFramePr>
        <p:xfrm>
          <a:off x="878541" y="1197280"/>
          <a:ext cx="5409525" cy="1219200"/>
        </p:xfrm>
        <a:graphic>
          <a:graphicData uri="http://schemas.openxmlformats.org/drawingml/2006/table">
            <a:tbl>
              <a:tblPr/>
              <a:tblGrid>
                <a:gridCol w="712265"/>
                <a:gridCol w="951978"/>
                <a:gridCol w="889348"/>
                <a:gridCol w="926926"/>
                <a:gridCol w="1002082"/>
                <a:gridCol w="926926"/>
              </a:tblGrid>
              <a:tr h="304800">
                <a:tc>
                  <a:txBody>
                    <a:bodyPr/>
                    <a:lstStyle/>
                    <a:p>
                      <a:r>
                        <a:rPr lang="en-IN" sz="1400" dirty="0" err="1"/>
                        <a:t>Ssn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Pnumber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Ename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Plocation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Alpha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Beta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Alpha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552493"/>
              </p:ext>
            </p:extLst>
          </p:nvPr>
        </p:nvGraphicFramePr>
        <p:xfrm>
          <a:off x="239713" y="4099143"/>
          <a:ext cx="8294688" cy="1828800"/>
        </p:xfrm>
        <a:graphic>
          <a:graphicData uri="http://schemas.openxmlformats.org/drawingml/2006/table">
            <a:tbl>
              <a:tblPr/>
              <a:tblGrid>
                <a:gridCol w="1382448"/>
                <a:gridCol w="1382448"/>
                <a:gridCol w="1382448"/>
                <a:gridCol w="1382448"/>
                <a:gridCol w="1382448"/>
                <a:gridCol w="1382448"/>
              </a:tblGrid>
              <a:tr h="304800">
                <a:tc>
                  <a:txBody>
                    <a:bodyPr/>
                    <a:lstStyle/>
                    <a:p>
                      <a:r>
                        <a:rPr lang="en-IN" sz="1400" dirty="0" err="1"/>
                        <a:t>Ssn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Ename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Alpha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Alpha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Beta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Alpha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Alpha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90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2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2.1  Functional Dependencies </a:t>
            </a:r>
            <a:endParaRPr dirty="0"/>
          </a:p>
        </p:txBody>
      </p:sp>
      <p:sp>
        <p:nvSpPr>
          <p:cNvPr id="229" name="Google Shape;229;p32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Functional dependencies (FDs)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Are used to specify </a:t>
            </a:r>
            <a:r>
              <a:rPr lang="en-US" sz="2600" b="0" i="1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measures</a:t>
            </a: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the "goodness" of relational designs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And keys are used to define </a:t>
            </a:r>
            <a:r>
              <a:rPr lang="en-US" sz="2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normal forms</a:t>
            </a: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for relations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lang="en-US" sz="2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</a:t>
            </a: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that are derived from the </a:t>
            </a:r>
            <a:r>
              <a:rPr lang="en-US" sz="2600" b="0" i="1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and </a:t>
            </a:r>
            <a:r>
              <a:rPr lang="en-US" sz="2600" b="0" i="1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interrelationships</a:t>
            </a: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of the data attributes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set of attributes X </a:t>
            </a:r>
            <a:r>
              <a:rPr lang="en-US" sz="28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functionally</a:t>
            </a: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determines</a:t>
            </a: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a set of attributes Y if the value of X determines a unique value for 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Keys: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Superkey</a:t>
            </a:r>
            <a:r>
              <a:rPr lang="en-US" dirty="0" smtClean="0"/>
              <a:t>:</a:t>
            </a:r>
          </a:p>
          <a:p>
            <a:r>
              <a:rPr lang="en-US" dirty="0" smtClean="0"/>
              <a:t>All possible combination of keys are called </a:t>
            </a:r>
            <a:r>
              <a:rPr lang="en-US" dirty="0" err="1" smtClean="0"/>
              <a:t>superkeys</a:t>
            </a:r>
            <a:r>
              <a:rPr lang="en-US" dirty="0" smtClean="0"/>
              <a:t>.</a:t>
            </a:r>
          </a:p>
          <a:p>
            <a:r>
              <a:rPr lang="en-US" dirty="0" smtClean="0"/>
              <a:t>Uniquely identify record.</a:t>
            </a:r>
          </a:p>
          <a:p>
            <a:r>
              <a:rPr lang="en-US" dirty="0" err="1" smtClean="0"/>
              <a:t>Superkey</a:t>
            </a:r>
            <a:r>
              <a:rPr lang="en-US" dirty="0" smtClean="0"/>
              <a:t> is a superset, we can derive other keys from </a:t>
            </a:r>
            <a:r>
              <a:rPr lang="en-US" dirty="0" err="1" smtClean="0"/>
              <a:t>superkey</a:t>
            </a:r>
            <a:r>
              <a:rPr lang="en-US" dirty="0" smtClean="0"/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8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101" y="1143000"/>
            <a:ext cx="8294687" cy="4572000"/>
          </a:xfrm>
        </p:spPr>
        <p:txBody>
          <a:bodyPr/>
          <a:lstStyle/>
          <a:p>
            <a:r>
              <a:rPr lang="en-US" dirty="0" smtClean="0"/>
              <a:t>{ID},</a:t>
            </a:r>
          </a:p>
          <a:p>
            <a:r>
              <a:rPr lang="en-US" dirty="0" smtClean="0"/>
              <a:t>{SSN},</a:t>
            </a:r>
          </a:p>
          <a:p>
            <a:r>
              <a:rPr lang="en-US" dirty="0" smtClean="0"/>
              <a:t>{</a:t>
            </a:r>
            <a:r>
              <a:rPr lang="en-US" dirty="0" err="1" smtClean="0"/>
              <a:t>ID,Name</a:t>
            </a:r>
            <a:r>
              <a:rPr lang="en-US" dirty="0" smtClean="0"/>
              <a:t>},{</a:t>
            </a:r>
            <a:r>
              <a:rPr lang="en-US" dirty="0" err="1" smtClean="0"/>
              <a:t>Name,SSN</a:t>
            </a:r>
            <a:r>
              <a:rPr lang="en-US" dirty="0" smtClean="0"/>
              <a:t>}</a:t>
            </a:r>
          </a:p>
          <a:p>
            <a:r>
              <a:rPr lang="en-US" dirty="0" smtClean="0"/>
              <a:t>{ID,SSN},{</a:t>
            </a:r>
            <a:r>
              <a:rPr lang="en-US" dirty="0" err="1" smtClean="0"/>
              <a:t>ID,phone</a:t>
            </a:r>
            <a:r>
              <a:rPr lang="en-US" dirty="0" smtClean="0"/>
              <a:t>},</a:t>
            </a:r>
          </a:p>
          <a:p>
            <a:r>
              <a:rPr lang="en-US" dirty="0" err="1" smtClean="0"/>
              <a:t>ID,email</a:t>
            </a:r>
            <a:endParaRPr lang="en-US" dirty="0" smtClean="0"/>
          </a:p>
          <a:p>
            <a:r>
              <a:rPr lang="en-US" dirty="0" err="1" smtClean="0"/>
              <a:t>Name,email</a:t>
            </a:r>
            <a:endParaRPr lang="en-US" dirty="0" smtClean="0"/>
          </a:p>
          <a:p>
            <a:r>
              <a:rPr lang="en-US" dirty="0" err="1" smtClean="0"/>
              <a:t>Name,ssn,email</a:t>
            </a:r>
            <a:endParaRPr lang="en-US" dirty="0"/>
          </a:p>
          <a:p>
            <a:r>
              <a:rPr lang="en-US" dirty="0" err="1" smtClean="0"/>
              <a:t>Id,SSN,Phone</a:t>
            </a:r>
            <a:endParaRPr lang="en-US" dirty="0" smtClean="0"/>
          </a:p>
          <a:p>
            <a:r>
              <a:rPr lang="en-US" dirty="0" smtClean="0"/>
              <a:t>{</a:t>
            </a:r>
            <a:r>
              <a:rPr lang="en-US" dirty="0" err="1" smtClean="0"/>
              <a:t>Name,Salary</a:t>
            </a:r>
            <a:r>
              <a:rPr lang="en-US" dirty="0" smtClean="0"/>
              <a:t>}</a:t>
            </a:r>
          </a:p>
          <a:p>
            <a:r>
              <a:rPr lang="en-US" b="1" dirty="0" smtClean="0"/>
              <a:t>Here, {</a:t>
            </a:r>
            <a:r>
              <a:rPr lang="en-US" b="1" dirty="0" err="1" smtClean="0"/>
              <a:t>Name,Salary</a:t>
            </a:r>
            <a:r>
              <a:rPr lang="en-US" b="1" dirty="0" smtClean="0"/>
              <a:t>} can’t become a </a:t>
            </a:r>
            <a:r>
              <a:rPr lang="en-US" b="1" dirty="0" err="1" smtClean="0"/>
              <a:t>superkey</a:t>
            </a:r>
            <a:r>
              <a:rPr lang="en-US" b="1" dirty="0" smtClean="0"/>
              <a:t>.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838" y="1233031"/>
            <a:ext cx="3790950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92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Candidate key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 smtClean="0"/>
              <a:t>Minimal set of </a:t>
            </a:r>
            <a:r>
              <a:rPr lang="en-US" sz="2400" dirty="0" err="1" smtClean="0"/>
              <a:t>superkey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From the following set of </a:t>
            </a:r>
            <a:r>
              <a:rPr lang="en-US" sz="2400" dirty="0" err="1" smtClean="0"/>
              <a:t>superkeys</a:t>
            </a:r>
            <a:r>
              <a:rPr lang="en-US" sz="2400" dirty="0" smtClean="0"/>
              <a:t>:</a:t>
            </a:r>
          </a:p>
          <a:p>
            <a:pPr marL="622935" lvl="1" indent="0">
              <a:buNone/>
            </a:pPr>
            <a:r>
              <a:rPr lang="en-US" sz="2200" dirty="0"/>
              <a:t>{ID},{SSN},{</a:t>
            </a:r>
            <a:r>
              <a:rPr lang="en-US" sz="2200" dirty="0" err="1"/>
              <a:t>ID,Name</a:t>
            </a:r>
            <a:r>
              <a:rPr lang="en-US" sz="2200" dirty="0"/>
              <a:t>},{</a:t>
            </a:r>
            <a:r>
              <a:rPr lang="en-US" sz="2200" dirty="0" err="1"/>
              <a:t>Name,SSN</a:t>
            </a:r>
            <a:r>
              <a:rPr lang="en-US" sz="2200" dirty="0"/>
              <a:t>},{ID,SSN},{</a:t>
            </a:r>
            <a:r>
              <a:rPr lang="en-US" sz="2200" dirty="0" err="1"/>
              <a:t>ID,phone</a:t>
            </a:r>
            <a:r>
              <a:rPr lang="en-US" sz="2200" dirty="0"/>
              <a:t>},</a:t>
            </a:r>
          </a:p>
          <a:p>
            <a:pPr marL="622935" lvl="1" indent="0">
              <a:buNone/>
            </a:pPr>
            <a:r>
              <a:rPr lang="en-US" sz="2200" dirty="0"/>
              <a:t>{</a:t>
            </a:r>
            <a:r>
              <a:rPr lang="en-US" sz="2200" dirty="0" err="1"/>
              <a:t>ID,email</a:t>
            </a:r>
            <a:r>
              <a:rPr lang="en-US" sz="2200" dirty="0"/>
              <a:t>},{</a:t>
            </a:r>
            <a:r>
              <a:rPr lang="en-US" sz="2200" dirty="0" err="1"/>
              <a:t>Name,email</a:t>
            </a:r>
            <a:r>
              <a:rPr lang="en-US" sz="2200" dirty="0"/>
              <a:t>},{</a:t>
            </a:r>
            <a:r>
              <a:rPr lang="en-US" sz="2200" dirty="0" err="1"/>
              <a:t>Name,ssn,email</a:t>
            </a:r>
            <a:r>
              <a:rPr lang="en-US" sz="2200" dirty="0"/>
              <a:t>},{</a:t>
            </a:r>
            <a:r>
              <a:rPr lang="en-US" sz="2200" dirty="0" err="1"/>
              <a:t>Id,SSN,Phone</a:t>
            </a:r>
            <a:r>
              <a:rPr lang="en-US" sz="2200" dirty="0"/>
              <a:t>},</a:t>
            </a:r>
          </a:p>
          <a:p>
            <a:pPr marL="622935" lvl="1" indent="0">
              <a:buNone/>
            </a:pPr>
            <a:r>
              <a:rPr lang="en-US" sz="2200" dirty="0"/>
              <a:t>{</a:t>
            </a:r>
            <a:r>
              <a:rPr lang="en-US" sz="2200" dirty="0" err="1"/>
              <a:t>Name,Salary</a:t>
            </a:r>
            <a:r>
              <a:rPr lang="en-US" sz="2200" dirty="0"/>
              <a:t>}</a:t>
            </a:r>
          </a:p>
          <a:p>
            <a:r>
              <a:rPr lang="en-US" dirty="0" smtClean="0"/>
              <a:t>We can select candidate key (minimal set)</a:t>
            </a:r>
          </a:p>
          <a:p>
            <a:r>
              <a:rPr lang="en-US" dirty="0" smtClean="0"/>
              <a:t>Such as,</a:t>
            </a:r>
          </a:p>
          <a:p>
            <a:r>
              <a:rPr lang="en-US" dirty="0" smtClean="0"/>
              <a:t>{ID} and {SSN} can be a separate candidate keys. </a:t>
            </a:r>
          </a:p>
          <a:p>
            <a:r>
              <a:rPr lang="en-US" dirty="0" smtClean="0"/>
              <a:t>{email}, {</a:t>
            </a:r>
            <a:r>
              <a:rPr lang="en-US" dirty="0" err="1" smtClean="0"/>
              <a:t>Name,Phone</a:t>
            </a:r>
            <a:r>
              <a:rPr lang="en-US" dirty="0" smtClean="0"/>
              <a:t>}</a:t>
            </a:r>
          </a:p>
          <a:p>
            <a:r>
              <a:rPr lang="en-US" dirty="0"/>
              <a:t>{</a:t>
            </a:r>
            <a:r>
              <a:rPr lang="en-US" dirty="0" err="1"/>
              <a:t>ID,Name</a:t>
            </a:r>
            <a:r>
              <a:rPr lang="en-US" dirty="0" smtClean="0"/>
              <a:t>} cant be candidate key, </a:t>
            </a:r>
            <a:r>
              <a:rPr lang="en-US" dirty="0" err="1" smtClean="0"/>
              <a:t>bcz</a:t>
            </a:r>
            <a:r>
              <a:rPr lang="en-US" dirty="0" smtClean="0"/>
              <a:t> ID is a part of another candidate key.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0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Primary key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Primary key should be unique and not null</a:t>
            </a:r>
          </a:p>
          <a:p>
            <a:r>
              <a:rPr lang="en-US" dirty="0" smtClean="0"/>
              <a:t>Example:</a:t>
            </a:r>
          </a:p>
          <a:p>
            <a:pPr marL="160020" indent="0">
              <a:buNone/>
            </a:pPr>
            <a:r>
              <a:rPr lang="en-US" dirty="0" smtClean="0"/>
              <a:t>Candidate keys in above examples are:</a:t>
            </a:r>
          </a:p>
          <a:p>
            <a:pPr marL="160020" indent="0">
              <a:buNone/>
            </a:pPr>
            <a:r>
              <a:rPr lang="en-US" dirty="0" smtClean="0"/>
              <a:t>{ID},{SSN},{Email},{</a:t>
            </a:r>
            <a:r>
              <a:rPr lang="en-US" dirty="0" err="1" smtClean="0"/>
              <a:t>Name,phone</a:t>
            </a:r>
            <a:r>
              <a:rPr lang="en-US" dirty="0" smtClean="0"/>
              <a:t>}</a:t>
            </a:r>
          </a:p>
          <a:p>
            <a:pPr marL="160020" indent="0">
              <a:buNone/>
            </a:pPr>
            <a:r>
              <a:rPr lang="en-US" dirty="0" smtClean="0"/>
              <a:t>Primary key is :{ID} or {SSN}</a:t>
            </a:r>
          </a:p>
          <a:p>
            <a:pPr marL="160020" indent="0">
              <a:buNone/>
            </a:pPr>
            <a:r>
              <a:rPr lang="en-US" dirty="0" smtClean="0"/>
              <a:t>Not both. </a:t>
            </a:r>
          </a:p>
          <a:p>
            <a:pPr marL="160020" indent="0">
              <a:buNone/>
            </a:pPr>
            <a:r>
              <a:rPr lang="en-US" dirty="0" smtClean="0"/>
              <a:t>{ID} is preferred.</a:t>
            </a:r>
          </a:p>
          <a:p>
            <a:pPr marL="16002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7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 smtClean="0"/>
              <a:t>Alternate Keys </a:t>
            </a:r>
            <a:endParaRPr dirty="0"/>
          </a:p>
        </p:txBody>
      </p:sp>
      <p:sp>
        <p:nvSpPr>
          <p:cNvPr id="214" name="Google Shape;214;p20"/>
          <p:cNvSpPr txBox="1">
            <a:spLocks noGrp="1"/>
          </p:cNvSpPr>
          <p:nvPr>
            <p:ph type="body" idx="1"/>
          </p:nvPr>
        </p:nvSpPr>
        <p:spPr>
          <a:xfrm>
            <a:off x="628650" y="1690688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 smtClean="0"/>
              <a:t>The candidate key other than primary key are called alternate keys.</a:t>
            </a:r>
            <a:endParaRPr dirty="0"/>
          </a:p>
        </p:txBody>
      </p:sp>
      <p:pic>
        <p:nvPicPr>
          <p:cNvPr id="6" name="Google Shape;222;p21" descr="DBMS Key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9698" y="2964958"/>
            <a:ext cx="3867994" cy="18394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418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Unique key &amp; Composite key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 should contain unique values, but accept NULL values.</a:t>
            </a:r>
          </a:p>
          <a:p>
            <a:r>
              <a:rPr lang="en-US" dirty="0" smtClean="0"/>
              <a:t>Example:</a:t>
            </a:r>
          </a:p>
          <a:p>
            <a:r>
              <a:rPr lang="en-US" dirty="0" smtClean="0"/>
              <a:t>{</a:t>
            </a:r>
            <a:r>
              <a:rPr lang="en-US" dirty="0" err="1" smtClean="0"/>
              <a:t>Name,Phone</a:t>
            </a:r>
            <a:r>
              <a:rPr lang="en-US" dirty="0" smtClean="0"/>
              <a:t>} and {email} can be a unique keys.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Composite key:</a:t>
            </a:r>
          </a:p>
          <a:p>
            <a:r>
              <a:rPr lang="en-US" dirty="0"/>
              <a:t>Combination of Two or More attribute</a:t>
            </a:r>
            <a:endParaRPr lang="en-IN" dirty="0"/>
          </a:p>
          <a:p>
            <a:r>
              <a:rPr lang="en-US" dirty="0" smtClean="0"/>
              <a:t>Example:</a:t>
            </a:r>
          </a:p>
          <a:p>
            <a:r>
              <a:rPr lang="en-US" dirty="0"/>
              <a:t>{</a:t>
            </a:r>
            <a:r>
              <a:rPr lang="en-US" dirty="0" err="1"/>
              <a:t>Name,Phone</a:t>
            </a:r>
            <a:r>
              <a:rPr lang="en-US" dirty="0" smtClean="0"/>
              <a:t>}</a:t>
            </a:r>
          </a:p>
          <a:p>
            <a:r>
              <a:rPr lang="en-US" dirty="0" smtClean="0"/>
              <a:t>{</a:t>
            </a:r>
            <a:r>
              <a:rPr lang="en-US" dirty="0" err="1" smtClean="0"/>
              <a:t>ID,Phone</a:t>
            </a:r>
            <a:r>
              <a:rPr lang="en-US" dirty="0" smtClean="0"/>
              <a:t>}</a:t>
            </a:r>
          </a:p>
          <a:p>
            <a:r>
              <a:rPr lang="en-US" dirty="0" smtClean="0"/>
              <a:t>{</a:t>
            </a:r>
            <a:r>
              <a:rPr lang="en-US" dirty="0" err="1" smtClean="0"/>
              <a:t>ID,Name</a:t>
            </a:r>
            <a:r>
              <a:rPr lang="en-US" dirty="0" smtClean="0"/>
              <a:t>}.. etc.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3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Foreign key</a:t>
            </a:r>
            <a:endParaRPr lang="en-IN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A foreign key in DBMS </a:t>
            </a:r>
            <a:r>
              <a:rPr lang="en-US" sz="2400" dirty="0" smtClean="0"/>
              <a:t>is </a:t>
            </a:r>
            <a:r>
              <a:rPr lang="en-US" sz="2400" dirty="0"/>
              <a:t>a field that establishes and maintains a link between two separate tables.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acts as a constraint ensuring data and referential integrity within relational databases. </a:t>
            </a:r>
            <a:endParaRPr lang="en-US" sz="2400" dirty="0" smtClean="0"/>
          </a:p>
          <a:p>
            <a:r>
              <a:rPr lang="en-US" sz="2400" dirty="0" smtClean="0"/>
              <a:t>Using </a:t>
            </a:r>
            <a:r>
              <a:rPr lang="en-US" sz="2400" dirty="0"/>
              <a:t>foreign keys ensures that the data stored in different tables are consistent, helping maintain the relationship between the two tables while preventing any unauthorized modifications.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addition, they can also be used to create connections among multiple entities to organize information for better retrieval from the database. </a:t>
            </a:r>
            <a:endParaRPr lang="en-IN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5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871" y="1487466"/>
            <a:ext cx="8294687" cy="4572000"/>
          </a:xfrm>
        </p:spPr>
        <p:txBody>
          <a:bodyPr/>
          <a:lstStyle/>
          <a:p>
            <a:r>
              <a:rPr lang="en-US" sz="2000" dirty="0"/>
              <a:t>This foreign key relationship ensures referential integrity between the two tables. </a:t>
            </a:r>
            <a:endParaRPr lang="en-US" sz="2000" dirty="0" smtClean="0"/>
          </a:p>
          <a:p>
            <a:r>
              <a:rPr lang="en-US" sz="2000" dirty="0" smtClean="0"/>
              <a:t>It </a:t>
            </a:r>
            <a:r>
              <a:rPr lang="en-US" sz="2000" dirty="0"/>
              <a:t>means that every value in the </a:t>
            </a:r>
            <a:r>
              <a:rPr lang="en-US" sz="2000" dirty="0" err="1" smtClean="0"/>
              <a:t>Stud_id</a:t>
            </a:r>
            <a:r>
              <a:rPr lang="en-US" sz="2000" dirty="0" smtClean="0"/>
              <a:t> </a:t>
            </a:r>
            <a:r>
              <a:rPr lang="en-US" sz="2000" dirty="0"/>
              <a:t>column of the </a:t>
            </a:r>
            <a:r>
              <a:rPr lang="en-US" sz="2000" dirty="0" smtClean="0"/>
              <a:t>Department </a:t>
            </a:r>
            <a:r>
              <a:rPr lang="en-US" sz="2000" dirty="0"/>
              <a:t>table must correspond to a valid </a:t>
            </a:r>
            <a:r>
              <a:rPr lang="en-US" sz="2000" dirty="0" err="1" smtClean="0"/>
              <a:t>Stud_id</a:t>
            </a:r>
            <a:r>
              <a:rPr lang="en-US" sz="2000" dirty="0" smtClean="0"/>
              <a:t> </a:t>
            </a:r>
            <a:r>
              <a:rPr lang="en-US" sz="2000" dirty="0"/>
              <a:t>in the </a:t>
            </a:r>
            <a:r>
              <a:rPr lang="en-US" sz="2000" dirty="0" smtClean="0"/>
              <a:t>Student </a:t>
            </a:r>
            <a:r>
              <a:rPr lang="en-US" sz="2000" dirty="0"/>
              <a:t>table.</a:t>
            </a:r>
          </a:p>
          <a:p>
            <a:r>
              <a:rPr lang="en-US" sz="2000" dirty="0"/>
              <a:t>For example, you can't insert a record into the </a:t>
            </a:r>
            <a:r>
              <a:rPr lang="en-US" sz="2000" dirty="0" smtClean="0"/>
              <a:t>Department </a:t>
            </a:r>
            <a:r>
              <a:rPr lang="en-US" sz="2000" dirty="0"/>
              <a:t>table with a </a:t>
            </a:r>
            <a:r>
              <a:rPr lang="en-US" sz="2000" dirty="0" err="1" smtClean="0"/>
              <a:t>Stud_id</a:t>
            </a:r>
            <a:r>
              <a:rPr lang="en-US" sz="2000" dirty="0" smtClean="0"/>
              <a:t> </a:t>
            </a:r>
            <a:r>
              <a:rPr lang="en-US" sz="2000" dirty="0"/>
              <a:t>that doesn't exist in the S</a:t>
            </a:r>
            <a:r>
              <a:rPr lang="en-US" sz="2000" dirty="0" smtClean="0"/>
              <a:t>tudent </a:t>
            </a:r>
            <a:r>
              <a:rPr lang="en-US" sz="2000" dirty="0"/>
              <a:t>table. This </a:t>
            </a:r>
            <a:r>
              <a:rPr lang="en-US" sz="2000" dirty="0" smtClean="0"/>
              <a:t>helps to </a:t>
            </a:r>
            <a:r>
              <a:rPr lang="en-US" sz="2000" dirty="0"/>
              <a:t>maintain consistency </a:t>
            </a:r>
          </a:p>
          <a:p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pic>
        <p:nvPicPr>
          <p:cNvPr id="1026" name="Picture 2" descr="Foreign Key in DB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769" y="3959381"/>
            <a:ext cx="7362216" cy="230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44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Proper subset: </a:t>
            </a:r>
            <a:endParaRPr/>
          </a:p>
        </p:txBody>
      </p:sp>
      <p:sp>
        <p:nvSpPr>
          <p:cNvPr id="246" name="Google Shape;246;p2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A proper subset of a set A is a subset of A that is not equal to A.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In other words, if B is a proper subset of A, then all elements of B are in A but A contains at least one element that is not in B.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if A={1,3,5} then B={1,5} is a proper subset of A.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The set C={1,3,5} is a subset of A, but it is not a proper subset of A since C=A.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Example: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Let us consider in relation R(A,B,C,D),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If {A,B,C} is a super key, then proper subset of this super key are: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{A},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{B}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{C}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{A,B}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{A,C}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{B,C}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119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Functional Dependencies (2)</a:t>
            </a:r>
            <a:endParaRPr/>
          </a:p>
        </p:txBody>
      </p:sp>
      <p:sp>
        <p:nvSpPr>
          <p:cNvPr id="237" name="Google Shape;237;p33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-&gt; Y holds if whenever two tuples have the same value for X, they </a:t>
            </a:r>
            <a:r>
              <a:rPr lang="en-US" sz="24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must have </a:t>
            </a: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same value for 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any two tuples t1 and t2 in any relation instance r(R): If  t1[X]=t2[X], </a:t>
            </a:r>
            <a:r>
              <a:rPr lang="en-US" sz="2200" b="0" i="1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t1[Y]=t2[Y]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-&gt; Y in R specifies a </a:t>
            </a:r>
            <a:r>
              <a:rPr lang="en-US" sz="24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constraint</a:t>
            </a: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on all relation instances r(R)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Written as X -&gt; Y; can be displayed graphically on a relation schema as in Figures.  ( denoted by the arrow:  ).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FDs are derived from the real-world constraints on the attributes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4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Examples of FD constraints (1) </a:t>
            </a:r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Social security number determines employee name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SSN -&gt; ENAME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Project number determines project name and location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PNUMBER -&gt; {PNAME, PLOCATION}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Employee ssn and project number determines the hours per week that the employee works on the project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{SSN, PNUMBER} -&gt; HOURS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5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Examples of FD constraints (2)</a:t>
            </a:r>
            <a:endParaRPr/>
          </a:p>
        </p:txBody>
      </p:sp>
      <p:sp>
        <p:nvSpPr>
          <p:cNvPr id="253" name="Google Shape;253;p35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FD is a property of the attributes in the schema R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constraint must hold on </a:t>
            </a:r>
            <a:r>
              <a:rPr lang="en-US" sz="28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every</a:t>
            </a: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relation instance r(R)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K is a key of R, then K functionally determines all attributes in R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(since we never have two distinct tuples with t1[K]=t2[K])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Inter"/>
              <a:buNone/>
            </a:pPr>
            <a:r>
              <a:rPr lang="en-IN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functional dependency</a:t>
            </a:r>
            <a:endParaRPr/>
          </a:p>
        </p:txBody>
      </p:sp>
      <p:sp>
        <p:nvSpPr>
          <p:cNvPr id="252" name="Google Shape;252;p25"/>
          <p:cNvSpPr txBox="1">
            <a:spLocks noGrp="1"/>
          </p:cNvSpPr>
          <p:nvPr>
            <p:ph type="body" idx="1"/>
          </p:nvPr>
        </p:nvSpPr>
        <p:spPr>
          <a:xfrm>
            <a:off x="628650" y="1825624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IN" b="0" i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The functional dependency is a relationship that exists between two attributes, 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where one set can accurately determine the value of other sets.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It is denoted as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X → Y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where X is a set of attributes that is capable of determining the value of Y.</a:t>
            </a:r>
            <a:endParaRPr>
              <a:solidFill>
                <a:srgbClr val="27323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X 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is called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Determinant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while on the right side,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Y 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is called the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Dependent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253" name="Google Shape;25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2910" y="5348614"/>
            <a:ext cx="2263704" cy="1282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233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Example </a:t>
            </a:r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IN" b="0" i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Assume we have an employee table with attributes: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2400"/>
              <a:buChar char="•"/>
            </a:pPr>
            <a:r>
              <a:rPr lang="en-IN" b="0" i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Emp_Id, Emp_Name, Emp_Address.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IN" b="0" i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Here Emp_Id attribute can uniquely identify the Emp_Name attribute of employee table because if we know the Emp_Id, we can tell that employee name associated with it.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IN" b="0" i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Functional dependency can be written as: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IN" b="0" i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Emp_Id → Emp_Name  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en-IN" b="0" i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We can say that Emp_Name is functionally dependent on Emp_Id.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6654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Example </a:t>
            </a:r>
            <a:endParaRPr/>
          </a:p>
        </p:txBody>
      </p:sp>
      <p:sp>
        <p:nvSpPr>
          <p:cNvPr id="322" name="Google Shape;322;p3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FD:  X   -&gt;  Y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FD:  if  t1.X = t2.X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        then </a:t>
            </a:r>
            <a:r>
              <a:rPr lang="en-IN" dirty="0" smtClean="0"/>
              <a:t>t1.Y </a:t>
            </a:r>
            <a:r>
              <a:rPr lang="en-IN" dirty="0"/>
              <a:t>= t2.Y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Here,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if  t1.x= 1   t2.x = 2    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23" name="Google Shape;323;p35"/>
          <p:cNvSpPr txBox="1">
            <a:spLocks noGrp="1"/>
          </p:cNvSpPr>
          <p:nvPr>
            <p:ph type="body" idx="2"/>
          </p:nvPr>
        </p:nvSpPr>
        <p:spPr>
          <a:xfrm>
            <a:off x="4514850" y="1325217"/>
            <a:ext cx="4000500" cy="4851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In this example,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if  t1.x= 2         t2.x = 2  true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Then t1.Y=1     t2.Y =5   false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324" name="Google Shape;32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0232" y="2143116"/>
            <a:ext cx="964413" cy="161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6387" y="2043479"/>
            <a:ext cx="1128713" cy="1809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287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>
            <a:spLocks noGrp="1"/>
          </p:cNvSpPr>
          <p:nvPr>
            <p:ph type="body" idx="1"/>
          </p:nvPr>
        </p:nvSpPr>
        <p:spPr>
          <a:xfrm>
            <a:off x="407505" y="781878"/>
            <a:ext cx="3011557" cy="553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Consider the following table:</a:t>
            </a:r>
            <a:endParaRPr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RNO  -&gt; Name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Name -&gt; RNO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FD doesn’t exist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RNO -&gt; Marks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FD exist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Name –Marks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FD exist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Dept -&gt; Course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FD doesn’t exist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Marks  -&gt; Dept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FD doesn’t exist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{RNO, Name} -&gt; Marks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FD  exist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{Name,  Marks} -&gt;  Dept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FD doesn’t exist</a:t>
            </a:r>
            <a:endParaRPr/>
          </a:p>
        </p:txBody>
      </p:sp>
      <p:pic>
        <p:nvPicPr>
          <p:cNvPr id="331" name="Google Shape;33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3676" y="1146238"/>
            <a:ext cx="4579792" cy="22827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75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3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3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6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2.2 Inference Rules for FDs (1) </a:t>
            </a:r>
            <a:endParaRPr/>
          </a:p>
        </p:txBody>
      </p:sp>
      <p:sp>
        <p:nvSpPr>
          <p:cNvPr id="261" name="Google Shape;261;p36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Given a set of FDs F, we can </a:t>
            </a:r>
            <a:r>
              <a:rPr lang="en-US" sz="2400" b="1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infer</a:t>
            </a:r>
            <a:r>
              <a:rPr lang="en-US" sz="24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additional FDs that hold whenever the FDs in F hold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Armstrong's inference rules: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IR1. (</a:t>
            </a:r>
            <a:r>
              <a:rPr lang="en-US" sz="2200" b="1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Reflexive</a:t>
            </a: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 If Y </a:t>
            </a:r>
            <a:r>
              <a:rPr lang="en-US" sz="2200" b="0" i="1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subset-of</a:t>
            </a: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X, then X -&gt; </a:t>
            </a:r>
            <a:r>
              <a:rPr lang="en-US" sz="2200" b="0" i="0" u="none" dirty="0" smtClean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None/>
            </a:pPr>
            <a:r>
              <a:rPr lang="en-US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</a:t>
            </a:r>
            <a:r>
              <a:rPr lang="en-US" sz="2000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X </a:t>
            </a:r>
            <a:r>
              <a:rPr lang="en-US" sz="200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⊆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Y then X  →  Y  </a:t>
            </a:r>
            <a:endParaRPr lang="en-US" sz="2000" dirty="0"/>
          </a:p>
          <a:p>
            <a:pPr marL="685800" lvl="1" indent="-228600" algn="just">
              <a:lnSpc>
                <a:spcPct val="90000"/>
              </a:lnSpc>
              <a:spcBef>
                <a:spcPts val="1000"/>
              </a:spcBef>
              <a:buClr>
                <a:srgbClr val="333333"/>
              </a:buClr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endParaRPr lang="en-US" sz="2000" dirty="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None/>
            </a:pP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2000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{</a:t>
            </a:r>
            <a:r>
              <a:rPr lang="en-US" sz="20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Rno,Name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} -&gt; Name </a:t>
            </a:r>
            <a:endParaRPr lang="en-US" sz="2000" dirty="0"/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None/>
            </a:pP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2000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Here 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name is a subset of {</a:t>
            </a:r>
            <a:r>
              <a:rPr lang="en-US" sz="20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rno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name}</a:t>
            </a:r>
          </a:p>
          <a:p>
            <a:pPr marL="457200" lvl="1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None/>
            </a:pP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IR2. (</a:t>
            </a:r>
            <a:r>
              <a:rPr lang="en-US" sz="2200" b="1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Augmentation</a:t>
            </a: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 If X -&gt; Y, then XZ -&gt; YZ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lang="en-US" sz="20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(Notation: XZ stands for X U Z</a:t>
            </a:r>
            <a:r>
              <a:rPr lang="en-US" sz="2000" b="0" i="0" u="none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lnSpc>
                <a:spcPct val="90000"/>
              </a:lnSpc>
              <a:spcBef>
                <a:spcPts val="440"/>
              </a:spcBef>
              <a:buSzPts val="1210"/>
            </a:pPr>
            <a:r>
              <a:rPr lang="en-US" sz="2200" dirty="0"/>
              <a:t>IR3. (</a:t>
            </a:r>
            <a:r>
              <a:rPr lang="en-US" sz="2200" b="1" dirty="0"/>
              <a:t>Transitive</a:t>
            </a:r>
            <a:r>
              <a:rPr lang="en-US" sz="2200" dirty="0"/>
              <a:t>) If X -&gt; Y and Y -&gt; Z, then X -&gt; Z</a:t>
            </a:r>
            <a:endParaRPr lang="en-US" dirty="0"/>
          </a:p>
          <a:p>
            <a:pPr marL="342900" lvl="0" indent="-342900">
              <a:lnSpc>
                <a:spcPct val="90000"/>
              </a:lnSpc>
              <a:spcBef>
                <a:spcPts val="480"/>
              </a:spcBef>
              <a:buSzPts val="1440"/>
            </a:pPr>
            <a:endParaRPr lang="en-US" sz="2400" dirty="0" smtClean="0"/>
          </a:p>
          <a:p>
            <a:pPr marL="342900" lvl="0" indent="-342900">
              <a:lnSpc>
                <a:spcPct val="90000"/>
              </a:lnSpc>
              <a:spcBef>
                <a:spcPts val="480"/>
              </a:spcBef>
              <a:buSzPts val="1440"/>
            </a:pPr>
            <a:r>
              <a:rPr lang="en-US" sz="2400" dirty="0" smtClean="0"/>
              <a:t>IR1</a:t>
            </a:r>
            <a:r>
              <a:rPr lang="en-US" sz="2400" dirty="0"/>
              <a:t>, IR2, IR3 form a </a:t>
            </a:r>
            <a:r>
              <a:rPr lang="en-US" sz="2400" b="1" dirty="0"/>
              <a:t>sound</a:t>
            </a:r>
            <a:r>
              <a:rPr lang="en-US" sz="2400" dirty="0"/>
              <a:t> and </a:t>
            </a:r>
            <a:r>
              <a:rPr lang="en-US" sz="2400" b="1" dirty="0"/>
              <a:t>complete</a:t>
            </a:r>
            <a:r>
              <a:rPr lang="en-US" sz="2400" dirty="0"/>
              <a:t> set of inference rules</a:t>
            </a:r>
            <a:endParaRPr lang="en-US" dirty="0"/>
          </a:p>
          <a:p>
            <a:pPr marL="742950" lvl="1" indent="-285750">
              <a:lnSpc>
                <a:spcPct val="90000"/>
              </a:lnSpc>
              <a:spcBef>
                <a:spcPts val="440"/>
              </a:spcBef>
              <a:buSzPts val="1210"/>
            </a:pPr>
            <a:r>
              <a:rPr lang="en-US" sz="2200" dirty="0"/>
              <a:t>These are rules hold and all other rules that hold can be deduced from these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9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7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Inference Rules for FDs (2)</a:t>
            </a:r>
            <a:endParaRPr/>
          </a:p>
        </p:txBody>
      </p:sp>
      <p:sp>
        <p:nvSpPr>
          <p:cNvPr id="269" name="Google Shape;269;p37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 additional inference rules that are useful: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1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Decomposition:</a:t>
            </a:r>
            <a:r>
              <a:rPr lang="en-US" sz="26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If X -&gt; YZ, then X -&gt; Y and X -&gt; Z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1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Union:</a:t>
            </a:r>
            <a:r>
              <a:rPr lang="en-US" sz="26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If X -&gt; Y and X -&gt; Z, then X -&gt; YZ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1" i="0" u="none" dirty="0" err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Psuedotransitivity</a:t>
            </a:r>
            <a:r>
              <a:rPr lang="en-US" sz="2600" b="1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6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If X -&gt; Y and WY -&gt; Z, then WX -&gt; Z</a:t>
            </a:r>
            <a:endParaRPr dirty="0"/>
          </a:p>
          <a:p>
            <a:pPr marL="342900" lvl="0" indent="-23622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endParaRPr sz="2800" b="0" i="0" u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last three inference rules, as well as any other inference rules, can be deduced from IR1, IR2, and IR3 (completeness property)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Inference Rules for FDs (3)</a:t>
            </a:r>
            <a:endParaRPr/>
          </a:p>
        </p:txBody>
      </p:sp>
      <p:sp>
        <p:nvSpPr>
          <p:cNvPr id="277" name="Google Shape;277;p38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Closure</a:t>
            </a: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a set F of FDs is the set F</a:t>
            </a:r>
            <a:r>
              <a:rPr lang="en-US" sz="2800" b="0" i="0" u="none" baseline="30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all FDs that can be inferred from F</a:t>
            </a:r>
            <a:endParaRPr/>
          </a:p>
          <a:p>
            <a:pPr marL="342900" lvl="0" indent="-23622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endParaRPr sz="2800" b="0" i="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Closure</a:t>
            </a: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a set of attributes X with respect to F is the set X</a:t>
            </a:r>
            <a:r>
              <a:rPr lang="en-US" sz="2800" b="0" i="0" u="none" baseline="30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all attributes that are functionally determined by X</a:t>
            </a:r>
            <a:endParaRPr/>
          </a:p>
          <a:p>
            <a:pPr marL="342900" lvl="0" indent="-23622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endParaRPr sz="2800" b="0" i="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800" b="0" i="0" u="none" baseline="30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can be calculated by repeatedly applying IR1, IR2, IR3 using the FDs in F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Arial"/>
              <a:buNone/>
            </a:pPr>
            <a:r>
              <a:rPr lang="en-IN" b="1" i="0" u="sng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Types of Functional dependencies</a:t>
            </a:r>
            <a:endParaRPr/>
          </a:p>
        </p:txBody>
      </p:sp>
      <p:sp>
        <p:nvSpPr>
          <p:cNvPr id="265" name="Google Shape;265;p2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 algn="l" rtl="0"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arabicPeriod"/>
            </a:pPr>
            <a:r>
              <a:rPr lang="en-IN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Full dependency</a:t>
            </a:r>
            <a:endParaRPr/>
          </a:p>
          <a:p>
            <a:pPr marL="228600" lvl="0" indent="-292100" algn="l" rtl="0"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arabicPeriod"/>
            </a:pPr>
            <a:r>
              <a:rPr lang="en-IN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Partial dependancy</a:t>
            </a:r>
            <a:endParaRPr>
              <a:solidFill>
                <a:srgbClr val="27323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arabicPeriod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Trivial functional dependency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arabicPeriod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Non-Trivial functional dependency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arabicPeriod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Multivalued functional dependency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arabicPeriod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Transitive functional dependency</a:t>
            </a:r>
            <a:endParaRPr b="0" i="0">
              <a:solidFill>
                <a:srgbClr val="27323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111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Fully functional dependency</a:t>
            </a:r>
            <a:endParaRPr/>
          </a:p>
        </p:txBody>
      </p:sp>
      <p:sp>
        <p:nvSpPr>
          <p:cNvPr id="271" name="Google Shape;271;p28"/>
          <p:cNvSpPr txBox="1">
            <a:spLocks noGrp="1"/>
          </p:cNvSpPr>
          <p:nvPr>
            <p:ph type="body" idx="1"/>
          </p:nvPr>
        </p:nvSpPr>
        <p:spPr>
          <a:xfrm>
            <a:off x="629562" y="1629196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An attribute is fully functional dependent on X and if Y is FD on X but not FD on any proper subset of X.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 smtClean="0"/>
              <a:t>Here, </a:t>
            </a:r>
            <a:r>
              <a:rPr lang="en-US" dirty="0" err="1" smtClean="0"/>
              <a:t>Eid</a:t>
            </a:r>
            <a:r>
              <a:rPr lang="en-US" dirty="0" smtClean="0"/>
              <a:t> -&gt; </a:t>
            </a:r>
            <a:r>
              <a:rPr lang="en-US" dirty="0" err="1" smtClean="0"/>
              <a:t>Dept</a:t>
            </a:r>
            <a:r>
              <a:rPr lang="en-US" dirty="0" smtClean="0"/>
              <a:t> and </a:t>
            </a:r>
            <a:r>
              <a:rPr lang="en-US" dirty="0" err="1" smtClean="0"/>
              <a:t>E_name</a:t>
            </a:r>
            <a:r>
              <a:rPr lang="en-US" dirty="0" smtClean="0"/>
              <a:t> -&gt;</a:t>
            </a:r>
            <a:r>
              <a:rPr lang="en-US" dirty="0" err="1" smtClean="0"/>
              <a:t>Dept</a:t>
            </a:r>
            <a:r>
              <a:rPr lang="en-US" dirty="0" smtClean="0"/>
              <a:t>, these 2 functional dependencies doesn’t exist.</a:t>
            </a:r>
          </a:p>
          <a:p>
            <a:endParaRPr lang="en-US" dirty="0"/>
          </a:p>
          <a:p>
            <a:r>
              <a:rPr lang="en-US" dirty="0" smtClean="0"/>
              <a:t>Hence , </a:t>
            </a:r>
          </a:p>
          <a:p>
            <a:r>
              <a:rPr lang="en-US" dirty="0" err="1" smtClean="0"/>
              <a:t>Dept</a:t>
            </a:r>
            <a:r>
              <a:rPr lang="en-US" dirty="0" smtClean="0"/>
              <a:t> is completely depend on {</a:t>
            </a:r>
            <a:r>
              <a:rPr lang="en-US" dirty="0" err="1" smtClean="0"/>
              <a:t>Eid,Ename</a:t>
            </a:r>
            <a:r>
              <a:rPr lang="en-US" dirty="0" smtClean="0"/>
              <a:t>}.</a:t>
            </a:r>
            <a:endParaRPr lang="en-IN" dirty="0"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046" y="3757808"/>
            <a:ext cx="1778944" cy="168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6156" y="5636712"/>
            <a:ext cx="2127861" cy="6382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199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>
            <a:spLocks noGrp="1"/>
          </p:cNvSpPr>
          <p:nvPr>
            <p:ph type="title"/>
          </p:nvPr>
        </p:nvSpPr>
        <p:spPr>
          <a:xfrm>
            <a:off x="629562" y="33265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 smtClean="0"/>
              <a:t>Partial functional </a:t>
            </a:r>
            <a:r>
              <a:rPr lang="en-IN" dirty="0"/>
              <a:t>dependency</a:t>
            </a:r>
            <a:endParaRPr dirty="0"/>
          </a:p>
        </p:txBody>
      </p:sp>
      <p:sp>
        <p:nvSpPr>
          <p:cNvPr id="271" name="Google Shape;271;p28"/>
          <p:cNvSpPr txBox="1">
            <a:spLocks noGrp="1"/>
          </p:cNvSpPr>
          <p:nvPr>
            <p:ph type="body" idx="1"/>
          </p:nvPr>
        </p:nvSpPr>
        <p:spPr>
          <a:xfrm>
            <a:off x="629562" y="1700808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An attribute is fully functional dependent on X and if Y is FD on X but not FD on any proper subset of X.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Here, </a:t>
            </a:r>
            <a:r>
              <a:rPr lang="en-US" dirty="0" err="1"/>
              <a:t>Eid</a:t>
            </a:r>
            <a:r>
              <a:rPr lang="en-US" dirty="0"/>
              <a:t> -&gt; </a:t>
            </a:r>
            <a:r>
              <a:rPr lang="en-US" dirty="0" err="1"/>
              <a:t>Dept</a:t>
            </a:r>
            <a:r>
              <a:rPr lang="en-US" dirty="0"/>
              <a:t> and </a:t>
            </a:r>
            <a:r>
              <a:rPr lang="en-US" dirty="0" err="1"/>
              <a:t>E_name</a:t>
            </a:r>
            <a:r>
              <a:rPr lang="en-US" dirty="0"/>
              <a:t> -&gt;</a:t>
            </a:r>
            <a:r>
              <a:rPr lang="en-US" dirty="0" err="1"/>
              <a:t>Dept</a:t>
            </a:r>
            <a:r>
              <a:rPr lang="en-US" dirty="0"/>
              <a:t>, these 2 functional </a:t>
            </a:r>
            <a:r>
              <a:rPr lang="en-US" dirty="0" smtClean="0"/>
              <a:t>dependencies exist (individually).</a:t>
            </a:r>
            <a:endParaRPr lang="en-US" dirty="0"/>
          </a:p>
          <a:p>
            <a:r>
              <a:rPr lang="en-US" dirty="0" smtClean="0"/>
              <a:t>That means either </a:t>
            </a:r>
            <a:r>
              <a:rPr lang="en-US" dirty="0" err="1" smtClean="0"/>
              <a:t>Eid</a:t>
            </a:r>
            <a:r>
              <a:rPr lang="en-US" dirty="0" smtClean="0"/>
              <a:t> or </a:t>
            </a:r>
            <a:r>
              <a:rPr lang="en-US" dirty="0" err="1" smtClean="0"/>
              <a:t>Ename</a:t>
            </a:r>
            <a:r>
              <a:rPr lang="en-US" dirty="0" smtClean="0"/>
              <a:t> can determine Dept.</a:t>
            </a:r>
            <a:endParaRPr lang="en-US" dirty="0"/>
          </a:p>
          <a:p>
            <a:r>
              <a:rPr lang="en-US" dirty="0"/>
              <a:t>Hence , </a:t>
            </a:r>
          </a:p>
          <a:p>
            <a:r>
              <a:rPr lang="en-US" dirty="0" err="1"/>
              <a:t>Dept</a:t>
            </a:r>
            <a:r>
              <a:rPr lang="en-US" dirty="0"/>
              <a:t> is </a:t>
            </a:r>
            <a:r>
              <a:rPr lang="en-US" dirty="0" smtClean="0"/>
              <a:t>partially </a:t>
            </a:r>
            <a:r>
              <a:rPr lang="en-US" dirty="0"/>
              <a:t>depend on {</a:t>
            </a:r>
            <a:r>
              <a:rPr lang="en-US" dirty="0" err="1"/>
              <a:t>Eid,Ename</a:t>
            </a:r>
            <a:r>
              <a:rPr lang="en-US" dirty="0"/>
              <a:t>}.</a:t>
            </a:r>
            <a:endParaRPr lang="en-IN" dirty="0"/>
          </a:p>
          <a:p>
            <a:endParaRPr lang="en-IN" dirty="0"/>
          </a:p>
        </p:txBody>
      </p:sp>
      <p:pic>
        <p:nvPicPr>
          <p:cNvPr id="272" name="Google Shape;27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9652" y="4005406"/>
            <a:ext cx="20574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5254" y="5616059"/>
            <a:ext cx="2078831" cy="904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584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Arial"/>
              <a:buNone/>
            </a:pP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Trivial Functional Dependency: </a:t>
            </a:r>
            <a:endParaRPr/>
          </a:p>
        </p:txBody>
      </p:sp>
      <p:sp>
        <p:nvSpPr>
          <p:cNvPr id="283" name="Google Shape;283;p2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 , a dependent is always a subset of the determinant.</a:t>
            </a:r>
            <a:r>
              <a:rPr lang="en-IN"/>
              <a:t/>
            </a:r>
            <a:br>
              <a:rPr lang="en-IN"/>
            </a:b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i.e. If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X → Y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and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Y is the subset of X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then it is called trivial functional dependency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For example,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Here,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{roll_no, name} → name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 a trivial functional dependency, since the dependent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 a subset of determinant set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{roll_no, name}</a:t>
            </a:r>
            <a:r>
              <a:rPr lang="en-IN"/>
              <a:t/>
            </a:r>
            <a:br>
              <a:rPr lang="en-IN"/>
            </a:b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Similarly,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roll_no → roll_no 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is also an example of trivial functional dependency. </a:t>
            </a:r>
            <a:endParaRPr/>
          </a:p>
        </p:txBody>
      </p:sp>
      <p:pic>
        <p:nvPicPr>
          <p:cNvPr id="284" name="Google Shape;28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1574" y="5261114"/>
            <a:ext cx="968202" cy="13798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810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Arial"/>
              <a:buNone/>
            </a:pP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Non-trivial</a:t>
            </a:r>
            <a:r>
              <a:rPr lang="en-IN" b="1" i="0" u="sng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Functional</a:t>
            </a:r>
            <a:r>
              <a:rPr lang="en-IN" b="1" i="0" u="sng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Dependency</a:t>
            </a:r>
            <a:endParaRPr/>
          </a:p>
        </p:txBody>
      </p:sp>
      <p:sp>
        <p:nvSpPr>
          <p:cNvPr id="290" name="Google Shape;290;p3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Non-trivial functional dependency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the dependent is strictly not a subset of the determinant.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i.e. If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X → Y 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and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is not a subset of X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then it is called Non-trivial functional dependency.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For example,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Here,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roll_no → name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 a non-trivial functional dependency, since the dependent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not a subset of 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determinant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roll_no</a:t>
            </a:r>
            <a:r>
              <a:rPr lang="en-IN"/>
              <a:t/>
            </a:r>
            <a:br>
              <a:rPr lang="en-IN"/>
            </a:b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Similarly,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{roll_no, name} → age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 also a non-trivial functional dependency, since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not a subset of {roll_no, name} </a:t>
            </a:r>
            <a:endParaRPr/>
          </a:p>
        </p:txBody>
      </p:sp>
      <p:pic>
        <p:nvPicPr>
          <p:cNvPr id="291" name="Google Shape;29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2424" y="4341719"/>
            <a:ext cx="1304992" cy="18352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657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Arial"/>
              <a:buNone/>
            </a:pP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Multivalued Functional Dependency</a:t>
            </a:r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Multivalued functional dependency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attributes of the dependent set are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not dependent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on each other.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i.e. If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 → {b, c}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and there exists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no functional dependency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between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b and c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then it is called a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multivalued functional dependency.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Here,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roll_no → {name, age} 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is a multivalued functional dependency, since the dependents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&amp;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are </a:t>
            </a: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not dependent</a:t>
            </a:r>
            <a:r>
              <a:rPr lang="en-IN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on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400"/>
              <a:buChar char="•"/>
            </a:pPr>
            <a:r>
              <a:rPr lang="en-IN" sz="2400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each other(i.e. </a:t>
            </a:r>
            <a:r>
              <a:rPr lang="en-IN" sz="2400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name → age </a:t>
            </a:r>
            <a:r>
              <a:rPr lang="en-IN" sz="2400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IN" sz="2400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age → name doesn’t exist !</a:t>
            </a:r>
            <a:r>
              <a:rPr lang="en-IN" sz="2400" b="0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400"/>
          </a:p>
        </p:txBody>
      </p:sp>
      <p:pic>
        <p:nvPicPr>
          <p:cNvPr id="298" name="Google Shape;29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0821" y="4447559"/>
            <a:ext cx="1131867" cy="23063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336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Arial"/>
              <a:buNone/>
            </a:pPr>
            <a:r>
              <a:rPr lang="en-IN" b="1" i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Transitive Functional Dependency</a:t>
            </a:r>
            <a:endParaRPr/>
          </a:p>
        </p:txBody>
      </p:sp>
      <p:sp>
        <p:nvSpPr>
          <p:cNvPr id="304" name="Google Shape;304;p3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ct val="100000"/>
              <a:buChar char="•"/>
            </a:pPr>
            <a:r>
              <a:rPr lang="en-IN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 transitive functional dependency, dependent is indirectly dependent on determinant.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i.e. If </a:t>
            </a:r>
            <a:r>
              <a:rPr lang="en-IN" b="1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 → b</a:t>
            </a:r>
            <a:r>
              <a:rPr lang="en-IN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&amp; </a:t>
            </a:r>
            <a:r>
              <a:rPr lang="en-IN" b="1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b → c</a:t>
            </a:r>
            <a:r>
              <a:rPr lang="en-IN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then according to axiom of transitivity, </a:t>
            </a:r>
            <a:r>
              <a:rPr lang="en-IN" b="1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 → c</a:t>
            </a:r>
            <a:r>
              <a:rPr lang="en-IN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. This is a </a:t>
            </a:r>
            <a:r>
              <a:rPr lang="en-IN" b="1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transitive functional dependency  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0000"/>
              <a:buChar char="•"/>
            </a:pPr>
            <a:r>
              <a:rPr lang="en-IN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0000"/>
              <a:buChar char="•"/>
            </a:pPr>
            <a:r>
              <a:rPr lang="en-IN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Here, </a:t>
            </a:r>
            <a:r>
              <a:rPr lang="en-IN" b="1" i="0" dirty="0" err="1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enrol_no</a:t>
            </a:r>
            <a:r>
              <a:rPr lang="en-IN" b="1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IN" b="1" i="0" dirty="0" err="1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dept</a:t>
            </a:r>
            <a:r>
              <a:rPr lang="en-IN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and </a:t>
            </a:r>
            <a:r>
              <a:rPr lang="en-IN" b="1" i="0" dirty="0" err="1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dept</a:t>
            </a:r>
            <a:r>
              <a:rPr lang="en-IN" b="1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IN" b="1" i="0" dirty="0" err="1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building_no</a:t>
            </a:r>
            <a:r>
              <a:rPr lang="en-IN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lang="en-IN" dirty="0"/>
              <a:t/>
            </a:r>
            <a:br>
              <a:rPr lang="en-IN" dirty="0"/>
            </a:b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0000"/>
              <a:buChar char="•"/>
            </a:pPr>
            <a:r>
              <a:rPr lang="en-IN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Hence, according to the axiom of transitivity, </a:t>
            </a:r>
            <a:r>
              <a:rPr lang="en-IN" b="1" i="0" dirty="0" err="1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enrol_no</a:t>
            </a:r>
            <a:r>
              <a:rPr lang="en-IN" b="1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IN" b="1" i="0" dirty="0" err="1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building_no</a:t>
            </a:r>
            <a:r>
              <a:rPr lang="en-IN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 a valid functional dependency.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0000"/>
              <a:buChar char="•"/>
            </a:pPr>
            <a:r>
              <a:rPr lang="en-IN" b="0" i="0" dirty="0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This is an indirect functional dependency, hence called Transitive functional dependency.</a:t>
            </a:r>
            <a:endParaRPr dirty="0"/>
          </a:p>
        </p:txBody>
      </p:sp>
      <p:pic>
        <p:nvPicPr>
          <p:cNvPr id="305" name="Google Shape;30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8708" y="1427333"/>
            <a:ext cx="1475291" cy="1802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934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9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2.3 Equivalence of Sets of FDs </a:t>
            </a:r>
            <a:endParaRPr/>
          </a:p>
        </p:txBody>
      </p:sp>
      <p:sp>
        <p:nvSpPr>
          <p:cNvPr id="285" name="Google Shape;285;p39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sets of FDs F and G are </a:t>
            </a:r>
            <a:r>
              <a:rPr lang="en-US" sz="24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equivalent</a:t>
            </a: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if: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Every FD in F can be inferred from G, and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Every FD in G can be inferred from F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Hence, F and G are equivalent if F</a:t>
            </a:r>
            <a:r>
              <a:rPr lang="en-US" sz="2200" b="0" i="0" u="none" baseline="300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=G</a:t>
            </a:r>
            <a:r>
              <a:rPr lang="en-US" sz="2200" b="0" i="0" u="none" baseline="300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Definition (</a:t>
            </a:r>
            <a:r>
              <a:rPr lang="en-US" sz="24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Covers</a:t>
            </a: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22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covers</a:t>
            </a:r>
            <a:r>
              <a:rPr lang="en-US" sz="2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G if every FD in G can be inferred from F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lang="en-US" sz="2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(i.e., if G</a:t>
            </a:r>
            <a:r>
              <a:rPr lang="en-US" sz="2000" b="0" i="0" u="none" baseline="30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1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subset-of</a:t>
            </a:r>
            <a:r>
              <a:rPr lang="en-US" sz="2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</a:t>
            </a:r>
            <a:r>
              <a:rPr lang="en-US" sz="2000" b="0" i="0" u="none" baseline="30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 and G are equivalent if F covers G and G covers F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is an algorithm for checking equivalence of sets of FDs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5813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0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2.4 Minimal Sets of FDs (1)</a:t>
            </a:r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533400" lvl="0" indent="-533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set of FDs is </a:t>
            </a:r>
            <a:r>
              <a:rPr lang="en-US" sz="28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minimal</a:t>
            </a: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if it satisfies the following conditions:</a:t>
            </a:r>
            <a:endParaRPr/>
          </a:p>
          <a:p>
            <a:pPr marL="952500" lvl="1" indent="-4953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AutoNum type="arabicPeriod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Every dependency in F has a single attribute for its RHS.</a:t>
            </a:r>
            <a:endParaRPr/>
          </a:p>
          <a:p>
            <a:pPr marL="952500" lvl="1" indent="-4953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AutoNum type="arabicPeriod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cannot remove any dependency from F and have a set of dependencies that is equivalent to F.</a:t>
            </a:r>
            <a:endParaRPr/>
          </a:p>
          <a:p>
            <a:pPr marL="952500" lvl="1" indent="-4953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AutoNum type="arabicPeriod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cannot replace any dependency X -&gt; A in F with a dependency Y -&gt; A, where Y proper-subset-of X ( Y subset-of X) and still have a set of dependencies that is equivalent to F.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6350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1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Minimal Sets of FDs (2)</a:t>
            </a:r>
            <a:endParaRPr/>
          </a:p>
        </p:txBody>
      </p:sp>
      <p:sp>
        <p:nvSpPr>
          <p:cNvPr id="301" name="Google Shape;301;p41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Every set of FDs has an equivalent minimal set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can be several equivalent minimal sets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is no simple algorithm for computing a minimal set of FDs that is equivalent to a set F of FDs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synthesize a set of relations, we assume that we start with a set of dependencies that is a minimal set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E.g., see algorithms 11.2 and 11.4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4286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dirty="0" err="1" smtClean="0"/>
              <a:t>superkeys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4" y="1399784"/>
            <a:ext cx="8294687" cy="4572000"/>
          </a:xfrm>
        </p:spPr>
        <p:txBody>
          <a:bodyPr/>
          <a:lstStyle/>
          <a:p>
            <a:r>
              <a:rPr lang="en-US" dirty="0" smtClean="0"/>
              <a:t>If </a:t>
            </a:r>
            <a:r>
              <a:rPr lang="en-US" dirty="0"/>
              <a:t>we have ‘N’ attributes with one candidate key then the number of possible </a:t>
            </a:r>
            <a:r>
              <a:rPr lang="en-US" dirty="0" err="1"/>
              <a:t>superkeys</a:t>
            </a:r>
            <a:r>
              <a:rPr lang="en-US" dirty="0"/>
              <a:t> is 2</a:t>
            </a:r>
            <a:r>
              <a:rPr lang="en-US" baseline="30000" dirty="0"/>
              <a:t>(N – 1</a:t>
            </a:r>
            <a:r>
              <a:rPr lang="en-US" baseline="30000" dirty="0" smtClean="0"/>
              <a:t>)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Example:</a:t>
            </a:r>
          </a:p>
          <a:p>
            <a:r>
              <a:rPr lang="en-US" dirty="0"/>
              <a:t>Let's say we have a relation R with attributes {a1, a2, a3} and a1 is the candidate key. </a:t>
            </a:r>
            <a:endParaRPr lang="en-US" dirty="0" smtClean="0"/>
          </a:p>
          <a:p>
            <a:r>
              <a:rPr lang="en-US" dirty="0" smtClean="0"/>
              <a:t>Then</a:t>
            </a:r>
            <a:r>
              <a:rPr lang="en-US" dirty="0"/>
              <a:t>, any superset of a1 is the super key. </a:t>
            </a:r>
            <a:endParaRPr lang="en-US" dirty="0" smtClean="0"/>
          </a:p>
          <a:p>
            <a:r>
              <a:rPr lang="en-US" dirty="0" smtClean="0"/>
              <a:t>Here n=3, thus</a:t>
            </a:r>
            <a:r>
              <a:rPr lang="en-US" dirty="0"/>
              <a:t>, we can have </a:t>
            </a:r>
            <a:r>
              <a:rPr lang="en-US" dirty="0" smtClean="0"/>
              <a:t>2</a:t>
            </a:r>
            <a:r>
              <a:rPr lang="en-US" baseline="30000" dirty="0" smtClean="0"/>
              <a:t>(3– </a:t>
            </a:r>
            <a:r>
              <a:rPr lang="en-US" baseline="30000" dirty="0"/>
              <a:t>1</a:t>
            </a:r>
            <a:r>
              <a:rPr lang="en-US" baseline="30000" dirty="0" smtClean="0"/>
              <a:t>)= </a:t>
            </a:r>
            <a:r>
              <a:rPr lang="en-US" dirty="0" smtClean="0"/>
              <a:t> 2</a:t>
            </a:r>
            <a:r>
              <a:rPr lang="en-US" baseline="30000" dirty="0" smtClean="0"/>
              <a:t>^2= 4 ,</a:t>
            </a:r>
          </a:p>
          <a:p>
            <a:r>
              <a:rPr lang="en-US" dirty="0" smtClean="0"/>
              <a:t>four </a:t>
            </a:r>
            <a:r>
              <a:rPr lang="en-US" dirty="0"/>
              <a:t>possible super keys: {a1, a1 a2, a1 a3, a1 a2 a3}. 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5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b="1" dirty="0"/>
              <a:t>Steps to Find the Attribute </a:t>
            </a:r>
            <a:r>
              <a:rPr lang="en-US" b="1" dirty="0" smtClean="0"/>
              <a:t>Closure:</a:t>
            </a:r>
          </a:p>
          <a:p>
            <a:pPr fontAlgn="base"/>
            <a:r>
              <a:rPr lang="en-US" b="1" dirty="0"/>
              <a:t>Given the FD set of a Relation R, The attribute closure set S is the set of Attribute Closure A</a:t>
            </a:r>
            <a:r>
              <a:rPr lang="en-US" b="1" dirty="0" smtClean="0"/>
              <a:t>.</a:t>
            </a:r>
          </a:p>
          <a:p>
            <a:pPr lvl="1" fontAlgn="base"/>
            <a:r>
              <a:rPr lang="en-US" sz="1400" dirty="0"/>
              <a:t>Add A to S.</a:t>
            </a:r>
          </a:p>
          <a:p>
            <a:pPr lvl="1" fontAlgn="base"/>
            <a:r>
              <a:rPr lang="en-US" sz="1400" dirty="0"/>
              <a:t>Recursively add attributes that can be functionally </a:t>
            </a:r>
          </a:p>
          <a:p>
            <a:pPr marL="622935" lvl="1" indent="0" fontAlgn="base">
              <a:buNone/>
            </a:pPr>
            <a:r>
              <a:rPr lang="en-US" sz="1400" dirty="0" smtClean="0"/>
              <a:t>      determined </a:t>
            </a:r>
            <a:r>
              <a:rPr lang="en-US" sz="1400" dirty="0"/>
              <a:t>from attributes of the set S until done</a:t>
            </a:r>
            <a:r>
              <a:rPr lang="en-US" dirty="0" smtClean="0"/>
              <a:t>.</a:t>
            </a:r>
          </a:p>
          <a:p>
            <a:pPr fontAlgn="base"/>
            <a:endParaRPr lang="en-IN" dirty="0" smtClean="0"/>
          </a:p>
          <a:p>
            <a:pPr fontAlgn="base"/>
            <a:r>
              <a:rPr lang="en-IN" dirty="0" smtClean="0"/>
              <a:t>From </a:t>
            </a:r>
            <a:r>
              <a:rPr lang="en-IN" dirty="0"/>
              <a:t>Table 1, FDs are</a:t>
            </a:r>
          </a:p>
          <a:p>
            <a:r>
              <a:rPr lang="en-IN" sz="2000" b="1" dirty="0" smtClean="0"/>
              <a:t>Given </a:t>
            </a:r>
            <a:r>
              <a:rPr lang="en-IN" sz="2000" b="1" dirty="0"/>
              <a:t>R (</a:t>
            </a:r>
            <a:r>
              <a:rPr lang="en-IN" sz="2000" b="1" u="sng" dirty="0"/>
              <a:t>E-ID, E-NAME, E-CITY, E-STATE)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b="1" dirty="0"/>
              <a:t>FDs = { E-ID-&gt;E-NAME, E-ID-&gt;E-CITY, E-ID-&gt;E-STATE, E-CITY-&gt;E-STATE }</a:t>
            </a:r>
            <a:endParaRPr lang="en-US" sz="2000" dirty="0"/>
          </a:p>
          <a:p>
            <a:pPr fontAlgn="base"/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55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643" y="3206663"/>
            <a:ext cx="2852531" cy="2190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3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/>
              <a:t>The attribute closure of E-ID can be calculated as:</a:t>
            </a:r>
          </a:p>
          <a:p>
            <a:pPr fontAlgn="base"/>
            <a:r>
              <a:rPr lang="en-US" dirty="0"/>
              <a:t>Add E-ID to the set {E-ID}</a:t>
            </a:r>
          </a:p>
          <a:p>
            <a:pPr fontAlgn="base"/>
            <a:r>
              <a:rPr lang="en-US" dirty="0"/>
              <a:t>Add Attributes that can be derived from any attribute of the set. </a:t>
            </a:r>
            <a:endParaRPr lang="en-US" dirty="0" smtClean="0"/>
          </a:p>
          <a:p>
            <a:pPr fontAlgn="base"/>
            <a:r>
              <a:rPr lang="en-US" dirty="0" smtClean="0"/>
              <a:t>As </a:t>
            </a:r>
            <a:r>
              <a:rPr lang="en-US" dirty="0"/>
              <a:t>there is one other attribute remaining in relation to be derived from E-ID. </a:t>
            </a:r>
            <a:endParaRPr lang="en-US" dirty="0" smtClean="0"/>
          </a:p>
          <a:p>
            <a:pPr fontAlgn="base"/>
            <a:r>
              <a:rPr lang="en-US" dirty="0" smtClean="0"/>
              <a:t>So </a:t>
            </a:r>
            <a:r>
              <a:rPr lang="en-US" dirty="0"/>
              <a:t>the result is:</a:t>
            </a:r>
          </a:p>
          <a:p>
            <a:r>
              <a:rPr lang="en-US" b="1" dirty="0"/>
              <a:t>(E-ID)</a:t>
            </a:r>
            <a:r>
              <a:rPr lang="en-US" b="1" baseline="30000" dirty="0"/>
              <a:t>+ = {E-ID, E-NAME, E-CITY, E-STATE }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8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/>
              <a:t>Similarly,</a:t>
            </a:r>
          </a:p>
          <a:p>
            <a:r>
              <a:rPr lang="en-US" b="1" dirty="0"/>
              <a:t>(E-NAME)</a:t>
            </a:r>
            <a:r>
              <a:rPr lang="en-US" b="1" baseline="30000" dirty="0"/>
              <a:t>+ = {E-NAME</a:t>
            </a:r>
            <a:r>
              <a:rPr lang="en-US" b="1" baseline="30000" dirty="0" smtClean="0"/>
              <a:t>}</a:t>
            </a:r>
          </a:p>
          <a:p>
            <a:endParaRPr lang="en-US" b="1" baseline="30000" dirty="0"/>
          </a:p>
          <a:p>
            <a:r>
              <a:rPr lang="en-US" b="1" dirty="0" smtClean="0"/>
              <a:t>(</a:t>
            </a:r>
            <a:r>
              <a:rPr lang="en-US" b="1" dirty="0"/>
              <a:t>E-CITY)</a:t>
            </a:r>
            <a:r>
              <a:rPr lang="en-US" b="1" baseline="30000" dirty="0"/>
              <a:t>+ = {E-CITY, E_STATE</a:t>
            </a:r>
            <a:r>
              <a:rPr lang="en-US" b="1" baseline="30000" dirty="0" smtClean="0"/>
              <a:t>}</a:t>
            </a:r>
          </a:p>
          <a:p>
            <a:pPr fontAlgn="base"/>
            <a:endParaRPr lang="en-US" b="1" dirty="0" smtClean="0"/>
          </a:p>
          <a:p>
            <a:pPr fontAlgn="base"/>
            <a:r>
              <a:rPr lang="en-US" b="1" dirty="0" smtClean="0"/>
              <a:t>(E-STATE)</a:t>
            </a:r>
            <a:r>
              <a:rPr lang="en-US" b="1" baseline="30000" dirty="0" smtClean="0"/>
              <a:t>+ </a:t>
            </a:r>
            <a:r>
              <a:rPr lang="en-US" b="1" baseline="30000" dirty="0"/>
              <a:t>= </a:t>
            </a:r>
            <a:r>
              <a:rPr lang="en-US" b="1" baseline="30000" dirty="0" smtClean="0"/>
              <a:t>{ </a:t>
            </a:r>
            <a:r>
              <a:rPr lang="en-US" b="1" baseline="30000" dirty="0"/>
              <a:t>E_STATE}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3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Find the attribute closures of </a:t>
            </a:r>
            <a:r>
              <a:rPr lang="en-US" dirty="0"/>
              <a:t>(B</a:t>
            </a:r>
            <a:r>
              <a:rPr lang="en-US" dirty="0" smtClean="0"/>
              <a:t>)</a:t>
            </a:r>
            <a:r>
              <a:rPr lang="en-US" baseline="30000" dirty="0" smtClean="0"/>
              <a:t>+</a:t>
            </a:r>
            <a:r>
              <a:rPr lang="en-IN" dirty="0" smtClean="0"/>
              <a:t> ,</a:t>
            </a:r>
            <a:r>
              <a:rPr lang="en-US" b="1" dirty="0" smtClean="0"/>
              <a:t>given </a:t>
            </a:r>
            <a:r>
              <a:rPr lang="en-US" b="1" dirty="0"/>
              <a:t>FDs R(ABCDE) = {AB-&gt;C, B-&gt;D, C-&gt;E, D-&gt;A</a:t>
            </a:r>
            <a:r>
              <a:rPr lang="en-US" b="1" dirty="0" smtClean="0"/>
              <a:t>}.</a:t>
            </a:r>
            <a:endParaRPr lang="en-US" b="1" dirty="0"/>
          </a:p>
          <a:p>
            <a:r>
              <a:rPr lang="en-US" dirty="0"/>
              <a:t>(B</a:t>
            </a:r>
            <a:r>
              <a:rPr lang="en-US" dirty="0" smtClean="0"/>
              <a:t>)</a:t>
            </a:r>
            <a:r>
              <a:rPr lang="en-US" baseline="30000" dirty="0" smtClean="0"/>
              <a:t>+</a:t>
            </a:r>
            <a:r>
              <a:rPr lang="en-IN" dirty="0" smtClean="0"/>
              <a:t> = {B}</a:t>
            </a:r>
          </a:p>
          <a:p>
            <a:pPr marL="1085850" lvl="2" indent="0">
              <a:buNone/>
            </a:pPr>
            <a:r>
              <a:rPr lang="en-US" dirty="0" smtClean="0"/>
              <a:t>= {B,D}</a:t>
            </a:r>
          </a:p>
          <a:p>
            <a:pPr marL="1085850" lvl="2" indent="0">
              <a:buNone/>
            </a:pPr>
            <a:r>
              <a:rPr lang="en-US" dirty="0" smtClean="0"/>
              <a:t>={ B,D,A}</a:t>
            </a:r>
          </a:p>
          <a:p>
            <a:pPr marL="1085850" lvl="2" indent="0">
              <a:buNone/>
            </a:pPr>
            <a:r>
              <a:rPr lang="en-US" dirty="0" smtClean="0"/>
              <a:t>={B,D,A,C}</a:t>
            </a:r>
          </a:p>
          <a:p>
            <a:pPr marL="1085850" lvl="2" indent="0">
              <a:buNone/>
            </a:pPr>
            <a:r>
              <a:rPr lang="en-US" dirty="0" smtClean="0"/>
              <a:t>={B,D,A,C,E}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Slide 10- </a:t>
            </a:r>
            <a:fld id="{00000000-1234-1234-1234-123412341234}" type="slidenum">
              <a:rPr lang="en-US" smtClean="0"/>
              <a:t>58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598" y="2776538"/>
            <a:ext cx="2924175" cy="3133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84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 Closure of FD EXAMPLE’S</a:t>
            </a:r>
            <a:endParaRPr/>
          </a:p>
        </p:txBody>
      </p:sp>
      <p:sp>
        <p:nvSpPr>
          <p:cNvPr id="337" name="Google Shape;337;p3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4000500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b="1" dirty="0"/>
              <a:t>Ex1</a:t>
            </a:r>
            <a:r>
              <a:rPr lang="en-IN" dirty="0"/>
              <a:t>. To find Candidate keys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R(ABCD)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FD: {A🡪B,B🡪C,C🡪D}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 err="1"/>
              <a:t>Ans</a:t>
            </a:r>
            <a:r>
              <a:rPr lang="en-IN" b="1" dirty="0"/>
              <a:t>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Closure of A means what A determines.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Find closure of all attributes: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A</a:t>
            </a:r>
            <a:r>
              <a:rPr lang="en-IN" baseline="30000" dirty="0"/>
              <a:t>+</a:t>
            </a:r>
            <a:r>
              <a:rPr lang="en-IN" dirty="0"/>
              <a:t>= {A,B,C,D} S.K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B</a:t>
            </a:r>
            <a:r>
              <a:rPr lang="en-IN" baseline="30000" dirty="0"/>
              <a:t>+</a:t>
            </a:r>
            <a:r>
              <a:rPr lang="en-IN" dirty="0"/>
              <a:t>={B,C,D}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C</a:t>
            </a:r>
            <a:r>
              <a:rPr lang="en-IN" baseline="30000" dirty="0"/>
              <a:t>+</a:t>
            </a:r>
            <a:r>
              <a:rPr lang="en-IN" dirty="0"/>
              <a:t>={C,D}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D</a:t>
            </a:r>
            <a:r>
              <a:rPr lang="en-IN" baseline="30000" dirty="0"/>
              <a:t>+</a:t>
            </a:r>
            <a:r>
              <a:rPr lang="en-IN" dirty="0"/>
              <a:t>={D}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 smtClean="0"/>
              <a:t>AB</a:t>
            </a:r>
            <a:r>
              <a:rPr lang="en-IN" baseline="30000" dirty="0"/>
              <a:t>+</a:t>
            </a:r>
            <a:r>
              <a:rPr lang="en-IN" dirty="0"/>
              <a:t>={ABCD}  S.K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AC</a:t>
            </a:r>
            <a:r>
              <a:rPr lang="en-IN" baseline="30000" dirty="0"/>
              <a:t>+ </a:t>
            </a:r>
            <a:r>
              <a:rPr lang="en-IN" dirty="0"/>
              <a:t>= {ABCD} S.K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AD</a:t>
            </a:r>
            <a:r>
              <a:rPr lang="en-IN" baseline="30000" dirty="0"/>
              <a:t>+ </a:t>
            </a:r>
            <a:r>
              <a:rPr lang="en-IN" dirty="0"/>
              <a:t>= ABC</a:t>
            </a:r>
            <a:r>
              <a:rPr lang="en-IN" baseline="30000" dirty="0"/>
              <a:t>+ </a:t>
            </a:r>
            <a:r>
              <a:rPr lang="en-IN" dirty="0"/>
              <a:t>= ABD</a:t>
            </a:r>
            <a:r>
              <a:rPr lang="en-IN" baseline="30000" dirty="0"/>
              <a:t>+ </a:t>
            </a:r>
            <a:r>
              <a:rPr lang="en-IN" dirty="0"/>
              <a:t>= ACD</a:t>
            </a:r>
            <a:r>
              <a:rPr lang="en-IN" baseline="30000" dirty="0"/>
              <a:t>+ . . . </a:t>
            </a:r>
            <a:r>
              <a:rPr lang="en-IN" dirty="0" smtClean="0"/>
              <a:t>S.K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Noto Sans Symbols"/>
              <a:buChar char="•"/>
            </a:pPr>
            <a:r>
              <a:rPr lang="en-IN" b="1" dirty="0"/>
              <a:t>CK={A}</a:t>
            </a: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dirty="0"/>
          </a:p>
          <a:p>
            <a:pPr marL="228600" lvl="0" indent="-1174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338" name="Google Shape;338;p37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4000500" cy="4508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PRIME ATTRIBUTE: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The set of attributes makes candidate key are called prime attributes.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Here,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Prime attributes are : {A}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Non –prime: {B,C,D}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Hence, candidate key is 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0510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3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 Closure of FD EXAMPLE’S</a:t>
            </a:r>
            <a:endParaRPr/>
          </a:p>
        </p:txBody>
      </p:sp>
      <p:sp>
        <p:nvSpPr>
          <p:cNvPr id="337" name="Google Shape;337;p3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4000500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b="1" dirty="0"/>
              <a:t>Ex1</a:t>
            </a:r>
            <a:r>
              <a:rPr lang="en-IN" dirty="0"/>
              <a:t>. To find Candidate keys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R(ABCD)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FD: {A🡪B,B🡪C,C🡪D}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 err="1"/>
              <a:t>Ans</a:t>
            </a:r>
            <a:r>
              <a:rPr lang="en-IN" b="1" dirty="0"/>
              <a:t>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Closure of A means what A determines.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Find closure of all attributes: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 smtClean="0"/>
              <a:t>ABCD</a:t>
            </a:r>
            <a:r>
              <a:rPr lang="en-IN" baseline="30000" dirty="0" smtClean="0"/>
              <a:t>+</a:t>
            </a:r>
            <a:r>
              <a:rPr lang="en-IN" dirty="0" smtClean="0"/>
              <a:t>= </a:t>
            </a:r>
            <a:r>
              <a:rPr lang="en-IN" dirty="0"/>
              <a:t>{A,B,C,D} </a:t>
            </a:r>
            <a:r>
              <a:rPr lang="en-IN" dirty="0" smtClean="0"/>
              <a:t>S.K</a:t>
            </a:r>
            <a:endParaRPr lang="en-IN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Noto Sans Symbols"/>
              <a:buChar char="•"/>
            </a:pPr>
            <a:r>
              <a:rPr lang="en-IN" dirty="0" smtClean="0"/>
              <a:t>ACD</a:t>
            </a:r>
            <a:r>
              <a:rPr lang="en-IN" baseline="30000" dirty="0"/>
              <a:t>+</a:t>
            </a:r>
            <a:r>
              <a:rPr lang="en-IN" dirty="0"/>
              <a:t>= {A,B,C,D} S.K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Noto Sans Symbols"/>
              <a:buChar char="•"/>
            </a:pPr>
            <a:r>
              <a:rPr lang="en-IN" dirty="0" smtClean="0"/>
              <a:t>AD</a:t>
            </a:r>
            <a:r>
              <a:rPr lang="en-IN" baseline="30000" dirty="0"/>
              <a:t>+</a:t>
            </a:r>
            <a:r>
              <a:rPr lang="en-IN" dirty="0"/>
              <a:t>= {A,B,C,D} S.K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Noto Sans Symbols"/>
              <a:buChar char="•"/>
            </a:pPr>
            <a:r>
              <a:rPr lang="en-IN" dirty="0" smtClean="0"/>
              <a:t>A</a:t>
            </a:r>
            <a:r>
              <a:rPr lang="en-IN" baseline="30000" dirty="0" smtClean="0"/>
              <a:t>+</a:t>
            </a:r>
            <a:r>
              <a:rPr lang="en-IN" dirty="0" smtClean="0"/>
              <a:t>= </a:t>
            </a:r>
            <a:r>
              <a:rPr lang="en-IN" dirty="0"/>
              <a:t>{A,B,C,D} S.K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Noto Sans Symbols"/>
              <a:buChar char="•"/>
            </a:pPr>
            <a:r>
              <a:rPr lang="en-US" b="1" dirty="0" smtClean="0"/>
              <a:t>Candidate key:</a:t>
            </a:r>
            <a:endParaRPr lang="en-IN" b="1" dirty="0" smtClean="0"/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None/>
            </a:pPr>
            <a:r>
              <a:rPr lang="en-IN" b="1" dirty="0" smtClean="0"/>
              <a:t>	CK</a:t>
            </a:r>
            <a:r>
              <a:rPr lang="en-IN" b="1" dirty="0"/>
              <a:t>={A}</a:t>
            </a: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dirty="0"/>
          </a:p>
          <a:p>
            <a:pPr marL="228600" lvl="0" indent="-1174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338" name="Google Shape;338;p37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4000500" cy="4508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PRIME ATTRIBUTE: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The set of attributes makes candidate key are called prime attributes.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Here,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Prime attributes are : {A}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Non –prime: {B,C,D}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Hence, candidate key is 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435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smtClean="0"/>
              <a:t>Example </a:t>
            </a:r>
            <a:endParaRPr dirty="0"/>
          </a:p>
        </p:txBody>
      </p:sp>
      <p:sp>
        <p:nvSpPr>
          <p:cNvPr id="351" name="Google Shape;351;p39"/>
          <p:cNvSpPr txBox="1">
            <a:spLocks noGrp="1"/>
          </p:cNvSpPr>
          <p:nvPr>
            <p:ph type="body" idx="1"/>
          </p:nvPr>
        </p:nvSpPr>
        <p:spPr>
          <a:xfrm>
            <a:off x="463463" y="1678488"/>
            <a:ext cx="8051887" cy="4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 smtClean="0"/>
              <a:t>Given Relation R(A,B,C,D,E</a:t>
            </a:r>
            <a:r>
              <a:rPr lang="en-IN" dirty="0"/>
              <a:t>) &amp; FD: {A🡪B, D🡪E</a:t>
            </a:r>
            <a:r>
              <a:rPr lang="en-IN" dirty="0" smtClean="0"/>
              <a:t>}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ABCDE</a:t>
            </a:r>
            <a:r>
              <a:rPr lang="en-IN" baseline="30000" dirty="0"/>
              <a:t>+ </a:t>
            </a:r>
            <a:r>
              <a:rPr lang="en-IN" dirty="0"/>
              <a:t> = {A,B,C,D,E} S.K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ACDE</a:t>
            </a:r>
            <a:r>
              <a:rPr lang="en-IN" baseline="30000" dirty="0"/>
              <a:t>+ </a:t>
            </a:r>
            <a:r>
              <a:rPr lang="en-IN" dirty="0"/>
              <a:t> = {A,B,C,D,E} S.K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ACD</a:t>
            </a:r>
            <a:r>
              <a:rPr lang="en-IN" baseline="30000" dirty="0"/>
              <a:t>+ </a:t>
            </a:r>
            <a:r>
              <a:rPr lang="en-IN" dirty="0"/>
              <a:t> = {A,B,C,D,E} S.K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How to check ACD is only the candidate key.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Prime attributes: {A,C,D}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Check any of the prime attribute is available in R.H.S of Functional Dependency </a:t>
            </a:r>
            <a:r>
              <a:rPr lang="en-IN" dirty="0" err="1"/>
              <a:t>i.e</a:t>
            </a:r>
            <a:r>
              <a:rPr lang="en-IN" dirty="0"/>
              <a:t> A,C &amp; D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No any prime attribute is present in RHS. So we can say that is the only candidate key {ACD}.</a:t>
            </a: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660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1882</TotalTime>
  <Words>3414</Words>
  <Application>Microsoft Office PowerPoint</Application>
  <PresentationFormat>On-screen Show (4:3)</PresentationFormat>
  <Paragraphs>597</Paragraphs>
  <Slides>61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Arial</vt:lpstr>
      <vt:lpstr>Tahoma</vt:lpstr>
      <vt:lpstr>Calibri</vt:lpstr>
      <vt:lpstr>Inter</vt:lpstr>
      <vt:lpstr>Noto Sans Symbols</vt:lpstr>
      <vt:lpstr>Blends</vt:lpstr>
      <vt:lpstr>1_Blends</vt:lpstr>
      <vt:lpstr>/ </vt:lpstr>
      <vt:lpstr>PowerPoint Presentation</vt:lpstr>
      <vt:lpstr>Chapter Outline</vt:lpstr>
      <vt:lpstr>Chapter Outline</vt:lpstr>
      <vt:lpstr>1 Informal Design Guidelines for Relational Databases (1)</vt:lpstr>
      <vt:lpstr>Informal Design Guidelines for Relational Databases (2)</vt:lpstr>
      <vt:lpstr>1.1 Semantics of the Relation Attributes </vt:lpstr>
      <vt:lpstr>Figure 10.1 A simplified COMPANY relational database schema</vt:lpstr>
      <vt:lpstr>1.2 Redundant Information in Tuples and Update Anomalies </vt:lpstr>
      <vt:lpstr>Guideline to Redundant Information in Tuples and Update Anomalies</vt:lpstr>
      <vt:lpstr>EXAMPLE OF AN UPDATE ANOMALY</vt:lpstr>
      <vt:lpstr>EXAMPLE OF AN INSERT ANOMALY</vt:lpstr>
      <vt:lpstr>EXAMPLE OF AN DELETE ANOMALY</vt:lpstr>
      <vt:lpstr>Figure 10.3 Two relation schemas suffering from update anomalies</vt:lpstr>
      <vt:lpstr>Figure 10.4 Example States for EMP_DEPT and EMP_PROJ</vt:lpstr>
      <vt:lpstr>1.3 Null Values in Tuples </vt:lpstr>
      <vt:lpstr>PowerPoint Presentation</vt:lpstr>
      <vt:lpstr>1.4 Spurious Tuples </vt:lpstr>
      <vt:lpstr>Spurious Tuples (2)</vt:lpstr>
      <vt:lpstr>Example:</vt:lpstr>
      <vt:lpstr>Example:</vt:lpstr>
      <vt:lpstr>Example:</vt:lpstr>
      <vt:lpstr>2.1  Functional Dependencies </vt:lpstr>
      <vt:lpstr>Keys:</vt:lpstr>
      <vt:lpstr>PowerPoint Presentation</vt:lpstr>
      <vt:lpstr>Candidate key</vt:lpstr>
      <vt:lpstr>Primary key</vt:lpstr>
      <vt:lpstr>Alternate Keys </vt:lpstr>
      <vt:lpstr>Unique key &amp; Composite key</vt:lpstr>
      <vt:lpstr>Foreign key</vt:lpstr>
      <vt:lpstr>Example </vt:lpstr>
      <vt:lpstr>Proper subset: </vt:lpstr>
      <vt:lpstr>Functional Dependencies (2)</vt:lpstr>
      <vt:lpstr>Examples of FD constraints (1) </vt:lpstr>
      <vt:lpstr>Examples of FD constraints (2)</vt:lpstr>
      <vt:lpstr>functional dependency</vt:lpstr>
      <vt:lpstr>Example </vt:lpstr>
      <vt:lpstr>Example </vt:lpstr>
      <vt:lpstr>PowerPoint Presentation</vt:lpstr>
      <vt:lpstr>2.2 Inference Rules for FDs (1) </vt:lpstr>
      <vt:lpstr>PowerPoint Presentation</vt:lpstr>
      <vt:lpstr>Inference Rules for FDs (2)</vt:lpstr>
      <vt:lpstr>Inference Rules for FDs (3)</vt:lpstr>
      <vt:lpstr>Types of Functional dependencies</vt:lpstr>
      <vt:lpstr>Fully functional dependency</vt:lpstr>
      <vt:lpstr>Partial functional dependency</vt:lpstr>
      <vt:lpstr>Trivial Functional Dependency: </vt:lpstr>
      <vt:lpstr>Non-trivial Functional Dependency</vt:lpstr>
      <vt:lpstr> Multivalued Functional Dependency</vt:lpstr>
      <vt:lpstr>Transitive Functional Dependency</vt:lpstr>
      <vt:lpstr>2.3 Equivalence of Sets of FDs </vt:lpstr>
      <vt:lpstr>2.4 Minimal Sets of FDs (1)</vt:lpstr>
      <vt:lpstr>Minimal Sets of FDs (2)</vt:lpstr>
      <vt:lpstr>Find superkeys</vt:lpstr>
      <vt:lpstr>Examples</vt:lpstr>
      <vt:lpstr>PowerPoint Presentation</vt:lpstr>
      <vt:lpstr>PowerPoint Presentation</vt:lpstr>
      <vt:lpstr>Example </vt:lpstr>
      <vt:lpstr> Closure of FD EXAMPLE’S</vt:lpstr>
      <vt:lpstr> Closure of FD EXAMPLE’S</vt:lpstr>
      <vt:lpstr>Example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</dc:title>
  <dc:creator>kjscecomp</dc:creator>
  <cp:lastModifiedBy>kjscecomp</cp:lastModifiedBy>
  <cp:revision>48</cp:revision>
  <dcterms:modified xsi:type="dcterms:W3CDTF">2025-03-17T05:24:15Z</dcterms:modified>
</cp:coreProperties>
</file>