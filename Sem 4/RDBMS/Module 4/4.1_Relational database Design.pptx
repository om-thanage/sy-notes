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 id="2147483660" r:id="rId2"/>
  </p:sldMasterIdLst>
  <p:notesMasterIdLst>
    <p:notesMasterId r:id="rId64"/>
  </p:notesMasterIdLst>
  <p:sldIdLst>
    <p:sldId id="256" r:id="rId3"/>
    <p:sldId id="257" r:id="rId4"/>
    <p:sldId id="258" r:id="rId5"/>
    <p:sldId id="259" r:id="rId6"/>
    <p:sldId id="260" r:id="rId7"/>
    <p:sldId id="261" r:id="rId8"/>
    <p:sldId id="262" r:id="rId9"/>
    <p:sldId id="263" r:id="rId10"/>
    <p:sldId id="264" r:id="rId11"/>
    <p:sldId id="355" r:id="rId12"/>
    <p:sldId id="265" r:id="rId13"/>
    <p:sldId id="266" r:id="rId14"/>
    <p:sldId id="267" r:id="rId15"/>
    <p:sldId id="268" r:id="rId16"/>
    <p:sldId id="269" r:id="rId17"/>
    <p:sldId id="271" r:id="rId18"/>
    <p:sldId id="310" r:id="rId19"/>
    <p:sldId id="272" r:id="rId20"/>
    <p:sldId id="273" r:id="rId21"/>
    <p:sldId id="311" r:id="rId22"/>
    <p:sldId id="356" r:id="rId23"/>
    <p:sldId id="357" r:id="rId24"/>
    <p:sldId id="274" r:id="rId25"/>
    <p:sldId id="314" r:id="rId26"/>
    <p:sldId id="315" r:id="rId27"/>
    <p:sldId id="316" r:id="rId28"/>
    <p:sldId id="317" r:id="rId29"/>
    <p:sldId id="319" r:id="rId30"/>
    <p:sldId id="318" r:id="rId31"/>
    <p:sldId id="320" r:id="rId32"/>
    <p:sldId id="321" r:id="rId33"/>
    <p:sldId id="322" r:id="rId34"/>
    <p:sldId id="275" r:id="rId35"/>
    <p:sldId id="276" r:id="rId36"/>
    <p:sldId id="277" r:id="rId37"/>
    <p:sldId id="323" r:id="rId38"/>
    <p:sldId id="324" r:id="rId39"/>
    <p:sldId id="325" r:id="rId40"/>
    <p:sldId id="326" r:id="rId41"/>
    <p:sldId id="278" r:id="rId42"/>
    <p:sldId id="342" r:id="rId43"/>
    <p:sldId id="279" r:id="rId44"/>
    <p:sldId id="280" r:id="rId45"/>
    <p:sldId id="331" r:id="rId46"/>
    <p:sldId id="339" r:id="rId47"/>
    <p:sldId id="340" r:id="rId48"/>
    <p:sldId id="333" r:id="rId49"/>
    <p:sldId id="334" r:id="rId50"/>
    <p:sldId id="335" r:id="rId51"/>
    <p:sldId id="336" r:id="rId52"/>
    <p:sldId id="358" r:id="rId53"/>
    <p:sldId id="359" r:id="rId54"/>
    <p:sldId id="360" r:id="rId55"/>
    <p:sldId id="341" r:id="rId56"/>
    <p:sldId id="343" r:id="rId57"/>
    <p:sldId id="344" r:id="rId58"/>
    <p:sldId id="345" r:id="rId59"/>
    <p:sldId id="346" r:id="rId60"/>
    <p:sldId id="349" r:id="rId61"/>
    <p:sldId id="361" r:id="rId62"/>
    <p:sldId id="348" r:id="rId63"/>
  </p:sldIdLst>
  <p:sldSz cx="9144000" cy="6858000" type="screen4x3"/>
  <p:notesSz cx="6858000" cy="9144000"/>
  <p:embeddedFontLst>
    <p:embeddedFont>
      <p:font typeface="Inter" panose="020B0604020202020204" charset="0"/>
      <p:regular r:id="rId65"/>
      <p:bold r:id="rId66"/>
    </p:embeddedFont>
    <p:embeddedFont>
      <p:font typeface="Noto Sans Symbols" panose="020B0604020202020204" charset="0"/>
      <p:regular r:id="rId67"/>
      <p:bold r:id="rId68"/>
    </p:embeddedFont>
    <p:embeddedFont>
      <p:font typeface="Tahoma" panose="020B0604030504040204" pitchFamily="34" charset="0"/>
      <p:regular r:id="rId69"/>
      <p:bold r:id="rId7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920">
          <p15:clr>
            <a:srgbClr val="000000"/>
          </p15:clr>
        </p15:guide>
        <p15:guide id="2" pos="2880">
          <p15:clr>
            <a:srgbClr val="000000"/>
          </p15:clr>
        </p15:guide>
      </p15:sldGuideLst>
    </p:ext>
    <p:ext uri="{2D200454-40CA-4A62-9FC3-DE9A4176ACB9}">
      <p15:notesGuideLst xmlns:p15="http://schemas.microsoft.com/office/powerpoint/2012/main">
        <p15:guide id="1" orient="horz" pos="2880">
          <p15:clr>
            <a:srgbClr val="000000"/>
          </p15:clr>
        </p15:guide>
        <p15:guide id="2" pos="2160">
          <p15:clr>
            <a:srgbClr val="000000"/>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4" d="100"/>
          <a:sy n="74" d="100"/>
        </p:scale>
        <p:origin x="1714" y="67"/>
      </p:cViewPr>
      <p:guideLst>
        <p:guide orient="horz" pos="1920"/>
        <p:guide pos="2880"/>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font" Target="fonts/font4.fntdata"/><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font" Target="fonts/font2.fntdata"/><Relationship Id="rId74"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notesMaster" Target="notesMasters/notesMaster1.xml"/><Relationship Id="rId69" Type="http://schemas.openxmlformats.org/officeDocument/2006/relationships/font" Target="fonts/font5.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viewProps" Target="view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font" Target="fonts/font3.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font" Target="fonts/font1.fntdata"/><Relationship Id="rId73"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620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6" name="Google Shape;6;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6800"/>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400" b="0" i="1" u="none" strike="noStrike" cap="none">
                <a:solidFill>
                  <a:srgbClr val="000000"/>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a:t>
            </a:fld>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39381673"/>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1: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1</a:t>
            </a:fld>
            <a:endParaRPr sz="1400" b="0" i="0" u="none" strike="noStrike" cap="none">
              <a:solidFill>
                <a:srgbClr val="000000"/>
              </a:solidFill>
              <a:latin typeface="Arial"/>
              <a:ea typeface="Arial"/>
              <a:cs typeface="Arial"/>
              <a:sym typeface="Arial"/>
            </a:endParaRPr>
          </a:p>
        </p:txBody>
      </p:sp>
      <p:sp>
        <p:nvSpPr>
          <p:cNvPr id="78" name="Google Shape;78;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 name="Google Shape;79;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2: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2</a:t>
            </a:fld>
            <a:endParaRPr sz="1400" b="0" i="0" u="none" strike="noStrike" cap="none">
              <a:solidFill>
                <a:srgbClr val="000000"/>
              </a:solidFill>
              <a:latin typeface="Arial"/>
              <a:ea typeface="Arial"/>
              <a:cs typeface="Arial"/>
              <a:sym typeface="Arial"/>
            </a:endParaRPr>
          </a:p>
        </p:txBody>
      </p:sp>
      <p:sp>
        <p:nvSpPr>
          <p:cNvPr id="86" name="Google Shape;86;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 name="Google Shape;87;p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3: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3</a:t>
            </a:fld>
            <a:endParaRPr sz="1400" b="0" i="0" u="none" strike="noStrike" cap="none">
              <a:solidFill>
                <a:srgbClr val="000000"/>
              </a:solidFill>
              <a:latin typeface="Arial"/>
              <a:ea typeface="Arial"/>
              <a:cs typeface="Arial"/>
              <a:sym typeface="Arial"/>
            </a:endParaRPr>
          </a:p>
        </p:txBody>
      </p:sp>
      <p:sp>
        <p:nvSpPr>
          <p:cNvPr id="94" name="Google Shape;94;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5" name="Google Shape;95;p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4: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4</a:t>
            </a:fld>
            <a:endParaRPr sz="1400" b="0" i="0" u="none" strike="noStrike" cap="none">
              <a:solidFill>
                <a:srgbClr val="000000"/>
              </a:solidFill>
              <a:latin typeface="Arial"/>
              <a:ea typeface="Arial"/>
              <a:cs typeface="Arial"/>
              <a:sym typeface="Arial"/>
            </a:endParaRPr>
          </a:p>
        </p:txBody>
      </p:sp>
      <p:sp>
        <p:nvSpPr>
          <p:cNvPr id="102" name="Google Shape;102;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3" name="Google Shape;103;p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5: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5</a:t>
            </a:fld>
            <a:endParaRPr sz="1400" b="0" i="0" u="none" strike="noStrike" cap="none">
              <a:solidFill>
                <a:srgbClr val="000000"/>
              </a:solidFill>
              <a:latin typeface="Arial"/>
              <a:ea typeface="Arial"/>
              <a:cs typeface="Arial"/>
              <a:sym typeface="Arial"/>
            </a:endParaRPr>
          </a:p>
        </p:txBody>
      </p:sp>
      <p:sp>
        <p:nvSpPr>
          <p:cNvPr id="110" name="Google Shape;110;p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1" name="Google Shape;111;p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6: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6</a:t>
            </a:fld>
            <a:endParaRPr sz="1400" b="0" i="0" u="none" strike="noStrike" cap="none">
              <a:solidFill>
                <a:srgbClr val="000000"/>
              </a:solidFill>
              <a:latin typeface="Arial"/>
              <a:ea typeface="Arial"/>
              <a:cs typeface="Arial"/>
              <a:sym typeface="Arial"/>
            </a:endParaRPr>
          </a:p>
        </p:txBody>
      </p:sp>
      <p:sp>
        <p:nvSpPr>
          <p:cNvPr id="118" name="Google Shape;118;p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9" name="Google Shape;119;p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7: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7</a:t>
            </a:fld>
            <a:endParaRPr sz="1400" b="0" i="0" u="none" strike="noStrike" cap="none">
              <a:solidFill>
                <a:srgbClr val="000000"/>
              </a:solidFill>
              <a:latin typeface="Arial"/>
              <a:ea typeface="Arial"/>
              <a:cs typeface="Arial"/>
              <a:sym typeface="Arial"/>
            </a:endParaRPr>
          </a:p>
        </p:txBody>
      </p:sp>
      <p:sp>
        <p:nvSpPr>
          <p:cNvPr id="126" name="Google Shape;126;p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7" name="Google Shape;127;p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8: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8</a:t>
            </a:fld>
            <a:endParaRPr sz="1400" b="0" i="0" u="none" strike="noStrike" cap="none">
              <a:solidFill>
                <a:srgbClr val="000000"/>
              </a:solidFill>
              <a:latin typeface="Arial"/>
              <a:ea typeface="Arial"/>
              <a:cs typeface="Arial"/>
              <a:sym typeface="Arial"/>
            </a:endParaRPr>
          </a:p>
        </p:txBody>
      </p:sp>
      <p:sp>
        <p:nvSpPr>
          <p:cNvPr id="134" name="Google Shape;134;p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5" name="Google Shape;135;p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9: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9</a:t>
            </a:fld>
            <a:endParaRPr sz="1400" b="0" i="0" u="none" strike="noStrike" cap="none">
              <a:solidFill>
                <a:srgbClr val="000000"/>
              </a:solidFill>
              <a:latin typeface="Arial"/>
              <a:ea typeface="Arial"/>
              <a:cs typeface="Arial"/>
              <a:sym typeface="Arial"/>
            </a:endParaRPr>
          </a:p>
        </p:txBody>
      </p:sp>
      <p:sp>
        <p:nvSpPr>
          <p:cNvPr id="143" name="Google Shape;143;p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4" name="Google Shape;144;p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15: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10</a:t>
            </a:fld>
            <a:endParaRPr sz="1400" b="0" i="0" u="none" strike="noStrike" cap="none">
              <a:solidFill>
                <a:srgbClr val="000000"/>
              </a:solidFill>
              <a:latin typeface="Arial"/>
              <a:ea typeface="Arial"/>
              <a:cs typeface="Arial"/>
              <a:sym typeface="Arial"/>
            </a:endParaRPr>
          </a:p>
        </p:txBody>
      </p:sp>
      <p:sp>
        <p:nvSpPr>
          <p:cNvPr id="192" name="Google Shape;192;p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3" name="Google Shape;193;p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0: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11</a:t>
            </a:fld>
            <a:endParaRPr sz="1400" b="0" i="0" u="none" strike="noStrike" cap="none">
              <a:solidFill>
                <a:srgbClr val="000000"/>
              </a:solidFill>
              <a:latin typeface="Arial"/>
              <a:ea typeface="Arial"/>
              <a:cs typeface="Arial"/>
              <a:sym typeface="Arial"/>
            </a:endParaRPr>
          </a:p>
        </p:txBody>
      </p:sp>
      <p:sp>
        <p:nvSpPr>
          <p:cNvPr id="151" name="Google Shape;151;p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p1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11: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12</a:t>
            </a:fld>
            <a:endParaRPr sz="1400" b="0" i="0" u="none" strike="noStrike" cap="none">
              <a:solidFill>
                <a:srgbClr val="000000"/>
              </a:solidFill>
              <a:latin typeface="Arial"/>
              <a:ea typeface="Arial"/>
              <a:cs typeface="Arial"/>
              <a:sym typeface="Arial"/>
            </a:endParaRPr>
          </a:p>
        </p:txBody>
      </p:sp>
      <p:sp>
        <p:nvSpPr>
          <p:cNvPr id="159" name="Google Shape;159;p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0" name="Google Shape;160;p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12: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13</a:t>
            </a:fld>
            <a:endParaRPr sz="1400" b="0" i="0" u="none" strike="noStrike" cap="none">
              <a:solidFill>
                <a:srgbClr val="000000"/>
              </a:solidFill>
              <a:latin typeface="Arial"/>
              <a:ea typeface="Arial"/>
              <a:cs typeface="Arial"/>
              <a:sym typeface="Arial"/>
            </a:endParaRPr>
          </a:p>
        </p:txBody>
      </p:sp>
      <p:sp>
        <p:nvSpPr>
          <p:cNvPr id="167" name="Google Shape;167;p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8" name="Google Shape;168;p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13: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14</a:t>
            </a:fld>
            <a:endParaRPr sz="1400" b="0" i="0" u="none" strike="noStrike" cap="none">
              <a:solidFill>
                <a:srgbClr val="000000"/>
              </a:solidFill>
              <a:latin typeface="Arial"/>
              <a:ea typeface="Arial"/>
              <a:cs typeface="Arial"/>
              <a:sym typeface="Arial"/>
            </a:endParaRPr>
          </a:p>
        </p:txBody>
      </p:sp>
      <p:sp>
        <p:nvSpPr>
          <p:cNvPr id="175" name="Google Shape;175;p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6" name="Google Shape;176;p1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14: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15</a:t>
            </a:fld>
            <a:endParaRPr sz="1400" b="0" i="0" u="none" strike="noStrike" cap="none">
              <a:solidFill>
                <a:srgbClr val="000000"/>
              </a:solidFill>
              <a:latin typeface="Arial"/>
              <a:ea typeface="Arial"/>
              <a:cs typeface="Arial"/>
              <a:sym typeface="Arial"/>
            </a:endParaRPr>
          </a:p>
        </p:txBody>
      </p:sp>
      <p:sp>
        <p:nvSpPr>
          <p:cNvPr id="184" name="Google Shape;184;p1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5" name="Google Shape;185;p1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16: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16</a:t>
            </a:fld>
            <a:endParaRPr sz="1400" b="0" i="0" u="none" strike="noStrike" cap="none">
              <a:solidFill>
                <a:srgbClr val="000000"/>
              </a:solidFill>
              <a:latin typeface="Arial"/>
              <a:ea typeface="Arial"/>
              <a:cs typeface="Arial"/>
              <a:sym typeface="Arial"/>
            </a:endParaRPr>
          </a:p>
        </p:txBody>
      </p:sp>
      <p:sp>
        <p:nvSpPr>
          <p:cNvPr id="200" name="Google Shape;200;p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1" name="Google Shape;201;p1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7: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18</a:t>
            </a:fld>
            <a:endParaRPr sz="1400" b="0" i="0" u="none" strike="noStrike" cap="none">
              <a:solidFill>
                <a:srgbClr val="000000"/>
              </a:solidFill>
              <a:latin typeface="Arial"/>
              <a:ea typeface="Arial"/>
              <a:cs typeface="Arial"/>
              <a:sym typeface="Arial"/>
            </a:endParaRPr>
          </a:p>
        </p:txBody>
      </p:sp>
      <p:sp>
        <p:nvSpPr>
          <p:cNvPr id="208" name="Google Shape;208;p1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9" name="Google Shape;209;p1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18: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19</a:t>
            </a:fld>
            <a:endParaRPr sz="1400" b="0" i="0" u="none" strike="noStrike" cap="none">
              <a:solidFill>
                <a:srgbClr val="000000"/>
              </a:solidFill>
              <a:latin typeface="Arial"/>
              <a:ea typeface="Arial"/>
              <a:cs typeface="Arial"/>
              <a:sym typeface="Arial"/>
            </a:endParaRPr>
          </a:p>
        </p:txBody>
      </p:sp>
      <p:sp>
        <p:nvSpPr>
          <p:cNvPr id="216" name="Google Shape;216;p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7" name="Google Shape;217;p1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9: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23</a:t>
            </a:fld>
            <a:endParaRPr sz="1400" b="0" i="0" u="none" strike="noStrike" cap="none">
              <a:solidFill>
                <a:srgbClr val="000000"/>
              </a:solidFill>
              <a:latin typeface="Arial"/>
              <a:ea typeface="Arial"/>
              <a:cs typeface="Arial"/>
              <a:sym typeface="Arial"/>
            </a:endParaRPr>
          </a:p>
        </p:txBody>
      </p:sp>
      <p:sp>
        <p:nvSpPr>
          <p:cNvPr id="224" name="Google Shape;224;p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5" name="Google Shape;225;p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1" name="Google Shape;211;p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3" name="Google Shape;243;p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20: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33</a:t>
            </a:fld>
            <a:endParaRPr sz="1400" b="0" i="0" u="none" strike="noStrike" cap="none">
              <a:solidFill>
                <a:srgbClr val="000000"/>
              </a:solidFill>
              <a:latin typeface="Arial"/>
              <a:ea typeface="Arial"/>
              <a:cs typeface="Arial"/>
              <a:sym typeface="Arial"/>
            </a:endParaRPr>
          </a:p>
        </p:txBody>
      </p:sp>
      <p:sp>
        <p:nvSpPr>
          <p:cNvPr id="232" name="Google Shape;232;p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3" name="Google Shape;233;p2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p21: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34</a:t>
            </a:fld>
            <a:endParaRPr sz="1400" b="0" i="0" u="none" strike="noStrike" cap="none">
              <a:solidFill>
                <a:srgbClr val="000000"/>
              </a:solidFill>
              <a:latin typeface="Arial"/>
              <a:ea typeface="Arial"/>
              <a:cs typeface="Arial"/>
              <a:sym typeface="Arial"/>
            </a:endParaRPr>
          </a:p>
        </p:txBody>
      </p:sp>
      <p:sp>
        <p:nvSpPr>
          <p:cNvPr id="240" name="Google Shape;240;p2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1" name="Google Shape;241;p2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22: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35</a:t>
            </a:fld>
            <a:endParaRPr sz="1400" b="0" i="0" u="none" strike="noStrike" cap="none">
              <a:solidFill>
                <a:srgbClr val="000000"/>
              </a:solidFill>
              <a:latin typeface="Arial"/>
              <a:ea typeface="Arial"/>
              <a:cs typeface="Arial"/>
              <a:sym typeface="Arial"/>
            </a:endParaRPr>
          </a:p>
        </p:txBody>
      </p:sp>
      <p:sp>
        <p:nvSpPr>
          <p:cNvPr id="248" name="Google Shape;248;p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9" name="Google Shape;249;p2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p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9" name="Google Shape;249;p2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6" name="Google Shape;256;p2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9" name="Google Shape;319;p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p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8" name="Google Shape;328;p3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3: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40</a:t>
            </a:fld>
            <a:endParaRPr sz="1400" b="0" i="0" u="none" strike="noStrike" cap="none">
              <a:solidFill>
                <a:srgbClr val="000000"/>
              </a:solidFill>
              <a:latin typeface="Arial"/>
              <a:ea typeface="Arial"/>
              <a:cs typeface="Arial"/>
              <a:sym typeface="Arial"/>
            </a:endParaRPr>
          </a:p>
        </p:txBody>
      </p:sp>
      <p:sp>
        <p:nvSpPr>
          <p:cNvPr id="256" name="Google Shape;256;p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7" name="Google Shape;257;p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4: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42</a:t>
            </a:fld>
            <a:endParaRPr sz="1400" b="0" i="0" u="none" strike="noStrike" cap="none">
              <a:solidFill>
                <a:srgbClr val="000000"/>
              </a:solidFill>
              <a:latin typeface="Arial"/>
              <a:ea typeface="Arial"/>
              <a:cs typeface="Arial"/>
              <a:sym typeface="Arial"/>
            </a:endParaRPr>
          </a:p>
        </p:txBody>
      </p:sp>
      <p:sp>
        <p:nvSpPr>
          <p:cNvPr id="264" name="Google Shape;264;p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5" name="Google Shape;265;p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p25: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43</a:t>
            </a:fld>
            <a:endParaRPr sz="1400" b="0" i="0" u="none" strike="noStrike" cap="none">
              <a:solidFill>
                <a:srgbClr val="000000"/>
              </a:solidFill>
              <a:latin typeface="Arial"/>
              <a:ea typeface="Arial"/>
              <a:cs typeface="Arial"/>
              <a:sym typeface="Arial"/>
            </a:endParaRPr>
          </a:p>
        </p:txBody>
      </p:sp>
      <p:sp>
        <p:nvSpPr>
          <p:cNvPr id="272" name="Google Shape;272;p2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3" name="Google Shape;273;p2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2" name="Google Shape;262;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8" name="Google Shape;268;p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8" name="Google Shape;268;p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p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0" name="Google Shape;280;p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7" name="Google Shape;287;p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p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4" name="Google Shape;294;p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p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1" name="Google Shape;301;p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p26: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51</a:t>
            </a:fld>
            <a:endParaRPr sz="1400" b="0" i="0" u="none" strike="noStrike" cap="none">
              <a:solidFill>
                <a:srgbClr val="000000"/>
              </a:solidFill>
              <a:latin typeface="Arial"/>
              <a:ea typeface="Arial"/>
              <a:cs typeface="Arial"/>
              <a:sym typeface="Arial"/>
            </a:endParaRPr>
          </a:p>
        </p:txBody>
      </p:sp>
      <p:sp>
        <p:nvSpPr>
          <p:cNvPr id="280" name="Google Shape;280;p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1" name="Google Shape;281;p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27: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52</a:t>
            </a:fld>
            <a:endParaRPr sz="1400" b="0" i="0" u="none" strike="noStrike" cap="none">
              <a:solidFill>
                <a:srgbClr val="000000"/>
              </a:solidFill>
              <a:latin typeface="Arial"/>
              <a:ea typeface="Arial"/>
              <a:cs typeface="Arial"/>
              <a:sym typeface="Arial"/>
            </a:endParaRPr>
          </a:p>
        </p:txBody>
      </p:sp>
      <p:sp>
        <p:nvSpPr>
          <p:cNvPr id="288" name="Google Shape;288;p2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9" name="Google Shape;289;p2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p28:notes"/>
          <p:cNvSpPr txBox="1"/>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ahoma"/>
              <a:buNone/>
            </a:pPr>
            <a:fld id="{00000000-1234-1234-1234-123412341234}" type="slidenum">
              <a:rPr lang="en-US" sz="1200" b="0" i="0" u="none" strike="noStrike" cap="none">
                <a:solidFill>
                  <a:srgbClr val="000000"/>
                </a:solidFill>
                <a:latin typeface="Tahoma"/>
                <a:ea typeface="Tahoma"/>
                <a:cs typeface="Tahoma"/>
                <a:sym typeface="Tahoma"/>
              </a:rPr>
              <a:t>53</a:t>
            </a:fld>
            <a:endParaRPr sz="1400" b="0" i="0" u="none" strike="noStrike" cap="none">
              <a:solidFill>
                <a:srgbClr val="000000"/>
              </a:solidFill>
              <a:latin typeface="Arial"/>
              <a:ea typeface="Arial"/>
              <a:cs typeface="Arial"/>
              <a:sym typeface="Arial"/>
            </a:endParaRPr>
          </a:p>
        </p:txBody>
      </p:sp>
      <p:sp>
        <p:nvSpPr>
          <p:cNvPr id="296" name="Google Shape;296;p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7" name="Google Shape;297;p2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p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4" name="Google Shape;334;p3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p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4" name="Google Shape;334;p3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p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48" name="Google Shape;348;p3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
        <p:cNvGrpSpPr/>
        <p:nvPr/>
      </p:nvGrpSpPr>
      <p:grpSpPr>
        <a:xfrm>
          <a:off x="0" y="0"/>
          <a:ext cx="0" cy="0"/>
          <a:chOff x="0" y="0"/>
          <a:chExt cx="0" cy="0"/>
        </a:xfrm>
      </p:grpSpPr>
      <p:sp>
        <p:nvSpPr>
          <p:cNvPr id="21" name="Google Shape;21;p2"/>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2"/>
          <p:cNvSpPr txBox="1">
            <a:spLocks noGrp="1"/>
          </p:cNvSpPr>
          <p:nvPr>
            <p:ph type="sldNum" idx="12"/>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lvl1pPr marL="0" marR="0" lvl="0"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1pPr>
            <a:lvl2pPr marL="0" marR="0" lvl="1"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2pPr>
            <a:lvl3pPr marL="0" marR="0" lvl="2"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3pPr>
            <a:lvl4pPr marL="0" marR="0" lvl="3"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4pPr>
            <a:lvl5pPr marL="0" marR="0" lvl="4"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5pPr>
            <a:lvl6pPr marL="0" marR="0" lvl="5"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6pPr>
            <a:lvl7pPr marL="0" marR="0" lvl="6"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7pPr>
            <a:lvl8pPr marL="0" marR="0" lvl="7"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8pPr>
            <a:lvl9pPr marL="0" marR="0" lvl="8"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9pPr>
          </a:lstStyle>
          <a:p>
            <a:pPr marL="0" lvl="0" indent="0" algn="r" rtl="0">
              <a:spcBef>
                <a:spcPts val="0"/>
              </a:spcBef>
              <a:spcAft>
                <a:spcPts val="0"/>
              </a:spcAft>
              <a:buNone/>
            </a:pPr>
            <a:r>
              <a:rPr lang="en-US"/>
              <a:t>Slide 10- </a:t>
            </a: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lvl1pPr marL="457200" lvl="0" indent="-297180" algn="l">
              <a:lnSpc>
                <a:spcPct val="100000"/>
              </a:lnSpc>
              <a:spcBef>
                <a:spcPts val="360"/>
              </a:spcBef>
              <a:spcAft>
                <a:spcPts val="0"/>
              </a:spcAft>
              <a:buSzPts val="1080"/>
              <a:buChar char="■"/>
              <a:defRPr/>
            </a:lvl1pPr>
            <a:lvl2pPr marL="914400" lvl="1" indent="-291465" algn="l">
              <a:lnSpc>
                <a:spcPct val="100000"/>
              </a:lnSpc>
              <a:spcBef>
                <a:spcPts val="360"/>
              </a:spcBef>
              <a:spcAft>
                <a:spcPts val="0"/>
              </a:spcAft>
              <a:buSzPts val="990"/>
              <a:buChar char="■"/>
              <a:defRPr/>
            </a:lvl2pPr>
            <a:lvl3pPr marL="1371600" lvl="2" indent="-285750" algn="l">
              <a:lnSpc>
                <a:spcPct val="100000"/>
              </a:lnSpc>
              <a:spcBef>
                <a:spcPts val="360"/>
              </a:spcBef>
              <a:spcAft>
                <a:spcPts val="0"/>
              </a:spcAft>
              <a:buSzPts val="900"/>
              <a:buChar char="■"/>
              <a:defRPr/>
            </a:lvl3pPr>
            <a:lvl4pPr marL="1828800" lvl="3" indent="-291464" algn="l">
              <a:lnSpc>
                <a:spcPct val="100000"/>
              </a:lnSpc>
              <a:spcBef>
                <a:spcPts val="360"/>
              </a:spcBef>
              <a:spcAft>
                <a:spcPts val="0"/>
              </a:spcAft>
              <a:buSzPts val="990"/>
              <a:buChar char="■"/>
              <a:defRPr/>
            </a:lvl4pPr>
            <a:lvl5pPr marL="2286000" lvl="4" indent="-285750" algn="l">
              <a:lnSpc>
                <a:spcPct val="100000"/>
              </a:lnSpc>
              <a:spcBef>
                <a:spcPts val="360"/>
              </a:spcBef>
              <a:spcAft>
                <a:spcPts val="0"/>
              </a:spcAft>
              <a:buSzPts val="900"/>
              <a:buChar char="■"/>
              <a:defRPr/>
            </a:lvl5pPr>
            <a:lvl6pPr marL="2743200" lvl="5" indent="-285750" algn="l">
              <a:lnSpc>
                <a:spcPct val="100000"/>
              </a:lnSpc>
              <a:spcBef>
                <a:spcPts val="360"/>
              </a:spcBef>
              <a:spcAft>
                <a:spcPts val="0"/>
              </a:spcAft>
              <a:buSzPts val="900"/>
              <a:buChar char="■"/>
              <a:defRPr/>
            </a:lvl6pPr>
            <a:lvl7pPr marL="3200400" lvl="6" indent="-285750" algn="l">
              <a:lnSpc>
                <a:spcPct val="100000"/>
              </a:lnSpc>
              <a:spcBef>
                <a:spcPts val="360"/>
              </a:spcBef>
              <a:spcAft>
                <a:spcPts val="0"/>
              </a:spcAft>
              <a:buSzPts val="900"/>
              <a:buChar char="■"/>
              <a:defRPr/>
            </a:lvl7pPr>
            <a:lvl8pPr marL="3657600" lvl="7" indent="-285750" algn="l">
              <a:lnSpc>
                <a:spcPct val="100000"/>
              </a:lnSpc>
              <a:spcBef>
                <a:spcPts val="360"/>
              </a:spcBef>
              <a:spcAft>
                <a:spcPts val="0"/>
              </a:spcAft>
              <a:buSzPts val="900"/>
              <a:buChar char="■"/>
              <a:defRPr/>
            </a:lvl8pPr>
            <a:lvl9pPr marL="4114800" lvl="8" indent="-285750" algn="l">
              <a:lnSpc>
                <a:spcPct val="100000"/>
              </a:lnSpc>
              <a:spcBef>
                <a:spcPts val="360"/>
              </a:spcBef>
              <a:spcAft>
                <a:spcPts val="0"/>
              </a:spcAft>
              <a:buSzPts val="900"/>
              <a:buChar char="■"/>
              <a:defRPr/>
            </a:lvl9pPr>
          </a:lstStyle>
          <a:p>
            <a:endParaRPr/>
          </a:p>
        </p:txBody>
      </p:sp>
      <p:sp>
        <p:nvSpPr>
          <p:cNvPr id="26" name="Google Shape;26;p3"/>
          <p:cNvSpPr txBox="1">
            <a:spLocks noGrp="1"/>
          </p:cNvSpPr>
          <p:nvPr>
            <p:ph type="sldNum" idx="12"/>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lvl1pPr marL="0" marR="0" lvl="0"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1pPr>
            <a:lvl2pPr marL="0" marR="0" lvl="1"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2pPr>
            <a:lvl3pPr marL="0" marR="0" lvl="2"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3pPr>
            <a:lvl4pPr marL="0" marR="0" lvl="3"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4pPr>
            <a:lvl5pPr marL="0" marR="0" lvl="4"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5pPr>
            <a:lvl6pPr marL="0" marR="0" lvl="5"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6pPr>
            <a:lvl7pPr marL="0" marR="0" lvl="6"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7pPr>
            <a:lvl8pPr marL="0" marR="0" lvl="7"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8pPr>
            <a:lvl9pPr marL="0" marR="0" lvl="8"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9pPr>
          </a:lstStyle>
          <a:p>
            <a:pPr marL="0" lvl="0" indent="0" algn="r" rtl="0">
              <a:spcBef>
                <a:spcPts val="0"/>
              </a:spcBef>
              <a:spcAft>
                <a:spcPts val="0"/>
              </a:spcAft>
              <a:buNone/>
            </a:pPr>
            <a:r>
              <a:rPr lang="en-US"/>
              <a:t>Slide 10- </a:t>
            </a: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rot="5400000">
            <a:off x="4561682" y="2199482"/>
            <a:ext cx="5868987" cy="207645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4"/>
          <p:cNvSpPr txBox="1">
            <a:spLocks noGrp="1"/>
          </p:cNvSpPr>
          <p:nvPr>
            <p:ph type="body" idx="1"/>
          </p:nvPr>
        </p:nvSpPr>
        <p:spPr>
          <a:xfrm rot="5400000">
            <a:off x="332582" y="199231"/>
            <a:ext cx="5868987" cy="6076950"/>
          </a:xfrm>
          <a:prstGeom prst="rect">
            <a:avLst/>
          </a:prstGeom>
          <a:noFill/>
          <a:ln>
            <a:noFill/>
          </a:ln>
        </p:spPr>
        <p:txBody>
          <a:bodyPr spcFirstLastPara="1" wrap="square" lIns="91425" tIns="45700" rIns="0" bIns="45700" anchor="t" anchorCtr="0">
            <a:noAutofit/>
          </a:bodyPr>
          <a:lstStyle>
            <a:lvl1pPr marL="457200" lvl="0" indent="-297180" algn="l">
              <a:lnSpc>
                <a:spcPct val="100000"/>
              </a:lnSpc>
              <a:spcBef>
                <a:spcPts val="360"/>
              </a:spcBef>
              <a:spcAft>
                <a:spcPts val="0"/>
              </a:spcAft>
              <a:buSzPts val="1080"/>
              <a:buChar char="■"/>
              <a:defRPr/>
            </a:lvl1pPr>
            <a:lvl2pPr marL="914400" lvl="1" indent="-291465" algn="l">
              <a:lnSpc>
                <a:spcPct val="100000"/>
              </a:lnSpc>
              <a:spcBef>
                <a:spcPts val="360"/>
              </a:spcBef>
              <a:spcAft>
                <a:spcPts val="0"/>
              </a:spcAft>
              <a:buSzPts val="990"/>
              <a:buChar char="■"/>
              <a:defRPr/>
            </a:lvl2pPr>
            <a:lvl3pPr marL="1371600" lvl="2" indent="-285750" algn="l">
              <a:lnSpc>
                <a:spcPct val="100000"/>
              </a:lnSpc>
              <a:spcBef>
                <a:spcPts val="360"/>
              </a:spcBef>
              <a:spcAft>
                <a:spcPts val="0"/>
              </a:spcAft>
              <a:buSzPts val="900"/>
              <a:buChar char="■"/>
              <a:defRPr/>
            </a:lvl3pPr>
            <a:lvl4pPr marL="1828800" lvl="3" indent="-291464" algn="l">
              <a:lnSpc>
                <a:spcPct val="100000"/>
              </a:lnSpc>
              <a:spcBef>
                <a:spcPts val="360"/>
              </a:spcBef>
              <a:spcAft>
                <a:spcPts val="0"/>
              </a:spcAft>
              <a:buSzPts val="990"/>
              <a:buChar char="■"/>
              <a:defRPr/>
            </a:lvl4pPr>
            <a:lvl5pPr marL="2286000" lvl="4" indent="-285750" algn="l">
              <a:lnSpc>
                <a:spcPct val="100000"/>
              </a:lnSpc>
              <a:spcBef>
                <a:spcPts val="360"/>
              </a:spcBef>
              <a:spcAft>
                <a:spcPts val="0"/>
              </a:spcAft>
              <a:buSzPts val="900"/>
              <a:buChar char="■"/>
              <a:defRPr/>
            </a:lvl5pPr>
            <a:lvl6pPr marL="2743200" lvl="5" indent="-285750" algn="l">
              <a:lnSpc>
                <a:spcPct val="100000"/>
              </a:lnSpc>
              <a:spcBef>
                <a:spcPts val="360"/>
              </a:spcBef>
              <a:spcAft>
                <a:spcPts val="0"/>
              </a:spcAft>
              <a:buSzPts val="900"/>
              <a:buChar char="■"/>
              <a:defRPr/>
            </a:lvl6pPr>
            <a:lvl7pPr marL="3200400" lvl="6" indent="-285750" algn="l">
              <a:lnSpc>
                <a:spcPct val="100000"/>
              </a:lnSpc>
              <a:spcBef>
                <a:spcPts val="360"/>
              </a:spcBef>
              <a:spcAft>
                <a:spcPts val="0"/>
              </a:spcAft>
              <a:buSzPts val="900"/>
              <a:buChar char="■"/>
              <a:defRPr/>
            </a:lvl7pPr>
            <a:lvl8pPr marL="3657600" lvl="7" indent="-285750" algn="l">
              <a:lnSpc>
                <a:spcPct val="100000"/>
              </a:lnSpc>
              <a:spcBef>
                <a:spcPts val="360"/>
              </a:spcBef>
              <a:spcAft>
                <a:spcPts val="0"/>
              </a:spcAft>
              <a:buSzPts val="900"/>
              <a:buChar char="■"/>
              <a:defRPr/>
            </a:lvl8pPr>
            <a:lvl9pPr marL="4114800" lvl="8" indent="-285750" algn="l">
              <a:lnSpc>
                <a:spcPct val="100000"/>
              </a:lnSpc>
              <a:spcBef>
                <a:spcPts val="360"/>
              </a:spcBef>
              <a:spcAft>
                <a:spcPts val="0"/>
              </a:spcAft>
              <a:buSzPts val="900"/>
              <a:buChar char="■"/>
              <a:defRPr/>
            </a:lvl9pPr>
          </a:lstStyle>
          <a:p>
            <a:endParaRPr/>
          </a:p>
        </p:txBody>
      </p:sp>
      <p:sp>
        <p:nvSpPr>
          <p:cNvPr id="30" name="Google Shape;30;p4"/>
          <p:cNvSpPr txBox="1">
            <a:spLocks noGrp="1"/>
          </p:cNvSpPr>
          <p:nvPr>
            <p:ph type="sldNum" idx="12"/>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lvl1pPr marL="0" marR="0" lvl="0"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1pPr>
            <a:lvl2pPr marL="0" marR="0" lvl="1"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2pPr>
            <a:lvl3pPr marL="0" marR="0" lvl="2"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3pPr>
            <a:lvl4pPr marL="0" marR="0" lvl="3"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4pPr>
            <a:lvl5pPr marL="0" marR="0" lvl="4"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5pPr>
            <a:lvl6pPr marL="0" marR="0" lvl="5"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6pPr>
            <a:lvl7pPr marL="0" marR="0" lvl="6"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7pPr>
            <a:lvl8pPr marL="0" marR="0" lvl="7"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8pPr>
            <a:lvl9pPr marL="0" marR="0" lvl="8"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9pPr>
          </a:lstStyle>
          <a:p>
            <a:pPr marL="0" lvl="0" indent="0" algn="r" rtl="0">
              <a:spcBef>
                <a:spcPts val="0"/>
              </a:spcBef>
              <a:spcAft>
                <a:spcPts val="0"/>
              </a:spcAft>
              <a:buNone/>
            </a:pPr>
            <a:r>
              <a:rPr lang="en-US"/>
              <a:t>Slide 10- </a:t>
            </a: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5"/>
          <p:cNvSpPr txBox="1">
            <a:spLocks noGrp="1"/>
          </p:cNvSpPr>
          <p:nvPr>
            <p:ph type="body" idx="1"/>
          </p:nvPr>
        </p:nvSpPr>
        <p:spPr>
          <a:xfrm rot="5400000">
            <a:off x="2101055" y="-261143"/>
            <a:ext cx="4572000" cy="8294687"/>
          </a:xfrm>
          <a:prstGeom prst="rect">
            <a:avLst/>
          </a:prstGeom>
          <a:noFill/>
          <a:ln>
            <a:noFill/>
          </a:ln>
        </p:spPr>
        <p:txBody>
          <a:bodyPr spcFirstLastPara="1" wrap="square" lIns="91425" tIns="45700" rIns="0" bIns="45700" anchor="t" anchorCtr="0">
            <a:noAutofit/>
          </a:bodyPr>
          <a:lstStyle>
            <a:lvl1pPr marL="457200" lvl="0" indent="-297180" algn="l">
              <a:lnSpc>
                <a:spcPct val="100000"/>
              </a:lnSpc>
              <a:spcBef>
                <a:spcPts val="360"/>
              </a:spcBef>
              <a:spcAft>
                <a:spcPts val="0"/>
              </a:spcAft>
              <a:buSzPts val="1080"/>
              <a:buChar char="■"/>
              <a:defRPr/>
            </a:lvl1pPr>
            <a:lvl2pPr marL="914400" lvl="1" indent="-291465" algn="l">
              <a:lnSpc>
                <a:spcPct val="100000"/>
              </a:lnSpc>
              <a:spcBef>
                <a:spcPts val="360"/>
              </a:spcBef>
              <a:spcAft>
                <a:spcPts val="0"/>
              </a:spcAft>
              <a:buSzPts val="990"/>
              <a:buChar char="■"/>
              <a:defRPr/>
            </a:lvl2pPr>
            <a:lvl3pPr marL="1371600" lvl="2" indent="-285750" algn="l">
              <a:lnSpc>
                <a:spcPct val="100000"/>
              </a:lnSpc>
              <a:spcBef>
                <a:spcPts val="360"/>
              </a:spcBef>
              <a:spcAft>
                <a:spcPts val="0"/>
              </a:spcAft>
              <a:buSzPts val="900"/>
              <a:buChar char="■"/>
              <a:defRPr/>
            </a:lvl3pPr>
            <a:lvl4pPr marL="1828800" lvl="3" indent="-291464" algn="l">
              <a:lnSpc>
                <a:spcPct val="100000"/>
              </a:lnSpc>
              <a:spcBef>
                <a:spcPts val="360"/>
              </a:spcBef>
              <a:spcAft>
                <a:spcPts val="0"/>
              </a:spcAft>
              <a:buSzPts val="990"/>
              <a:buChar char="■"/>
              <a:defRPr/>
            </a:lvl4pPr>
            <a:lvl5pPr marL="2286000" lvl="4" indent="-285750" algn="l">
              <a:lnSpc>
                <a:spcPct val="100000"/>
              </a:lnSpc>
              <a:spcBef>
                <a:spcPts val="360"/>
              </a:spcBef>
              <a:spcAft>
                <a:spcPts val="0"/>
              </a:spcAft>
              <a:buSzPts val="900"/>
              <a:buChar char="■"/>
              <a:defRPr/>
            </a:lvl5pPr>
            <a:lvl6pPr marL="2743200" lvl="5" indent="-285750" algn="l">
              <a:lnSpc>
                <a:spcPct val="100000"/>
              </a:lnSpc>
              <a:spcBef>
                <a:spcPts val="360"/>
              </a:spcBef>
              <a:spcAft>
                <a:spcPts val="0"/>
              </a:spcAft>
              <a:buSzPts val="900"/>
              <a:buChar char="■"/>
              <a:defRPr/>
            </a:lvl6pPr>
            <a:lvl7pPr marL="3200400" lvl="6" indent="-285750" algn="l">
              <a:lnSpc>
                <a:spcPct val="100000"/>
              </a:lnSpc>
              <a:spcBef>
                <a:spcPts val="360"/>
              </a:spcBef>
              <a:spcAft>
                <a:spcPts val="0"/>
              </a:spcAft>
              <a:buSzPts val="900"/>
              <a:buChar char="■"/>
              <a:defRPr/>
            </a:lvl7pPr>
            <a:lvl8pPr marL="3657600" lvl="7" indent="-285750" algn="l">
              <a:lnSpc>
                <a:spcPct val="100000"/>
              </a:lnSpc>
              <a:spcBef>
                <a:spcPts val="360"/>
              </a:spcBef>
              <a:spcAft>
                <a:spcPts val="0"/>
              </a:spcAft>
              <a:buSzPts val="900"/>
              <a:buChar char="■"/>
              <a:defRPr/>
            </a:lvl8pPr>
            <a:lvl9pPr marL="4114800" lvl="8" indent="-285750" algn="l">
              <a:lnSpc>
                <a:spcPct val="100000"/>
              </a:lnSpc>
              <a:spcBef>
                <a:spcPts val="360"/>
              </a:spcBef>
              <a:spcAft>
                <a:spcPts val="0"/>
              </a:spcAft>
              <a:buSzPts val="900"/>
              <a:buChar char="■"/>
              <a:defRPr/>
            </a:lvl9pPr>
          </a:lstStyle>
          <a:p>
            <a:endParaRPr/>
          </a:p>
        </p:txBody>
      </p:sp>
      <p:sp>
        <p:nvSpPr>
          <p:cNvPr id="34" name="Google Shape;34;p5"/>
          <p:cNvSpPr txBox="1">
            <a:spLocks noGrp="1"/>
          </p:cNvSpPr>
          <p:nvPr>
            <p:ph type="sldNum" idx="12"/>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lvl1pPr marL="0" marR="0" lvl="0"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1pPr>
            <a:lvl2pPr marL="0" marR="0" lvl="1"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2pPr>
            <a:lvl3pPr marL="0" marR="0" lvl="2"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3pPr>
            <a:lvl4pPr marL="0" marR="0" lvl="3"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4pPr>
            <a:lvl5pPr marL="0" marR="0" lvl="4"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5pPr>
            <a:lvl6pPr marL="0" marR="0" lvl="5"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6pPr>
            <a:lvl7pPr marL="0" marR="0" lvl="6"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7pPr>
            <a:lvl8pPr marL="0" marR="0" lvl="7"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8pPr>
            <a:lvl9pPr marL="0" marR="0" lvl="8"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9pPr>
          </a:lstStyle>
          <a:p>
            <a:pPr marL="0" lvl="0" indent="0" algn="r" rtl="0">
              <a:spcBef>
                <a:spcPts val="0"/>
              </a:spcBef>
              <a:spcAft>
                <a:spcPts val="0"/>
              </a:spcAft>
              <a:buNone/>
            </a:pPr>
            <a:r>
              <a:rPr lang="en-US"/>
              <a:t>Slide 10- </a:t>
            </a: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6"/>
          <p:cNvSpPr>
            <a:spLocks noGrp="1"/>
          </p:cNvSpPr>
          <p:nvPr>
            <p:ph type="pic" idx="2"/>
          </p:nvPr>
        </p:nvSpPr>
        <p:spPr>
          <a:xfrm>
            <a:off x="1792288" y="612775"/>
            <a:ext cx="5486400" cy="4114800"/>
          </a:xfrm>
          <a:prstGeom prst="rect">
            <a:avLst/>
          </a:prstGeom>
          <a:noFill/>
          <a:ln>
            <a:noFill/>
          </a:ln>
        </p:spPr>
      </p:sp>
      <p:sp>
        <p:nvSpPr>
          <p:cNvPr id="38" name="Google Shape;38;p6"/>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0" bIns="45700" anchor="t" anchorCtr="0">
            <a:noAutofit/>
          </a:bodyPr>
          <a:lstStyle>
            <a:lvl1pPr marL="457200" lvl="0" indent="-228600" algn="l">
              <a:lnSpc>
                <a:spcPct val="100000"/>
              </a:lnSpc>
              <a:spcBef>
                <a:spcPts val="280"/>
              </a:spcBef>
              <a:spcAft>
                <a:spcPts val="0"/>
              </a:spcAft>
              <a:buSzPts val="840"/>
              <a:buNone/>
              <a:defRPr sz="1400"/>
            </a:lvl1pPr>
            <a:lvl2pPr marL="914400" lvl="1" indent="-228600" algn="l">
              <a:lnSpc>
                <a:spcPct val="100000"/>
              </a:lnSpc>
              <a:spcBef>
                <a:spcPts val="240"/>
              </a:spcBef>
              <a:spcAft>
                <a:spcPts val="0"/>
              </a:spcAft>
              <a:buSzPts val="660"/>
              <a:buNone/>
              <a:defRPr sz="1200"/>
            </a:lvl2pPr>
            <a:lvl3pPr marL="1371600" lvl="2" indent="-228600" algn="l">
              <a:lnSpc>
                <a:spcPct val="100000"/>
              </a:lnSpc>
              <a:spcBef>
                <a:spcPts val="200"/>
              </a:spcBef>
              <a:spcAft>
                <a:spcPts val="0"/>
              </a:spcAft>
              <a:buSzPts val="500"/>
              <a:buNone/>
              <a:defRPr sz="1000"/>
            </a:lvl3pPr>
            <a:lvl4pPr marL="1828800" lvl="3" indent="-228600" algn="l">
              <a:lnSpc>
                <a:spcPct val="100000"/>
              </a:lnSpc>
              <a:spcBef>
                <a:spcPts val="180"/>
              </a:spcBef>
              <a:spcAft>
                <a:spcPts val="0"/>
              </a:spcAft>
              <a:buSzPts val="495"/>
              <a:buNone/>
              <a:defRPr sz="900"/>
            </a:lvl4pPr>
            <a:lvl5pPr marL="2286000" lvl="4" indent="-228600" algn="l">
              <a:lnSpc>
                <a:spcPct val="100000"/>
              </a:lnSpc>
              <a:spcBef>
                <a:spcPts val="180"/>
              </a:spcBef>
              <a:spcAft>
                <a:spcPts val="0"/>
              </a:spcAft>
              <a:buSzPts val="450"/>
              <a:buNone/>
              <a:defRPr sz="900"/>
            </a:lvl5pPr>
            <a:lvl6pPr marL="2743200" lvl="5" indent="-228600" algn="l">
              <a:lnSpc>
                <a:spcPct val="100000"/>
              </a:lnSpc>
              <a:spcBef>
                <a:spcPts val="180"/>
              </a:spcBef>
              <a:spcAft>
                <a:spcPts val="0"/>
              </a:spcAft>
              <a:buSzPts val="450"/>
              <a:buNone/>
              <a:defRPr sz="900"/>
            </a:lvl6pPr>
            <a:lvl7pPr marL="3200400" lvl="6" indent="-228600" algn="l">
              <a:lnSpc>
                <a:spcPct val="100000"/>
              </a:lnSpc>
              <a:spcBef>
                <a:spcPts val="180"/>
              </a:spcBef>
              <a:spcAft>
                <a:spcPts val="0"/>
              </a:spcAft>
              <a:buSzPts val="450"/>
              <a:buNone/>
              <a:defRPr sz="900"/>
            </a:lvl7pPr>
            <a:lvl8pPr marL="3657600" lvl="7" indent="-228600" algn="l">
              <a:lnSpc>
                <a:spcPct val="100000"/>
              </a:lnSpc>
              <a:spcBef>
                <a:spcPts val="180"/>
              </a:spcBef>
              <a:spcAft>
                <a:spcPts val="0"/>
              </a:spcAft>
              <a:buSzPts val="450"/>
              <a:buNone/>
              <a:defRPr sz="900"/>
            </a:lvl8pPr>
            <a:lvl9pPr marL="4114800" lvl="8" indent="-228600" algn="l">
              <a:lnSpc>
                <a:spcPct val="100000"/>
              </a:lnSpc>
              <a:spcBef>
                <a:spcPts val="180"/>
              </a:spcBef>
              <a:spcAft>
                <a:spcPts val="0"/>
              </a:spcAft>
              <a:buSzPts val="450"/>
              <a:buNone/>
              <a:defRPr sz="900"/>
            </a:lvl9pPr>
          </a:lstStyle>
          <a:p>
            <a:endParaRPr/>
          </a:p>
        </p:txBody>
      </p:sp>
      <p:sp>
        <p:nvSpPr>
          <p:cNvPr id="39" name="Google Shape;39;p6"/>
          <p:cNvSpPr txBox="1">
            <a:spLocks noGrp="1"/>
          </p:cNvSpPr>
          <p:nvPr>
            <p:ph type="sldNum" idx="12"/>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lvl1pPr marL="0" marR="0" lvl="0"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1pPr>
            <a:lvl2pPr marL="0" marR="0" lvl="1"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2pPr>
            <a:lvl3pPr marL="0" marR="0" lvl="2"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3pPr>
            <a:lvl4pPr marL="0" marR="0" lvl="3"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4pPr>
            <a:lvl5pPr marL="0" marR="0" lvl="4"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5pPr>
            <a:lvl6pPr marL="0" marR="0" lvl="5"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6pPr>
            <a:lvl7pPr marL="0" marR="0" lvl="6"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7pPr>
            <a:lvl8pPr marL="0" marR="0" lvl="7"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8pPr>
            <a:lvl9pPr marL="0" marR="0" lvl="8"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9pPr>
          </a:lstStyle>
          <a:p>
            <a:pPr marL="0" lvl="0" indent="0" algn="r" rtl="0">
              <a:spcBef>
                <a:spcPts val="0"/>
              </a:spcBef>
              <a:spcAft>
                <a:spcPts val="0"/>
              </a:spcAft>
              <a:buNone/>
            </a:pPr>
            <a:r>
              <a:rPr lang="en-US"/>
              <a:t>Slide 10- </a:t>
            </a: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0" bIns="45700" anchor="t" anchorCtr="0">
            <a:noAutofit/>
          </a:bodyPr>
          <a:lstStyle>
            <a:lvl1pPr marL="457200" lvl="0" indent="-350520" algn="l">
              <a:lnSpc>
                <a:spcPct val="100000"/>
              </a:lnSpc>
              <a:spcBef>
                <a:spcPts val="640"/>
              </a:spcBef>
              <a:spcAft>
                <a:spcPts val="0"/>
              </a:spcAft>
              <a:buSzPts val="1920"/>
              <a:buChar char="■"/>
              <a:defRPr sz="3200"/>
            </a:lvl1pPr>
            <a:lvl2pPr marL="914400" lvl="1" indent="-326390" algn="l">
              <a:lnSpc>
                <a:spcPct val="100000"/>
              </a:lnSpc>
              <a:spcBef>
                <a:spcPts val="560"/>
              </a:spcBef>
              <a:spcAft>
                <a:spcPts val="0"/>
              </a:spcAft>
              <a:buSzPts val="1540"/>
              <a:buChar char="■"/>
              <a:defRPr sz="2800"/>
            </a:lvl2pPr>
            <a:lvl3pPr marL="1371600" lvl="2" indent="-304800" algn="l">
              <a:lnSpc>
                <a:spcPct val="100000"/>
              </a:lnSpc>
              <a:spcBef>
                <a:spcPts val="480"/>
              </a:spcBef>
              <a:spcAft>
                <a:spcPts val="0"/>
              </a:spcAft>
              <a:buSzPts val="1200"/>
              <a:buChar char="■"/>
              <a:defRPr sz="2400"/>
            </a:lvl3pPr>
            <a:lvl4pPr marL="1828800" lvl="3" indent="-298450" algn="l">
              <a:lnSpc>
                <a:spcPct val="100000"/>
              </a:lnSpc>
              <a:spcBef>
                <a:spcPts val="400"/>
              </a:spcBef>
              <a:spcAft>
                <a:spcPts val="0"/>
              </a:spcAft>
              <a:buSzPts val="1100"/>
              <a:buChar char="■"/>
              <a:defRPr sz="2000"/>
            </a:lvl4pPr>
            <a:lvl5pPr marL="2286000" lvl="4" indent="-292100" algn="l">
              <a:lnSpc>
                <a:spcPct val="100000"/>
              </a:lnSpc>
              <a:spcBef>
                <a:spcPts val="400"/>
              </a:spcBef>
              <a:spcAft>
                <a:spcPts val="0"/>
              </a:spcAft>
              <a:buSzPts val="1000"/>
              <a:buChar char="■"/>
              <a:defRPr sz="2000"/>
            </a:lvl5pPr>
            <a:lvl6pPr marL="2743200" lvl="5" indent="-292100" algn="l">
              <a:lnSpc>
                <a:spcPct val="100000"/>
              </a:lnSpc>
              <a:spcBef>
                <a:spcPts val="400"/>
              </a:spcBef>
              <a:spcAft>
                <a:spcPts val="0"/>
              </a:spcAft>
              <a:buSzPts val="1000"/>
              <a:buChar char="■"/>
              <a:defRPr sz="2000"/>
            </a:lvl6pPr>
            <a:lvl7pPr marL="3200400" lvl="6" indent="-292100" algn="l">
              <a:lnSpc>
                <a:spcPct val="100000"/>
              </a:lnSpc>
              <a:spcBef>
                <a:spcPts val="400"/>
              </a:spcBef>
              <a:spcAft>
                <a:spcPts val="0"/>
              </a:spcAft>
              <a:buSzPts val="1000"/>
              <a:buChar char="■"/>
              <a:defRPr sz="2000"/>
            </a:lvl7pPr>
            <a:lvl8pPr marL="3657600" lvl="7" indent="-292100" algn="l">
              <a:lnSpc>
                <a:spcPct val="100000"/>
              </a:lnSpc>
              <a:spcBef>
                <a:spcPts val="400"/>
              </a:spcBef>
              <a:spcAft>
                <a:spcPts val="0"/>
              </a:spcAft>
              <a:buSzPts val="1000"/>
              <a:buChar char="■"/>
              <a:defRPr sz="2000"/>
            </a:lvl8pPr>
            <a:lvl9pPr marL="4114800" lvl="8" indent="-292100" algn="l">
              <a:lnSpc>
                <a:spcPct val="100000"/>
              </a:lnSpc>
              <a:spcBef>
                <a:spcPts val="400"/>
              </a:spcBef>
              <a:spcAft>
                <a:spcPts val="0"/>
              </a:spcAft>
              <a:buSzPts val="1000"/>
              <a:buChar char="■"/>
              <a:defRPr sz="2000"/>
            </a:lvl9pPr>
          </a:lstStyle>
          <a:p>
            <a:endParaRPr/>
          </a:p>
        </p:txBody>
      </p:sp>
      <p:sp>
        <p:nvSpPr>
          <p:cNvPr id="43" name="Google Shape;43;p7"/>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0" bIns="45700" anchor="t" anchorCtr="0">
            <a:noAutofit/>
          </a:bodyPr>
          <a:lstStyle>
            <a:lvl1pPr marL="457200" lvl="0" indent="-228600" algn="l">
              <a:lnSpc>
                <a:spcPct val="100000"/>
              </a:lnSpc>
              <a:spcBef>
                <a:spcPts val="280"/>
              </a:spcBef>
              <a:spcAft>
                <a:spcPts val="0"/>
              </a:spcAft>
              <a:buSzPts val="840"/>
              <a:buNone/>
              <a:defRPr sz="1400"/>
            </a:lvl1pPr>
            <a:lvl2pPr marL="914400" lvl="1" indent="-228600" algn="l">
              <a:lnSpc>
                <a:spcPct val="100000"/>
              </a:lnSpc>
              <a:spcBef>
                <a:spcPts val="240"/>
              </a:spcBef>
              <a:spcAft>
                <a:spcPts val="0"/>
              </a:spcAft>
              <a:buSzPts val="660"/>
              <a:buNone/>
              <a:defRPr sz="1200"/>
            </a:lvl2pPr>
            <a:lvl3pPr marL="1371600" lvl="2" indent="-228600" algn="l">
              <a:lnSpc>
                <a:spcPct val="100000"/>
              </a:lnSpc>
              <a:spcBef>
                <a:spcPts val="200"/>
              </a:spcBef>
              <a:spcAft>
                <a:spcPts val="0"/>
              </a:spcAft>
              <a:buSzPts val="500"/>
              <a:buNone/>
              <a:defRPr sz="1000"/>
            </a:lvl3pPr>
            <a:lvl4pPr marL="1828800" lvl="3" indent="-228600" algn="l">
              <a:lnSpc>
                <a:spcPct val="100000"/>
              </a:lnSpc>
              <a:spcBef>
                <a:spcPts val="180"/>
              </a:spcBef>
              <a:spcAft>
                <a:spcPts val="0"/>
              </a:spcAft>
              <a:buSzPts val="495"/>
              <a:buNone/>
              <a:defRPr sz="900"/>
            </a:lvl4pPr>
            <a:lvl5pPr marL="2286000" lvl="4" indent="-228600" algn="l">
              <a:lnSpc>
                <a:spcPct val="100000"/>
              </a:lnSpc>
              <a:spcBef>
                <a:spcPts val="180"/>
              </a:spcBef>
              <a:spcAft>
                <a:spcPts val="0"/>
              </a:spcAft>
              <a:buSzPts val="450"/>
              <a:buNone/>
              <a:defRPr sz="900"/>
            </a:lvl5pPr>
            <a:lvl6pPr marL="2743200" lvl="5" indent="-228600" algn="l">
              <a:lnSpc>
                <a:spcPct val="100000"/>
              </a:lnSpc>
              <a:spcBef>
                <a:spcPts val="180"/>
              </a:spcBef>
              <a:spcAft>
                <a:spcPts val="0"/>
              </a:spcAft>
              <a:buSzPts val="450"/>
              <a:buNone/>
              <a:defRPr sz="900"/>
            </a:lvl6pPr>
            <a:lvl7pPr marL="3200400" lvl="6" indent="-228600" algn="l">
              <a:lnSpc>
                <a:spcPct val="100000"/>
              </a:lnSpc>
              <a:spcBef>
                <a:spcPts val="180"/>
              </a:spcBef>
              <a:spcAft>
                <a:spcPts val="0"/>
              </a:spcAft>
              <a:buSzPts val="450"/>
              <a:buNone/>
              <a:defRPr sz="900"/>
            </a:lvl7pPr>
            <a:lvl8pPr marL="3657600" lvl="7" indent="-228600" algn="l">
              <a:lnSpc>
                <a:spcPct val="100000"/>
              </a:lnSpc>
              <a:spcBef>
                <a:spcPts val="180"/>
              </a:spcBef>
              <a:spcAft>
                <a:spcPts val="0"/>
              </a:spcAft>
              <a:buSzPts val="450"/>
              <a:buNone/>
              <a:defRPr sz="900"/>
            </a:lvl8pPr>
            <a:lvl9pPr marL="4114800" lvl="8" indent="-228600" algn="l">
              <a:lnSpc>
                <a:spcPct val="100000"/>
              </a:lnSpc>
              <a:spcBef>
                <a:spcPts val="180"/>
              </a:spcBef>
              <a:spcAft>
                <a:spcPts val="0"/>
              </a:spcAft>
              <a:buSzPts val="450"/>
              <a:buNone/>
              <a:defRPr sz="900"/>
            </a:lvl9pPr>
          </a:lstStyle>
          <a:p>
            <a:endParaRPr/>
          </a:p>
        </p:txBody>
      </p:sp>
      <p:sp>
        <p:nvSpPr>
          <p:cNvPr id="44" name="Google Shape;44;p7"/>
          <p:cNvSpPr txBox="1">
            <a:spLocks noGrp="1"/>
          </p:cNvSpPr>
          <p:nvPr>
            <p:ph type="sldNum" idx="12"/>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lvl1pPr marL="0" marR="0" lvl="0"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1pPr>
            <a:lvl2pPr marL="0" marR="0" lvl="1"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2pPr>
            <a:lvl3pPr marL="0" marR="0" lvl="2"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3pPr>
            <a:lvl4pPr marL="0" marR="0" lvl="3"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4pPr>
            <a:lvl5pPr marL="0" marR="0" lvl="4"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5pPr>
            <a:lvl6pPr marL="0" marR="0" lvl="5"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6pPr>
            <a:lvl7pPr marL="0" marR="0" lvl="6"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7pPr>
            <a:lvl8pPr marL="0" marR="0" lvl="7"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8pPr>
            <a:lvl9pPr marL="0" marR="0" lvl="8"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9pPr>
          </a:lstStyle>
          <a:p>
            <a:pPr marL="0" lvl="0" indent="0" algn="r" rtl="0">
              <a:spcBef>
                <a:spcPts val="0"/>
              </a:spcBef>
              <a:spcAft>
                <a:spcPts val="0"/>
              </a:spcAft>
              <a:buNone/>
            </a:pPr>
            <a:r>
              <a:rPr lang="en-US"/>
              <a:t>Slide 10- </a:t>
            </a: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8"/>
          <p:cNvSpPr txBox="1">
            <a:spLocks noGrp="1"/>
          </p:cNvSpPr>
          <p:nvPr>
            <p:ph type="sldNum" idx="12"/>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lvl1pPr marL="0" marR="0" lvl="0"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1pPr>
            <a:lvl2pPr marL="0" marR="0" lvl="1"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2pPr>
            <a:lvl3pPr marL="0" marR="0" lvl="2"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3pPr>
            <a:lvl4pPr marL="0" marR="0" lvl="3"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4pPr>
            <a:lvl5pPr marL="0" marR="0" lvl="4"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5pPr>
            <a:lvl6pPr marL="0" marR="0" lvl="5"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6pPr>
            <a:lvl7pPr marL="0" marR="0" lvl="6"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7pPr>
            <a:lvl8pPr marL="0" marR="0" lvl="7"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8pPr>
            <a:lvl9pPr marL="0" marR="0" lvl="8"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9pPr>
          </a:lstStyle>
          <a:p>
            <a:pPr marL="0" lvl="0" indent="0" algn="r" rtl="0">
              <a:spcBef>
                <a:spcPts val="0"/>
              </a:spcBef>
              <a:spcAft>
                <a:spcPts val="0"/>
              </a:spcAft>
              <a:buNone/>
            </a:pPr>
            <a:r>
              <a:rPr lang="en-US"/>
              <a:t>Slide 10- </a:t>
            </a: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7"/>
        <p:cNvGrpSpPr/>
        <p:nvPr/>
      </p:nvGrpSpPr>
      <p:grpSpPr>
        <a:xfrm>
          <a:off x="0" y="0"/>
          <a:ext cx="0" cy="0"/>
          <a:chOff x="0" y="0"/>
          <a:chExt cx="0" cy="0"/>
        </a:xfrm>
      </p:grpSpPr>
      <p:sp>
        <p:nvSpPr>
          <p:cNvPr id="48" name="Google Shape;48;p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9"/>
          <p:cNvSpPr txBox="1">
            <a:spLocks noGrp="1"/>
          </p:cNvSpPr>
          <p:nvPr>
            <p:ph type="body" idx="1"/>
          </p:nvPr>
        </p:nvSpPr>
        <p:spPr>
          <a:xfrm>
            <a:off x="457200" y="1535113"/>
            <a:ext cx="4040188" cy="639762"/>
          </a:xfrm>
          <a:prstGeom prst="rect">
            <a:avLst/>
          </a:prstGeom>
          <a:noFill/>
          <a:ln>
            <a:noFill/>
          </a:ln>
        </p:spPr>
        <p:txBody>
          <a:bodyPr spcFirstLastPara="1" wrap="square" lIns="91425" tIns="45700" rIns="0" bIns="45700" anchor="b" anchorCtr="0">
            <a:noAutofit/>
          </a:bodyPr>
          <a:lstStyle>
            <a:lvl1pPr marL="457200" lvl="0" indent="-228600" algn="l">
              <a:lnSpc>
                <a:spcPct val="100000"/>
              </a:lnSpc>
              <a:spcBef>
                <a:spcPts val="480"/>
              </a:spcBef>
              <a:spcAft>
                <a:spcPts val="0"/>
              </a:spcAft>
              <a:buSzPts val="1440"/>
              <a:buNone/>
              <a:defRPr sz="2400" b="1"/>
            </a:lvl1pPr>
            <a:lvl2pPr marL="914400" lvl="1" indent="-228600" algn="l">
              <a:lnSpc>
                <a:spcPct val="100000"/>
              </a:lnSpc>
              <a:spcBef>
                <a:spcPts val="400"/>
              </a:spcBef>
              <a:spcAft>
                <a:spcPts val="0"/>
              </a:spcAft>
              <a:buSzPts val="1100"/>
              <a:buNone/>
              <a:defRPr sz="2000" b="1"/>
            </a:lvl2pPr>
            <a:lvl3pPr marL="1371600" lvl="2" indent="-228600" algn="l">
              <a:lnSpc>
                <a:spcPct val="100000"/>
              </a:lnSpc>
              <a:spcBef>
                <a:spcPts val="360"/>
              </a:spcBef>
              <a:spcAft>
                <a:spcPts val="0"/>
              </a:spcAft>
              <a:buSzPts val="900"/>
              <a:buNone/>
              <a:defRPr sz="1800" b="1"/>
            </a:lvl3pPr>
            <a:lvl4pPr marL="1828800" lvl="3" indent="-228600" algn="l">
              <a:lnSpc>
                <a:spcPct val="100000"/>
              </a:lnSpc>
              <a:spcBef>
                <a:spcPts val="320"/>
              </a:spcBef>
              <a:spcAft>
                <a:spcPts val="0"/>
              </a:spcAft>
              <a:buSzPts val="880"/>
              <a:buNone/>
              <a:defRPr sz="1600" b="1"/>
            </a:lvl4pPr>
            <a:lvl5pPr marL="2286000" lvl="4" indent="-228600" algn="l">
              <a:lnSpc>
                <a:spcPct val="100000"/>
              </a:lnSpc>
              <a:spcBef>
                <a:spcPts val="320"/>
              </a:spcBef>
              <a:spcAft>
                <a:spcPts val="0"/>
              </a:spcAft>
              <a:buSzPts val="800"/>
              <a:buNone/>
              <a:defRPr sz="1600" b="1"/>
            </a:lvl5pPr>
            <a:lvl6pPr marL="2743200" lvl="5" indent="-228600" algn="l">
              <a:lnSpc>
                <a:spcPct val="100000"/>
              </a:lnSpc>
              <a:spcBef>
                <a:spcPts val="320"/>
              </a:spcBef>
              <a:spcAft>
                <a:spcPts val="0"/>
              </a:spcAft>
              <a:buSzPts val="800"/>
              <a:buNone/>
              <a:defRPr sz="1600" b="1"/>
            </a:lvl6pPr>
            <a:lvl7pPr marL="3200400" lvl="6" indent="-228600" algn="l">
              <a:lnSpc>
                <a:spcPct val="100000"/>
              </a:lnSpc>
              <a:spcBef>
                <a:spcPts val="320"/>
              </a:spcBef>
              <a:spcAft>
                <a:spcPts val="0"/>
              </a:spcAft>
              <a:buSzPts val="800"/>
              <a:buNone/>
              <a:defRPr sz="1600" b="1"/>
            </a:lvl7pPr>
            <a:lvl8pPr marL="3657600" lvl="7" indent="-228600" algn="l">
              <a:lnSpc>
                <a:spcPct val="100000"/>
              </a:lnSpc>
              <a:spcBef>
                <a:spcPts val="320"/>
              </a:spcBef>
              <a:spcAft>
                <a:spcPts val="0"/>
              </a:spcAft>
              <a:buSzPts val="800"/>
              <a:buNone/>
              <a:defRPr sz="1600" b="1"/>
            </a:lvl8pPr>
            <a:lvl9pPr marL="4114800" lvl="8" indent="-228600" algn="l">
              <a:lnSpc>
                <a:spcPct val="100000"/>
              </a:lnSpc>
              <a:spcBef>
                <a:spcPts val="320"/>
              </a:spcBef>
              <a:spcAft>
                <a:spcPts val="0"/>
              </a:spcAft>
              <a:buSzPts val="800"/>
              <a:buNone/>
              <a:defRPr sz="1600" b="1"/>
            </a:lvl9pPr>
          </a:lstStyle>
          <a:p>
            <a:endParaRPr/>
          </a:p>
        </p:txBody>
      </p:sp>
      <p:sp>
        <p:nvSpPr>
          <p:cNvPr id="50" name="Google Shape;50;p9"/>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0" bIns="45700" anchor="t" anchorCtr="0">
            <a:noAutofit/>
          </a:bodyPr>
          <a:lstStyle>
            <a:lvl1pPr marL="457200" lvl="0" indent="-320040" algn="l">
              <a:lnSpc>
                <a:spcPct val="100000"/>
              </a:lnSpc>
              <a:spcBef>
                <a:spcPts val="480"/>
              </a:spcBef>
              <a:spcAft>
                <a:spcPts val="0"/>
              </a:spcAft>
              <a:buSzPts val="1440"/>
              <a:buChar char="■"/>
              <a:defRPr sz="2400"/>
            </a:lvl1pPr>
            <a:lvl2pPr marL="914400" lvl="1" indent="-298450" algn="l">
              <a:lnSpc>
                <a:spcPct val="100000"/>
              </a:lnSpc>
              <a:spcBef>
                <a:spcPts val="400"/>
              </a:spcBef>
              <a:spcAft>
                <a:spcPts val="0"/>
              </a:spcAft>
              <a:buSzPts val="1100"/>
              <a:buChar char="■"/>
              <a:defRPr sz="2000"/>
            </a:lvl2pPr>
            <a:lvl3pPr marL="1371600" lvl="2" indent="-285750" algn="l">
              <a:lnSpc>
                <a:spcPct val="100000"/>
              </a:lnSpc>
              <a:spcBef>
                <a:spcPts val="360"/>
              </a:spcBef>
              <a:spcAft>
                <a:spcPts val="0"/>
              </a:spcAft>
              <a:buSzPts val="900"/>
              <a:buChar char="■"/>
              <a:defRPr sz="1800"/>
            </a:lvl3pPr>
            <a:lvl4pPr marL="1828800" lvl="3" indent="-284480" algn="l">
              <a:lnSpc>
                <a:spcPct val="100000"/>
              </a:lnSpc>
              <a:spcBef>
                <a:spcPts val="320"/>
              </a:spcBef>
              <a:spcAft>
                <a:spcPts val="0"/>
              </a:spcAft>
              <a:buSzPts val="880"/>
              <a:buChar char="■"/>
              <a:defRPr sz="1600"/>
            </a:lvl4pPr>
            <a:lvl5pPr marL="2286000" lvl="4" indent="-279400" algn="l">
              <a:lnSpc>
                <a:spcPct val="100000"/>
              </a:lnSpc>
              <a:spcBef>
                <a:spcPts val="320"/>
              </a:spcBef>
              <a:spcAft>
                <a:spcPts val="0"/>
              </a:spcAft>
              <a:buSzPts val="800"/>
              <a:buChar char="■"/>
              <a:defRPr sz="1600"/>
            </a:lvl5pPr>
            <a:lvl6pPr marL="2743200" lvl="5" indent="-279400" algn="l">
              <a:lnSpc>
                <a:spcPct val="100000"/>
              </a:lnSpc>
              <a:spcBef>
                <a:spcPts val="320"/>
              </a:spcBef>
              <a:spcAft>
                <a:spcPts val="0"/>
              </a:spcAft>
              <a:buSzPts val="800"/>
              <a:buChar char="■"/>
              <a:defRPr sz="1600"/>
            </a:lvl6pPr>
            <a:lvl7pPr marL="3200400" lvl="6" indent="-279400" algn="l">
              <a:lnSpc>
                <a:spcPct val="100000"/>
              </a:lnSpc>
              <a:spcBef>
                <a:spcPts val="320"/>
              </a:spcBef>
              <a:spcAft>
                <a:spcPts val="0"/>
              </a:spcAft>
              <a:buSzPts val="800"/>
              <a:buChar char="■"/>
              <a:defRPr sz="1600"/>
            </a:lvl7pPr>
            <a:lvl8pPr marL="3657600" lvl="7" indent="-279400" algn="l">
              <a:lnSpc>
                <a:spcPct val="100000"/>
              </a:lnSpc>
              <a:spcBef>
                <a:spcPts val="320"/>
              </a:spcBef>
              <a:spcAft>
                <a:spcPts val="0"/>
              </a:spcAft>
              <a:buSzPts val="800"/>
              <a:buChar char="■"/>
              <a:defRPr sz="1600"/>
            </a:lvl8pPr>
            <a:lvl9pPr marL="4114800" lvl="8" indent="-279400" algn="l">
              <a:lnSpc>
                <a:spcPct val="100000"/>
              </a:lnSpc>
              <a:spcBef>
                <a:spcPts val="320"/>
              </a:spcBef>
              <a:spcAft>
                <a:spcPts val="0"/>
              </a:spcAft>
              <a:buSzPts val="800"/>
              <a:buChar char="■"/>
              <a:defRPr sz="1600"/>
            </a:lvl9pPr>
          </a:lstStyle>
          <a:p>
            <a:endParaRPr/>
          </a:p>
        </p:txBody>
      </p:sp>
      <p:sp>
        <p:nvSpPr>
          <p:cNvPr id="51" name="Google Shape;51;p9"/>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0" bIns="45700" anchor="b" anchorCtr="0">
            <a:noAutofit/>
          </a:bodyPr>
          <a:lstStyle>
            <a:lvl1pPr marL="457200" lvl="0" indent="-228600" algn="l">
              <a:lnSpc>
                <a:spcPct val="100000"/>
              </a:lnSpc>
              <a:spcBef>
                <a:spcPts val="480"/>
              </a:spcBef>
              <a:spcAft>
                <a:spcPts val="0"/>
              </a:spcAft>
              <a:buSzPts val="1440"/>
              <a:buNone/>
              <a:defRPr sz="2400" b="1"/>
            </a:lvl1pPr>
            <a:lvl2pPr marL="914400" lvl="1" indent="-228600" algn="l">
              <a:lnSpc>
                <a:spcPct val="100000"/>
              </a:lnSpc>
              <a:spcBef>
                <a:spcPts val="400"/>
              </a:spcBef>
              <a:spcAft>
                <a:spcPts val="0"/>
              </a:spcAft>
              <a:buSzPts val="1100"/>
              <a:buNone/>
              <a:defRPr sz="2000" b="1"/>
            </a:lvl2pPr>
            <a:lvl3pPr marL="1371600" lvl="2" indent="-228600" algn="l">
              <a:lnSpc>
                <a:spcPct val="100000"/>
              </a:lnSpc>
              <a:spcBef>
                <a:spcPts val="360"/>
              </a:spcBef>
              <a:spcAft>
                <a:spcPts val="0"/>
              </a:spcAft>
              <a:buSzPts val="900"/>
              <a:buNone/>
              <a:defRPr sz="1800" b="1"/>
            </a:lvl3pPr>
            <a:lvl4pPr marL="1828800" lvl="3" indent="-228600" algn="l">
              <a:lnSpc>
                <a:spcPct val="100000"/>
              </a:lnSpc>
              <a:spcBef>
                <a:spcPts val="320"/>
              </a:spcBef>
              <a:spcAft>
                <a:spcPts val="0"/>
              </a:spcAft>
              <a:buSzPts val="880"/>
              <a:buNone/>
              <a:defRPr sz="1600" b="1"/>
            </a:lvl4pPr>
            <a:lvl5pPr marL="2286000" lvl="4" indent="-228600" algn="l">
              <a:lnSpc>
                <a:spcPct val="100000"/>
              </a:lnSpc>
              <a:spcBef>
                <a:spcPts val="320"/>
              </a:spcBef>
              <a:spcAft>
                <a:spcPts val="0"/>
              </a:spcAft>
              <a:buSzPts val="800"/>
              <a:buNone/>
              <a:defRPr sz="1600" b="1"/>
            </a:lvl5pPr>
            <a:lvl6pPr marL="2743200" lvl="5" indent="-228600" algn="l">
              <a:lnSpc>
                <a:spcPct val="100000"/>
              </a:lnSpc>
              <a:spcBef>
                <a:spcPts val="320"/>
              </a:spcBef>
              <a:spcAft>
                <a:spcPts val="0"/>
              </a:spcAft>
              <a:buSzPts val="800"/>
              <a:buNone/>
              <a:defRPr sz="1600" b="1"/>
            </a:lvl6pPr>
            <a:lvl7pPr marL="3200400" lvl="6" indent="-228600" algn="l">
              <a:lnSpc>
                <a:spcPct val="100000"/>
              </a:lnSpc>
              <a:spcBef>
                <a:spcPts val="320"/>
              </a:spcBef>
              <a:spcAft>
                <a:spcPts val="0"/>
              </a:spcAft>
              <a:buSzPts val="800"/>
              <a:buNone/>
              <a:defRPr sz="1600" b="1"/>
            </a:lvl7pPr>
            <a:lvl8pPr marL="3657600" lvl="7" indent="-228600" algn="l">
              <a:lnSpc>
                <a:spcPct val="100000"/>
              </a:lnSpc>
              <a:spcBef>
                <a:spcPts val="320"/>
              </a:spcBef>
              <a:spcAft>
                <a:spcPts val="0"/>
              </a:spcAft>
              <a:buSzPts val="800"/>
              <a:buNone/>
              <a:defRPr sz="1600" b="1"/>
            </a:lvl8pPr>
            <a:lvl9pPr marL="4114800" lvl="8" indent="-228600" algn="l">
              <a:lnSpc>
                <a:spcPct val="100000"/>
              </a:lnSpc>
              <a:spcBef>
                <a:spcPts val="320"/>
              </a:spcBef>
              <a:spcAft>
                <a:spcPts val="0"/>
              </a:spcAft>
              <a:buSzPts val="800"/>
              <a:buNone/>
              <a:defRPr sz="1600" b="1"/>
            </a:lvl9pPr>
          </a:lstStyle>
          <a:p>
            <a:endParaRPr/>
          </a:p>
        </p:txBody>
      </p:sp>
      <p:sp>
        <p:nvSpPr>
          <p:cNvPr id="52" name="Google Shape;52;p9"/>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0" bIns="45700" anchor="t" anchorCtr="0">
            <a:noAutofit/>
          </a:bodyPr>
          <a:lstStyle>
            <a:lvl1pPr marL="457200" lvl="0" indent="-320040" algn="l">
              <a:lnSpc>
                <a:spcPct val="100000"/>
              </a:lnSpc>
              <a:spcBef>
                <a:spcPts val="480"/>
              </a:spcBef>
              <a:spcAft>
                <a:spcPts val="0"/>
              </a:spcAft>
              <a:buSzPts val="1440"/>
              <a:buChar char="■"/>
              <a:defRPr sz="2400"/>
            </a:lvl1pPr>
            <a:lvl2pPr marL="914400" lvl="1" indent="-298450" algn="l">
              <a:lnSpc>
                <a:spcPct val="100000"/>
              </a:lnSpc>
              <a:spcBef>
                <a:spcPts val="400"/>
              </a:spcBef>
              <a:spcAft>
                <a:spcPts val="0"/>
              </a:spcAft>
              <a:buSzPts val="1100"/>
              <a:buChar char="■"/>
              <a:defRPr sz="2000"/>
            </a:lvl2pPr>
            <a:lvl3pPr marL="1371600" lvl="2" indent="-285750" algn="l">
              <a:lnSpc>
                <a:spcPct val="100000"/>
              </a:lnSpc>
              <a:spcBef>
                <a:spcPts val="360"/>
              </a:spcBef>
              <a:spcAft>
                <a:spcPts val="0"/>
              </a:spcAft>
              <a:buSzPts val="900"/>
              <a:buChar char="■"/>
              <a:defRPr sz="1800"/>
            </a:lvl3pPr>
            <a:lvl4pPr marL="1828800" lvl="3" indent="-284480" algn="l">
              <a:lnSpc>
                <a:spcPct val="100000"/>
              </a:lnSpc>
              <a:spcBef>
                <a:spcPts val="320"/>
              </a:spcBef>
              <a:spcAft>
                <a:spcPts val="0"/>
              </a:spcAft>
              <a:buSzPts val="880"/>
              <a:buChar char="■"/>
              <a:defRPr sz="1600"/>
            </a:lvl4pPr>
            <a:lvl5pPr marL="2286000" lvl="4" indent="-279400" algn="l">
              <a:lnSpc>
                <a:spcPct val="100000"/>
              </a:lnSpc>
              <a:spcBef>
                <a:spcPts val="320"/>
              </a:spcBef>
              <a:spcAft>
                <a:spcPts val="0"/>
              </a:spcAft>
              <a:buSzPts val="800"/>
              <a:buChar char="■"/>
              <a:defRPr sz="1600"/>
            </a:lvl5pPr>
            <a:lvl6pPr marL="2743200" lvl="5" indent="-279400" algn="l">
              <a:lnSpc>
                <a:spcPct val="100000"/>
              </a:lnSpc>
              <a:spcBef>
                <a:spcPts val="320"/>
              </a:spcBef>
              <a:spcAft>
                <a:spcPts val="0"/>
              </a:spcAft>
              <a:buSzPts val="800"/>
              <a:buChar char="■"/>
              <a:defRPr sz="1600"/>
            </a:lvl6pPr>
            <a:lvl7pPr marL="3200400" lvl="6" indent="-279400" algn="l">
              <a:lnSpc>
                <a:spcPct val="100000"/>
              </a:lnSpc>
              <a:spcBef>
                <a:spcPts val="320"/>
              </a:spcBef>
              <a:spcAft>
                <a:spcPts val="0"/>
              </a:spcAft>
              <a:buSzPts val="800"/>
              <a:buChar char="■"/>
              <a:defRPr sz="1600"/>
            </a:lvl7pPr>
            <a:lvl8pPr marL="3657600" lvl="7" indent="-279400" algn="l">
              <a:lnSpc>
                <a:spcPct val="100000"/>
              </a:lnSpc>
              <a:spcBef>
                <a:spcPts val="320"/>
              </a:spcBef>
              <a:spcAft>
                <a:spcPts val="0"/>
              </a:spcAft>
              <a:buSzPts val="800"/>
              <a:buChar char="■"/>
              <a:defRPr sz="1600"/>
            </a:lvl8pPr>
            <a:lvl9pPr marL="4114800" lvl="8" indent="-279400" algn="l">
              <a:lnSpc>
                <a:spcPct val="100000"/>
              </a:lnSpc>
              <a:spcBef>
                <a:spcPts val="320"/>
              </a:spcBef>
              <a:spcAft>
                <a:spcPts val="0"/>
              </a:spcAft>
              <a:buSzPts val="800"/>
              <a:buChar char="■"/>
              <a:defRPr sz="1600"/>
            </a:lvl9pPr>
          </a:lstStyle>
          <a:p>
            <a:endParaRPr/>
          </a:p>
        </p:txBody>
      </p:sp>
      <p:sp>
        <p:nvSpPr>
          <p:cNvPr id="53" name="Google Shape;53;p9"/>
          <p:cNvSpPr txBox="1">
            <a:spLocks noGrp="1"/>
          </p:cNvSpPr>
          <p:nvPr>
            <p:ph type="sldNum" idx="12"/>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lvl1pPr marL="0" marR="0" lvl="0"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1pPr>
            <a:lvl2pPr marL="0" marR="0" lvl="1"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2pPr>
            <a:lvl3pPr marL="0" marR="0" lvl="2"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3pPr>
            <a:lvl4pPr marL="0" marR="0" lvl="3"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4pPr>
            <a:lvl5pPr marL="0" marR="0" lvl="4"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5pPr>
            <a:lvl6pPr marL="0" marR="0" lvl="5"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6pPr>
            <a:lvl7pPr marL="0" marR="0" lvl="6"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7pPr>
            <a:lvl8pPr marL="0" marR="0" lvl="7"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8pPr>
            <a:lvl9pPr marL="0" marR="0" lvl="8"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9pPr>
          </a:lstStyle>
          <a:p>
            <a:pPr marL="0" lvl="0" indent="0" algn="r" rtl="0">
              <a:spcBef>
                <a:spcPts val="0"/>
              </a:spcBef>
              <a:spcAft>
                <a:spcPts val="0"/>
              </a:spcAft>
              <a:buNone/>
            </a:pPr>
            <a:r>
              <a:rPr lang="en-US"/>
              <a:t>Slide 10- </a:t>
            </a: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239713" y="1600200"/>
            <a:ext cx="4070350" cy="4572000"/>
          </a:xfrm>
          <a:prstGeom prst="rect">
            <a:avLst/>
          </a:prstGeom>
          <a:noFill/>
          <a:ln>
            <a:noFill/>
          </a:ln>
        </p:spPr>
        <p:txBody>
          <a:bodyPr spcFirstLastPara="1" wrap="square" lIns="91425" tIns="45700" rIns="0" bIns="45700" anchor="t" anchorCtr="0">
            <a:noAutofit/>
          </a:bodyPr>
          <a:lstStyle>
            <a:lvl1pPr marL="457200" lvl="0" indent="-335280" algn="l">
              <a:lnSpc>
                <a:spcPct val="100000"/>
              </a:lnSpc>
              <a:spcBef>
                <a:spcPts val="560"/>
              </a:spcBef>
              <a:spcAft>
                <a:spcPts val="0"/>
              </a:spcAft>
              <a:buSzPts val="1680"/>
              <a:buChar char="■"/>
              <a:defRPr sz="2800"/>
            </a:lvl1pPr>
            <a:lvl2pPr marL="914400" lvl="1" indent="-312419" algn="l">
              <a:lnSpc>
                <a:spcPct val="100000"/>
              </a:lnSpc>
              <a:spcBef>
                <a:spcPts val="480"/>
              </a:spcBef>
              <a:spcAft>
                <a:spcPts val="0"/>
              </a:spcAft>
              <a:buSzPts val="1320"/>
              <a:buChar char="■"/>
              <a:defRPr sz="2400"/>
            </a:lvl2pPr>
            <a:lvl3pPr marL="1371600" lvl="2" indent="-292100" algn="l">
              <a:lnSpc>
                <a:spcPct val="100000"/>
              </a:lnSpc>
              <a:spcBef>
                <a:spcPts val="400"/>
              </a:spcBef>
              <a:spcAft>
                <a:spcPts val="0"/>
              </a:spcAft>
              <a:buSzPts val="1000"/>
              <a:buChar char="■"/>
              <a:defRPr sz="2000"/>
            </a:lvl3pPr>
            <a:lvl4pPr marL="1828800" lvl="3" indent="-291464" algn="l">
              <a:lnSpc>
                <a:spcPct val="100000"/>
              </a:lnSpc>
              <a:spcBef>
                <a:spcPts val="360"/>
              </a:spcBef>
              <a:spcAft>
                <a:spcPts val="0"/>
              </a:spcAft>
              <a:buSzPts val="990"/>
              <a:buChar char="■"/>
              <a:defRPr sz="1800"/>
            </a:lvl4pPr>
            <a:lvl5pPr marL="2286000" lvl="4" indent="-285750" algn="l">
              <a:lnSpc>
                <a:spcPct val="100000"/>
              </a:lnSpc>
              <a:spcBef>
                <a:spcPts val="360"/>
              </a:spcBef>
              <a:spcAft>
                <a:spcPts val="0"/>
              </a:spcAft>
              <a:buSzPts val="900"/>
              <a:buChar char="■"/>
              <a:defRPr sz="1800"/>
            </a:lvl5pPr>
            <a:lvl6pPr marL="2743200" lvl="5" indent="-285750" algn="l">
              <a:lnSpc>
                <a:spcPct val="100000"/>
              </a:lnSpc>
              <a:spcBef>
                <a:spcPts val="360"/>
              </a:spcBef>
              <a:spcAft>
                <a:spcPts val="0"/>
              </a:spcAft>
              <a:buSzPts val="900"/>
              <a:buChar char="■"/>
              <a:defRPr sz="1800"/>
            </a:lvl6pPr>
            <a:lvl7pPr marL="3200400" lvl="6" indent="-285750" algn="l">
              <a:lnSpc>
                <a:spcPct val="100000"/>
              </a:lnSpc>
              <a:spcBef>
                <a:spcPts val="360"/>
              </a:spcBef>
              <a:spcAft>
                <a:spcPts val="0"/>
              </a:spcAft>
              <a:buSzPts val="900"/>
              <a:buChar char="■"/>
              <a:defRPr sz="1800"/>
            </a:lvl7pPr>
            <a:lvl8pPr marL="3657600" lvl="7" indent="-285750" algn="l">
              <a:lnSpc>
                <a:spcPct val="100000"/>
              </a:lnSpc>
              <a:spcBef>
                <a:spcPts val="360"/>
              </a:spcBef>
              <a:spcAft>
                <a:spcPts val="0"/>
              </a:spcAft>
              <a:buSzPts val="900"/>
              <a:buChar char="■"/>
              <a:defRPr sz="1800"/>
            </a:lvl8pPr>
            <a:lvl9pPr marL="4114800" lvl="8" indent="-285750" algn="l">
              <a:lnSpc>
                <a:spcPct val="100000"/>
              </a:lnSpc>
              <a:spcBef>
                <a:spcPts val="360"/>
              </a:spcBef>
              <a:spcAft>
                <a:spcPts val="0"/>
              </a:spcAft>
              <a:buSzPts val="900"/>
              <a:buChar char="■"/>
              <a:defRPr sz="1800"/>
            </a:lvl9pPr>
          </a:lstStyle>
          <a:p>
            <a:endParaRPr/>
          </a:p>
        </p:txBody>
      </p:sp>
      <p:sp>
        <p:nvSpPr>
          <p:cNvPr id="57" name="Google Shape;57;p10"/>
          <p:cNvSpPr txBox="1">
            <a:spLocks noGrp="1"/>
          </p:cNvSpPr>
          <p:nvPr>
            <p:ph type="body" idx="2"/>
          </p:nvPr>
        </p:nvSpPr>
        <p:spPr>
          <a:xfrm>
            <a:off x="4462463" y="1600200"/>
            <a:ext cx="4071937" cy="4572000"/>
          </a:xfrm>
          <a:prstGeom prst="rect">
            <a:avLst/>
          </a:prstGeom>
          <a:noFill/>
          <a:ln>
            <a:noFill/>
          </a:ln>
        </p:spPr>
        <p:txBody>
          <a:bodyPr spcFirstLastPara="1" wrap="square" lIns="91425" tIns="45700" rIns="0" bIns="45700" anchor="t" anchorCtr="0">
            <a:noAutofit/>
          </a:bodyPr>
          <a:lstStyle>
            <a:lvl1pPr marL="457200" lvl="0" indent="-335280" algn="l">
              <a:lnSpc>
                <a:spcPct val="100000"/>
              </a:lnSpc>
              <a:spcBef>
                <a:spcPts val="560"/>
              </a:spcBef>
              <a:spcAft>
                <a:spcPts val="0"/>
              </a:spcAft>
              <a:buSzPts val="1680"/>
              <a:buChar char="■"/>
              <a:defRPr sz="2800"/>
            </a:lvl1pPr>
            <a:lvl2pPr marL="914400" lvl="1" indent="-312419" algn="l">
              <a:lnSpc>
                <a:spcPct val="100000"/>
              </a:lnSpc>
              <a:spcBef>
                <a:spcPts val="480"/>
              </a:spcBef>
              <a:spcAft>
                <a:spcPts val="0"/>
              </a:spcAft>
              <a:buSzPts val="1320"/>
              <a:buChar char="■"/>
              <a:defRPr sz="2400"/>
            </a:lvl2pPr>
            <a:lvl3pPr marL="1371600" lvl="2" indent="-292100" algn="l">
              <a:lnSpc>
                <a:spcPct val="100000"/>
              </a:lnSpc>
              <a:spcBef>
                <a:spcPts val="400"/>
              </a:spcBef>
              <a:spcAft>
                <a:spcPts val="0"/>
              </a:spcAft>
              <a:buSzPts val="1000"/>
              <a:buChar char="■"/>
              <a:defRPr sz="2000"/>
            </a:lvl3pPr>
            <a:lvl4pPr marL="1828800" lvl="3" indent="-291464" algn="l">
              <a:lnSpc>
                <a:spcPct val="100000"/>
              </a:lnSpc>
              <a:spcBef>
                <a:spcPts val="360"/>
              </a:spcBef>
              <a:spcAft>
                <a:spcPts val="0"/>
              </a:spcAft>
              <a:buSzPts val="990"/>
              <a:buChar char="■"/>
              <a:defRPr sz="1800"/>
            </a:lvl4pPr>
            <a:lvl5pPr marL="2286000" lvl="4" indent="-285750" algn="l">
              <a:lnSpc>
                <a:spcPct val="100000"/>
              </a:lnSpc>
              <a:spcBef>
                <a:spcPts val="360"/>
              </a:spcBef>
              <a:spcAft>
                <a:spcPts val="0"/>
              </a:spcAft>
              <a:buSzPts val="900"/>
              <a:buChar char="■"/>
              <a:defRPr sz="1800"/>
            </a:lvl5pPr>
            <a:lvl6pPr marL="2743200" lvl="5" indent="-285750" algn="l">
              <a:lnSpc>
                <a:spcPct val="100000"/>
              </a:lnSpc>
              <a:spcBef>
                <a:spcPts val="360"/>
              </a:spcBef>
              <a:spcAft>
                <a:spcPts val="0"/>
              </a:spcAft>
              <a:buSzPts val="900"/>
              <a:buChar char="■"/>
              <a:defRPr sz="1800"/>
            </a:lvl6pPr>
            <a:lvl7pPr marL="3200400" lvl="6" indent="-285750" algn="l">
              <a:lnSpc>
                <a:spcPct val="100000"/>
              </a:lnSpc>
              <a:spcBef>
                <a:spcPts val="360"/>
              </a:spcBef>
              <a:spcAft>
                <a:spcPts val="0"/>
              </a:spcAft>
              <a:buSzPts val="900"/>
              <a:buChar char="■"/>
              <a:defRPr sz="1800"/>
            </a:lvl7pPr>
            <a:lvl8pPr marL="3657600" lvl="7" indent="-285750" algn="l">
              <a:lnSpc>
                <a:spcPct val="100000"/>
              </a:lnSpc>
              <a:spcBef>
                <a:spcPts val="360"/>
              </a:spcBef>
              <a:spcAft>
                <a:spcPts val="0"/>
              </a:spcAft>
              <a:buSzPts val="900"/>
              <a:buChar char="■"/>
              <a:defRPr sz="1800"/>
            </a:lvl8pPr>
            <a:lvl9pPr marL="4114800" lvl="8" indent="-285750" algn="l">
              <a:lnSpc>
                <a:spcPct val="100000"/>
              </a:lnSpc>
              <a:spcBef>
                <a:spcPts val="360"/>
              </a:spcBef>
              <a:spcAft>
                <a:spcPts val="0"/>
              </a:spcAft>
              <a:buSzPts val="900"/>
              <a:buChar char="■"/>
              <a:defRPr sz="1800"/>
            </a:lvl9pPr>
          </a:lstStyle>
          <a:p>
            <a:endParaRPr/>
          </a:p>
        </p:txBody>
      </p:sp>
      <p:sp>
        <p:nvSpPr>
          <p:cNvPr id="58" name="Google Shape;58;p10"/>
          <p:cNvSpPr txBox="1">
            <a:spLocks noGrp="1"/>
          </p:cNvSpPr>
          <p:nvPr>
            <p:ph type="sldNum" idx="12"/>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lvl1pPr marL="0" marR="0" lvl="0"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1pPr>
            <a:lvl2pPr marL="0" marR="0" lvl="1"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2pPr>
            <a:lvl3pPr marL="0" marR="0" lvl="2"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3pPr>
            <a:lvl4pPr marL="0" marR="0" lvl="3"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4pPr>
            <a:lvl5pPr marL="0" marR="0" lvl="4"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5pPr>
            <a:lvl6pPr marL="0" marR="0" lvl="5"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6pPr>
            <a:lvl7pPr marL="0" marR="0" lvl="6"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7pPr>
            <a:lvl8pPr marL="0" marR="0" lvl="7"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8pPr>
            <a:lvl9pPr marL="0" marR="0" lvl="8"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9pPr>
          </a:lstStyle>
          <a:p>
            <a:pPr marL="0" lvl="0" indent="0" algn="r" rtl="0">
              <a:spcBef>
                <a:spcPts val="0"/>
              </a:spcBef>
              <a:spcAft>
                <a:spcPts val="0"/>
              </a:spcAft>
              <a:buNone/>
            </a:pPr>
            <a:r>
              <a:rPr lang="en-US"/>
              <a:t>Slide 10- </a:t>
            </a: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1"/>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sz="40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11"/>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0" bIns="45700" anchor="b" anchorCtr="0">
            <a:noAutofit/>
          </a:bodyPr>
          <a:lstStyle>
            <a:lvl1pPr marL="457200" lvl="0" indent="-228600" algn="l">
              <a:lnSpc>
                <a:spcPct val="100000"/>
              </a:lnSpc>
              <a:spcBef>
                <a:spcPts val="400"/>
              </a:spcBef>
              <a:spcAft>
                <a:spcPts val="0"/>
              </a:spcAft>
              <a:buSzPts val="1200"/>
              <a:buNone/>
              <a:defRPr sz="2000"/>
            </a:lvl1pPr>
            <a:lvl2pPr marL="914400" lvl="1" indent="-228600" algn="l">
              <a:lnSpc>
                <a:spcPct val="100000"/>
              </a:lnSpc>
              <a:spcBef>
                <a:spcPts val="360"/>
              </a:spcBef>
              <a:spcAft>
                <a:spcPts val="0"/>
              </a:spcAft>
              <a:buSzPts val="990"/>
              <a:buNone/>
              <a:defRPr sz="1800"/>
            </a:lvl2pPr>
            <a:lvl3pPr marL="1371600" lvl="2" indent="-228600" algn="l">
              <a:lnSpc>
                <a:spcPct val="100000"/>
              </a:lnSpc>
              <a:spcBef>
                <a:spcPts val="320"/>
              </a:spcBef>
              <a:spcAft>
                <a:spcPts val="0"/>
              </a:spcAft>
              <a:buSzPts val="800"/>
              <a:buNone/>
              <a:defRPr sz="1600"/>
            </a:lvl3pPr>
            <a:lvl4pPr marL="1828800" lvl="3" indent="-228600" algn="l">
              <a:lnSpc>
                <a:spcPct val="100000"/>
              </a:lnSpc>
              <a:spcBef>
                <a:spcPts val="280"/>
              </a:spcBef>
              <a:spcAft>
                <a:spcPts val="0"/>
              </a:spcAft>
              <a:buSzPts val="770"/>
              <a:buNone/>
              <a:defRPr sz="1400"/>
            </a:lvl4pPr>
            <a:lvl5pPr marL="2286000" lvl="4" indent="-228600" algn="l">
              <a:lnSpc>
                <a:spcPct val="100000"/>
              </a:lnSpc>
              <a:spcBef>
                <a:spcPts val="280"/>
              </a:spcBef>
              <a:spcAft>
                <a:spcPts val="0"/>
              </a:spcAft>
              <a:buSzPts val="700"/>
              <a:buNone/>
              <a:defRPr sz="1400"/>
            </a:lvl5pPr>
            <a:lvl6pPr marL="2743200" lvl="5" indent="-228600" algn="l">
              <a:lnSpc>
                <a:spcPct val="100000"/>
              </a:lnSpc>
              <a:spcBef>
                <a:spcPts val="280"/>
              </a:spcBef>
              <a:spcAft>
                <a:spcPts val="0"/>
              </a:spcAft>
              <a:buSzPts val="700"/>
              <a:buNone/>
              <a:defRPr sz="1400"/>
            </a:lvl6pPr>
            <a:lvl7pPr marL="3200400" lvl="6" indent="-228600" algn="l">
              <a:lnSpc>
                <a:spcPct val="100000"/>
              </a:lnSpc>
              <a:spcBef>
                <a:spcPts val="280"/>
              </a:spcBef>
              <a:spcAft>
                <a:spcPts val="0"/>
              </a:spcAft>
              <a:buSzPts val="700"/>
              <a:buNone/>
              <a:defRPr sz="1400"/>
            </a:lvl7pPr>
            <a:lvl8pPr marL="3657600" lvl="7" indent="-228600" algn="l">
              <a:lnSpc>
                <a:spcPct val="100000"/>
              </a:lnSpc>
              <a:spcBef>
                <a:spcPts val="280"/>
              </a:spcBef>
              <a:spcAft>
                <a:spcPts val="0"/>
              </a:spcAft>
              <a:buSzPts val="700"/>
              <a:buNone/>
              <a:defRPr sz="1400"/>
            </a:lvl8pPr>
            <a:lvl9pPr marL="4114800" lvl="8" indent="-228600" algn="l">
              <a:lnSpc>
                <a:spcPct val="100000"/>
              </a:lnSpc>
              <a:spcBef>
                <a:spcPts val="280"/>
              </a:spcBef>
              <a:spcAft>
                <a:spcPts val="0"/>
              </a:spcAft>
              <a:buSzPts val="700"/>
              <a:buNone/>
              <a:defRPr sz="1400"/>
            </a:lvl9pPr>
          </a:lstStyle>
          <a:p>
            <a:endParaRPr/>
          </a:p>
        </p:txBody>
      </p:sp>
      <p:sp>
        <p:nvSpPr>
          <p:cNvPr id="62" name="Google Shape;62;p11"/>
          <p:cNvSpPr txBox="1">
            <a:spLocks noGrp="1"/>
          </p:cNvSpPr>
          <p:nvPr>
            <p:ph type="sldNum" idx="12"/>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lvl1pPr marL="0" marR="0" lvl="0"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1pPr>
            <a:lvl2pPr marL="0" marR="0" lvl="1"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2pPr>
            <a:lvl3pPr marL="0" marR="0" lvl="2"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3pPr>
            <a:lvl4pPr marL="0" marR="0" lvl="3"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4pPr>
            <a:lvl5pPr marL="0" marR="0" lvl="4"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5pPr>
            <a:lvl6pPr marL="0" marR="0" lvl="5"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6pPr>
            <a:lvl7pPr marL="0" marR="0" lvl="6"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7pPr>
            <a:lvl8pPr marL="0" marR="0" lvl="7"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8pPr>
            <a:lvl9pPr marL="0" marR="0" lvl="8" indent="0" algn="r">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9pPr>
          </a:lstStyle>
          <a:p>
            <a:pPr marL="0" lvl="0" indent="0" algn="r" rtl="0">
              <a:spcBef>
                <a:spcPts val="0"/>
              </a:spcBef>
              <a:spcAft>
                <a:spcPts val="0"/>
              </a:spcAft>
              <a:buNone/>
            </a:pPr>
            <a:r>
              <a:rPr lang="en-US"/>
              <a:t>Slide 10- </a:t>
            </a: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2"/>
        <p:cNvGrpSpPr/>
        <p:nvPr/>
      </p:nvGrpSpPr>
      <p:grpSpPr>
        <a:xfrm>
          <a:off x="0" y="0"/>
          <a:ext cx="0" cy="0"/>
          <a:chOff x="0" y="0"/>
          <a:chExt cx="0" cy="0"/>
        </a:xfrm>
      </p:grpSpPr>
      <p:sp>
        <p:nvSpPr>
          <p:cNvPr id="73" name="Google Shape;73;p13" descr="Pink tissue paper"/>
          <p:cNvSpPr txBox="1">
            <a:spLocks noGrp="1"/>
          </p:cNvSpPr>
          <p:nvPr>
            <p:ph type="ctrTitle"/>
          </p:nvPr>
        </p:nvSpPr>
        <p:spPr>
          <a:xfrm>
            <a:off x="228600" y="152400"/>
            <a:ext cx="7086600" cy="22860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6600">
                <a:solidFill>
                  <a:srgbClr val="990033"/>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3" descr="Pink tissue paper"/>
          <p:cNvSpPr txBox="1">
            <a:spLocks noGrp="1"/>
          </p:cNvSpPr>
          <p:nvPr>
            <p:ph type="subTitle" idx="1"/>
          </p:nvPr>
        </p:nvSpPr>
        <p:spPr>
          <a:xfrm>
            <a:off x="304800" y="2590800"/>
            <a:ext cx="6629400" cy="1905000"/>
          </a:xfrm>
          <a:prstGeom prst="rect">
            <a:avLst/>
          </a:prstGeom>
          <a:noFill/>
          <a:ln>
            <a:noFill/>
          </a:ln>
        </p:spPr>
        <p:txBody>
          <a:bodyPr spcFirstLastPara="1" wrap="square" lIns="91425" tIns="45700" rIns="0" bIns="45700" anchor="t" anchorCtr="0">
            <a:noAutofit/>
          </a:bodyPr>
          <a:lstStyle>
            <a:lvl1pPr lvl="0" algn="l">
              <a:lnSpc>
                <a:spcPct val="100000"/>
              </a:lnSpc>
              <a:spcBef>
                <a:spcPts val="640"/>
              </a:spcBef>
              <a:spcAft>
                <a:spcPts val="0"/>
              </a:spcAft>
              <a:buSzPts val="1920"/>
              <a:buFont typeface="Noto Sans Symbols"/>
              <a:buNone/>
              <a:defRPr sz="3200"/>
            </a:lvl1pPr>
            <a:lvl2pPr lvl="1" algn="l">
              <a:lnSpc>
                <a:spcPct val="100000"/>
              </a:lnSpc>
              <a:spcBef>
                <a:spcPts val="360"/>
              </a:spcBef>
              <a:spcAft>
                <a:spcPts val="0"/>
              </a:spcAft>
              <a:buSzPts val="990"/>
              <a:buChar char="■"/>
              <a:defRPr/>
            </a:lvl2pPr>
            <a:lvl3pPr lvl="2" algn="l">
              <a:lnSpc>
                <a:spcPct val="100000"/>
              </a:lnSpc>
              <a:spcBef>
                <a:spcPts val="360"/>
              </a:spcBef>
              <a:spcAft>
                <a:spcPts val="0"/>
              </a:spcAft>
              <a:buSzPts val="900"/>
              <a:buChar char="■"/>
              <a:defRPr/>
            </a:lvl3pPr>
            <a:lvl4pPr lvl="3" algn="l">
              <a:lnSpc>
                <a:spcPct val="100000"/>
              </a:lnSpc>
              <a:spcBef>
                <a:spcPts val="360"/>
              </a:spcBef>
              <a:spcAft>
                <a:spcPts val="0"/>
              </a:spcAft>
              <a:buSzPts val="990"/>
              <a:buChar char="■"/>
              <a:defRPr/>
            </a:lvl4pPr>
            <a:lvl5pPr lvl="4" algn="l">
              <a:lnSpc>
                <a:spcPct val="100000"/>
              </a:lnSpc>
              <a:spcBef>
                <a:spcPts val="360"/>
              </a:spcBef>
              <a:spcAft>
                <a:spcPts val="0"/>
              </a:spcAft>
              <a:buSzPts val="900"/>
              <a:buChar char="■"/>
              <a:defRPr/>
            </a:lvl5pPr>
            <a:lvl6pPr lvl="5" algn="l">
              <a:lnSpc>
                <a:spcPct val="100000"/>
              </a:lnSpc>
              <a:spcBef>
                <a:spcPts val="360"/>
              </a:spcBef>
              <a:spcAft>
                <a:spcPts val="0"/>
              </a:spcAft>
              <a:buSzPts val="900"/>
              <a:buChar char="■"/>
              <a:defRPr/>
            </a:lvl6pPr>
            <a:lvl7pPr lvl="6" algn="l">
              <a:lnSpc>
                <a:spcPct val="100000"/>
              </a:lnSpc>
              <a:spcBef>
                <a:spcPts val="360"/>
              </a:spcBef>
              <a:spcAft>
                <a:spcPts val="0"/>
              </a:spcAft>
              <a:buSzPts val="900"/>
              <a:buChar char="■"/>
              <a:defRPr/>
            </a:lvl7pPr>
            <a:lvl8pPr lvl="7" algn="l">
              <a:lnSpc>
                <a:spcPct val="100000"/>
              </a:lnSpc>
              <a:spcBef>
                <a:spcPts val="360"/>
              </a:spcBef>
              <a:spcAft>
                <a:spcPts val="0"/>
              </a:spcAft>
              <a:buSzPts val="900"/>
              <a:buChar char="■"/>
              <a:defRPr/>
            </a:lvl8pPr>
            <a:lvl9pPr lvl="8" algn="l">
              <a:lnSpc>
                <a:spcPct val="100000"/>
              </a:lnSpc>
              <a:spcBef>
                <a:spcPts val="360"/>
              </a:spcBef>
              <a:spcAft>
                <a:spcPts val="0"/>
              </a:spcAft>
              <a:buSzPts val="900"/>
              <a:buChar char="■"/>
              <a:defRPr/>
            </a:lvl9pPr>
          </a:lstStyle>
          <a:p>
            <a:endParaRPr/>
          </a:p>
        </p:txBody>
      </p:sp>
      <p:sp>
        <p:nvSpPr>
          <p:cNvPr id="75" name="Google Shape;75;p13"/>
          <p:cNvSpPr txBox="1">
            <a:spLocks noGrp="1"/>
          </p:cNvSpPr>
          <p:nvPr>
            <p:ph type="ftr" idx="11"/>
          </p:nvPr>
        </p:nvSpPr>
        <p:spPr>
          <a:xfrm>
            <a:off x="838200" y="6397625"/>
            <a:ext cx="4495800" cy="457200"/>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sz="900" i="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11.xml"/><Relationship Id="rId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grpSp>
        <p:nvGrpSpPr>
          <p:cNvPr id="10" name="Google Shape;10;p1"/>
          <p:cNvGrpSpPr/>
          <p:nvPr/>
        </p:nvGrpSpPr>
        <p:grpSpPr>
          <a:xfrm>
            <a:off x="8936037" y="1449387"/>
            <a:ext cx="207962" cy="5408612"/>
            <a:chOff x="5606" y="889"/>
            <a:chExt cx="154" cy="3431"/>
          </a:xfrm>
        </p:grpSpPr>
        <p:sp>
          <p:nvSpPr>
            <p:cNvPr id="11" name="Google Shape;11;p1"/>
            <p:cNvSpPr txBox="1"/>
            <p:nvPr/>
          </p:nvSpPr>
          <p:spPr>
            <a:xfrm flipH="1">
              <a:off x="5685" y="889"/>
              <a:ext cx="75" cy="3431"/>
            </a:xfrm>
            <a:prstGeom prst="rect">
              <a:avLst/>
            </a:prstGeom>
            <a:solidFill>
              <a:srgbClr val="677228"/>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1" u="none" strike="noStrike" cap="none">
                <a:solidFill>
                  <a:schemeClr val="dk1"/>
                </a:solidFill>
                <a:latin typeface="Arial"/>
                <a:ea typeface="Arial"/>
                <a:cs typeface="Arial"/>
                <a:sym typeface="Arial"/>
              </a:endParaRPr>
            </a:p>
          </p:txBody>
        </p:sp>
        <p:grpSp>
          <p:nvGrpSpPr>
            <p:cNvPr id="12" name="Google Shape;12;p1"/>
            <p:cNvGrpSpPr/>
            <p:nvPr/>
          </p:nvGrpSpPr>
          <p:grpSpPr>
            <a:xfrm>
              <a:off x="5606" y="889"/>
              <a:ext cx="106" cy="3431"/>
              <a:chOff x="5606" y="889"/>
              <a:chExt cx="106" cy="3431"/>
            </a:xfrm>
          </p:grpSpPr>
          <p:sp>
            <p:nvSpPr>
              <p:cNvPr id="13" name="Google Shape;13;p1"/>
              <p:cNvSpPr txBox="1"/>
              <p:nvPr/>
            </p:nvSpPr>
            <p:spPr>
              <a:xfrm rot="10800000" flipH="1">
                <a:off x="5606" y="889"/>
                <a:ext cx="58" cy="3431"/>
              </a:xfrm>
              <a:prstGeom prst="rect">
                <a:avLst/>
              </a:prstGeom>
              <a:solidFill>
                <a:schemeClr val="dk2"/>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1" u="none" strike="noStrike" cap="none">
                  <a:solidFill>
                    <a:schemeClr val="dk1"/>
                  </a:solidFill>
                  <a:latin typeface="Arial"/>
                  <a:ea typeface="Arial"/>
                  <a:cs typeface="Arial"/>
                  <a:sym typeface="Arial"/>
                </a:endParaRPr>
              </a:p>
            </p:txBody>
          </p:sp>
          <p:sp>
            <p:nvSpPr>
              <p:cNvPr id="14" name="Google Shape;14;p1"/>
              <p:cNvSpPr txBox="1"/>
              <p:nvPr/>
            </p:nvSpPr>
            <p:spPr>
              <a:xfrm rot="10800000" flipH="1">
                <a:off x="5654" y="889"/>
                <a:ext cx="58" cy="3431"/>
              </a:xfrm>
              <a:prstGeom prst="rect">
                <a:avLst/>
              </a:prstGeom>
              <a:solidFill>
                <a:srgbClr val="990033"/>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1" u="none" strike="noStrike" cap="none">
                  <a:solidFill>
                    <a:schemeClr val="dk1"/>
                  </a:solidFill>
                  <a:latin typeface="Arial"/>
                  <a:ea typeface="Arial"/>
                  <a:cs typeface="Arial"/>
                  <a:sym typeface="Arial"/>
                </a:endParaRPr>
              </a:p>
            </p:txBody>
          </p:sp>
        </p:grpSp>
      </p:grpSp>
      <p:sp>
        <p:nvSpPr>
          <p:cNvPr id="15" name="Google Shape;15;p1"/>
          <p:cNvSpPr txBox="1"/>
          <p:nvPr/>
        </p:nvSpPr>
        <p:spPr>
          <a:xfrm>
            <a:off x="-1" y="1"/>
            <a:ext cx="9140825" cy="1449387"/>
          </a:xfrm>
          <a:prstGeom prst="rect">
            <a:avLst/>
          </a:prstGeom>
          <a:solidFill>
            <a:srgbClr val="677228">
              <a:alpha val="35294"/>
            </a:srgbClr>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1" u="none" strike="noStrike" cap="none">
              <a:solidFill>
                <a:schemeClr val="dk1"/>
              </a:solidFill>
              <a:latin typeface="Arial"/>
              <a:ea typeface="Arial"/>
              <a:cs typeface="Arial"/>
              <a:sym typeface="Arial"/>
            </a:endParaRPr>
          </a:p>
        </p:txBody>
      </p:sp>
      <p:sp>
        <p:nvSpPr>
          <p:cNvPr id="16" name="Google Shape;16;p1"/>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9pPr>
          </a:lstStyle>
          <a:p>
            <a:endParaRPr/>
          </a:p>
        </p:txBody>
      </p:sp>
      <p:sp>
        <p:nvSpPr>
          <p:cNvPr id="17" name="Google Shape;17;p1"/>
          <p:cNvSpPr txBox="1">
            <a:spLocks noGrp="1"/>
          </p:cNvSpPr>
          <p:nvPr>
            <p:ph type="sldNum" idx="12"/>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1pPr>
            <a:lvl2pPr marL="0" marR="0" lvl="1" indent="0" algn="r" rtl="0">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2pPr>
            <a:lvl3pPr marL="0" marR="0" lvl="2" indent="0" algn="r" rtl="0">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3pPr>
            <a:lvl4pPr marL="0" marR="0" lvl="3" indent="0" algn="r" rtl="0">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4pPr>
            <a:lvl5pPr marL="0" marR="0" lvl="4" indent="0" algn="r" rtl="0">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5pPr>
            <a:lvl6pPr marL="0" marR="0" lvl="5" indent="0" algn="r" rtl="0">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6pPr>
            <a:lvl7pPr marL="0" marR="0" lvl="6" indent="0" algn="r" rtl="0">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7pPr>
            <a:lvl8pPr marL="0" marR="0" lvl="7" indent="0" algn="r" rtl="0">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8pPr>
            <a:lvl9pPr marL="0" marR="0" lvl="8" indent="0" algn="r" rtl="0">
              <a:lnSpc>
                <a:spcPct val="100000"/>
              </a:lnSpc>
              <a:spcBef>
                <a:spcPts val="0"/>
              </a:spcBef>
              <a:spcAft>
                <a:spcPts val="0"/>
              </a:spcAft>
              <a:buClr>
                <a:srgbClr val="990033"/>
              </a:buClr>
              <a:buSzPts val="1400"/>
              <a:buFont typeface="Arial"/>
              <a:buNone/>
              <a:defRPr sz="1400" b="1" i="0" u="none" strike="noStrike" cap="none">
                <a:solidFill>
                  <a:srgbClr val="990033"/>
                </a:solidFill>
                <a:latin typeface="Arial"/>
                <a:ea typeface="Arial"/>
                <a:cs typeface="Arial"/>
                <a:sym typeface="Arial"/>
              </a:defRPr>
            </a:lvl9pPr>
          </a:lstStyle>
          <a:p>
            <a:pPr marL="0" lvl="0" indent="0" algn="r" rtl="0">
              <a:spcBef>
                <a:spcPts val="0"/>
              </a:spcBef>
              <a:spcAft>
                <a:spcPts val="0"/>
              </a:spcAft>
              <a:buNone/>
            </a:pPr>
            <a:r>
              <a:rPr lang="en-US"/>
              <a:t>Slide 10- </a:t>
            </a:r>
            <a:fld id="{00000000-1234-1234-1234-123412341234}" type="slidenum">
              <a:rPr lang="en-US"/>
              <a:t>‹#›</a:t>
            </a:fld>
            <a:endParaRPr b="0">
              <a:solidFill>
                <a:srgbClr val="000000"/>
              </a:solidFill>
            </a:endParaRPr>
          </a:p>
        </p:txBody>
      </p:sp>
      <p:sp>
        <p:nvSpPr>
          <p:cNvPr id="18" name="Google Shape;18;p1"/>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lvl1pPr marL="457200" marR="0" lvl="0" indent="-335280" algn="l" rtl="0">
              <a:lnSpc>
                <a:spcPct val="100000"/>
              </a:lnSpc>
              <a:spcBef>
                <a:spcPts val="560"/>
              </a:spcBef>
              <a:spcAft>
                <a:spcPts val="0"/>
              </a:spcAft>
              <a:buClr>
                <a:srgbClr val="990033"/>
              </a:buClr>
              <a:buSzPts val="1680"/>
              <a:buFont typeface="Noto Sans Symbols"/>
              <a:buChar char="■"/>
              <a:defRPr sz="2800" b="0" i="0" u="none" strike="noStrike" cap="none">
                <a:solidFill>
                  <a:schemeClr val="dk2"/>
                </a:solidFill>
                <a:latin typeface="Arial"/>
                <a:ea typeface="Arial"/>
                <a:cs typeface="Arial"/>
                <a:sym typeface="Arial"/>
              </a:defRPr>
            </a:lvl1pPr>
            <a:lvl2pPr marL="914400" marR="0" lvl="1" indent="-319405" algn="l" rtl="0">
              <a:lnSpc>
                <a:spcPct val="100000"/>
              </a:lnSpc>
              <a:spcBef>
                <a:spcPts val="520"/>
              </a:spcBef>
              <a:spcAft>
                <a:spcPts val="0"/>
              </a:spcAft>
              <a:buClr>
                <a:schemeClr val="dk2"/>
              </a:buClr>
              <a:buSzPts val="1430"/>
              <a:buFont typeface="Noto Sans Symbols"/>
              <a:buChar char="■"/>
              <a:defRPr sz="2600" b="0" i="0" u="none" strike="noStrike" cap="none">
                <a:solidFill>
                  <a:srgbClr val="800000"/>
                </a:solidFill>
                <a:latin typeface="Arial"/>
                <a:ea typeface="Arial"/>
                <a:cs typeface="Arial"/>
                <a:sym typeface="Arial"/>
              </a:defRPr>
            </a:lvl2pPr>
            <a:lvl3pPr marL="1371600" marR="0" lvl="2" indent="-304800" algn="l" rtl="0">
              <a:lnSpc>
                <a:spcPct val="100000"/>
              </a:lnSpc>
              <a:spcBef>
                <a:spcPts val="480"/>
              </a:spcBef>
              <a:spcAft>
                <a:spcPts val="0"/>
              </a:spcAft>
              <a:buClr>
                <a:srgbClr val="990033"/>
              </a:buClr>
              <a:buSzPts val="1200"/>
              <a:buFont typeface="Noto Sans Symbols"/>
              <a:buChar char="■"/>
              <a:defRPr sz="2400" b="0" i="0" u="none" strike="noStrike" cap="none">
                <a:solidFill>
                  <a:schemeClr val="dk2"/>
                </a:solidFill>
                <a:latin typeface="Arial"/>
                <a:ea typeface="Arial"/>
                <a:cs typeface="Arial"/>
                <a:sym typeface="Arial"/>
              </a:defRPr>
            </a:lvl3pPr>
            <a:lvl4pPr marL="1828800" marR="0" lvl="3" indent="-298450" algn="l" rtl="0">
              <a:lnSpc>
                <a:spcPct val="100000"/>
              </a:lnSpc>
              <a:spcBef>
                <a:spcPts val="400"/>
              </a:spcBef>
              <a:spcAft>
                <a:spcPts val="0"/>
              </a:spcAft>
              <a:buClr>
                <a:schemeClr val="dk2"/>
              </a:buClr>
              <a:buSzPts val="1100"/>
              <a:buFont typeface="Noto Sans Symbols"/>
              <a:buChar char="■"/>
              <a:defRPr sz="2000" b="0" i="0" u="none" strike="noStrike" cap="none">
                <a:solidFill>
                  <a:srgbClr val="800000"/>
                </a:solidFill>
                <a:latin typeface="Arial"/>
                <a:ea typeface="Arial"/>
                <a:cs typeface="Arial"/>
                <a:sym typeface="Arial"/>
              </a:defRPr>
            </a:lvl4pPr>
            <a:lvl5pPr marL="2286000" marR="0" lvl="4" indent="-292100" algn="l" rtl="0">
              <a:lnSpc>
                <a:spcPct val="100000"/>
              </a:lnSpc>
              <a:spcBef>
                <a:spcPts val="400"/>
              </a:spcBef>
              <a:spcAft>
                <a:spcPts val="0"/>
              </a:spcAft>
              <a:buClr>
                <a:srgbClr val="990033"/>
              </a:buClr>
              <a:buSzPts val="1000"/>
              <a:buFont typeface="Noto Sans Symbols"/>
              <a:buChar char="■"/>
              <a:defRPr sz="2000" b="0" i="0" u="none" strike="noStrike" cap="none">
                <a:solidFill>
                  <a:schemeClr val="dk2"/>
                </a:solidFill>
                <a:latin typeface="Arial"/>
                <a:ea typeface="Arial"/>
                <a:cs typeface="Arial"/>
                <a:sym typeface="Arial"/>
              </a:defRPr>
            </a:lvl5pPr>
            <a:lvl6pPr marL="2743200" marR="0" lvl="5" indent="-292100" algn="l" rtl="0">
              <a:lnSpc>
                <a:spcPct val="100000"/>
              </a:lnSpc>
              <a:spcBef>
                <a:spcPts val="400"/>
              </a:spcBef>
              <a:spcAft>
                <a:spcPts val="0"/>
              </a:spcAft>
              <a:buClr>
                <a:srgbClr val="990033"/>
              </a:buClr>
              <a:buSzPts val="1000"/>
              <a:buFont typeface="Noto Sans Symbols"/>
              <a:buChar char="■"/>
              <a:defRPr sz="2000" b="0" i="0" u="none" strike="noStrike" cap="none">
                <a:solidFill>
                  <a:schemeClr val="dk2"/>
                </a:solidFill>
                <a:latin typeface="Arial"/>
                <a:ea typeface="Arial"/>
                <a:cs typeface="Arial"/>
                <a:sym typeface="Arial"/>
              </a:defRPr>
            </a:lvl6pPr>
            <a:lvl7pPr marL="3200400" marR="0" lvl="6" indent="-292100" algn="l" rtl="0">
              <a:lnSpc>
                <a:spcPct val="100000"/>
              </a:lnSpc>
              <a:spcBef>
                <a:spcPts val="400"/>
              </a:spcBef>
              <a:spcAft>
                <a:spcPts val="0"/>
              </a:spcAft>
              <a:buClr>
                <a:srgbClr val="990033"/>
              </a:buClr>
              <a:buSzPts val="1000"/>
              <a:buFont typeface="Noto Sans Symbols"/>
              <a:buChar char="■"/>
              <a:defRPr sz="2000" b="0" i="0" u="none" strike="noStrike" cap="none">
                <a:solidFill>
                  <a:schemeClr val="dk2"/>
                </a:solidFill>
                <a:latin typeface="Arial"/>
                <a:ea typeface="Arial"/>
                <a:cs typeface="Arial"/>
                <a:sym typeface="Arial"/>
              </a:defRPr>
            </a:lvl7pPr>
            <a:lvl8pPr marL="3657600" marR="0" lvl="7" indent="-292100" algn="l" rtl="0">
              <a:lnSpc>
                <a:spcPct val="100000"/>
              </a:lnSpc>
              <a:spcBef>
                <a:spcPts val="400"/>
              </a:spcBef>
              <a:spcAft>
                <a:spcPts val="0"/>
              </a:spcAft>
              <a:buClr>
                <a:srgbClr val="990033"/>
              </a:buClr>
              <a:buSzPts val="1000"/>
              <a:buFont typeface="Noto Sans Symbols"/>
              <a:buChar char="■"/>
              <a:defRPr sz="2000" b="0" i="0" u="none" strike="noStrike" cap="none">
                <a:solidFill>
                  <a:schemeClr val="dk2"/>
                </a:solidFill>
                <a:latin typeface="Arial"/>
                <a:ea typeface="Arial"/>
                <a:cs typeface="Arial"/>
                <a:sym typeface="Arial"/>
              </a:defRPr>
            </a:lvl8pPr>
            <a:lvl9pPr marL="4114800" marR="0" lvl="8" indent="-292100" algn="l" rtl="0">
              <a:lnSpc>
                <a:spcPct val="100000"/>
              </a:lnSpc>
              <a:spcBef>
                <a:spcPts val="400"/>
              </a:spcBef>
              <a:spcAft>
                <a:spcPts val="0"/>
              </a:spcAft>
              <a:buClr>
                <a:srgbClr val="990033"/>
              </a:buClr>
              <a:buSzPts val="1000"/>
              <a:buFont typeface="Noto Sans Symbols"/>
              <a:buChar char="■"/>
              <a:defRPr sz="2000" b="0" i="0" u="none" strike="noStrike" cap="none">
                <a:solidFill>
                  <a:schemeClr val="dk2"/>
                </a:solidFill>
                <a:latin typeface="Arial"/>
                <a:ea typeface="Arial"/>
                <a:cs typeface="Arial"/>
                <a:sym typeface="Arial"/>
              </a:defRPr>
            </a:lvl9pPr>
          </a:lstStyle>
          <a:p>
            <a:endParaRPr/>
          </a:p>
        </p:txBody>
      </p:sp>
      <p:sp>
        <p:nvSpPr>
          <p:cNvPr id="19" name="Google Shape;19;p1"/>
          <p:cNvSpPr txBox="1"/>
          <p:nvPr/>
        </p:nvSpPr>
        <p:spPr>
          <a:xfrm>
            <a:off x="838200" y="6397625"/>
            <a:ext cx="4495800" cy="4572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chemeClr val="dk1"/>
              </a:buClr>
              <a:buSzPts val="900"/>
              <a:buFont typeface="Arial"/>
              <a:buNone/>
            </a:pPr>
            <a:r>
              <a:rPr lang="en-US" sz="900" b="0" i="0" u="none" strike="noStrike" cap="none">
                <a:solidFill>
                  <a:schemeClr val="dk1"/>
                </a:solidFill>
                <a:latin typeface="Arial"/>
                <a:ea typeface="Arial"/>
                <a:cs typeface="Arial"/>
                <a:sym typeface="Arial"/>
              </a:rPr>
              <a:t>Copyright © 2007 </a:t>
            </a:r>
            <a:r>
              <a:rPr lang="en-US" sz="900" b="0" i="0" u="none" strike="noStrike" cap="none">
                <a:solidFill>
                  <a:srgbClr val="000000"/>
                </a:solidFill>
                <a:latin typeface="Arial"/>
                <a:ea typeface="Arial"/>
                <a:cs typeface="Arial"/>
                <a:sym typeface="Arial"/>
              </a:rPr>
              <a:t>Ramez Elmasri and Shamkant B. Navathe</a:t>
            </a: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3"/>
        <p:cNvGrpSpPr/>
        <p:nvPr/>
      </p:nvGrpSpPr>
      <p:grpSpPr>
        <a:xfrm>
          <a:off x="0" y="0"/>
          <a:ext cx="0" cy="0"/>
          <a:chOff x="0" y="0"/>
          <a:chExt cx="0" cy="0"/>
        </a:xfrm>
      </p:grpSpPr>
      <p:sp>
        <p:nvSpPr>
          <p:cNvPr id="64" name="Google Shape;64;p12"/>
          <p:cNvSpPr txBox="1"/>
          <p:nvPr/>
        </p:nvSpPr>
        <p:spPr>
          <a:xfrm>
            <a:off x="8305800" y="0"/>
            <a:ext cx="609600" cy="6858000"/>
          </a:xfrm>
          <a:prstGeom prst="rect">
            <a:avLst/>
          </a:prstGeom>
          <a:gradFill>
            <a:gsLst>
              <a:gs pos="0">
                <a:srgbClr val="677228">
                  <a:alpha val="43529"/>
                </a:srgbClr>
              </a:gs>
              <a:gs pos="100000">
                <a:srgbClr val="5A6423"/>
              </a:gs>
            </a:gsLst>
            <a:lin ang="5400000" scaled="0"/>
          </a:gra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1" u="none" strike="noStrike" cap="none">
              <a:solidFill>
                <a:schemeClr val="dk1"/>
              </a:solidFill>
              <a:latin typeface="Arial"/>
              <a:ea typeface="Arial"/>
              <a:cs typeface="Arial"/>
              <a:sym typeface="Arial"/>
            </a:endParaRPr>
          </a:p>
        </p:txBody>
      </p:sp>
      <p:sp>
        <p:nvSpPr>
          <p:cNvPr id="65" name="Google Shape;65;p12"/>
          <p:cNvSpPr txBox="1"/>
          <p:nvPr/>
        </p:nvSpPr>
        <p:spPr>
          <a:xfrm rot="-5400000">
            <a:off x="3500437" y="-985837"/>
            <a:ext cx="2143125" cy="9144000"/>
          </a:xfrm>
          <a:prstGeom prst="rect">
            <a:avLst/>
          </a:prstGeom>
          <a:solidFill>
            <a:srgbClr val="677228">
              <a:alpha val="43137"/>
            </a:srgbClr>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1" u="none" strike="noStrike" cap="none">
              <a:solidFill>
                <a:schemeClr val="dk1"/>
              </a:solidFill>
              <a:latin typeface="Arial"/>
              <a:ea typeface="Arial"/>
              <a:cs typeface="Arial"/>
              <a:sym typeface="Arial"/>
            </a:endParaRPr>
          </a:p>
        </p:txBody>
      </p:sp>
      <p:sp>
        <p:nvSpPr>
          <p:cNvPr id="66" name="Google Shape;66;p12"/>
          <p:cNvSpPr txBox="1"/>
          <p:nvPr/>
        </p:nvSpPr>
        <p:spPr>
          <a:xfrm>
            <a:off x="7315200" y="2438400"/>
            <a:ext cx="1828800" cy="2290762"/>
          </a:xfrm>
          <a:prstGeom prst="rect">
            <a:avLst/>
          </a:prstGeom>
          <a:solidFill>
            <a:schemeClr val="lt1"/>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1" u="none" strike="noStrike" cap="none">
              <a:solidFill>
                <a:schemeClr val="dk1"/>
              </a:solidFill>
              <a:latin typeface="Arial"/>
              <a:ea typeface="Arial"/>
              <a:cs typeface="Arial"/>
              <a:sym typeface="Arial"/>
            </a:endParaRPr>
          </a:p>
        </p:txBody>
      </p:sp>
      <p:pic>
        <p:nvPicPr>
          <p:cNvPr id="67" name="Google Shape;67;p12" descr="awtri_4c UPDATE_color"/>
          <p:cNvPicPr preferRelativeResize="0"/>
          <p:nvPr/>
        </p:nvPicPr>
        <p:blipFill rotWithShape="1">
          <a:blip r:embed="rId3">
            <a:alphaModFix/>
          </a:blip>
          <a:srcRect/>
          <a:stretch/>
        </p:blipFill>
        <p:spPr>
          <a:xfrm>
            <a:off x="76200" y="5949950"/>
            <a:ext cx="684212" cy="831850"/>
          </a:xfrm>
          <a:prstGeom prst="rect">
            <a:avLst/>
          </a:prstGeom>
          <a:noFill/>
          <a:ln>
            <a:noFill/>
          </a:ln>
        </p:spPr>
      </p:pic>
      <p:pic>
        <p:nvPicPr>
          <p:cNvPr id="68" name="Google Shape;68;p12" descr="elmasri_thumb"/>
          <p:cNvPicPr preferRelativeResize="0"/>
          <p:nvPr/>
        </p:nvPicPr>
        <p:blipFill rotWithShape="1">
          <a:blip r:embed="rId4">
            <a:alphaModFix/>
          </a:blip>
          <a:srcRect/>
          <a:stretch/>
        </p:blipFill>
        <p:spPr>
          <a:xfrm>
            <a:off x="7419975" y="2514600"/>
            <a:ext cx="1724025" cy="2143125"/>
          </a:xfrm>
          <a:prstGeom prst="rect">
            <a:avLst/>
          </a:prstGeom>
          <a:noFill/>
          <a:ln>
            <a:noFill/>
          </a:ln>
        </p:spPr>
      </p:pic>
      <p:sp>
        <p:nvSpPr>
          <p:cNvPr id="69" name="Google Shape;69;p12"/>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3600" b="0" i="0" u="none" strike="noStrike" cap="none">
                <a:solidFill>
                  <a:srgbClr val="800000"/>
                </a:solidFill>
                <a:latin typeface="Arial"/>
                <a:ea typeface="Arial"/>
                <a:cs typeface="Arial"/>
                <a:sym typeface="Arial"/>
              </a:defRPr>
            </a:lvl9pPr>
          </a:lstStyle>
          <a:p>
            <a:endParaRPr/>
          </a:p>
        </p:txBody>
      </p:sp>
      <p:sp>
        <p:nvSpPr>
          <p:cNvPr id="70" name="Google Shape;70;p12"/>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lvl1pPr marL="457200" marR="0" lvl="0" indent="-335280" algn="l" rtl="0">
              <a:lnSpc>
                <a:spcPct val="100000"/>
              </a:lnSpc>
              <a:spcBef>
                <a:spcPts val="560"/>
              </a:spcBef>
              <a:spcAft>
                <a:spcPts val="0"/>
              </a:spcAft>
              <a:buClr>
                <a:srgbClr val="990033"/>
              </a:buClr>
              <a:buSzPts val="1680"/>
              <a:buFont typeface="Noto Sans Symbols"/>
              <a:buChar char="■"/>
              <a:defRPr sz="2800" b="0" i="0" u="none" strike="noStrike" cap="none">
                <a:solidFill>
                  <a:schemeClr val="dk2"/>
                </a:solidFill>
                <a:latin typeface="Arial"/>
                <a:ea typeface="Arial"/>
                <a:cs typeface="Arial"/>
                <a:sym typeface="Arial"/>
              </a:defRPr>
            </a:lvl1pPr>
            <a:lvl2pPr marL="914400" marR="0" lvl="1" indent="-319405" algn="l" rtl="0">
              <a:lnSpc>
                <a:spcPct val="100000"/>
              </a:lnSpc>
              <a:spcBef>
                <a:spcPts val="520"/>
              </a:spcBef>
              <a:spcAft>
                <a:spcPts val="0"/>
              </a:spcAft>
              <a:buClr>
                <a:schemeClr val="dk2"/>
              </a:buClr>
              <a:buSzPts val="1430"/>
              <a:buFont typeface="Noto Sans Symbols"/>
              <a:buChar char="■"/>
              <a:defRPr sz="2600" b="0" i="0" u="none" strike="noStrike" cap="none">
                <a:solidFill>
                  <a:srgbClr val="800000"/>
                </a:solidFill>
                <a:latin typeface="Arial"/>
                <a:ea typeface="Arial"/>
                <a:cs typeface="Arial"/>
                <a:sym typeface="Arial"/>
              </a:defRPr>
            </a:lvl2pPr>
            <a:lvl3pPr marL="1371600" marR="0" lvl="2" indent="-304800" algn="l" rtl="0">
              <a:lnSpc>
                <a:spcPct val="100000"/>
              </a:lnSpc>
              <a:spcBef>
                <a:spcPts val="480"/>
              </a:spcBef>
              <a:spcAft>
                <a:spcPts val="0"/>
              </a:spcAft>
              <a:buClr>
                <a:srgbClr val="990033"/>
              </a:buClr>
              <a:buSzPts val="1200"/>
              <a:buFont typeface="Noto Sans Symbols"/>
              <a:buChar char="■"/>
              <a:defRPr sz="2400" b="0" i="0" u="none" strike="noStrike" cap="none">
                <a:solidFill>
                  <a:schemeClr val="dk2"/>
                </a:solidFill>
                <a:latin typeface="Arial"/>
                <a:ea typeface="Arial"/>
                <a:cs typeface="Arial"/>
                <a:sym typeface="Arial"/>
              </a:defRPr>
            </a:lvl3pPr>
            <a:lvl4pPr marL="1828800" marR="0" lvl="3" indent="-298450" algn="l" rtl="0">
              <a:lnSpc>
                <a:spcPct val="100000"/>
              </a:lnSpc>
              <a:spcBef>
                <a:spcPts val="400"/>
              </a:spcBef>
              <a:spcAft>
                <a:spcPts val="0"/>
              </a:spcAft>
              <a:buClr>
                <a:schemeClr val="dk2"/>
              </a:buClr>
              <a:buSzPts val="1100"/>
              <a:buFont typeface="Noto Sans Symbols"/>
              <a:buChar char="■"/>
              <a:defRPr sz="2000" b="0" i="0" u="none" strike="noStrike" cap="none">
                <a:solidFill>
                  <a:srgbClr val="800000"/>
                </a:solidFill>
                <a:latin typeface="Arial"/>
                <a:ea typeface="Arial"/>
                <a:cs typeface="Arial"/>
                <a:sym typeface="Arial"/>
              </a:defRPr>
            </a:lvl4pPr>
            <a:lvl5pPr marL="2286000" marR="0" lvl="4" indent="-292100" algn="l" rtl="0">
              <a:lnSpc>
                <a:spcPct val="100000"/>
              </a:lnSpc>
              <a:spcBef>
                <a:spcPts val="400"/>
              </a:spcBef>
              <a:spcAft>
                <a:spcPts val="0"/>
              </a:spcAft>
              <a:buClr>
                <a:srgbClr val="990033"/>
              </a:buClr>
              <a:buSzPts val="1000"/>
              <a:buFont typeface="Noto Sans Symbols"/>
              <a:buChar char="■"/>
              <a:defRPr sz="2000" b="0" i="0" u="none" strike="noStrike" cap="none">
                <a:solidFill>
                  <a:schemeClr val="dk2"/>
                </a:solidFill>
                <a:latin typeface="Arial"/>
                <a:ea typeface="Arial"/>
                <a:cs typeface="Arial"/>
                <a:sym typeface="Arial"/>
              </a:defRPr>
            </a:lvl5pPr>
            <a:lvl6pPr marL="2743200" marR="0" lvl="5" indent="-292100" algn="l" rtl="0">
              <a:lnSpc>
                <a:spcPct val="100000"/>
              </a:lnSpc>
              <a:spcBef>
                <a:spcPts val="400"/>
              </a:spcBef>
              <a:spcAft>
                <a:spcPts val="0"/>
              </a:spcAft>
              <a:buClr>
                <a:srgbClr val="990033"/>
              </a:buClr>
              <a:buSzPts val="1000"/>
              <a:buFont typeface="Noto Sans Symbols"/>
              <a:buChar char="■"/>
              <a:defRPr sz="2000" b="0" i="0" u="none" strike="noStrike" cap="none">
                <a:solidFill>
                  <a:schemeClr val="dk2"/>
                </a:solidFill>
                <a:latin typeface="Arial"/>
                <a:ea typeface="Arial"/>
                <a:cs typeface="Arial"/>
                <a:sym typeface="Arial"/>
              </a:defRPr>
            </a:lvl6pPr>
            <a:lvl7pPr marL="3200400" marR="0" lvl="6" indent="-292100" algn="l" rtl="0">
              <a:lnSpc>
                <a:spcPct val="100000"/>
              </a:lnSpc>
              <a:spcBef>
                <a:spcPts val="400"/>
              </a:spcBef>
              <a:spcAft>
                <a:spcPts val="0"/>
              </a:spcAft>
              <a:buClr>
                <a:srgbClr val="990033"/>
              </a:buClr>
              <a:buSzPts val="1000"/>
              <a:buFont typeface="Noto Sans Symbols"/>
              <a:buChar char="■"/>
              <a:defRPr sz="2000" b="0" i="0" u="none" strike="noStrike" cap="none">
                <a:solidFill>
                  <a:schemeClr val="dk2"/>
                </a:solidFill>
                <a:latin typeface="Arial"/>
                <a:ea typeface="Arial"/>
                <a:cs typeface="Arial"/>
                <a:sym typeface="Arial"/>
              </a:defRPr>
            </a:lvl7pPr>
            <a:lvl8pPr marL="3657600" marR="0" lvl="7" indent="-292100" algn="l" rtl="0">
              <a:lnSpc>
                <a:spcPct val="100000"/>
              </a:lnSpc>
              <a:spcBef>
                <a:spcPts val="400"/>
              </a:spcBef>
              <a:spcAft>
                <a:spcPts val="0"/>
              </a:spcAft>
              <a:buClr>
                <a:srgbClr val="990033"/>
              </a:buClr>
              <a:buSzPts val="1000"/>
              <a:buFont typeface="Noto Sans Symbols"/>
              <a:buChar char="■"/>
              <a:defRPr sz="2000" b="0" i="0" u="none" strike="noStrike" cap="none">
                <a:solidFill>
                  <a:schemeClr val="dk2"/>
                </a:solidFill>
                <a:latin typeface="Arial"/>
                <a:ea typeface="Arial"/>
                <a:cs typeface="Arial"/>
                <a:sym typeface="Arial"/>
              </a:defRPr>
            </a:lvl8pPr>
            <a:lvl9pPr marL="4114800" marR="0" lvl="8" indent="-292100" algn="l" rtl="0">
              <a:lnSpc>
                <a:spcPct val="100000"/>
              </a:lnSpc>
              <a:spcBef>
                <a:spcPts val="400"/>
              </a:spcBef>
              <a:spcAft>
                <a:spcPts val="0"/>
              </a:spcAft>
              <a:buClr>
                <a:srgbClr val="990033"/>
              </a:buClr>
              <a:buSzPts val="1000"/>
              <a:buFont typeface="Noto Sans Symbols"/>
              <a:buChar char="■"/>
              <a:defRPr sz="2000" b="0" i="0" u="none" strike="noStrike" cap="none">
                <a:solidFill>
                  <a:schemeClr val="dk2"/>
                </a:solidFill>
                <a:latin typeface="Arial"/>
                <a:ea typeface="Arial"/>
                <a:cs typeface="Arial"/>
                <a:sym typeface="Arial"/>
              </a:defRPr>
            </a:lvl9pPr>
          </a:lstStyle>
          <a:p>
            <a:endParaRPr/>
          </a:p>
        </p:txBody>
      </p:sp>
      <p:sp>
        <p:nvSpPr>
          <p:cNvPr id="71" name="Google Shape;71;p12"/>
          <p:cNvSpPr txBox="1">
            <a:spLocks noGrp="1"/>
          </p:cNvSpPr>
          <p:nvPr>
            <p:ph type="ftr" idx="11"/>
          </p:nvPr>
        </p:nvSpPr>
        <p:spPr>
          <a:xfrm>
            <a:off x="838200" y="6397625"/>
            <a:ext cx="4495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9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2400" b="0" i="1"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2400" b="0" i="1"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2400" b="0" i="1"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2400" b="0" i="1"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2400" b="0" i="1"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2400" b="0" i="1"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2400" b="0" i="1"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2400" b="0" i="1"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58"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9.xml"/><Relationship Id="rId4" Type="http://schemas.openxmlformats.org/officeDocument/2006/relationships/image" Target="../media/image14.png"/></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9.xml"/><Relationship Id="rId4" Type="http://schemas.openxmlformats.org/officeDocument/2006/relationships/image" Target="../media/image17.png"/></Relationships>
</file>

<file path=ppt/slides/_rels/slide4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4.xml"/><Relationship Id="rId1" Type="http://schemas.openxmlformats.org/officeDocument/2006/relationships/slideLayout" Target="../slideLayouts/slideLayout9.xml"/><Relationship Id="rId4" Type="http://schemas.openxmlformats.org/officeDocument/2006/relationships/image" Target="../media/image17.png"/></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9.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1" name="Google Shape;81;p14"/>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
        <p:nvSpPr>
          <p:cNvPr id="82" name="Google Shape;82;p14"/>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a:t>
            </a:r>
            <a:br>
              <a:rPr lang="en-US" sz="3600" b="0" i="0" u="none">
                <a:solidFill>
                  <a:srgbClr val="800000"/>
                </a:solidFill>
                <a:latin typeface="Arial"/>
                <a:ea typeface="Arial"/>
                <a:cs typeface="Arial"/>
                <a:sym typeface="Arial"/>
              </a:rPr>
            </a:br>
            <a:endParaRPr/>
          </a:p>
        </p:txBody>
      </p:sp>
      <p:pic>
        <p:nvPicPr>
          <p:cNvPr id="83" name="Google Shape;83;p14" descr="Elmasri_cov"/>
          <p:cNvPicPr preferRelativeResize="0"/>
          <p:nvPr/>
        </p:nvPicPr>
        <p:blipFill rotWithShape="1">
          <a:blip r:embed="rId3">
            <a:alphaModFix/>
          </a:blip>
          <a:srcRect/>
          <a:stretch/>
        </p:blipFill>
        <p:spPr>
          <a:xfrm>
            <a:off x="0" y="0"/>
            <a:ext cx="9144000" cy="6858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5"/>
          <p:cNvSpPr txBox="1"/>
          <p:nvPr/>
        </p:nvSpPr>
        <p:spPr>
          <a:xfrm>
            <a:off x="838200" y="6397625"/>
            <a:ext cx="4495800" cy="4572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chemeClr val="dk1"/>
              </a:buClr>
              <a:buSzPts val="900"/>
              <a:buFont typeface="Arial"/>
              <a:buNone/>
            </a:pPr>
            <a:r>
              <a:rPr lang="en-US" sz="900" b="0" i="0" u="none" strike="noStrike" cap="none">
                <a:solidFill>
                  <a:schemeClr val="dk1"/>
                </a:solidFill>
                <a:latin typeface="Arial"/>
                <a:ea typeface="Arial"/>
                <a:cs typeface="Arial"/>
                <a:sym typeface="Arial"/>
              </a:rPr>
              <a:t>Copyright © 2007 </a:t>
            </a:r>
            <a:r>
              <a:rPr lang="en-US" sz="900" b="0" i="0" u="none" strike="noStrike" cap="none">
                <a:solidFill>
                  <a:srgbClr val="000000"/>
                </a:solidFill>
                <a:latin typeface="Arial"/>
                <a:ea typeface="Arial"/>
                <a:cs typeface="Arial"/>
                <a:sym typeface="Arial"/>
              </a:rPr>
              <a:t>Ramez Elmasri and Shamkant B. Navathe</a:t>
            </a:r>
            <a:endParaRPr sz="1400" b="0" i="0" u="none" strike="noStrike" cap="none">
              <a:solidFill>
                <a:srgbClr val="000000"/>
              </a:solidFill>
              <a:latin typeface="Arial"/>
              <a:ea typeface="Arial"/>
              <a:cs typeface="Arial"/>
              <a:sym typeface="Arial"/>
            </a:endParaRPr>
          </a:p>
        </p:txBody>
      </p:sp>
      <p:sp>
        <p:nvSpPr>
          <p:cNvPr id="91" name="Google Shape;91;p15" descr="Pink tissue paper"/>
          <p:cNvSpPr txBox="1">
            <a:spLocks noGrp="1"/>
          </p:cNvSpPr>
          <p:nvPr>
            <p:ph type="subTitle" idx="1"/>
          </p:nvPr>
        </p:nvSpPr>
        <p:spPr>
          <a:xfrm>
            <a:off x="304800" y="2590800"/>
            <a:ext cx="6629400" cy="1905000"/>
          </a:xfrm>
          <a:prstGeom prst="rect">
            <a:avLst/>
          </a:prstGeom>
          <a:noFill/>
          <a:ln>
            <a:noFill/>
          </a:ln>
        </p:spPr>
        <p:txBody>
          <a:bodyPr spcFirstLastPara="1" wrap="square" lIns="91425" tIns="45700" rIns="0" bIns="45700" anchor="t" anchorCtr="0">
            <a:noAutofit/>
          </a:bodyPr>
          <a:lstStyle/>
          <a:p>
            <a:pPr marL="0" lvl="0" indent="0" algn="l" rtl="0">
              <a:lnSpc>
                <a:spcPct val="100000"/>
              </a:lnSpc>
              <a:spcBef>
                <a:spcPts val="0"/>
              </a:spcBef>
              <a:spcAft>
                <a:spcPts val="0"/>
              </a:spcAft>
              <a:buSzPts val="1920"/>
              <a:buNone/>
            </a:pPr>
            <a:r>
              <a:rPr lang="en-US" sz="3200" b="0" i="0" u="none">
                <a:solidFill>
                  <a:schemeClr val="dk2"/>
                </a:solidFill>
                <a:latin typeface="Arial"/>
                <a:ea typeface="Arial"/>
                <a:cs typeface="Arial"/>
                <a:sym typeface="Arial"/>
              </a:rPr>
              <a:t>Functional Dependencies and Normalization for Relational Databases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6"/>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
        <p:nvSpPr>
          <p:cNvPr id="98" name="Google Shape;98;p16"/>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Chapter Outline</a:t>
            </a:r>
            <a:endParaRPr/>
          </a:p>
        </p:txBody>
      </p:sp>
      <p:sp>
        <p:nvSpPr>
          <p:cNvPr id="99" name="Google Shape;99;p16"/>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1 Informal Design Guidelines for Relational Databases</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1.1Semantics of the Relation Attributes</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1.2 Redundant Information in Tuples and Update Anomalies</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1.3 Null Values in Tuples</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1.4 Spurious Tuples</a:t>
            </a:r>
            <a:endParaRPr/>
          </a:p>
          <a:p>
            <a:pPr marL="742950" lvl="1" indent="-208915" algn="l" rtl="0">
              <a:lnSpc>
                <a:spcPct val="100000"/>
              </a:lnSpc>
              <a:spcBef>
                <a:spcPts val="440"/>
              </a:spcBef>
              <a:spcAft>
                <a:spcPts val="0"/>
              </a:spcAft>
              <a:buClr>
                <a:schemeClr val="dk2"/>
              </a:buClr>
              <a:buSzPts val="1210"/>
              <a:buFont typeface="Noto Sans Symbols"/>
              <a:buNone/>
            </a:pPr>
            <a:endParaRPr sz="2200" b="0" i="0" u="none">
              <a:solidFill>
                <a:srgbClr val="800000"/>
              </a:solidFill>
              <a:latin typeface="Arial"/>
              <a:ea typeface="Arial"/>
              <a:cs typeface="Arial"/>
              <a:sym typeface="Arial"/>
            </a:endParaRPr>
          </a:p>
          <a:p>
            <a:pPr marL="342900" lvl="0" indent="-342900" algn="l" rtl="0">
              <a:lnSpc>
                <a:spcPct val="100000"/>
              </a:lnSpc>
              <a:spcBef>
                <a:spcPts val="48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2 Functional Dependencies (FDs)</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2.1 Definition of FD</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2.2 Inference Rules for FDs</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2.3 Equivalence of Sets of FDs</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2.4 Minimal Sets of FDs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7"/>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4</a:t>
            </a:fld>
            <a:endParaRPr sz="1400" b="0" i="0" u="none" strike="noStrike" cap="none">
              <a:solidFill>
                <a:srgbClr val="000000"/>
              </a:solidFill>
              <a:latin typeface="Arial"/>
              <a:ea typeface="Arial"/>
              <a:cs typeface="Arial"/>
              <a:sym typeface="Arial"/>
            </a:endParaRPr>
          </a:p>
        </p:txBody>
      </p:sp>
      <p:sp>
        <p:nvSpPr>
          <p:cNvPr id="106" name="Google Shape;106;p17"/>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Chapter Outline</a:t>
            </a:r>
            <a:endParaRPr/>
          </a:p>
        </p:txBody>
      </p:sp>
      <p:sp>
        <p:nvSpPr>
          <p:cNvPr id="107" name="Google Shape;107;p17"/>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90000"/>
              </a:lnSpc>
              <a:spcBef>
                <a:spcPts val="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3 Normal Forms Based on Primary Keys</a:t>
            </a:r>
            <a:endParaRPr/>
          </a:p>
          <a:p>
            <a:pPr marL="742950" lvl="1" indent="-285750" algn="l" rtl="0">
              <a:lnSpc>
                <a:spcPct val="9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3.1 Normalization of Relations </a:t>
            </a:r>
            <a:endParaRPr/>
          </a:p>
          <a:p>
            <a:pPr marL="742950" lvl="1" indent="-285750" algn="l" rtl="0">
              <a:lnSpc>
                <a:spcPct val="9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3.2 Practical Use of Normal Forms </a:t>
            </a:r>
            <a:endParaRPr/>
          </a:p>
          <a:p>
            <a:pPr marL="742950" lvl="1" indent="-285750" algn="l" rtl="0">
              <a:lnSpc>
                <a:spcPct val="9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3.3 Definitions of Keys and Attributes Participating in Keys </a:t>
            </a:r>
            <a:endParaRPr/>
          </a:p>
          <a:p>
            <a:pPr marL="742950" lvl="1" indent="-285750" algn="l" rtl="0">
              <a:lnSpc>
                <a:spcPct val="9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3.4 First Normal Form</a:t>
            </a:r>
            <a:endParaRPr/>
          </a:p>
          <a:p>
            <a:pPr marL="742950" lvl="1" indent="-285750" algn="l" rtl="0">
              <a:lnSpc>
                <a:spcPct val="9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3.5 Second Normal Form</a:t>
            </a:r>
            <a:endParaRPr/>
          </a:p>
          <a:p>
            <a:pPr marL="742950" lvl="1" indent="-285750" algn="l" rtl="0">
              <a:lnSpc>
                <a:spcPct val="9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3.6 Third Normal Form</a:t>
            </a:r>
            <a:endParaRPr/>
          </a:p>
          <a:p>
            <a:pPr marL="742950" lvl="1" indent="-208915" algn="l" rtl="0">
              <a:lnSpc>
                <a:spcPct val="90000"/>
              </a:lnSpc>
              <a:spcBef>
                <a:spcPts val="440"/>
              </a:spcBef>
              <a:spcAft>
                <a:spcPts val="0"/>
              </a:spcAft>
              <a:buClr>
                <a:schemeClr val="dk2"/>
              </a:buClr>
              <a:buSzPts val="1210"/>
              <a:buFont typeface="Noto Sans Symbols"/>
              <a:buNone/>
            </a:pPr>
            <a:endParaRPr sz="2200" b="0" i="0" u="none">
              <a:solidFill>
                <a:srgbClr val="800000"/>
              </a:solidFill>
              <a:latin typeface="Arial"/>
              <a:ea typeface="Arial"/>
              <a:cs typeface="Arial"/>
              <a:sym typeface="Arial"/>
            </a:endParaRPr>
          </a:p>
          <a:p>
            <a:pPr marL="342900" lvl="0" indent="-342900" algn="l" rtl="0">
              <a:lnSpc>
                <a:spcPct val="90000"/>
              </a:lnSpc>
              <a:spcBef>
                <a:spcPts val="48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4 General Normal Form Definitions (4NF For Multiple Keys)</a:t>
            </a:r>
            <a:endParaRPr/>
          </a:p>
          <a:p>
            <a:pPr marL="342900" lvl="0" indent="-251459" algn="l" rtl="0">
              <a:lnSpc>
                <a:spcPct val="90000"/>
              </a:lnSpc>
              <a:spcBef>
                <a:spcPts val="480"/>
              </a:spcBef>
              <a:spcAft>
                <a:spcPts val="0"/>
              </a:spcAft>
              <a:buClr>
                <a:srgbClr val="990033"/>
              </a:buClr>
              <a:buSzPts val="1440"/>
              <a:buFont typeface="Noto Sans Symbols"/>
              <a:buNone/>
            </a:pPr>
            <a:endParaRPr sz="2400" b="0" i="0" u="none">
              <a:solidFill>
                <a:schemeClr val="dk2"/>
              </a:solidFill>
              <a:latin typeface="Arial"/>
              <a:ea typeface="Arial"/>
              <a:cs typeface="Arial"/>
              <a:sym typeface="Arial"/>
            </a:endParaRPr>
          </a:p>
          <a:p>
            <a:pPr marL="342900" lvl="0" indent="-342900" algn="l" rtl="0">
              <a:lnSpc>
                <a:spcPct val="90000"/>
              </a:lnSpc>
              <a:spcBef>
                <a:spcPts val="48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5 BCNF (Boyce-Codd Normal Form)</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18"/>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5</a:t>
            </a:fld>
            <a:endParaRPr sz="1400" b="0" i="0" u="none" strike="noStrike" cap="none">
              <a:solidFill>
                <a:srgbClr val="000000"/>
              </a:solidFill>
              <a:latin typeface="Arial"/>
              <a:ea typeface="Arial"/>
              <a:cs typeface="Arial"/>
              <a:sym typeface="Arial"/>
            </a:endParaRPr>
          </a:p>
        </p:txBody>
      </p:sp>
      <p:sp>
        <p:nvSpPr>
          <p:cNvPr id="114" name="Google Shape;114;p18"/>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200"/>
              <a:buFont typeface="Arial"/>
              <a:buNone/>
            </a:pPr>
            <a:r>
              <a:rPr lang="en-US" sz="3200" b="0" i="0" u="none">
                <a:solidFill>
                  <a:srgbClr val="800000"/>
                </a:solidFill>
                <a:latin typeface="Arial"/>
                <a:ea typeface="Arial"/>
                <a:cs typeface="Arial"/>
                <a:sym typeface="Arial"/>
              </a:rPr>
              <a:t>1 Informal Design Guidelines for Relational Databases (1)</a:t>
            </a:r>
            <a:endParaRPr/>
          </a:p>
        </p:txBody>
      </p:sp>
      <p:sp>
        <p:nvSpPr>
          <p:cNvPr id="115" name="Google Shape;115;p18"/>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680"/>
              <a:buFont typeface="Noto Sans Symbols"/>
              <a:buChar char="■"/>
            </a:pPr>
            <a:r>
              <a:rPr lang="en-US" sz="2800" b="0" i="0" u="none" dirty="0">
                <a:solidFill>
                  <a:schemeClr val="dk2"/>
                </a:solidFill>
                <a:latin typeface="Arial"/>
                <a:ea typeface="Arial"/>
                <a:cs typeface="Arial"/>
                <a:sym typeface="Arial"/>
              </a:rPr>
              <a:t>What is relational database design?</a:t>
            </a:r>
            <a:endParaRPr dirty="0"/>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The grouping of attributes to form "good" relation schemas</a:t>
            </a:r>
            <a:endParaRPr dirty="0">
              <a:highlight>
                <a:srgbClr val="FFFF00"/>
              </a:highlight>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dirty="0">
                <a:solidFill>
                  <a:schemeClr val="dk2"/>
                </a:solidFill>
                <a:latin typeface="Arial"/>
                <a:ea typeface="Arial"/>
                <a:cs typeface="Arial"/>
                <a:sym typeface="Arial"/>
              </a:rPr>
              <a:t> Two levels of relation schemas</a:t>
            </a:r>
            <a:endParaRPr dirty="0"/>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The logical "user view" level</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The storage "base relation" level</a:t>
            </a:r>
            <a:endParaRPr dirty="0">
              <a:highlight>
                <a:srgbClr val="FFFF00"/>
              </a:highlight>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dirty="0">
                <a:solidFill>
                  <a:schemeClr val="dk2"/>
                </a:solidFill>
                <a:latin typeface="Arial"/>
                <a:ea typeface="Arial"/>
                <a:cs typeface="Arial"/>
                <a:sym typeface="Arial"/>
              </a:rPr>
              <a:t> Design is concerned mainly with base relations</a:t>
            </a:r>
            <a:endParaRPr dirty="0"/>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dirty="0">
                <a:solidFill>
                  <a:schemeClr val="dk2"/>
                </a:solidFill>
                <a:latin typeface="Arial"/>
                <a:ea typeface="Arial"/>
                <a:cs typeface="Arial"/>
                <a:sym typeface="Arial"/>
              </a:rPr>
              <a:t> What are the criteria for "good" base relations? </a:t>
            </a:r>
            <a:endParaRPr dirty="0"/>
          </a:p>
          <a:p>
            <a:pPr marL="342900" lvl="0" indent="-236220" algn="l" rtl="0">
              <a:lnSpc>
                <a:spcPct val="100000"/>
              </a:lnSpc>
              <a:spcBef>
                <a:spcPts val="560"/>
              </a:spcBef>
              <a:spcAft>
                <a:spcPts val="0"/>
              </a:spcAft>
              <a:buSzPts val="1680"/>
              <a:buNone/>
            </a:pPr>
            <a:endParaRPr sz="2800" b="0" i="0" u="none" dirty="0">
              <a:solidFill>
                <a:schemeClr val="dk2"/>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9"/>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6</a:t>
            </a:fld>
            <a:endParaRPr sz="1400" b="0" i="0" u="none" strike="noStrike" cap="none">
              <a:solidFill>
                <a:srgbClr val="000000"/>
              </a:solidFill>
              <a:latin typeface="Arial"/>
              <a:ea typeface="Arial"/>
              <a:cs typeface="Arial"/>
              <a:sym typeface="Arial"/>
            </a:endParaRPr>
          </a:p>
        </p:txBody>
      </p:sp>
      <p:sp>
        <p:nvSpPr>
          <p:cNvPr id="122" name="Google Shape;122;p19"/>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200"/>
              <a:buFont typeface="Arial"/>
              <a:buNone/>
            </a:pPr>
            <a:r>
              <a:rPr lang="en-US" sz="3200" b="0" i="0" u="none">
                <a:solidFill>
                  <a:srgbClr val="800000"/>
                </a:solidFill>
                <a:latin typeface="Arial"/>
                <a:ea typeface="Arial"/>
                <a:cs typeface="Arial"/>
                <a:sym typeface="Arial"/>
              </a:rPr>
              <a:t>Informal Design Guidelines for Relational Databases (2)</a:t>
            </a:r>
            <a:endParaRPr/>
          </a:p>
        </p:txBody>
      </p:sp>
      <p:sp>
        <p:nvSpPr>
          <p:cNvPr id="123" name="Google Shape;123;p19"/>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We first discuss informal guidelines for good relational design</a:t>
            </a:r>
            <a:endParaRPr/>
          </a:p>
          <a:p>
            <a:pPr marL="342900" lvl="0" indent="-342900" algn="l" rtl="0">
              <a:lnSpc>
                <a:spcPct val="100000"/>
              </a:lnSpc>
              <a:spcBef>
                <a:spcPts val="48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Then we discuss formal concepts of functional dependencies and normal forms</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- 1NF (First Normal Form)</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- 2NF (Second Normal Form)</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- 3NF (Third Normal Form)</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 BCNF (Boyce-Codd Normal Form)</a:t>
            </a:r>
            <a:endParaRPr/>
          </a:p>
          <a:p>
            <a:pPr marL="342900" lvl="0" indent="-342900" algn="l" rtl="0">
              <a:lnSpc>
                <a:spcPct val="100000"/>
              </a:lnSpc>
              <a:spcBef>
                <a:spcPts val="48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Additional types of dependencies, further normal forms, relational design algorithms by synthesis are discussed in Chapter 11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0"/>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7</a:t>
            </a:fld>
            <a:endParaRPr sz="1400" b="0" i="0" u="none" strike="noStrike" cap="none">
              <a:solidFill>
                <a:srgbClr val="000000"/>
              </a:solidFill>
              <a:latin typeface="Arial"/>
              <a:ea typeface="Arial"/>
              <a:cs typeface="Arial"/>
              <a:sym typeface="Arial"/>
            </a:endParaRPr>
          </a:p>
        </p:txBody>
      </p:sp>
      <p:sp>
        <p:nvSpPr>
          <p:cNvPr id="130" name="Google Shape;130;p20"/>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200"/>
              <a:buFont typeface="Arial"/>
              <a:buNone/>
            </a:pPr>
            <a:r>
              <a:rPr lang="en-US" sz="3200" b="0" i="0" u="none">
                <a:solidFill>
                  <a:srgbClr val="800000"/>
                </a:solidFill>
                <a:latin typeface="Arial"/>
                <a:ea typeface="Arial"/>
                <a:cs typeface="Arial"/>
                <a:sym typeface="Arial"/>
              </a:rPr>
              <a:t>1.1	Semantics of the Relation Attributes </a:t>
            </a:r>
            <a:endParaRPr/>
          </a:p>
        </p:txBody>
      </p:sp>
      <p:sp>
        <p:nvSpPr>
          <p:cNvPr id="131" name="Google Shape;131;p20"/>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440"/>
              <a:buFont typeface="Noto Sans Symbols"/>
              <a:buChar char="■"/>
            </a:pPr>
            <a:r>
              <a:rPr lang="en-US" sz="2400" b="0" i="0" u="none" dirty="0">
                <a:solidFill>
                  <a:srgbClr val="FF0000"/>
                </a:solidFill>
                <a:latin typeface="Arial"/>
                <a:ea typeface="Arial"/>
                <a:cs typeface="Arial"/>
                <a:sym typeface="Arial"/>
              </a:rPr>
              <a:t>GUIDELINE 1: </a:t>
            </a:r>
            <a:r>
              <a:rPr lang="en-US" sz="2400" b="0" i="0" u="none" dirty="0">
                <a:solidFill>
                  <a:srgbClr val="FF0000"/>
                </a:solidFill>
                <a:highlight>
                  <a:srgbClr val="FFFF00"/>
                </a:highlight>
                <a:latin typeface="Arial"/>
                <a:ea typeface="Arial"/>
                <a:cs typeface="Arial"/>
                <a:sym typeface="Arial"/>
              </a:rPr>
              <a:t>Informally, each tuple in a relation should represent one entity or relationship instance. (Applies to individual relations and their attributes</a:t>
            </a:r>
            <a:r>
              <a:rPr lang="en-US" sz="2400" b="0" i="0" u="none" dirty="0">
                <a:solidFill>
                  <a:schemeClr val="dk2"/>
                </a:solidFill>
                <a:highlight>
                  <a:srgbClr val="FFFF00"/>
                </a:highlight>
                <a:latin typeface="Arial"/>
                <a:ea typeface="Arial"/>
                <a:cs typeface="Arial"/>
                <a:sym typeface="Arial"/>
              </a:rPr>
              <a:t>).</a:t>
            </a:r>
            <a:endParaRPr dirty="0">
              <a:highlight>
                <a:srgbClr val="FFFF00"/>
              </a:highlight>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dirty="0">
                <a:solidFill>
                  <a:srgbClr val="800000"/>
                </a:solidFill>
                <a:latin typeface="Arial"/>
                <a:ea typeface="Arial"/>
                <a:cs typeface="Arial"/>
                <a:sym typeface="Arial"/>
              </a:rPr>
              <a:t>Attributes of different entities (EMPLOYEEs, DEPARTMENTs, PROJECTs) should not be mixed in the same relation</a:t>
            </a:r>
            <a:endParaRPr dirty="0"/>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dirty="0">
                <a:solidFill>
                  <a:srgbClr val="800000"/>
                </a:solidFill>
                <a:latin typeface="Arial"/>
                <a:ea typeface="Arial"/>
                <a:cs typeface="Arial"/>
                <a:sym typeface="Arial"/>
              </a:rPr>
              <a:t>Only foreign keys should be used to refer to other entities</a:t>
            </a:r>
            <a:endParaRPr dirty="0"/>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dirty="0">
                <a:solidFill>
                  <a:srgbClr val="800000"/>
                </a:solidFill>
                <a:latin typeface="Arial"/>
                <a:ea typeface="Arial"/>
                <a:cs typeface="Arial"/>
                <a:sym typeface="Arial"/>
              </a:rPr>
              <a:t>Entity and relationship attributes should be kept apart as much as possible.</a:t>
            </a:r>
            <a:endParaRPr dirty="0"/>
          </a:p>
          <a:p>
            <a:pPr marL="342900" lvl="0" indent="-342900" algn="l" rtl="0">
              <a:lnSpc>
                <a:spcPct val="100000"/>
              </a:lnSpc>
              <a:spcBef>
                <a:spcPts val="480"/>
              </a:spcBef>
              <a:spcAft>
                <a:spcPts val="0"/>
              </a:spcAft>
              <a:buClr>
                <a:srgbClr val="990033"/>
              </a:buClr>
              <a:buSzPts val="1440"/>
              <a:buFont typeface="Noto Sans Symbols"/>
              <a:buChar char="■"/>
            </a:pPr>
            <a:r>
              <a:rPr lang="en-US" sz="2400" b="0" i="0" u="sng" dirty="0">
                <a:solidFill>
                  <a:schemeClr val="dk2"/>
                </a:solidFill>
                <a:latin typeface="Arial"/>
                <a:ea typeface="Arial"/>
                <a:cs typeface="Arial"/>
                <a:sym typeface="Arial"/>
              </a:rPr>
              <a:t>Bottom Line:</a:t>
            </a:r>
            <a:r>
              <a:rPr lang="en-US" sz="2400" b="0" i="0" u="none" dirty="0">
                <a:solidFill>
                  <a:schemeClr val="dk2"/>
                </a:solidFill>
                <a:latin typeface="Arial"/>
                <a:ea typeface="Arial"/>
                <a:cs typeface="Arial"/>
                <a:sym typeface="Arial"/>
              </a:rPr>
              <a:t> </a:t>
            </a:r>
            <a:r>
              <a:rPr lang="en-US" sz="2400" b="0" i="1" u="none" dirty="0">
                <a:solidFill>
                  <a:schemeClr val="dk2"/>
                </a:solidFill>
                <a:latin typeface="Arial"/>
                <a:ea typeface="Arial"/>
                <a:cs typeface="Arial"/>
                <a:sym typeface="Arial"/>
              </a:rPr>
              <a:t>Design a schema that can be explained easily relation by relation. The semantics of attributes should be easy to interpret. </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1"/>
          <p:cNvSpPr txBox="1"/>
          <p:nvPr/>
        </p:nvSpPr>
        <p:spPr>
          <a:xfrm>
            <a:off x="6858000" y="6257925"/>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8</a:t>
            </a:fld>
            <a:endParaRPr sz="1400" b="0" i="0" u="none" strike="noStrike" cap="none">
              <a:solidFill>
                <a:srgbClr val="000000"/>
              </a:solidFill>
              <a:latin typeface="Arial"/>
              <a:ea typeface="Arial"/>
              <a:cs typeface="Arial"/>
              <a:sym typeface="Arial"/>
            </a:endParaRPr>
          </a:p>
        </p:txBody>
      </p:sp>
      <p:sp>
        <p:nvSpPr>
          <p:cNvPr id="138" name="Google Shape;138;p21"/>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200"/>
              <a:buFont typeface="Arial"/>
              <a:buNone/>
            </a:pPr>
            <a:r>
              <a:rPr lang="en-US" sz="3200" b="0" i="0" u="none">
                <a:solidFill>
                  <a:srgbClr val="800000"/>
                </a:solidFill>
                <a:latin typeface="Arial"/>
                <a:ea typeface="Arial"/>
                <a:cs typeface="Arial"/>
                <a:sym typeface="Arial"/>
              </a:rPr>
              <a:t>Figure 10.1 A simplified COMPANY relational database schema</a:t>
            </a:r>
            <a:endParaRPr/>
          </a:p>
        </p:txBody>
      </p:sp>
      <p:sp>
        <p:nvSpPr>
          <p:cNvPr id="139" name="Google Shape;139;p21"/>
          <p:cNvSpPr txBox="1"/>
          <p:nvPr/>
        </p:nvSpPr>
        <p:spPr>
          <a:xfrm>
            <a:off x="1828800" y="1309687"/>
            <a:ext cx="9144000" cy="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endParaRPr sz="2400" b="0" i="1" u="none" strike="noStrike" cap="none">
              <a:solidFill>
                <a:schemeClr val="dk1"/>
              </a:solidFill>
              <a:latin typeface="Arial"/>
              <a:ea typeface="Arial"/>
              <a:cs typeface="Arial"/>
              <a:sym typeface="Arial"/>
            </a:endParaRPr>
          </a:p>
        </p:txBody>
      </p:sp>
      <p:pic>
        <p:nvPicPr>
          <p:cNvPr id="140" name="Google Shape;140;p21" descr="fig10_01"/>
          <p:cNvPicPr preferRelativeResize="0"/>
          <p:nvPr/>
        </p:nvPicPr>
        <p:blipFill rotWithShape="1">
          <a:blip r:embed="rId3">
            <a:alphaModFix/>
          </a:blip>
          <a:srcRect/>
          <a:stretch/>
        </p:blipFill>
        <p:spPr>
          <a:xfrm>
            <a:off x="1752600" y="1524000"/>
            <a:ext cx="5105400" cy="49307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2"/>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9</a:t>
            </a:fld>
            <a:endParaRPr sz="1400" b="0" i="0" u="none" strike="noStrike" cap="none">
              <a:solidFill>
                <a:srgbClr val="000000"/>
              </a:solidFill>
              <a:latin typeface="Arial"/>
              <a:ea typeface="Arial"/>
              <a:cs typeface="Arial"/>
              <a:sym typeface="Arial"/>
            </a:endParaRPr>
          </a:p>
        </p:txBody>
      </p:sp>
      <p:sp>
        <p:nvSpPr>
          <p:cNvPr id="147" name="Google Shape;147;p22"/>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200"/>
              <a:buFont typeface="Arial"/>
              <a:buNone/>
            </a:pPr>
            <a:r>
              <a:rPr lang="en-US" sz="3200" b="0" i="0" u="none">
                <a:solidFill>
                  <a:srgbClr val="800000"/>
                </a:solidFill>
                <a:latin typeface="Arial"/>
                <a:ea typeface="Arial"/>
                <a:cs typeface="Arial"/>
                <a:sym typeface="Arial"/>
              </a:rPr>
              <a:t>1.2 Redundant Information in Tuples and Update Anomalies </a:t>
            </a:r>
            <a:endParaRPr/>
          </a:p>
        </p:txBody>
      </p:sp>
      <p:sp>
        <p:nvSpPr>
          <p:cNvPr id="148" name="Google Shape;148;p22"/>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Information is stored redundantly </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Wastes storage</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Causes problems with update anomalies</a:t>
            </a:r>
            <a:endParaRPr dirty="0">
              <a:highlight>
                <a:srgbClr val="FFFF00"/>
              </a:highlight>
            </a:endParaRPr>
          </a:p>
          <a:p>
            <a:pPr marL="1143000" lvl="2" indent="-228600" algn="l" rtl="0">
              <a:lnSpc>
                <a:spcPct val="100000"/>
              </a:lnSpc>
              <a:spcBef>
                <a:spcPts val="480"/>
              </a:spcBef>
              <a:spcAft>
                <a:spcPts val="0"/>
              </a:spcAft>
              <a:buClr>
                <a:srgbClr val="990033"/>
              </a:buClr>
              <a:buSzPts val="1200"/>
              <a:buFont typeface="Noto Sans Symbols"/>
              <a:buChar char="■"/>
            </a:pPr>
            <a:r>
              <a:rPr lang="en-US" sz="2400" b="0" i="0" u="none" dirty="0">
                <a:solidFill>
                  <a:schemeClr val="dk2"/>
                </a:solidFill>
                <a:highlight>
                  <a:srgbClr val="FFFF00"/>
                </a:highlight>
                <a:latin typeface="Arial"/>
                <a:ea typeface="Arial"/>
                <a:cs typeface="Arial"/>
                <a:sym typeface="Arial"/>
              </a:rPr>
              <a:t>Insertion anomalies</a:t>
            </a:r>
            <a:endParaRPr dirty="0">
              <a:highlight>
                <a:srgbClr val="FFFF00"/>
              </a:highlight>
            </a:endParaRPr>
          </a:p>
          <a:p>
            <a:pPr marL="1143000" lvl="2" indent="-228600" algn="l" rtl="0">
              <a:lnSpc>
                <a:spcPct val="100000"/>
              </a:lnSpc>
              <a:spcBef>
                <a:spcPts val="480"/>
              </a:spcBef>
              <a:spcAft>
                <a:spcPts val="0"/>
              </a:spcAft>
              <a:buClr>
                <a:srgbClr val="990033"/>
              </a:buClr>
              <a:buSzPts val="1200"/>
              <a:buFont typeface="Noto Sans Symbols"/>
              <a:buChar char="■"/>
            </a:pPr>
            <a:r>
              <a:rPr lang="en-US" sz="2400" b="0" i="0" u="none" dirty="0">
                <a:solidFill>
                  <a:schemeClr val="dk2"/>
                </a:solidFill>
                <a:highlight>
                  <a:srgbClr val="FFFF00"/>
                </a:highlight>
                <a:latin typeface="Arial"/>
                <a:ea typeface="Arial"/>
                <a:cs typeface="Arial"/>
                <a:sym typeface="Arial"/>
              </a:rPr>
              <a:t>Deletion anomalies</a:t>
            </a:r>
            <a:endParaRPr dirty="0">
              <a:highlight>
                <a:srgbClr val="FFFF00"/>
              </a:highlight>
            </a:endParaRPr>
          </a:p>
          <a:p>
            <a:pPr marL="1143000" lvl="2" indent="-228600" algn="l" rtl="0">
              <a:lnSpc>
                <a:spcPct val="100000"/>
              </a:lnSpc>
              <a:spcBef>
                <a:spcPts val="480"/>
              </a:spcBef>
              <a:spcAft>
                <a:spcPts val="0"/>
              </a:spcAft>
              <a:buClr>
                <a:srgbClr val="990033"/>
              </a:buClr>
              <a:buSzPts val="1200"/>
              <a:buFont typeface="Noto Sans Symbols"/>
              <a:buChar char="■"/>
            </a:pPr>
            <a:r>
              <a:rPr lang="en-US" sz="2400" b="0" i="0" u="none" dirty="0">
                <a:solidFill>
                  <a:schemeClr val="dk2"/>
                </a:solidFill>
                <a:highlight>
                  <a:srgbClr val="FFFF00"/>
                </a:highlight>
                <a:latin typeface="Arial"/>
                <a:ea typeface="Arial"/>
                <a:cs typeface="Arial"/>
                <a:sym typeface="Arial"/>
              </a:rPr>
              <a:t>Modification anomalies </a:t>
            </a:r>
            <a:endParaRPr dirty="0">
              <a:highlight>
                <a:srgbClr val="FFFF00"/>
              </a:high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28"/>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10</a:t>
            </a:fld>
            <a:endParaRPr sz="1400" b="0" i="0" u="none" strike="noStrike" cap="none">
              <a:solidFill>
                <a:srgbClr val="000000"/>
              </a:solidFill>
              <a:latin typeface="Arial"/>
              <a:ea typeface="Arial"/>
              <a:cs typeface="Arial"/>
              <a:sym typeface="Arial"/>
            </a:endParaRPr>
          </a:p>
        </p:txBody>
      </p:sp>
      <p:sp>
        <p:nvSpPr>
          <p:cNvPr id="196" name="Google Shape;196;p28"/>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200"/>
              <a:buFont typeface="Arial"/>
              <a:buNone/>
            </a:pPr>
            <a:r>
              <a:rPr lang="en-US" sz="3200" b="0" i="0" u="none">
                <a:solidFill>
                  <a:srgbClr val="800000"/>
                </a:solidFill>
                <a:latin typeface="Arial"/>
                <a:ea typeface="Arial"/>
                <a:cs typeface="Arial"/>
                <a:sym typeface="Arial"/>
              </a:rPr>
              <a:t>Guideline to Redundant Information in Tuples and Update Anomalies</a:t>
            </a:r>
            <a:endParaRPr/>
          </a:p>
        </p:txBody>
      </p:sp>
      <p:sp>
        <p:nvSpPr>
          <p:cNvPr id="197" name="Google Shape;197;p28"/>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680"/>
              <a:buFont typeface="Noto Sans Symbols"/>
              <a:buChar char="■"/>
            </a:pPr>
            <a:r>
              <a:rPr lang="en-US" sz="2800" b="0" i="0" u="none" dirty="0">
                <a:solidFill>
                  <a:schemeClr val="dk2"/>
                </a:solidFill>
                <a:latin typeface="Arial"/>
                <a:ea typeface="Arial"/>
                <a:cs typeface="Arial"/>
                <a:sym typeface="Arial"/>
              </a:rPr>
              <a:t>GUIDELINE 2: </a:t>
            </a:r>
            <a:endParaRPr dirty="0"/>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FF0000"/>
                </a:solidFill>
                <a:highlight>
                  <a:srgbClr val="FFFF00"/>
                </a:highlight>
                <a:latin typeface="Arial"/>
                <a:ea typeface="Arial"/>
                <a:cs typeface="Arial"/>
                <a:sym typeface="Arial"/>
              </a:rPr>
              <a:t>Design a schema that does not suffer from the insertion, deletion and update anomalies</a:t>
            </a:r>
            <a:r>
              <a:rPr lang="en-US" sz="2600" b="0" i="0" u="none" dirty="0">
                <a:solidFill>
                  <a:srgbClr val="800000"/>
                </a:solidFill>
                <a:highlight>
                  <a:srgbClr val="FFFF00"/>
                </a:highlight>
                <a:latin typeface="Arial"/>
                <a:ea typeface="Arial"/>
                <a:cs typeface="Arial"/>
                <a:sym typeface="Arial"/>
              </a:rPr>
              <a:t>.</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latin typeface="Arial"/>
                <a:ea typeface="Arial"/>
                <a:cs typeface="Arial"/>
                <a:sym typeface="Arial"/>
              </a:rPr>
              <a:t>If there are any anomalies present, then note them so that applications can be made to take them into account. </a:t>
            </a:r>
            <a:endParaRPr dirty="0"/>
          </a:p>
        </p:txBody>
      </p:sp>
    </p:spTree>
    <p:extLst>
      <p:ext uri="{BB962C8B-B14F-4D97-AF65-F5344CB8AC3E}">
        <p14:creationId xmlns:p14="http://schemas.microsoft.com/office/powerpoint/2010/main" val="38173168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3"/>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11</a:t>
            </a:fld>
            <a:endParaRPr sz="1400" b="0" i="0" u="none" strike="noStrike" cap="none">
              <a:solidFill>
                <a:srgbClr val="000000"/>
              </a:solidFill>
              <a:latin typeface="Arial"/>
              <a:ea typeface="Arial"/>
              <a:cs typeface="Arial"/>
              <a:sym typeface="Arial"/>
            </a:endParaRPr>
          </a:p>
        </p:txBody>
      </p:sp>
      <p:sp>
        <p:nvSpPr>
          <p:cNvPr id="155" name="Google Shape;155;p23"/>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200"/>
              <a:buFont typeface="Arial"/>
              <a:buNone/>
            </a:pPr>
            <a:r>
              <a:rPr lang="en-US" sz="3200" b="0" i="0" u="none">
                <a:solidFill>
                  <a:srgbClr val="800000"/>
                </a:solidFill>
                <a:latin typeface="Arial"/>
                <a:ea typeface="Arial"/>
                <a:cs typeface="Arial"/>
                <a:sym typeface="Arial"/>
              </a:rPr>
              <a:t>EXAMPLE OF AN UPDATE ANOMALY</a:t>
            </a:r>
            <a:endParaRPr/>
          </a:p>
        </p:txBody>
      </p:sp>
      <p:sp>
        <p:nvSpPr>
          <p:cNvPr id="156" name="Google Shape;156;p23"/>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Consider the relation:</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EMP_PROJ(Emp#, </a:t>
            </a:r>
            <a:r>
              <a:rPr lang="en-US" sz="2600" b="0" i="0" u="none" dirty="0" err="1">
                <a:solidFill>
                  <a:srgbClr val="800000"/>
                </a:solidFill>
                <a:highlight>
                  <a:srgbClr val="FFFF00"/>
                </a:highlight>
                <a:latin typeface="Arial"/>
                <a:ea typeface="Arial"/>
                <a:cs typeface="Arial"/>
                <a:sym typeface="Arial"/>
              </a:rPr>
              <a:t>Proj</a:t>
            </a:r>
            <a:r>
              <a:rPr lang="en-US" sz="2600" b="0" i="0" u="none" dirty="0">
                <a:solidFill>
                  <a:srgbClr val="800000"/>
                </a:solidFill>
                <a:highlight>
                  <a:srgbClr val="FFFF00"/>
                </a:highlight>
                <a:latin typeface="Arial"/>
                <a:ea typeface="Arial"/>
                <a:cs typeface="Arial"/>
                <a:sym typeface="Arial"/>
              </a:rPr>
              <a:t>#, </a:t>
            </a:r>
            <a:r>
              <a:rPr lang="en-US" sz="2600" b="0" i="0" u="none" dirty="0" err="1">
                <a:solidFill>
                  <a:srgbClr val="800000"/>
                </a:solidFill>
                <a:highlight>
                  <a:srgbClr val="FFFF00"/>
                </a:highlight>
                <a:latin typeface="Arial"/>
                <a:ea typeface="Arial"/>
                <a:cs typeface="Arial"/>
                <a:sym typeface="Arial"/>
              </a:rPr>
              <a:t>Ename</a:t>
            </a:r>
            <a:r>
              <a:rPr lang="en-US" sz="2600" b="0" i="0" u="none" dirty="0">
                <a:solidFill>
                  <a:srgbClr val="800000"/>
                </a:solidFill>
                <a:highlight>
                  <a:srgbClr val="FFFF00"/>
                </a:highlight>
                <a:latin typeface="Arial"/>
                <a:ea typeface="Arial"/>
                <a:cs typeface="Arial"/>
                <a:sym typeface="Arial"/>
              </a:rPr>
              <a:t>, </a:t>
            </a:r>
            <a:r>
              <a:rPr lang="en-US" sz="2600" b="0" i="0" u="none" dirty="0" err="1">
                <a:solidFill>
                  <a:srgbClr val="800000"/>
                </a:solidFill>
                <a:highlight>
                  <a:srgbClr val="FFFF00"/>
                </a:highlight>
                <a:latin typeface="Arial"/>
                <a:ea typeface="Arial"/>
                <a:cs typeface="Arial"/>
                <a:sym typeface="Arial"/>
              </a:rPr>
              <a:t>Pname</a:t>
            </a:r>
            <a:r>
              <a:rPr lang="en-US" sz="2600" b="0" i="0" u="none" dirty="0">
                <a:solidFill>
                  <a:srgbClr val="800000"/>
                </a:solidFill>
                <a:highlight>
                  <a:srgbClr val="FFFF00"/>
                </a:highlight>
                <a:latin typeface="Arial"/>
                <a:ea typeface="Arial"/>
                <a:cs typeface="Arial"/>
                <a:sym typeface="Arial"/>
              </a:rPr>
              <a:t>, </a:t>
            </a:r>
            <a:r>
              <a:rPr lang="en-US" sz="2600" b="0" i="0" u="none" dirty="0" err="1">
                <a:solidFill>
                  <a:srgbClr val="800000"/>
                </a:solidFill>
                <a:highlight>
                  <a:srgbClr val="FFFF00"/>
                </a:highlight>
                <a:latin typeface="Arial"/>
                <a:ea typeface="Arial"/>
                <a:cs typeface="Arial"/>
                <a:sym typeface="Arial"/>
              </a:rPr>
              <a:t>No_hours</a:t>
            </a:r>
            <a:r>
              <a:rPr lang="en-US" sz="2600" b="0" i="0" u="none" dirty="0">
                <a:solidFill>
                  <a:srgbClr val="800000"/>
                </a:solidFill>
                <a:highlight>
                  <a:srgbClr val="FFFF00"/>
                </a:highlight>
                <a:latin typeface="Arial"/>
                <a:ea typeface="Arial"/>
                <a:cs typeface="Arial"/>
                <a:sym typeface="Arial"/>
              </a:rPr>
              <a:t>)</a:t>
            </a:r>
            <a:endParaRPr dirty="0">
              <a:highlight>
                <a:srgbClr val="FFFF00"/>
              </a:highlight>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Update Anomaly:</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Changing the name of  project number P1 from “Billing” to “Customer-Accounting” may cause this update to be made for all 100 employees working on project P1. </a:t>
            </a:r>
            <a:endParaRPr dirty="0">
              <a:highlight>
                <a:srgbClr val="FFFF00"/>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4"/>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12</a:t>
            </a:fld>
            <a:endParaRPr sz="1400" b="0" i="0" u="none" strike="noStrike" cap="none">
              <a:solidFill>
                <a:srgbClr val="000000"/>
              </a:solidFill>
              <a:latin typeface="Arial"/>
              <a:ea typeface="Arial"/>
              <a:cs typeface="Arial"/>
              <a:sym typeface="Arial"/>
            </a:endParaRPr>
          </a:p>
        </p:txBody>
      </p:sp>
      <p:sp>
        <p:nvSpPr>
          <p:cNvPr id="163" name="Google Shape;163;p24"/>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200"/>
              <a:buFont typeface="Arial"/>
              <a:buNone/>
            </a:pPr>
            <a:r>
              <a:rPr lang="en-US" sz="3200" b="0" i="0" u="none">
                <a:solidFill>
                  <a:srgbClr val="800000"/>
                </a:solidFill>
                <a:latin typeface="Arial"/>
                <a:ea typeface="Arial"/>
                <a:cs typeface="Arial"/>
                <a:sym typeface="Arial"/>
              </a:rPr>
              <a:t>EXAMPLE OF AN INSERT ANOMALY</a:t>
            </a:r>
            <a:endParaRPr/>
          </a:p>
        </p:txBody>
      </p:sp>
      <p:sp>
        <p:nvSpPr>
          <p:cNvPr id="164" name="Google Shape;164;p24"/>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Consider the relation:</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EMP_PROJ(Emp#, </a:t>
            </a:r>
            <a:r>
              <a:rPr lang="en-US" sz="2600" b="0" i="0" u="none" dirty="0" err="1">
                <a:solidFill>
                  <a:srgbClr val="800000"/>
                </a:solidFill>
                <a:highlight>
                  <a:srgbClr val="FFFF00"/>
                </a:highlight>
                <a:latin typeface="Arial"/>
                <a:ea typeface="Arial"/>
                <a:cs typeface="Arial"/>
                <a:sym typeface="Arial"/>
              </a:rPr>
              <a:t>Proj</a:t>
            </a:r>
            <a:r>
              <a:rPr lang="en-US" sz="2600" b="0" i="0" u="none" dirty="0">
                <a:solidFill>
                  <a:srgbClr val="800000"/>
                </a:solidFill>
                <a:highlight>
                  <a:srgbClr val="FFFF00"/>
                </a:highlight>
                <a:latin typeface="Arial"/>
                <a:ea typeface="Arial"/>
                <a:cs typeface="Arial"/>
                <a:sym typeface="Arial"/>
              </a:rPr>
              <a:t>#, </a:t>
            </a:r>
            <a:r>
              <a:rPr lang="en-US" sz="2600" b="0" i="0" u="none" dirty="0" err="1">
                <a:solidFill>
                  <a:srgbClr val="800000"/>
                </a:solidFill>
                <a:highlight>
                  <a:srgbClr val="FFFF00"/>
                </a:highlight>
                <a:latin typeface="Arial"/>
                <a:ea typeface="Arial"/>
                <a:cs typeface="Arial"/>
                <a:sym typeface="Arial"/>
              </a:rPr>
              <a:t>Ename</a:t>
            </a:r>
            <a:r>
              <a:rPr lang="en-US" sz="2600" b="0" i="0" u="none" dirty="0">
                <a:solidFill>
                  <a:srgbClr val="800000"/>
                </a:solidFill>
                <a:highlight>
                  <a:srgbClr val="FFFF00"/>
                </a:highlight>
                <a:latin typeface="Arial"/>
                <a:ea typeface="Arial"/>
                <a:cs typeface="Arial"/>
                <a:sym typeface="Arial"/>
              </a:rPr>
              <a:t>, </a:t>
            </a:r>
            <a:r>
              <a:rPr lang="en-US" sz="2600" b="0" i="0" u="none" dirty="0" err="1">
                <a:solidFill>
                  <a:srgbClr val="800000"/>
                </a:solidFill>
                <a:highlight>
                  <a:srgbClr val="FFFF00"/>
                </a:highlight>
                <a:latin typeface="Arial"/>
                <a:ea typeface="Arial"/>
                <a:cs typeface="Arial"/>
                <a:sym typeface="Arial"/>
              </a:rPr>
              <a:t>Pname</a:t>
            </a:r>
            <a:r>
              <a:rPr lang="en-US" sz="2600" b="0" i="0" u="none" dirty="0">
                <a:solidFill>
                  <a:srgbClr val="800000"/>
                </a:solidFill>
                <a:highlight>
                  <a:srgbClr val="FFFF00"/>
                </a:highlight>
                <a:latin typeface="Arial"/>
                <a:ea typeface="Arial"/>
                <a:cs typeface="Arial"/>
                <a:sym typeface="Arial"/>
              </a:rPr>
              <a:t>, </a:t>
            </a:r>
            <a:r>
              <a:rPr lang="en-US" sz="2600" b="0" i="0" u="none" dirty="0" err="1">
                <a:solidFill>
                  <a:srgbClr val="800000"/>
                </a:solidFill>
                <a:highlight>
                  <a:srgbClr val="FFFF00"/>
                </a:highlight>
                <a:latin typeface="Arial"/>
                <a:ea typeface="Arial"/>
                <a:cs typeface="Arial"/>
                <a:sym typeface="Arial"/>
              </a:rPr>
              <a:t>No_hours</a:t>
            </a:r>
            <a:r>
              <a:rPr lang="en-US" sz="2600" b="0" i="0" u="none" dirty="0">
                <a:solidFill>
                  <a:srgbClr val="800000"/>
                </a:solidFill>
                <a:highlight>
                  <a:srgbClr val="FFFF00"/>
                </a:highlight>
                <a:latin typeface="Arial"/>
                <a:ea typeface="Arial"/>
                <a:cs typeface="Arial"/>
                <a:sym typeface="Arial"/>
              </a:rPr>
              <a:t>)</a:t>
            </a:r>
            <a:endParaRPr dirty="0">
              <a:highlight>
                <a:srgbClr val="FFFF00"/>
              </a:highlight>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Insert  Anomaly:</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Cannot insert a project unless an employee is assigned to it.</a:t>
            </a:r>
            <a:endParaRPr dirty="0">
              <a:highlight>
                <a:srgbClr val="FFFF00"/>
              </a:highlight>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Conversely</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Cannot insert an employee unless an he/she is assigned to a project. </a:t>
            </a:r>
            <a:endParaRPr dirty="0">
              <a:highlight>
                <a:srgbClr val="FFFF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5"/>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13</a:t>
            </a:fld>
            <a:endParaRPr sz="1400" b="0" i="0" u="none" strike="noStrike" cap="none">
              <a:solidFill>
                <a:srgbClr val="000000"/>
              </a:solidFill>
              <a:latin typeface="Arial"/>
              <a:ea typeface="Arial"/>
              <a:cs typeface="Arial"/>
              <a:sym typeface="Arial"/>
            </a:endParaRPr>
          </a:p>
        </p:txBody>
      </p:sp>
      <p:sp>
        <p:nvSpPr>
          <p:cNvPr id="171" name="Google Shape;171;p25"/>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200"/>
              <a:buFont typeface="Arial"/>
              <a:buNone/>
            </a:pPr>
            <a:r>
              <a:rPr lang="en-US" sz="3200" b="0" i="0" u="none">
                <a:solidFill>
                  <a:srgbClr val="800000"/>
                </a:solidFill>
                <a:latin typeface="Arial"/>
                <a:ea typeface="Arial"/>
                <a:cs typeface="Arial"/>
                <a:sym typeface="Arial"/>
              </a:rPr>
              <a:t>EXAMPLE OF AN DELETE ANOMALY</a:t>
            </a:r>
            <a:endParaRPr/>
          </a:p>
        </p:txBody>
      </p:sp>
      <p:sp>
        <p:nvSpPr>
          <p:cNvPr id="172" name="Google Shape;172;p25"/>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Consider the relation:</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EMP_PROJ(Emp#, </a:t>
            </a:r>
            <a:r>
              <a:rPr lang="en-US" sz="2600" b="0" i="0" u="none" dirty="0" err="1">
                <a:solidFill>
                  <a:srgbClr val="800000"/>
                </a:solidFill>
                <a:highlight>
                  <a:srgbClr val="FFFF00"/>
                </a:highlight>
                <a:latin typeface="Arial"/>
                <a:ea typeface="Arial"/>
                <a:cs typeface="Arial"/>
                <a:sym typeface="Arial"/>
              </a:rPr>
              <a:t>Proj</a:t>
            </a:r>
            <a:r>
              <a:rPr lang="en-US" sz="2600" b="0" i="0" u="none" dirty="0">
                <a:solidFill>
                  <a:srgbClr val="800000"/>
                </a:solidFill>
                <a:highlight>
                  <a:srgbClr val="FFFF00"/>
                </a:highlight>
                <a:latin typeface="Arial"/>
                <a:ea typeface="Arial"/>
                <a:cs typeface="Arial"/>
                <a:sym typeface="Arial"/>
              </a:rPr>
              <a:t>#, </a:t>
            </a:r>
            <a:r>
              <a:rPr lang="en-US" sz="2600" b="0" i="0" u="none" dirty="0" err="1">
                <a:solidFill>
                  <a:srgbClr val="800000"/>
                </a:solidFill>
                <a:highlight>
                  <a:srgbClr val="FFFF00"/>
                </a:highlight>
                <a:latin typeface="Arial"/>
                <a:ea typeface="Arial"/>
                <a:cs typeface="Arial"/>
                <a:sym typeface="Arial"/>
              </a:rPr>
              <a:t>Ename</a:t>
            </a:r>
            <a:r>
              <a:rPr lang="en-US" sz="2600" b="0" i="0" u="none" dirty="0">
                <a:solidFill>
                  <a:srgbClr val="800000"/>
                </a:solidFill>
                <a:highlight>
                  <a:srgbClr val="FFFF00"/>
                </a:highlight>
                <a:latin typeface="Arial"/>
                <a:ea typeface="Arial"/>
                <a:cs typeface="Arial"/>
                <a:sym typeface="Arial"/>
              </a:rPr>
              <a:t>, </a:t>
            </a:r>
            <a:r>
              <a:rPr lang="en-US" sz="2600" b="0" i="0" u="none" dirty="0" err="1">
                <a:solidFill>
                  <a:srgbClr val="800000"/>
                </a:solidFill>
                <a:highlight>
                  <a:srgbClr val="FFFF00"/>
                </a:highlight>
                <a:latin typeface="Arial"/>
                <a:ea typeface="Arial"/>
                <a:cs typeface="Arial"/>
                <a:sym typeface="Arial"/>
              </a:rPr>
              <a:t>Pname</a:t>
            </a:r>
            <a:r>
              <a:rPr lang="en-US" sz="2600" b="0" i="0" u="none" dirty="0">
                <a:solidFill>
                  <a:srgbClr val="800000"/>
                </a:solidFill>
                <a:highlight>
                  <a:srgbClr val="FFFF00"/>
                </a:highlight>
                <a:latin typeface="Arial"/>
                <a:ea typeface="Arial"/>
                <a:cs typeface="Arial"/>
                <a:sym typeface="Arial"/>
              </a:rPr>
              <a:t>, </a:t>
            </a:r>
            <a:r>
              <a:rPr lang="en-US" sz="2600" b="0" i="0" u="none" dirty="0" err="1">
                <a:solidFill>
                  <a:srgbClr val="800000"/>
                </a:solidFill>
                <a:highlight>
                  <a:srgbClr val="FFFF00"/>
                </a:highlight>
                <a:latin typeface="Arial"/>
                <a:ea typeface="Arial"/>
                <a:cs typeface="Arial"/>
                <a:sym typeface="Arial"/>
              </a:rPr>
              <a:t>No_hours</a:t>
            </a:r>
            <a:r>
              <a:rPr lang="en-US" sz="2600" b="0" i="0" u="none" dirty="0">
                <a:solidFill>
                  <a:srgbClr val="800000"/>
                </a:solidFill>
                <a:highlight>
                  <a:srgbClr val="FFFF00"/>
                </a:highlight>
                <a:latin typeface="Arial"/>
                <a:ea typeface="Arial"/>
                <a:cs typeface="Arial"/>
                <a:sym typeface="Arial"/>
              </a:rPr>
              <a:t>)</a:t>
            </a:r>
            <a:endParaRPr dirty="0">
              <a:highlight>
                <a:srgbClr val="FFFF00"/>
              </a:highlight>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Delete Anomaly:</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When a project is deleted, it will result in deleting all the employees who work on that project.</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highlight>
                  <a:srgbClr val="FFFF00"/>
                </a:highlight>
                <a:latin typeface="Arial"/>
                <a:ea typeface="Arial"/>
                <a:cs typeface="Arial"/>
                <a:sym typeface="Arial"/>
              </a:rPr>
              <a:t>Alternately, if an employee is the sole employee on a project, deleting that employee would result in deleting the corresponding project.</a:t>
            </a:r>
            <a:endParaRPr dirty="0">
              <a:highlight>
                <a:srgbClr val="FFFF00"/>
              </a:highlight>
            </a:endParaRPr>
          </a:p>
          <a:p>
            <a:pPr marL="342900" lvl="0" indent="-243840" algn="l" rtl="0">
              <a:lnSpc>
                <a:spcPct val="100000"/>
              </a:lnSpc>
              <a:spcBef>
                <a:spcPts val="520"/>
              </a:spcBef>
              <a:spcAft>
                <a:spcPts val="0"/>
              </a:spcAft>
              <a:buSzPts val="1560"/>
              <a:buNone/>
            </a:pPr>
            <a:endParaRPr sz="2600" b="0" i="0" u="none" dirty="0">
              <a:solidFill>
                <a:srgbClr val="800000"/>
              </a:solidFill>
              <a:highlight>
                <a:srgbClr val="FFFF00"/>
              </a:highlight>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6"/>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14</a:t>
            </a:fld>
            <a:endParaRPr sz="1400" b="0" i="0" u="none" strike="noStrike" cap="none">
              <a:solidFill>
                <a:srgbClr val="000000"/>
              </a:solidFill>
              <a:latin typeface="Arial"/>
              <a:ea typeface="Arial"/>
              <a:cs typeface="Arial"/>
              <a:sym typeface="Arial"/>
            </a:endParaRPr>
          </a:p>
        </p:txBody>
      </p:sp>
      <p:sp>
        <p:nvSpPr>
          <p:cNvPr id="179" name="Google Shape;179;p26"/>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200"/>
              <a:buFont typeface="Arial"/>
              <a:buNone/>
            </a:pPr>
            <a:r>
              <a:rPr lang="en-US" sz="3200" b="0" i="0" u="none">
                <a:solidFill>
                  <a:srgbClr val="800000"/>
                </a:solidFill>
                <a:latin typeface="Arial"/>
                <a:ea typeface="Arial"/>
                <a:cs typeface="Arial"/>
                <a:sym typeface="Arial"/>
              </a:rPr>
              <a:t>Figure 10.3 Two relation schemas suffering from update anomalies</a:t>
            </a:r>
            <a:endParaRPr/>
          </a:p>
        </p:txBody>
      </p:sp>
      <p:sp>
        <p:nvSpPr>
          <p:cNvPr id="180" name="Google Shape;180;p26"/>
          <p:cNvSpPr txBox="1"/>
          <p:nvPr/>
        </p:nvSpPr>
        <p:spPr>
          <a:xfrm>
            <a:off x="1828800" y="1309687"/>
            <a:ext cx="9144000" cy="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endParaRPr sz="2400" b="0" i="1" u="none" strike="noStrike" cap="none">
              <a:solidFill>
                <a:schemeClr val="dk1"/>
              </a:solidFill>
              <a:latin typeface="Arial"/>
              <a:ea typeface="Arial"/>
              <a:cs typeface="Arial"/>
              <a:sym typeface="Arial"/>
            </a:endParaRPr>
          </a:p>
        </p:txBody>
      </p:sp>
      <p:pic>
        <p:nvPicPr>
          <p:cNvPr id="181" name="Google Shape;181;p26" descr="fig10_03"/>
          <p:cNvPicPr preferRelativeResize="0"/>
          <p:nvPr/>
        </p:nvPicPr>
        <p:blipFill rotWithShape="1">
          <a:blip r:embed="rId3">
            <a:alphaModFix/>
          </a:blip>
          <a:srcRect/>
          <a:stretch/>
        </p:blipFill>
        <p:spPr>
          <a:xfrm>
            <a:off x="327025" y="2057400"/>
            <a:ext cx="8207375" cy="3392487"/>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27"/>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15</a:t>
            </a:fld>
            <a:endParaRPr sz="1400" b="0" i="0" u="none" strike="noStrike" cap="none">
              <a:solidFill>
                <a:srgbClr val="000000"/>
              </a:solidFill>
              <a:latin typeface="Arial"/>
              <a:ea typeface="Arial"/>
              <a:cs typeface="Arial"/>
              <a:sym typeface="Arial"/>
            </a:endParaRPr>
          </a:p>
        </p:txBody>
      </p:sp>
      <p:sp>
        <p:nvSpPr>
          <p:cNvPr id="188" name="Google Shape;188;p27"/>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200"/>
              <a:buFont typeface="Arial"/>
              <a:buNone/>
            </a:pPr>
            <a:r>
              <a:rPr lang="en-US" sz="3200" b="0" i="0" u="none">
                <a:solidFill>
                  <a:srgbClr val="800000"/>
                </a:solidFill>
                <a:latin typeface="Arial"/>
                <a:ea typeface="Arial"/>
                <a:cs typeface="Arial"/>
                <a:sym typeface="Arial"/>
              </a:rPr>
              <a:t>Figure 10.4 Example States for EMP_DEPT and EMP_PROJ</a:t>
            </a:r>
            <a:endParaRP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149" y="2213453"/>
            <a:ext cx="8894909" cy="31101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29"/>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16</a:t>
            </a:fld>
            <a:endParaRPr sz="1400" b="0" i="0" u="none" strike="noStrike" cap="none">
              <a:solidFill>
                <a:srgbClr val="000000"/>
              </a:solidFill>
              <a:latin typeface="Arial"/>
              <a:ea typeface="Arial"/>
              <a:cs typeface="Arial"/>
              <a:sym typeface="Arial"/>
            </a:endParaRPr>
          </a:p>
        </p:txBody>
      </p:sp>
      <p:sp>
        <p:nvSpPr>
          <p:cNvPr id="204" name="Google Shape;204;p29"/>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1.3 Null Values in Tuples </a:t>
            </a:r>
            <a:endParaRPr/>
          </a:p>
        </p:txBody>
      </p:sp>
      <p:sp>
        <p:nvSpPr>
          <p:cNvPr id="205" name="Google Shape;205;p29"/>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GUIDELINE 3:</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FF0000"/>
                </a:solidFill>
                <a:highlight>
                  <a:srgbClr val="FFFF00"/>
                </a:highlight>
                <a:latin typeface="Arial"/>
                <a:ea typeface="Arial"/>
                <a:cs typeface="Arial"/>
                <a:sym typeface="Arial"/>
              </a:rPr>
              <a:t>Relations should be designed such that their tuples will have as few NULL values as possible</a:t>
            </a:r>
            <a:endParaRPr dirty="0">
              <a:highlight>
                <a:srgbClr val="FFFF00"/>
              </a:highlight>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FF0000"/>
                </a:solidFill>
                <a:highlight>
                  <a:srgbClr val="FFFF00"/>
                </a:highlight>
                <a:latin typeface="Arial"/>
                <a:ea typeface="Arial"/>
                <a:cs typeface="Arial"/>
                <a:sym typeface="Arial"/>
              </a:rPr>
              <a:t>Attributes that are NULL frequently could be placed in separate relations (with the primary key)</a:t>
            </a:r>
          </a:p>
          <a:p>
            <a:pPr marL="742950" lvl="1" indent="-285750" algn="l" rtl="0">
              <a:lnSpc>
                <a:spcPct val="100000"/>
              </a:lnSpc>
              <a:spcBef>
                <a:spcPts val="520"/>
              </a:spcBef>
              <a:spcAft>
                <a:spcPts val="0"/>
              </a:spcAft>
              <a:buClr>
                <a:schemeClr val="dk2"/>
              </a:buClr>
              <a:buSzPts val="1430"/>
              <a:buFont typeface="Noto Sans Symbols"/>
              <a:buChar char="■"/>
            </a:pPr>
            <a:r>
              <a:rPr lang="en-US" dirty="0">
                <a:solidFill>
                  <a:srgbClr val="FF0000"/>
                </a:solidFill>
                <a:highlight>
                  <a:srgbClr val="FFFF00"/>
                </a:highlight>
              </a:rPr>
              <a:t>It causes confusion in COUNT  and SUM operation.</a:t>
            </a:r>
          </a:p>
          <a:p>
            <a:pPr marL="742950" lvl="1" indent="-285750" algn="l" rtl="0">
              <a:lnSpc>
                <a:spcPct val="100000"/>
              </a:lnSpc>
              <a:spcBef>
                <a:spcPts val="520"/>
              </a:spcBef>
              <a:spcAft>
                <a:spcPts val="0"/>
              </a:spcAft>
              <a:buClr>
                <a:schemeClr val="dk2"/>
              </a:buClr>
              <a:buSzPts val="1430"/>
              <a:buFont typeface="Noto Sans Symbols"/>
              <a:buChar char="■"/>
            </a:pPr>
            <a:r>
              <a:rPr lang="en-US" dirty="0">
                <a:solidFill>
                  <a:srgbClr val="FF0000"/>
                </a:solidFill>
                <a:highlight>
                  <a:srgbClr val="FFFF00"/>
                </a:highlight>
              </a:rPr>
              <a:t>If NULL value comes in comparison with SELECT or JOIN operation, the result will unpredictable.</a:t>
            </a:r>
            <a:endParaRPr dirty="0">
              <a:highlight>
                <a:srgbClr val="FFFF00"/>
              </a:highlight>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 </a:t>
            </a:r>
            <a:endParaRPr dirty="0">
              <a:highlight>
                <a:srgbClr val="FFFF00"/>
              </a:high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17</a:t>
            </a:fld>
            <a:endParaRPr lang="en-US"/>
          </a:p>
        </p:txBody>
      </p:sp>
      <p:sp>
        <p:nvSpPr>
          <p:cNvPr id="5" name="Rectangle 4"/>
          <p:cNvSpPr/>
          <p:nvPr/>
        </p:nvSpPr>
        <p:spPr>
          <a:xfrm>
            <a:off x="713984" y="1870880"/>
            <a:ext cx="6144016" cy="2716128"/>
          </a:xfrm>
          <a:prstGeom prst="rect">
            <a:avLst/>
          </a:prstGeom>
        </p:spPr>
        <p:txBody>
          <a:bodyPr wrap="square">
            <a:spAutoFit/>
          </a:bodyPr>
          <a:lstStyle/>
          <a:p>
            <a:pPr marL="342900" lvl="0" indent="-342900">
              <a:spcBef>
                <a:spcPts val="560"/>
              </a:spcBef>
              <a:buClr>
                <a:srgbClr val="990033"/>
              </a:buClr>
              <a:buSzPts val="1680"/>
              <a:buFont typeface="Noto Sans Symbols"/>
              <a:buChar char="■"/>
            </a:pPr>
            <a:r>
              <a:rPr lang="en-US" sz="2800" dirty="0">
                <a:solidFill>
                  <a:schemeClr val="dk2"/>
                </a:solidFill>
              </a:rPr>
              <a:t>Reasons for nulls:</a:t>
            </a:r>
            <a:endParaRPr lang="en-US" dirty="0"/>
          </a:p>
          <a:p>
            <a:pPr marL="742950" lvl="1" indent="-285750">
              <a:spcBef>
                <a:spcPts val="520"/>
              </a:spcBef>
              <a:buClr>
                <a:schemeClr val="dk2"/>
              </a:buClr>
              <a:buSzPts val="1430"/>
              <a:buFont typeface="Noto Sans Symbols"/>
              <a:buChar char="■"/>
            </a:pPr>
            <a:r>
              <a:rPr lang="en-US" sz="2600" dirty="0">
                <a:solidFill>
                  <a:srgbClr val="800000"/>
                </a:solidFill>
                <a:highlight>
                  <a:srgbClr val="FFFF00"/>
                </a:highlight>
              </a:rPr>
              <a:t>Attribute not applicable or invalid</a:t>
            </a:r>
            <a:endParaRPr lang="en-US" dirty="0">
              <a:highlight>
                <a:srgbClr val="FFFF00"/>
              </a:highlight>
            </a:endParaRPr>
          </a:p>
          <a:p>
            <a:pPr marL="742950" lvl="1" indent="-285750">
              <a:spcBef>
                <a:spcPts val="520"/>
              </a:spcBef>
              <a:buClr>
                <a:schemeClr val="dk2"/>
              </a:buClr>
              <a:buSzPts val="1430"/>
              <a:buFont typeface="Noto Sans Symbols"/>
              <a:buChar char="■"/>
            </a:pPr>
            <a:r>
              <a:rPr lang="en-US" sz="2600" dirty="0">
                <a:solidFill>
                  <a:srgbClr val="800000"/>
                </a:solidFill>
                <a:highlight>
                  <a:srgbClr val="FFFF00"/>
                </a:highlight>
              </a:rPr>
              <a:t>Attribute value unknown  (may exist)</a:t>
            </a:r>
            <a:endParaRPr lang="en-US" dirty="0">
              <a:highlight>
                <a:srgbClr val="FFFF00"/>
              </a:highlight>
            </a:endParaRPr>
          </a:p>
          <a:p>
            <a:pPr marL="742950" lvl="1" indent="-285750">
              <a:spcBef>
                <a:spcPts val="520"/>
              </a:spcBef>
              <a:buClr>
                <a:schemeClr val="dk2"/>
              </a:buClr>
              <a:buSzPts val="1430"/>
              <a:buFont typeface="Noto Sans Symbols"/>
              <a:buChar char="■"/>
            </a:pPr>
            <a:r>
              <a:rPr lang="en-US" sz="2600" dirty="0">
                <a:solidFill>
                  <a:srgbClr val="800000"/>
                </a:solidFill>
                <a:highlight>
                  <a:srgbClr val="FFFF00"/>
                </a:highlight>
              </a:rPr>
              <a:t>Value known to exist, but unavailable</a:t>
            </a:r>
            <a:endParaRPr lang="en-US" dirty="0">
              <a:highlight>
                <a:srgbClr val="FFFF00"/>
              </a:highlight>
            </a:endParaRPr>
          </a:p>
        </p:txBody>
      </p:sp>
    </p:spTree>
    <p:extLst>
      <p:ext uri="{BB962C8B-B14F-4D97-AF65-F5344CB8AC3E}">
        <p14:creationId xmlns:p14="http://schemas.microsoft.com/office/powerpoint/2010/main" val="24171944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30"/>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18</a:t>
            </a:fld>
            <a:endParaRPr sz="1400" b="0" i="0" u="none" strike="noStrike" cap="none">
              <a:solidFill>
                <a:srgbClr val="000000"/>
              </a:solidFill>
              <a:latin typeface="Arial"/>
              <a:ea typeface="Arial"/>
              <a:cs typeface="Arial"/>
              <a:sym typeface="Arial"/>
            </a:endParaRPr>
          </a:p>
        </p:txBody>
      </p:sp>
      <p:sp>
        <p:nvSpPr>
          <p:cNvPr id="212" name="Google Shape;212;p30"/>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a:buNone/>
            </a:pPr>
            <a:r>
              <a:rPr lang="en-US" sz="3600" b="0" i="0" u="none" dirty="0">
                <a:solidFill>
                  <a:srgbClr val="800000"/>
                </a:solidFill>
                <a:latin typeface="Arial"/>
                <a:ea typeface="Arial"/>
                <a:cs typeface="Arial"/>
                <a:sym typeface="Arial"/>
              </a:rPr>
              <a:t>1.4 Spurious Tuples </a:t>
            </a:r>
            <a:br>
              <a:rPr lang="en-US" sz="3600" b="0" i="0" u="none" dirty="0">
                <a:solidFill>
                  <a:srgbClr val="800000"/>
                </a:solidFill>
                <a:latin typeface="Arial"/>
                <a:ea typeface="Arial"/>
                <a:cs typeface="Arial"/>
                <a:sym typeface="Arial"/>
              </a:rPr>
            </a:br>
            <a:r>
              <a:rPr lang="en-US" sz="1600" b="1" dirty="0"/>
              <a:t>Spurious tuples</a:t>
            </a:r>
            <a:r>
              <a:rPr lang="en-US" sz="1600" dirty="0"/>
              <a:t> are </a:t>
            </a:r>
            <a:r>
              <a:rPr lang="en-US" sz="1600" b="1" dirty="0"/>
              <a:t>wrong or meaningless rows</a:t>
            </a:r>
            <a:r>
              <a:rPr lang="en-US" sz="1600" dirty="0"/>
              <a:t> that appear in a query result when two or more relations are </a:t>
            </a:r>
            <a:r>
              <a:rPr lang="en-US" sz="1600" b="1" dirty="0"/>
              <a:t>incorrectly joined</a:t>
            </a:r>
            <a:r>
              <a:rPr lang="en-US" sz="1600" dirty="0"/>
              <a:t>.</a:t>
            </a:r>
            <a:br>
              <a:rPr lang="en-US" sz="1600" dirty="0"/>
            </a:br>
            <a:r>
              <a:rPr lang="en-US" sz="1600" dirty="0"/>
              <a:t>They happen when the join condition is </a:t>
            </a:r>
            <a:r>
              <a:rPr lang="en-US" sz="1600" b="1" dirty="0"/>
              <a:t>improper</a:t>
            </a:r>
            <a:r>
              <a:rPr lang="en-US" sz="1600" dirty="0"/>
              <a:t>, usually because </a:t>
            </a:r>
            <a:r>
              <a:rPr lang="en-US" sz="1600" b="1" dirty="0"/>
              <a:t>proper keys are not used</a:t>
            </a:r>
            <a:r>
              <a:rPr lang="en-US" sz="1600" dirty="0"/>
              <a:t>. Spurious tuples lead to </a:t>
            </a:r>
            <a:r>
              <a:rPr lang="en-US" sz="1600" b="1" dirty="0"/>
              <a:t>incorrect or redundant data</a:t>
            </a:r>
            <a:r>
              <a:rPr lang="en-US" sz="1600" dirty="0"/>
              <a:t> in the result.</a:t>
            </a:r>
            <a:endParaRPr lang="en-US" dirty="0"/>
          </a:p>
        </p:txBody>
      </p:sp>
      <p:sp>
        <p:nvSpPr>
          <p:cNvPr id="213" name="Google Shape;213;p30"/>
          <p:cNvSpPr txBox="1">
            <a:spLocks noGrp="1"/>
          </p:cNvSpPr>
          <p:nvPr>
            <p:ph type="body" idx="1"/>
          </p:nvPr>
        </p:nvSpPr>
        <p:spPr>
          <a:xfrm>
            <a:off x="239712" y="1600200"/>
            <a:ext cx="85994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90000"/>
              </a:lnSpc>
              <a:spcBef>
                <a:spcPts val="0"/>
              </a:spcBef>
              <a:spcAft>
                <a:spcPts val="0"/>
              </a:spcAft>
              <a:buClr>
                <a:srgbClr val="990033"/>
              </a:buClr>
              <a:buSzPts val="1680"/>
              <a:buFont typeface="Noto Sans Symbols"/>
              <a:buChar char="■"/>
            </a:pPr>
            <a:r>
              <a:rPr lang="en-US" sz="2800" b="0" i="0" u="none" dirty="0">
                <a:solidFill>
                  <a:schemeClr val="dk2"/>
                </a:solidFill>
                <a:latin typeface="Arial"/>
                <a:ea typeface="Arial"/>
                <a:cs typeface="Arial"/>
                <a:sym typeface="Arial"/>
              </a:rPr>
              <a:t>Bad designs for a relational database may result in erroneous results for certain JOIN operations</a:t>
            </a:r>
            <a:endParaRPr dirty="0"/>
          </a:p>
          <a:p>
            <a:pPr marL="342900" lvl="0" indent="-342900" algn="l" rtl="0">
              <a:lnSpc>
                <a:spcPct val="90000"/>
              </a:lnSpc>
              <a:spcBef>
                <a:spcPts val="56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The "lossless join" property is used to guarantee meaningful results for join operations. </a:t>
            </a:r>
            <a:endParaRPr dirty="0">
              <a:highlight>
                <a:srgbClr val="FFFF00"/>
              </a:highlight>
            </a:endParaRPr>
          </a:p>
          <a:p>
            <a:pPr marL="342900" lvl="0" indent="-236220" algn="l" rtl="0">
              <a:lnSpc>
                <a:spcPct val="90000"/>
              </a:lnSpc>
              <a:spcBef>
                <a:spcPts val="560"/>
              </a:spcBef>
              <a:spcAft>
                <a:spcPts val="0"/>
              </a:spcAft>
              <a:buClr>
                <a:srgbClr val="990033"/>
              </a:buClr>
              <a:buSzPts val="1680"/>
              <a:buFont typeface="Noto Sans Symbols"/>
              <a:buNone/>
            </a:pPr>
            <a:endParaRPr sz="2800" b="0" i="0" u="none" dirty="0">
              <a:solidFill>
                <a:schemeClr val="dk2"/>
              </a:solidFill>
              <a:highlight>
                <a:srgbClr val="FFFF00"/>
              </a:highlight>
              <a:latin typeface="Arial"/>
              <a:ea typeface="Arial"/>
              <a:cs typeface="Arial"/>
              <a:sym typeface="Arial"/>
            </a:endParaRPr>
          </a:p>
          <a:p>
            <a:pPr marL="342900" lvl="0" indent="-342900" algn="l" rtl="0">
              <a:lnSpc>
                <a:spcPct val="90000"/>
              </a:lnSpc>
              <a:spcBef>
                <a:spcPts val="56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GUIDELINE 4:</a:t>
            </a:r>
            <a:endParaRPr dirty="0">
              <a:highlight>
                <a:srgbClr val="FFFF00"/>
              </a:highlight>
            </a:endParaRPr>
          </a:p>
          <a:p>
            <a:pPr marL="742950" lvl="1" indent="-285750" algn="l" rtl="0">
              <a:lnSpc>
                <a:spcPct val="90000"/>
              </a:lnSpc>
              <a:spcBef>
                <a:spcPts val="520"/>
              </a:spcBef>
              <a:spcAft>
                <a:spcPts val="0"/>
              </a:spcAft>
              <a:buClr>
                <a:schemeClr val="dk2"/>
              </a:buClr>
              <a:buSzPts val="1430"/>
              <a:buFont typeface="Noto Sans Symbols"/>
              <a:buChar char="■"/>
            </a:pPr>
            <a:r>
              <a:rPr lang="en-US" sz="2600" b="0" i="0" u="none" dirty="0">
                <a:solidFill>
                  <a:srgbClr val="FF0000"/>
                </a:solidFill>
                <a:highlight>
                  <a:srgbClr val="FFFF00"/>
                </a:highlight>
                <a:latin typeface="Arial"/>
                <a:ea typeface="Arial"/>
                <a:cs typeface="Arial"/>
                <a:sym typeface="Arial"/>
              </a:rPr>
              <a:t>The relations should be designed to satisfy the lossless join condition. It means  No spurious tuples should be generated by doing a natural-join of any relations.</a:t>
            </a:r>
            <a:endParaRPr dirty="0">
              <a:highlight>
                <a:srgbClr val="FFFF00"/>
              </a:highlight>
            </a:endParaRPr>
          </a:p>
          <a:p>
            <a:pPr marL="342900" lvl="0" indent="-243840" algn="l" rtl="0">
              <a:lnSpc>
                <a:spcPct val="100000"/>
              </a:lnSpc>
              <a:spcBef>
                <a:spcPts val="520"/>
              </a:spcBef>
              <a:spcAft>
                <a:spcPts val="0"/>
              </a:spcAft>
              <a:buSzPts val="1560"/>
              <a:buNone/>
            </a:pPr>
            <a:endParaRPr sz="2600" b="0" i="0" u="none" dirty="0">
              <a:solidFill>
                <a:srgbClr val="FF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1"/>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19</a:t>
            </a:fld>
            <a:endParaRPr sz="1400" b="0" i="0" u="none" strike="noStrike" cap="none">
              <a:solidFill>
                <a:srgbClr val="000000"/>
              </a:solidFill>
              <a:latin typeface="Arial"/>
              <a:ea typeface="Arial"/>
              <a:cs typeface="Arial"/>
              <a:sym typeface="Arial"/>
            </a:endParaRPr>
          </a:p>
        </p:txBody>
      </p:sp>
      <p:sp>
        <p:nvSpPr>
          <p:cNvPr id="220" name="Google Shape;220;p31"/>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Spurious Tuples (2)</a:t>
            </a:r>
            <a:endParaRPr/>
          </a:p>
        </p:txBody>
      </p:sp>
      <p:sp>
        <p:nvSpPr>
          <p:cNvPr id="221" name="Google Shape;221;p31"/>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457200" lvl="0" indent="-457200" algn="l" rtl="0">
              <a:lnSpc>
                <a:spcPct val="100000"/>
              </a:lnSpc>
              <a:spcBef>
                <a:spcPts val="0"/>
              </a:spcBef>
              <a:spcAft>
                <a:spcPts val="0"/>
              </a:spcAft>
              <a:buClr>
                <a:srgbClr val="990033"/>
              </a:buClr>
              <a:buSzPts val="1440"/>
              <a:buFont typeface="Noto Sans Symbols"/>
              <a:buChar char="■"/>
            </a:pPr>
            <a:r>
              <a:rPr lang="en-US" sz="2400" b="0" i="0" u="none" dirty="0">
                <a:solidFill>
                  <a:schemeClr val="dk2"/>
                </a:solidFill>
                <a:highlight>
                  <a:srgbClr val="FFFF00"/>
                </a:highlight>
                <a:latin typeface="Arial"/>
                <a:ea typeface="Arial"/>
                <a:cs typeface="Arial"/>
                <a:sym typeface="Arial"/>
              </a:rPr>
              <a:t>There are two important properties of decompositions: </a:t>
            </a:r>
            <a:endParaRPr dirty="0">
              <a:highlight>
                <a:srgbClr val="FFFF00"/>
              </a:highlight>
            </a:endParaRPr>
          </a:p>
          <a:p>
            <a:pPr marL="876300" lvl="1" indent="-419100" algn="l" rtl="0">
              <a:lnSpc>
                <a:spcPct val="100000"/>
              </a:lnSpc>
              <a:spcBef>
                <a:spcPts val="440"/>
              </a:spcBef>
              <a:spcAft>
                <a:spcPts val="0"/>
              </a:spcAft>
              <a:buClr>
                <a:schemeClr val="dk2"/>
              </a:buClr>
              <a:buSzPts val="1210"/>
              <a:buFont typeface="Noto Sans Symbols"/>
              <a:buAutoNum type="alphaLcParenR"/>
            </a:pPr>
            <a:r>
              <a:rPr lang="en-US" sz="2200" b="0" i="0" u="none" dirty="0">
                <a:solidFill>
                  <a:srgbClr val="800000"/>
                </a:solidFill>
                <a:highlight>
                  <a:srgbClr val="FFFF00"/>
                </a:highlight>
                <a:latin typeface="Arial"/>
                <a:ea typeface="Arial"/>
                <a:cs typeface="Arial"/>
                <a:sym typeface="Arial"/>
              </a:rPr>
              <a:t>Non-additive or </a:t>
            </a:r>
            <a:r>
              <a:rPr lang="en-US" sz="2200" b="0" i="0" u="none" dirty="0" err="1">
                <a:solidFill>
                  <a:srgbClr val="800000"/>
                </a:solidFill>
                <a:highlight>
                  <a:srgbClr val="FFFF00"/>
                </a:highlight>
                <a:latin typeface="Arial"/>
                <a:ea typeface="Arial"/>
                <a:cs typeface="Arial"/>
                <a:sym typeface="Arial"/>
              </a:rPr>
              <a:t>losslessness</a:t>
            </a:r>
            <a:r>
              <a:rPr lang="en-US" sz="2200" b="0" i="0" u="none" dirty="0">
                <a:solidFill>
                  <a:srgbClr val="800000"/>
                </a:solidFill>
                <a:highlight>
                  <a:srgbClr val="FFFF00"/>
                </a:highlight>
                <a:latin typeface="Arial"/>
                <a:ea typeface="Arial"/>
                <a:cs typeface="Arial"/>
                <a:sym typeface="Arial"/>
              </a:rPr>
              <a:t> of the corresponding join</a:t>
            </a:r>
            <a:endParaRPr dirty="0">
              <a:highlight>
                <a:srgbClr val="FFFF00"/>
              </a:highlight>
            </a:endParaRPr>
          </a:p>
          <a:p>
            <a:pPr marL="876300" lvl="1" indent="-419100" algn="l" rtl="0">
              <a:lnSpc>
                <a:spcPct val="100000"/>
              </a:lnSpc>
              <a:spcBef>
                <a:spcPts val="440"/>
              </a:spcBef>
              <a:spcAft>
                <a:spcPts val="0"/>
              </a:spcAft>
              <a:buClr>
                <a:schemeClr val="dk2"/>
              </a:buClr>
              <a:buSzPts val="1210"/>
              <a:buFont typeface="Noto Sans Symbols"/>
              <a:buAutoNum type="alphaLcParenR"/>
            </a:pPr>
            <a:r>
              <a:rPr lang="en-US" sz="2200" b="0" i="0" u="none" dirty="0">
                <a:solidFill>
                  <a:srgbClr val="800000"/>
                </a:solidFill>
                <a:highlight>
                  <a:srgbClr val="FFFF00"/>
                </a:highlight>
                <a:latin typeface="Arial"/>
                <a:ea typeface="Arial"/>
                <a:cs typeface="Arial"/>
                <a:sym typeface="Arial"/>
              </a:rPr>
              <a:t>Preservation of the functional dependencies. </a:t>
            </a:r>
            <a:endParaRPr dirty="0">
              <a:highlight>
                <a:srgbClr val="FFFF00"/>
              </a:highlight>
            </a:endParaRPr>
          </a:p>
          <a:p>
            <a:pPr marL="457200" lvl="0" indent="-365760" algn="l" rtl="0">
              <a:lnSpc>
                <a:spcPct val="100000"/>
              </a:lnSpc>
              <a:spcBef>
                <a:spcPts val="480"/>
              </a:spcBef>
              <a:spcAft>
                <a:spcPts val="0"/>
              </a:spcAft>
              <a:buClr>
                <a:srgbClr val="990033"/>
              </a:buClr>
              <a:buSzPts val="1440"/>
              <a:buFont typeface="Noto Sans Symbols"/>
              <a:buNone/>
            </a:pPr>
            <a:endParaRPr sz="2400" b="0" i="0" u="none" dirty="0">
              <a:solidFill>
                <a:schemeClr val="dk2"/>
              </a:solidFill>
              <a:latin typeface="Arial"/>
              <a:ea typeface="Arial"/>
              <a:cs typeface="Arial"/>
              <a:sym typeface="Arial"/>
            </a:endParaRPr>
          </a:p>
          <a:p>
            <a:pPr marL="457200" lvl="0" indent="-457200" algn="l" rtl="0">
              <a:lnSpc>
                <a:spcPct val="100000"/>
              </a:lnSpc>
              <a:spcBef>
                <a:spcPts val="480"/>
              </a:spcBef>
              <a:spcAft>
                <a:spcPts val="0"/>
              </a:spcAft>
              <a:buClr>
                <a:srgbClr val="990033"/>
              </a:buClr>
              <a:buSzPts val="1440"/>
              <a:buFont typeface="Noto Sans Symbols"/>
              <a:buChar char="■"/>
            </a:pPr>
            <a:r>
              <a:rPr lang="en-US" sz="2400" b="0" i="0" u="none" dirty="0">
                <a:solidFill>
                  <a:schemeClr val="dk2"/>
                </a:solidFill>
                <a:latin typeface="Arial"/>
                <a:ea typeface="Arial"/>
                <a:cs typeface="Arial"/>
                <a:sym typeface="Arial"/>
              </a:rPr>
              <a:t>Note that:</a:t>
            </a:r>
            <a:endParaRPr dirty="0"/>
          </a:p>
          <a:p>
            <a:pPr marL="876300" lvl="1" indent="-419100" algn="l" rtl="0">
              <a:lnSpc>
                <a:spcPct val="100000"/>
              </a:lnSpc>
              <a:spcBef>
                <a:spcPts val="440"/>
              </a:spcBef>
              <a:spcAft>
                <a:spcPts val="0"/>
              </a:spcAft>
              <a:buClr>
                <a:schemeClr val="dk2"/>
              </a:buClr>
              <a:buSzPts val="1210"/>
              <a:buFont typeface="Noto Sans Symbols"/>
              <a:buChar char="■"/>
            </a:pPr>
            <a:r>
              <a:rPr lang="en-US" sz="2200" b="0" i="0" u="none" dirty="0">
                <a:solidFill>
                  <a:srgbClr val="800000"/>
                </a:solidFill>
                <a:highlight>
                  <a:srgbClr val="FFFF00"/>
                </a:highlight>
                <a:latin typeface="Arial"/>
                <a:ea typeface="Arial"/>
                <a:cs typeface="Arial"/>
                <a:sym typeface="Arial"/>
              </a:rPr>
              <a:t>Property (a) is extremely important and </a:t>
            </a:r>
            <a:r>
              <a:rPr lang="en-US" sz="2200" b="0" i="1" u="none" dirty="0">
                <a:solidFill>
                  <a:srgbClr val="800000"/>
                </a:solidFill>
                <a:highlight>
                  <a:srgbClr val="FFFF00"/>
                </a:highlight>
                <a:latin typeface="Arial"/>
                <a:ea typeface="Arial"/>
                <a:cs typeface="Arial"/>
                <a:sym typeface="Arial"/>
              </a:rPr>
              <a:t>cannot</a:t>
            </a:r>
            <a:r>
              <a:rPr lang="en-US" sz="2200" b="0" i="0" u="none" dirty="0">
                <a:solidFill>
                  <a:srgbClr val="800000"/>
                </a:solidFill>
                <a:highlight>
                  <a:srgbClr val="FFFF00"/>
                </a:highlight>
                <a:latin typeface="Arial"/>
                <a:ea typeface="Arial"/>
                <a:cs typeface="Arial"/>
                <a:sym typeface="Arial"/>
              </a:rPr>
              <a:t> be sacrificed.</a:t>
            </a:r>
            <a:endParaRPr dirty="0">
              <a:highlight>
                <a:srgbClr val="FFFF00"/>
              </a:highlight>
            </a:endParaRPr>
          </a:p>
          <a:p>
            <a:pPr marL="876300" lvl="1" indent="-419100" algn="l" rtl="0">
              <a:lnSpc>
                <a:spcPct val="100000"/>
              </a:lnSpc>
              <a:spcBef>
                <a:spcPts val="440"/>
              </a:spcBef>
              <a:spcAft>
                <a:spcPts val="0"/>
              </a:spcAft>
              <a:buClr>
                <a:schemeClr val="dk2"/>
              </a:buClr>
              <a:buSzPts val="1210"/>
              <a:buFont typeface="Noto Sans Symbols"/>
              <a:buChar char="■"/>
            </a:pPr>
            <a:r>
              <a:rPr lang="en-US" sz="2200" b="0" i="0" u="none" dirty="0">
                <a:solidFill>
                  <a:srgbClr val="800000"/>
                </a:solidFill>
                <a:highlight>
                  <a:srgbClr val="FFFF00"/>
                </a:highlight>
                <a:latin typeface="Arial"/>
                <a:ea typeface="Arial"/>
                <a:cs typeface="Arial"/>
                <a:sym typeface="Arial"/>
              </a:rPr>
              <a:t>Property (b) is less stringent and may be sacrificed. </a:t>
            </a:r>
            <a:endParaRPr dirty="0">
              <a:highlight>
                <a:srgbClr val="FFFF00"/>
              </a:high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a:t>
            </a:r>
            <a:endParaRPr lang="en-IN" dirty="0"/>
          </a:p>
        </p:txBody>
      </p:sp>
      <p:sp>
        <p:nvSpPr>
          <p:cNvPr id="3" name="Text Placeholder 2"/>
          <p:cNvSpPr>
            <a:spLocks noGrp="1"/>
          </p:cNvSpPr>
          <p:nvPr>
            <p:ph type="body" idx="1"/>
          </p:nvPr>
        </p:nvSpPr>
        <p:spPr/>
        <p:txBody>
          <a:bodyPr/>
          <a:lstStyle/>
          <a:p>
            <a:endParaRPr lang="en-US" dirty="0"/>
          </a:p>
          <a:p>
            <a:endParaRPr lang="en-US" dirty="0"/>
          </a:p>
          <a:p>
            <a:endParaRPr lang="en-US" dirty="0"/>
          </a:p>
          <a:p>
            <a:endParaRPr lang="en-US" dirty="0"/>
          </a:p>
          <a:p>
            <a:r>
              <a:rPr lang="en-US" sz="2400" dirty="0"/>
              <a:t>The relation EMP_PROJ is decomposed into two relations: EMP_LOCS and EMP_PROJ1.</a:t>
            </a:r>
          </a:p>
          <a:p>
            <a:r>
              <a:rPr lang="en-US" sz="2400" dirty="0"/>
              <a:t>by re-joining of these two relations will generate some spurious tuples.</a:t>
            </a:r>
          </a:p>
          <a:p>
            <a:r>
              <a:rPr lang="en-US" sz="2400" dirty="0"/>
              <a:t>So the join operation will not get original </a:t>
            </a:r>
            <a:r>
              <a:rPr lang="en-US" sz="2400" dirty="0" err="1"/>
              <a:t>EMP_Proj</a:t>
            </a:r>
            <a:r>
              <a:rPr lang="en-US" sz="2400" dirty="0"/>
              <a:t> relation.</a:t>
            </a:r>
            <a:endParaRPr lang="en-IN" sz="2400"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20</a:t>
            </a:fld>
            <a:endParaRPr lang="en-US"/>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4324" y="1521521"/>
            <a:ext cx="6762750" cy="1885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6562428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7994" y="365843"/>
            <a:ext cx="7761765" cy="498454"/>
          </a:xfrm>
        </p:spPr>
        <p:txBody>
          <a:bodyPr/>
          <a:lstStyle/>
          <a:p>
            <a:r>
              <a:rPr lang="en-US" dirty="0"/>
              <a:t>Example:</a:t>
            </a:r>
            <a:endParaRPr lang="en-IN" dirty="0"/>
          </a:p>
        </p:txBody>
      </p:sp>
      <p:sp>
        <p:nvSpPr>
          <p:cNvPr id="3" name="Text Placeholder 2"/>
          <p:cNvSpPr>
            <a:spLocks noGrp="1"/>
          </p:cNvSpPr>
          <p:nvPr>
            <p:ph type="body" idx="1"/>
          </p:nvPr>
        </p:nvSpPr>
        <p:spPr/>
        <p:txBody>
          <a:bodyPr/>
          <a:lstStyle/>
          <a:p>
            <a:endParaRPr lang="en-US" dirty="0"/>
          </a:p>
          <a:p>
            <a:pPr marL="160020" indent="0">
              <a:buNone/>
            </a:pPr>
            <a:r>
              <a:rPr lang="en-US" dirty="0"/>
              <a:t>Now, if we decompose EMP-PROJ1 and EMP-LOCS using the common attribute </a:t>
            </a:r>
            <a:r>
              <a:rPr lang="en-US" dirty="0" err="1"/>
              <a:t>Plocation</a:t>
            </a:r>
            <a:r>
              <a:rPr lang="en-US" dirty="0"/>
              <a:t>:</a:t>
            </a:r>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21</a:t>
            </a:fld>
            <a:endParaRPr lang="en-US"/>
          </a:p>
        </p:txBody>
      </p:sp>
      <p:graphicFrame>
        <p:nvGraphicFramePr>
          <p:cNvPr id="5" name="Table 4"/>
          <p:cNvGraphicFramePr>
            <a:graphicFrameLocks noGrp="1"/>
          </p:cNvGraphicFramePr>
          <p:nvPr>
            <p:extLst>
              <p:ext uri="{D42A27DB-BD31-4B8C-83A1-F6EECF244321}">
                <p14:modId xmlns:p14="http://schemas.microsoft.com/office/powerpoint/2010/main" val="1201151631"/>
              </p:ext>
            </p:extLst>
          </p:nvPr>
        </p:nvGraphicFramePr>
        <p:xfrm>
          <a:off x="866015" y="796447"/>
          <a:ext cx="5409525" cy="1219200"/>
        </p:xfrm>
        <a:graphic>
          <a:graphicData uri="http://schemas.openxmlformats.org/drawingml/2006/table">
            <a:tbl>
              <a:tblPr/>
              <a:tblGrid>
                <a:gridCol w="712265">
                  <a:extLst>
                    <a:ext uri="{9D8B030D-6E8A-4147-A177-3AD203B41FA5}">
                      <a16:colId xmlns:a16="http://schemas.microsoft.com/office/drawing/2014/main" val="20000"/>
                    </a:ext>
                  </a:extLst>
                </a:gridCol>
                <a:gridCol w="951978">
                  <a:extLst>
                    <a:ext uri="{9D8B030D-6E8A-4147-A177-3AD203B41FA5}">
                      <a16:colId xmlns:a16="http://schemas.microsoft.com/office/drawing/2014/main" val="20001"/>
                    </a:ext>
                  </a:extLst>
                </a:gridCol>
                <a:gridCol w="889348">
                  <a:extLst>
                    <a:ext uri="{9D8B030D-6E8A-4147-A177-3AD203B41FA5}">
                      <a16:colId xmlns:a16="http://schemas.microsoft.com/office/drawing/2014/main" val="20002"/>
                    </a:ext>
                  </a:extLst>
                </a:gridCol>
                <a:gridCol w="926926">
                  <a:extLst>
                    <a:ext uri="{9D8B030D-6E8A-4147-A177-3AD203B41FA5}">
                      <a16:colId xmlns:a16="http://schemas.microsoft.com/office/drawing/2014/main" val="20003"/>
                    </a:ext>
                  </a:extLst>
                </a:gridCol>
                <a:gridCol w="1002082">
                  <a:extLst>
                    <a:ext uri="{9D8B030D-6E8A-4147-A177-3AD203B41FA5}">
                      <a16:colId xmlns:a16="http://schemas.microsoft.com/office/drawing/2014/main" val="20004"/>
                    </a:ext>
                  </a:extLst>
                </a:gridCol>
                <a:gridCol w="926926">
                  <a:extLst>
                    <a:ext uri="{9D8B030D-6E8A-4147-A177-3AD203B41FA5}">
                      <a16:colId xmlns:a16="http://schemas.microsoft.com/office/drawing/2014/main" val="20005"/>
                    </a:ext>
                  </a:extLst>
                </a:gridCol>
              </a:tblGrid>
              <a:tr h="304800">
                <a:tc>
                  <a:txBody>
                    <a:bodyPr/>
                    <a:lstStyle/>
                    <a:p>
                      <a:r>
                        <a:rPr lang="en-IN" sz="1400" dirty="0" err="1"/>
                        <a:t>Ssn</a:t>
                      </a:r>
                      <a:endParaRPr lang="en-IN" sz="1400" dirty="0"/>
                    </a:p>
                  </a:txBody>
                  <a:tcPr anchor="ctr">
                    <a:lnL>
                      <a:noFill/>
                    </a:lnL>
                    <a:lnR>
                      <a:noFill/>
                    </a:lnR>
                    <a:lnT>
                      <a:noFill/>
                    </a:lnT>
                    <a:lnB>
                      <a:noFill/>
                    </a:lnB>
                  </a:tcPr>
                </a:tc>
                <a:tc>
                  <a:txBody>
                    <a:bodyPr/>
                    <a:lstStyle/>
                    <a:p>
                      <a:r>
                        <a:rPr lang="en-IN" sz="1400" dirty="0" err="1"/>
                        <a:t>Pnumber</a:t>
                      </a:r>
                      <a:endParaRPr lang="en-IN" sz="1400" dirty="0"/>
                    </a:p>
                  </a:txBody>
                  <a:tcPr anchor="ctr">
                    <a:lnL>
                      <a:noFill/>
                    </a:lnL>
                    <a:lnR>
                      <a:noFill/>
                    </a:lnR>
                    <a:lnT>
                      <a:noFill/>
                    </a:lnT>
                    <a:lnB>
                      <a:noFill/>
                    </a:lnB>
                  </a:tcPr>
                </a:tc>
                <a:tc>
                  <a:txBody>
                    <a:bodyPr/>
                    <a:lstStyle/>
                    <a:p>
                      <a:r>
                        <a:rPr lang="en-IN" sz="1400"/>
                        <a:t>Hours</a:t>
                      </a:r>
                    </a:p>
                  </a:txBody>
                  <a:tcPr anchor="ctr">
                    <a:lnL>
                      <a:noFill/>
                    </a:lnL>
                    <a:lnR>
                      <a:noFill/>
                    </a:lnR>
                    <a:lnT>
                      <a:noFill/>
                    </a:lnT>
                    <a:lnB>
                      <a:noFill/>
                    </a:lnB>
                  </a:tcPr>
                </a:tc>
                <a:tc>
                  <a:txBody>
                    <a:bodyPr/>
                    <a:lstStyle/>
                    <a:p>
                      <a:r>
                        <a:rPr lang="en-IN" sz="1400" dirty="0" err="1"/>
                        <a:t>Ename</a:t>
                      </a:r>
                      <a:endParaRPr lang="en-IN" sz="1400" dirty="0"/>
                    </a:p>
                  </a:txBody>
                  <a:tcPr anchor="ctr">
                    <a:lnL>
                      <a:noFill/>
                    </a:lnL>
                    <a:lnR>
                      <a:noFill/>
                    </a:lnR>
                    <a:lnT>
                      <a:noFill/>
                    </a:lnT>
                    <a:lnB>
                      <a:noFill/>
                    </a:lnB>
                  </a:tcPr>
                </a:tc>
                <a:tc>
                  <a:txBody>
                    <a:bodyPr/>
                    <a:lstStyle/>
                    <a:p>
                      <a:r>
                        <a:rPr lang="en-IN" sz="1400"/>
                        <a:t>Pname</a:t>
                      </a:r>
                    </a:p>
                  </a:txBody>
                  <a:tcPr anchor="ctr">
                    <a:lnL>
                      <a:noFill/>
                    </a:lnL>
                    <a:lnR>
                      <a:noFill/>
                    </a:lnR>
                    <a:lnT>
                      <a:noFill/>
                    </a:lnT>
                    <a:lnB>
                      <a:noFill/>
                    </a:lnB>
                  </a:tcPr>
                </a:tc>
                <a:tc>
                  <a:txBody>
                    <a:bodyPr/>
                    <a:lstStyle/>
                    <a:p>
                      <a:r>
                        <a:rPr lang="en-IN" sz="1400" dirty="0" err="1"/>
                        <a:t>Plocation</a:t>
                      </a:r>
                      <a:endParaRPr lang="en-IN" sz="1400" dirty="0"/>
                    </a:p>
                  </a:txBody>
                  <a:tcPr anchor="ctr">
                    <a:lnL>
                      <a:noFill/>
                    </a:lnL>
                    <a:lnR>
                      <a:noFill/>
                    </a:lnR>
                    <a:lnT>
                      <a:noFill/>
                    </a:lnT>
                    <a:lnB>
                      <a:noFill/>
                    </a:lnB>
                  </a:tcPr>
                </a:tc>
                <a:extLst>
                  <a:ext uri="{0D108BD9-81ED-4DB2-BD59-A6C34878D82A}">
                    <a16:rowId xmlns:a16="http://schemas.microsoft.com/office/drawing/2014/main" val="10000"/>
                  </a:ext>
                </a:extLst>
              </a:tr>
              <a:tr h="304800">
                <a:tc>
                  <a:txBody>
                    <a:bodyPr/>
                    <a:lstStyle/>
                    <a:p>
                      <a:r>
                        <a:rPr lang="en-IN" sz="1400"/>
                        <a:t>101</a:t>
                      </a:r>
                    </a:p>
                  </a:txBody>
                  <a:tcPr anchor="ctr">
                    <a:lnL>
                      <a:noFill/>
                    </a:lnL>
                    <a:lnR>
                      <a:noFill/>
                    </a:lnR>
                    <a:lnT>
                      <a:noFill/>
                    </a:lnT>
                    <a:lnB>
                      <a:noFill/>
                    </a:lnB>
                  </a:tcPr>
                </a:tc>
                <a:tc>
                  <a:txBody>
                    <a:bodyPr/>
                    <a:lstStyle/>
                    <a:p>
                      <a:r>
                        <a:rPr lang="en-IN" sz="1400"/>
                        <a:t>1</a:t>
                      </a:r>
                    </a:p>
                  </a:txBody>
                  <a:tcPr anchor="ctr">
                    <a:lnL>
                      <a:noFill/>
                    </a:lnL>
                    <a:lnR>
                      <a:noFill/>
                    </a:lnR>
                    <a:lnT>
                      <a:noFill/>
                    </a:lnT>
                    <a:lnB>
                      <a:noFill/>
                    </a:lnB>
                  </a:tcPr>
                </a:tc>
                <a:tc>
                  <a:txBody>
                    <a:bodyPr/>
                    <a:lstStyle/>
                    <a:p>
                      <a:r>
                        <a:rPr lang="en-IN" sz="1400"/>
                        <a:t>20</a:t>
                      </a:r>
                    </a:p>
                  </a:txBody>
                  <a:tcPr anchor="ctr">
                    <a:lnL>
                      <a:noFill/>
                    </a:lnL>
                    <a:lnR>
                      <a:noFill/>
                    </a:lnR>
                    <a:lnT>
                      <a:noFill/>
                    </a:lnT>
                    <a:lnB>
                      <a:noFill/>
                    </a:lnB>
                  </a:tcPr>
                </a:tc>
                <a:tc>
                  <a:txBody>
                    <a:bodyPr/>
                    <a:lstStyle/>
                    <a:p>
                      <a:r>
                        <a:rPr lang="en-IN" sz="1400" dirty="0"/>
                        <a:t>John</a:t>
                      </a:r>
                    </a:p>
                  </a:txBody>
                  <a:tcPr anchor="ctr">
                    <a:lnL>
                      <a:noFill/>
                    </a:lnL>
                    <a:lnR>
                      <a:noFill/>
                    </a:lnR>
                    <a:lnT>
                      <a:noFill/>
                    </a:lnT>
                    <a:lnB>
                      <a:noFill/>
                    </a:lnB>
                  </a:tcPr>
                </a:tc>
                <a:tc>
                  <a:txBody>
                    <a:bodyPr/>
                    <a:lstStyle/>
                    <a:p>
                      <a:r>
                        <a:rPr lang="en-IN" sz="1400" dirty="0"/>
                        <a:t>Alpha</a:t>
                      </a:r>
                    </a:p>
                  </a:txBody>
                  <a:tcPr anchor="ctr">
                    <a:lnL>
                      <a:noFill/>
                    </a:lnL>
                    <a:lnR>
                      <a:noFill/>
                    </a:lnR>
                    <a:lnT>
                      <a:noFill/>
                    </a:lnT>
                    <a:lnB>
                      <a:noFill/>
                    </a:lnB>
                  </a:tcPr>
                </a:tc>
                <a:tc>
                  <a:txBody>
                    <a:bodyPr/>
                    <a:lstStyle/>
                    <a:p>
                      <a:r>
                        <a:rPr lang="en-IN" sz="1400"/>
                        <a:t>NY</a:t>
                      </a:r>
                    </a:p>
                  </a:txBody>
                  <a:tcPr anchor="ctr">
                    <a:lnL>
                      <a:noFill/>
                    </a:lnL>
                    <a:lnR>
                      <a:noFill/>
                    </a:lnR>
                    <a:lnT>
                      <a:noFill/>
                    </a:lnT>
                    <a:lnB>
                      <a:noFill/>
                    </a:lnB>
                  </a:tcPr>
                </a:tc>
                <a:extLst>
                  <a:ext uri="{0D108BD9-81ED-4DB2-BD59-A6C34878D82A}">
                    <a16:rowId xmlns:a16="http://schemas.microsoft.com/office/drawing/2014/main" val="10001"/>
                  </a:ext>
                </a:extLst>
              </a:tr>
              <a:tr h="304800">
                <a:tc>
                  <a:txBody>
                    <a:bodyPr/>
                    <a:lstStyle/>
                    <a:p>
                      <a:r>
                        <a:rPr lang="en-IN" sz="1400"/>
                        <a:t>102</a:t>
                      </a:r>
                    </a:p>
                  </a:txBody>
                  <a:tcPr anchor="ctr">
                    <a:lnL>
                      <a:noFill/>
                    </a:lnL>
                    <a:lnR>
                      <a:noFill/>
                    </a:lnR>
                    <a:lnT>
                      <a:noFill/>
                    </a:lnT>
                    <a:lnB>
                      <a:noFill/>
                    </a:lnB>
                  </a:tcPr>
                </a:tc>
                <a:tc>
                  <a:txBody>
                    <a:bodyPr/>
                    <a:lstStyle/>
                    <a:p>
                      <a:r>
                        <a:rPr lang="en-IN" sz="1400" dirty="0"/>
                        <a:t>2</a:t>
                      </a:r>
                    </a:p>
                  </a:txBody>
                  <a:tcPr anchor="ctr">
                    <a:lnL>
                      <a:noFill/>
                    </a:lnL>
                    <a:lnR>
                      <a:noFill/>
                    </a:lnR>
                    <a:lnT>
                      <a:noFill/>
                    </a:lnT>
                    <a:lnB>
                      <a:noFill/>
                    </a:lnB>
                  </a:tcPr>
                </a:tc>
                <a:tc>
                  <a:txBody>
                    <a:bodyPr/>
                    <a:lstStyle/>
                    <a:p>
                      <a:r>
                        <a:rPr lang="en-IN" sz="1400"/>
                        <a:t>25</a:t>
                      </a:r>
                    </a:p>
                  </a:txBody>
                  <a:tcPr anchor="ctr">
                    <a:lnL>
                      <a:noFill/>
                    </a:lnL>
                    <a:lnR>
                      <a:noFill/>
                    </a:lnR>
                    <a:lnT>
                      <a:noFill/>
                    </a:lnT>
                    <a:lnB>
                      <a:noFill/>
                    </a:lnB>
                  </a:tcPr>
                </a:tc>
                <a:tc>
                  <a:txBody>
                    <a:bodyPr/>
                    <a:lstStyle/>
                    <a:p>
                      <a:r>
                        <a:rPr lang="en-IN" sz="1400"/>
                        <a:t>Alice</a:t>
                      </a:r>
                    </a:p>
                  </a:txBody>
                  <a:tcPr anchor="ctr">
                    <a:lnL>
                      <a:noFill/>
                    </a:lnL>
                    <a:lnR>
                      <a:noFill/>
                    </a:lnR>
                    <a:lnT>
                      <a:noFill/>
                    </a:lnT>
                    <a:lnB>
                      <a:noFill/>
                    </a:lnB>
                  </a:tcPr>
                </a:tc>
                <a:tc>
                  <a:txBody>
                    <a:bodyPr/>
                    <a:lstStyle/>
                    <a:p>
                      <a:r>
                        <a:rPr lang="en-IN" sz="1400" dirty="0"/>
                        <a:t>Beta</a:t>
                      </a:r>
                    </a:p>
                  </a:txBody>
                  <a:tcPr anchor="ctr">
                    <a:lnL>
                      <a:noFill/>
                    </a:lnL>
                    <a:lnR>
                      <a:noFill/>
                    </a:lnR>
                    <a:lnT>
                      <a:noFill/>
                    </a:lnT>
                    <a:lnB>
                      <a:noFill/>
                    </a:lnB>
                  </a:tcPr>
                </a:tc>
                <a:tc>
                  <a:txBody>
                    <a:bodyPr/>
                    <a:lstStyle/>
                    <a:p>
                      <a:r>
                        <a:rPr lang="en-IN" sz="1400" dirty="0"/>
                        <a:t>LA</a:t>
                      </a:r>
                    </a:p>
                  </a:txBody>
                  <a:tcPr anchor="ctr">
                    <a:lnL>
                      <a:noFill/>
                    </a:lnL>
                    <a:lnR>
                      <a:noFill/>
                    </a:lnR>
                    <a:lnT>
                      <a:noFill/>
                    </a:lnT>
                    <a:lnB>
                      <a:noFill/>
                    </a:lnB>
                  </a:tcPr>
                </a:tc>
                <a:extLst>
                  <a:ext uri="{0D108BD9-81ED-4DB2-BD59-A6C34878D82A}">
                    <a16:rowId xmlns:a16="http://schemas.microsoft.com/office/drawing/2014/main" val="10002"/>
                  </a:ext>
                </a:extLst>
              </a:tr>
              <a:tr h="304800">
                <a:tc>
                  <a:txBody>
                    <a:bodyPr/>
                    <a:lstStyle/>
                    <a:p>
                      <a:r>
                        <a:rPr lang="en-IN" sz="1400"/>
                        <a:t>103</a:t>
                      </a:r>
                    </a:p>
                  </a:txBody>
                  <a:tcPr anchor="ctr">
                    <a:lnL>
                      <a:noFill/>
                    </a:lnL>
                    <a:lnR>
                      <a:noFill/>
                    </a:lnR>
                    <a:lnT>
                      <a:noFill/>
                    </a:lnT>
                    <a:lnB>
                      <a:noFill/>
                    </a:lnB>
                  </a:tcPr>
                </a:tc>
                <a:tc>
                  <a:txBody>
                    <a:bodyPr/>
                    <a:lstStyle/>
                    <a:p>
                      <a:r>
                        <a:rPr lang="en-IN" sz="1400"/>
                        <a:t>1</a:t>
                      </a:r>
                    </a:p>
                  </a:txBody>
                  <a:tcPr anchor="ctr">
                    <a:lnL>
                      <a:noFill/>
                    </a:lnL>
                    <a:lnR>
                      <a:noFill/>
                    </a:lnR>
                    <a:lnT>
                      <a:noFill/>
                    </a:lnT>
                    <a:lnB>
                      <a:noFill/>
                    </a:lnB>
                  </a:tcPr>
                </a:tc>
                <a:tc>
                  <a:txBody>
                    <a:bodyPr/>
                    <a:lstStyle/>
                    <a:p>
                      <a:r>
                        <a:rPr lang="en-IN" sz="1400"/>
                        <a:t>30</a:t>
                      </a:r>
                    </a:p>
                  </a:txBody>
                  <a:tcPr anchor="ctr">
                    <a:lnL>
                      <a:noFill/>
                    </a:lnL>
                    <a:lnR>
                      <a:noFill/>
                    </a:lnR>
                    <a:lnT>
                      <a:noFill/>
                    </a:lnT>
                    <a:lnB>
                      <a:noFill/>
                    </a:lnB>
                  </a:tcPr>
                </a:tc>
                <a:tc>
                  <a:txBody>
                    <a:bodyPr/>
                    <a:lstStyle/>
                    <a:p>
                      <a:r>
                        <a:rPr lang="en-IN" sz="1400" dirty="0"/>
                        <a:t>John</a:t>
                      </a:r>
                    </a:p>
                  </a:txBody>
                  <a:tcPr anchor="ctr">
                    <a:lnL>
                      <a:noFill/>
                    </a:lnL>
                    <a:lnR>
                      <a:noFill/>
                    </a:lnR>
                    <a:lnT>
                      <a:noFill/>
                    </a:lnT>
                    <a:lnB>
                      <a:noFill/>
                    </a:lnB>
                  </a:tcPr>
                </a:tc>
                <a:tc>
                  <a:txBody>
                    <a:bodyPr/>
                    <a:lstStyle/>
                    <a:p>
                      <a:r>
                        <a:rPr lang="en-IN" sz="1400"/>
                        <a:t>Alpha</a:t>
                      </a:r>
                    </a:p>
                  </a:txBody>
                  <a:tcPr anchor="ctr">
                    <a:lnL>
                      <a:noFill/>
                    </a:lnL>
                    <a:lnR>
                      <a:noFill/>
                    </a:lnR>
                    <a:lnT>
                      <a:noFill/>
                    </a:lnT>
                    <a:lnB>
                      <a:noFill/>
                    </a:lnB>
                  </a:tcPr>
                </a:tc>
                <a:tc>
                  <a:txBody>
                    <a:bodyPr/>
                    <a:lstStyle/>
                    <a:p>
                      <a:r>
                        <a:rPr lang="en-IN" sz="1400" dirty="0"/>
                        <a:t>NY</a:t>
                      </a:r>
                    </a:p>
                  </a:txBody>
                  <a:tcPr anchor="ctr">
                    <a:lnL>
                      <a:noFill/>
                    </a:lnL>
                    <a:lnR>
                      <a:noFill/>
                    </a:lnR>
                    <a:lnT>
                      <a:noFill/>
                    </a:lnT>
                    <a:lnB>
                      <a:noFill/>
                    </a:lnB>
                  </a:tcPr>
                </a:tc>
                <a:extLst>
                  <a:ext uri="{0D108BD9-81ED-4DB2-BD59-A6C34878D82A}">
                    <a16:rowId xmlns:a16="http://schemas.microsoft.com/office/drawing/2014/main" val="10003"/>
                  </a:ext>
                </a:extLst>
              </a:tr>
            </a:tbl>
          </a:graphicData>
        </a:graphic>
      </p:graphicFrame>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8314" y="3241044"/>
            <a:ext cx="6143625" cy="29813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20121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6" presetClass="entr" presetSubtype="21" fill="hold" nodeType="clickEffect">
                                  <p:stCondLst>
                                    <p:cond delay="0"/>
                                  </p:stCondLst>
                                  <p:childTnLst>
                                    <p:set>
                                      <p:cBhvr>
                                        <p:cTn id="17" dur="1" fill="hold">
                                          <p:stCondLst>
                                            <p:cond delay="0"/>
                                          </p:stCondLst>
                                        </p:cTn>
                                        <p:tgtEl>
                                          <p:spTgt spid="1027"/>
                                        </p:tgtEl>
                                        <p:attrNameLst>
                                          <p:attrName>style.visibility</p:attrName>
                                        </p:attrNameLst>
                                      </p:cBhvr>
                                      <p:to>
                                        <p:strVal val="visible"/>
                                      </p:to>
                                    </p:set>
                                    <p:animEffect transition="in" filter="barn(inVertical)">
                                      <p:cBhvr>
                                        <p:cTn id="18" dur="500"/>
                                        <p:tgtEl>
                                          <p:spTgt spid="10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7994" y="365843"/>
            <a:ext cx="7761765" cy="498454"/>
          </a:xfrm>
        </p:spPr>
        <p:txBody>
          <a:bodyPr/>
          <a:lstStyle/>
          <a:p>
            <a:r>
              <a:rPr lang="en-US" dirty="0"/>
              <a:t>Example:</a:t>
            </a:r>
            <a:endParaRPr lang="en-IN" dirty="0"/>
          </a:p>
        </p:txBody>
      </p:sp>
      <p:sp>
        <p:nvSpPr>
          <p:cNvPr id="3" name="Text Placeholder 2"/>
          <p:cNvSpPr>
            <a:spLocks noGrp="1"/>
          </p:cNvSpPr>
          <p:nvPr>
            <p:ph type="body" idx="1"/>
          </p:nvPr>
        </p:nvSpPr>
        <p:spPr/>
        <p:txBody>
          <a:bodyPr/>
          <a:lstStyle/>
          <a:p>
            <a:endParaRPr lang="en-US" dirty="0"/>
          </a:p>
          <a:p>
            <a:pPr marL="160020" indent="0">
              <a:buNone/>
            </a:pPr>
            <a:endParaRPr lang="en-US" dirty="0"/>
          </a:p>
          <a:p>
            <a:pPr marL="160020" indent="0">
              <a:buNone/>
            </a:pPr>
            <a:r>
              <a:rPr lang="en-US" dirty="0"/>
              <a:t>Result of Natural Join (EMP-PROJ1 ⨝ EMP-LOCS on </a:t>
            </a:r>
            <a:r>
              <a:rPr lang="en-US" dirty="0" err="1"/>
              <a:t>Plocation</a:t>
            </a:r>
            <a:r>
              <a:rPr lang="en-US" dirty="0"/>
              <a:t>)</a:t>
            </a:r>
          </a:p>
          <a:p>
            <a:endParaRPr lang="en-IN"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22</a:t>
            </a:fld>
            <a:endParaRPr lang="en-US"/>
          </a:p>
        </p:txBody>
      </p:sp>
      <p:graphicFrame>
        <p:nvGraphicFramePr>
          <p:cNvPr id="5" name="Table 4"/>
          <p:cNvGraphicFramePr>
            <a:graphicFrameLocks noGrp="1"/>
          </p:cNvGraphicFramePr>
          <p:nvPr>
            <p:extLst>
              <p:ext uri="{D42A27DB-BD31-4B8C-83A1-F6EECF244321}">
                <p14:modId xmlns:p14="http://schemas.microsoft.com/office/powerpoint/2010/main" val="637696678"/>
              </p:ext>
            </p:extLst>
          </p:nvPr>
        </p:nvGraphicFramePr>
        <p:xfrm>
          <a:off x="878541" y="1197280"/>
          <a:ext cx="5409525" cy="1219200"/>
        </p:xfrm>
        <a:graphic>
          <a:graphicData uri="http://schemas.openxmlformats.org/drawingml/2006/table">
            <a:tbl>
              <a:tblPr/>
              <a:tblGrid>
                <a:gridCol w="712265">
                  <a:extLst>
                    <a:ext uri="{9D8B030D-6E8A-4147-A177-3AD203B41FA5}">
                      <a16:colId xmlns:a16="http://schemas.microsoft.com/office/drawing/2014/main" val="20000"/>
                    </a:ext>
                  </a:extLst>
                </a:gridCol>
                <a:gridCol w="951978">
                  <a:extLst>
                    <a:ext uri="{9D8B030D-6E8A-4147-A177-3AD203B41FA5}">
                      <a16:colId xmlns:a16="http://schemas.microsoft.com/office/drawing/2014/main" val="20001"/>
                    </a:ext>
                  </a:extLst>
                </a:gridCol>
                <a:gridCol w="889348">
                  <a:extLst>
                    <a:ext uri="{9D8B030D-6E8A-4147-A177-3AD203B41FA5}">
                      <a16:colId xmlns:a16="http://schemas.microsoft.com/office/drawing/2014/main" val="20002"/>
                    </a:ext>
                  </a:extLst>
                </a:gridCol>
                <a:gridCol w="926926">
                  <a:extLst>
                    <a:ext uri="{9D8B030D-6E8A-4147-A177-3AD203B41FA5}">
                      <a16:colId xmlns:a16="http://schemas.microsoft.com/office/drawing/2014/main" val="20003"/>
                    </a:ext>
                  </a:extLst>
                </a:gridCol>
                <a:gridCol w="1002082">
                  <a:extLst>
                    <a:ext uri="{9D8B030D-6E8A-4147-A177-3AD203B41FA5}">
                      <a16:colId xmlns:a16="http://schemas.microsoft.com/office/drawing/2014/main" val="20004"/>
                    </a:ext>
                  </a:extLst>
                </a:gridCol>
                <a:gridCol w="926926">
                  <a:extLst>
                    <a:ext uri="{9D8B030D-6E8A-4147-A177-3AD203B41FA5}">
                      <a16:colId xmlns:a16="http://schemas.microsoft.com/office/drawing/2014/main" val="20005"/>
                    </a:ext>
                  </a:extLst>
                </a:gridCol>
              </a:tblGrid>
              <a:tr h="304800">
                <a:tc>
                  <a:txBody>
                    <a:bodyPr/>
                    <a:lstStyle/>
                    <a:p>
                      <a:r>
                        <a:rPr lang="en-IN" sz="1400" dirty="0" err="1"/>
                        <a:t>Ssn</a:t>
                      </a:r>
                      <a:endParaRPr lang="en-IN" sz="1400" dirty="0"/>
                    </a:p>
                  </a:txBody>
                  <a:tcPr anchor="ctr">
                    <a:lnL>
                      <a:noFill/>
                    </a:lnL>
                    <a:lnR>
                      <a:noFill/>
                    </a:lnR>
                    <a:lnT>
                      <a:noFill/>
                    </a:lnT>
                    <a:lnB>
                      <a:noFill/>
                    </a:lnB>
                  </a:tcPr>
                </a:tc>
                <a:tc>
                  <a:txBody>
                    <a:bodyPr/>
                    <a:lstStyle/>
                    <a:p>
                      <a:r>
                        <a:rPr lang="en-IN" sz="1400" dirty="0" err="1"/>
                        <a:t>Pnumber</a:t>
                      </a:r>
                      <a:endParaRPr lang="en-IN" sz="1400" dirty="0"/>
                    </a:p>
                  </a:txBody>
                  <a:tcPr anchor="ctr">
                    <a:lnL>
                      <a:noFill/>
                    </a:lnL>
                    <a:lnR>
                      <a:noFill/>
                    </a:lnR>
                    <a:lnT>
                      <a:noFill/>
                    </a:lnT>
                    <a:lnB>
                      <a:noFill/>
                    </a:lnB>
                  </a:tcPr>
                </a:tc>
                <a:tc>
                  <a:txBody>
                    <a:bodyPr/>
                    <a:lstStyle/>
                    <a:p>
                      <a:r>
                        <a:rPr lang="en-IN" sz="1400"/>
                        <a:t>Hours</a:t>
                      </a:r>
                    </a:p>
                  </a:txBody>
                  <a:tcPr anchor="ctr">
                    <a:lnL>
                      <a:noFill/>
                    </a:lnL>
                    <a:lnR>
                      <a:noFill/>
                    </a:lnR>
                    <a:lnT>
                      <a:noFill/>
                    </a:lnT>
                    <a:lnB>
                      <a:noFill/>
                    </a:lnB>
                  </a:tcPr>
                </a:tc>
                <a:tc>
                  <a:txBody>
                    <a:bodyPr/>
                    <a:lstStyle/>
                    <a:p>
                      <a:r>
                        <a:rPr lang="en-IN" sz="1400" dirty="0" err="1"/>
                        <a:t>Ename</a:t>
                      </a:r>
                      <a:endParaRPr lang="en-IN" sz="1400" dirty="0"/>
                    </a:p>
                  </a:txBody>
                  <a:tcPr anchor="ctr">
                    <a:lnL>
                      <a:noFill/>
                    </a:lnL>
                    <a:lnR>
                      <a:noFill/>
                    </a:lnR>
                    <a:lnT>
                      <a:noFill/>
                    </a:lnT>
                    <a:lnB>
                      <a:noFill/>
                    </a:lnB>
                  </a:tcPr>
                </a:tc>
                <a:tc>
                  <a:txBody>
                    <a:bodyPr/>
                    <a:lstStyle/>
                    <a:p>
                      <a:r>
                        <a:rPr lang="en-IN" sz="1400"/>
                        <a:t>Pname</a:t>
                      </a:r>
                    </a:p>
                  </a:txBody>
                  <a:tcPr anchor="ctr">
                    <a:lnL>
                      <a:noFill/>
                    </a:lnL>
                    <a:lnR>
                      <a:noFill/>
                    </a:lnR>
                    <a:lnT>
                      <a:noFill/>
                    </a:lnT>
                    <a:lnB>
                      <a:noFill/>
                    </a:lnB>
                  </a:tcPr>
                </a:tc>
                <a:tc>
                  <a:txBody>
                    <a:bodyPr/>
                    <a:lstStyle/>
                    <a:p>
                      <a:r>
                        <a:rPr lang="en-IN" sz="1400" dirty="0" err="1"/>
                        <a:t>Plocation</a:t>
                      </a:r>
                      <a:endParaRPr lang="en-IN" sz="1400" dirty="0"/>
                    </a:p>
                  </a:txBody>
                  <a:tcPr anchor="ctr">
                    <a:lnL>
                      <a:noFill/>
                    </a:lnL>
                    <a:lnR>
                      <a:noFill/>
                    </a:lnR>
                    <a:lnT>
                      <a:noFill/>
                    </a:lnT>
                    <a:lnB>
                      <a:noFill/>
                    </a:lnB>
                  </a:tcPr>
                </a:tc>
                <a:extLst>
                  <a:ext uri="{0D108BD9-81ED-4DB2-BD59-A6C34878D82A}">
                    <a16:rowId xmlns:a16="http://schemas.microsoft.com/office/drawing/2014/main" val="10000"/>
                  </a:ext>
                </a:extLst>
              </a:tr>
              <a:tr h="304800">
                <a:tc>
                  <a:txBody>
                    <a:bodyPr/>
                    <a:lstStyle/>
                    <a:p>
                      <a:r>
                        <a:rPr lang="en-IN" sz="1400"/>
                        <a:t>101</a:t>
                      </a:r>
                    </a:p>
                  </a:txBody>
                  <a:tcPr anchor="ctr">
                    <a:lnL>
                      <a:noFill/>
                    </a:lnL>
                    <a:lnR>
                      <a:noFill/>
                    </a:lnR>
                    <a:lnT>
                      <a:noFill/>
                    </a:lnT>
                    <a:lnB>
                      <a:noFill/>
                    </a:lnB>
                  </a:tcPr>
                </a:tc>
                <a:tc>
                  <a:txBody>
                    <a:bodyPr/>
                    <a:lstStyle/>
                    <a:p>
                      <a:r>
                        <a:rPr lang="en-IN" sz="1400"/>
                        <a:t>1</a:t>
                      </a:r>
                    </a:p>
                  </a:txBody>
                  <a:tcPr anchor="ctr">
                    <a:lnL>
                      <a:noFill/>
                    </a:lnL>
                    <a:lnR>
                      <a:noFill/>
                    </a:lnR>
                    <a:lnT>
                      <a:noFill/>
                    </a:lnT>
                    <a:lnB>
                      <a:noFill/>
                    </a:lnB>
                  </a:tcPr>
                </a:tc>
                <a:tc>
                  <a:txBody>
                    <a:bodyPr/>
                    <a:lstStyle/>
                    <a:p>
                      <a:r>
                        <a:rPr lang="en-IN" sz="1400"/>
                        <a:t>20</a:t>
                      </a:r>
                    </a:p>
                  </a:txBody>
                  <a:tcPr anchor="ctr">
                    <a:lnL>
                      <a:noFill/>
                    </a:lnL>
                    <a:lnR>
                      <a:noFill/>
                    </a:lnR>
                    <a:lnT>
                      <a:noFill/>
                    </a:lnT>
                    <a:lnB>
                      <a:noFill/>
                    </a:lnB>
                  </a:tcPr>
                </a:tc>
                <a:tc>
                  <a:txBody>
                    <a:bodyPr/>
                    <a:lstStyle/>
                    <a:p>
                      <a:r>
                        <a:rPr lang="en-IN" sz="1400" dirty="0"/>
                        <a:t>John</a:t>
                      </a:r>
                    </a:p>
                  </a:txBody>
                  <a:tcPr anchor="ctr">
                    <a:lnL>
                      <a:noFill/>
                    </a:lnL>
                    <a:lnR>
                      <a:noFill/>
                    </a:lnR>
                    <a:lnT>
                      <a:noFill/>
                    </a:lnT>
                    <a:lnB>
                      <a:noFill/>
                    </a:lnB>
                  </a:tcPr>
                </a:tc>
                <a:tc>
                  <a:txBody>
                    <a:bodyPr/>
                    <a:lstStyle/>
                    <a:p>
                      <a:r>
                        <a:rPr lang="en-IN" sz="1400" dirty="0"/>
                        <a:t>Alpha</a:t>
                      </a:r>
                    </a:p>
                  </a:txBody>
                  <a:tcPr anchor="ctr">
                    <a:lnL>
                      <a:noFill/>
                    </a:lnL>
                    <a:lnR>
                      <a:noFill/>
                    </a:lnR>
                    <a:lnT>
                      <a:noFill/>
                    </a:lnT>
                    <a:lnB>
                      <a:noFill/>
                    </a:lnB>
                  </a:tcPr>
                </a:tc>
                <a:tc>
                  <a:txBody>
                    <a:bodyPr/>
                    <a:lstStyle/>
                    <a:p>
                      <a:r>
                        <a:rPr lang="en-IN" sz="1400"/>
                        <a:t>NY</a:t>
                      </a:r>
                    </a:p>
                  </a:txBody>
                  <a:tcPr anchor="ctr">
                    <a:lnL>
                      <a:noFill/>
                    </a:lnL>
                    <a:lnR>
                      <a:noFill/>
                    </a:lnR>
                    <a:lnT>
                      <a:noFill/>
                    </a:lnT>
                    <a:lnB>
                      <a:noFill/>
                    </a:lnB>
                  </a:tcPr>
                </a:tc>
                <a:extLst>
                  <a:ext uri="{0D108BD9-81ED-4DB2-BD59-A6C34878D82A}">
                    <a16:rowId xmlns:a16="http://schemas.microsoft.com/office/drawing/2014/main" val="10001"/>
                  </a:ext>
                </a:extLst>
              </a:tr>
              <a:tr h="304800">
                <a:tc>
                  <a:txBody>
                    <a:bodyPr/>
                    <a:lstStyle/>
                    <a:p>
                      <a:r>
                        <a:rPr lang="en-IN" sz="1400"/>
                        <a:t>102</a:t>
                      </a:r>
                    </a:p>
                  </a:txBody>
                  <a:tcPr anchor="ctr">
                    <a:lnL>
                      <a:noFill/>
                    </a:lnL>
                    <a:lnR>
                      <a:noFill/>
                    </a:lnR>
                    <a:lnT>
                      <a:noFill/>
                    </a:lnT>
                    <a:lnB>
                      <a:noFill/>
                    </a:lnB>
                  </a:tcPr>
                </a:tc>
                <a:tc>
                  <a:txBody>
                    <a:bodyPr/>
                    <a:lstStyle/>
                    <a:p>
                      <a:r>
                        <a:rPr lang="en-IN" sz="1400" dirty="0"/>
                        <a:t>2</a:t>
                      </a:r>
                    </a:p>
                  </a:txBody>
                  <a:tcPr anchor="ctr">
                    <a:lnL>
                      <a:noFill/>
                    </a:lnL>
                    <a:lnR>
                      <a:noFill/>
                    </a:lnR>
                    <a:lnT>
                      <a:noFill/>
                    </a:lnT>
                    <a:lnB>
                      <a:noFill/>
                    </a:lnB>
                  </a:tcPr>
                </a:tc>
                <a:tc>
                  <a:txBody>
                    <a:bodyPr/>
                    <a:lstStyle/>
                    <a:p>
                      <a:r>
                        <a:rPr lang="en-IN" sz="1400"/>
                        <a:t>25</a:t>
                      </a:r>
                    </a:p>
                  </a:txBody>
                  <a:tcPr anchor="ctr">
                    <a:lnL>
                      <a:noFill/>
                    </a:lnL>
                    <a:lnR>
                      <a:noFill/>
                    </a:lnR>
                    <a:lnT>
                      <a:noFill/>
                    </a:lnT>
                    <a:lnB>
                      <a:noFill/>
                    </a:lnB>
                  </a:tcPr>
                </a:tc>
                <a:tc>
                  <a:txBody>
                    <a:bodyPr/>
                    <a:lstStyle/>
                    <a:p>
                      <a:r>
                        <a:rPr lang="en-IN" sz="1400" dirty="0"/>
                        <a:t>Alice</a:t>
                      </a:r>
                    </a:p>
                  </a:txBody>
                  <a:tcPr anchor="ctr">
                    <a:lnL>
                      <a:noFill/>
                    </a:lnL>
                    <a:lnR>
                      <a:noFill/>
                    </a:lnR>
                    <a:lnT>
                      <a:noFill/>
                    </a:lnT>
                    <a:lnB>
                      <a:noFill/>
                    </a:lnB>
                  </a:tcPr>
                </a:tc>
                <a:tc>
                  <a:txBody>
                    <a:bodyPr/>
                    <a:lstStyle/>
                    <a:p>
                      <a:r>
                        <a:rPr lang="en-IN" sz="1400" dirty="0"/>
                        <a:t>Beta</a:t>
                      </a:r>
                    </a:p>
                  </a:txBody>
                  <a:tcPr anchor="ctr">
                    <a:lnL>
                      <a:noFill/>
                    </a:lnL>
                    <a:lnR>
                      <a:noFill/>
                    </a:lnR>
                    <a:lnT>
                      <a:noFill/>
                    </a:lnT>
                    <a:lnB>
                      <a:noFill/>
                    </a:lnB>
                  </a:tcPr>
                </a:tc>
                <a:tc>
                  <a:txBody>
                    <a:bodyPr/>
                    <a:lstStyle/>
                    <a:p>
                      <a:r>
                        <a:rPr lang="en-IN" sz="1400" dirty="0"/>
                        <a:t>LA</a:t>
                      </a:r>
                    </a:p>
                  </a:txBody>
                  <a:tcPr anchor="ctr">
                    <a:lnL>
                      <a:noFill/>
                    </a:lnL>
                    <a:lnR>
                      <a:noFill/>
                    </a:lnR>
                    <a:lnT>
                      <a:noFill/>
                    </a:lnT>
                    <a:lnB>
                      <a:noFill/>
                    </a:lnB>
                  </a:tcPr>
                </a:tc>
                <a:extLst>
                  <a:ext uri="{0D108BD9-81ED-4DB2-BD59-A6C34878D82A}">
                    <a16:rowId xmlns:a16="http://schemas.microsoft.com/office/drawing/2014/main" val="10002"/>
                  </a:ext>
                </a:extLst>
              </a:tr>
              <a:tr h="304800">
                <a:tc>
                  <a:txBody>
                    <a:bodyPr/>
                    <a:lstStyle/>
                    <a:p>
                      <a:r>
                        <a:rPr lang="en-IN" sz="1400"/>
                        <a:t>103</a:t>
                      </a:r>
                    </a:p>
                  </a:txBody>
                  <a:tcPr anchor="ctr">
                    <a:lnL>
                      <a:noFill/>
                    </a:lnL>
                    <a:lnR>
                      <a:noFill/>
                    </a:lnR>
                    <a:lnT>
                      <a:noFill/>
                    </a:lnT>
                    <a:lnB>
                      <a:noFill/>
                    </a:lnB>
                  </a:tcPr>
                </a:tc>
                <a:tc>
                  <a:txBody>
                    <a:bodyPr/>
                    <a:lstStyle/>
                    <a:p>
                      <a:r>
                        <a:rPr lang="en-IN" sz="1400"/>
                        <a:t>1</a:t>
                      </a:r>
                    </a:p>
                  </a:txBody>
                  <a:tcPr anchor="ctr">
                    <a:lnL>
                      <a:noFill/>
                    </a:lnL>
                    <a:lnR>
                      <a:noFill/>
                    </a:lnR>
                    <a:lnT>
                      <a:noFill/>
                    </a:lnT>
                    <a:lnB>
                      <a:noFill/>
                    </a:lnB>
                  </a:tcPr>
                </a:tc>
                <a:tc>
                  <a:txBody>
                    <a:bodyPr/>
                    <a:lstStyle/>
                    <a:p>
                      <a:r>
                        <a:rPr lang="en-IN" sz="1400"/>
                        <a:t>30</a:t>
                      </a:r>
                    </a:p>
                  </a:txBody>
                  <a:tcPr anchor="ctr">
                    <a:lnL>
                      <a:noFill/>
                    </a:lnL>
                    <a:lnR>
                      <a:noFill/>
                    </a:lnR>
                    <a:lnT>
                      <a:noFill/>
                    </a:lnT>
                    <a:lnB>
                      <a:noFill/>
                    </a:lnB>
                  </a:tcPr>
                </a:tc>
                <a:tc>
                  <a:txBody>
                    <a:bodyPr/>
                    <a:lstStyle/>
                    <a:p>
                      <a:r>
                        <a:rPr lang="en-IN" sz="1400"/>
                        <a:t>John</a:t>
                      </a:r>
                    </a:p>
                  </a:txBody>
                  <a:tcPr anchor="ctr">
                    <a:lnL>
                      <a:noFill/>
                    </a:lnL>
                    <a:lnR>
                      <a:noFill/>
                    </a:lnR>
                    <a:lnT>
                      <a:noFill/>
                    </a:lnT>
                    <a:lnB>
                      <a:noFill/>
                    </a:lnB>
                  </a:tcPr>
                </a:tc>
                <a:tc>
                  <a:txBody>
                    <a:bodyPr/>
                    <a:lstStyle/>
                    <a:p>
                      <a:r>
                        <a:rPr lang="en-IN" sz="1400"/>
                        <a:t>Alpha</a:t>
                      </a:r>
                    </a:p>
                  </a:txBody>
                  <a:tcPr anchor="ctr">
                    <a:lnL>
                      <a:noFill/>
                    </a:lnL>
                    <a:lnR>
                      <a:noFill/>
                    </a:lnR>
                    <a:lnT>
                      <a:noFill/>
                    </a:lnT>
                    <a:lnB>
                      <a:noFill/>
                    </a:lnB>
                  </a:tcPr>
                </a:tc>
                <a:tc>
                  <a:txBody>
                    <a:bodyPr/>
                    <a:lstStyle/>
                    <a:p>
                      <a:r>
                        <a:rPr lang="en-IN" sz="1400" dirty="0"/>
                        <a:t>NY</a:t>
                      </a:r>
                    </a:p>
                  </a:txBody>
                  <a:tcPr anchor="ctr">
                    <a:lnL>
                      <a:noFill/>
                    </a:lnL>
                    <a:lnR>
                      <a:noFill/>
                    </a:lnR>
                    <a:lnT>
                      <a:noFill/>
                    </a:lnT>
                    <a:lnB>
                      <a:noFill/>
                    </a:lnB>
                  </a:tcPr>
                </a:tc>
                <a:extLst>
                  <a:ext uri="{0D108BD9-81ED-4DB2-BD59-A6C34878D82A}">
                    <a16:rowId xmlns:a16="http://schemas.microsoft.com/office/drawing/2014/main" val="10003"/>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3370552493"/>
              </p:ext>
            </p:extLst>
          </p:nvPr>
        </p:nvGraphicFramePr>
        <p:xfrm>
          <a:off x="239713" y="4099143"/>
          <a:ext cx="8294688" cy="1828800"/>
        </p:xfrm>
        <a:graphic>
          <a:graphicData uri="http://schemas.openxmlformats.org/drawingml/2006/table">
            <a:tbl>
              <a:tblPr/>
              <a:tblGrid>
                <a:gridCol w="1382448">
                  <a:extLst>
                    <a:ext uri="{9D8B030D-6E8A-4147-A177-3AD203B41FA5}">
                      <a16:colId xmlns:a16="http://schemas.microsoft.com/office/drawing/2014/main" val="20000"/>
                    </a:ext>
                  </a:extLst>
                </a:gridCol>
                <a:gridCol w="1382448">
                  <a:extLst>
                    <a:ext uri="{9D8B030D-6E8A-4147-A177-3AD203B41FA5}">
                      <a16:colId xmlns:a16="http://schemas.microsoft.com/office/drawing/2014/main" val="20001"/>
                    </a:ext>
                  </a:extLst>
                </a:gridCol>
                <a:gridCol w="1382448">
                  <a:extLst>
                    <a:ext uri="{9D8B030D-6E8A-4147-A177-3AD203B41FA5}">
                      <a16:colId xmlns:a16="http://schemas.microsoft.com/office/drawing/2014/main" val="20002"/>
                    </a:ext>
                  </a:extLst>
                </a:gridCol>
                <a:gridCol w="1382448">
                  <a:extLst>
                    <a:ext uri="{9D8B030D-6E8A-4147-A177-3AD203B41FA5}">
                      <a16:colId xmlns:a16="http://schemas.microsoft.com/office/drawing/2014/main" val="20003"/>
                    </a:ext>
                  </a:extLst>
                </a:gridCol>
                <a:gridCol w="1382448">
                  <a:extLst>
                    <a:ext uri="{9D8B030D-6E8A-4147-A177-3AD203B41FA5}">
                      <a16:colId xmlns:a16="http://schemas.microsoft.com/office/drawing/2014/main" val="20004"/>
                    </a:ext>
                  </a:extLst>
                </a:gridCol>
                <a:gridCol w="1382448">
                  <a:extLst>
                    <a:ext uri="{9D8B030D-6E8A-4147-A177-3AD203B41FA5}">
                      <a16:colId xmlns:a16="http://schemas.microsoft.com/office/drawing/2014/main" val="20005"/>
                    </a:ext>
                  </a:extLst>
                </a:gridCol>
              </a:tblGrid>
              <a:tr h="304800">
                <a:tc>
                  <a:txBody>
                    <a:bodyPr/>
                    <a:lstStyle/>
                    <a:p>
                      <a:r>
                        <a:rPr lang="en-IN" sz="1400" dirty="0" err="1"/>
                        <a:t>Ssn</a:t>
                      </a:r>
                      <a:endParaRPr lang="en-IN" sz="1400" dirty="0"/>
                    </a:p>
                  </a:txBody>
                  <a:tcPr anchor="ctr">
                    <a:lnL>
                      <a:noFill/>
                    </a:lnL>
                    <a:lnR>
                      <a:noFill/>
                    </a:lnR>
                    <a:lnT>
                      <a:noFill/>
                    </a:lnT>
                    <a:lnB>
                      <a:noFill/>
                    </a:lnB>
                  </a:tcPr>
                </a:tc>
                <a:tc>
                  <a:txBody>
                    <a:bodyPr/>
                    <a:lstStyle/>
                    <a:p>
                      <a:r>
                        <a:rPr lang="en-IN" sz="1400"/>
                        <a:t>Pnumber</a:t>
                      </a:r>
                    </a:p>
                  </a:txBody>
                  <a:tcPr anchor="ctr">
                    <a:lnL>
                      <a:noFill/>
                    </a:lnL>
                    <a:lnR>
                      <a:noFill/>
                    </a:lnR>
                    <a:lnT>
                      <a:noFill/>
                    </a:lnT>
                    <a:lnB>
                      <a:noFill/>
                    </a:lnB>
                  </a:tcPr>
                </a:tc>
                <a:tc>
                  <a:txBody>
                    <a:bodyPr/>
                    <a:lstStyle/>
                    <a:p>
                      <a:r>
                        <a:rPr lang="en-IN" sz="1400"/>
                        <a:t>Hours</a:t>
                      </a:r>
                    </a:p>
                  </a:txBody>
                  <a:tcPr anchor="ctr">
                    <a:lnL>
                      <a:noFill/>
                    </a:lnL>
                    <a:lnR>
                      <a:noFill/>
                    </a:lnR>
                    <a:lnT>
                      <a:noFill/>
                    </a:lnT>
                    <a:lnB>
                      <a:noFill/>
                    </a:lnB>
                  </a:tcPr>
                </a:tc>
                <a:tc>
                  <a:txBody>
                    <a:bodyPr/>
                    <a:lstStyle/>
                    <a:p>
                      <a:r>
                        <a:rPr lang="en-IN" sz="1400"/>
                        <a:t>Pname</a:t>
                      </a:r>
                    </a:p>
                  </a:txBody>
                  <a:tcPr anchor="ctr">
                    <a:lnL>
                      <a:noFill/>
                    </a:lnL>
                    <a:lnR>
                      <a:noFill/>
                    </a:lnR>
                    <a:lnT>
                      <a:noFill/>
                    </a:lnT>
                    <a:lnB>
                      <a:noFill/>
                    </a:lnB>
                  </a:tcPr>
                </a:tc>
                <a:tc>
                  <a:txBody>
                    <a:bodyPr/>
                    <a:lstStyle/>
                    <a:p>
                      <a:r>
                        <a:rPr lang="en-IN" sz="1400"/>
                        <a:t>Plocation</a:t>
                      </a:r>
                    </a:p>
                  </a:txBody>
                  <a:tcPr anchor="ctr">
                    <a:lnL>
                      <a:noFill/>
                    </a:lnL>
                    <a:lnR>
                      <a:noFill/>
                    </a:lnR>
                    <a:lnT>
                      <a:noFill/>
                    </a:lnT>
                    <a:lnB>
                      <a:noFill/>
                    </a:lnB>
                  </a:tcPr>
                </a:tc>
                <a:tc>
                  <a:txBody>
                    <a:bodyPr/>
                    <a:lstStyle/>
                    <a:p>
                      <a:r>
                        <a:rPr lang="en-IN" sz="1400"/>
                        <a:t>Ename</a:t>
                      </a:r>
                    </a:p>
                  </a:txBody>
                  <a:tcPr anchor="ctr">
                    <a:lnL>
                      <a:noFill/>
                    </a:lnL>
                    <a:lnR>
                      <a:noFill/>
                    </a:lnR>
                    <a:lnT>
                      <a:noFill/>
                    </a:lnT>
                    <a:lnB>
                      <a:noFill/>
                    </a:lnB>
                  </a:tcPr>
                </a:tc>
                <a:extLst>
                  <a:ext uri="{0D108BD9-81ED-4DB2-BD59-A6C34878D82A}">
                    <a16:rowId xmlns:a16="http://schemas.microsoft.com/office/drawing/2014/main" val="10000"/>
                  </a:ext>
                </a:extLst>
              </a:tr>
              <a:tr h="304800">
                <a:tc>
                  <a:txBody>
                    <a:bodyPr/>
                    <a:lstStyle/>
                    <a:p>
                      <a:r>
                        <a:rPr lang="en-IN" sz="1400"/>
                        <a:t>101</a:t>
                      </a:r>
                    </a:p>
                  </a:txBody>
                  <a:tcPr anchor="ctr">
                    <a:lnL>
                      <a:noFill/>
                    </a:lnL>
                    <a:lnR>
                      <a:noFill/>
                    </a:lnR>
                    <a:lnT>
                      <a:noFill/>
                    </a:lnT>
                    <a:lnB>
                      <a:noFill/>
                    </a:lnB>
                  </a:tcPr>
                </a:tc>
                <a:tc>
                  <a:txBody>
                    <a:bodyPr/>
                    <a:lstStyle/>
                    <a:p>
                      <a:r>
                        <a:rPr lang="en-IN" sz="1400"/>
                        <a:t>1</a:t>
                      </a:r>
                    </a:p>
                  </a:txBody>
                  <a:tcPr anchor="ctr">
                    <a:lnL>
                      <a:noFill/>
                    </a:lnL>
                    <a:lnR>
                      <a:noFill/>
                    </a:lnR>
                    <a:lnT>
                      <a:noFill/>
                    </a:lnT>
                    <a:lnB>
                      <a:noFill/>
                    </a:lnB>
                  </a:tcPr>
                </a:tc>
                <a:tc>
                  <a:txBody>
                    <a:bodyPr/>
                    <a:lstStyle/>
                    <a:p>
                      <a:r>
                        <a:rPr lang="en-IN" sz="1400" dirty="0"/>
                        <a:t>20</a:t>
                      </a:r>
                    </a:p>
                  </a:txBody>
                  <a:tcPr anchor="ctr">
                    <a:lnL>
                      <a:noFill/>
                    </a:lnL>
                    <a:lnR>
                      <a:noFill/>
                    </a:lnR>
                    <a:lnT>
                      <a:noFill/>
                    </a:lnT>
                    <a:lnB>
                      <a:noFill/>
                    </a:lnB>
                  </a:tcPr>
                </a:tc>
                <a:tc>
                  <a:txBody>
                    <a:bodyPr/>
                    <a:lstStyle/>
                    <a:p>
                      <a:r>
                        <a:rPr lang="en-IN" sz="1400"/>
                        <a:t>Alpha</a:t>
                      </a:r>
                    </a:p>
                  </a:txBody>
                  <a:tcPr anchor="ctr">
                    <a:lnL>
                      <a:noFill/>
                    </a:lnL>
                    <a:lnR>
                      <a:noFill/>
                    </a:lnR>
                    <a:lnT>
                      <a:noFill/>
                    </a:lnT>
                    <a:lnB>
                      <a:noFill/>
                    </a:lnB>
                  </a:tcPr>
                </a:tc>
                <a:tc>
                  <a:txBody>
                    <a:bodyPr/>
                    <a:lstStyle/>
                    <a:p>
                      <a:r>
                        <a:rPr lang="en-IN" sz="1400"/>
                        <a:t>NY</a:t>
                      </a:r>
                    </a:p>
                  </a:txBody>
                  <a:tcPr anchor="ctr">
                    <a:lnL>
                      <a:noFill/>
                    </a:lnL>
                    <a:lnR>
                      <a:noFill/>
                    </a:lnR>
                    <a:lnT>
                      <a:noFill/>
                    </a:lnT>
                    <a:lnB>
                      <a:noFill/>
                    </a:lnB>
                  </a:tcPr>
                </a:tc>
                <a:tc>
                  <a:txBody>
                    <a:bodyPr/>
                    <a:lstStyle/>
                    <a:p>
                      <a:r>
                        <a:rPr lang="en-IN" sz="1400"/>
                        <a:t>John</a:t>
                      </a:r>
                    </a:p>
                  </a:txBody>
                  <a:tcPr anchor="ctr">
                    <a:lnL>
                      <a:noFill/>
                    </a:lnL>
                    <a:lnR>
                      <a:noFill/>
                    </a:lnR>
                    <a:lnT>
                      <a:noFill/>
                    </a:lnT>
                    <a:lnB>
                      <a:noFill/>
                    </a:lnB>
                  </a:tcPr>
                </a:tc>
                <a:extLst>
                  <a:ext uri="{0D108BD9-81ED-4DB2-BD59-A6C34878D82A}">
                    <a16:rowId xmlns:a16="http://schemas.microsoft.com/office/drawing/2014/main" val="10001"/>
                  </a:ext>
                </a:extLst>
              </a:tr>
              <a:tr h="304800">
                <a:tc>
                  <a:txBody>
                    <a:bodyPr/>
                    <a:lstStyle/>
                    <a:p>
                      <a:r>
                        <a:rPr lang="en-IN" sz="1400"/>
                        <a:t>103</a:t>
                      </a:r>
                    </a:p>
                  </a:txBody>
                  <a:tcPr anchor="ctr">
                    <a:lnL>
                      <a:noFill/>
                    </a:lnL>
                    <a:lnR>
                      <a:noFill/>
                    </a:lnR>
                    <a:lnT>
                      <a:noFill/>
                    </a:lnT>
                    <a:lnB>
                      <a:noFill/>
                    </a:lnB>
                  </a:tcPr>
                </a:tc>
                <a:tc>
                  <a:txBody>
                    <a:bodyPr/>
                    <a:lstStyle/>
                    <a:p>
                      <a:r>
                        <a:rPr lang="en-IN" sz="1400"/>
                        <a:t>1</a:t>
                      </a:r>
                    </a:p>
                  </a:txBody>
                  <a:tcPr anchor="ctr">
                    <a:lnL>
                      <a:noFill/>
                    </a:lnL>
                    <a:lnR>
                      <a:noFill/>
                    </a:lnR>
                    <a:lnT>
                      <a:noFill/>
                    </a:lnT>
                    <a:lnB>
                      <a:noFill/>
                    </a:lnB>
                  </a:tcPr>
                </a:tc>
                <a:tc>
                  <a:txBody>
                    <a:bodyPr/>
                    <a:lstStyle/>
                    <a:p>
                      <a:r>
                        <a:rPr lang="en-IN" sz="1400"/>
                        <a:t>30</a:t>
                      </a:r>
                    </a:p>
                  </a:txBody>
                  <a:tcPr anchor="ctr">
                    <a:lnL>
                      <a:noFill/>
                    </a:lnL>
                    <a:lnR>
                      <a:noFill/>
                    </a:lnR>
                    <a:lnT>
                      <a:noFill/>
                    </a:lnT>
                    <a:lnB>
                      <a:noFill/>
                    </a:lnB>
                  </a:tcPr>
                </a:tc>
                <a:tc>
                  <a:txBody>
                    <a:bodyPr/>
                    <a:lstStyle/>
                    <a:p>
                      <a:r>
                        <a:rPr lang="en-IN" sz="1400"/>
                        <a:t>Alpha</a:t>
                      </a:r>
                    </a:p>
                  </a:txBody>
                  <a:tcPr anchor="ctr">
                    <a:lnL>
                      <a:noFill/>
                    </a:lnL>
                    <a:lnR>
                      <a:noFill/>
                    </a:lnR>
                    <a:lnT>
                      <a:noFill/>
                    </a:lnT>
                    <a:lnB>
                      <a:noFill/>
                    </a:lnB>
                  </a:tcPr>
                </a:tc>
                <a:tc>
                  <a:txBody>
                    <a:bodyPr/>
                    <a:lstStyle/>
                    <a:p>
                      <a:r>
                        <a:rPr lang="en-IN" sz="1400"/>
                        <a:t>NY</a:t>
                      </a:r>
                    </a:p>
                  </a:txBody>
                  <a:tcPr anchor="ctr">
                    <a:lnL>
                      <a:noFill/>
                    </a:lnL>
                    <a:lnR>
                      <a:noFill/>
                    </a:lnR>
                    <a:lnT>
                      <a:noFill/>
                    </a:lnT>
                    <a:lnB>
                      <a:noFill/>
                    </a:lnB>
                  </a:tcPr>
                </a:tc>
                <a:tc>
                  <a:txBody>
                    <a:bodyPr/>
                    <a:lstStyle/>
                    <a:p>
                      <a:r>
                        <a:rPr lang="en-IN" sz="1400"/>
                        <a:t>John</a:t>
                      </a:r>
                    </a:p>
                  </a:txBody>
                  <a:tcPr anchor="ctr">
                    <a:lnL>
                      <a:noFill/>
                    </a:lnL>
                    <a:lnR>
                      <a:noFill/>
                    </a:lnR>
                    <a:lnT>
                      <a:noFill/>
                    </a:lnT>
                    <a:lnB>
                      <a:noFill/>
                    </a:lnB>
                  </a:tcPr>
                </a:tc>
                <a:extLst>
                  <a:ext uri="{0D108BD9-81ED-4DB2-BD59-A6C34878D82A}">
                    <a16:rowId xmlns:a16="http://schemas.microsoft.com/office/drawing/2014/main" val="10002"/>
                  </a:ext>
                </a:extLst>
              </a:tr>
              <a:tr h="304800">
                <a:tc>
                  <a:txBody>
                    <a:bodyPr/>
                    <a:lstStyle/>
                    <a:p>
                      <a:r>
                        <a:rPr lang="en-IN" sz="1400"/>
                        <a:t>102</a:t>
                      </a:r>
                    </a:p>
                  </a:txBody>
                  <a:tcPr anchor="ctr">
                    <a:lnL>
                      <a:noFill/>
                    </a:lnL>
                    <a:lnR>
                      <a:noFill/>
                    </a:lnR>
                    <a:lnT>
                      <a:noFill/>
                    </a:lnT>
                    <a:lnB>
                      <a:noFill/>
                    </a:lnB>
                  </a:tcPr>
                </a:tc>
                <a:tc>
                  <a:txBody>
                    <a:bodyPr/>
                    <a:lstStyle/>
                    <a:p>
                      <a:r>
                        <a:rPr lang="en-IN" sz="1400"/>
                        <a:t>2</a:t>
                      </a:r>
                    </a:p>
                  </a:txBody>
                  <a:tcPr anchor="ctr">
                    <a:lnL>
                      <a:noFill/>
                    </a:lnL>
                    <a:lnR>
                      <a:noFill/>
                    </a:lnR>
                    <a:lnT>
                      <a:noFill/>
                    </a:lnT>
                    <a:lnB>
                      <a:noFill/>
                    </a:lnB>
                  </a:tcPr>
                </a:tc>
                <a:tc>
                  <a:txBody>
                    <a:bodyPr/>
                    <a:lstStyle/>
                    <a:p>
                      <a:r>
                        <a:rPr lang="en-IN" sz="1400"/>
                        <a:t>25</a:t>
                      </a:r>
                    </a:p>
                  </a:txBody>
                  <a:tcPr anchor="ctr">
                    <a:lnL>
                      <a:noFill/>
                    </a:lnL>
                    <a:lnR>
                      <a:noFill/>
                    </a:lnR>
                    <a:lnT>
                      <a:noFill/>
                    </a:lnT>
                    <a:lnB>
                      <a:noFill/>
                    </a:lnB>
                  </a:tcPr>
                </a:tc>
                <a:tc>
                  <a:txBody>
                    <a:bodyPr/>
                    <a:lstStyle/>
                    <a:p>
                      <a:r>
                        <a:rPr lang="en-IN" sz="1400"/>
                        <a:t>Beta</a:t>
                      </a:r>
                    </a:p>
                  </a:txBody>
                  <a:tcPr anchor="ctr">
                    <a:lnL>
                      <a:noFill/>
                    </a:lnL>
                    <a:lnR>
                      <a:noFill/>
                    </a:lnR>
                    <a:lnT>
                      <a:noFill/>
                    </a:lnT>
                    <a:lnB>
                      <a:noFill/>
                    </a:lnB>
                  </a:tcPr>
                </a:tc>
                <a:tc>
                  <a:txBody>
                    <a:bodyPr/>
                    <a:lstStyle/>
                    <a:p>
                      <a:r>
                        <a:rPr lang="en-IN" sz="1400"/>
                        <a:t>LA</a:t>
                      </a:r>
                    </a:p>
                  </a:txBody>
                  <a:tcPr anchor="ctr">
                    <a:lnL>
                      <a:noFill/>
                    </a:lnL>
                    <a:lnR>
                      <a:noFill/>
                    </a:lnR>
                    <a:lnT>
                      <a:noFill/>
                    </a:lnT>
                    <a:lnB>
                      <a:noFill/>
                    </a:lnB>
                  </a:tcPr>
                </a:tc>
                <a:tc>
                  <a:txBody>
                    <a:bodyPr/>
                    <a:lstStyle/>
                    <a:p>
                      <a:r>
                        <a:rPr lang="en-IN" sz="1400"/>
                        <a:t>Alice</a:t>
                      </a:r>
                    </a:p>
                  </a:txBody>
                  <a:tcPr anchor="ctr">
                    <a:lnL>
                      <a:noFill/>
                    </a:lnL>
                    <a:lnR>
                      <a:noFill/>
                    </a:lnR>
                    <a:lnT>
                      <a:noFill/>
                    </a:lnT>
                    <a:lnB>
                      <a:noFill/>
                    </a:lnB>
                  </a:tcPr>
                </a:tc>
                <a:extLst>
                  <a:ext uri="{0D108BD9-81ED-4DB2-BD59-A6C34878D82A}">
                    <a16:rowId xmlns:a16="http://schemas.microsoft.com/office/drawing/2014/main" val="10003"/>
                  </a:ext>
                </a:extLst>
              </a:tr>
              <a:tr h="304800">
                <a:tc>
                  <a:txBody>
                    <a:bodyPr/>
                    <a:lstStyle/>
                    <a:p>
                      <a:r>
                        <a:rPr lang="en-IN" sz="1400"/>
                        <a:t>101</a:t>
                      </a:r>
                    </a:p>
                  </a:txBody>
                  <a:tcPr anchor="ctr">
                    <a:lnL>
                      <a:noFill/>
                    </a:lnL>
                    <a:lnR>
                      <a:noFill/>
                    </a:lnR>
                    <a:lnT>
                      <a:noFill/>
                    </a:lnT>
                    <a:lnB>
                      <a:noFill/>
                    </a:lnB>
                  </a:tcPr>
                </a:tc>
                <a:tc>
                  <a:txBody>
                    <a:bodyPr/>
                    <a:lstStyle/>
                    <a:p>
                      <a:r>
                        <a:rPr lang="en-IN" sz="1400"/>
                        <a:t>1</a:t>
                      </a:r>
                    </a:p>
                  </a:txBody>
                  <a:tcPr anchor="ctr">
                    <a:lnL>
                      <a:noFill/>
                    </a:lnL>
                    <a:lnR>
                      <a:noFill/>
                    </a:lnR>
                    <a:lnT>
                      <a:noFill/>
                    </a:lnT>
                    <a:lnB>
                      <a:noFill/>
                    </a:lnB>
                  </a:tcPr>
                </a:tc>
                <a:tc>
                  <a:txBody>
                    <a:bodyPr/>
                    <a:lstStyle/>
                    <a:p>
                      <a:r>
                        <a:rPr lang="en-IN" sz="1400"/>
                        <a:t>20</a:t>
                      </a:r>
                    </a:p>
                  </a:txBody>
                  <a:tcPr anchor="ctr">
                    <a:lnL>
                      <a:noFill/>
                    </a:lnL>
                    <a:lnR>
                      <a:noFill/>
                    </a:lnR>
                    <a:lnT>
                      <a:noFill/>
                    </a:lnT>
                    <a:lnB>
                      <a:noFill/>
                    </a:lnB>
                  </a:tcPr>
                </a:tc>
                <a:tc>
                  <a:txBody>
                    <a:bodyPr/>
                    <a:lstStyle/>
                    <a:p>
                      <a:r>
                        <a:rPr lang="en-IN" sz="1400"/>
                        <a:t>Alpha</a:t>
                      </a:r>
                    </a:p>
                  </a:txBody>
                  <a:tcPr anchor="ctr">
                    <a:lnL>
                      <a:noFill/>
                    </a:lnL>
                    <a:lnR>
                      <a:noFill/>
                    </a:lnR>
                    <a:lnT>
                      <a:noFill/>
                    </a:lnT>
                    <a:lnB>
                      <a:noFill/>
                    </a:lnB>
                  </a:tcPr>
                </a:tc>
                <a:tc>
                  <a:txBody>
                    <a:bodyPr/>
                    <a:lstStyle/>
                    <a:p>
                      <a:r>
                        <a:rPr lang="en-IN" sz="1400"/>
                        <a:t>NY</a:t>
                      </a:r>
                    </a:p>
                  </a:txBody>
                  <a:tcPr anchor="ctr">
                    <a:lnL>
                      <a:noFill/>
                    </a:lnL>
                    <a:lnR>
                      <a:noFill/>
                    </a:lnR>
                    <a:lnT>
                      <a:noFill/>
                    </a:lnT>
                    <a:lnB>
                      <a:noFill/>
                    </a:lnB>
                  </a:tcPr>
                </a:tc>
                <a:tc>
                  <a:txBody>
                    <a:bodyPr/>
                    <a:lstStyle/>
                    <a:p>
                      <a:r>
                        <a:rPr lang="en-IN" sz="1400"/>
                        <a:t>Alice</a:t>
                      </a:r>
                    </a:p>
                  </a:txBody>
                  <a:tcPr anchor="ctr">
                    <a:lnL>
                      <a:noFill/>
                    </a:lnL>
                    <a:lnR>
                      <a:noFill/>
                    </a:lnR>
                    <a:lnT>
                      <a:noFill/>
                    </a:lnT>
                    <a:lnB>
                      <a:noFill/>
                    </a:lnB>
                  </a:tcPr>
                </a:tc>
                <a:extLst>
                  <a:ext uri="{0D108BD9-81ED-4DB2-BD59-A6C34878D82A}">
                    <a16:rowId xmlns:a16="http://schemas.microsoft.com/office/drawing/2014/main" val="10004"/>
                  </a:ext>
                </a:extLst>
              </a:tr>
              <a:tr h="304800">
                <a:tc>
                  <a:txBody>
                    <a:bodyPr/>
                    <a:lstStyle/>
                    <a:p>
                      <a:r>
                        <a:rPr lang="en-IN" sz="1400"/>
                        <a:t>103</a:t>
                      </a:r>
                    </a:p>
                  </a:txBody>
                  <a:tcPr anchor="ctr">
                    <a:lnL>
                      <a:noFill/>
                    </a:lnL>
                    <a:lnR>
                      <a:noFill/>
                    </a:lnR>
                    <a:lnT>
                      <a:noFill/>
                    </a:lnT>
                    <a:lnB>
                      <a:noFill/>
                    </a:lnB>
                  </a:tcPr>
                </a:tc>
                <a:tc>
                  <a:txBody>
                    <a:bodyPr/>
                    <a:lstStyle/>
                    <a:p>
                      <a:r>
                        <a:rPr lang="en-IN" sz="1400"/>
                        <a:t>1</a:t>
                      </a:r>
                    </a:p>
                  </a:txBody>
                  <a:tcPr anchor="ctr">
                    <a:lnL>
                      <a:noFill/>
                    </a:lnL>
                    <a:lnR>
                      <a:noFill/>
                    </a:lnR>
                    <a:lnT>
                      <a:noFill/>
                    </a:lnT>
                    <a:lnB>
                      <a:noFill/>
                    </a:lnB>
                  </a:tcPr>
                </a:tc>
                <a:tc>
                  <a:txBody>
                    <a:bodyPr/>
                    <a:lstStyle/>
                    <a:p>
                      <a:r>
                        <a:rPr lang="en-IN" sz="1400"/>
                        <a:t>30</a:t>
                      </a:r>
                    </a:p>
                  </a:txBody>
                  <a:tcPr anchor="ctr">
                    <a:lnL>
                      <a:noFill/>
                    </a:lnL>
                    <a:lnR>
                      <a:noFill/>
                    </a:lnR>
                    <a:lnT>
                      <a:noFill/>
                    </a:lnT>
                    <a:lnB>
                      <a:noFill/>
                    </a:lnB>
                  </a:tcPr>
                </a:tc>
                <a:tc>
                  <a:txBody>
                    <a:bodyPr/>
                    <a:lstStyle/>
                    <a:p>
                      <a:r>
                        <a:rPr lang="en-IN" sz="1400"/>
                        <a:t>Alpha</a:t>
                      </a:r>
                    </a:p>
                  </a:txBody>
                  <a:tcPr anchor="ctr">
                    <a:lnL>
                      <a:noFill/>
                    </a:lnL>
                    <a:lnR>
                      <a:noFill/>
                    </a:lnR>
                    <a:lnT>
                      <a:noFill/>
                    </a:lnT>
                    <a:lnB>
                      <a:noFill/>
                    </a:lnB>
                  </a:tcPr>
                </a:tc>
                <a:tc>
                  <a:txBody>
                    <a:bodyPr/>
                    <a:lstStyle/>
                    <a:p>
                      <a:r>
                        <a:rPr lang="en-IN" sz="1400"/>
                        <a:t>NY</a:t>
                      </a:r>
                    </a:p>
                  </a:txBody>
                  <a:tcPr anchor="ctr">
                    <a:lnL>
                      <a:noFill/>
                    </a:lnL>
                    <a:lnR>
                      <a:noFill/>
                    </a:lnR>
                    <a:lnT>
                      <a:noFill/>
                    </a:lnT>
                    <a:lnB>
                      <a:noFill/>
                    </a:lnB>
                  </a:tcPr>
                </a:tc>
                <a:tc>
                  <a:txBody>
                    <a:bodyPr/>
                    <a:lstStyle/>
                    <a:p>
                      <a:r>
                        <a:rPr lang="en-IN" sz="1400" dirty="0"/>
                        <a:t>Alice</a:t>
                      </a:r>
                    </a:p>
                  </a:txBody>
                  <a:tcPr anchor="ctr">
                    <a:lnL>
                      <a:noFill/>
                    </a:lnL>
                    <a:lnR>
                      <a:noFill/>
                    </a:lnR>
                    <a:lnT>
                      <a:noFill/>
                    </a:lnT>
                    <a:lnB>
                      <a:noFill/>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979900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2"/>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23</a:t>
            </a:fld>
            <a:endParaRPr sz="1400" b="0" i="0" u="none" strike="noStrike" cap="none">
              <a:solidFill>
                <a:srgbClr val="000000"/>
              </a:solidFill>
              <a:latin typeface="Arial"/>
              <a:ea typeface="Arial"/>
              <a:cs typeface="Arial"/>
              <a:sym typeface="Arial"/>
            </a:endParaRPr>
          </a:p>
        </p:txBody>
      </p:sp>
      <p:sp>
        <p:nvSpPr>
          <p:cNvPr id="228" name="Google Shape;228;p32"/>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dirty="0">
                <a:solidFill>
                  <a:srgbClr val="800000"/>
                </a:solidFill>
                <a:latin typeface="Arial"/>
                <a:ea typeface="Arial"/>
                <a:cs typeface="Arial"/>
                <a:sym typeface="Arial"/>
              </a:rPr>
              <a:t>2.1  Functional Dependencies </a:t>
            </a:r>
            <a:endParaRPr dirty="0"/>
          </a:p>
        </p:txBody>
      </p:sp>
      <p:sp>
        <p:nvSpPr>
          <p:cNvPr id="229" name="Google Shape;229;p32"/>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680"/>
              <a:buFont typeface="Noto Sans Symbols"/>
              <a:buChar char="■"/>
            </a:pPr>
            <a:r>
              <a:rPr lang="en-US" sz="2800" b="0" i="0" u="none" dirty="0">
                <a:solidFill>
                  <a:schemeClr val="dk2"/>
                </a:solidFill>
                <a:latin typeface="Arial"/>
                <a:ea typeface="Arial"/>
                <a:cs typeface="Arial"/>
                <a:sym typeface="Arial"/>
              </a:rPr>
              <a:t>Functional dependencies (FDs)</a:t>
            </a:r>
            <a:endParaRPr dirty="0"/>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latin typeface="Arial"/>
                <a:ea typeface="Arial"/>
                <a:cs typeface="Arial"/>
                <a:sym typeface="Arial"/>
              </a:rPr>
              <a:t>Are used to specify </a:t>
            </a:r>
            <a:r>
              <a:rPr lang="en-US" sz="2600" b="0" i="1" u="none" dirty="0">
                <a:solidFill>
                  <a:srgbClr val="800000"/>
                </a:solidFill>
                <a:latin typeface="Arial"/>
                <a:ea typeface="Arial"/>
                <a:cs typeface="Arial"/>
                <a:sym typeface="Arial"/>
              </a:rPr>
              <a:t>formal measures</a:t>
            </a:r>
            <a:r>
              <a:rPr lang="en-US" sz="2600" b="0" i="0" u="none" dirty="0">
                <a:solidFill>
                  <a:srgbClr val="800000"/>
                </a:solidFill>
                <a:latin typeface="Arial"/>
                <a:ea typeface="Arial"/>
                <a:cs typeface="Arial"/>
                <a:sym typeface="Arial"/>
              </a:rPr>
              <a:t> of the "goodness" of relational designs</a:t>
            </a:r>
            <a:endParaRPr dirty="0"/>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latin typeface="Arial"/>
                <a:ea typeface="Arial"/>
                <a:cs typeface="Arial"/>
                <a:sym typeface="Arial"/>
              </a:rPr>
              <a:t>And keys are used to define </a:t>
            </a:r>
            <a:r>
              <a:rPr lang="en-US" sz="2600" b="1" i="0" u="none" dirty="0">
                <a:solidFill>
                  <a:srgbClr val="800000"/>
                </a:solidFill>
                <a:latin typeface="Arial"/>
                <a:ea typeface="Arial"/>
                <a:cs typeface="Arial"/>
                <a:sym typeface="Arial"/>
              </a:rPr>
              <a:t>normal forms</a:t>
            </a:r>
            <a:r>
              <a:rPr lang="en-US" sz="2600" b="0" i="0" u="none" dirty="0">
                <a:solidFill>
                  <a:srgbClr val="800000"/>
                </a:solidFill>
                <a:latin typeface="Arial"/>
                <a:ea typeface="Arial"/>
                <a:cs typeface="Arial"/>
                <a:sym typeface="Arial"/>
              </a:rPr>
              <a:t> for relations</a:t>
            </a:r>
            <a:endParaRPr dirty="0"/>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dirty="0">
                <a:solidFill>
                  <a:srgbClr val="800000"/>
                </a:solidFill>
                <a:latin typeface="Arial"/>
                <a:ea typeface="Arial"/>
                <a:cs typeface="Arial"/>
                <a:sym typeface="Arial"/>
              </a:rPr>
              <a:t>Are </a:t>
            </a:r>
            <a:r>
              <a:rPr lang="en-US" sz="2600" b="1" i="0" u="none" dirty="0">
                <a:solidFill>
                  <a:srgbClr val="800000"/>
                </a:solidFill>
                <a:latin typeface="Arial"/>
                <a:ea typeface="Arial"/>
                <a:cs typeface="Arial"/>
                <a:sym typeface="Arial"/>
              </a:rPr>
              <a:t>constraints</a:t>
            </a:r>
            <a:r>
              <a:rPr lang="en-US" sz="2600" b="0" i="0" u="none" dirty="0">
                <a:solidFill>
                  <a:srgbClr val="800000"/>
                </a:solidFill>
                <a:latin typeface="Arial"/>
                <a:ea typeface="Arial"/>
                <a:cs typeface="Arial"/>
                <a:sym typeface="Arial"/>
              </a:rPr>
              <a:t> that are derived from the </a:t>
            </a:r>
            <a:r>
              <a:rPr lang="en-US" sz="2600" b="0" i="1" u="none" dirty="0">
                <a:solidFill>
                  <a:srgbClr val="800000"/>
                </a:solidFill>
                <a:latin typeface="Arial"/>
                <a:ea typeface="Arial"/>
                <a:cs typeface="Arial"/>
                <a:sym typeface="Arial"/>
              </a:rPr>
              <a:t>meaning</a:t>
            </a:r>
            <a:r>
              <a:rPr lang="en-US" sz="2600" b="0" i="0" u="none" dirty="0">
                <a:solidFill>
                  <a:srgbClr val="800000"/>
                </a:solidFill>
                <a:latin typeface="Arial"/>
                <a:ea typeface="Arial"/>
                <a:cs typeface="Arial"/>
                <a:sym typeface="Arial"/>
              </a:rPr>
              <a:t>  and </a:t>
            </a:r>
            <a:r>
              <a:rPr lang="en-US" sz="2600" b="0" i="1" u="none" dirty="0">
                <a:solidFill>
                  <a:srgbClr val="800000"/>
                </a:solidFill>
                <a:latin typeface="Arial"/>
                <a:ea typeface="Arial"/>
                <a:cs typeface="Arial"/>
                <a:sym typeface="Arial"/>
              </a:rPr>
              <a:t>interrelationships</a:t>
            </a:r>
            <a:r>
              <a:rPr lang="en-US" sz="2600" b="0" i="0" u="none" dirty="0">
                <a:solidFill>
                  <a:srgbClr val="800000"/>
                </a:solidFill>
                <a:latin typeface="Arial"/>
                <a:ea typeface="Arial"/>
                <a:cs typeface="Arial"/>
                <a:sym typeface="Arial"/>
              </a:rPr>
              <a:t>  of the data attributes</a:t>
            </a:r>
            <a:endParaRPr dirty="0"/>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dirty="0">
                <a:solidFill>
                  <a:schemeClr val="dk2"/>
                </a:solidFill>
                <a:highlight>
                  <a:srgbClr val="FFFF00"/>
                </a:highlight>
                <a:latin typeface="Arial"/>
                <a:ea typeface="Arial"/>
                <a:cs typeface="Arial"/>
                <a:sym typeface="Arial"/>
              </a:rPr>
              <a:t>A set of attributes X </a:t>
            </a:r>
            <a:r>
              <a:rPr lang="en-US" sz="2800" b="0" i="1" u="none" dirty="0">
                <a:solidFill>
                  <a:schemeClr val="dk2"/>
                </a:solidFill>
                <a:highlight>
                  <a:srgbClr val="FFFF00"/>
                </a:highlight>
                <a:latin typeface="Arial"/>
                <a:ea typeface="Arial"/>
                <a:cs typeface="Arial"/>
                <a:sym typeface="Arial"/>
              </a:rPr>
              <a:t>functionally</a:t>
            </a:r>
            <a:r>
              <a:rPr lang="en-US" sz="2800" b="0" i="0" u="none" dirty="0">
                <a:solidFill>
                  <a:schemeClr val="dk2"/>
                </a:solidFill>
                <a:highlight>
                  <a:srgbClr val="FFFF00"/>
                </a:highlight>
                <a:latin typeface="Arial"/>
                <a:ea typeface="Arial"/>
                <a:cs typeface="Arial"/>
                <a:sym typeface="Arial"/>
              </a:rPr>
              <a:t> </a:t>
            </a:r>
            <a:r>
              <a:rPr lang="en-US" sz="2800" b="0" i="1" u="none" dirty="0">
                <a:solidFill>
                  <a:schemeClr val="dk2"/>
                </a:solidFill>
                <a:highlight>
                  <a:srgbClr val="FFFF00"/>
                </a:highlight>
                <a:latin typeface="Arial"/>
                <a:ea typeface="Arial"/>
                <a:cs typeface="Arial"/>
                <a:sym typeface="Arial"/>
              </a:rPr>
              <a:t>determines</a:t>
            </a:r>
            <a:r>
              <a:rPr lang="en-US" sz="2800" b="0" i="0" u="none" dirty="0">
                <a:solidFill>
                  <a:schemeClr val="dk2"/>
                </a:solidFill>
                <a:highlight>
                  <a:srgbClr val="FFFF00"/>
                </a:highlight>
                <a:latin typeface="Arial"/>
                <a:ea typeface="Arial"/>
                <a:cs typeface="Arial"/>
                <a:sym typeface="Arial"/>
              </a:rPr>
              <a:t>  a set of attributes Y if the value of X determines a unique value for Y</a:t>
            </a:r>
            <a:endParaRPr dirty="0">
              <a:highlight>
                <a:srgbClr val="FFFF00"/>
              </a:highligh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Keys:</a:t>
            </a:r>
            <a:endParaRPr lang="en-IN" dirty="0"/>
          </a:p>
        </p:txBody>
      </p:sp>
      <p:sp>
        <p:nvSpPr>
          <p:cNvPr id="3" name="Text Placeholder 2"/>
          <p:cNvSpPr>
            <a:spLocks noGrp="1"/>
          </p:cNvSpPr>
          <p:nvPr>
            <p:ph type="body" idx="1"/>
          </p:nvPr>
        </p:nvSpPr>
        <p:spPr/>
        <p:txBody>
          <a:bodyPr/>
          <a:lstStyle/>
          <a:p>
            <a:r>
              <a:rPr lang="en-US" dirty="0">
                <a:highlight>
                  <a:srgbClr val="FFFF00"/>
                </a:highlight>
              </a:rPr>
              <a:t>1. </a:t>
            </a:r>
            <a:r>
              <a:rPr lang="en-US" dirty="0" err="1">
                <a:highlight>
                  <a:srgbClr val="FFFF00"/>
                </a:highlight>
              </a:rPr>
              <a:t>Superkey</a:t>
            </a:r>
            <a:r>
              <a:rPr lang="en-US" dirty="0">
                <a:highlight>
                  <a:srgbClr val="FFFF00"/>
                </a:highlight>
              </a:rPr>
              <a:t>:</a:t>
            </a:r>
          </a:p>
          <a:p>
            <a:r>
              <a:rPr lang="en-US" dirty="0"/>
              <a:t>All possible combination of keys are called </a:t>
            </a:r>
            <a:r>
              <a:rPr lang="en-US" dirty="0" err="1"/>
              <a:t>superkeys</a:t>
            </a:r>
            <a:r>
              <a:rPr lang="en-US" dirty="0"/>
              <a:t>.</a:t>
            </a:r>
          </a:p>
          <a:p>
            <a:r>
              <a:rPr lang="en-US" dirty="0"/>
              <a:t>Uniquely identify record.</a:t>
            </a:r>
          </a:p>
          <a:p>
            <a:r>
              <a:rPr lang="en-US" dirty="0" err="1">
                <a:highlight>
                  <a:srgbClr val="FFFF00"/>
                </a:highlight>
              </a:rPr>
              <a:t>Superkey</a:t>
            </a:r>
            <a:r>
              <a:rPr lang="en-US" dirty="0">
                <a:highlight>
                  <a:srgbClr val="FFFF00"/>
                </a:highlight>
              </a:rPr>
              <a:t> is a superset, we can derive other keys from </a:t>
            </a:r>
            <a:r>
              <a:rPr lang="en-US" dirty="0" err="1">
                <a:highlight>
                  <a:srgbClr val="FFFF00"/>
                </a:highlight>
              </a:rPr>
              <a:t>superkey</a:t>
            </a:r>
            <a:r>
              <a:rPr lang="en-US" dirty="0">
                <a:highlight>
                  <a:srgbClr val="FFFF00"/>
                </a:highlight>
              </a:rPr>
              <a:t>.</a:t>
            </a:r>
            <a:endParaRPr lang="en-IN" dirty="0">
              <a:highlight>
                <a:srgbClr val="FFFF00"/>
              </a:highlight>
            </a:endParaRPr>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24</a:t>
            </a:fld>
            <a:endParaRPr lang="en-US"/>
          </a:p>
        </p:txBody>
      </p:sp>
    </p:spTree>
    <p:extLst>
      <p:ext uri="{BB962C8B-B14F-4D97-AF65-F5344CB8AC3E}">
        <p14:creationId xmlns:p14="http://schemas.microsoft.com/office/powerpoint/2010/main" val="3772782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Text Placeholder 2"/>
          <p:cNvSpPr>
            <a:spLocks noGrp="1"/>
          </p:cNvSpPr>
          <p:nvPr>
            <p:ph type="body" idx="1"/>
          </p:nvPr>
        </p:nvSpPr>
        <p:spPr>
          <a:xfrm>
            <a:off x="231101" y="1143000"/>
            <a:ext cx="8294687" cy="4572000"/>
          </a:xfrm>
        </p:spPr>
        <p:txBody>
          <a:bodyPr/>
          <a:lstStyle/>
          <a:p>
            <a:r>
              <a:rPr lang="en-US" dirty="0"/>
              <a:t>{ID},</a:t>
            </a:r>
          </a:p>
          <a:p>
            <a:r>
              <a:rPr lang="en-US" dirty="0"/>
              <a:t>{SSN},</a:t>
            </a:r>
          </a:p>
          <a:p>
            <a:r>
              <a:rPr lang="en-US" dirty="0"/>
              <a:t>{</a:t>
            </a:r>
            <a:r>
              <a:rPr lang="en-US" dirty="0" err="1"/>
              <a:t>ID,Name</a:t>
            </a:r>
            <a:r>
              <a:rPr lang="en-US" dirty="0"/>
              <a:t>},{</a:t>
            </a:r>
            <a:r>
              <a:rPr lang="en-US" dirty="0" err="1"/>
              <a:t>Name,SSN</a:t>
            </a:r>
            <a:r>
              <a:rPr lang="en-US" dirty="0"/>
              <a:t>}</a:t>
            </a:r>
          </a:p>
          <a:p>
            <a:r>
              <a:rPr lang="en-US" dirty="0"/>
              <a:t>{ID,SSN},{</a:t>
            </a:r>
            <a:r>
              <a:rPr lang="en-US" dirty="0" err="1"/>
              <a:t>ID,phone</a:t>
            </a:r>
            <a:r>
              <a:rPr lang="en-US" dirty="0"/>
              <a:t>},</a:t>
            </a:r>
          </a:p>
          <a:p>
            <a:r>
              <a:rPr lang="en-US" dirty="0" err="1"/>
              <a:t>ID,email</a:t>
            </a:r>
            <a:endParaRPr lang="en-US" dirty="0"/>
          </a:p>
          <a:p>
            <a:r>
              <a:rPr lang="en-US" dirty="0" err="1"/>
              <a:t>Name,email</a:t>
            </a:r>
            <a:endParaRPr lang="en-US" dirty="0"/>
          </a:p>
          <a:p>
            <a:r>
              <a:rPr lang="en-US" dirty="0" err="1"/>
              <a:t>Name,ssn,email</a:t>
            </a:r>
            <a:endParaRPr lang="en-US" dirty="0"/>
          </a:p>
          <a:p>
            <a:r>
              <a:rPr lang="en-US" dirty="0" err="1"/>
              <a:t>Id,SSN,Phone</a:t>
            </a:r>
            <a:endParaRPr lang="en-US" dirty="0"/>
          </a:p>
          <a:p>
            <a:r>
              <a:rPr lang="en-US" dirty="0"/>
              <a:t>{</a:t>
            </a:r>
            <a:r>
              <a:rPr lang="en-US" dirty="0" err="1"/>
              <a:t>Name,Salary</a:t>
            </a:r>
            <a:r>
              <a:rPr lang="en-US" dirty="0"/>
              <a:t>}</a:t>
            </a:r>
          </a:p>
          <a:p>
            <a:r>
              <a:rPr lang="en-US" b="1" dirty="0"/>
              <a:t>Here, {</a:t>
            </a:r>
            <a:r>
              <a:rPr lang="en-US" b="1" dirty="0" err="1"/>
              <a:t>Name,Salary</a:t>
            </a:r>
            <a:r>
              <a:rPr lang="en-US" b="1" dirty="0"/>
              <a:t>} can’t become a </a:t>
            </a:r>
            <a:r>
              <a:rPr lang="en-US" b="1" dirty="0" err="1"/>
              <a:t>superkey</a:t>
            </a:r>
            <a:r>
              <a:rPr lang="en-US" b="1" dirty="0"/>
              <a:t>.</a:t>
            </a:r>
          </a:p>
          <a:p>
            <a:endParaRPr lang="en-US" dirty="0"/>
          </a:p>
          <a:p>
            <a:endParaRPr lang="en-IN"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25</a:t>
            </a:fld>
            <a:endParaRPr lang="en-US"/>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4838" y="1233031"/>
            <a:ext cx="3790950" cy="33147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6292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Candidate key</a:t>
            </a:r>
            <a:endParaRPr lang="en-IN" dirty="0"/>
          </a:p>
        </p:txBody>
      </p:sp>
      <p:sp>
        <p:nvSpPr>
          <p:cNvPr id="3" name="Text Placeholder 2"/>
          <p:cNvSpPr>
            <a:spLocks noGrp="1"/>
          </p:cNvSpPr>
          <p:nvPr>
            <p:ph type="body" idx="1"/>
          </p:nvPr>
        </p:nvSpPr>
        <p:spPr/>
        <p:txBody>
          <a:bodyPr/>
          <a:lstStyle/>
          <a:p>
            <a:r>
              <a:rPr lang="en-US" sz="2400" dirty="0">
                <a:solidFill>
                  <a:srgbClr val="FF0000"/>
                </a:solidFill>
                <a:highlight>
                  <a:srgbClr val="FFFF00"/>
                </a:highlight>
              </a:rPr>
              <a:t>Minimal set of </a:t>
            </a:r>
            <a:r>
              <a:rPr lang="en-US" sz="2400" dirty="0" err="1">
                <a:solidFill>
                  <a:srgbClr val="FF0000"/>
                </a:solidFill>
                <a:highlight>
                  <a:srgbClr val="FFFF00"/>
                </a:highlight>
              </a:rPr>
              <a:t>superkey</a:t>
            </a:r>
            <a:r>
              <a:rPr lang="en-US" sz="2400" dirty="0">
                <a:solidFill>
                  <a:srgbClr val="FF0000"/>
                </a:solidFill>
                <a:highlight>
                  <a:srgbClr val="FFFF00"/>
                </a:highlight>
              </a:rPr>
              <a:t>.</a:t>
            </a:r>
          </a:p>
          <a:p>
            <a:r>
              <a:rPr lang="en-US" sz="2400" dirty="0"/>
              <a:t>From the following set of </a:t>
            </a:r>
            <a:r>
              <a:rPr lang="en-US" sz="2400" dirty="0" err="1"/>
              <a:t>superkeys</a:t>
            </a:r>
            <a:r>
              <a:rPr lang="en-US" sz="2400" dirty="0"/>
              <a:t>:</a:t>
            </a:r>
          </a:p>
          <a:p>
            <a:pPr marL="622935" lvl="1" indent="0">
              <a:buNone/>
            </a:pPr>
            <a:r>
              <a:rPr lang="en-US" sz="2200" dirty="0"/>
              <a:t>{ID},{SSN},{</a:t>
            </a:r>
            <a:r>
              <a:rPr lang="en-US" sz="2200" dirty="0" err="1"/>
              <a:t>ID,Name</a:t>
            </a:r>
            <a:r>
              <a:rPr lang="en-US" sz="2200" dirty="0"/>
              <a:t>},{</a:t>
            </a:r>
            <a:r>
              <a:rPr lang="en-US" sz="2200" dirty="0" err="1"/>
              <a:t>Name,SSN</a:t>
            </a:r>
            <a:r>
              <a:rPr lang="en-US" sz="2200" dirty="0"/>
              <a:t>},{ID,SSN},{</a:t>
            </a:r>
            <a:r>
              <a:rPr lang="en-US" sz="2200" dirty="0" err="1"/>
              <a:t>ID,phone</a:t>
            </a:r>
            <a:r>
              <a:rPr lang="en-US" sz="2200" dirty="0"/>
              <a:t>},</a:t>
            </a:r>
          </a:p>
          <a:p>
            <a:pPr marL="622935" lvl="1" indent="0">
              <a:buNone/>
            </a:pPr>
            <a:r>
              <a:rPr lang="en-US" sz="2200" dirty="0"/>
              <a:t>{</a:t>
            </a:r>
            <a:r>
              <a:rPr lang="en-US" sz="2200" dirty="0" err="1"/>
              <a:t>ID,email</a:t>
            </a:r>
            <a:r>
              <a:rPr lang="en-US" sz="2200" dirty="0"/>
              <a:t>},{</a:t>
            </a:r>
            <a:r>
              <a:rPr lang="en-US" sz="2200" dirty="0" err="1"/>
              <a:t>Name,email</a:t>
            </a:r>
            <a:r>
              <a:rPr lang="en-US" sz="2200" dirty="0"/>
              <a:t>},{</a:t>
            </a:r>
            <a:r>
              <a:rPr lang="en-US" sz="2200" dirty="0" err="1"/>
              <a:t>Name,ssn,email</a:t>
            </a:r>
            <a:r>
              <a:rPr lang="en-US" sz="2200" dirty="0"/>
              <a:t>},{</a:t>
            </a:r>
            <a:r>
              <a:rPr lang="en-US" sz="2200" dirty="0" err="1"/>
              <a:t>Id,SSN,Phone</a:t>
            </a:r>
            <a:r>
              <a:rPr lang="en-US" sz="2200" dirty="0"/>
              <a:t>},</a:t>
            </a:r>
          </a:p>
          <a:p>
            <a:pPr marL="622935" lvl="1" indent="0">
              <a:buNone/>
            </a:pPr>
            <a:r>
              <a:rPr lang="en-US" sz="2200" dirty="0"/>
              <a:t>{</a:t>
            </a:r>
            <a:r>
              <a:rPr lang="en-US" sz="2200" dirty="0" err="1"/>
              <a:t>Name,Salary</a:t>
            </a:r>
            <a:r>
              <a:rPr lang="en-US" sz="2200" dirty="0"/>
              <a:t>}</a:t>
            </a:r>
          </a:p>
          <a:p>
            <a:r>
              <a:rPr lang="en-US" dirty="0"/>
              <a:t>We can select candidate key (minimal set)</a:t>
            </a:r>
          </a:p>
          <a:p>
            <a:r>
              <a:rPr lang="en-US" dirty="0"/>
              <a:t>Such as,</a:t>
            </a:r>
          </a:p>
          <a:p>
            <a:r>
              <a:rPr lang="en-US" dirty="0"/>
              <a:t>{ID} and {SSN} can be a separate candidate keys. </a:t>
            </a:r>
          </a:p>
          <a:p>
            <a:r>
              <a:rPr lang="en-US" dirty="0"/>
              <a:t>{email}, {</a:t>
            </a:r>
            <a:r>
              <a:rPr lang="en-US" dirty="0" err="1"/>
              <a:t>Name,Phone</a:t>
            </a:r>
            <a:r>
              <a:rPr lang="en-US" dirty="0"/>
              <a:t>}</a:t>
            </a:r>
          </a:p>
          <a:p>
            <a:r>
              <a:rPr lang="en-US" dirty="0"/>
              <a:t>{</a:t>
            </a:r>
            <a:r>
              <a:rPr lang="en-US" dirty="0" err="1"/>
              <a:t>ID,Name</a:t>
            </a:r>
            <a:r>
              <a:rPr lang="en-US" dirty="0"/>
              <a:t>} cant be candidate key, </a:t>
            </a:r>
            <a:r>
              <a:rPr lang="en-US" dirty="0" err="1"/>
              <a:t>bcz</a:t>
            </a:r>
            <a:r>
              <a:rPr lang="en-US" dirty="0"/>
              <a:t> ID is a part of another candidate key.</a:t>
            </a:r>
          </a:p>
          <a:p>
            <a:endParaRPr lang="en-US" dirty="0"/>
          </a:p>
          <a:p>
            <a:endParaRPr lang="en-IN"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26</a:t>
            </a:fld>
            <a:endParaRPr lang="en-US"/>
          </a:p>
        </p:txBody>
      </p:sp>
    </p:spTree>
    <p:extLst>
      <p:ext uri="{BB962C8B-B14F-4D97-AF65-F5344CB8AC3E}">
        <p14:creationId xmlns:p14="http://schemas.microsoft.com/office/powerpoint/2010/main" val="30476018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Primary key</a:t>
            </a:r>
            <a:endParaRPr lang="en-IN" dirty="0"/>
          </a:p>
        </p:txBody>
      </p:sp>
      <p:sp>
        <p:nvSpPr>
          <p:cNvPr id="3" name="Text Placeholder 2"/>
          <p:cNvSpPr>
            <a:spLocks noGrp="1"/>
          </p:cNvSpPr>
          <p:nvPr>
            <p:ph type="body" idx="1"/>
          </p:nvPr>
        </p:nvSpPr>
        <p:spPr/>
        <p:txBody>
          <a:bodyPr/>
          <a:lstStyle/>
          <a:p>
            <a:r>
              <a:rPr lang="en-US" dirty="0">
                <a:highlight>
                  <a:srgbClr val="FFFF00"/>
                </a:highlight>
              </a:rPr>
              <a:t>Primary key should be unique and not null</a:t>
            </a:r>
          </a:p>
          <a:p>
            <a:r>
              <a:rPr lang="en-US" dirty="0"/>
              <a:t>Example:</a:t>
            </a:r>
          </a:p>
          <a:p>
            <a:pPr marL="160020" indent="0">
              <a:buNone/>
            </a:pPr>
            <a:r>
              <a:rPr lang="en-US" dirty="0"/>
              <a:t>Candidate keys in above examples are:</a:t>
            </a:r>
          </a:p>
          <a:p>
            <a:pPr marL="160020" indent="0">
              <a:buNone/>
            </a:pPr>
            <a:r>
              <a:rPr lang="en-US" dirty="0"/>
              <a:t>{ID},{SSN},{Email},{</a:t>
            </a:r>
            <a:r>
              <a:rPr lang="en-US" dirty="0" err="1"/>
              <a:t>Name,phone</a:t>
            </a:r>
            <a:r>
              <a:rPr lang="en-US" dirty="0"/>
              <a:t>}</a:t>
            </a:r>
          </a:p>
          <a:p>
            <a:pPr marL="160020" indent="0">
              <a:buNone/>
            </a:pPr>
            <a:r>
              <a:rPr lang="en-US" dirty="0"/>
              <a:t>Primary key is :{ID} or {SSN}</a:t>
            </a:r>
          </a:p>
          <a:p>
            <a:pPr marL="160020" indent="0">
              <a:buNone/>
            </a:pPr>
            <a:r>
              <a:rPr lang="en-US" dirty="0"/>
              <a:t>Not both. </a:t>
            </a:r>
          </a:p>
          <a:p>
            <a:pPr marL="160020" indent="0">
              <a:buNone/>
            </a:pPr>
            <a:r>
              <a:rPr lang="en-US" dirty="0"/>
              <a:t>{ID} is preferred.</a:t>
            </a:r>
          </a:p>
          <a:p>
            <a:pPr marL="160020" indent="0">
              <a:buNone/>
            </a:pPr>
            <a:endParaRPr lang="en-US" dirty="0"/>
          </a:p>
          <a:p>
            <a:endParaRPr lang="en-US" dirty="0"/>
          </a:p>
          <a:p>
            <a:endParaRPr lang="en-US" dirty="0"/>
          </a:p>
          <a:p>
            <a:endParaRPr lang="en-IN"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27</a:t>
            </a:fld>
            <a:endParaRPr lang="en-US"/>
          </a:p>
        </p:txBody>
      </p:sp>
    </p:spTree>
    <p:extLst>
      <p:ext uri="{BB962C8B-B14F-4D97-AF65-F5344CB8AC3E}">
        <p14:creationId xmlns:p14="http://schemas.microsoft.com/office/powerpoint/2010/main" val="34102727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0"/>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IN" dirty="0"/>
              <a:t>Alternate Keys </a:t>
            </a:r>
            <a:endParaRPr dirty="0"/>
          </a:p>
        </p:txBody>
      </p:sp>
      <p:sp>
        <p:nvSpPr>
          <p:cNvPr id="214" name="Google Shape;214;p20"/>
          <p:cNvSpPr txBox="1">
            <a:spLocks noGrp="1"/>
          </p:cNvSpPr>
          <p:nvPr>
            <p:ph type="body" idx="1"/>
          </p:nvPr>
        </p:nvSpPr>
        <p:spPr>
          <a:xfrm>
            <a:off x="628650" y="1690688"/>
            <a:ext cx="78867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1000"/>
              </a:spcBef>
              <a:spcAft>
                <a:spcPts val="0"/>
              </a:spcAft>
              <a:buClr>
                <a:schemeClr val="dk1"/>
              </a:buClr>
              <a:buSzPts val="2800"/>
              <a:buNone/>
            </a:pPr>
            <a:r>
              <a:rPr lang="en-US" dirty="0">
                <a:highlight>
                  <a:srgbClr val="FFFF00"/>
                </a:highlight>
              </a:rPr>
              <a:t>The candidate key other than primary key are called alternate keys.</a:t>
            </a:r>
            <a:endParaRPr dirty="0">
              <a:highlight>
                <a:srgbClr val="FFFF00"/>
              </a:highlight>
            </a:endParaRPr>
          </a:p>
        </p:txBody>
      </p:sp>
      <p:pic>
        <p:nvPicPr>
          <p:cNvPr id="6" name="Google Shape;222;p21" descr="DBMS Keys"/>
          <p:cNvPicPr preferRelativeResize="0"/>
          <p:nvPr/>
        </p:nvPicPr>
        <p:blipFill rotWithShape="1">
          <a:blip r:embed="rId3">
            <a:alphaModFix/>
          </a:blip>
          <a:srcRect/>
          <a:stretch/>
        </p:blipFill>
        <p:spPr>
          <a:xfrm>
            <a:off x="1909698" y="2964958"/>
            <a:ext cx="3867994" cy="1839446"/>
          </a:xfrm>
          <a:prstGeom prst="rect">
            <a:avLst/>
          </a:prstGeom>
          <a:noFill/>
          <a:ln>
            <a:noFill/>
          </a:ln>
        </p:spPr>
      </p:pic>
    </p:spTree>
    <p:extLst>
      <p:ext uri="{BB962C8B-B14F-4D97-AF65-F5344CB8AC3E}">
        <p14:creationId xmlns:p14="http://schemas.microsoft.com/office/powerpoint/2010/main" val="1974187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4">
                                            <p:txEl>
                                              <p:pRg st="0" end="0"/>
                                            </p:txEl>
                                          </p:spTgt>
                                        </p:tgtEl>
                                        <p:attrNameLst>
                                          <p:attrName>style.visibility</p:attrName>
                                        </p:attrNameLst>
                                      </p:cBhvr>
                                      <p:to>
                                        <p:strVal val="visible"/>
                                      </p:to>
                                    </p:set>
                                    <p:anim calcmode="lin" valueType="num">
                                      <p:cBhvr additive="base">
                                        <p:cTn id="7" dur="500"/>
                                        <p:tgtEl>
                                          <p:spTgt spid="214">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Unique key &amp; Composite key</a:t>
            </a:r>
            <a:endParaRPr lang="en-IN" dirty="0"/>
          </a:p>
        </p:txBody>
      </p:sp>
      <p:sp>
        <p:nvSpPr>
          <p:cNvPr id="3" name="Text Placeholder 2"/>
          <p:cNvSpPr>
            <a:spLocks noGrp="1"/>
          </p:cNvSpPr>
          <p:nvPr>
            <p:ph type="body" idx="1"/>
          </p:nvPr>
        </p:nvSpPr>
        <p:spPr/>
        <p:txBody>
          <a:bodyPr/>
          <a:lstStyle/>
          <a:p>
            <a:r>
              <a:rPr lang="en-US" dirty="0">
                <a:highlight>
                  <a:srgbClr val="FFFF00"/>
                </a:highlight>
              </a:rPr>
              <a:t>It should contain unique values, but accept NULL values</a:t>
            </a:r>
            <a:r>
              <a:rPr lang="en-US" dirty="0"/>
              <a:t>.</a:t>
            </a:r>
          </a:p>
          <a:p>
            <a:r>
              <a:rPr lang="en-US" dirty="0"/>
              <a:t>Example:</a:t>
            </a:r>
          </a:p>
          <a:p>
            <a:r>
              <a:rPr lang="en-US" dirty="0"/>
              <a:t>{</a:t>
            </a:r>
            <a:r>
              <a:rPr lang="en-US" dirty="0" err="1"/>
              <a:t>Name,Phone</a:t>
            </a:r>
            <a:r>
              <a:rPr lang="en-US" dirty="0"/>
              <a:t>} and {email} can be a unique keys.</a:t>
            </a:r>
          </a:p>
        </p:txBody>
      </p:sp>
      <p:sp>
        <p:nvSpPr>
          <p:cNvPr id="7" name="Text Placeholder 6"/>
          <p:cNvSpPr>
            <a:spLocks noGrp="1"/>
          </p:cNvSpPr>
          <p:nvPr>
            <p:ph type="body" idx="2"/>
          </p:nvPr>
        </p:nvSpPr>
        <p:spPr/>
        <p:txBody>
          <a:bodyPr/>
          <a:lstStyle/>
          <a:p>
            <a:r>
              <a:rPr lang="en-US" dirty="0">
                <a:highlight>
                  <a:srgbClr val="FFFF00"/>
                </a:highlight>
              </a:rPr>
              <a:t>Composite key:</a:t>
            </a:r>
          </a:p>
          <a:p>
            <a:r>
              <a:rPr lang="en-US" dirty="0">
                <a:highlight>
                  <a:srgbClr val="FFFF00"/>
                </a:highlight>
              </a:rPr>
              <a:t>Combination of Two or More attribute</a:t>
            </a:r>
            <a:endParaRPr lang="en-IN" dirty="0">
              <a:highlight>
                <a:srgbClr val="FFFF00"/>
              </a:highlight>
            </a:endParaRPr>
          </a:p>
          <a:p>
            <a:r>
              <a:rPr lang="en-US" dirty="0"/>
              <a:t>Example:</a:t>
            </a:r>
          </a:p>
          <a:p>
            <a:r>
              <a:rPr lang="en-US" dirty="0"/>
              <a:t>{</a:t>
            </a:r>
            <a:r>
              <a:rPr lang="en-US" dirty="0" err="1"/>
              <a:t>Name,Phone</a:t>
            </a:r>
            <a:r>
              <a:rPr lang="en-US" dirty="0"/>
              <a:t>}</a:t>
            </a:r>
          </a:p>
          <a:p>
            <a:r>
              <a:rPr lang="en-US" dirty="0"/>
              <a:t>{</a:t>
            </a:r>
            <a:r>
              <a:rPr lang="en-US" dirty="0" err="1"/>
              <a:t>ID,Phone</a:t>
            </a:r>
            <a:r>
              <a:rPr lang="en-US" dirty="0"/>
              <a:t>}</a:t>
            </a:r>
          </a:p>
          <a:p>
            <a:r>
              <a:rPr lang="en-US" dirty="0"/>
              <a:t>{</a:t>
            </a:r>
            <a:r>
              <a:rPr lang="en-US" dirty="0" err="1"/>
              <a:t>ID,Name</a:t>
            </a:r>
            <a:r>
              <a:rPr lang="en-US" dirty="0"/>
              <a:t>}.. etc.</a:t>
            </a:r>
            <a:endParaRPr lang="en-IN"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29</a:t>
            </a:fld>
            <a:endParaRPr lang="en-US"/>
          </a:p>
        </p:txBody>
      </p:sp>
    </p:spTree>
    <p:extLst>
      <p:ext uri="{BB962C8B-B14F-4D97-AF65-F5344CB8AC3E}">
        <p14:creationId xmlns:p14="http://schemas.microsoft.com/office/powerpoint/2010/main" val="32894302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Foreign key</a:t>
            </a:r>
            <a:endParaRPr lang="en-IN" dirty="0"/>
          </a:p>
        </p:txBody>
      </p:sp>
      <p:sp>
        <p:nvSpPr>
          <p:cNvPr id="6" name="Text Placeholder 5"/>
          <p:cNvSpPr>
            <a:spLocks noGrp="1"/>
          </p:cNvSpPr>
          <p:nvPr>
            <p:ph type="body" idx="1"/>
          </p:nvPr>
        </p:nvSpPr>
        <p:spPr/>
        <p:txBody>
          <a:bodyPr/>
          <a:lstStyle/>
          <a:p>
            <a:r>
              <a:rPr lang="en-US" sz="2400" dirty="0">
                <a:highlight>
                  <a:srgbClr val="FFFF00"/>
                </a:highlight>
              </a:rPr>
              <a:t>A foreign key in DBMS is a field that establishes and maintains a link between two separate tables. </a:t>
            </a:r>
          </a:p>
          <a:p>
            <a:r>
              <a:rPr lang="en-US" sz="2400" dirty="0">
                <a:highlight>
                  <a:srgbClr val="FFFF00"/>
                </a:highlight>
              </a:rPr>
              <a:t>It acts as a constraint ensuring data and referential integrity within relational databases. </a:t>
            </a:r>
          </a:p>
          <a:p>
            <a:r>
              <a:rPr lang="en-US" sz="2400" dirty="0">
                <a:highlight>
                  <a:srgbClr val="FFFF00"/>
                </a:highlight>
              </a:rPr>
              <a:t>Using foreign keys ensures that the data stored in different tables are consistent, helping maintain the relationship between the two tables while preventing any unauthorized modifications. </a:t>
            </a:r>
          </a:p>
          <a:p>
            <a:r>
              <a:rPr lang="en-US" sz="2400" dirty="0"/>
              <a:t>In addition, they can also be used to create connections among multiple entities to organize information for better retrieval from the database. </a:t>
            </a:r>
            <a:endParaRPr lang="en-IN" sz="2400" dirty="0"/>
          </a:p>
        </p:txBody>
      </p:sp>
      <p:sp>
        <p:nvSpPr>
          <p:cNvPr id="5" name="Slide Number Placeholder 4"/>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30</a:t>
            </a:fld>
            <a:endParaRPr lang="en-US"/>
          </a:p>
        </p:txBody>
      </p:sp>
    </p:spTree>
    <p:extLst>
      <p:ext uri="{BB962C8B-B14F-4D97-AF65-F5344CB8AC3E}">
        <p14:creationId xmlns:p14="http://schemas.microsoft.com/office/powerpoint/2010/main" val="1313059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a:t>
            </a:r>
            <a:endParaRPr lang="en-IN" dirty="0"/>
          </a:p>
        </p:txBody>
      </p:sp>
      <p:sp>
        <p:nvSpPr>
          <p:cNvPr id="3" name="Text Placeholder 2"/>
          <p:cNvSpPr>
            <a:spLocks noGrp="1"/>
          </p:cNvSpPr>
          <p:nvPr>
            <p:ph type="body" idx="1"/>
          </p:nvPr>
        </p:nvSpPr>
        <p:spPr>
          <a:xfrm>
            <a:off x="194871" y="1487466"/>
            <a:ext cx="8294687" cy="4572000"/>
          </a:xfrm>
        </p:spPr>
        <p:txBody>
          <a:bodyPr/>
          <a:lstStyle/>
          <a:p>
            <a:r>
              <a:rPr lang="en-US" sz="2000" dirty="0"/>
              <a:t>This foreign key relationship ensures referential integrity between the two tables. </a:t>
            </a:r>
          </a:p>
          <a:p>
            <a:r>
              <a:rPr lang="en-US" sz="2000" dirty="0"/>
              <a:t>It means that every value in the </a:t>
            </a:r>
            <a:r>
              <a:rPr lang="en-US" sz="2000" dirty="0" err="1"/>
              <a:t>Stud_id</a:t>
            </a:r>
            <a:r>
              <a:rPr lang="en-US" sz="2000" dirty="0"/>
              <a:t> column of the Department table must correspond to a valid </a:t>
            </a:r>
            <a:r>
              <a:rPr lang="en-US" sz="2000" dirty="0" err="1"/>
              <a:t>Stud_id</a:t>
            </a:r>
            <a:r>
              <a:rPr lang="en-US" sz="2000" dirty="0"/>
              <a:t> in the Student table.</a:t>
            </a:r>
          </a:p>
          <a:p>
            <a:r>
              <a:rPr lang="en-US" sz="2000" dirty="0"/>
              <a:t>For example, you can't insert a record into the Department table with a </a:t>
            </a:r>
            <a:r>
              <a:rPr lang="en-US" sz="2000" dirty="0" err="1"/>
              <a:t>Stud_id</a:t>
            </a:r>
            <a:r>
              <a:rPr lang="en-US" sz="2000" dirty="0"/>
              <a:t> that doesn't exist in the Student table. This helps to maintain consistency </a:t>
            </a:r>
          </a:p>
          <a:p>
            <a:endParaRPr lang="en-IN" sz="2400"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31</a:t>
            </a:fld>
            <a:endParaRPr lang="en-US"/>
          </a:p>
        </p:txBody>
      </p:sp>
      <p:pic>
        <p:nvPicPr>
          <p:cNvPr id="1026" name="Picture 2" descr="Foreign Key in DBM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1769" y="3959381"/>
            <a:ext cx="7362216" cy="2309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44473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24"/>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IN"/>
              <a:t>Proper subset: </a:t>
            </a:r>
            <a:endParaRPr/>
          </a:p>
        </p:txBody>
      </p:sp>
      <p:sp>
        <p:nvSpPr>
          <p:cNvPr id="246" name="Google Shape;246;p24"/>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fontScale="55000" lnSpcReduction="20000"/>
          </a:bodyPr>
          <a:lstStyle/>
          <a:p>
            <a:pPr marL="228600" lvl="0" indent="-228600" algn="l" rtl="0">
              <a:lnSpc>
                <a:spcPct val="90000"/>
              </a:lnSpc>
              <a:spcBef>
                <a:spcPts val="0"/>
              </a:spcBef>
              <a:spcAft>
                <a:spcPts val="0"/>
              </a:spcAft>
              <a:buClr>
                <a:schemeClr val="dk1"/>
              </a:buClr>
              <a:buSzPct val="100000"/>
              <a:buChar char="•"/>
            </a:pPr>
            <a:r>
              <a:rPr lang="en-IN" dirty="0"/>
              <a:t>A proper subset of a set A is a subset of A that is not equal to A. </a:t>
            </a:r>
            <a:endParaRPr dirty="0"/>
          </a:p>
          <a:p>
            <a:pPr marL="228600" lvl="0" indent="-228600" algn="l" rtl="0">
              <a:lnSpc>
                <a:spcPct val="90000"/>
              </a:lnSpc>
              <a:spcBef>
                <a:spcPts val="1000"/>
              </a:spcBef>
              <a:spcAft>
                <a:spcPts val="0"/>
              </a:spcAft>
              <a:buClr>
                <a:schemeClr val="dk1"/>
              </a:buClr>
              <a:buSzPct val="100000"/>
              <a:buChar char="•"/>
            </a:pPr>
            <a:r>
              <a:rPr lang="en-IN" dirty="0"/>
              <a:t>In other words, if B is a proper subset of A, then all elements of B are in A but A contains at least one element that is not in B.</a:t>
            </a:r>
            <a:endParaRPr dirty="0"/>
          </a:p>
          <a:p>
            <a:pPr marL="228600" lvl="0" indent="-228600" algn="l" rtl="0">
              <a:lnSpc>
                <a:spcPct val="90000"/>
              </a:lnSpc>
              <a:spcBef>
                <a:spcPts val="1000"/>
              </a:spcBef>
              <a:spcAft>
                <a:spcPts val="0"/>
              </a:spcAft>
              <a:buClr>
                <a:schemeClr val="dk1"/>
              </a:buClr>
              <a:buSzPct val="100000"/>
              <a:buChar char="•"/>
            </a:pPr>
            <a:r>
              <a:rPr lang="en-IN" dirty="0"/>
              <a:t>if A={1,3,5} then B={1,5} is a proper subset of A. </a:t>
            </a:r>
            <a:endParaRPr dirty="0"/>
          </a:p>
          <a:p>
            <a:pPr marL="228600" lvl="0" indent="-228600" algn="l" rtl="0">
              <a:lnSpc>
                <a:spcPct val="90000"/>
              </a:lnSpc>
              <a:spcBef>
                <a:spcPts val="1000"/>
              </a:spcBef>
              <a:spcAft>
                <a:spcPts val="0"/>
              </a:spcAft>
              <a:buClr>
                <a:schemeClr val="dk1"/>
              </a:buClr>
              <a:buSzPct val="100000"/>
              <a:buChar char="•"/>
            </a:pPr>
            <a:r>
              <a:rPr lang="en-IN" dirty="0"/>
              <a:t>The set C={1,3,5} is a subset of A, but it is not a proper subset of A since C=A.</a:t>
            </a:r>
            <a:endParaRPr dirty="0"/>
          </a:p>
          <a:p>
            <a:pPr marL="228600" lvl="0" indent="-228600" algn="l" rtl="0">
              <a:lnSpc>
                <a:spcPct val="90000"/>
              </a:lnSpc>
              <a:spcBef>
                <a:spcPts val="1000"/>
              </a:spcBef>
              <a:spcAft>
                <a:spcPts val="0"/>
              </a:spcAft>
              <a:buClr>
                <a:schemeClr val="dk1"/>
              </a:buClr>
              <a:buSzPct val="100000"/>
              <a:buChar char="•"/>
            </a:pPr>
            <a:r>
              <a:rPr lang="en-IN" dirty="0"/>
              <a:t>Example:</a:t>
            </a:r>
            <a:endParaRPr dirty="0"/>
          </a:p>
          <a:p>
            <a:pPr marL="228600" lvl="0" indent="-228600" algn="l" rtl="0">
              <a:lnSpc>
                <a:spcPct val="90000"/>
              </a:lnSpc>
              <a:spcBef>
                <a:spcPts val="1000"/>
              </a:spcBef>
              <a:spcAft>
                <a:spcPts val="0"/>
              </a:spcAft>
              <a:buClr>
                <a:schemeClr val="dk1"/>
              </a:buClr>
              <a:buSzPct val="100000"/>
              <a:buChar char="•"/>
            </a:pPr>
            <a:r>
              <a:rPr lang="en-IN" dirty="0"/>
              <a:t>Let us consider in relation R(A,B,C,D), </a:t>
            </a:r>
            <a:endParaRPr dirty="0"/>
          </a:p>
          <a:p>
            <a:pPr marL="228600" lvl="0" indent="-228600" algn="l" rtl="0">
              <a:lnSpc>
                <a:spcPct val="90000"/>
              </a:lnSpc>
              <a:spcBef>
                <a:spcPts val="1000"/>
              </a:spcBef>
              <a:spcAft>
                <a:spcPts val="0"/>
              </a:spcAft>
              <a:buClr>
                <a:schemeClr val="dk1"/>
              </a:buClr>
              <a:buSzPct val="100000"/>
              <a:buChar char="•"/>
            </a:pPr>
            <a:r>
              <a:rPr lang="en-IN" dirty="0"/>
              <a:t>If {A,B,C} is a super key, then proper subset of this super key are:</a:t>
            </a:r>
            <a:endParaRPr dirty="0"/>
          </a:p>
          <a:p>
            <a:pPr marL="228600" lvl="0" indent="-228600" algn="l" rtl="0">
              <a:lnSpc>
                <a:spcPct val="90000"/>
              </a:lnSpc>
              <a:spcBef>
                <a:spcPts val="1000"/>
              </a:spcBef>
              <a:spcAft>
                <a:spcPts val="0"/>
              </a:spcAft>
              <a:buClr>
                <a:schemeClr val="dk1"/>
              </a:buClr>
              <a:buSzPct val="100000"/>
              <a:buChar char="•"/>
            </a:pPr>
            <a:r>
              <a:rPr lang="en-IN" dirty="0"/>
              <a:t>{A},</a:t>
            </a:r>
            <a:endParaRPr dirty="0"/>
          </a:p>
          <a:p>
            <a:pPr marL="228600" lvl="0" indent="-228600" algn="l" rtl="0">
              <a:lnSpc>
                <a:spcPct val="90000"/>
              </a:lnSpc>
              <a:spcBef>
                <a:spcPts val="1000"/>
              </a:spcBef>
              <a:spcAft>
                <a:spcPts val="0"/>
              </a:spcAft>
              <a:buClr>
                <a:schemeClr val="dk1"/>
              </a:buClr>
              <a:buSzPct val="100000"/>
              <a:buChar char="•"/>
            </a:pPr>
            <a:r>
              <a:rPr lang="en-IN" dirty="0"/>
              <a:t>{B}</a:t>
            </a:r>
            <a:endParaRPr dirty="0"/>
          </a:p>
          <a:p>
            <a:pPr marL="228600" lvl="0" indent="-228600" algn="l" rtl="0">
              <a:lnSpc>
                <a:spcPct val="90000"/>
              </a:lnSpc>
              <a:spcBef>
                <a:spcPts val="1000"/>
              </a:spcBef>
              <a:spcAft>
                <a:spcPts val="0"/>
              </a:spcAft>
              <a:buClr>
                <a:schemeClr val="dk1"/>
              </a:buClr>
              <a:buSzPct val="100000"/>
              <a:buChar char="•"/>
            </a:pPr>
            <a:r>
              <a:rPr lang="en-IN" dirty="0"/>
              <a:t>{C}</a:t>
            </a:r>
            <a:endParaRPr dirty="0"/>
          </a:p>
          <a:p>
            <a:pPr marL="228600" lvl="0" indent="-228600" algn="l" rtl="0">
              <a:lnSpc>
                <a:spcPct val="90000"/>
              </a:lnSpc>
              <a:spcBef>
                <a:spcPts val="1000"/>
              </a:spcBef>
              <a:spcAft>
                <a:spcPts val="0"/>
              </a:spcAft>
              <a:buClr>
                <a:schemeClr val="dk1"/>
              </a:buClr>
              <a:buSzPct val="100000"/>
              <a:buChar char="•"/>
            </a:pPr>
            <a:r>
              <a:rPr lang="en-IN" dirty="0"/>
              <a:t>{A,B}</a:t>
            </a:r>
            <a:endParaRPr dirty="0"/>
          </a:p>
          <a:p>
            <a:pPr marL="228600" lvl="0" indent="-228600" algn="l" rtl="0">
              <a:lnSpc>
                <a:spcPct val="90000"/>
              </a:lnSpc>
              <a:spcBef>
                <a:spcPts val="1000"/>
              </a:spcBef>
              <a:spcAft>
                <a:spcPts val="0"/>
              </a:spcAft>
              <a:buClr>
                <a:schemeClr val="dk1"/>
              </a:buClr>
              <a:buSzPct val="100000"/>
              <a:buChar char="•"/>
            </a:pPr>
            <a:r>
              <a:rPr lang="en-IN" dirty="0"/>
              <a:t>{A,C}</a:t>
            </a:r>
            <a:endParaRPr dirty="0"/>
          </a:p>
          <a:p>
            <a:pPr marL="228600" lvl="0" indent="-228600" algn="l" rtl="0">
              <a:lnSpc>
                <a:spcPct val="90000"/>
              </a:lnSpc>
              <a:spcBef>
                <a:spcPts val="1000"/>
              </a:spcBef>
              <a:spcAft>
                <a:spcPts val="0"/>
              </a:spcAft>
              <a:buClr>
                <a:schemeClr val="dk1"/>
              </a:buClr>
              <a:buSzPct val="100000"/>
              <a:buChar char="•"/>
            </a:pPr>
            <a:r>
              <a:rPr lang="en-IN" dirty="0"/>
              <a:t>{B,C}</a:t>
            </a:r>
            <a:endParaRPr dirty="0"/>
          </a:p>
        </p:txBody>
      </p:sp>
    </p:spTree>
    <p:extLst>
      <p:ext uri="{BB962C8B-B14F-4D97-AF65-F5344CB8AC3E}">
        <p14:creationId xmlns:p14="http://schemas.microsoft.com/office/powerpoint/2010/main" val="1261193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46">
                                            <p:txEl>
                                              <p:pRg st="0" end="0"/>
                                            </p:txEl>
                                          </p:spTgt>
                                        </p:tgtEl>
                                        <p:attrNameLst>
                                          <p:attrName>style.visibility</p:attrName>
                                        </p:attrNameLst>
                                      </p:cBhvr>
                                      <p:to>
                                        <p:strVal val="visible"/>
                                      </p:to>
                                    </p:set>
                                    <p:anim calcmode="lin" valueType="num">
                                      <p:cBhvr additive="base">
                                        <p:cTn id="7" dur="500" fill="hold"/>
                                        <p:tgtEl>
                                          <p:spTgt spid="24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4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46">
                                            <p:txEl>
                                              <p:pRg st="1" end="1"/>
                                            </p:txEl>
                                          </p:spTgt>
                                        </p:tgtEl>
                                        <p:attrNameLst>
                                          <p:attrName>style.visibility</p:attrName>
                                        </p:attrNameLst>
                                      </p:cBhvr>
                                      <p:to>
                                        <p:strVal val="visible"/>
                                      </p:to>
                                    </p:set>
                                    <p:anim calcmode="lin" valueType="num">
                                      <p:cBhvr additive="base">
                                        <p:cTn id="13" dur="500" fill="hold"/>
                                        <p:tgtEl>
                                          <p:spTgt spid="24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4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46">
                                            <p:txEl>
                                              <p:pRg st="2" end="2"/>
                                            </p:txEl>
                                          </p:spTgt>
                                        </p:tgtEl>
                                        <p:attrNameLst>
                                          <p:attrName>style.visibility</p:attrName>
                                        </p:attrNameLst>
                                      </p:cBhvr>
                                      <p:to>
                                        <p:strVal val="visible"/>
                                      </p:to>
                                    </p:set>
                                    <p:anim calcmode="lin" valueType="num">
                                      <p:cBhvr additive="base">
                                        <p:cTn id="19" dur="500" fill="hold"/>
                                        <p:tgtEl>
                                          <p:spTgt spid="24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4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46">
                                            <p:txEl>
                                              <p:pRg st="3" end="3"/>
                                            </p:txEl>
                                          </p:spTgt>
                                        </p:tgtEl>
                                        <p:attrNameLst>
                                          <p:attrName>style.visibility</p:attrName>
                                        </p:attrNameLst>
                                      </p:cBhvr>
                                      <p:to>
                                        <p:strVal val="visible"/>
                                      </p:to>
                                    </p:set>
                                    <p:anim calcmode="lin" valueType="num">
                                      <p:cBhvr additive="base">
                                        <p:cTn id="25" dur="500" fill="hold"/>
                                        <p:tgtEl>
                                          <p:spTgt spid="246">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4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246">
                                            <p:txEl>
                                              <p:pRg st="4" end="4"/>
                                            </p:txEl>
                                          </p:spTgt>
                                        </p:tgtEl>
                                        <p:attrNameLst>
                                          <p:attrName>style.visibility</p:attrName>
                                        </p:attrNameLst>
                                      </p:cBhvr>
                                      <p:to>
                                        <p:strVal val="visible"/>
                                      </p:to>
                                    </p:set>
                                    <p:anim calcmode="lin" valueType="num">
                                      <p:cBhvr additive="base">
                                        <p:cTn id="31" dur="500" fill="hold"/>
                                        <p:tgtEl>
                                          <p:spTgt spid="24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4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246">
                                            <p:txEl>
                                              <p:pRg st="5" end="5"/>
                                            </p:txEl>
                                          </p:spTgt>
                                        </p:tgtEl>
                                        <p:attrNameLst>
                                          <p:attrName>style.visibility</p:attrName>
                                        </p:attrNameLst>
                                      </p:cBhvr>
                                      <p:to>
                                        <p:strVal val="visible"/>
                                      </p:to>
                                    </p:set>
                                    <p:anim calcmode="lin" valueType="num">
                                      <p:cBhvr additive="base">
                                        <p:cTn id="37" dur="500" fill="hold"/>
                                        <p:tgtEl>
                                          <p:spTgt spid="246">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46">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246">
                                            <p:txEl>
                                              <p:pRg st="6" end="6"/>
                                            </p:txEl>
                                          </p:spTgt>
                                        </p:tgtEl>
                                        <p:attrNameLst>
                                          <p:attrName>style.visibility</p:attrName>
                                        </p:attrNameLst>
                                      </p:cBhvr>
                                      <p:to>
                                        <p:strVal val="visible"/>
                                      </p:to>
                                    </p:set>
                                    <p:anim calcmode="lin" valueType="num">
                                      <p:cBhvr additive="base">
                                        <p:cTn id="43" dur="500" fill="hold"/>
                                        <p:tgtEl>
                                          <p:spTgt spid="246">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246">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246">
                                            <p:txEl>
                                              <p:pRg st="7" end="7"/>
                                            </p:txEl>
                                          </p:spTgt>
                                        </p:tgtEl>
                                        <p:attrNameLst>
                                          <p:attrName>style.visibility</p:attrName>
                                        </p:attrNameLst>
                                      </p:cBhvr>
                                      <p:to>
                                        <p:strVal val="visible"/>
                                      </p:to>
                                    </p:set>
                                    <p:anim calcmode="lin" valueType="num">
                                      <p:cBhvr additive="base">
                                        <p:cTn id="49" dur="500" fill="hold"/>
                                        <p:tgtEl>
                                          <p:spTgt spid="246">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246">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246">
                                            <p:txEl>
                                              <p:pRg st="8" end="8"/>
                                            </p:txEl>
                                          </p:spTgt>
                                        </p:tgtEl>
                                        <p:attrNameLst>
                                          <p:attrName>style.visibility</p:attrName>
                                        </p:attrNameLst>
                                      </p:cBhvr>
                                      <p:to>
                                        <p:strVal val="visible"/>
                                      </p:to>
                                    </p:set>
                                    <p:anim calcmode="lin" valueType="num">
                                      <p:cBhvr additive="base">
                                        <p:cTn id="55" dur="500" fill="hold"/>
                                        <p:tgtEl>
                                          <p:spTgt spid="246">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246">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246">
                                            <p:txEl>
                                              <p:pRg st="9" end="9"/>
                                            </p:txEl>
                                          </p:spTgt>
                                        </p:tgtEl>
                                        <p:attrNameLst>
                                          <p:attrName>style.visibility</p:attrName>
                                        </p:attrNameLst>
                                      </p:cBhvr>
                                      <p:to>
                                        <p:strVal val="visible"/>
                                      </p:to>
                                    </p:set>
                                    <p:anim calcmode="lin" valueType="num">
                                      <p:cBhvr additive="base">
                                        <p:cTn id="61" dur="500" fill="hold"/>
                                        <p:tgtEl>
                                          <p:spTgt spid="246">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246">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246">
                                            <p:txEl>
                                              <p:pRg st="10" end="10"/>
                                            </p:txEl>
                                          </p:spTgt>
                                        </p:tgtEl>
                                        <p:attrNameLst>
                                          <p:attrName>style.visibility</p:attrName>
                                        </p:attrNameLst>
                                      </p:cBhvr>
                                      <p:to>
                                        <p:strVal val="visible"/>
                                      </p:to>
                                    </p:set>
                                    <p:anim calcmode="lin" valueType="num">
                                      <p:cBhvr additive="base">
                                        <p:cTn id="67" dur="500" fill="hold"/>
                                        <p:tgtEl>
                                          <p:spTgt spid="246">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246">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246">
                                            <p:txEl>
                                              <p:pRg st="11" end="11"/>
                                            </p:txEl>
                                          </p:spTgt>
                                        </p:tgtEl>
                                        <p:attrNameLst>
                                          <p:attrName>style.visibility</p:attrName>
                                        </p:attrNameLst>
                                      </p:cBhvr>
                                      <p:to>
                                        <p:strVal val="visible"/>
                                      </p:to>
                                    </p:set>
                                    <p:anim calcmode="lin" valueType="num">
                                      <p:cBhvr additive="base">
                                        <p:cTn id="73" dur="500" fill="hold"/>
                                        <p:tgtEl>
                                          <p:spTgt spid="246">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246">
                                            <p:txEl>
                                              <p:pRg st="11" end="11"/>
                                            </p:txEl>
                                          </p:spTgt>
                                        </p:tgtEl>
                                        <p:attrNameLst>
                                          <p:attrName>ppt_y</p:attrName>
                                        </p:attrNameLst>
                                      </p:cBhvr>
                                      <p:tavLst>
                                        <p:tav tm="0">
                                          <p:val>
                                            <p:strVal val="1+#ppt_h/2"/>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2" presetClass="entr" presetSubtype="4" fill="hold" grpId="0" nodeType="clickEffect">
                                  <p:stCondLst>
                                    <p:cond delay="0"/>
                                  </p:stCondLst>
                                  <p:childTnLst>
                                    <p:set>
                                      <p:cBhvr>
                                        <p:cTn id="78" dur="1" fill="hold">
                                          <p:stCondLst>
                                            <p:cond delay="0"/>
                                          </p:stCondLst>
                                        </p:cTn>
                                        <p:tgtEl>
                                          <p:spTgt spid="246">
                                            <p:txEl>
                                              <p:pRg st="12" end="12"/>
                                            </p:txEl>
                                          </p:spTgt>
                                        </p:tgtEl>
                                        <p:attrNameLst>
                                          <p:attrName>style.visibility</p:attrName>
                                        </p:attrNameLst>
                                      </p:cBhvr>
                                      <p:to>
                                        <p:strVal val="visible"/>
                                      </p:to>
                                    </p:set>
                                    <p:anim calcmode="lin" valueType="num">
                                      <p:cBhvr additive="base">
                                        <p:cTn id="79" dur="500" fill="hold"/>
                                        <p:tgtEl>
                                          <p:spTgt spid="246">
                                            <p:txEl>
                                              <p:pRg st="12" end="12"/>
                                            </p:txEl>
                                          </p:spTgt>
                                        </p:tgtEl>
                                        <p:attrNameLst>
                                          <p:attrName>ppt_x</p:attrName>
                                        </p:attrNameLst>
                                      </p:cBhvr>
                                      <p:tavLst>
                                        <p:tav tm="0">
                                          <p:val>
                                            <p:strVal val="#ppt_x"/>
                                          </p:val>
                                        </p:tav>
                                        <p:tav tm="100000">
                                          <p:val>
                                            <p:strVal val="#ppt_x"/>
                                          </p:val>
                                        </p:tav>
                                      </p:tavLst>
                                    </p:anim>
                                    <p:anim calcmode="lin" valueType="num">
                                      <p:cBhvr additive="base">
                                        <p:cTn id="80" dur="500" fill="hold"/>
                                        <p:tgtEl>
                                          <p:spTgt spid="246">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6"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3"/>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33</a:t>
            </a:fld>
            <a:endParaRPr sz="1400" b="0" i="0" u="none" strike="noStrike" cap="none">
              <a:solidFill>
                <a:srgbClr val="000000"/>
              </a:solidFill>
              <a:latin typeface="Arial"/>
              <a:ea typeface="Arial"/>
              <a:cs typeface="Arial"/>
              <a:sym typeface="Arial"/>
            </a:endParaRPr>
          </a:p>
        </p:txBody>
      </p:sp>
      <p:sp>
        <p:nvSpPr>
          <p:cNvPr id="236" name="Google Shape;236;p33"/>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Functional Dependencies (2)</a:t>
            </a:r>
            <a:endParaRPr/>
          </a:p>
        </p:txBody>
      </p:sp>
      <p:sp>
        <p:nvSpPr>
          <p:cNvPr id="237" name="Google Shape;237;p33"/>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X -&gt; Y holds if whenever two tuples have the same value for X, they </a:t>
            </a:r>
            <a:r>
              <a:rPr lang="en-US" sz="2400" b="0" i="1" u="none">
                <a:solidFill>
                  <a:schemeClr val="dk2"/>
                </a:solidFill>
                <a:latin typeface="Arial"/>
                <a:ea typeface="Arial"/>
                <a:cs typeface="Arial"/>
                <a:sym typeface="Arial"/>
              </a:rPr>
              <a:t>must have </a:t>
            </a:r>
            <a:r>
              <a:rPr lang="en-US" sz="2400" b="0" i="0" u="none">
                <a:solidFill>
                  <a:schemeClr val="dk2"/>
                </a:solidFill>
                <a:latin typeface="Arial"/>
                <a:ea typeface="Arial"/>
                <a:cs typeface="Arial"/>
                <a:sym typeface="Arial"/>
              </a:rPr>
              <a:t>the same value for Y</a:t>
            </a:r>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a:solidFill>
                  <a:srgbClr val="800000"/>
                </a:solidFill>
                <a:latin typeface="Arial"/>
                <a:ea typeface="Arial"/>
                <a:cs typeface="Arial"/>
                <a:sym typeface="Arial"/>
              </a:rPr>
              <a:t>For any two tuples t1 and t2 in any relation instance r(R): If  t1[X]=t2[X], </a:t>
            </a:r>
            <a:r>
              <a:rPr lang="en-US" sz="2200" b="0" i="1" u="none">
                <a:solidFill>
                  <a:srgbClr val="800000"/>
                </a:solidFill>
                <a:latin typeface="Arial"/>
                <a:ea typeface="Arial"/>
                <a:cs typeface="Arial"/>
                <a:sym typeface="Arial"/>
              </a:rPr>
              <a:t>then</a:t>
            </a:r>
            <a:r>
              <a:rPr lang="en-US" sz="2200" b="0" i="0" u="none">
                <a:solidFill>
                  <a:srgbClr val="800000"/>
                </a:solidFill>
                <a:latin typeface="Arial"/>
                <a:ea typeface="Arial"/>
                <a:cs typeface="Arial"/>
                <a:sym typeface="Arial"/>
              </a:rPr>
              <a:t> t1[Y]=t2[Y]</a:t>
            </a:r>
            <a:endParaRPr/>
          </a:p>
          <a:p>
            <a:pPr marL="342900" lvl="0" indent="-342900" algn="l" rtl="0">
              <a:lnSpc>
                <a:spcPct val="100000"/>
              </a:lnSpc>
              <a:spcBef>
                <a:spcPts val="48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X -&gt; Y in R specifies a </a:t>
            </a:r>
            <a:r>
              <a:rPr lang="en-US" sz="2400" b="0" i="1" u="none">
                <a:solidFill>
                  <a:schemeClr val="dk2"/>
                </a:solidFill>
                <a:latin typeface="Arial"/>
                <a:ea typeface="Arial"/>
                <a:cs typeface="Arial"/>
                <a:sym typeface="Arial"/>
              </a:rPr>
              <a:t>constraint</a:t>
            </a:r>
            <a:r>
              <a:rPr lang="en-US" sz="2400" b="0" i="0" u="none">
                <a:solidFill>
                  <a:schemeClr val="dk2"/>
                </a:solidFill>
                <a:latin typeface="Arial"/>
                <a:ea typeface="Arial"/>
                <a:cs typeface="Arial"/>
                <a:sym typeface="Arial"/>
              </a:rPr>
              <a:t> on all relation instances r(R)</a:t>
            </a:r>
            <a:endParaRPr/>
          </a:p>
          <a:p>
            <a:pPr marL="342900" lvl="0" indent="-342900" algn="l" rtl="0">
              <a:lnSpc>
                <a:spcPct val="100000"/>
              </a:lnSpc>
              <a:spcBef>
                <a:spcPts val="48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Written as X -&gt; Y; can be displayed graphically on a relation schema as in Figures.  ( denoted by the arrow:  ).</a:t>
            </a:r>
            <a:endParaRPr/>
          </a:p>
          <a:p>
            <a:pPr marL="342900" lvl="0" indent="-342900" algn="l" rtl="0">
              <a:lnSpc>
                <a:spcPct val="100000"/>
              </a:lnSpc>
              <a:spcBef>
                <a:spcPts val="480"/>
              </a:spcBef>
              <a:spcAft>
                <a:spcPts val="0"/>
              </a:spcAft>
              <a:buClr>
                <a:srgbClr val="990033"/>
              </a:buClr>
              <a:buSzPts val="1440"/>
              <a:buFont typeface="Noto Sans Symbols"/>
              <a:buChar char="■"/>
            </a:pPr>
            <a:r>
              <a:rPr lang="en-US" sz="2400" b="0" i="0" u="none">
                <a:solidFill>
                  <a:schemeClr val="dk2"/>
                </a:solidFill>
                <a:latin typeface="Arial"/>
                <a:ea typeface="Arial"/>
                <a:cs typeface="Arial"/>
                <a:sym typeface="Arial"/>
              </a:rPr>
              <a:t>FDs are derived from the real-world constraints on the attributes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34"/>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34</a:t>
            </a:fld>
            <a:endParaRPr sz="1400" b="0" i="0" u="none" strike="noStrike" cap="none">
              <a:solidFill>
                <a:srgbClr val="000000"/>
              </a:solidFill>
              <a:latin typeface="Arial"/>
              <a:ea typeface="Arial"/>
              <a:cs typeface="Arial"/>
              <a:sym typeface="Arial"/>
            </a:endParaRPr>
          </a:p>
        </p:txBody>
      </p:sp>
      <p:sp>
        <p:nvSpPr>
          <p:cNvPr id="244" name="Google Shape;244;p34"/>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Examples of FD constraints (1) </a:t>
            </a:r>
            <a:endParaRPr/>
          </a:p>
        </p:txBody>
      </p:sp>
      <p:sp>
        <p:nvSpPr>
          <p:cNvPr id="245" name="Google Shape;245;p34"/>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90000"/>
              </a:lnSpc>
              <a:spcBef>
                <a:spcPts val="0"/>
              </a:spcBef>
              <a:spcAft>
                <a:spcPts val="0"/>
              </a:spcAft>
              <a:buClr>
                <a:srgbClr val="990033"/>
              </a:buClr>
              <a:buSzPts val="1680"/>
              <a:buFont typeface="Noto Sans Symbols"/>
              <a:buChar char="■"/>
            </a:pPr>
            <a:r>
              <a:rPr lang="en-US" sz="2800" b="0" i="0" u="none">
                <a:solidFill>
                  <a:schemeClr val="dk2"/>
                </a:solidFill>
                <a:latin typeface="Arial"/>
                <a:ea typeface="Arial"/>
                <a:cs typeface="Arial"/>
                <a:sym typeface="Arial"/>
              </a:rPr>
              <a:t>Social security number determines employee name</a:t>
            </a:r>
            <a:endParaRPr/>
          </a:p>
          <a:p>
            <a:pPr marL="742950" lvl="1" indent="-285750" algn="l" rtl="0">
              <a:lnSpc>
                <a:spcPct val="90000"/>
              </a:lnSpc>
              <a:spcBef>
                <a:spcPts val="520"/>
              </a:spcBef>
              <a:spcAft>
                <a:spcPts val="0"/>
              </a:spcAft>
              <a:buClr>
                <a:schemeClr val="dk2"/>
              </a:buClr>
              <a:buSzPts val="1430"/>
              <a:buFont typeface="Noto Sans Symbols"/>
              <a:buChar char="■"/>
            </a:pPr>
            <a:r>
              <a:rPr lang="en-US" sz="2600" b="0" i="0" u="none">
                <a:solidFill>
                  <a:srgbClr val="800000"/>
                </a:solidFill>
                <a:latin typeface="Arial"/>
                <a:ea typeface="Arial"/>
                <a:cs typeface="Arial"/>
                <a:sym typeface="Arial"/>
              </a:rPr>
              <a:t>SSN -&gt; ENAME</a:t>
            </a:r>
            <a:endParaRPr/>
          </a:p>
          <a:p>
            <a:pPr marL="342900" lvl="0" indent="-342900" algn="l" rtl="0">
              <a:lnSpc>
                <a:spcPct val="90000"/>
              </a:lnSpc>
              <a:spcBef>
                <a:spcPts val="560"/>
              </a:spcBef>
              <a:spcAft>
                <a:spcPts val="0"/>
              </a:spcAft>
              <a:buClr>
                <a:srgbClr val="990033"/>
              </a:buClr>
              <a:buSzPts val="1680"/>
              <a:buFont typeface="Noto Sans Symbols"/>
              <a:buChar char="■"/>
            </a:pPr>
            <a:r>
              <a:rPr lang="en-US" sz="2800" b="0" i="0" u="none">
                <a:solidFill>
                  <a:schemeClr val="dk2"/>
                </a:solidFill>
                <a:latin typeface="Arial"/>
                <a:ea typeface="Arial"/>
                <a:cs typeface="Arial"/>
                <a:sym typeface="Arial"/>
              </a:rPr>
              <a:t>Project number determines project name and location</a:t>
            </a:r>
            <a:endParaRPr/>
          </a:p>
          <a:p>
            <a:pPr marL="742950" lvl="1" indent="-285750" algn="l" rtl="0">
              <a:lnSpc>
                <a:spcPct val="90000"/>
              </a:lnSpc>
              <a:spcBef>
                <a:spcPts val="520"/>
              </a:spcBef>
              <a:spcAft>
                <a:spcPts val="0"/>
              </a:spcAft>
              <a:buClr>
                <a:schemeClr val="dk2"/>
              </a:buClr>
              <a:buSzPts val="1430"/>
              <a:buFont typeface="Noto Sans Symbols"/>
              <a:buChar char="■"/>
            </a:pPr>
            <a:r>
              <a:rPr lang="en-US" sz="2600" b="0" i="0" u="none">
                <a:solidFill>
                  <a:srgbClr val="800000"/>
                </a:solidFill>
                <a:latin typeface="Arial"/>
                <a:ea typeface="Arial"/>
                <a:cs typeface="Arial"/>
                <a:sym typeface="Arial"/>
              </a:rPr>
              <a:t>PNUMBER -&gt; {PNAME, PLOCATION}</a:t>
            </a:r>
            <a:endParaRPr/>
          </a:p>
          <a:p>
            <a:pPr marL="342900" lvl="0" indent="-342900" algn="l" rtl="0">
              <a:lnSpc>
                <a:spcPct val="90000"/>
              </a:lnSpc>
              <a:spcBef>
                <a:spcPts val="560"/>
              </a:spcBef>
              <a:spcAft>
                <a:spcPts val="0"/>
              </a:spcAft>
              <a:buClr>
                <a:srgbClr val="990033"/>
              </a:buClr>
              <a:buSzPts val="1680"/>
              <a:buFont typeface="Noto Sans Symbols"/>
              <a:buChar char="■"/>
            </a:pPr>
            <a:r>
              <a:rPr lang="en-US" sz="2800" b="0" i="0" u="none">
                <a:solidFill>
                  <a:schemeClr val="dk2"/>
                </a:solidFill>
                <a:latin typeface="Arial"/>
                <a:ea typeface="Arial"/>
                <a:cs typeface="Arial"/>
                <a:sym typeface="Arial"/>
              </a:rPr>
              <a:t>Employee ssn and project number determines the hours per week that the employee works on the project</a:t>
            </a:r>
            <a:endParaRPr/>
          </a:p>
          <a:p>
            <a:pPr marL="742950" lvl="1" indent="-285750" algn="l" rtl="0">
              <a:lnSpc>
                <a:spcPct val="90000"/>
              </a:lnSpc>
              <a:spcBef>
                <a:spcPts val="520"/>
              </a:spcBef>
              <a:spcAft>
                <a:spcPts val="0"/>
              </a:spcAft>
              <a:buClr>
                <a:schemeClr val="dk2"/>
              </a:buClr>
              <a:buSzPts val="1430"/>
              <a:buFont typeface="Noto Sans Symbols"/>
              <a:buChar char="■"/>
            </a:pPr>
            <a:r>
              <a:rPr lang="en-US" sz="2600" b="0" i="0" u="none">
                <a:solidFill>
                  <a:srgbClr val="800000"/>
                </a:solidFill>
                <a:latin typeface="Arial"/>
                <a:ea typeface="Arial"/>
                <a:cs typeface="Arial"/>
                <a:sym typeface="Arial"/>
              </a:rPr>
              <a:t>{SSN, PNUMBER} -&gt; HOURS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35"/>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35</a:t>
            </a:fld>
            <a:endParaRPr sz="1400" b="0" i="0" u="none" strike="noStrike" cap="none">
              <a:solidFill>
                <a:srgbClr val="000000"/>
              </a:solidFill>
              <a:latin typeface="Arial"/>
              <a:ea typeface="Arial"/>
              <a:cs typeface="Arial"/>
              <a:sym typeface="Arial"/>
            </a:endParaRPr>
          </a:p>
        </p:txBody>
      </p:sp>
      <p:sp>
        <p:nvSpPr>
          <p:cNvPr id="252" name="Google Shape;252;p35"/>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Examples of FD constraints (2)</a:t>
            </a:r>
            <a:endParaRPr/>
          </a:p>
        </p:txBody>
      </p:sp>
      <p:sp>
        <p:nvSpPr>
          <p:cNvPr id="253" name="Google Shape;253;p35"/>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680"/>
              <a:buFont typeface="Noto Sans Symbols"/>
              <a:buChar char="■"/>
            </a:pPr>
            <a:r>
              <a:rPr lang="en-US" sz="2800" b="0" i="0" u="none">
                <a:solidFill>
                  <a:schemeClr val="dk2"/>
                </a:solidFill>
                <a:latin typeface="Arial"/>
                <a:ea typeface="Arial"/>
                <a:cs typeface="Arial"/>
                <a:sym typeface="Arial"/>
              </a:rPr>
              <a:t>An FD is a property of the attributes in the schema R</a:t>
            </a:r>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a:solidFill>
                  <a:schemeClr val="dk2"/>
                </a:solidFill>
                <a:latin typeface="Arial"/>
                <a:ea typeface="Arial"/>
                <a:cs typeface="Arial"/>
                <a:sym typeface="Arial"/>
              </a:rPr>
              <a:t>The constraint must hold on </a:t>
            </a:r>
            <a:r>
              <a:rPr lang="en-US" sz="2800" b="0" i="1" u="none">
                <a:solidFill>
                  <a:schemeClr val="dk2"/>
                </a:solidFill>
                <a:latin typeface="Arial"/>
                <a:ea typeface="Arial"/>
                <a:cs typeface="Arial"/>
                <a:sym typeface="Arial"/>
              </a:rPr>
              <a:t>every</a:t>
            </a:r>
            <a:r>
              <a:rPr lang="en-US" sz="2800" b="0" i="0" u="none">
                <a:solidFill>
                  <a:schemeClr val="dk2"/>
                </a:solidFill>
                <a:latin typeface="Arial"/>
                <a:ea typeface="Arial"/>
                <a:cs typeface="Arial"/>
                <a:sym typeface="Arial"/>
              </a:rPr>
              <a:t> relation instance r(R)</a:t>
            </a:r>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a:solidFill>
                  <a:schemeClr val="dk2"/>
                </a:solidFill>
                <a:latin typeface="Arial"/>
                <a:ea typeface="Arial"/>
                <a:cs typeface="Arial"/>
                <a:sym typeface="Arial"/>
              </a:rPr>
              <a:t>If K is a key of R, then K functionally determines all attributes in R </a:t>
            </a:r>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a:solidFill>
                  <a:srgbClr val="800000"/>
                </a:solidFill>
                <a:latin typeface="Arial"/>
                <a:ea typeface="Arial"/>
                <a:cs typeface="Arial"/>
                <a:sym typeface="Arial"/>
              </a:rPr>
              <a:t>(since we never have two distinct tuples with t1[K]=t2[K])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25"/>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333333"/>
              </a:buClr>
              <a:buSzPts val="4400"/>
              <a:buFont typeface="Inter"/>
              <a:buNone/>
            </a:pPr>
            <a:r>
              <a:rPr lang="en-IN">
                <a:solidFill>
                  <a:srgbClr val="333333"/>
                </a:solidFill>
                <a:latin typeface="Inter"/>
                <a:ea typeface="Inter"/>
                <a:cs typeface="Inter"/>
                <a:sym typeface="Inter"/>
              </a:rPr>
              <a:t>functional dependency</a:t>
            </a:r>
            <a:endParaRPr/>
          </a:p>
        </p:txBody>
      </p:sp>
      <p:sp>
        <p:nvSpPr>
          <p:cNvPr id="252" name="Google Shape;252;p25"/>
          <p:cNvSpPr txBox="1">
            <a:spLocks noGrp="1"/>
          </p:cNvSpPr>
          <p:nvPr>
            <p:ph type="body" idx="1"/>
          </p:nvPr>
        </p:nvSpPr>
        <p:spPr>
          <a:xfrm>
            <a:off x="628650" y="1825624"/>
            <a:ext cx="78867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rgbClr val="333333"/>
              </a:buClr>
              <a:buSzPts val="2800"/>
              <a:buChar char="•"/>
            </a:pPr>
            <a:r>
              <a:rPr lang="en-IN" b="0" i="0" dirty="0">
                <a:solidFill>
                  <a:srgbClr val="333333"/>
                </a:solidFill>
                <a:highlight>
                  <a:srgbClr val="FFFF00"/>
                </a:highlight>
                <a:latin typeface="Inter"/>
                <a:ea typeface="Inter"/>
                <a:cs typeface="Inter"/>
                <a:sym typeface="Inter"/>
              </a:rPr>
              <a:t>The functional dependency is a relationship that exists between two attributes, </a:t>
            </a:r>
            <a:r>
              <a:rPr lang="en-IN" b="0" i="0" dirty="0">
                <a:solidFill>
                  <a:srgbClr val="273239"/>
                </a:solidFill>
                <a:highlight>
                  <a:srgbClr val="FFFF00"/>
                </a:highlight>
                <a:latin typeface="Arial"/>
                <a:ea typeface="Arial"/>
                <a:cs typeface="Arial"/>
                <a:sym typeface="Arial"/>
              </a:rPr>
              <a:t>where one set can accurately determine the value of other sets.</a:t>
            </a:r>
            <a:endParaRPr dirty="0">
              <a:highlight>
                <a:srgbClr val="FFFF00"/>
              </a:highlight>
            </a:endParaRPr>
          </a:p>
          <a:p>
            <a:pPr marL="228600" lvl="0" indent="-228600" algn="l" rtl="0">
              <a:lnSpc>
                <a:spcPct val="90000"/>
              </a:lnSpc>
              <a:spcBef>
                <a:spcPts val="1000"/>
              </a:spcBef>
              <a:spcAft>
                <a:spcPts val="0"/>
              </a:spcAft>
              <a:buClr>
                <a:srgbClr val="273239"/>
              </a:buClr>
              <a:buSzPts val="2800"/>
              <a:buChar char="•"/>
            </a:pPr>
            <a:r>
              <a:rPr lang="en-IN" b="0" i="0" dirty="0">
                <a:solidFill>
                  <a:srgbClr val="273239"/>
                </a:solidFill>
                <a:highlight>
                  <a:srgbClr val="FFFF00"/>
                </a:highlight>
                <a:latin typeface="Arial"/>
                <a:ea typeface="Arial"/>
                <a:cs typeface="Arial"/>
                <a:sym typeface="Arial"/>
              </a:rPr>
              <a:t>It is denoted as </a:t>
            </a:r>
            <a:r>
              <a:rPr lang="en-IN" b="1" i="0" dirty="0">
                <a:solidFill>
                  <a:srgbClr val="273239"/>
                </a:solidFill>
                <a:highlight>
                  <a:srgbClr val="FFFF00"/>
                </a:highlight>
                <a:latin typeface="Arial"/>
                <a:ea typeface="Arial"/>
                <a:cs typeface="Arial"/>
                <a:sym typeface="Arial"/>
              </a:rPr>
              <a:t>X → Y</a:t>
            </a:r>
            <a:r>
              <a:rPr lang="en-IN" b="0" i="0" dirty="0">
                <a:solidFill>
                  <a:srgbClr val="273239"/>
                </a:solidFill>
                <a:highlight>
                  <a:srgbClr val="FFFF00"/>
                </a:highlight>
                <a:latin typeface="Arial"/>
                <a:ea typeface="Arial"/>
                <a:cs typeface="Arial"/>
                <a:sym typeface="Arial"/>
              </a:rPr>
              <a:t>, where X is a set of attributes that is capable of determining the value of Y.</a:t>
            </a:r>
            <a:endParaRPr dirty="0">
              <a:solidFill>
                <a:srgbClr val="273239"/>
              </a:solidFill>
              <a:highlight>
                <a:srgbClr val="FFFF00"/>
              </a:highlight>
              <a:latin typeface="Arial"/>
              <a:ea typeface="Arial"/>
              <a:cs typeface="Arial"/>
              <a:sym typeface="Arial"/>
            </a:endParaRPr>
          </a:p>
          <a:p>
            <a:pPr marL="228600" lvl="0" indent="-228600" algn="l" rtl="0">
              <a:lnSpc>
                <a:spcPct val="90000"/>
              </a:lnSpc>
              <a:spcBef>
                <a:spcPts val="1000"/>
              </a:spcBef>
              <a:spcAft>
                <a:spcPts val="0"/>
              </a:spcAft>
              <a:buClr>
                <a:srgbClr val="273239"/>
              </a:buClr>
              <a:buSzPts val="2800"/>
              <a:buChar char="•"/>
            </a:pPr>
            <a:r>
              <a:rPr lang="en-IN" b="1" i="0" dirty="0">
                <a:solidFill>
                  <a:srgbClr val="273239"/>
                </a:solidFill>
                <a:highlight>
                  <a:srgbClr val="FFFF00"/>
                </a:highlight>
                <a:latin typeface="Arial"/>
                <a:ea typeface="Arial"/>
                <a:cs typeface="Arial"/>
                <a:sym typeface="Arial"/>
              </a:rPr>
              <a:t>X </a:t>
            </a:r>
            <a:r>
              <a:rPr lang="en-IN" b="0" i="0" dirty="0">
                <a:solidFill>
                  <a:srgbClr val="273239"/>
                </a:solidFill>
                <a:highlight>
                  <a:srgbClr val="FFFF00"/>
                </a:highlight>
                <a:latin typeface="Arial"/>
                <a:ea typeface="Arial"/>
                <a:cs typeface="Arial"/>
                <a:sym typeface="Arial"/>
              </a:rPr>
              <a:t>is called </a:t>
            </a:r>
            <a:r>
              <a:rPr lang="en-IN" b="1" i="0" dirty="0">
                <a:solidFill>
                  <a:srgbClr val="273239"/>
                </a:solidFill>
                <a:highlight>
                  <a:srgbClr val="FFFF00"/>
                </a:highlight>
                <a:latin typeface="Arial"/>
                <a:ea typeface="Arial"/>
                <a:cs typeface="Arial"/>
                <a:sym typeface="Arial"/>
              </a:rPr>
              <a:t>Determinant</a:t>
            </a:r>
            <a:r>
              <a:rPr lang="en-IN" b="0" i="0" dirty="0">
                <a:solidFill>
                  <a:srgbClr val="273239"/>
                </a:solidFill>
                <a:highlight>
                  <a:srgbClr val="FFFF00"/>
                </a:highlight>
                <a:latin typeface="Arial"/>
                <a:ea typeface="Arial"/>
                <a:cs typeface="Arial"/>
                <a:sym typeface="Arial"/>
              </a:rPr>
              <a:t>, while on the right side, </a:t>
            </a:r>
            <a:r>
              <a:rPr lang="en-IN" b="1" i="0" dirty="0">
                <a:solidFill>
                  <a:srgbClr val="273239"/>
                </a:solidFill>
                <a:highlight>
                  <a:srgbClr val="FFFF00"/>
                </a:highlight>
                <a:latin typeface="Arial"/>
                <a:ea typeface="Arial"/>
                <a:cs typeface="Arial"/>
                <a:sym typeface="Arial"/>
              </a:rPr>
              <a:t>Y </a:t>
            </a:r>
            <a:r>
              <a:rPr lang="en-IN" b="0" i="0" dirty="0">
                <a:solidFill>
                  <a:srgbClr val="273239"/>
                </a:solidFill>
                <a:highlight>
                  <a:srgbClr val="FFFF00"/>
                </a:highlight>
                <a:latin typeface="Arial"/>
                <a:ea typeface="Arial"/>
                <a:cs typeface="Arial"/>
                <a:sym typeface="Arial"/>
              </a:rPr>
              <a:t>is called the </a:t>
            </a:r>
            <a:r>
              <a:rPr lang="en-IN" b="1" i="0" dirty="0">
                <a:solidFill>
                  <a:srgbClr val="273239"/>
                </a:solidFill>
                <a:highlight>
                  <a:srgbClr val="FFFF00"/>
                </a:highlight>
                <a:latin typeface="Arial"/>
                <a:ea typeface="Arial"/>
                <a:cs typeface="Arial"/>
                <a:sym typeface="Arial"/>
              </a:rPr>
              <a:t>Dependent</a:t>
            </a:r>
            <a:r>
              <a:rPr lang="en-IN" b="0" i="0" dirty="0">
                <a:solidFill>
                  <a:srgbClr val="273239"/>
                </a:solidFill>
                <a:highlight>
                  <a:srgbClr val="FFFF00"/>
                </a:highlight>
                <a:latin typeface="Arial"/>
                <a:ea typeface="Arial"/>
                <a:cs typeface="Arial"/>
                <a:sym typeface="Arial"/>
              </a:rPr>
              <a:t>.</a:t>
            </a:r>
            <a:endParaRPr dirty="0">
              <a:highlight>
                <a:srgbClr val="FFFF00"/>
              </a:highlight>
            </a:endParaRPr>
          </a:p>
        </p:txBody>
      </p:sp>
      <p:pic>
        <p:nvPicPr>
          <p:cNvPr id="253" name="Google Shape;253;p25"/>
          <p:cNvPicPr preferRelativeResize="0"/>
          <p:nvPr/>
        </p:nvPicPr>
        <p:blipFill rotWithShape="1">
          <a:blip r:embed="rId3">
            <a:alphaModFix/>
          </a:blip>
          <a:srcRect/>
          <a:stretch/>
        </p:blipFill>
        <p:spPr>
          <a:xfrm>
            <a:off x="6212910" y="5348614"/>
            <a:ext cx="2263704" cy="1282360"/>
          </a:xfrm>
          <a:prstGeom prst="rect">
            <a:avLst/>
          </a:prstGeom>
          <a:noFill/>
          <a:ln>
            <a:noFill/>
          </a:ln>
        </p:spPr>
      </p:pic>
    </p:spTree>
    <p:extLst>
      <p:ext uri="{BB962C8B-B14F-4D97-AF65-F5344CB8AC3E}">
        <p14:creationId xmlns:p14="http://schemas.microsoft.com/office/powerpoint/2010/main" val="36523380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6"/>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IN"/>
              <a:t>Example </a:t>
            </a:r>
            <a:endParaRPr/>
          </a:p>
        </p:txBody>
      </p:sp>
      <p:sp>
        <p:nvSpPr>
          <p:cNvPr id="259" name="Google Shape;259;p26"/>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fontScale="92500" lnSpcReduction="10000"/>
          </a:bodyPr>
          <a:lstStyle/>
          <a:p>
            <a:pPr marL="228600" lvl="0" indent="-228600" algn="l" rtl="0">
              <a:lnSpc>
                <a:spcPct val="90000"/>
              </a:lnSpc>
              <a:spcBef>
                <a:spcPts val="0"/>
              </a:spcBef>
              <a:spcAft>
                <a:spcPts val="0"/>
              </a:spcAft>
              <a:buClr>
                <a:srgbClr val="333333"/>
              </a:buClr>
              <a:buSzPts val="2800"/>
              <a:buChar char="•"/>
            </a:pPr>
            <a:r>
              <a:rPr lang="en-IN" b="0" i="0">
                <a:solidFill>
                  <a:srgbClr val="333333"/>
                </a:solidFill>
                <a:latin typeface="Inter"/>
                <a:ea typeface="Inter"/>
                <a:cs typeface="Inter"/>
                <a:sym typeface="Inter"/>
              </a:rPr>
              <a:t>Assume we have an employee table with attributes: </a:t>
            </a:r>
            <a:endParaRPr/>
          </a:p>
          <a:p>
            <a:pPr marL="685800" lvl="1" indent="-228600" algn="l" rtl="0">
              <a:lnSpc>
                <a:spcPct val="90000"/>
              </a:lnSpc>
              <a:spcBef>
                <a:spcPts val="500"/>
              </a:spcBef>
              <a:spcAft>
                <a:spcPts val="0"/>
              </a:spcAft>
              <a:buClr>
                <a:srgbClr val="333333"/>
              </a:buClr>
              <a:buSzPts val="2400"/>
              <a:buChar char="•"/>
            </a:pPr>
            <a:r>
              <a:rPr lang="en-IN" b="0" i="0">
                <a:solidFill>
                  <a:srgbClr val="333333"/>
                </a:solidFill>
                <a:latin typeface="Inter"/>
                <a:ea typeface="Inter"/>
                <a:cs typeface="Inter"/>
                <a:sym typeface="Inter"/>
              </a:rPr>
              <a:t>Emp_Id, Emp_Name, Emp_Address. </a:t>
            </a:r>
            <a:endParaRPr/>
          </a:p>
          <a:p>
            <a:pPr marL="228600" lvl="0" indent="-228600" algn="l" rtl="0">
              <a:lnSpc>
                <a:spcPct val="90000"/>
              </a:lnSpc>
              <a:spcBef>
                <a:spcPts val="1000"/>
              </a:spcBef>
              <a:spcAft>
                <a:spcPts val="0"/>
              </a:spcAft>
              <a:buClr>
                <a:srgbClr val="333333"/>
              </a:buClr>
              <a:buSzPts val="2800"/>
              <a:buChar char="•"/>
            </a:pPr>
            <a:r>
              <a:rPr lang="en-IN" b="0" i="0">
                <a:solidFill>
                  <a:srgbClr val="333333"/>
                </a:solidFill>
                <a:latin typeface="Inter"/>
                <a:ea typeface="Inter"/>
                <a:cs typeface="Inter"/>
                <a:sym typeface="Inter"/>
              </a:rPr>
              <a:t>Here Emp_Id attribute can uniquely identify the Emp_Name attribute of employee table because if we know the Emp_Id, we can tell that employee name associated with it.</a:t>
            </a:r>
            <a:endParaRPr/>
          </a:p>
          <a:p>
            <a:pPr marL="228600" lvl="0" indent="-228600" algn="just" rtl="0">
              <a:lnSpc>
                <a:spcPct val="90000"/>
              </a:lnSpc>
              <a:spcBef>
                <a:spcPts val="1000"/>
              </a:spcBef>
              <a:spcAft>
                <a:spcPts val="0"/>
              </a:spcAft>
              <a:buClr>
                <a:srgbClr val="333333"/>
              </a:buClr>
              <a:buSzPts val="2800"/>
              <a:buChar char="•"/>
            </a:pPr>
            <a:r>
              <a:rPr lang="en-IN" b="0" i="0">
                <a:solidFill>
                  <a:srgbClr val="333333"/>
                </a:solidFill>
                <a:latin typeface="Inter"/>
                <a:ea typeface="Inter"/>
                <a:cs typeface="Inter"/>
                <a:sym typeface="Inter"/>
              </a:rPr>
              <a:t>Functional dependency can be written as:</a:t>
            </a:r>
            <a:endParaRPr/>
          </a:p>
          <a:p>
            <a:pPr marL="0" lvl="0" indent="0" algn="just" rtl="0">
              <a:lnSpc>
                <a:spcPct val="90000"/>
              </a:lnSpc>
              <a:spcBef>
                <a:spcPts val="1000"/>
              </a:spcBef>
              <a:spcAft>
                <a:spcPts val="0"/>
              </a:spcAft>
              <a:buClr>
                <a:srgbClr val="000000"/>
              </a:buClr>
              <a:buSzPts val="2800"/>
              <a:buNone/>
            </a:pPr>
            <a:r>
              <a:rPr lang="en-IN" b="0" i="0">
                <a:solidFill>
                  <a:srgbClr val="000000"/>
                </a:solidFill>
                <a:latin typeface="Inter"/>
                <a:ea typeface="Inter"/>
                <a:cs typeface="Inter"/>
                <a:sym typeface="Inter"/>
              </a:rPr>
              <a:t>	Emp_Id → Emp_Name   </a:t>
            </a:r>
            <a:endParaRPr/>
          </a:p>
          <a:p>
            <a:pPr marL="228600" lvl="0" indent="-228600" algn="l" rtl="0">
              <a:lnSpc>
                <a:spcPct val="90000"/>
              </a:lnSpc>
              <a:spcBef>
                <a:spcPts val="1000"/>
              </a:spcBef>
              <a:spcAft>
                <a:spcPts val="0"/>
              </a:spcAft>
              <a:buClr>
                <a:srgbClr val="333333"/>
              </a:buClr>
              <a:buSzPts val="2800"/>
              <a:buChar char="•"/>
            </a:pPr>
            <a:r>
              <a:rPr lang="en-IN" b="0" i="0">
                <a:solidFill>
                  <a:srgbClr val="333333"/>
                </a:solidFill>
                <a:latin typeface="Inter"/>
                <a:ea typeface="Inter"/>
                <a:cs typeface="Inter"/>
                <a:sym typeface="Inter"/>
              </a:rPr>
              <a:t>We can say that Emp_Name is functionally dependent on Emp_Id.</a:t>
            </a:r>
            <a:endParaRPr/>
          </a:p>
        </p:txBody>
      </p:sp>
    </p:spTree>
    <p:extLst>
      <p:ext uri="{BB962C8B-B14F-4D97-AF65-F5344CB8AC3E}">
        <p14:creationId xmlns:p14="http://schemas.microsoft.com/office/powerpoint/2010/main" val="2466547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59">
                                            <p:txEl>
                                              <p:pRg st="0" end="0"/>
                                            </p:txEl>
                                          </p:spTgt>
                                        </p:tgtEl>
                                        <p:attrNameLst>
                                          <p:attrName>style.visibility</p:attrName>
                                        </p:attrNameLst>
                                      </p:cBhvr>
                                      <p:to>
                                        <p:strVal val="visible"/>
                                      </p:to>
                                    </p:set>
                                    <p:anim calcmode="lin" valueType="num">
                                      <p:cBhvr additive="base">
                                        <p:cTn id="7" dur="500"/>
                                        <p:tgtEl>
                                          <p:spTgt spid="259">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259">
                                            <p:txEl>
                                              <p:pRg st="1" end="1"/>
                                            </p:txEl>
                                          </p:spTgt>
                                        </p:tgtEl>
                                        <p:attrNameLst>
                                          <p:attrName>style.visibility</p:attrName>
                                        </p:attrNameLst>
                                      </p:cBhvr>
                                      <p:to>
                                        <p:strVal val="visible"/>
                                      </p:to>
                                    </p:set>
                                    <p:anim calcmode="lin" valueType="num">
                                      <p:cBhvr additive="base">
                                        <p:cTn id="12" dur="500"/>
                                        <p:tgtEl>
                                          <p:spTgt spid="259">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259">
                                            <p:txEl>
                                              <p:pRg st="2" end="2"/>
                                            </p:txEl>
                                          </p:spTgt>
                                        </p:tgtEl>
                                        <p:attrNameLst>
                                          <p:attrName>style.visibility</p:attrName>
                                        </p:attrNameLst>
                                      </p:cBhvr>
                                      <p:to>
                                        <p:strVal val="visible"/>
                                      </p:to>
                                    </p:set>
                                    <p:anim calcmode="lin" valueType="num">
                                      <p:cBhvr additive="base">
                                        <p:cTn id="17" dur="500"/>
                                        <p:tgtEl>
                                          <p:spTgt spid="25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259">
                                            <p:txEl>
                                              <p:pRg st="3" end="3"/>
                                            </p:txEl>
                                          </p:spTgt>
                                        </p:tgtEl>
                                        <p:attrNameLst>
                                          <p:attrName>style.visibility</p:attrName>
                                        </p:attrNameLst>
                                      </p:cBhvr>
                                      <p:to>
                                        <p:strVal val="visible"/>
                                      </p:to>
                                    </p:set>
                                    <p:anim calcmode="lin" valueType="num">
                                      <p:cBhvr additive="base">
                                        <p:cTn id="22" dur="500"/>
                                        <p:tgtEl>
                                          <p:spTgt spid="259">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259">
                                            <p:txEl>
                                              <p:pRg st="4" end="4"/>
                                            </p:txEl>
                                          </p:spTgt>
                                        </p:tgtEl>
                                        <p:attrNameLst>
                                          <p:attrName>style.visibility</p:attrName>
                                        </p:attrNameLst>
                                      </p:cBhvr>
                                      <p:to>
                                        <p:strVal val="visible"/>
                                      </p:to>
                                    </p:set>
                                    <p:anim calcmode="lin" valueType="num">
                                      <p:cBhvr additive="base">
                                        <p:cTn id="27" dur="500"/>
                                        <p:tgtEl>
                                          <p:spTgt spid="259">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259">
                                            <p:txEl>
                                              <p:pRg st="5" end="5"/>
                                            </p:txEl>
                                          </p:spTgt>
                                        </p:tgtEl>
                                        <p:attrNameLst>
                                          <p:attrName>style.visibility</p:attrName>
                                        </p:attrNameLst>
                                      </p:cBhvr>
                                      <p:to>
                                        <p:strVal val="visible"/>
                                      </p:to>
                                    </p:set>
                                    <p:anim calcmode="lin" valueType="num">
                                      <p:cBhvr additive="base">
                                        <p:cTn id="32" dur="500"/>
                                        <p:tgtEl>
                                          <p:spTgt spid="259">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35"/>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IN"/>
              <a:t>Example </a:t>
            </a:r>
            <a:endParaRPr/>
          </a:p>
        </p:txBody>
      </p:sp>
      <p:sp>
        <p:nvSpPr>
          <p:cNvPr id="322" name="Google Shape;322;p35"/>
          <p:cNvSpPr txBox="1">
            <a:spLocks noGrp="1"/>
          </p:cNvSpPr>
          <p:nvPr>
            <p:ph type="body" idx="1"/>
          </p:nvPr>
        </p:nvSpPr>
        <p:spPr>
          <a:xfrm>
            <a:off x="628650" y="1825625"/>
            <a:ext cx="3886200" cy="4351338"/>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90000"/>
              </a:lnSpc>
              <a:spcBef>
                <a:spcPts val="0"/>
              </a:spcBef>
              <a:spcAft>
                <a:spcPts val="0"/>
              </a:spcAft>
              <a:buClr>
                <a:schemeClr val="dk1"/>
              </a:buClr>
              <a:buSzPts val="2800"/>
              <a:buChar char="•"/>
            </a:pPr>
            <a:r>
              <a:rPr lang="en-IN" dirty="0"/>
              <a:t>FD:  X   -&gt;  Y</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50800" algn="l" rtl="0">
              <a:lnSpc>
                <a:spcPct val="90000"/>
              </a:lnSpc>
              <a:spcBef>
                <a:spcPts val="1000"/>
              </a:spcBef>
              <a:spcAft>
                <a:spcPts val="0"/>
              </a:spcAft>
              <a:buClr>
                <a:schemeClr val="dk1"/>
              </a:buClr>
              <a:buSzPts val="2800"/>
              <a:buNone/>
            </a:pPr>
            <a:endParaRPr dirty="0"/>
          </a:p>
          <a:p>
            <a:pPr marL="228600" lvl="0" indent="-50800" algn="l" rtl="0">
              <a:lnSpc>
                <a:spcPct val="90000"/>
              </a:lnSpc>
              <a:spcBef>
                <a:spcPts val="1000"/>
              </a:spcBef>
              <a:spcAft>
                <a:spcPts val="0"/>
              </a:spcAft>
              <a:buClr>
                <a:schemeClr val="dk1"/>
              </a:buClr>
              <a:buSzPts val="2800"/>
              <a:buNone/>
            </a:pPr>
            <a:endParaRPr dirty="0"/>
          </a:p>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IN" dirty="0"/>
              <a:t>FD:  if  t1.X = t2.X</a:t>
            </a:r>
            <a:endParaRPr dirty="0"/>
          </a:p>
          <a:p>
            <a:pPr marL="228600" lvl="0" indent="-228600" algn="l" rtl="0">
              <a:lnSpc>
                <a:spcPct val="90000"/>
              </a:lnSpc>
              <a:spcBef>
                <a:spcPts val="1000"/>
              </a:spcBef>
              <a:spcAft>
                <a:spcPts val="0"/>
              </a:spcAft>
              <a:buClr>
                <a:schemeClr val="dk1"/>
              </a:buClr>
              <a:buSzPts val="2800"/>
              <a:buChar char="•"/>
            </a:pPr>
            <a:r>
              <a:rPr lang="en-IN" dirty="0"/>
              <a:t>        then t1.Y = t2.Y </a:t>
            </a:r>
            <a:endParaRPr dirty="0"/>
          </a:p>
          <a:p>
            <a:pPr marL="228600" lvl="0" indent="-228600" algn="l" rtl="0">
              <a:lnSpc>
                <a:spcPct val="90000"/>
              </a:lnSpc>
              <a:spcBef>
                <a:spcPts val="1000"/>
              </a:spcBef>
              <a:spcAft>
                <a:spcPts val="0"/>
              </a:spcAft>
              <a:buClr>
                <a:schemeClr val="dk1"/>
              </a:buClr>
              <a:buSzPts val="2800"/>
              <a:buChar char="•"/>
            </a:pPr>
            <a:r>
              <a:rPr lang="en-IN" dirty="0"/>
              <a:t>Here,</a:t>
            </a:r>
            <a:endParaRPr dirty="0"/>
          </a:p>
          <a:p>
            <a:pPr marL="228600" lvl="0" indent="-228600" algn="l" rtl="0">
              <a:lnSpc>
                <a:spcPct val="90000"/>
              </a:lnSpc>
              <a:spcBef>
                <a:spcPts val="1000"/>
              </a:spcBef>
              <a:spcAft>
                <a:spcPts val="0"/>
              </a:spcAft>
              <a:buClr>
                <a:schemeClr val="dk1"/>
              </a:buClr>
              <a:buSzPts val="2800"/>
              <a:buChar char="•"/>
            </a:pPr>
            <a:r>
              <a:rPr lang="en-IN" dirty="0"/>
              <a:t>if  t1.x= 1   t2.x = 2    </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50800" algn="l" rtl="0">
              <a:lnSpc>
                <a:spcPct val="90000"/>
              </a:lnSpc>
              <a:spcBef>
                <a:spcPts val="1000"/>
              </a:spcBef>
              <a:spcAft>
                <a:spcPts val="0"/>
              </a:spcAft>
              <a:buClr>
                <a:schemeClr val="dk1"/>
              </a:buClr>
              <a:buSzPts val="2800"/>
              <a:buNone/>
            </a:pPr>
            <a:endParaRPr dirty="0"/>
          </a:p>
        </p:txBody>
      </p:sp>
      <p:sp>
        <p:nvSpPr>
          <p:cNvPr id="323" name="Google Shape;323;p35"/>
          <p:cNvSpPr txBox="1">
            <a:spLocks noGrp="1"/>
          </p:cNvSpPr>
          <p:nvPr>
            <p:ph type="body" idx="2"/>
          </p:nvPr>
        </p:nvSpPr>
        <p:spPr>
          <a:xfrm>
            <a:off x="4514850" y="1325217"/>
            <a:ext cx="4000500" cy="48517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IN"/>
              <a:t>In this example,</a:t>
            </a:r>
            <a:endParaRPr/>
          </a:p>
          <a:p>
            <a:pPr marL="228600" lvl="0" indent="-50800" algn="l" rtl="0">
              <a:lnSpc>
                <a:spcPct val="90000"/>
              </a:lnSpc>
              <a:spcBef>
                <a:spcPts val="1000"/>
              </a:spcBef>
              <a:spcAft>
                <a:spcPts val="0"/>
              </a:spcAft>
              <a:buClr>
                <a:schemeClr val="dk1"/>
              </a:buClr>
              <a:buSzPts val="2800"/>
              <a:buNone/>
            </a:pPr>
            <a:endParaRPr/>
          </a:p>
          <a:p>
            <a:pPr marL="228600" lvl="0" indent="-50800" algn="l" rtl="0">
              <a:lnSpc>
                <a:spcPct val="90000"/>
              </a:lnSpc>
              <a:spcBef>
                <a:spcPts val="1000"/>
              </a:spcBef>
              <a:spcAft>
                <a:spcPts val="0"/>
              </a:spcAft>
              <a:buClr>
                <a:schemeClr val="dk1"/>
              </a:buClr>
              <a:buSzPts val="2800"/>
              <a:buNone/>
            </a:pPr>
            <a:endParaRPr/>
          </a:p>
          <a:p>
            <a:pPr marL="228600" lvl="0" indent="-50800" algn="l" rtl="0">
              <a:lnSpc>
                <a:spcPct val="90000"/>
              </a:lnSpc>
              <a:spcBef>
                <a:spcPts val="1000"/>
              </a:spcBef>
              <a:spcAft>
                <a:spcPts val="0"/>
              </a:spcAft>
              <a:buClr>
                <a:schemeClr val="dk1"/>
              </a:buClr>
              <a:buSzPts val="2800"/>
              <a:buNone/>
            </a:pPr>
            <a:endParaRPr/>
          </a:p>
          <a:p>
            <a:pPr marL="228600" lvl="0" indent="-50800" algn="l" rtl="0">
              <a:lnSpc>
                <a:spcPct val="90000"/>
              </a:lnSpc>
              <a:spcBef>
                <a:spcPts val="1000"/>
              </a:spcBef>
              <a:spcAft>
                <a:spcPts val="0"/>
              </a:spcAft>
              <a:buClr>
                <a:schemeClr val="dk1"/>
              </a:buClr>
              <a:buSzPts val="2800"/>
              <a:buNone/>
            </a:pPr>
            <a:endParaRPr/>
          </a:p>
          <a:p>
            <a:pPr marL="228600" lvl="0" indent="-50800" algn="l" rtl="0">
              <a:lnSpc>
                <a:spcPct val="90000"/>
              </a:lnSpc>
              <a:spcBef>
                <a:spcPts val="1000"/>
              </a:spcBef>
              <a:spcAft>
                <a:spcPts val="0"/>
              </a:spcAft>
              <a:buClr>
                <a:schemeClr val="dk1"/>
              </a:buClr>
              <a:buSzPts val="2800"/>
              <a:buNone/>
            </a:pPr>
            <a:endParaRPr/>
          </a:p>
          <a:p>
            <a:pPr marL="228600" lvl="0" indent="-228600" algn="l" rtl="0">
              <a:lnSpc>
                <a:spcPct val="90000"/>
              </a:lnSpc>
              <a:spcBef>
                <a:spcPts val="1000"/>
              </a:spcBef>
              <a:spcAft>
                <a:spcPts val="0"/>
              </a:spcAft>
              <a:buClr>
                <a:schemeClr val="dk1"/>
              </a:buClr>
              <a:buSzPts val="2800"/>
              <a:buChar char="•"/>
            </a:pPr>
            <a:r>
              <a:rPr lang="en-IN"/>
              <a:t>if  t1.x= 2         t2.x = 2  true</a:t>
            </a:r>
            <a:endParaRPr/>
          </a:p>
          <a:p>
            <a:pPr marL="228600" lvl="0" indent="-228600" algn="l" rtl="0">
              <a:lnSpc>
                <a:spcPct val="90000"/>
              </a:lnSpc>
              <a:spcBef>
                <a:spcPts val="1000"/>
              </a:spcBef>
              <a:spcAft>
                <a:spcPts val="0"/>
              </a:spcAft>
              <a:buClr>
                <a:schemeClr val="dk1"/>
              </a:buClr>
              <a:buSzPts val="2800"/>
              <a:buChar char="•"/>
            </a:pPr>
            <a:r>
              <a:rPr lang="en-IN"/>
              <a:t>Then t1.Y=1     t2.Y =5   false</a:t>
            </a:r>
            <a:endParaRPr/>
          </a:p>
          <a:p>
            <a:pPr marL="228600" lvl="0" indent="-50800" algn="l" rtl="0">
              <a:lnSpc>
                <a:spcPct val="90000"/>
              </a:lnSpc>
              <a:spcBef>
                <a:spcPts val="1000"/>
              </a:spcBef>
              <a:spcAft>
                <a:spcPts val="0"/>
              </a:spcAft>
              <a:buClr>
                <a:schemeClr val="dk1"/>
              </a:buClr>
              <a:buSzPts val="2800"/>
              <a:buNone/>
            </a:pPr>
            <a:endParaRPr/>
          </a:p>
        </p:txBody>
      </p:sp>
      <p:pic>
        <p:nvPicPr>
          <p:cNvPr id="324" name="Google Shape;324;p35"/>
          <p:cNvPicPr preferRelativeResize="0"/>
          <p:nvPr/>
        </p:nvPicPr>
        <p:blipFill rotWithShape="1">
          <a:blip r:embed="rId3">
            <a:alphaModFix/>
          </a:blip>
          <a:srcRect/>
          <a:stretch/>
        </p:blipFill>
        <p:spPr>
          <a:xfrm>
            <a:off x="2000232" y="2143116"/>
            <a:ext cx="964413" cy="1610476"/>
          </a:xfrm>
          <a:prstGeom prst="rect">
            <a:avLst/>
          </a:prstGeom>
          <a:noFill/>
          <a:ln>
            <a:noFill/>
          </a:ln>
        </p:spPr>
      </p:pic>
      <p:pic>
        <p:nvPicPr>
          <p:cNvPr id="325" name="Google Shape;325;p35"/>
          <p:cNvPicPr preferRelativeResize="0"/>
          <p:nvPr/>
        </p:nvPicPr>
        <p:blipFill rotWithShape="1">
          <a:blip r:embed="rId4">
            <a:alphaModFix/>
          </a:blip>
          <a:srcRect/>
          <a:stretch/>
        </p:blipFill>
        <p:spPr>
          <a:xfrm>
            <a:off x="5386387" y="2043479"/>
            <a:ext cx="1128713" cy="1809750"/>
          </a:xfrm>
          <a:prstGeom prst="rect">
            <a:avLst/>
          </a:prstGeom>
          <a:noFill/>
          <a:ln>
            <a:noFill/>
          </a:ln>
        </p:spPr>
      </p:pic>
    </p:spTree>
    <p:extLst>
      <p:ext uri="{BB962C8B-B14F-4D97-AF65-F5344CB8AC3E}">
        <p14:creationId xmlns:p14="http://schemas.microsoft.com/office/powerpoint/2010/main" val="4212872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4"/>
                                        </p:tgtEl>
                                        <p:attrNameLst>
                                          <p:attrName>style.visibility</p:attrName>
                                        </p:attrNameLst>
                                      </p:cBhvr>
                                      <p:to>
                                        <p:strVal val="visible"/>
                                      </p:to>
                                    </p:set>
                                    <p:animEffect transition="in" filter="fade">
                                      <p:cBhvr>
                                        <p:cTn id="7" dur="2000"/>
                                        <p:tgtEl>
                                          <p:spTgt spid="3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2">
                                            <p:txEl>
                                              <p:pRg st="0" end="0"/>
                                            </p:txEl>
                                          </p:spTgt>
                                        </p:tgtEl>
                                        <p:attrNameLst>
                                          <p:attrName>style.visibility</p:attrName>
                                        </p:attrNameLst>
                                      </p:cBhvr>
                                      <p:to>
                                        <p:strVal val="visible"/>
                                      </p:to>
                                    </p:set>
                                    <p:animEffect transition="in" filter="fade">
                                      <p:cBhvr>
                                        <p:cTn id="12" dur="500"/>
                                        <p:tgtEl>
                                          <p:spTgt spid="32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2">
                                            <p:txEl>
                                              <p:pRg st="5" end="5"/>
                                            </p:txEl>
                                          </p:spTgt>
                                        </p:tgtEl>
                                        <p:attrNameLst>
                                          <p:attrName>style.visibility</p:attrName>
                                        </p:attrNameLst>
                                      </p:cBhvr>
                                      <p:to>
                                        <p:strVal val="visible"/>
                                      </p:to>
                                    </p:set>
                                    <p:animEffect transition="in" filter="fade">
                                      <p:cBhvr>
                                        <p:cTn id="17" dur="500"/>
                                        <p:tgtEl>
                                          <p:spTgt spid="322">
                                            <p:txEl>
                                              <p:pRg st="5" end="5"/>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2">
                                            <p:txEl>
                                              <p:pRg st="6" end="6"/>
                                            </p:txEl>
                                          </p:spTgt>
                                        </p:tgtEl>
                                        <p:attrNameLst>
                                          <p:attrName>style.visibility</p:attrName>
                                        </p:attrNameLst>
                                      </p:cBhvr>
                                      <p:to>
                                        <p:strVal val="visible"/>
                                      </p:to>
                                    </p:set>
                                    <p:animEffect transition="in" filter="fade">
                                      <p:cBhvr>
                                        <p:cTn id="22" dur="500"/>
                                        <p:tgtEl>
                                          <p:spTgt spid="322">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2">
                                            <p:txEl>
                                              <p:pRg st="7" end="7"/>
                                            </p:txEl>
                                          </p:spTgt>
                                        </p:tgtEl>
                                        <p:attrNameLst>
                                          <p:attrName>style.visibility</p:attrName>
                                        </p:attrNameLst>
                                      </p:cBhvr>
                                      <p:to>
                                        <p:strVal val="visible"/>
                                      </p:to>
                                    </p:set>
                                    <p:animEffect transition="in" filter="fade">
                                      <p:cBhvr>
                                        <p:cTn id="27" dur="500"/>
                                        <p:tgtEl>
                                          <p:spTgt spid="322">
                                            <p:txEl>
                                              <p:pRg st="7" end="7"/>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2">
                                            <p:txEl>
                                              <p:pRg st="8" end="8"/>
                                            </p:txEl>
                                          </p:spTgt>
                                        </p:tgtEl>
                                        <p:attrNameLst>
                                          <p:attrName>style.visibility</p:attrName>
                                        </p:attrNameLst>
                                      </p:cBhvr>
                                      <p:to>
                                        <p:strVal val="visible"/>
                                      </p:to>
                                    </p:set>
                                    <p:animEffect transition="in" filter="fade">
                                      <p:cBhvr>
                                        <p:cTn id="32" dur="500"/>
                                        <p:tgtEl>
                                          <p:spTgt spid="322">
                                            <p:txEl>
                                              <p:pRg st="8" end="8"/>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25"/>
                                        </p:tgtEl>
                                        <p:attrNameLst>
                                          <p:attrName>style.visibility</p:attrName>
                                        </p:attrNameLst>
                                      </p:cBhvr>
                                      <p:to>
                                        <p:strVal val="visible"/>
                                      </p:to>
                                    </p:set>
                                    <p:anim calcmode="lin" valueType="num">
                                      <p:cBhvr additive="base">
                                        <p:cTn id="37" dur="500"/>
                                        <p:tgtEl>
                                          <p:spTgt spid="325"/>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323">
                                            <p:txEl>
                                              <p:pRg st="0" end="0"/>
                                            </p:txEl>
                                          </p:spTgt>
                                        </p:tgtEl>
                                        <p:attrNameLst>
                                          <p:attrName>style.visibility</p:attrName>
                                        </p:attrNameLst>
                                      </p:cBhvr>
                                      <p:to>
                                        <p:strVal val="visible"/>
                                      </p:to>
                                    </p:set>
                                    <p:anim calcmode="lin" valueType="num">
                                      <p:cBhvr additive="base">
                                        <p:cTn id="42" dur="500"/>
                                        <p:tgtEl>
                                          <p:spTgt spid="32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323">
                                            <p:txEl>
                                              <p:pRg st="1" end="1"/>
                                            </p:txEl>
                                          </p:spTgt>
                                        </p:tgtEl>
                                        <p:attrNameLst>
                                          <p:attrName>style.visibility</p:attrName>
                                        </p:attrNameLst>
                                      </p:cBhvr>
                                      <p:to>
                                        <p:strVal val="visible"/>
                                      </p:to>
                                    </p:set>
                                    <p:anim calcmode="lin" valueType="num">
                                      <p:cBhvr additive="base">
                                        <p:cTn id="47" dur="500"/>
                                        <p:tgtEl>
                                          <p:spTgt spid="32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ntr" presetSubtype="4" fill="hold" nodeType="clickEffect">
                                  <p:stCondLst>
                                    <p:cond delay="0"/>
                                  </p:stCondLst>
                                  <p:childTnLst>
                                    <p:set>
                                      <p:cBhvr>
                                        <p:cTn id="51" dur="1" fill="hold">
                                          <p:stCondLst>
                                            <p:cond delay="0"/>
                                          </p:stCondLst>
                                        </p:cTn>
                                        <p:tgtEl>
                                          <p:spTgt spid="323">
                                            <p:txEl>
                                              <p:pRg st="2" end="2"/>
                                            </p:txEl>
                                          </p:spTgt>
                                        </p:tgtEl>
                                        <p:attrNameLst>
                                          <p:attrName>style.visibility</p:attrName>
                                        </p:attrNameLst>
                                      </p:cBhvr>
                                      <p:to>
                                        <p:strVal val="visible"/>
                                      </p:to>
                                    </p:set>
                                    <p:anim calcmode="lin" valueType="num">
                                      <p:cBhvr additive="base">
                                        <p:cTn id="52" dur="500"/>
                                        <p:tgtEl>
                                          <p:spTgt spid="32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323">
                                            <p:txEl>
                                              <p:pRg st="3" end="3"/>
                                            </p:txEl>
                                          </p:spTgt>
                                        </p:tgtEl>
                                        <p:attrNameLst>
                                          <p:attrName>style.visibility</p:attrName>
                                        </p:attrNameLst>
                                      </p:cBhvr>
                                      <p:to>
                                        <p:strVal val="visible"/>
                                      </p:to>
                                    </p:set>
                                    <p:anim calcmode="lin" valueType="num">
                                      <p:cBhvr additive="base">
                                        <p:cTn id="57" dur="500"/>
                                        <p:tgtEl>
                                          <p:spTgt spid="32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2" presetClass="entr" presetSubtype="4" fill="hold" nodeType="clickEffect">
                                  <p:stCondLst>
                                    <p:cond delay="0"/>
                                  </p:stCondLst>
                                  <p:childTnLst>
                                    <p:set>
                                      <p:cBhvr>
                                        <p:cTn id="61" dur="1" fill="hold">
                                          <p:stCondLst>
                                            <p:cond delay="0"/>
                                          </p:stCondLst>
                                        </p:cTn>
                                        <p:tgtEl>
                                          <p:spTgt spid="323">
                                            <p:txEl>
                                              <p:pRg st="4" end="4"/>
                                            </p:txEl>
                                          </p:spTgt>
                                        </p:tgtEl>
                                        <p:attrNameLst>
                                          <p:attrName>style.visibility</p:attrName>
                                        </p:attrNameLst>
                                      </p:cBhvr>
                                      <p:to>
                                        <p:strVal val="visible"/>
                                      </p:to>
                                    </p:set>
                                    <p:anim calcmode="lin" valueType="num">
                                      <p:cBhvr additive="base">
                                        <p:cTn id="62" dur="500"/>
                                        <p:tgtEl>
                                          <p:spTgt spid="32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nodeType="clickEffect">
                                  <p:stCondLst>
                                    <p:cond delay="0"/>
                                  </p:stCondLst>
                                  <p:childTnLst>
                                    <p:set>
                                      <p:cBhvr>
                                        <p:cTn id="66" dur="1" fill="hold">
                                          <p:stCondLst>
                                            <p:cond delay="0"/>
                                          </p:stCondLst>
                                        </p:cTn>
                                        <p:tgtEl>
                                          <p:spTgt spid="323">
                                            <p:txEl>
                                              <p:pRg st="5" end="5"/>
                                            </p:txEl>
                                          </p:spTgt>
                                        </p:tgtEl>
                                        <p:attrNameLst>
                                          <p:attrName>style.visibility</p:attrName>
                                        </p:attrNameLst>
                                      </p:cBhvr>
                                      <p:to>
                                        <p:strVal val="visible"/>
                                      </p:to>
                                    </p:set>
                                    <p:anim calcmode="lin" valueType="num">
                                      <p:cBhvr additive="base">
                                        <p:cTn id="67" dur="500"/>
                                        <p:tgtEl>
                                          <p:spTgt spid="32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2" presetClass="entr" presetSubtype="4" fill="hold" nodeType="clickEffect">
                                  <p:stCondLst>
                                    <p:cond delay="0"/>
                                  </p:stCondLst>
                                  <p:childTnLst>
                                    <p:set>
                                      <p:cBhvr>
                                        <p:cTn id="71" dur="1" fill="hold">
                                          <p:stCondLst>
                                            <p:cond delay="0"/>
                                          </p:stCondLst>
                                        </p:cTn>
                                        <p:tgtEl>
                                          <p:spTgt spid="323">
                                            <p:txEl>
                                              <p:pRg st="6" end="6"/>
                                            </p:txEl>
                                          </p:spTgt>
                                        </p:tgtEl>
                                        <p:attrNameLst>
                                          <p:attrName>style.visibility</p:attrName>
                                        </p:attrNameLst>
                                      </p:cBhvr>
                                      <p:to>
                                        <p:strVal val="visible"/>
                                      </p:to>
                                    </p:set>
                                    <p:anim calcmode="lin" valueType="num">
                                      <p:cBhvr additive="base">
                                        <p:cTn id="72" dur="500"/>
                                        <p:tgtEl>
                                          <p:spTgt spid="32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2" presetClass="entr" presetSubtype="4" fill="hold" nodeType="clickEffect">
                                  <p:stCondLst>
                                    <p:cond delay="0"/>
                                  </p:stCondLst>
                                  <p:childTnLst>
                                    <p:set>
                                      <p:cBhvr>
                                        <p:cTn id="76" dur="1" fill="hold">
                                          <p:stCondLst>
                                            <p:cond delay="0"/>
                                          </p:stCondLst>
                                        </p:cTn>
                                        <p:tgtEl>
                                          <p:spTgt spid="323">
                                            <p:txEl>
                                              <p:pRg st="7" end="7"/>
                                            </p:txEl>
                                          </p:spTgt>
                                        </p:tgtEl>
                                        <p:attrNameLst>
                                          <p:attrName>style.visibility</p:attrName>
                                        </p:attrNameLst>
                                      </p:cBhvr>
                                      <p:to>
                                        <p:strVal val="visible"/>
                                      </p:to>
                                    </p:set>
                                    <p:anim calcmode="lin" valueType="num">
                                      <p:cBhvr additive="base">
                                        <p:cTn id="77" dur="500"/>
                                        <p:tgtEl>
                                          <p:spTgt spid="32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2" presetClass="entr" presetSubtype="4" fill="hold" nodeType="clickEffect">
                                  <p:stCondLst>
                                    <p:cond delay="0"/>
                                  </p:stCondLst>
                                  <p:childTnLst>
                                    <p:set>
                                      <p:cBhvr>
                                        <p:cTn id="81" dur="1" fill="hold">
                                          <p:stCondLst>
                                            <p:cond delay="0"/>
                                          </p:stCondLst>
                                        </p:cTn>
                                        <p:tgtEl>
                                          <p:spTgt spid="323">
                                            <p:txEl>
                                              <p:pRg st="8" end="8"/>
                                            </p:txEl>
                                          </p:spTgt>
                                        </p:tgtEl>
                                        <p:attrNameLst>
                                          <p:attrName>style.visibility</p:attrName>
                                        </p:attrNameLst>
                                      </p:cBhvr>
                                      <p:to>
                                        <p:strVal val="visible"/>
                                      </p:to>
                                    </p:set>
                                    <p:anim calcmode="lin" valueType="num">
                                      <p:cBhvr additive="base">
                                        <p:cTn id="82" dur="500"/>
                                        <p:tgtEl>
                                          <p:spTgt spid="323">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36"/>
          <p:cNvSpPr txBox="1">
            <a:spLocks noGrp="1"/>
          </p:cNvSpPr>
          <p:nvPr>
            <p:ph type="body" idx="1"/>
          </p:nvPr>
        </p:nvSpPr>
        <p:spPr>
          <a:xfrm>
            <a:off x="407505" y="781878"/>
            <a:ext cx="3011557" cy="5539409"/>
          </a:xfrm>
          <a:prstGeom prst="rect">
            <a:avLst/>
          </a:prstGeom>
          <a:noFill/>
          <a:ln>
            <a:noFill/>
          </a:ln>
        </p:spPr>
        <p:txBody>
          <a:bodyPr spcFirstLastPara="1" wrap="square" lIns="91425" tIns="45700" rIns="91425" bIns="45700" anchor="t" anchorCtr="0">
            <a:normAutofit fontScale="55000" lnSpcReduction="20000"/>
          </a:bodyPr>
          <a:lstStyle/>
          <a:p>
            <a:pPr marL="228600" lvl="0" indent="-228600" algn="l" rtl="0">
              <a:lnSpc>
                <a:spcPct val="90000"/>
              </a:lnSpc>
              <a:spcBef>
                <a:spcPts val="0"/>
              </a:spcBef>
              <a:spcAft>
                <a:spcPts val="0"/>
              </a:spcAft>
              <a:buClr>
                <a:schemeClr val="dk1"/>
              </a:buClr>
              <a:buSzPct val="100000"/>
              <a:buChar char="•"/>
            </a:pPr>
            <a:r>
              <a:rPr lang="en-IN"/>
              <a:t>Consider the following table:</a:t>
            </a:r>
            <a:endParaRPr/>
          </a:p>
          <a:p>
            <a:pPr marL="228600" lvl="0" indent="-130810" algn="l" rtl="0">
              <a:lnSpc>
                <a:spcPct val="90000"/>
              </a:lnSpc>
              <a:spcBef>
                <a:spcPts val="1000"/>
              </a:spcBef>
              <a:spcAft>
                <a:spcPts val="0"/>
              </a:spcAft>
              <a:buClr>
                <a:schemeClr val="dk1"/>
              </a:buClr>
              <a:buSzPct val="100000"/>
              <a:buNone/>
            </a:pPr>
            <a:endParaRPr/>
          </a:p>
          <a:p>
            <a:pPr marL="228600" lvl="0" indent="-228600" algn="l" rtl="0">
              <a:lnSpc>
                <a:spcPct val="90000"/>
              </a:lnSpc>
              <a:spcBef>
                <a:spcPts val="1000"/>
              </a:spcBef>
              <a:spcAft>
                <a:spcPts val="0"/>
              </a:spcAft>
              <a:buClr>
                <a:schemeClr val="dk1"/>
              </a:buClr>
              <a:buSzPct val="100000"/>
              <a:buChar char="•"/>
            </a:pPr>
            <a:r>
              <a:rPr lang="en-IN"/>
              <a:t>RNO  -&gt; Name</a:t>
            </a:r>
            <a:endParaRPr/>
          </a:p>
          <a:p>
            <a:pPr marL="228600" lvl="0" indent="-228600" algn="l" rtl="0">
              <a:lnSpc>
                <a:spcPct val="90000"/>
              </a:lnSpc>
              <a:spcBef>
                <a:spcPts val="1000"/>
              </a:spcBef>
              <a:spcAft>
                <a:spcPts val="0"/>
              </a:spcAft>
              <a:buClr>
                <a:schemeClr val="dk1"/>
              </a:buClr>
              <a:buSzPct val="100000"/>
              <a:buChar char="•"/>
            </a:pPr>
            <a:r>
              <a:rPr lang="en-IN"/>
              <a:t>FD</a:t>
            </a:r>
            <a:endParaRPr/>
          </a:p>
          <a:p>
            <a:pPr marL="228600" lvl="0" indent="-228600" algn="l" rtl="0">
              <a:lnSpc>
                <a:spcPct val="90000"/>
              </a:lnSpc>
              <a:spcBef>
                <a:spcPts val="1000"/>
              </a:spcBef>
              <a:spcAft>
                <a:spcPts val="0"/>
              </a:spcAft>
              <a:buClr>
                <a:schemeClr val="dk1"/>
              </a:buClr>
              <a:buSzPct val="100000"/>
              <a:buChar char="•"/>
            </a:pPr>
            <a:r>
              <a:rPr lang="en-IN"/>
              <a:t>Name -&gt; RNO</a:t>
            </a:r>
            <a:endParaRPr/>
          </a:p>
          <a:p>
            <a:pPr marL="228600" lvl="0" indent="-228600" algn="l" rtl="0">
              <a:lnSpc>
                <a:spcPct val="90000"/>
              </a:lnSpc>
              <a:spcBef>
                <a:spcPts val="1000"/>
              </a:spcBef>
              <a:spcAft>
                <a:spcPts val="0"/>
              </a:spcAft>
              <a:buClr>
                <a:schemeClr val="dk1"/>
              </a:buClr>
              <a:buSzPct val="100000"/>
              <a:buChar char="•"/>
            </a:pPr>
            <a:r>
              <a:rPr lang="en-IN"/>
              <a:t>FD doesn’t exist</a:t>
            </a:r>
            <a:endParaRPr/>
          </a:p>
          <a:p>
            <a:pPr marL="228600" lvl="0" indent="-228600" algn="l" rtl="0">
              <a:lnSpc>
                <a:spcPct val="90000"/>
              </a:lnSpc>
              <a:spcBef>
                <a:spcPts val="1000"/>
              </a:spcBef>
              <a:spcAft>
                <a:spcPts val="0"/>
              </a:spcAft>
              <a:buClr>
                <a:schemeClr val="dk1"/>
              </a:buClr>
              <a:buSzPct val="100000"/>
              <a:buChar char="•"/>
            </a:pPr>
            <a:r>
              <a:rPr lang="en-IN"/>
              <a:t>RNO -&gt; Marks</a:t>
            </a:r>
            <a:endParaRPr/>
          </a:p>
          <a:p>
            <a:pPr marL="228600" lvl="0" indent="-228600" algn="l" rtl="0">
              <a:lnSpc>
                <a:spcPct val="90000"/>
              </a:lnSpc>
              <a:spcBef>
                <a:spcPts val="1000"/>
              </a:spcBef>
              <a:spcAft>
                <a:spcPts val="0"/>
              </a:spcAft>
              <a:buClr>
                <a:schemeClr val="dk1"/>
              </a:buClr>
              <a:buSzPct val="100000"/>
              <a:buChar char="•"/>
            </a:pPr>
            <a:r>
              <a:rPr lang="en-IN"/>
              <a:t>FD exist</a:t>
            </a:r>
            <a:endParaRPr/>
          </a:p>
          <a:p>
            <a:pPr marL="228600" lvl="0" indent="-228600" algn="l" rtl="0">
              <a:lnSpc>
                <a:spcPct val="90000"/>
              </a:lnSpc>
              <a:spcBef>
                <a:spcPts val="1000"/>
              </a:spcBef>
              <a:spcAft>
                <a:spcPts val="0"/>
              </a:spcAft>
              <a:buClr>
                <a:schemeClr val="dk1"/>
              </a:buClr>
              <a:buSzPct val="100000"/>
              <a:buChar char="•"/>
            </a:pPr>
            <a:r>
              <a:rPr lang="en-IN"/>
              <a:t>Name –Marks</a:t>
            </a:r>
            <a:endParaRPr/>
          </a:p>
          <a:p>
            <a:pPr marL="228600" lvl="0" indent="-228600" algn="l" rtl="0">
              <a:lnSpc>
                <a:spcPct val="90000"/>
              </a:lnSpc>
              <a:spcBef>
                <a:spcPts val="1000"/>
              </a:spcBef>
              <a:spcAft>
                <a:spcPts val="0"/>
              </a:spcAft>
              <a:buClr>
                <a:schemeClr val="dk1"/>
              </a:buClr>
              <a:buSzPct val="100000"/>
              <a:buChar char="•"/>
            </a:pPr>
            <a:r>
              <a:rPr lang="en-IN"/>
              <a:t>FD exist</a:t>
            </a:r>
            <a:endParaRPr/>
          </a:p>
          <a:p>
            <a:pPr marL="228600" lvl="0" indent="-228600" algn="l" rtl="0">
              <a:lnSpc>
                <a:spcPct val="90000"/>
              </a:lnSpc>
              <a:spcBef>
                <a:spcPts val="1000"/>
              </a:spcBef>
              <a:spcAft>
                <a:spcPts val="0"/>
              </a:spcAft>
              <a:buClr>
                <a:schemeClr val="dk1"/>
              </a:buClr>
              <a:buSzPct val="100000"/>
              <a:buChar char="•"/>
            </a:pPr>
            <a:r>
              <a:rPr lang="en-IN"/>
              <a:t>Dept -&gt; Course</a:t>
            </a:r>
            <a:endParaRPr/>
          </a:p>
          <a:p>
            <a:pPr marL="228600" lvl="0" indent="-228600" algn="l" rtl="0">
              <a:lnSpc>
                <a:spcPct val="90000"/>
              </a:lnSpc>
              <a:spcBef>
                <a:spcPts val="1000"/>
              </a:spcBef>
              <a:spcAft>
                <a:spcPts val="0"/>
              </a:spcAft>
              <a:buClr>
                <a:schemeClr val="dk1"/>
              </a:buClr>
              <a:buSzPct val="100000"/>
              <a:buChar char="•"/>
            </a:pPr>
            <a:r>
              <a:rPr lang="en-IN"/>
              <a:t>FD doesn’t exist</a:t>
            </a:r>
            <a:endParaRPr/>
          </a:p>
          <a:p>
            <a:pPr marL="228600" lvl="0" indent="-228600" algn="l" rtl="0">
              <a:lnSpc>
                <a:spcPct val="90000"/>
              </a:lnSpc>
              <a:spcBef>
                <a:spcPts val="1000"/>
              </a:spcBef>
              <a:spcAft>
                <a:spcPts val="0"/>
              </a:spcAft>
              <a:buClr>
                <a:schemeClr val="dk1"/>
              </a:buClr>
              <a:buSzPct val="100000"/>
              <a:buChar char="•"/>
            </a:pPr>
            <a:r>
              <a:rPr lang="en-IN"/>
              <a:t>Marks  -&gt; Dept</a:t>
            </a:r>
            <a:endParaRPr/>
          </a:p>
          <a:p>
            <a:pPr marL="228600" lvl="0" indent="-228600" algn="l" rtl="0">
              <a:lnSpc>
                <a:spcPct val="90000"/>
              </a:lnSpc>
              <a:spcBef>
                <a:spcPts val="1000"/>
              </a:spcBef>
              <a:spcAft>
                <a:spcPts val="0"/>
              </a:spcAft>
              <a:buClr>
                <a:schemeClr val="dk1"/>
              </a:buClr>
              <a:buSzPct val="100000"/>
              <a:buChar char="•"/>
            </a:pPr>
            <a:r>
              <a:rPr lang="en-IN"/>
              <a:t>FD doesn’t exist</a:t>
            </a:r>
            <a:endParaRPr/>
          </a:p>
          <a:p>
            <a:pPr marL="228600" lvl="0" indent="-228600" algn="l" rtl="0">
              <a:lnSpc>
                <a:spcPct val="90000"/>
              </a:lnSpc>
              <a:spcBef>
                <a:spcPts val="1000"/>
              </a:spcBef>
              <a:spcAft>
                <a:spcPts val="0"/>
              </a:spcAft>
              <a:buClr>
                <a:schemeClr val="dk1"/>
              </a:buClr>
              <a:buSzPct val="100000"/>
              <a:buChar char="•"/>
            </a:pPr>
            <a:r>
              <a:rPr lang="en-IN"/>
              <a:t>{RNO, Name} -&gt; Marks</a:t>
            </a:r>
            <a:endParaRPr/>
          </a:p>
          <a:p>
            <a:pPr marL="228600" lvl="0" indent="-228600" algn="l" rtl="0">
              <a:lnSpc>
                <a:spcPct val="90000"/>
              </a:lnSpc>
              <a:spcBef>
                <a:spcPts val="1000"/>
              </a:spcBef>
              <a:spcAft>
                <a:spcPts val="0"/>
              </a:spcAft>
              <a:buClr>
                <a:schemeClr val="dk1"/>
              </a:buClr>
              <a:buSzPct val="100000"/>
              <a:buChar char="•"/>
            </a:pPr>
            <a:r>
              <a:rPr lang="en-IN"/>
              <a:t>FD  exist</a:t>
            </a:r>
            <a:endParaRPr/>
          </a:p>
          <a:p>
            <a:pPr marL="228600" lvl="0" indent="-228600" algn="l" rtl="0">
              <a:lnSpc>
                <a:spcPct val="90000"/>
              </a:lnSpc>
              <a:spcBef>
                <a:spcPts val="1000"/>
              </a:spcBef>
              <a:spcAft>
                <a:spcPts val="0"/>
              </a:spcAft>
              <a:buClr>
                <a:schemeClr val="dk1"/>
              </a:buClr>
              <a:buSzPct val="100000"/>
              <a:buChar char="•"/>
            </a:pPr>
            <a:r>
              <a:rPr lang="en-IN"/>
              <a:t>{Name,  Marks} -&gt;  Dept</a:t>
            </a:r>
            <a:endParaRPr/>
          </a:p>
          <a:p>
            <a:pPr marL="228600" lvl="0" indent="-228600" algn="l" rtl="0">
              <a:lnSpc>
                <a:spcPct val="90000"/>
              </a:lnSpc>
              <a:spcBef>
                <a:spcPts val="1000"/>
              </a:spcBef>
              <a:spcAft>
                <a:spcPts val="0"/>
              </a:spcAft>
              <a:buClr>
                <a:schemeClr val="dk1"/>
              </a:buClr>
              <a:buSzPct val="100000"/>
              <a:buChar char="•"/>
            </a:pPr>
            <a:r>
              <a:rPr lang="en-IN"/>
              <a:t>FD doesn’t exist</a:t>
            </a:r>
            <a:endParaRPr/>
          </a:p>
        </p:txBody>
      </p:sp>
      <p:pic>
        <p:nvPicPr>
          <p:cNvPr id="331" name="Google Shape;331;p36"/>
          <p:cNvPicPr preferRelativeResize="0"/>
          <p:nvPr/>
        </p:nvPicPr>
        <p:blipFill rotWithShape="1">
          <a:blip r:embed="rId3">
            <a:alphaModFix/>
          </a:blip>
          <a:srcRect/>
          <a:stretch/>
        </p:blipFill>
        <p:spPr>
          <a:xfrm>
            <a:off x="3963676" y="1146238"/>
            <a:ext cx="4579792" cy="2282762"/>
          </a:xfrm>
          <a:prstGeom prst="rect">
            <a:avLst/>
          </a:prstGeom>
          <a:noFill/>
          <a:ln>
            <a:noFill/>
          </a:ln>
        </p:spPr>
      </p:pic>
    </p:spTree>
    <p:extLst>
      <p:ext uri="{BB962C8B-B14F-4D97-AF65-F5344CB8AC3E}">
        <p14:creationId xmlns:p14="http://schemas.microsoft.com/office/powerpoint/2010/main" val="391756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1"/>
                                        </p:tgtEl>
                                        <p:attrNameLst>
                                          <p:attrName>style.visibility</p:attrName>
                                        </p:attrNameLst>
                                      </p:cBhvr>
                                      <p:to>
                                        <p:strVal val="visible"/>
                                      </p:to>
                                    </p:set>
                                    <p:animEffect transition="in" filter="fade">
                                      <p:cBhvr>
                                        <p:cTn id="7" dur="500"/>
                                        <p:tgtEl>
                                          <p:spTgt spid="331"/>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330">
                                            <p:txEl>
                                              <p:pRg st="0" end="0"/>
                                            </p:txEl>
                                          </p:spTgt>
                                        </p:tgtEl>
                                        <p:attrNameLst>
                                          <p:attrName>style.visibility</p:attrName>
                                        </p:attrNameLst>
                                      </p:cBhvr>
                                      <p:to>
                                        <p:strVal val="visible"/>
                                      </p:to>
                                    </p:set>
                                    <p:anim calcmode="lin" valueType="num">
                                      <p:cBhvr additive="base">
                                        <p:cTn id="12" dur="500"/>
                                        <p:tgtEl>
                                          <p:spTgt spid="33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30">
                                            <p:txEl>
                                              <p:pRg st="1" end="1"/>
                                            </p:txEl>
                                          </p:spTgt>
                                        </p:tgtEl>
                                        <p:attrNameLst>
                                          <p:attrName>style.visibility</p:attrName>
                                        </p:attrNameLst>
                                      </p:cBhvr>
                                      <p:to>
                                        <p:strVal val="visible"/>
                                      </p:to>
                                    </p:set>
                                    <p:anim calcmode="lin" valueType="num">
                                      <p:cBhvr additive="base">
                                        <p:cTn id="17" dur="500"/>
                                        <p:tgtEl>
                                          <p:spTgt spid="33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330">
                                            <p:txEl>
                                              <p:pRg st="2" end="2"/>
                                            </p:txEl>
                                          </p:spTgt>
                                        </p:tgtEl>
                                        <p:attrNameLst>
                                          <p:attrName>style.visibility</p:attrName>
                                        </p:attrNameLst>
                                      </p:cBhvr>
                                      <p:to>
                                        <p:strVal val="visible"/>
                                      </p:to>
                                    </p:set>
                                    <p:anim calcmode="lin" valueType="num">
                                      <p:cBhvr additive="base">
                                        <p:cTn id="22" dur="500"/>
                                        <p:tgtEl>
                                          <p:spTgt spid="33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330">
                                            <p:txEl>
                                              <p:pRg st="3" end="3"/>
                                            </p:txEl>
                                          </p:spTgt>
                                        </p:tgtEl>
                                        <p:attrNameLst>
                                          <p:attrName>style.visibility</p:attrName>
                                        </p:attrNameLst>
                                      </p:cBhvr>
                                      <p:to>
                                        <p:strVal val="visible"/>
                                      </p:to>
                                    </p:set>
                                    <p:anim calcmode="lin" valueType="num">
                                      <p:cBhvr additive="base">
                                        <p:cTn id="27" dur="500"/>
                                        <p:tgtEl>
                                          <p:spTgt spid="33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330">
                                            <p:txEl>
                                              <p:pRg st="4" end="4"/>
                                            </p:txEl>
                                          </p:spTgt>
                                        </p:tgtEl>
                                        <p:attrNameLst>
                                          <p:attrName>style.visibility</p:attrName>
                                        </p:attrNameLst>
                                      </p:cBhvr>
                                      <p:to>
                                        <p:strVal val="visible"/>
                                      </p:to>
                                    </p:set>
                                    <p:anim calcmode="lin" valueType="num">
                                      <p:cBhvr additive="base">
                                        <p:cTn id="32" dur="500"/>
                                        <p:tgtEl>
                                          <p:spTgt spid="33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30">
                                            <p:txEl>
                                              <p:pRg st="5" end="5"/>
                                            </p:txEl>
                                          </p:spTgt>
                                        </p:tgtEl>
                                        <p:attrNameLst>
                                          <p:attrName>style.visibility</p:attrName>
                                        </p:attrNameLst>
                                      </p:cBhvr>
                                      <p:to>
                                        <p:strVal val="visible"/>
                                      </p:to>
                                    </p:set>
                                    <p:anim calcmode="lin" valueType="num">
                                      <p:cBhvr additive="base">
                                        <p:cTn id="37" dur="500"/>
                                        <p:tgtEl>
                                          <p:spTgt spid="33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330">
                                            <p:txEl>
                                              <p:pRg st="6" end="6"/>
                                            </p:txEl>
                                          </p:spTgt>
                                        </p:tgtEl>
                                        <p:attrNameLst>
                                          <p:attrName>style.visibility</p:attrName>
                                        </p:attrNameLst>
                                      </p:cBhvr>
                                      <p:to>
                                        <p:strVal val="visible"/>
                                      </p:to>
                                    </p:set>
                                    <p:anim calcmode="lin" valueType="num">
                                      <p:cBhvr additive="base">
                                        <p:cTn id="42" dur="500"/>
                                        <p:tgtEl>
                                          <p:spTgt spid="33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330">
                                            <p:txEl>
                                              <p:pRg st="7" end="7"/>
                                            </p:txEl>
                                          </p:spTgt>
                                        </p:tgtEl>
                                        <p:attrNameLst>
                                          <p:attrName>style.visibility</p:attrName>
                                        </p:attrNameLst>
                                      </p:cBhvr>
                                      <p:to>
                                        <p:strVal val="visible"/>
                                      </p:to>
                                    </p:set>
                                    <p:anim calcmode="lin" valueType="num">
                                      <p:cBhvr additive="base">
                                        <p:cTn id="47" dur="500"/>
                                        <p:tgtEl>
                                          <p:spTgt spid="330">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ntr" presetSubtype="4" fill="hold" nodeType="clickEffect">
                                  <p:stCondLst>
                                    <p:cond delay="0"/>
                                  </p:stCondLst>
                                  <p:childTnLst>
                                    <p:set>
                                      <p:cBhvr>
                                        <p:cTn id="51" dur="1" fill="hold">
                                          <p:stCondLst>
                                            <p:cond delay="0"/>
                                          </p:stCondLst>
                                        </p:cTn>
                                        <p:tgtEl>
                                          <p:spTgt spid="330">
                                            <p:txEl>
                                              <p:pRg st="8" end="8"/>
                                            </p:txEl>
                                          </p:spTgt>
                                        </p:tgtEl>
                                        <p:attrNameLst>
                                          <p:attrName>style.visibility</p:attrName>
                                        </p:attrNameLst>
                                      </p:cBhvr>
                                      <p:to>
                                        <p:strVal val="visible"/>
                                      </p:to>
                                    </p:set>
                                    <p:anim calcmode="lin" valueType="num">
                                      <p:cBhvr additive="base">
                                        <p:cTn id="52" dur="500"/>
                                        <p:tgtEl>
                                          <p:spTgt spid="330">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330">
                                            <p:txEl>
                                              <p:pRg st="9" end="9"/>
                                            </p:txEl>
                                          </p:spTgt>
                                        </p:tgtEl>
                                        <p:attrNameLst>
                                          <p:attrName>style.visibility</p:attrName>
                                        </p:attrNameLst>
                                      </p:cBhvr>
                                      <p:to>
                                        <p:strVal val="visible"/>
                                      </p:to>
                                    </p:set>
                                    <p:anim calcmode="lin" valueType="num">
                                      <p:cBhvr additive="base">
                                        <p:cTn id="57" dur="500"/>
                                        <p:tgtEl>
                                          <p:spTgt spid="330">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2" presetClass="entr" presetSubtype="4" fill="hold" nodeType="clickEffect">
                                  <p:stCondLst>
                                    <p:cond delay="0"/>
                                  </p:stCondLst>
                                  <p:childTnLst>
                                    <p:set>
                                      <p:cBhvr>
                                        <p:cTn id="61" dur="1" fill="hold">
                                          <p:stCondLst>
                                            <p:cond delay="0"/>
                                          </p:stCondLst>
                                        </p:cTn>
                                        <p:tgtEl>
                                          <p:spTgt spid="330">
                                            <p:txEl>
                                              <p:pRg st="10" end="10"/>
                                            </p:txEl>
                                          </p:spTgt>
                                        </p:tgtEl>
                                        <p:attrNameLst>
                                          <p:attrName>style.visibility</p:attrName>
                                        </p:attrNameLst>
                                      </p:cBhvr>
                                      <p:to>
                                        <p:strVal val="visible"/>
                                      </p:to>
                                    </p:set>
                                    <p:anim calcmode="lin" valueType="num">
                                      <p:cBhvr additive="base">
                                        <p:cTn id="62" dur="500"/>
                                        <p:tgtEl>
                                          <p:spTgt spid="330">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nodeType="clickEffect">
                                  <p:stCondLst>
                                    <p:cond delay="0"/>
                                  </p:stCondLst>
                                  <p:childTnLst>
                                    <p:set>
                                      <p:cBhvr>
                                        <p:cTn id="66" dur="1" fill="hold">
                                          <p:stCondLst>
                                            <p:cond delay="0"/>
                                          </p:stCondLst>
                                        </p:cTn>
                                        <p:tgtEl>
                                          <p:spTgt spid="330">
                                            <p:txEl>
                                              <p:pRg st="11" end="11"/>
                                            </p:txEl>
                                          </p:spTgt>
                                        </p:tgtEl>
                                        <p:attrNameLst>
                                          <p:attrName>style.visibility</p:attrName>
                                        </p:attrNameLst>
                                      </p:cBhvr>
                                      <p:to>
                                        <p:strVal val="visible"/>
                                      </p:to>
                                    </p:set>
                                    <p:anim calcmode="lin" valueType="num">
                                      <p:cBhvr additive="base">
                                        <p:cTn id="67" dur="500"/>
                                        <p:tgtEl>
                                          <p:spTgt spid="330">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2" presetClass="entr" presetSubtype="4" fill="hold" nodeType="clickEffect">
                                  <p:stCondLst>
                                    <p:cond delay="0"/>
                                  </p:stCondLst>
                                  <p:childTnLst>
                                    <p:set>
                                      <p:cBhvr>
                                        <p:cTn id="71" dur="1" fill="hold">
                                          <p:stCondLst>
                                            <p:cond delay="0"/>
                                          </p:stCondLst>
                                        </p:cTn>
                                        <p:tgtEl>
                                          <p:spTgt spid="330">
                                            <p:txEl>
                                              <p:pRg st="12" end="12"/>
                                            </p:txEl>
                                          </p:spTgt>
                                        </p:tgtEl>
                                        <p:attrNameLst>
                                          <p:attrName>style.visibility</p:attrName>
                                        </p:attrNameLst>
                                      </p:cBhvr>
                                      <p:to>
                                        <p:strVal val="visible"/>
                                      </p:to>
                                    </p:set>
                                    <p:anim calcmode="lin" valueType="num">
                                      <p:cBhvr additive="base">
                                        <p:cTn id="72" dur="500"/>
                                        <p:tgtEl>
                                          <p:spTgt spid="330">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2" presetClass="entr" presetSubtype="4" fill="hold" nodeType="clickEffect">
                                  <p:stCondLst>
                                    <p:cond delay="0"/>
                                  </p:stCondLst>
                                  <p:childTnLst>
                                    <p:set>
                                      <p:cBhvr>
                                        <p:cTn id="76" dur="1" fill="hold">
                                          <p:stCondLst>
                                            <p:cond delay="0"/>
                                          </p:stCondLst>
                                        </p:cTn>
                                        <p:tgtEl>
                                          <p:spTgt spid="330">
                                            <p:txEl>
                                              <p:pRg st="13" end="13"/>
                                            </p:txEl>
                                          </p:spTgt>
                                        </p:tgtEl>
                                        <p:attrNameLst>
                                          <p:attrName>style.visibility</p:attrName>
                                        </p:attrNameLst>
                                      </p:cBhvr>
                                      <p:to>
                                        <p:strVal val="visible"/>
                                      </p:to>
                                    </p:set>
                                    <p:anim calcmode="lin" valueType="num">
                                      <p:cBhvr additive="base">
                                        <p:cTn id="77" dur="500"/>
                                        <p:tgtEl>
                                          <p:spTgt spid="330">
                                            <p:txEl>
                                              <p:pRg st="13" end="13"/>
                                            </p:txEl>
                                          </p:spTgt>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2" presetClass="entr" presetSubtype="4" fill="hold" nodeType="clickEffect">
                                  <p:stCondLst>
                                    <p:cond delay="0"/>
                                  </p:stCondLst>
                                  <p:childTnLst>
                                    <p:set>
                                      <p:cBhvr>
                                        <p:cTn id="81" dur="1" fill="hold">
                                          <p:stCondLst>
                                            <p:cond delay="0"/>
                                          </p:stCondLst>
                                        </p:cTn>
                                        <p:tgtEl>
                                          <p:spTgt spid="330">
                                            <p:txEl>
                                              <p:pRg st="14" end="14"/>
                                            </p:txEl>
                                          </p:spTgt>
                                        </p:tgtEl>
                                        <p:attrNameLst>
                                          <p:attrName>style.visibility</p:attrName>
                                        </p:attrNameLst>
                                      </p:cBhvr>
                                      <p:to>
                                        <p:strVal val="visible"/>
                                      </p:to>
                                    </p:set>
                                    <p:anim calcmode="lin" valueType="num">
                                      <p:cBhvr additive="base">
                                        <p:cTn id="82" dur="500"/>
                                        <p:tgtEl>
                                          <p:spTgt spid="330">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ntr" presetSubtype="4" fill="hold" nodeType="clickEffect">
                                  <p:stCondLst>
                                    <p:cond delay="0"/>
                                  </p:stCondLst>
                                  <p:childTnLst>
                                    <p:set>
                                      <p:cBhvr>
                                        <p:cTn id="86" dur="1" fill="hold">
                                          <p:stCondLst>
                                            <p:cond delay="0"/>
                                          </p:stCondLst>
                                        </p:cTn>
                                        <p:tgtEl>
                                          <p:spTgt spid="330">
                                            <p:txEl>
                                              <p:pRg st="15" end="15"/>
                                            </p:txEl>
                                          </p:spTgt>
                                        </p:tgtEl>
                                        <p:attrNameLst>
                                          <p:attrName>style.visibility</p:attrName>
                                        </p:attrNameLst>
                                      </p:cBhvr>
                                      <p:to>
                                        <p:strVal val="visible"/>
                                      </p:to>
                                    </p:set>
                                    <p:anim calcmode="lin" valueType="num">
                                      <p:cBhvr additive="base">
                                        <p:cTn id="87" dur="500"/>
                                        <p:tgtEl>
                                          <p:spTgt spid="330">
                                            <p:txEl>
                                              <p:pRg st="15" end="15"/>
                                            </p:txEl>
                                          </p:spTgt>
                                        </p:tgtEl>
                                        <p:attrNameLst>
                                          <p:attrName>ppt_y</p:attrName>
                                        </p:attrNameLst>
                                      </p:cBhvr>
                                      <p:tavLst>
                                        <p:tav tm="0">
                                          <p:val>
                                            <p:strVal val="#ppt_y+1"/>
                                          </p:val>
                                        </p:tav>
                                        <p:tav tm="100000">
                                          <p:val>
                                            <p:strVal val="#ppt_y"/>
                                          </p:val>
                                        </p:tav>
                                      </p:tavLst>
                                    </p:anim>
                                  </p:childTnLst>
                                </p:cTn>
                              </p:par>
                            </p:childTnLst>
                          </p:cTn>
                        </p:par>
                      </p:childTnLst>
                    </p:cTn>
                  </p:par>
                  <p:par>
                    <p:cTn id="88" fill="hold">
                      <p:stCondLst>
                        <p:cond delay="indefinite"/>
                      </p:stCondLst>
                      <p:childTnLst>
                        <p:par>
                          <p:cTn id="89" fill="hold">
                            <p:stCondLst>
                              <p:cond delay="0"/>
                            </p:stCondLst>
                            <p:childTnLst>
                              <p:par>
                                <p:cTn id="90" presetID="2" presetClass="entr" presetSubtype="4" fill="hold" nodeType="clickEffect">
                                  <p:stCondLst>
                                    <p:cond delay="0"/>
                                  </p:stCondLst>
                                  <p:childTnLst>
                                    <p:set>
                                      <p:cBhvr>
                                        <p:cTn id="91" dur="1" fill="hold">
                                          <p:stCondLst>
                                            <p:cond delay="0"/>
                                          </p:stCondLst>
                                        </p:cTn>
                                        <p:tgtEl>
                                          <p:spTgt spid="330">
                                            <p:txEl>
                                              <p:pRg st="16" end="16"/>
                                            </p:txEl>
                                          </p:spTgt>
                                        </p:tgtEl>
                                        <p:attrNameLst>
                                          <p:attrName>style.visibility</p:attrName>
                                        </p:attrNameLst>
                                      </p:cBhvr>
                                      <p:to>
                                        <p:strVal val="visible"/>
                                      </p:to>
                                    </p:set>
                                    <p:anim calcmode="lin" valueType="num">
                                      <p:cBhvr additive="base">
                                        <p:cTn id="92" dur="500"/>
                                        <p:tgtEl>
                                          <p:spTgt spid="330">
                                            <p:txEl>
                                              <p:pRg st="16" end="16"/>
                                            </p:txEl>
                                          </p:spTgt>
                                        </p:tgtEl>
                                        <p:attrNameLst>
                                          <p:attrName>ppt_y</p:attrName>
                                        </p:attrNameLst>
                                      </p:cBhvr>
                                      <p:tavLst>
                                        <p:tav tm="0">
                                          <p:val>
                                            <p:strVal val="#ppt_y+1"/>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nodeType="clickEffect">
                                  <p:stCondLst>
                                    <p:cond delay="0"/>
                                  </p:stCondLst>
                                  <p:childTnLst>
                                    <p:set>
                                      <p:cBhvr>
                                        <p:cTn id="96" dur="1" fill="hold">
                                          <p:stCondLst>
                                            <p:cond delay="0"/>
                                          </p:stCondLst>
                                        </p:cTn>
                                        <p:tgtEl>
                                          <p:spTgt spid="330">
                                            <p:txEl>
                                              <p:pRg st="17" end="17"/>
                                            </p:txEl>
                                          </p:spTgt>
                                        </p:tgtEl>
                                        <p:attrNameLst>
                                          <p:attrName>style.visibility</p:attrName>
                                        </p:attrNameLst>
                                      </p:cBhvr>
                                      <p:to>
                                        <p:strVal val="visible"/>
                                      </p:to>
                                    </p:set>
                                    <p:anim calcmode="lin" valueType="num">
                                      <p:cBhvr additive="base">
                                        <p:cTn id="97" dur="500"/>
                                        <p:tgtEl>
                                          <p:spTgt spid="330">
                                            <p:txEl>
                                              <p:pRg st="17" end="1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6"/>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40</a:t>
            </a:fld>
            <a:endParaRPr sz="1400" b="0" i="0" u="none" strike="noStrike" cap="none">
              <a:solidFill>
                <a:srgbClr val="000000"/>
              </a:solidFill>
              <a:latin typeface="Arial"/>
              <a:ea typeface="Arial"/>
              <a:cs typeface="Arial"/>
              <a:sym typeface="Arial"/>
            </a:endParaRPr>
          </a:p>
        </p:txBody>
      </p:sp>
      <p:sp>
        <p:nvSpPr>
          <p:cNvPr id="260" name="Google Shape;260;p36"/>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2.2 Inference Rules for FDs (1) </a:t>
            </a:r>
            <a:endParaRPr/>
          </a:p>
        </p:txBody>
      </p:sp>
      <p:sp>
        <p:nvSpPr>
          <p:cNvPr id="261" name="Google Shape;261;p36"/>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90000"/>
              </a:lnSpc>
              <a:spcBef>
                <a:spcPts val="0"/>
              </a:spcBef>
              <a:spcAft>
                <a:spcPts val="0"/>
              </a:spcAft>
              <a:buClr>
                <a:srgbClr val="990033"/>
              </a:buClr>
              <a:buSzPts val="1440"/>
              <a:buFont typeface="Noto Sans Symbols"/>
              <a:buChar char="■"/>
            </a:pPr>
            <a:r>
              <a:rPr lang="en-US" sz="2400" b="0" i="0" u="none" dirty="0">
                <a:solidFill>
                  <a:schemeClr val="dk2"/>
                </a:solidFill>
                <a:latin typeface="Arial"/>
                <a:ea typeface="Arial"/>
                <a:cs typeface="Arial"/>
                <a:sym typeface="Arial"/>
              </a:rPr>
              <a:t>Given a set of FDs F, we can </a:t>
            </a:r>
            <a:r>
              <a:rPr lang="en-US" sz="2400" b="1" i="0" u="none" dirty="0">
                <a:solidFill>
                  <a:schemeClr val="dk2"/>
                </a:solidFill>
                <a:latin typeface="Arial"/>
                <a:ea typeface="Arial"/>
                <a:cs typeface="Arial"/>
                <a:sym typeface="Arial"/>
              </a:rPr>
              <a:t>infer</a:t>
            </a:r>
            <a:r>
              <a:rPr lang="en-US" sz="2400" b="0" i="0" u="none" dirty="0">
                <a:solidFill>
                  <a:schemeClr val="dk2"/>
                </a:solidFill>
                <a:latin typeface="Arial"/>
                <a:ea typeface="Arial"/>
                <a:cs typeface="Arial"/>
                <a:sym typeface="Arial"/>
              </a:rPr>
              <a:t> additional FDs that hold whenever the FDs in F hold</a:t>
            </a:r>
            <a:endParaRPr dirty="0"/>
          </a:p>
          <a:p>
            <a:pPr marL="342900" lvl="0" indent="-342900" algn="l" rtl="0">
              <a:lnSpc>
                <a:spcPct val="90000"/>
              </a:lnSpc>
              <a:spcBef>
                <a:spcPts val="480"/>
              </a:spcBef>
              <a:spcAft>
                <a:spcPts val="0"/>
              </a:spcAft>
              <a:buClr>
                <a:srgbClr val="990033"/>
              </a:buClr>
              <a:buSzPts val="1440"/>
              <a:buFont typeface="Noto Sans Symbols"/>
              <a:buChar char="■"/>
            </a:pPr>
            <a:r>
              <a:rPr lang="en-US" sz="2400" b="0" i="0" u="none" dirty="0">
                <a:solidFill>
                  <a:schemeClr val="dk2"/>
                </a:solidFill>
                <a:latin typeface="Arial"/>
                <a:ea typeface="Arial"/>
                <a:cs typeface="Arial"/>
                <a:sym typeface="Arial"/>
              </a:rPr>
              <a:t>Armstrong's inference rules:</a:t>
            </a:r>
            <a:endParaRPr dirty="0"/>
          </a:p>
          <a:p>
            <a:pPr marL="742950" lvl="1" indent="-285750" algn="l" rtl="0">
              <a:lnSpc>
                <a:spcPct val="90000"/>
              </a:lnSpc>
              <a:spcBef>
                <a:spcPts val="440"/>
              </a:spcBef>
              <a:spcAft>
                <a:spcPts val="0"/>
              </a:spcAft>
              <a:buClr>
                <a:schemeClr val="dk2"/>
              </a:buClr>
              <a:buSzPts val="1210"/>
              <a:buFont typeface="Noto Sans Symbols"/>
              <a:buChar char="■"/>
            </a:pPr>
            <a:r>
              <a:rPr lang="en-US" sz="2200" b="0" i="0" u="none" dirty="0">
                <a:solidFill>
                  <a:srgbClr val="800000"/>
                </a:solidFill>
                <a:highlight>
                  <a:srgbClr val="FFFF00"/>
                </a:highlight>
                <a:sym typeface="Arial"/>
              </a:rPr>
              <a:t>IR1. (</a:t>
            </a:r>
            <a:r>
              <a:rPr lang="en-US" sz="2200" b="1" i="0" u="none" dirty="0">
                <a:solidFill>
                  <a:srgbClr val="800000"/>
                </a:solidFill>
                <a:highlight>
                  <a:srgbClr val="FFFF00"/>
                </a:highlight>
                <a:sym typeface="Arial"/>
              </a:rPr>
              <a:t>Reflexive</a:t>
            </a:r>
            <a:r>
              <a:rPr lang="en-US" sz="2200" b="0" i="0" u="none" dirty="0">
                <a:solidFill>
                  <a:srgbClr val="800000"/>
                </a:solidFill>
                <a:highlight>
                  <a:srgbClr val="FFFF00"/>
                </a:highlight>
                <a:sym typeface="Arial"/>
              </a:rPr>
              <a:t>) If Y </a:t>
            </a:r>
            <a:r>
              <a:rPr lang="en-US" sz="2200" b="0" i="1" u="none" dirty="0">
                <a:solidFill>
                  <a:srgbClr val="800000"/>
                </a:solidFill>
                <a:highlight>
                  <a:srgbClr val="FFFF00"/>
                </a:highlight>
                <a:sym typeface="Arial"/>
              </a:rPr>
              <a:t>subset-of</a:t>
            </a:r>
            <a:r>
              <a:rPr lang="en-US" sz="2200" b="0" i="0" u="none" dirty="0">
                <a:solidFill>
                  <a:srgbClr val="800000"/>
                </a:solidFill>
                <a:highlight>
                  <a:srgbClr val="FFFF00"/>
                </a:highlight>
                <a:sym typeface="Arial"/>
              </a:rPr>
              <a:t> X, then X -&gt; Y</a:t>
            </a:r>
          </a:p>
          <a:p>
            <a:pPr marL="0" lvl="0" indent="0">
              <a:lnSpc>
                <a:spcPct val="90000"/>
              </a:lnSpc>
              <a:spcBef>
                <a:spcPts val="1000"/>
              </a:spcBef>
              <a:buClr>
                <a:srgbClr val="000000"/>
              </a:buClr>
              <a:buSzPct val="100000"/>
              <a:buNone/>
            </a:pPr>
            <a:r>
              <a:rPr lang="en-US" dirty="0">
                <a:solidFill>
                  <a:srgbClr val="000000"/>
                </a:solidFill>
                <a:highlight>
                  <a:srgbClr val="FFFF00"/>
                </a:highlight>
                <a:latin typeface="Inter"/>
                <a:ea typeface="Inter"/>
                <a:cs typeface="Inter"/>
                <a:sym typeface="Inter"/>
              </a:rPr>
              <a:t>	</a:t>
            </a:r>
            <a:r>
              <a:rPr lang="en-US" sz="2000" dirty="0">
                <a:solidFill>
                  <a:srgbClr val="000000"/>
                </a:solidFill>
                <a:highlight>
                  <a:srgbClr val="FFFF00"/>
                </a:highlight>
                <a:latin typeface="Inter"/>
                <a:ea typeface="Inter"/>
                <a:cs typeface="Inter"/>
                <a:sym typeface="Inter"/>
              </a:rPr>
              <a:t>If X </a:t>
            </a:r>
            <a:r>
              <a:rPr lang="en-US" sz="2000" dirty="0">
                <a:solidFill>
                  <a:srgbClr val="202124"/>
                </a:solidFill>
                <a:highlight>
                  <a:srgbClr val="FFFF00"/>
                </a:highlight>
                <a:latin typeface="arial"/>
                <a:ea typeface="arial"/>
                <a:cs typeface="arial"/>
                <a:sym typeface="arial"/>
              </a:rPr>
              <a:t>⊆</a:t>
            </a:r>
            <a:r>
              <a:rPr lang="en-US" sz="2000" dirty="0">
                <a:solidFill>
                  <a:srgbClr val="000000"/>
                </a:solidFill>
                <a:highlight>
                  <a:srgbClr val="FFFF00"/>
                </a:highlight>
                <a:latin typeface="Inter"/>
                <a:ea typeface="Inter"/>
                <a:cs typeface="Inter"/>
                <a:sym typeface="Inter"/>
              </a:rPr>
              <a:t> Y then X  →  Y  </a:t>
            </a:r>
            <a:endParaRPr lang="en-US" sz="2000" dirty="0">
              <a:highlight>
                <a:srgbClr val="FFFF00"/>
              </a:highlight>
            </a:endParaRPr>
          </a:p>
          <a:p>
            <a:pPr marL="685800" lvl="1" indent="-228600" algn="just">
              <a:lnSpc>
                <a:spcPct val="90000"/>
              </a:lnSpc>
              <a:spcBef>
                <a:spcPts val="1000"/>
              </a:spcBef>
              <a:buClr>
                <a:srgbClr val="333333"/>
              </a:buClr>
              <a:buSzPct val="100000"/>
              <a:buChar char="•"/>
            </a:pPr>
            <a:r>
              <a:rPr lang="en-US" sz="2000" b="1" dirty="0">
                <a:solidFill>
                  <a:srgbClr val="333333"/>
                </a:solidFill>
                <a:highlight>
                  <a:srgbClr val="FFFF00"/>
                </a:highlight>
                <a:latin typeface="Inter"/>
                <a:ea typeface="Inter"/>
                <a:cs typeface="Inter"/>
                <a:sym typeface="Inter"/>
              </a:rPr>
              <a:t>Example:</a:t>
            </a:r>
            <a:endParaRPr lang="en-US" sz="2000" dirty="0">
              <a:solidFill>
                <a:srgbClr val="333333"/>
              </a:solidFill>
              <a:highlight>
                <a:srgbClr val="FFFF00"/>
              </a:highlight>
              <a:latin typeface="Inter"/>
              <a:ea typeface="Inter"/>
              <a:cs typeface="Inter"/>
              <a:sym typeface="Inter"/>
            </a:endParaRPr>
          </a:p>
          <a:p>
            <a:pPr marL="0" lvl="0" indent="0" algn="just">
              <a:lnSpc>
                <a:spcPct val="90000"/>
              </a:lnSpc>
              <a:spcBef>
                <a:spcPts val="1000"/>
              </a:spcBef>
              <a:buClr>
                <a:srgbClr val="000000"/>
              </a:buClr>
              <a:buSzPct val="100000"/>
              <a:buNone/>
            </a:pPr>
            <a:r>
              <a:rPr lang="en-US" sz="2000" dirty="0">
                <a:solidFill>
                  <a:srgbClr val="000000"/>
                </a:solidFill>
                <a:highlight>
                  <a:srgbClr val="FFFF00"/>
                </a:highlight>
                <a:latin typeface="Inter"/>
                <a:ea typeface="Inter"/>
                <a:cs typeface="Inter"/>
                <a:sym typeface="Inter"/>
              </a:rPr>
              <a:t>  	{</a:t>
            </a:r>
            <a:r>
              <a:rPr lang="en-US" sz="2000" dirty="0" err="1">
                <a:solidFill>
                  <a:srgbClr val="000000"/>
                </a:solidFill>
                <a:highlight>
                  <a:srgbClr val="FFFF00"/>
                </a:highlight>
                <a:latin typeface="Inter"/>
                <a:ea typeface="Inter"/>
                <a:cs typeface="Inter"/>
                <a:sym typeface="Inter"/>
              </a:rPr>
              <a:t>Rno,Name</a:t>
            </a:r>
            <a:r>
              <a:rPr lang="en-US" sz="2000" dirty="0">
                <a:solidFill>
                  <a:srgbClr val="000000"/>
                </a:solidFill>
                <a:highlight>
                  <a:srgbClr val="FFFF00"/>
                </a:highlight>
                <a:latin typeface="Inter"/>
                <a:ea typeface="Inter"/>
                <a:cs typeface="Inter"/>
                <a:sym typeface="Inter"/>
              </a:rPr>
              <a:t>} -&gt; Name </a:t>
            </a:r>
            <a:endParaRPr lang="en-US" sz="2000" dirty="0">
              <a:highlight>
                <a:srgbClr val="FFFF00"/>
              </a:highlight>
            </a:endParaRPr>
          </a:p>
          <a:p>
            <a:pPr marL="0" lvl="0" indent="0" algn="just">
              <a:lnSpc>
                <a:spcPct val="90000"/>
              </a:lnSpc>
              <a:spcBef>
                <a:spcPts val="1000"/>
              </a:spcBef>
              <a:buClr>
                <a:srgbClr val="000000"/>
              </a:buClr>
              <a:buSzPct val="100000"/>
              <a:buNone/>
            </a:pPr>
            <a:r>
              <a:rPr lang="en-US" sz="2000" dirty="0">
                <a:solidFill>
                  <a:srgbClr val="000000"/>
                </a:solidFill>
                <a:highlight>
                  <a:srgbClr val="FFFF00"/>
                </a:highlight>
                <a:latin typeface="Inter"/>
                <a:ea typeface="Inter"/>
                <a:cs typeface="Inter"/>
                <a:sym typeface="Inter"/>
              </a:rPr>
              <a:t>  	Here , name is a subset of {</a:t>
            </a:r>
            <a:r>
              <a:rPr lang="en-US" sz="2000" dirty="0" err="1">
                <a:solidFill>
                  <a:srgbClr val="000000"/>
                </a:solidFill>
                <a:highlight>
                  <a:srgbClr val="FFFF00"/>
                </a:highlight>
                <a:latin typeface="Inter"/>
                <a:ea typeface="Inter"/>
                <a:cs typeface="Inter"/>
                <a:sym typeface="Inter"/>
              </a:rPr>
              <a:t>rno</a:t>
            </a:r>
            <a:r>
              <a:rPr lang="en-US" sz="2000" dirty="0">
                <a:solidFill>
                  <a:srgbClr val="000000"/>
                </a:solidFill>
                <a:highlight>
                  <a:srgbClr val="FFFF00"/>
                </a:highlight>
                <a:latin typeface="Inter"/>
                <a:ea typeface="Inter"/>
                <a:cs typeface="Inter"/>
                <a:sym typeface="Inter"/>
              </a:rPr>
              <a:t>, name}</a:t>
            </a:r>
          </a:p>
          <a:p>
            <a:pPr marL="457200" lvl="1" indent="0" algn="l" rtl="0">
              <a:lnSpc>
                <a:spcPct val="90000"/>
              </a:lnSpc>
              <a:spcBef>
                <a:spcPts val="440"/>
              </a:spcBef>
              <a:spcAft>
                <a:spcPts val="0"/>
              </a:spcAft>
              <a:buClr>
                <a:schemeClr val="dk2"/>
              </a:buClr>
              <a:buSzPts val="1210"/>
              <a:buNone/>
            </a:pPr>
            <a:endParaRPr dirty="0"/>
          </a:p>
          <a:p>
            <a:pPr marL="742950" lvl="1" indent="-285750" algn="l" rtl="0">
              <a:lnSpc>
                <a:spcPct val="90000"/>
              </a:lnSpc>
              <a:spcBef>
                <a:spcPts val="440"/>
              </a:spcBef>
              <a:spcAft>
                <a:spcPts val="0"/>
              </a:spcAft>
              <a:buClr>
                <a:schemeClr val="dk2"/>
              </a:buClr>
              <a:buSzPts val="1210"/>
              <a:buFont typeface="Noto Sans Symbols"/>
              <a:buChar char="■"/>
            </a:pPr>
            <a:r>
              <a:rPr lang="en-US" sz="2200" b="0" i="0" u="none" dirty="0">
                <a:solidFill>
                  <a:srgbClr val="800000"/>
                </a:solidFill>
                <a:latin typeface="Arial"/>
                <a:ea typeface="Arial"/>
                <a:cs typeface="Arial"/>
                <a:sym typeface="Arial"/>
              </a:rPr>
              <a:t>IR2. (</a:t>
            </a:r>
            <a:r>
              <a:rPr lang="en-US" sz="2200" b="1" i="0" u="none" dirty="0">
                <a:solidFill>
                  <a:srgbClr val="800000"/>
                </a:solidFill>
                <a:latin typeface="Arial"/>
                <a:ea typeface="Arial"/>
                <a:cs typeface="Arial"/>
                <a:sym typeface="Arial"/>
              </a:rPr>
              <a:t>Augmentation</a:t>
            </a:r>
            <a:r>
              <a:rPr lang="en-US" sz="2200" b="0" i="0" u="none" dirty="0">
                <a:solidFill>
                  <a:srgbClr val="800000"/>
                </a:solidFill>
                <a:latin typeface="Arial"/>
                <a:ea typeface="Arial"/>
                <a:cs typeface="Arial"/>
                <a:sym typeface="Arial"/>
              </a:rPr>
              <a:t>) If X -&gt; Y, then XZ -&gt; YZ</a:t>
            </a:r>
            <a:endParaRPr dirty="0"/>
          </a:p>
          <a:p>
            <a:pPr marL="1143000" lvl="2" indent="-228600" algn="l" rtl="0">
              <a:lnSpc>
                <a:spcPct val="90000"/>
              </a:lnSpc>
              <a:spcBef>
                <a:spcPts val="400"/>
              </a:spcBef>
              <a:spcAft>
                <a:spcPts val="0"/>
              </a:spcAft>
              <a:buClr>
                <a:srgbClr val="990033"/>
              </a:buClr>
              <a:buSzPts val="1000"/>
              <a:buFont typeface="Noto Sans Symbols"/>
              <a:buChar char="■"/>
            </a:pPr>
            <a:r>
              <a:rPr lang="en-US" sz="2000" b="0" i="0" u="none" dirty="0">
                <a:solidFill>
                  <a:schemeClr val="dk2"/>
                </a:solidFill>
                <a:latin typeface="Arial"/>
                <a:ea typeface="Arial"/>
                <a:cs typeface="Arial"/>
                <a:sym typeface="Arial"/>
              </a:rPr>
              <a:t>(Notation: XZ stands for X U Z)</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61">
                                            <p:txEl>
                                              <p:pRg st="0" end="0"/>
                                            </p:txEl>
                                          </p:spTgt>
                                        </p:tgtEl>
                                        <p:attrNameLst>
                                          <p:attrName>style.visibility</p:attrName>
                                        </p:attrNameLst>
                                      </p:cBhvr>
                                      <p:to>
                                        <p:strVal val="visible"/>
                                      </p:to>
                                    </p:set>
                                    <p:anim calcmode="lin" valueType="num">
                                      <p:cBhvr additive="base">
                                        <p:cTn id="7" dur="500" fill="hold"/>
                                        <p:tgtEl>
                                          <p:spTgt spid="261">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61">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61">
                                            <p:txEl>
                                              <p:pRg st="1" end="1"/>
                                            </p:txEl>
                                          </p:spTgt>
                                        </p:tgtEl>
                                        <p:attrNameLst>
                                          <p:attrName>style.visibility</p:attrName>
                                        </p:attrNameLst>
                                      </p:cBhvr>
                                      <p:to>
                                        <p:strVal val="visible"/>
                                      </p:to>
                                    </p:set>
                                    <p:anim calcmode="lin" valueType="num">
                                      <p:cBhvr additive="base">
                                        <p:cTn id="13" dur="500" fill="hold"/>
                                        <p:tgtEl>
                                          <p:spTgt spid="261">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61">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261">
                                            <p:txEl>
                                              <p:pRg st="2" end="2"/>
                                            </p:txEl>
                                          </p:spTgt>
                                        </p:tgtEl>
                                        <p:attrNameLst>
                                          <p:attrName>style.visibility</p:attrName>
                                        </p:attrNameLst>
                                      </p:cBhvr>
                                      <p:to>
                                        <p:strVal val="visible"/>
                                      </p:to>
                                    </p:set>
                                    <p:anim calcmode="lin" valueType="num">
                                      <p:cBhvr additive="base">
                                        <p:cTn id="17" dur="500" fill="hold"/>
                                        <p:tgtEl>
                                          <p:spTgt spid="261">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261">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261">
                                            <p:txEl>
                                              <p:pRg st="3" end="3"/>
                                            </p:txEl>
                                          </p:spTgt>
                                        </p:tgtEl>
                                        <p:attrNameLst>
                                          <p:attrName>style.visibility</p:attrName>
                                        </p:attrNameLst>
                                      </p:cBhvr>
                                      <p:to>
                                        <p:strVal val="visible"/>
                                      </p:to>
                                    </p:set>
                                    <p:anim calcmode="lin" valueType="num">
                                      <p:cBhvr additive="base">
                                        <p:cTn id="23" dur="500" fill="hold"/>
                                        <p:tgtEl>
                                          <p:spTgt spid="261">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261">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61">
                                            <p:txEl>
                                              <p:pRg st="4" end="4"/>
                                            </p:txEl>
                                          </p:spTgt>
                                        </p:tgtEl>
                                        <p:attrNameLst>
                                          <p:attrName>style.visibility</p:attrName>
                                        </p:attrNameLst>
                                      </p:cBhvr>
                                      <p:to>
                                        <p:strVal val="visible"/>
                                      </p:to>
                                    </p:set>
                                    <p:anim calcmode="lin" valueType="num">
                                      <p:cBhvr additive="base">
                                        <p:cTn id="27" dur="500" fill="hold"/>
                                        <p:tgtEl>
                                          <p:spTgt spid="261">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261">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261">
                                            <p:txEl>
                                              <p:pRg st="5" end="5"/>
                                            </p:txEl>
                                          </p:spTgt>
                                        </p:tgtEl>
                                        <p:attrNameLst>
                                          <p:attrName>style.visibility</p:attrName>
                                        </p:attrNameLst>
                                      </p:cBhvr>
                                      <p:to>
                                        <p:strVal val="visible"/>
                                      </p:to>
                                    </p:set>
                                    <p:anim calcmode="lin" valueType="num">
                                      <p:cBhvr additive="base">
                                        <p:cTn id="33" dur="500" fill="hold"/>
                                        <p:tgtEl>
                                          <p:spTgt spid="261">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261">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261">
                                            <p:txEl>
                                              <p:pRg st="6" end="6"/>
                                            </p:txEl>
                                          </p:spTgt>
                                        </p:tgtEl>
                                        <p:attrNameLst>
                                          <p:attrName>style.visibility</p:attrName>
                                        </p:attrNameLst>
                                      </p:cBhvr>
                                      <p:to>
                                        <p:strVal val="visible"/>
                                      </p:to>
                                    </p:set>
                                    <p:anim calcmode="lin" valueType="num">
                                      <p:cBhvr additive="base">
                                        <p:cTn id="39" dur="500" fill="hold"/>
                                        <p:tgtEl>
                                          <p:spTgt spid="261">
                                            <p:txEl>
                                              <p:pRg st="6" end="6"/>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261">
                                            <p:txEl>
                                              <p:pRg st="6" end="6"/>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261">
                                            <p:txEl>
                                              <p:pRg st="8" end="8"/>
                                            </p:txEl>
                                          </p:spTgt>
                                        </p:tgtEl>
                                        <p:attrNameLst>
                                          <p:attrName>style.visibility</p:attrName>
                                        </p:attrNameLst>
                                      </p:cBhvr>
                                      <p:to>
                                        <p:strVal val="visible"/>
                                      </p:to>
                                    </p:set>
                                    <p:anim calcmode="lin" valueType="num">
                                      <p:cBhvr additive="base">
                                        <p:cTn id="43" dur="500" fill="hold"/>
                                        <p:tgtEl>
                                          <p:spTgt spid="261">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261">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261">
                                            <p:txEl>
                                              <p:pRg st="9" end="9"/>
                                            </p:txEl>
                                          </p:spTgt>
                                        </p:tgtEl>
                                        <p:attrNameLst>
                                          <p:attrName>style.visibility</p:attrName>
                                        </p:attrNameLst>
                                      </p:cBhvr>
                                      <p:to>
                                        <p:strVal val="visible"/>
                                      </p:to>
                                    </p:set>
                                    <p:anim calcmode="lin" valueType="num">
                                      <p:cBhvr additive="base">
                                        <p:cTn id="47" dur="500" fill="hold"/>
                                        <p:tgtEl>
                                          <p:spTgt spid="261">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261">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1"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Text Placeholder 2"/>
          <p:cNvSpPr>
            <a:spLocks noGrp="1"/>
          </p:cNvSpPr>
          <p:nvPr>
            <p:ph type="body" idx="1"/>
          </p:nvPr>
        </p:nvSpPr>
        <p:spPr/>
        <p:txBody>
          <a:bodyPr/>
          <a:lstStyle/>
          <a:p>
            <a:pPr marL="742950" lvl="1" indent="-285750">
              <a:lnSpc>
                <a:spcPct val="90000"/>
              </a:lnSpc>
              <a:spcBef>
                <a:spcPts val="440"/>
              </a:spcBef>
              <a:buSzPts val="1210"/>
            </a:pPr>
            <a:r>
              <a:rPr lang="en-US" sz="2200" dirty="0">
                <a:solidFill>
                  <a:srgbClr val="FF0000"/>
                </a:solidFill>
                <a:highlight>
                  <a:srgbClr val="FFFF00"/>
                </a:highlight>
              </a:rPr>
              <a:t>IR3. (</a:t>
            </a:r>
            <a:r>
              <a:rPr lang="en-US" sz="2200" b="1" dirty="0">
                <a:solidFill>
                  <a:srgbClr val="FF0000"/>
                </a:solidFill>
                <a:highlight>
                  <a:srgbClr val="FFFF00"/>
                </a:highlight>
              </a:rPr>
              <a:t>Transitive</a:t>
            </a:r>
            <a:r>
              <a:rPr lang="en-US" sz="2200" dirty="0">
                <a:solidFill>
                  <a:srgbClr val="FF0000"/>
                </a:solidFill>
                <a:highlight>
                  <a:srgbClr val="FFFF00"/>
                </a:highlight>
              </a:rPr>
              <a:t>) If X -&gt; Y and Y -&gt; Z, then X -&gt; Z</a:t>
            </a:r>
            <a:endParaRPr lang="en-US" dirty="0">
              <a:solidFill>
                <a:srgbClr val="FF0000"/>
              </a:solidFill>
              <a:highlight>
                <a:srgbClr val="FFFF00"/>
              </a:highlight>
            </a:endParaRPr>
          </a:p>
          <a:p>
            <a:pPr marL="342900" lvl="0" indent="-342900">
              <a:lnSpc>
                <a:spcPct val="90000"/>
              </a:lnSpc>
              <a:spcBef>
                <a:spcPts val="480"/>
              </a:spcBef>
              <a:buSzPts val="1440"/>
            </a:pPr>
            <a:endParaRPr lang="en-US" sz="2400" dirty="0"/>
          </a:p>
          <a:p>
            <a:pPr marL="342900" lvl="0" indent="-342900">
              <a:lnSpc>
                <a:spcPct val="90000"/>
              </a:lnSpc>
              <a:spcBef>
                <a:spcPts val="480"/>
              </a:spcBef>
              <a:buSzPts val="1440"/>
            </a:pPr>
            <a:r>
              <a:rPr lang="en-US" sz="2400" dirty="0"/>
              <a:t>IR1, IR2, IR3 form a </a:t>
            </a:r>
            <a:r>
              <a:rPr lang="en-US" sz="2400" b="1" dirty="0"/>
              <a:t>sound</a:t>
            </a:r>
            <a:r>
              <a:rPr lang="en-US" sz="2400" dirty="0"/>
              <a:t> and </a:t>
            </a:r>
            <a:r>
              <a:rPr lang="en-US" sz="2400" b="1" dirty="0"/>
              <a:t>complete</a:t>
            </a:r>
            <a:r>
              <a:rPr lang="en-US" sz="2400" dirty="0"/>
              <a:t> set of inference rules</a:t>
            </a:r>
            <a:endParaRPr lang="en-US" dirty="0"/>
          </a:p>
          <a:p>
            <a:pPr marL="742950" lvl="1" indent="-285750">
              <a:lnSpc>
                <a:spcPct val="90000"/>
              </a:lnSpc>
              <a:spcBef>
                <a:spcPts val="440"/>
              </a:spcBef>
              <a:buSzPts val="1210"/>
            </a:pPr>
            <a:r>
              <a:rPr lang="en-US" sz="2200" dirty="0"/>
              <a:t>These are rules hold and all other rules that hold can be deduced from these</a:t>
            </a:r>
            <a:endParaRPr lang="en-US" dirty="0"/>
          </a:p>
          <a:p>
            <a:endParaRPr lang="en-IN"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41</a:t>
            </a:fld>
            <a:endParaRPr lang="en-US"/>
          </a:p>
        </p:txBody>
      </p:sp>
    </p:spTree>
    <p:extLst>
      <p:ext uri="{BB962C8B-B14F-4D97-AF65-F5344CB8AC3E}">
        <p14:creationId xmlns:p14="http://schemas.microsoft.com/office/powerpoint/2010/main" val="30788903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37"/>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42</a:t>
            </a:fld>
            <a:endParaRPr sz="1400" b="0" i="0" u="none" strike="noStrike" cap="none">
              <a:solidFill>
                <a:srgbClr val="000000"/>
              </a:solidFill>
              <a:latin typeface="Arial"/>
              <a:ea typeface="Arial"/>
              <a:cs typeface="Arial"/>
              <a:sym typeface="Arial"/>
            </a:endParaRPr>
          </a:p>
        </p:txBody>
      </p:sp>
      <p:sp>
        <p:nvSpPr>
          <p:cNvPr id="268" name="Google Shape;268;p37"/>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Inference Rules for FDs (2)</a:t>
            </a:r>
            <a:endParaRPr/>
          </a:p>
        </p:txBody>
      </p:sp>
      <p:sp>
        <p:nvSpPr>
          <p:cNvPr id="269" name="Google Shape;269;p37"/>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90000"/>
              </a:lnSpc>
              <a:spcBef>
                <a:spcPts val="0"/>
              </a:spcBef>
              <a:spcAft>
                <a:spcPts val="0"/>
              </a:spcAft>
              <a:buClr>
                <a:srgbClr val="990033"/>
              </a:buClr>
              <a:buSzPts val="1680"/>
              <a:buFont typeface="Noto Sans Symbols"/>
              <a:buChar char="■"/>
            </a:pPr>
            <a:r>
              <a:rPr lang="en-US" sz="2800" b="0" i="0" u="none" dirty="0">
                <a:solidFill>
                  <a:schemeClr val="dk2"/>
                </a:solidFill>
                <a:latin typeface="Arial"/>
                <a:ea typeface="Arial"/>
                <a:cs typeface="Arial"/>
                <a:sym typeface="Arial"/>
              </a:rPr>
              <a:t>Some additional inference rules that are useful:</a:t>
            </a:r>
            <a:endParaRPr dirty="0"/>
          </a:p>
          <a:p>
            <a:pPr marL="742950" lvl="1" indent="-285750" algn="l" rtl="0">
              <a:lnSpc>
                <a:spcPct val="90000"/>
              </a:lnSpc>
              <a:spcBef>
                <a:spcPts val="520"/>
              </a:spcBef>
              <a:spcAft>
                <a:spcPts val="0"/>
              </a:spcAft>
              <a:buClr>
                <a:schemeClr val="dk2"/>
              </a:buClr>
              <a:buSzPts val="1430"/>
              <a:buFont typeface="Noto Sans Symbols"/>
              <a:buChar char="■"/>
            </a:pPr>
            <a:r>
              <a:rPr lang="en-US" sz="2600" b="1" i="0" u="none" dirty="0">
                <a:solidFill>
                  <a:srgbClr val="800000"/>
                </a:solidFill>
                <a:highlight>
                  <a:srgbClr val="FFFF00"/>
                </a:highlight>
                <a:latin typeface="Arial"/>
                <a:ea typeface="Arial"/>
                <a:cs typeface="Arial"/>
                <a:sym typeface="Arial"/>
              </a:rPr>
              <a:t>Decomposition:</a:t>
            </a:r>
            <a:r>
              <a:rPr lang="en-US" sz="2600" b="0" i="0" u="none" dirty="0">
                <a:solidFill>
                  <a:srgbClr val="800000"/>
                </a:solidFill>
                <a:highlight>
                  <a:srgbClr val="FFFF00"/>
                </a:highlight>
                <a:latin typeface="Arial"/>
                <a:ea typeface="Arial"/>
                <a:cs typeface="Arial"/>
                <a:sym typeface="Arial"/>
              </a:rPr>
              <a:t> If X -&gt; YZ, then X -&gt; Y and X -&gt; Z</a:t>
            </a:r>
            <a:endParaRPr dirty="0">
              <a:highlight>
                <a:srgbClr val="FFFF00"/>
              </a:highlight>
            </a:endParaRPr>
          </a:p>
          <a:p>
            <a:pPr marL="742950" lvl="1" indent="-285750" algn="l" rtl="0">
              <a:lnSpc>
                <a:spcPct val="90000"/>
              </a:lnSpc>
              <a:spcBef>
                <a:spcPts val="520"/>
              </a:spcBef>
              <a:spcAft>
                <a:spcPts val="0"/>
              </a:spcAft>
              <a:buClr>
                <a:schemeClr val="dk2"/>
              </a:buClr>
              <a:buSzPts val="1430"/>
              <a:buFont typeface="Noto Sans Symbols"/>
              <a:buChar char="■"/>
            </a:pPr>
            <a:r>
              <a:rPr lang="en-US" sz="2600" b="1" i="0" u="none" dirty="0">
                <a:solidFill>
                  <a:srgbClr val="800000"/>
                </a:solidFill>
                <a:highlight>
                  <a:srgbClr val="FFFF00"/>
                </a:highlight>
                <a:latin typeface="Arial"/>
                <a:ea typeface="Arial"/>
                <a:cs typeface="Arial"/>
                <a:sym typeface="Arial"/>
              </a:rPr>
              <a:t>Union:</a:t>
            </a:r>
            <a:r>
              <a:rPr lang="en-US" sz="2600" b="0" i="0" u="none" dirty="0">
                <a:solidFill>
                  <a:srgbClr val="800000"/>
                </a:solidFill>
                <a:highlight>
                  <a:srgbClr val="FFFF00"/>
                </a:highlight>
                <a:latin typeface="Arial"/>
                <a:ea typeface="Arial"/>
                <a:cs typeface="Arial"/>
                <a:sym typeface="Arial"/>
              </a:rPr>
              <a:t> If X -&gt; Y and X -&gt; Z, then X -&gt; YZ</a:t>
            </a:r>
            <a:endParaRPr dirty="0">
              <a:highlight>
                <a:srgbClr val="FFFF00"/>
              </a:highlight>
            </a:endParaRPr>
          </a:p>
          <a:p>
            <a:pPr marL="742950" lvl="1" indent="-285750" algn="l" rtl="0">
              <a:lnSpc>
                <a:spcPct val="90000"/>
              </a:lnSpc>
              <a:spcBef>
                <a:spcPts val="520"/>
              </a:spcBef>
              <a:spcAft>
                <a:spcPts val="0"/>
              </a:spcAft>
              <a:buClr>
                <a:schemeClr val="dk2"/>
              </a:buClr>
              <a:buSzPts val="1430"/>
              <a:buFont typeface="Noto Sans Symbols"/>
              <a:buChar char="■"/>
            </a:pPr>
            <a:r>
              <a:rPr lang="en-US" sz="2600" b="1" i="0" u="none" dirty="0" err="1">
                <a:solidFill>
                  <a:srgbClr val="800000"/>
                </a:solidFill>
                <a:highlight>
                  <a:srgbClr val="FFFF00"/>
                </a:highlight>
                <a:latin typeface="Arial"/>
                <a:ea typeface="Arial"/>
                <a:cs typeface="Arial"/>
                <a:sym typeface="Arial"/>
              </a:rPr>
              <a:t>Psuedotransitivity</a:t>
            </a:r>
            <a:r>
              <a:rPr lang="en-US" sz="2600" b="1" i="0" u="none" dirty="0">
                <a:solidFill>
                  <a:srgbClr val="800000"/>
                </a:solidFill>
                <a:highlight>
                  <a:srgbClr val="FFFF00"/>
                </a:highlight>
                <a:latin typeface="Arial"/>
                <a:ea typeface="Arial"/>
                <a:cs typeface="Arial"/>
                <a:sym typeface="Arial"/>
              </a:rPr>
              <a:t>:</a:t>
            </a:r>
            <a:r>
              <a:rPr lang="en-US" sz="2600" b="0" i="0" u="none" dirty="0">
                <a:solidFill>
                  <a:srgbClr val="800000"/>
                </a:solidFill>
                <a:highlight>
                  <a:srgbClr val="FFFF00"/>
                </a:highlight>
                <a:latin typeface="Arial"/>
                <a:ea typeface="Arial"/>
                <a:cs typeface="Arial"/>
                <a:sym typeface="Arial"/>
              </a:rPr>
              <a:t> If X -&gt; Y and WY -&gt; Z, then WX -&gt; Z</a:t>
            </a:r>
            <a:endParaRPr dirty="0">
              <a:highlight>
                <a:srgbClr val="FFFF00"/>
              </a:highlight>
            </a:endParaRPr>
          </a:p>
          <a:p>
            <a:pPr marL="342900" lvl="0" indent="-236220" algn="l" rtl="0">
              <a:lnSpc>
                <a:spcPct val="90000"/>
              </a:lnSpc>
              <a:spcBef>
                <a:spcPts val="560"/>
              </a:spcBef>
              <a:spcAft>
                <a:spcPts val="0"/>
              </a:spcAft>
              <a:buClr>
                <a:srgbClr val="990033"/>
              </a:buClr>
              <a:buSzPts val="1680"/>
              <a:buFont typeface="Noto Sans Symbols"/>
              <a:buNone/>
            </a:pPr>
            <a:endParaRPr sz="2800" b="0" i="0" u="none" dirty="0">
              <a:solidFill>
                <a:schemeClr val="dk2"/>
              </a:solidFill>
              <a:latin typeface="Arial"/>
              <a:ea typeface="Arial"/>
              <a:cs typeface="Arial"/>
              <a:sym typeface="Arial"/>
            </a:endParaRPr>
          </a:p>
          <a:p>
            <a:pPr marL="342900" lvl="0" indent="-342900" algn="l" rtl="0">
              <a:lnSpc>
                <a:spcPct val="90000"/>
              </a:lnSpc>
              <a:spcBef>
                <a:spcPts val="560"/>
              </a:spcBef>
              <a:spcAft>
                <a:spcPts val="0"/>
              </a:spcAft>
              <a:buClr>
                <a:srgbClr val="990033"/>
              </a:buClr>
              <a:buSzPts val="1680"/>
              <a:buFont typeface="Noto Sans Symbols"/>
              <a:buChar char="■"/>
            </a:pPr>
            <a:r>
              <a:rPr lang="en-US" sz="2800" b="0" i="0" u="none" dirty="0">
                <a:solidFill>
                  <a:schemeClr val="dk2"/>
                </a:solidFill>
                <a:latin typeface="Arial"/>
                <a:ea typeface="Arial"/>
                <a:cs typeface="Arial"/>
                <a:sym typeface="Arial"/>
              </a:rPr>
              <a:t>The last three inference rules, as well as any other inference rules, can be deduced from IR1, IR2, and IR3 (completeness property) </a:t>
            </a:r>
            <a:endParaRPr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38"/>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43</a:t>
            </a:fld>
            <a:endParaRPr sz="1400" b="0" i="0" u="none" strike="noStrike" cap="none">
              <a:solidFill>
                <a:srgbClr val="000000"/>
              </a:solidFill>
              <a:latin typeface="Arial"/>
              <a:ea typeface="Arial"/>
              <a:cs typeface="Arial"/>
              <a:sym typeface="Arial"/>
            </a:endParaRPr>
          </a:p>
        </p:txBody>
      </p:sp>
      <p:sp>
        <p:nvSpPr>
          <p:cNvPr id="276" name="Google Shape;276;p38"/>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Inference Rules for FDs (3)</a:t>
            </a:r>
            <a:endParaRPr/>
          </a:p>
        </p:txBody>
      </p:sp>
      <p:sp>
        <p:nvSpPr>
          <p:cNvPr id="277" name="Google Shape;277;p38"/>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680"/>
              <a:buFont typeface="Noto Sans Symbols"/>
              <a:buChar char="■"/>
            </a:pPr>
            <a:r>
              <a:rPr lang="en-US" sz="2800" b="1" i="0" u="none" dirty="0">
                <a:solidFill>
                  <a:schemeClr val="dk2"/>
                </a:solidFill>
                <a:latin typeface="Arial"/>
                <a:ea typeface="Arial"/>
                <a:cs typeface="Arial"/>
                <a:sym typeface="Arial"/>
              </a:rPr>
              <a:t>Closure</a:t>
            </a:r>
            <a:r>
              <a:rPr lang="en-US" sz="2800" b="0" i="0" u="none" dirty="0">
                <a:solidFill>
                  <a:schemeClr val="dk2"/>
                </a:solidFill>
                <a:latin typeface="Arial"/>
                <a:ea typeface="Arial"/>
                <a:cs typeface="Arial"/>
                <a:sym typeface="Arial"/>
              </a:rPr>
              <a:t> of a set F of FDs is the set F</a:t>
            </a:r>
            <a:r>
              <a:rPr lang="en-US" sz="2800" b="0" i="0" u="none" baseline="30000" dirty="0">
                <a:solidFill>
                  <a:schemeClr val="dk2"/>
                </a:solidFill>
                <a:latin typeface="Arial"/>
                <a:ea typeface="Arial"/>
                <a:cs typeface="Arial"/>
                <a:sym typeface="Arial"/>
              </a:rPr>
              <a:t>+</a:t>
            </a:r>
            <a:r>
              <a:rPr lang="en-US" sz="2800" b="0" i="0" u="none" dirty="0">
                <a:solidFill>
                  <a:schemeClr val="dk2"/>
                </a:solidFill>
                <a:latin typeface="Arial"/>
                <a:ea typeface="Arial"/>
                <a:cs typeface="Arial"/>
                <a:sym typeface="Arial"/>
              </a:rPr>
              <a:t> of all FDs that can be inferred from F</a:t>
            </a:r>
            <a:endParaRPr dirty="0"/>
          </a:p>
          <a:p>
            <a:pPr marL="342900" lvl="0" indent="-236220" algn="l" rtl="0">
              <a:lnSpc>
                <a:spcPct val="100000"/>
              </a:lnSpc>
              <a:spcBef>
                <a:spcPts val="560"/>
              </a:spcBef>
              <a:spcAft>
                <a:spcPts val="0"/>
              </a:spcAft>
              <a:buClr>
                <a:srgbClr val="990033"/>
              </a:buClr>
              <a:buSzPts val="1680"/>
              <a:buFont typeface="Noto Sans Symbols"/>
              <a:buNone/>
            </a:pPr>
            <a:endParaRPr sz="2800" b="0" i="0" u="none" dirty="0">
              <a:solidFill>
                <a:schemeClr val="dk2"/>
              </a:solidFill>
              <a:latin typeface="Arial"/>
              <a:ea typeface="Arial"/>
              <a:cs typeface="Arial"/>
              <a:sym typeface="Arial"/>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1" i="0" u="none" dirty="0">
                <a:solidFill>
                  <a:schemeClr val="dk2"/>
                </a:solidFill>
                <a:highlight>
                  <a:srgbClr val="FFFF00"/>
                </a:highlight>
                <a:latin typeface="Arial"/>
                <a:ea typeface="Arial"/>
                <a:cs typeface="Arial"/>
                <a:sym typeface="Arial"/>
              </a:rPr>
              <a:t>Closure</a:t>
            </a:r>
            <a:r>
              <a:rPr lang="en-US" sz="2800" b="0" i="0" u="none" dirty="0">
                <a:solidFill>
                  <a:schemeClr val="dk2"/>
                </a:solidFill>
                <a:highlight>
                  <a:srgbClr val="FFFF00"/>
                </a:highlight>
                <a:latin typeface="Arial"/>
                <a:ea typeface="Arial"/>
                <a:cs typeface="Arial"/>
                <a:sym typeface="Arial"/>
              </a:rPr>
              <a:t> of a set of attributes X with respect to F is the set X</a:t>
            </a:r>
            <a:r>
              <a:rPr lang="en-US" sz="2800" b="0" i="0" u="none" baseline="30000" dirty="0">
                <a:solidFill>
                  <a:schemeClr val="dk2"/>
                </a:solidFill>
                <a:highlight>
                  <a:srgbClr val="FFFF00"/>
                </a:highlight>
                <a:latin typeface="Arial"/>
                <a:ea typeface="Arial"/>
                <a:cs typeface="Arial"/>
                <a:sym typeface="Arial"/>
              </a:rPr>
              <a:t>+</a:t>
            </a:r>
            <a:r>
              <a:rPr lang="en-US" sz="2800" b="0" i="0" u="none" dirty="0">
                <a:solidFill>
                  <a:schemeClr val="dk2"/>
                </a:solidFill>
                <a:highlight>
                  <a:srgbClr val="FFFF00"/>
                </a:highlight>
                <a:latin typeface="Arial"/>
                <a:ea typeface="Arial"/>
                <a:cs typeface="Arial"/>
                <a:sym typeface="Arial"/>
              </a:rPr>
              <a:t> of all attributes that are functionally determined by X</a:t>
            </a:r>
            <a:endParaRPr dirty="0">
              <a:highlight>
                <a:srgbClr val="FFFF00"/>
              </a:highlight>
            </a:endParaRPr>
          </a:p>
          <a:p>
            <a:pPr marL="342900" lvl="0" indent="-236220" algn="l" rtl="0">
              <a:lnSpc>
                <a:spcPct val="100000"/>
              </a:lnSpc>
              <a:spcBef>
                <a:spcPts val="560"/>
              </a:spcBef>
              <a:spcAft>
                <a:spcPts val="0"/>
              </a:spcAft>
              <a:buClr>
                <a:srgbClr val="990033"/>
              </a:buClr>
              <a:buSzPts val="1680"/>
              <a:buFont typeface="Noto Sans Symbols"/>
              <a:buNone/>
            </a:pPr>
            <a:endParaRPr sz="2800" b="0" i="0" u="none" dirty="0">
              <a:solidFill>
                <a:schemeClr val="dk2"/>
              </a:solidFill>
              <a:latin typeface="Arial"/>
              <a:ea typeface="Arial"/>
              <a:cs typeface="Arial"/>
              <a:sym typeface="Arial"/>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dirty="0">
                <a:solidFill>
                  <a:schemeClr val="dk2"/>
                </a:solidFill>
                <a:latin typeface="Arial"/>
                <a:ea typeface="Arial"/>
                <a:cs typeface="Arial"/>
                <a:sym typeface="Arial"/>
              </a:rPr>
              <a:t>X</a:t>
            </a:r>
            <a:r>
              <a:rPr lang="en-US" sz="2800" b="0" i="0" u="none" baseline="30000" dirty="0">
                <a:solidFill>
                  <a:schemeClr val="dk2"/>
                </a:solidFill>
                <a:latin typeface="Arial"/>
                <a:ea typeface="Arial"/>
                <a:cs typeface="Arial"/>
                <a:sym typeface="Arial"/>
              </a:rPr>
              <a:t>+</a:t>
            </a:r>
            <a:r>
              <a:rPr lang="en-US" sz="2800" b="0" i="0" u="none" dirty="0">
                <a:solidFill>
                  <a:schemeClr val="dk2"/>
                </a:solidFill>
                <a:latin typeface="Arial"/>
                <a:ea typeface="Arial"/>
                <a:cs typeface="Arial"/>
                <a:sym typeface="Arial"/>
              </a:rPr>
              <a:t> can be calculated by repeatedly applying IR1, IR2, IR3 using the FDs in F </a:t>
            </a:r>
            <a:endParaRPr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27"/>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273239"/>
              </a:buClr>
              <a:buSzPts val="4400"/>
              <a:buFont typeface="Arial"/>
              <a:buNone/>
            </a:pPr>
            <a:r>
              <a:rPr lang="en-IN" b="1" i="0" u="sng">
                <a:solidFill>
                  <a:srgbClr val="273239"/>
                </a:solidFill>
                <a:latin typeface="Arial"/>
                <a:ea typeface="Arial"/>
                <a:cs typeface="Arial"/>
                <a:sym typeface="Arial"/>
              </a:rPr>
              <a:t>Types of Functional dependencies</a:t>
            </a:r>
            <a:endParaRPr/>
          </a:p>
        </p:txBody>
      </p:sp>
      <p:sp>
        <p:nvSpPr>
          <p:cNvPr id="265" name="Google Shape;265;p27"/>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a:bodyPr>
          <a:lstStyle/>
          <a:p>
            <a:pPr marL="228600" lvl="0" indent="-292100" algn="l" rtl="0">
              <a:spcBef>
                <a:spcPts val="1000"/>
              </a:spcBef>
              <a:spcAft>
                <a:spcPts val="0"/>
              </a:spcAft>
              <a:buClr>
                <a:srgbClr val="273239"/>
              </a:buClr>
              <a:buSzPts val="2800"/>
              <a:buFont typeface="Calibri"/>
              <a:buAutoNum type="arabicPeriod"/>
            </a:pPr>
            <a:r>
              <a:rPr lang="en-IN">
                <a:solidFill>
                  <a:srgbClr val="273239"/>
                </a:solidFill>
                <a:latin typeface="Arial"/>
                <a:ea typeface="Arial"/>
                <a:cs typeface="Arial"/>
                <a:sym typeface="Arial"/>
              </a:rPr>
              <a:t>Full dependency</a:t>
            </a:r>
            <a:endParaRPr/>
          </a:p>
          <a:p>
            <a:pPr marL="228600" lvl="0" indent="-292100" algn="l" rtl="0">
              <a:spcBef>
                <a:spcPts val="1000"/>
              </a:spcBef>
              <a:spcAft>
                <a:spcPts val="0"/>
              </a:spcAft>
              <a:buClr>
                <a:srgbClr val="273239"/>
              </a:buClr>
              <a:buSzPts val="2800"/>
              <a:buFont typeface="Calibri"/>
              <a:buAutoNum type="arabicPeriod"/>
            </a:pPr>
            <a:r>
              <a:rPr lang="en-IN">
                <a:solidFill>
                  <a:srgbClr val="273239"/>
                </a:solidFill>
                <a:latin typeface="Arial"/>
                <a:ea typeface="Arial"/>
                <a:cs typeface="Arial"/>
                <a:sym typeface="Arial"/>
              </a:rPr>
              <a:t>Partial dependancy</a:t>
            </a:r>
            <a:endParaRPr>
              <a:solidFill>
                <a:srgbClr val="273239"/>
              </a:solidFill>
              <a:latin typeface="Arial"/>
              <a:ea typeface="Arial"/>
              <a:cs typeface="Arial"/>
              <a:sym typeface="Arial"/>
            </a:endParaRPr>
          </a:p>
          <a:p>
            <a:pPr marL="228600" lvl="0" indent="-228600" algn="l" rtl="0">
              <a:lnSpc>
                <a:spcPct val="90000"/>
              </a:lnSpc>
              <a:spcBef>
                <a:spcPts val="0"/>
              </a:spcBef>
              <a:spcAft>
                <a:spcPts val="0"/>
              </a:spcAft>
              <a:buClr>
                <a:srgbClr val="273239"/>
              </a:buClr>
              <a:buSzPts val="2800"/>
              <a:buFont typeface="Calibri"/>
              <a:buAutoNum type="arabicPeriod"/>
            </a:pPr>
            <a:r>
              <a:rPr lang="en-IN" b="0" i="0">
                <a:solidFill>
                  <a:srgbClr val="273239"/>
                </a:solidFill>
                <a:latin typeface="Arial"/>
                <a:ea typeface="Arial"/>
                <a:cs typeface="Arial"/>
                <a:sym typeface="Arial"/>
              </a:rPr>
              <a:t>Trivial functional dependency</a:t>
            </a:r>
            <a:endParaRPr/>
          </a:p>
          <a:p>
            <a:pPr marL="228600" lvl="0" indent="-228600" algn="l" rtl="0">
              <a:lnSpc>
                <a:spcPct val="90000"/>
              </a:lnSpc>
              <a:spcBef>
                <a:spcPts val="1000"/>
              </a:spcBef>
              <a:spcAft>
                <a:spcPts val="0"/>
              </a:spcAft>
              <a:buClr>
                <a:srgbClr val="273239"/>
              </a:buClr>
              <a:buSzPts val="2800"/>
              <a:buFont typeface="Calibri"/>
              <a:buAutoNum type="arabicPeriod"/>
            </a:pPr>
            <a:r>
              <a:rPr lang="en-IN" b="0" i="0">
                <a:solidFill>
                  <a:srgbClr val="273239"/>
                </a:solidFill>
                <a:latin typeface="Arial"/>
                <a:ea typeface="Arial"/>
                <a:cs typeface="Arial"/>
                <a:sym typeface="Arial"/>
              </a:rPr>
              <a:t>Non-Trivial functional dependency</a:t>
            </a:r>
            <a:endParaRPr/>
          </a:p>
          <a:p>
            <a:pPr marL="228600" lvl="0" indent="-228600" algn="l" rtl="0">
              <a:lnSpc>
                <a:spcPct val="90000"/>
              </a:lnSpc>
              <a:spcBef>
                <a:spcPts val="1000"/>
              </a:spcBef>
              <a:spcAft>
                <a:spcPts val="0"/>
              </a:spcAft>
              <a:buClr>
                <a:srgbClr val="273239"/>
              </a:buClr>
              <a:buSzPts val="2800"/>
              <a:buFont typeface="Calibri"/>
              <a:buAutoNum type="arabicPeriod"/>
            </a:pPr>
            <a:r>
              <a:rPr lang="en-IN" b="0" i="0">
                <a:solidFill>
                  <a:srgbClr val="273239"/>
                </a:solidFill>
                <a:latin typeface="Arial"/>
                <a:ea typeface="Arial"/>
                <a:cs typeface="Arial"/>
                <a:sym typeface="Arial"/>
              </a:rPr>
              <a:t>Multivalued functional dependency</a:t>
            </a:r>
            <a:endParaRPr/>
          </a:p>
          <a:p>
            <a:pPr marL="228600" lvl="0" indent="-228600" algn="l" rtl="0">
              <a:lnSpc>
                <a:spcPct val="90000"/>
              </a:lnSpc>
              <a:spcBef>
                <a:spcPts val="1000"/>
              </a:spcBef>
              <a:spcAft>
                <a:spcPts val="0"/>
              </a:spcAft>
              <a:buClr>
                <a:srgbClr val="273239"/>
              </a:buClr>
              <a:buSzPts val="2800"/>
              <a:buFont typeface="Calibri"/>
              <a:buAutoNum type="arabicPeriod"/>
            </a:pPr>
            <a:r>
              <a:rPr lang="en-IN" b="0" i="0">
                <a:solidFill>
                  <a:srgbClr val="273239"/>
                </a:solidFill>
                <a:latin typeface="Arial"/>
                <a:ea typeface="Arial"/>
                <a:cs typeface="Arial"/>
                <a:sym typeface="Arial"/>
              </a:rPr>
              <a:t>Transitive functional dependency</a:t>
            </a:r>
            <a:endParaRPr b="0" i="0">
              <a:solidFill>
                <a:srgbClr val="273239"/>
              </a:solidFill>
              <a:latin typeface="Arial"/>
              <a:ea typeface="Arial"/>
              <a:cs typeface="Arial"/>
              <a:sym typeface="Arial"/>
            </a:endParaRPr>
          </a:p>
        </p:txBody>
      </p:sp>
    </p:spTree>
    <p:extLst>
      <p:ext uri="{BB962C8B-B14F-4D97-AF65-F5344CB8AC3E}">
        <p14:creationId xmlns:p14="http://schemas.microsoft.com/office/powerpoint/2010/main" val="24611166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28"/>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IN"/>
              <a:t>Fully functional dependency</a:t>
            </a:r>
            <a:endParaRPr/>
          </a:p>
        </p:txBody>
      </p:sp>
      <p:sp>
        <p:nvSpPr>
          <p:cNvPr id="271" name="Google Shape;271;p28"/>
          <p:cNvSpPr txBox="1">
            <a:spLocks noGrp="1"/>
          </p:cNvSpPr>
          <p:nvPr>
            <p:ph type="body" idx="1"/>
          </p:nvPr>
        </p:nvSpPr>
        <p:spPr>
          <a:xfrm>
            <a:off x="629562" y="1629196"/>
            <a:ext cx="38862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IN" dirty="0">
                <a:highlight>
                  <a:srgbClr val="FFFF00"/>
                </a:highlight>
              </a:rPr>
              <a:t>An attribute is fully functional dependent on X and if Y is FD on X but not FD on any proper subset of X.</a:t>
            </a:r>
            <a:endParaRPr dirty="0">
              <a:highlight>
                <a:srgbClr val="FFFF00"/>
              </a:highlight>
            </a:endParaRPr>
          </a:p>
          <a:p>
            <a:pPr marL="228600" lvl="0" indent="-50800" algn="l" rtl="0">
              <a:lnSpc>
                <a:spcPct val="90000"/>
              </a:lnSpc>
              <a:spcBef>
                <a:spcPts val="1000"/>
              </a:spcBef>
              <a:spcAft>
                <a:spcPts val="0"/>
              </a:spcAft>
              <a:buClr>
                <a:schemeClr val="dk1"/>
              </a:buClr>
              <a:buSzPts val="2800"/>
              <a:buNone/>
            </a:pPr>
            <a:endParaRPr dirty="0">
              <a:highlight>
                <a:srgbClr val="FFFF00"/>
              </a:highlight>
            </a:endParaRPr>
          </a:p>
        </p:txBody>
      </p:sp>
      <p:sp>
        <p:nvSpPr>
          <p:cNvPr id="2" name="Text Placeholder 1"/>
          <p:cNvSpPr>
            <a:spLocks noGrp="1"/>
          </p:cNvSpPr>
          <p:nvPr>
            <p:ph type="body" idx="2"/>
          </p:nvPr>
        </p:nvSpPr>
        <p:spPr/>
        <p:txBody>
          <a:bodyPr/>
          <a:lstStyle/>
          <a:p>
            <a:r>
              <a:rPr lang="en-US" dirty="0">
                <a:highlight>
                  <a:srgbClr val="FFFF00"/>
                </a:highlight>
              </a:rPr>
              <a:t>Here, </a:t>
            </a:r>
            <a:r>
              <a:rPr lang="en-US" dirty="0" err="1">
                <a:highlight>
                  <a:srgbClr val="FFFF00"/>
                </a:highlight>
              </a:rPr>
              <a:t>Eid</a:t>
            </a:r>
            <a:r>
              <a:rPr lang="en-US" dirty="0">
                <a:highlight>
                  <a:srgbClr val="FFFF00"/>
                </a:highlight>
              </a:rPr>
              <a:t> -&gt; </a:t>
            </a:r>
            <a:r>
              <a:rPr lang="en-US" dirty="0" err="1">
                <a:highlight>
                  <a:srgbClr val="FFFF00"/>
                </a:highlight>
              </a:rPr>
              <a:t>Dept</a:t>
            </a:r>
            <a:r>
              <a:rPr lang="en-US" dirty="0">
                <a:highlight>
                  <a:srgbClr val="FFFF00"/>
                </a:highlight>
              </a:rPr>
              <a:t> and </a:t>
            </a:r>
            <a:r>
              <a:rPr lang="en-US" dirty="0" err="1">
                <a:highlight>
                  <a:srgbClr val="FFFF00"/>
                </a:highlight>
              </a:rPr>
              <a:t>E_name</a:t>
            </a:r>
            <a:r>
              <a:rPr lang="en-US" dirty="0">
                <a:highlight>
                  <a:srgbClr val="FFFF00"/>
                </a:highlight>
              </a:rPr>
              <a:t> -&gt;</a:t>
            </a:r>
            <a:r>
              <a:rPr lang="en-US" dirty="0" err="1">
                <a:highlight>
                  <a:srgbClr val="FFFF00"/>
                </a:highlight>
              </a:rPr>
              <a:t>Dept</a:t>
            </a:r>
            <a:r>
              <a:rPr lang="en-US" dirty="0">
                <a:highlight>
                  <a:srgbClr val="FFFF00"/>
                </a:highlight>
              </a:rPr>
              <a:t>, these 2 functional dependencies doesn’t exist.</a:t>
            </a:r>
          </a:p>
          <a:p>
            <a:endParaRPr lang="en-US" dirty="0">
              <a:highlight>
                <a:srgbClr val="FFFF00"/>
              </a:highlight>
            </a:endParaRPr>
          </a:p>
          <a:p>
            <a:r>
              <a:rPr lang="en-US" dirty="0">
                <a:highlight>
                  <a:srgbClr val="FFFF00"/>
                </a:highlight>
              </a:rPr>
              <a:t>Hence , </a:t>
            </a:r>
          </a:p>
          <a:p>
            <a:r>
              <a:rPr lang="en-US" dirty="0" err="1">
                <a:highlight>
                  <a:srgbClr val="FFFF00"/>
                </a:highlight>
              </a:rPr>
              <a:t>Dept</a:t>
            </a:r>
            <a:r>
              <a:rPr lang="en-US" dirty="0">
                <a:highlight>
                  <a:srgbClr val="FFFF00"/>
                </a:highlight>
              </a:rPr>
              <a:t> is completely depend on {</a:t>
            </a:r>
            <a:r>
              <a:rPr lang="en-US" dirty="0" err="1">
                <a:highlight>
                  <a:srgbClr val="FFFF00"/>
                </a:highlight>
              </a:rPr>
              <a:t>Eid,Ename</a:t>
            </a:r>
            <a:r>
              <a:rPr lang="en-US" dirty="0">
                <a:highlight>
                  <a:srgbClr val="FFFF00"/>
                </a:highlight>
              </a:rPr>
              <a:t>}.</a:t>
            </a:r>
            <a:endParaRPr lang="en-IN" dirty="0">
              <a:highlight>
                <a:srgbClr val="FFFF00"/>
              </a:highlight>
            </a:endParaRPr>
          </a:p>
        </p:txBody>
      </p:sp>
      <p:pic>
        <p:nvPicPr>
          <p:cNvPr id="274" name="Google Shape;274;p28"/>
          <p:cNvPicPr preferRelativeResize="0"/>
          <p:nvPr/>
        </p:nvPicPr>
        <p:blipFill rotWithShape="1">
          <a:blip r:embed="rId3">
            <a:alphaModFix/>
          </a:blip>
          <a:srcRect/>
          <a:stretch/>
        </p:blipFill>
        <p:spPr>
          <a:xfrm>
            <a:off x="1614046" y="3757808"/>
            <a:ext cx="1778944" cy="1687417"/>
          </a:xfrm>
          <a:prstGeom prst="rect">
            <a:avLst/>
          </a:prstGeom>
          <a:noFill/>
          <a:ln>
            <a:noFill/>
          </a:ln>
        </p:spPr>
      </p:pic>
      <p:pic>
        <p:nvPicPr>
          <p:cNvPr id="277" name="Google Shape;277;p28"/>
          <p:cNvPicPr preferRelativeResize="0"/>
          <p:nvPr/>
        </p:nvPicPr>
        <p:blipFill rotWithShape="1">
          <a:blip r:embed="rId4">
            <a:alphaModFix/>
          </a:blip>
          <a:srcRect/>
          <a:stretch/>
        </p:blipFill>
        <p:spPr>
          <a:xfrm>
            <a:off x="1426156" y="5636712"/>
            <a:ext cx="2127861" cy="638232"/>
          </a:xfrm>
          <a:prstGeom prst="rect">
            <a:avLst/>
          </a:prstGeom>
          <a:noFill/>
          <a:ln>
            <a:noFill/>
          </a:ln>
        </p:spPr>
      </p:pic>
    </p:spTree>
    <p:extLst>
      <p:ext uri="{BB962C8B-B14F-4D97-AF65-F5344CB8AC3E}">
        <p14:creationId xmlns:p14="http://schemas.microsoft.com/office/powerpoint/2010/main" val="4061994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4"/>
                                        </p:tgtEl>
                                        <p:attrNameLst>
                                          <p:attrName>style.visibility</p:attrName>
                                        </p:attrNameLst>
                                      </p:cBhvr>
                                      <p:to>
                                        <p:strVal val="visible"/>
                                      </p:to>
                                    </p:set>
                                    <p:animEffect transition="in" filter="fade">
                                      <p:cBhvr>
                                        <p:cTn id="7" dur="500"/>
                                        <p:tgtEl>
                                          <p:spTgt spid="2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7"/>
                                        </p:tgtEl>
                                        <p:attrNameLst>
                                          <p:attrName>style.visibility</p:attrName>
                                        </p:attrNameLst>
                                      </p:cBhvr>
                                      <p:to>
                                        <p:strVal val="visible"/>
                                      </p:to>
                                    </p:set>
                                    <p:animEffect transition="in" filter="fade">
                                      <p:cBhvr>
                                        <p:cTn id="12" dur="1000"/>
                                        <p:tgtEl>
                                          <p:spTgt spid="2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28"/>
          <p:cNvSpPr txBox="1">
            <a:spLocks noGrp="1"/>
          </p:cNvSpPr>
          <p:nvPr>
            <p:ph type="title"/>
          </p:nvPr>
        </p:nvSpPr>
        <p:spPr>
          <a:xfrm>
            <a:off x="629562" y="332657"/>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IN" dirty="0"/>
              <a:t>Partial functional dependency</a:t>
            </a:r>
            <a:endParaRPr dirty="0"/>
          </a:p>
        </p:txBody>
      </p:sp>
      <p:sp>
        <p:nvSpPr>
          <p:cNvPr id="271" name="Google Shape;271;p28"/>
          <p:cNvSpPr txBox="1">
            <a:spLocks noGrp="1"/>
          </p:cNvSpPr>
          <p:nvPr>
            <p:ph type="body" idx="1"/>
          </p:nvPr>
        </p:nvSpPr>
        <p:spPr>
          <a:xfrm>
            <a:off x="629562" y="1700808"/>
            <a:ext cx="38862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IN" dirty="0">
                <a:highlight>
                  <a:srgbClr val="FFFF00"/>
                </a:highlight>
              </a:rPr>
              <a:t>An attribute is fully functional dependent on X and if Y is FD on X but not FD on any proper subset of X.</a:t>
            </a:r>
            <a:endParaRPr dirty="0">
              <a:highlight>
                <a:srgbClr val="FFFF00"/>
              </a:highlight>
            </a:endParaRPr>
          </a:p>
          <a:p>
            <a:pPr marL="228600" lvl="0" indent="-50800" algn="l" rtl="0">
              <a:lnSpc>
                <a:spcPct val="90000"/>
              </a:lnSpc>
              <a:spcBef>
                <a:spcPts val="1000"/>
              </a:spcBef>
              <a:spcAft>
                <a:spcPts val="0"/>
              </a:spcAft>
              <a:buClr>
                <a:schemeClr val="dk1"/>
              </a:buClr>
              <a:buSzPts val="2800"/>
              <a:buNone/>
            </a:pPr>
            <a:endParaRPr dirty="0">
              <a:highlight>
                <a:srgbClr val="FFFF00"/>
              </a:highlight>
            </a:endParaRPr>
          </a:p>
        </p:txBody>
      </p:sp>
      <p:sp>
        <p:nvSpPr>
          <p:cNvPr id="2" name="Text Placeholder 1"/>
          <p:cNvSpPr>
            <a:spLocks noGrp="1"/>
          </p:cNvSpPr>
          <p:nvPr>
            <p:ph type="body" idx="2"/>
          </p:nvPr>
        </p:nvSpPr>
        <p:spPr/>
        <p:txBody>
          <a:bodyPr/>
          <a:lstStyle/>
          <a:p>
            <a:r>
              <a:rPr lang="en-US" dirty="0">
                <a:highlight>
                  <a:srgbClr val="FFFF00"/>
                </a:highlight>
              </a:rPr>
              <a:t>Here, </a:t>
            </a:r>
            <a:r>
              <a:rPr lang="en-US" dirty="0" err="1">
                <a:highlight>
                  <a:srgbClr val="FFFF00"/>
                </a:highlight>
              </a:rPr>
              <a:t>Eid</a:t>
            </a:r>
            <a:r>
              <a:rPr lang="en-US" dirty="0">
                <a:highlight>
                  <a:srgbClr val="FFFF00"/>
                </a:highlight>
              </a:rPr>
              <a:t> -&gt; </a:t>
            </a:r>
            <a:r>
              <a:rPr lang="en-US" dirty="0" err="1">
                <a:highlight>
                  <a:srgbClr val="FFFF00"/>
                </a:highlight>
              </a:rPr>
              <a:t>Dept</a:t>
            </a:r>
            <a:r>
              <a:rPr lang="en-US" dirty="0">
                <a:highlight>
                  <a:srgbClr val="FFFF00"/>
                </a:highlight>
              </a:rPr>
              <a:t> and </a:t>
            </a:r>
            <a:r>
              <a:rPr lang="en-US" dirty="0" err="1">
                <a:highlight>
                  <a:srgbClr val="FFFF00"/>
                </a:highlight>
              </a:rPr>
              <a:t>E_name</a:t>
            </a:r>
            <a:r>
              <a:rPr lang="en-US" dirty="0">
                <a:highlight>
                  <a:srgbClr val="FFFF00"/>
                </a:highlight>
              </a:rPr>
              <a:t> -&gt;</a:t>
            </a:r>
            <a:r>
              <a:rPr lang="en-US" dirty="0" err="1">
                <a:highlight>
                  <a:srgbClr val="FFFF00"/>
                </a:highlight>
              </a:rPr>
              <a:t>Dept</a:t>
            </a:r>
            <a:r>
              <a:rPr lang="en-US" dirty="0">
                <a:highlight>
                  <a:srgbClr val="FFFF00"/>
                </a:highlight>
              </a:rPr>
              <a:t>, these 2 functional dependencies exist (individually).</a:t>
            </a:r>
          </a:p>
          <a:p>
            <a:r>
              <a:rPr lang="en-US" dirty="0">
                <a:highlight>
                  <a:srgbClr val="FFFF00"/>
                </a:highlight>
              </a:rPr>
              <a:t>That means either </a:t>
            </a:r>
            <a:r>
              <a:rPr lang="en-US" dirty="0" err="1">
                <a:highlight>
                  <a:srgbClr val="FFFF00"/>
                </a:highlight>
              </a:rPr>
              <a:t>Eid</a:t>
            </a:r>
            <a:r>
              <a:rPr lang="en-US" dirty="0">
                <a:highlight>
                  <a:srgbClr val="FFFF00"/>
                </a:highlight>
              </a:rPr>
              <a:t> or </a:t>
            </a:r>
            <a:r>
              <a:rPr lang="en-US" dirty="0" err="1">
                <a:highlight>
                  <a:srgbClr val="FFFF00"/>
                </a:highlight>
              </a:rPr>
              <a:t>Ename</a:t>
            </a:r>
            <a:r>
              <a:rPr lang="en-US" dirty="0">
                <a:highlight>
                  <a:srgbClr val="FFFF00"/>
                </a:highlight>
              </a:rPr>
              <a:t> can determine Dept.</a:t>
            </a:r>
          </a:p>
          <a:p>
            <a:r>
              <a:rPr lang="en-US" dirty="0">
                <a:highlight>
                  <a:srgbClr val="FFFF00"/>
                </a:highlight>
              </a:rPr>
              <a:t>Hence , </a:t>
            </a:r>
          </a:p>
          <a:p>
            <a:r>
              <a:rPr lang="en-US" dirty="0" err="1">
                <a:highlight>
                  <a:srgbClr val="FFFF00"/>
                </a:highlight>
              </a:rPr>
              <a:t>Dept</a:t>
            </a:r>
            <a:r>
              <a:rPr lang="en-US" dirty="0">
                <a:highlight>
                  <a:srgbClr val="FFFF00"/>
                </a:highlight>
              </a:rPr>
              <a:t> is partially depend on {</a:t>
            </a:r>
            <a:r>
              <a:rPr lang="en-US" dirty="0" err="1">
                <a:highlight>
                  <a:srgbClr val="FFFF00"/>
                </a:highlight>
              </a:rPr>
              <a:t>Eid,Ename</a:t>
            </a:r>
            <a:r>
              <a:rPr lang="en-US" dirty="0">
                <a:highlight>
                  <a:srgbClr val="FFFF00"/>
                </a:highlight>
              </a:rPr>
              <a:t>}.</a:t>
            </a:r>
            <a:endParaRPr lang="en-IN" dirty="0">
              <a:highlight>
                <a:srgbClr val="FFFF00"/>
              </a:highlight>
            </a:endParaRPr>
          </a:p>
          <a:p>
            <a:endParaRPr lang="en-IN" dirty="0">
              <a:highlight>
                <a:srgbClr val="FFFF00"/>
              </a:highlight>
            </a:endParaRPr>
          </a:p>
        </p:txBody>
      </p:sp>
      <p:pic>
        <p:nvPicPr>
          <p:cNvPr id="272" name="Google Shape;272;p28"/>
          <p:cNvPicPr preferRelativeResize="0"/>
          <p:nvPr/>
        </p:nvPicPr>
        <p:blipFill rotWithShape="1">
          <a:blip r:embed="rId3">
            <a:alphaModFix/>
          </a:blip>
          <a:srcRect/>
          <a:stretch/>
        </p:blipFill>
        <p:spPr>
          <a:xfrm>
            <a:off x="1439652" y="4005406"/>
            <a:ext cx="2057400" cy="1114425"/>
          </a:xfrm>
          <a:prstGeom prst="rect">
            <a:avLst/>
          </a:prstGeom>
          <a:noFill/>
          <a:ln>
            <a:noFill/>
          </a:ln>
        </p:spPr>
      </p:pic>
      <p:pic>
        <p:nvPicPr>
          <p:cNvPr id="273" name="Google Shape;273;p28"/>
          <p:cNvPicPr preferRelativeResize="0"/>
          <p:nvPr/>
        </p:nvPicPr>
        <p:blipFill rotWithShape="1">
          <a:blip r:embed="rId4">
            <a:alphaModFix/>
          </a:blip>
          <a:srcRect/>
          <a:stretch/>
        </p:blipFill>
        <p:spPr>
          <a:xfrm>
            <a:off x="1465254" y="5616059"/>
            <a:ext cx="2078831" cy="904875"/>
          </a:xfrm>
          <a:prstGeom prst="rect">
            <a:avLst/>
          </a:prstGeom>
          <a:noFill/>
          <a:ln>
            <a:noFill/>
          </a:ln>
        </p:spPr>
      </p:pic>
    </p:spTree>
    <p:extLst>
      <p:ext uri="{BB962C8B-B14F-4D97-AF65-F5344CB8AC3E}">
        <p14:creationId xmlns:p14="http://schemas.microsoft.com/office/powerpoint/2010/main" val="1355845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2"/>
                                        </p:tgtEl>
                                        <p:attrNameLst>
                                          <p:attrName>style.visibility</p:attrName>
                                        </p:attrNameLst>
                                      </p:cBhvr>
                                      <p:to>
                                        <p:strVal val="visible"/>
                                      </p:to>
                                    </p:set>
                                    <p:animEffect transition="in" filter="fade">
                                      <p:cBhvr>
                                        <p:cTn id="7" dur="500"/>
                                        <p:tgtEl>
                                          <p:spTgt spid="27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3"/>
                                        </p:tgtEl>
                                        <p:attrNameLst>
                                          <p:attrName>style.visibility</p:attrName>
                                        </p:attrNameLst>
                                      </p:cBhvr>
                                      <p:to>
                                        <p:strVal val="visible"/>
                                      </p:to>
                                    </p:set>
                                    <p:animEffect transition="in" filter="fade">
                                      <p:cBhvr>
                                        <p:cTn id="12" dur="1000"/>
                                        <p:tgtEl>
                                          <p:spTgt spid="2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29"/>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273239"/>
              </a:buClr>
              <a:buSzPts val="4400"/>
              <a:buFont typeface="Arial"/>
              <a:buNone/>
            </a:pPr>
            <a:r>
              <a:rPr lang="en-IN" b="1" i="0">
                <a:solidFill>
                  <a:srgbClr val="273239"/>
                </a:solidFill>
                <a:latin typeface="Arial"/>
                <a:ea typeface="Arial"/>
                <a:cs typeface="Arial"/>
                <a:sym typeface="Arial"/>
              </a:rPr>
              <a:t>Trivial Functional Dependency: </a:t>
            </a:r>
            <a:endParaRPr/>
          </a:p>
        </p:txBody>
      </p:sp>
      <p:sp>
        <p:nvSpPr>
          <p:cNvPr id="283" name="Google Shape;283;p29"/>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90000"/>
              </a:lnSpc>
              <a:spcBef>
                <a:spcPts val="0"/>
              </a:spcBef>
              <a:spcAft>
                <a:spcPts val="0"/>
              </a:spcAft>
              <a:buClr>
                <a:srgbClr val="273239"/>
              </a:buClr>
              <a:buSzPts val="2800"/>
              <a:buChar char="•"/>
            </a:pPr>
            <a:r>
              <a:rPr lang="en-IN" b="0" i="0" dirty="0">
                <a:solidFill>
                  <a:srgbClr val="273239"/>
                </a:solidFill>
                <a:highlight>
                  <a:srgbClr val="FFFF00"/>
                </a:highlight>
                <a:latin typeface="Arial"/>
                <a:ea typeface="Arial"/>
                <a:cs typeface="Arial"/>
                <a:sym typeface="Arial"/>
              </a:rPr>
              <a:t>In , a dependent is always a subset of the determinant.</a:t>
            </a:r>
            <a:br>
              <a:rPr lang="en-IN" dirty="0">
                <a:highlight>
                  <a:srgbClr val="FFFF00"/>
                </a:highlight>
              </a:rPr>
            </a:br>
            <a:r>
              <a:rPr lang="en-IN" b="0" i="0" dirty="0">
                <a:solidFill>
                  <a:srgbClr val="273239"/>
                </a:solidFill>
                <a:highlight>
                  <a:srgbClr val="FFFF00"/>
                </a:highlight>
                <a:latin typeface="Arial"/>
                <a:ea typeface="Arial"/>
                <a:cs typeface="Arial"/>
                <a:sym typeface="Arial"/>
              </a:rPr>
              <a:t>i.e. If </a:t>
            </a:r>
            <a:r>
              <a:rPr lang="en-IN" b="1" i="0" dirty="0">
                <a:solidFill>
                  <a:srgbClr val="273239"/>
                </a:solidFill>
                <a:highlight>
                  <a:srgbClr val="FFFF00"/>
                </a:highlight>
                <a:latin typeface="Arial"/>
                <a:ea typeface="Arial"/>
                <a:cs typeface="Arial"/>
                <a:sym typeface="Arial"/>
              </a:rPr>
              <a:t>X → Y</a:t>
            </a:r>
            <a:r>
              <a:rPr lang="en-IN" b="0" i="0" dirty="0">
                <a:solidFill>
                  <a:srgbClr val="273239"/>
                </a:solidFill>
                <a:highlight>
                  <a:srgbClr val="FFFF00"/>
                </a:highlight>
                <a:latin typeface="Arial"/>
                <a:ea typeface="Arial"/>
                <a:cs typeface="Arial"/>
                <a:sym typeface="Arial"/>
              </a:rPr>
              <a:t> and </a:t>
            </a:r>
            <a:r>
              <a:rPr lang="en-IN" b="1" i="0" dirty="0">
                <a:solidFill>
                  <a:srgbClr val="273239"/>
                </a:solidFill>
                <a:highlight>
                  <a:srgbClr val="FFFF00"/>
                </a:highlight>
                <a:latin typeface="Arial"/>
                <a:ea typeface="Arial"/>
                <a:cs typeface="Arial"/>
                <a:sym typeface="Arial"/>
              </a:rPr>
              <a:t>Y is the subset of X</a:t>
            </a:r>
            <a:r>
              <a:rPr lang="en-IN" b="0" i="0" dirty="0">
                <a:solidFill>
                  <a:srgbClr val="273239"/>
                </a:solidFill>
                <a:highlight>
                  <a:srgbClr val="FFFF00"/>
                </a:highlight>
                <a:latin typeface="Arial"/>
                <a:ea typeface="Arial"/>
                <a:cs typeface="Arial"/>
                <a:sym typeface="Arial"/>
              </a:rPr>
              <a:t>, then it is called trivial functional dependency</a:t>
            </a:r>
            <a:endParaRPr dirty="0">
              <a:highlight>
                <a:srgbClr val="FFFF00"/>
              </a:highlight>
            </a:endParaRPr>
          </a:p>
          <a:p>
            <a:pPr marL="228600" lvl="0" indent="-228600" algn="l" rtl="0">
              <a:lnSpc>
                <a:spcPct val="90000"/>
              </a:lnSpc>
              <a:spcBef>
                <a:spcPts val="1000"/>
              </a:spcBef>
              <a:spcAft>
                <a:spcPts val="0"/>
              </a:spcAft>
              <a:buClr>
                <a:srgbClr val="273239"/>
              </a:buClr>
              <a:buSzPts val="2800"/>
              <a:buChar char="•"/>
            </a:pPr>
            <a:r>
              <a:rPr lang="en-IN" b="1" i="0" dirty="0">
                <a:solidFill>
                  <a:srgbClr val="273239"/>
                </a:solidFill>
                <a:latin typeface="Arial"/>
                <a:ea typeface="Arial"/>
                <a:cs typeface="Arial"/>
                <a:sym typeface="Arial"/>
              </a:rPr>
              <a:t>For example,</a:t>
            </a:r>
            <a:endParaRPr dirty="0"/>
          </a:p>
          <a:p>
            <a:pPr marL="228600" lvl="0" indent="-228600" algn="l" rtl="0">
              <a:lnSpc>
                <a:spcPct val="90000"/>
              </a:lnSpc>
              <a:spcBef>
                <a:spcPts val="1000"/>
              </a:spcBef>
              <a:spcAft>
                <a:spcPts val="0"/>
              </a:spcAft>
              <a:buClr>
                <a:srgbClr val="273239"/>
              </a:buClr>
              <a:buSzPts val="2800"/>
              <a:buChar char="•"/>
            </a:pPr>
            <a:r>
              <a:rPr lang="en-IN" b="0" i="0" dirty="0">
                <a:solidFill>
                  <a:srgbClr val="273239"/>
                </a:solidFill>
                <a:latin typeface="Arial"/>
                <a:ea typeface="Arial"/>
                <a:cs typeface="Arial"/>
                <a:sym typeface="Arial"/>
              </a:rPr>
              <a:t>Here, </a:t>
            </a:r>
            <a:r>
              <a:rPr lang="en-IN" b="1" i="0" dirty="0">
                <a:solidFill>
                  <a:srgbClr val="273239"/>
                </a:solidFill>
                <a:latin typeface="Arial"/>
                <a:ea typeface="Arial"/>
                <a:cs typeface="Arial"/>
                <a:sym typeface="Arial"/>
              </a:rPr>
              <a:t>{</a:t>
            </a:r>
            <a:r>
              <a:rPr lang="en-IN" b="1" i="0" dirty="0" err="1">
                <a:solidFill>
                  <a:srgbClr val="273239"/>
                </a:solidFill>
                <a:latin typeface="Arial"/>
                <a:ea typeface="Arial"/>
                <a:cs typeface="Arial"/>
                <a:sym typeface="Arial"/>
              </a:rPr>
              <a:t>roll_no</a:t>
            </a:r>
            <a:r>
              <a:rPr lang="en-IN" b="1" i="0" dirty="0">
                <a:solidFill>
                  <a:srgbClr val="273239"/>
                </a:solidFill>
                <a:latin typeface="Arial"/>
                <a:ea typeface="Arial"/>
                <a:cs typeface="Arial"/>
                <a:sym typeface="Arial"/>
              </a:rPr>
              <a:t>, name} → name</a:t>
            </a:r>
            <a:r>
              <a:rPr lang="en-IN" b="0" i="0" dirty="0">
                <a:solidFill>
                  <a:srgbClr val="273239"/>
                </a:solidFill>
                <a:latin typeface="Arial"/>
                <a:ea typeface="Arial"/>
                <a:cs typeface="Arial"/>
                <a:sym typeface="Arial"/>
              </a:rPr>
              <a:t> is a trivial functional dependency, since the dependent </a:t>
            </a:r>
            <a:r>
              <a:rPr lang="en-IN" b="1" i="0" dirty="0">
                <a:solidFill>
                  <a:srgbClr val="273239"/>
                </a:solidFill>
                <a:latin typeface="Arial"/>
                <a:ea typeface="Arial"/>
                <a:cs typeface="Arial"/>
                <a:sym typeface="Arial"/>
              </a:rPr>
              <a:t>name</a:t>
            </a:r>
            <a:r>
              <a:rPr lang="en-IN" b="0" i="0" dirty="0">
                <a:solidFill>
                  <a:srgbClr val="273239"/>
                </a:solidFill>
                <a:latin typeface="Arial"/>
                <a:ea typeface="Arial"/>
                <a:cs typeface="Arial"/>
                <a:sym typeface="Arial"/>
              </a:rPr>
              <a:t> is a subset of determinant set </a:t>
            </a:r>
            <a:r>
              <a:rPr lang="en-IN" b="1" i="0" dirty="0">
                <a:solidFill>
                  <a:srgbClr val="273239"/>
                </a:solidFill>
                <a:latin typeface="Arial"/>
                <a:ea typeface="Arial"/>
                <a:cs typeface="Arial"/>
                <a:sym typeface="Arial"/>
              </a:rPr>
              <a:t>{</a:t>
            </a:r>
            <a:r>
              <a:rPr lang="en-IN" b="1" i="0" dirty="0" err="1">
                <a:solidFill>
                  <a:srgbClr val="273239"/>
                </a:solidFill>
                <a:latin typeface="Arial"/>
                <a:ea typeface="Arial"/>
                <a:cs typeface="Arial"/>
                <a:sym typeface="Arial"/>
              </a:rPr>
              <a:t>roll_no</a:t>
            </a:r>
            <a:r>
              <a:rPr lang="en-IN" b="1" i="0" dirty="0">
                <a:solidFill>
                  <a:srgbClr val="273239"/>
                </a:solidFill>
                <a:latin typeface="Arial"/>
                <a:ea typeface="Arial"/>
                <a:cs typeface="Arial"/>
                <a:sym typeface="Arial"/>
              </a:rPr>
              <a:t>, name}</a:t>
            </a:r>
            <a:br>
              <a:rPr lang="en-IN" dirty="0"/>
            </a:br>
            <a:r>
              <a:rPr lang="en-IN" b="0" i="0" dirty="0">
                <a:solidFill>
                  <a:srgbClr val="273239"/>
                </a:solidFill>
                <a:latin typeface="Arial"/>
                <a:ea typeface="Arial"/>
                <a:cs typeface="Arial"/>
                <a:sym typeface="Arial"/>
              </a:rPr>
              <a:t>Similarly, </a:t>
            </a:r>
            <a:r>
              <a:rPr lang="en-IN" b="1" i="0" dirty="0" err="1">
                <a:solidFill>
                  <a:srgbClr val="273239"/>
                </a:solidFill>
                <a:latin typeface="Arial"/>
                <a:ea typeface="Arial"/>
                <a:cs typeface="Arial"/>
                <a:sym typeface="Arial"/>
              </a:rPr>
              <a:t>roll_no</a:t>
            </a:r>
            <a:r>
              <a:rPr lang="en-IN" b="1" i="0" dirty="0">
                <a:solidFill>
                  <a:srgbClr val="273239"/>
                </a:solidFill>
                <a:latin typeface="Arial"/>
                <a:ea typeface="Arial"/>
                <a:cs typeface="Arial"/>
                <a:sym typeface="Arial"/>
              </a:rPr>
              <a:t> → </a:t>
            </a:r>
            <a:r>
              <a:rPr lang="en-IN" b="1" i="0" dirty="0" err="1">
                <a:solidFill>
                  <a:srgbClr val="273239"/>
                </a:solidFill>
                <a:latin typeface="Arial"/>
                <a:ea typeface="Arial"/>
                <a:cs typeface="Arial"/>
                <a:sym typeface="Arial"/>
              </a:rPr>
              <a:t>roll_no</a:t>
            </a:r>
            <a:r>
              <a:rPr lang="en-IN" b="1" i="0" dirty="0">
                <a:solidFill>
                  <a:srgbClr val="273239"/>
                </a:solidFill>
                <a:latin typeface="Arial"/>
                <a:ea typeface="Arial"/>
                <a:cs typeface="Arial"/>
                <a:sym typeface="Arial"/>
              </a:rPr>
              <a:t> </a:t>
            </a:r>
            <a:r>
              <a:rPr lang="en-IN" b="0" i="0" dirty="0">
                <a:solidFill>
                  <a:srgbClr val="273239"/>
                </a:solidFill>
                <a:latin typeface="Arial"/>
                <a:ea typeface="Arial"/>
                <a:cs typeface="Arial"/>
                <a:sym typeface="Arial"/>
              </a:rPr>
              <a:t>is also an example of trivial functional dependency. </a:t>
            </a:r>
            <a:endParaRPr dirty="0"/>
          </a:p>
        </p:txBody>
      </p:sp>
      <p:pic>
        <p:nvPicPr>
          <p:cNvPr id="284" name="Google Shape;284;p29"/>
          <p:cNvPicPr preferRelativeResize="0"/>
          <p:nvPr/>
        </p:nvPicPr>
        <p:blipFill rotWithShape="1">
          <a:blip r:embed="rId3">
            <a:alphaModFix/>
          </a:blip>
          <a:srcRect/>
          <a:stretch/>
        </p:blipFill>
        <p:spPr>
          <a:xfrm>
            <a:off x="7421574" y="5261114"/>
            <a:ext cx="968202" cy="1379805"/>
          </a:xfrm>
          <a:prstGeom prst="rect">
            <a:avLst/>
          </a:prstGeom>
          <a:noFill/>
          <a:ln>
            <a:noFill/>
          </a:ln>
        </p:spPr>
      </p:pic>
    </p:spTree>
    <p:extLst>
      <p:ext uri="{BB962C8B-B14F-4D97-AF65-F5344CB8AC3E}">
        <p14:creationId xmlns:p14="http://schemas.microsoft.com/office/powerpoint/2010/main" val="23481045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0"/>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273239"/>
              </a:buClr>
              <a:buSzPts val="4400"/>
              <a:buFont typeface="Arial"/>
              <a:buNone/>
            </a:pPr>
            <a:r>
              <a:rPr lang="en-IN" b="1" i="0">
                <a:solidFill>
                  <a:srgbClr val="273239"/>
                </a:solidFill>
                <a:latin typeface="Arial"/>
                <a:ea typeface="Arial"/>
                <a:cs typeface="Arial"/>
                <a:sym typeface="Arial"/>
              </a:rPr>
              <a:t>Non-trivial</a:t>
            </a:r>
            <a:r>
              <a:rPr lang="en-IN" b="1" i="0" u="sng">
                <a:solidFill>
                  <a:srgbClr val="273239"/>
                </a:solidFill>
                <a:latin typeface="Arial"/>
                <a:ea typeface="Arial"/>
                <a:cs typeface="Arial"/>
                <a:sym typeface="Arial"/>
              </a:rPr>
              <a:t> </a:t>
            </a:r>
            <a:r>
              <a:rPr lang="en-IN" b="1" i="0">
                <a:solidFill>
                  <a:srgbClr val="273239"/>
                </a:solidFill>
                <a:latin typeface="Arial"/>
                <a:ea typeface="Arial"/>
                <a:cs typeface="Arial"/>
                <a:sym typeface="Arial"/>
              </a:rPr>
              <a:t>Functional</a:t>
            </a:r>
            <a:r>
              <a:rPr lang="en-IN" b="1" i="0" u="sng">
                <a:solidFill>
                  <a:srgbClr val="273239"/>
                </a:solidFill>
                <a:latin typeface="Arial"/>
                <a:ea typeface="Arial"/>
                <a:cs typeface="Arial"/>
                <a:sym typeface="Arial"/>
              </a:rPr>
              <a:t> </a:t>
            </a:r>
            <a:r>
              <a:rPr lang="en-IN" b="1" i="0">
                <a:solidFill>
                  <a:srgbClr val="273239"/>
                </a:solidFill>
                <a:latin typeface="Arial"/>
                <a:ea typeface="Arial"/>
                <a:cs typeface="Arial"/>
                <a:sym typeface="Arial"/>
              </a:rPr>
              <a:t>Dependency</a:t>
            </a:r>
            <a:endParaRPr/>
          </a:p>
        </p:txBody>
      </p:sp>
      <p:sp>
        <p:nvSpPr>
          <p:cNvPr id="290" name="Google Shape;290;p30"/>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fontScale="92500" lnSpcReduction="20000"/>
          </a:bodyPr>
          <a:lstStyle/>
          <a:p>
            <a:pPr marL="228600" lvl="0" indent="-228600" algn="l" rtl="0">
              <a:lnSpc>
                <a:spcPct val="90000"/>
              </a:lnSpc>
              <a:spcBef>
                <a:spcPts val="0"/>
              </a:spcBef>
              <a:spcAft>
                <a:spcPts val="0"/>
              </a:spcAft>
              <a:buClr>
                <a:srgbClr val="273239"/>
              </a:buClr>
              <a:buSzPts val="2800"/>
              <a:buChar char="•"/>
            </a:pPr>
            <a:r>
              <a:rPr lang="en-IN" b="0" i="0" dirty="0">
                <a:solidFill>
                  <a:srgbClr val="273239"/>
                </a:solidFill>
                <a:highlight>
                  <a:srgbClr val="FFFF00"/>
                </a:highlight>
                <a:latin typeface="Arial"/>
                <a:ea typeface="Arial"/>
                <a:cs typeface="Arial"/>
                <a:sym typeface="Arial"/>
              </a:rPr>
              <a:t>In </a:t>
            </a:r>
            <a:r>
              <a:rPr lang="en-IN" b="1" i="0" dirty="0">
                <a:solidFill>
                  <a:srgbClr val="273239"/>
                </a:solidFill>
                <a:highlight>
                  <a:srgbClr val="FFFF00"/>
                </a:highlight>
                <a:latin typeface="Arial"/>
                <a:ea typeface="Arial"/>
                <a:cs typeface="Arial"/>
                <a:sym typeface="Arial"/>
              </a:rPr>
              <a:t>Non-trivial functional dependency</a:t>
            </a:r>
            <a:r>
              <a:rPr lang="en-IN" b="0" i="0" dirty="0">
                <a:solidFill>
                  <a:srgbClr val="273239"/>
                </a:solidFill>
                <a:highlight>
                  <a:srgbClr val="FFFF00"/>
                </a:highlight>
                <a:latin typeface="Arial"/>
                <a:ea typeface="Arial"/>
                <a:cs typeface="Arial"/>
                <a:sym typeface="Arial"/>
              </a:rPr>
              <a:t>, the dependent is strictly not a subset of the determinant.</a:t>
            </a:r>
            <a:endParaRPr dirty="0">
              <a:highlight>
                <a:srgbClr val="FFFF00"/>
              </a:highlight>
            </a:endParaRPr>
          </a:p>
          <a:p>
            <a:pPr marL="228600" lvl="0" indent="-228600" algn="l" rtl="0">
              <a:lnSpc>
                <a:spcPct val="90000"/>
              </a:lnSpc>
              <a:spcBef>
                <a:spcPts val="1000"/>
              </a:spcBef>
              <a:spcAft>
                <a:spcPts val="0"/>
              </a:spcAft>
              <a:buClr>
                <a:srgbClr val="273239"/>
              </a:buClr>
              <a:buSzPts val="2800"/>
              <a:buChar char="•"/>
            </a:pPr>
            <a:r>
              <a:rPr lang="en-IN" b="0" i="0" dirty="0">
                <a:solidFill>
                  <a:srgbClr val="273239"/>
                </a:solidFill>
                <a:highlight>
                  <a:srgbClr val="FFFF00"/>
                </a:highlight>
                <a:latin typeface="Arial"/>
                <a:ea typeface="Arial"/>
                <a:cs typeface="Arial"/>
                <a:sym typeface="Arial"/>
              </a:rPr>
              <a:t>i.e. If </a:t>
            </a:r>
            <a:r>
              <a:rPr lang="en-IN" b="1" i="0" dirty="0">
                <a:solidFill>
                  <a:srgbClr val="273239"/>
                </a:solidFill>
                <a:highlight>
                  <a:srgbClr val="FFFF00"/>
                </a:highlight>
                <a:latin typeface="Arial"/>
                <a:ea typeface="Arial"/>
                <a:cs typeface="Arial"/>
                <a:sym typeface="Arial"/>
              </a:rPr>
              <a:t>X → Y </a:t>
            </a:r>
            <a:r>
              <a:rPr lang="en-IN" b="0" i="0" dirty="0">
                <a:solidFill>
                  <a:srgbClr val="273239"/>
                </a:solidFill>
                <a:highlight>
                  <a:srgbClr val="FFFF00"/>
                </a:highlight>
                <a:latin typeface="Arial"/>
                <a:ea typeface="Arial"/>
                <a:cs typeface="Arial"/>
                <a:sym typeface="Arial"/>
              </a:rPr>
              <a:t>and </a:t>
            </a:r>
            <a:r>
              <a:rPr lang="en-IN" b="1" i="0" dirty="0">
                <a:solidFill>
                  <a:srgbClr val="273239"/>
                </a:solidFill>
                <a:highlight>
                  <a:srgbClr val="FFFF00"/>
                </a:highlight>
                <a:latin typeface="Arial"/>
                <a:ea typeface="Arial"/>
                <a:cs typeface="Arial"/>
                <a:sym typeface="Arial"/>
              </a:rPr>
              <a:t>Y</a:t>
            </a:r>
            <a:r>
              <a:rPr lang="en-IN" b="0" i="0" dirty="0">
                <a:solidFill>
                  <a:srgbClr val="273239"/>
                </a:solidFill>
                <a:highlight>
                  <a:srgbClr val="FFFF00"/>
                </a:highlight>
                <a:latin typeface="Arial"/>
                <a:ea typeface="Arial"/>
                <a:cs typeface="Arial"/>
                <a:sym typeface="Arial"/>
              </a:rPr>
              <a:t> </a:t>
            </a:r>
            <a:r>
              <a:rPr lang="en-IN" b="1" i="0" dirty="0">
                <a:solidFill>
                  <a:srgbClr val="273239"/>
                </a:solidFill>
                <a:highlight>
                  <a:srgbClr val="FFFF00"/>
                </a:highlight>
                <a:latin typeface="Arial"/>
                <a:ea typeface="Arial"/>
                <a:cs typeface="Arial"/>
                <a:sym typeface="Arial"/>
              </a:rPr>
              <a:t>is not a subset of X</a:t>
            </a:r>
            <a:r>
              <a:rPr lang="en-IN" b="0" i="0" dirty="0">
                <a:solidFill>
                  <a:srgbClr val="273239"/>
                </a:solidFill>
                <a:highlight>
                  <a:srgbClr val="FFFF00"/>
                </a:highlight>
                <a:latin typeface="Arial"/>
                <a:ea typeface="Arial"/>
                <a:cs typeface="Arial"/>
                <a:sym typeface="Arial"/>
              </a:rPr>
              <a:t>, then it is called Non-trivial functional dependency.</a:t>
            </a:r>
            <a:endParaRPr dirty="0">
              <a:highlight>
                <a:srgbClr val="FFFF00"/>
              </a:highlight>
            </a:endParaRPr>
          </a:p>
          <a:p>
            <a:pPr marL="228600" lvl="0" indent="-228600" algn="l" rtl="0">
              <a:lnSpc>
                <a:spcPct val="90000"/>
              </a:lnSpc>
              <a:spcBef>
                <a:spcPts val="1000"/>
              </a:spcBef>
              <a:spcAft>
                <a:spcPts val="0"/>
              </a:spcAft>
              <a:buClr>
                <a:srgbClr val="273239"/>
              </a:buClr>
              <a:buSzPts val="2800"/>
              <a:buChar char="•"/>
            </a:pPr>
            <a:r>
              <a:rPr lang="en-IN" b="1" i="0" dirty="0">
                <a:solidFill>
                  <a:srgbClr val="273239"/>
                </a:solidFill>
                <a:latin typeface="Arial"/>
                <a:ea typeface="Arial"/>
                <a:cs typeface="Arial"/>
                <a:sym typeface="Arial"/>
              </a:rPr>
              <a:t>For example,</a:t>
            </a:r>
            <a:endParaRPr dirty="0"/>
          </a:p>
          <a:p>
            <a:pPr marL="228600" lvl="0" indent="-228600" algn="l" rtl="0">
              <a:lnSpc>
                <a:spcPct val="90000"/>
              </a:lnSpc>
              <a:spcBef>
                <a:spcPts val="1000"/>
              </a:spcBef>
              <a:spcAft>
                <a:spcPts val="0"/>
              </a:spcAft>
              <a:buClr>
                <a:srgbClr val="273239"/>
              </a:buClr>
              <a:buSzPts val="2800"/>
              <a:buChar char="•"/>
            </a:pPr>
            <a:r>
              <a:rPr lang="en-IN" b="0" i="0" dirty="0">
                <a:solidFill>
                  <a:srgbClr val="273239"/>
                </a:solidFill>
                <a:latin typeface="Arial"/>
                <a:ea typeface="Arial"/>
                <a:cs typeface="Arial"/>
                <a:sym typeface="Arial"/>
              </a:rPr>
              <a:t>Here, </a:t>
            </a:r>
            <a:r>
              <a:rPr lang="en-IN" b="1" i="0" dirty="0" err="1">
                <a:solidFill>
                  <a:srgbClr val="273239"/>
                </a:solidFill>
                <a:latin typeface="Arial"/>
                <a:ea typeface="Arial"/>
                <a:cs typeface="Arial"/>
                <a:sym typeface="Arial"/>
              </a:rPr>
              <a:t>roll_no</a:t>
            </a:r>
            <a:r>
              <a:rPr lang="en-IN" b="1" i="0" dirty="0">
                <a:solidFill>
                  <a:srgbClr val="273239"/>
                </a:solidFill>
                <a:latin typeface="Arial"/>
                <a:ea typeface="Arial"/>
                <a:cs typeface="Arial"/>
                <a:sym typeface="Arial"/>
              </a:rPr>
              <a:t> → name</a:t>
            </a:r>
            <a:r>
              <a:rPr lang="en-IN" b="0" i="0" dirty="0">
                <a:solidFill>
                  <a:srgbClr val="273239"/>
                </a:solidFill>
                <a:latin typeface="Arial"/>
                <a:ea typeface="Arial"/>
                <a:cs typeface="Arial"/>
                <a:sym typeface="Arial"/>
              </a:rPr>
              <a:t> is a non-trivial functional dependency, since the dependent </a:t>
            </a:r>
            <a:r>
              <a:rPr lang="en-IN" b="1" i="0" dirty="0">
                <a:solidFill>
                  <a:srgbClr val="273239"/>
                </a:solidFill>
                <a:latin typeface="Arial"/>
                <a:ea typeface="Arial"/>
                <a:cs typeface="Arial"/>
                <a:sym typeface="Arial"/>
              </a:rPr>
              <a:t>name</a:t>
            </a:r>
            <a:r>
              <a:rPr lang="en-IN" b="0" i="0" dirty="0">
                <a:solidFill>
                  <a:srgbClr val="273239"/>
                </a:solidFill>
                <a:latin typeface="Arial"/>
                <a:ea typeface="Arial"/>
                <a:cs typeface="Arial"/>
                <a:sym typeface="Arial"/>
              </a:rPr>
              <a:t> is </a:t>
            </a:r>
            <a:r>
              <a:rPr lang="en-IN" b="1" i="0" dirty="0">
                <a:solidFill>
                  <a:srgbClr val="273239"/>
                </a:solidFill>
                <a:latin typeface="Arial"/>
                <a:ea typeface="Arial"/>
                <a:cs typeface="Arial"/>
                <a:sym typeface="Arial"/>
              </a:rPr>
              <a:t>not a subset of </a:t>
            </a:r>
            <a:r>
              <a:rPr lang="en-IN" b="0" i="0" dirty="0">
                <a:solidFill>
                  <a:srgbClr val="273239"/>
                </a:solidFill>
                <a:latin typeface="Arial"/>
                <a:ea typeface="Arial"/>
                <a:cs typeface="Arial"/>
                <a:sym typeface="Arial"/>
              </a:rPr>
              <a:t>determinant</a:t>
            </a:r>
            <a:r>
              <a:rPr lang="en-IN" b="1" i="0" dirty="0">
                <a:solidFill>
                  <a:srgbClr val="273239"/>
                </a:solidFill>
                <a:latin typeface="Arial"/>
                <a:ea typeface="Arial"/>
                <a:cs typeface="Arial"/>
                <a:sym typeface="Arial"/>
              </a:rPr>
              <a:t> </a:t>
            </a:r>
            <a:r>
              <a:rPr lang="en-IN" b="1" i="0" dirty="0" err="1">
                <a:solidFill>
                  <a:srgbClr val="273239"/>
                </a:solidFill>
                <a:latin typeface="Arial"/>
                <a:ea typeface="Arial"/>
                <a:cs typeface="Arial"/>
                <a:sym typeface="Arial"/>
              </a:rPr>
              <a:t>roll_no</a:t>
            </a:r>
            <a:br>
              <a:rPr lang="en-IN" dirty="0"/>
            </a:br>
            <a:endParaRPr dirty="0"/>
          </a:p>
          <a:p>
            <a:pPr marL="228600" lvl="0" indent="-228600" algn="l" rtl="0">
              <a:lnSpc>
                <a:spcPct val="90000"/>
              </a:lnSpc>
              <a:spcBef>
                <a:spcPts val="1000"/>
              </a:spcBef>
              <a:spcAft>
                <a:spcPts val="0"/>
              </a:spcAft>
              <a:buClr>
                <a:srgbClr val="273239"/>
              </a:buClr>
              <a:buSzPts val="2800"/>
              <a:buChar char="•"/>
            </a:pPr>
            <a:r>
              <a:rPr lang="en-IN" b="0" i="0" dirty="0">
                <a:solidFill>
                  <a:srgbClr val="273239"/>
                </a:solidFill>
                <a:latin typeface="Arial"/>
                <a:ea typeface="Arial"/>
                <a:cs typeface="Arial"/>
                <a:sym typeface="Arial"/>
              </a:rPr>
              <a:t>Similarly, </a:t>
            </a:r>
            <a:r>
              <a:rPr lang="en-IN" b="1" i="0" dirty="0">
                <a:solidFill>
                  <a:srgbClr val="273239"/>
                </a:solidFill>
                <a:latin typeface="Arial"/>
                <a:ea typeface="Arial"/>
                <a:cs typeface="Arial"/>
                <a:sym typeface="Arial"/>
              </a:rPr>
              <a:t>{</a:t>
            </a:r>
            <a:r>
              <a:rPr lang="en-IN" b="1" i="0" dirty="0" err="1">
                <a:solidFill>
                  <a:srgbClr val="273239"/>
                </a:solidFill>
                <a:latin typeface="Arial"/>
                <a:ea typeface="Arial"/>
                <a:cs typeface="Arial"/>
                <a:sym typeface="Arial"/>
              </a:rPr>
              <a:t>roll_no</a:t>
            </a:r>
            <a:r>
              <a:rPr lang="en-IN" b="1" i="0" dirty="0">
                <a:solidFill>
                  <a:srgbClr val="273239"/>
                </a:solidFill>
                <a:latin typeface="Arial"/>
                <a:ea typeface="Arial"/>
                <a:cs typeface="Arial"/>
                <a:sym typeface="Arial"/>
              </a:rPr>
              <a:t>, name} → age</a:t>
            </a:r>
            <a:r>
              <a:rPr lang="en-IN" b="0" i="0" dirty="0">
                <a:solidFill>
                  <a:srgbClr val="273239"/>
                </a:solidFill>
                <a:latin typeface="Arial"/>
                <a:ea typeface="Arial"/>
                <a:cs typeface="Arial"/>
                <a:sym typeface="Arial"/>
              </a:rPr>
              <a:t> is also a non-trivial functional dependency, since </a:t>
            </a:r>
            <a:r>
              <a:rPr lang="en-IN" b="1" i="0" dirty="0">
                <a:solidFill>
                  <a:srgbClr val="273239"/>
                </a:solidFill>
                <a:latin typeface="Arial"/>
                <a:ea typeface="Arial"/>
                <a:cs typeface="Arial"/>
                <a:sym typeface="Arial"/>
              </a:rPr>
              <a:t>age</a:t>
            </a:r>
            <a:r>
              <a:rPr lang="en-IN" b="0" i="0" dirty="0">
                <a:solidFill>
                  <a:srgbClr val="273239"/>
                </a:solidFill>
                <a:latin typeface="Arial"/>
                <a:ea typeface="Arial"/>
                <a:cs typeface="Arial"/>
                <a:sym typeface="Arial"/>
              </a:rPr>
              <a:t> is</a:t>
            </a:r>
            <a:r>
              <a:rPr lang="en-IN" b="1" i="0" dirty="0">
                <a:solidFill>
                  <a:srgbClr val="273239"/>
                </a:solidFill>
                <a:latin typeface="Arial"/>
                <a:ea typeface="Arial"/>
                <a:cs typeface="Arial"/>
                <a:sym typeface="Arial"/>
              </a:rPr>
              <a:t> not a subset of {</a:t>
            </a:r>
            <a:r>
              <a:rPr lang="en-IN" b="1" i="0" dirty="0" err="1">
                <a:solidFill>
                  <a:srgbClr val="273239"/>
                </a:solidFill>
                <a:latin typeface="Arial"/>
                <a:ea typeface="Arial"/>
                <a:cs typeface="Arial"/>
                <a:sym typeface="Arial"/>
              </a:rPr>
              <a:t>roll_no</a:t>
            </a:r>
            <a:r>
              <a:rPr lang="en-IN" b="1" i="0" dirty="0">
                <a:solidFill>
                  <a:srgbClr val="273239"/>
                </a:solidFill>
                <a:latin typeface="Arial"/>
                <a:ea typeface="Arial"/>
                <a:cs typeface="Arial"/>
                <a:sym typeface="Arial"/>
              </a:rPr>
              <a:t>, name} </a:t>
            </a:r>
            <a:endParaRPr dirty="0"/>
          </a:p>
        </p:txBody>
      </p:sp>
      <p:pic>
        <p:nvPicPr>
          <p:cNvPr id="291" name="Google Shape;291;p30"/>
          <p:cNvPicPr preferRelativeResize="0"/>
          <p:nvPr/>
        </p:nvPicPr>
        <p:blipFill rotWithShape="1">
          <a:blip r:embed="rId3">
            <a:alphaModFix/>
          </a:blip>
          <a:srcRect/>
          <a:stretch/>
        </p:blipFill>
        <p:spPr>
          <a:xfrm>
            <a:off x="7542424" y="4341719"/>
            <a:ext cx="1304992" cy="1835244"/>
          </a:xfrm>
          <a:prstGeom prst="rect">
            <a:avLst/>
          </a:prstGeom>
          <a:noFill/>
          <a:ln>
            <a:noFill/>
          </a:ln>
        </p:spPr>
      </p:pic>
    </p:spTree>
    <p:extLst>
      <p:ext uri="{BB962C8B-B14F-4D97-AF65-F5344CB8AC3E}">
        <p14:creationId xmlns:p14="http://schemas.microsoft.com/office/powerpoint/2010/main" val="23765767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31"/>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273239"/>
              </a:buClr>
              <a:buSzPts val="4400"/>
              <a:buFont typeface="Arial"/>
              <a:buNone/>
            </a:pPr>
            <a:r>
              <a:rPr lang="en-IN" b="1" i="0">
                <a:solidFill>
                  <a:srgbClr val="273239"/>
                </a:solidFill>
                <a:latin typeface="Arial"/>
                <a:ea typeface="Arial"/>
                <a:cs typeface="Arial"/>
                <a:sym typeface="Arial"/>
              </a:rPr>
              <a:t> Multivalued Functional Dependency</a:t>
            </a:r>
            <a:endParaRPr/>
          </a:p>
        </p:txBody>
      </p:sp>
      <p:sp>
        <p:nvSpPr>
          <p:cNvPr id="297" name="Google Shape;297;p31"/>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fontScale="92500"/>
          </a:bodyPr>
          <a:lstStyle/>
          <a:p>
            <a:pPr marL="228600" lvl="0" indent="-228600" algn="l" rtl="0">
              <a:lnSpc>
                <a:spcPct val="90000"/>
              </a:lnSpc>
              <a:spcBef>
                <a:spcPts val="0"/>
              </a:spcBef>
              <a:spcAft>
                <a:spcPts val="0"/>
              </a:spcAft>
              <a:buClr>
                <a:srgbClr val="273239"/>
              </a:buClr>
              <a:buSzPts val="2800"/>
              <a:buChar char="•"/>
            </a:pPr>
            <a:r>
              <a:rPr lang="en-IN" b="0" i="0" dirty="0">
                <a:solidFill>
                  <a:srgbClr val="273239"/>
                </a:solidFill>
                <a:highlight>
                  <a:srgbClr val="FFFF00"/>
                </a:highlight>
                <a:sym typeface="Arial"/>
              </a:rPr>
              <a:t>In </a:t>
            </a:r>
            <a:r>
              <a:rPr lang="en-IN" b="1" i="0" dirty="0">
                <a:solidFill>
                  <a:srgbClr val="273239"/>
                </a:solidFill>
                <a:highlight>
                  <a:srgbClr val="FFFF00"/>
                </a:highlight>
                <a:sym typeface="Arial"/>
              </a:rPr>
              <a:t>Multivalued functional dependency</a:t>
            </a:r>
            <a:r>
              <a:rPr lang="en-IN" b="0" i="0" dirty="0">
                <a:solidFill>
                  <a:srgbClr val="273239"/>
                </a:solidFill>
                <a:highlight>
                  <a:srgbClr val="FFFF00"/>
                </a:highlight>
                <a:sym typeface="Arial"/>
              </a:rPr>
              <a:t>, attributes of the dependent set are </a:t>
            </a:r>
            <a:r>
              <a:rPr lang="en-IN" b="1" i="0" dirty="0">
                <a:solidFill>
                  <a:srgbClr val="273239"/>
                </a:solidFill>
                <a:highlight>
                  <a:srgbClr val="FFFF00"/>
                </a:highlight>
                <a:sym typeface="Arial"/>
              </a:rPr>
              <a:t>not dependent</a:t>
            </a:r>
            <a:r>
              <a:rPr lang="en-IN" b="0" i="0" dirty="0">
                <a:solidFill>
                  <a:srgbClr val="273239"/>
                </a:solidFill>
                <a:highlight>
                  <a:srgbClr val="FFFF00"/>
                </a:highlight>
                <a:sym typeface="Arial"/>
              </a:rPr>
              <a:t> </a:t>
            </a:r>
            <a:r>
              <a:rPr lang="en-IN" b="1" i="0" dirty="0">
                <a:solidFill>
                  <a:srgbClr val="273239"/>
                </a:solidFill>
                <a:highlight>
                  <a:srgbClr val="FFFF00"/>
                </a:highlight>
                <a:sym typeface="Arial"/>
              </a:rPr>
              <a:t>on each other.</a:t>
            </a:r>
            <a:endParaRPr dirty="0">
              <a:highlight>
                <a:srgbClr val="FFFF00"/>
              </a:highlight>
            </a:endParaRPr>
          </a:p>
          <a:p>
            <a:pPr marL="228600" lvl="0" indent="-228600" algn="l" rtl="0">
              <a:lnSpc>
                <a:spcPct val="90000"/>
              </a:lnSpc>
              <a:spcBef>
                <a:spcPts val="1000"/>
              </a:spcBef>
              <a:spcAft>
                <a:spcPts val="0"/>
              </a:spcAft>
              <a:buClr>
                <a:srgbClr val="273239"/>
              </a:buClr>
              <a:buSzPts val="2800"/>
              <a:buChar char="•"/>
            </a:pPr>
            <a:r>
              <a:rPr lang="en-IN" b="0" i="0" dirty="0">
                <a:solidFill>
                  <a:srgbClr val="273239"/>
                </a:solidFill>
                <a:highlight>
                  <a:srgbClr val="FFFF00"/>
                </a:highlight>
                <a:sym typeface="Arial"/>
              </a:rPr>
              <a:t>i.e. If </a:t>
            </a:r>
            <a:r>
              <a:rPr lang="en-IN" b="1" i="0" dirty="0">
                <a:solidFill>
                  <a:srgbClr val="273239"/>
                </a:solidFill>
                <a:highlight>
                  <a:srgbClr val="FFFF00"/>
                </a:highlight>
                <a:sym typeface="Arial"/>
              </a:rPr>
              <a:t>a → {b, c}</a:t>
            </a:r>
            <a:r>
              <a:rPr lang="en-IN" b="0" i="0" dirty="0">
                <a:solidFill>
                  <a:srgbClr val="273239"/>
                </a:solidFill>
                <a:highlight>
                  <a:srgbClr val="FFFF00"/>
                </a:highlight>
                <a:sym typeface="Arial"/>
              </a:rPr>
              <a:t> and there exists </a:t>
            </a:r>
            <a:r>
              <a:rPr lang="en-IN" b="1" i="0" dirty="0">
                <a:solidFill>
                  <a:srgbClr val="273239"/>
                </a:solidFill>
                <a:highlight>
                  <a:srgbClr val="FFFF00"/>
                </a:highlight>
                <a:sym typeface="Arial"/>
              </a:rPr>
              <a:t>no functional dependency</a:t>
            </a:r>
            <a:r>
              <a:rPr lang="en-IN" b="0" i="0" dirty="0">
                <a:solidFill>
                  <a:srgbClr val="273239"/>
                </a:solidFill>
                <a:highlight>
                  <a:srgbClr val="FFFF00"/>
                </a:highlight>
                <a:sym typeface="Arial"/>
              </a:rPr>
              <a:t> between </a:t>
            </a:r>
            <a:r>
              <a:rPr lang="en-IN" b="1" i="0" dirty="0">
                <a:solidFill>
                  <a:srgbClr val="273239"/>
                </a:solidFill>
                <a:highlight>
                  <a:srgbClr val="FFFF00"/>
                </a:highlight>
                <a:sym typeface="Arial"/>
              </a:rPr>
              <a:t>b and c</a:t>
            </a:r>
            <a:r>
              <a:rPr lang="en-IN" b="0" i="0" dirty="0">
                <a:solidFill>
                  <a:srgbClr val="273239"/>
                </a:solidFill>
                <a:highlight>
                  <a:srgbClr val="FFFF00"/>
                </a:highlight>
                <a:sym typeface="Arial"/>
              </a:rPr>
              <a:t>, then it is called a </a:t>
            </a:r>
            <a:r>
              <a:rPr lang="en-IN" b="1" i="0" dirty="0">
                <a:solidFill>
                  <a:srgbClr val="273239"/>
                </a:solidFill>
                <a:highlight>
                  <a:srgbClr val="FFFF00"/>
                </a:highlight>
                <a:sym typeface="Arial"/>
              </a:rPr>
              <a:t>multivalued functional dependency.</a:t>
            </a:r>
            <a:endParaRPr dirty="0">
              <a:highlight>
                <a:srgbClr val="FFFF00"/>
              </a:highlight>
            </a:endParaRPr>
          </a:p>
          <a:p>
            <a:pPr marL="228600" lvl="0" indent="-228600" algn="l" rtl="0">
              <a:lnSpc>
                <a:spcPct val="90000"/>
              </a:lnSpc>
              <a:spcBef>
                <a:spcPts val="1000"/>
              </a:spcBef>
              <a:spcAft>
                <a:spcPts val="0"/>
              </a:spcAft>
              <a:buClr>
                <a:srgbClr val="273239"/>
              </a:buClr>
              <a:buSzPts val="2800"/>
              <a:buChar char="•"/>
            </a:pPr>
            <a:r>
              <a:rPr lang="en-IN" b="0" i="0" dirty="0">
                <a:solidFill>
                  <a:srgbClr val="273239"/>
                </a:solidFill>
                <a:latin typeface="Arial"/>
                <a:ea typeface="Arial"/>
                <a:cs typeface="Arial"/>
                <a:sym typeface="Arial"/>
              </a:rPr>
              <a:t>Here, </a:t>
            </a:r>
            <a:r>
              <a:rPr lang="en-IN" b="1" i="0" dirty="0" err="1">
                <a:solidFill>
                  <a:srgbClr val="273239"/>
                </a:solidFill>
                <a:latin typeface="Arial"/>
                <a:ea typeface="Arial"/>
                <a:cs typeface="Arial"/>
                <a:sym typeface="Arial"/>
              </a:rPr>
              <a:t>roll_no</a:t>
            </a:r>
            <a:r>
              <a:rPr lang="en-IN" b="1" i="0" dirty="0">
                <a:solidFill>
                  <a:srgbClr val="273239"/>
                </a:solidFill>
                <a:latin typeface="Arial"/>
                <a:ea typeface="Arial"/>
                <a:cs typeface="Arial"/>
                <a:sym typeface="Arial"/>
              </a:rPr>
              <a:t> → {name, age} </a:t>
            </a:r>
            <a:r>
              <a:rPr lang="en-IN" b="0" i="0" dirty="0">
                <a:solidFill>
                  <a:srgbClr val="273239"/>
                </a:solidFill>
                <a:latin typeface="Arial"/>
                <a:ea typeface="Arial"/>
                <a:cs typeface="Arial"/>
                <a:sym typeface="Arial"/>
              </a:rPr>
              <a:t>is a multivalued functional dependency, since the dependents </a:t>
            </a:r>
            <a:r>
              <a:rPr lang="en-IN" b="1" i="0" dirty="0">
                <a:solidFill>
                  <a:srgbClr val="273239"/>
                </a:solidFill>
                <a:latin typeface="Arial"/>
                <a:ea typeface="Arial"/>
                <a:cs typeface="Arial"/>
                <a:sym typeface="Arial"/>
              </a:rPr>
              <a:t>name</a:t>
            </a:r>
            <a:r>
              <a:rPr lang="en-IN" b="0" i="0" dirty="0">
                <a:solidFill>
                  <a:srgbClr val="273239"/>
                </a:solidFill>
                <a:latin typeface="Arial"/>
                <a:ea typeface="Arial"/>
                <a:cs typeface="Arial"/>
                <a:sym typeface="Arial"/>
              </a:rPr>
              <a:t> &amp; </a:t>
            </a:r>
            <a:r>
              <a:rPr lang="en-IN" b="1" i="0" dirty="0">
                <a:solidFill>
                  <a:srgbClr val="273239"/>
                </a:solidFill>
                <a:latin typeface="Arial"/>
                <a:ea typeface="Arial"/>
                <a:cs typeface="Arial"/>
                <a:sym typeface="Arial"/>
              </a:rPr>
              <a:t>age</a:t>
            </a:r>
            <a:r>
              <a:rPr lang="en-IN" b="0" i="0" dirty="0">
                <a:solidFill>
                  <a:srgbClr val="273239"/>
                </a:solidFill>
                <a:latin typeface="Arial"/>
                <a:ea typeface="Arial"/>
                <a:cs typeface="Arial"/>
                <a:sym typeface="Arial"/>
              </a:rPr>
              <a:t> are </a:t>
            </a:r>
            <a:r>
              <a:rPr lang="en-IN" b="1" i="0" dirty="0">
                <a:solidFill>
                  <a:srgbClr val="273239"/>
                </a:solidFill>
                <a:latin typeface="Arial"/>
                <a:ea typeface="Arial"/>
                <a:cs typeface="Arial"/>
                <a:sym typeface="Arial"/>
              </a:rPr>
              <a:t>not dependent</a:t>
            </a:r>
            <a:r>
              <a:rPr lang="en-IN" b="0" i="0" dirty="0">
                <a:solidFill>
                  <a:srgbClr val="273239"/>
                </a:solidFill>
                <a:latin typeface="Arial"/>
                <a:ea typeface="Arial"/>
                <a:cs typeface="Arial"/>
                <a:sym typeface="Arial"/>
              </a:rPr>
              <a:t> on </a:t>
            </a:r>
            <a:endParaRPr dirty="0"/>
          </a:p>
          <a:p>
            <a:pPr marL="228600" lvl="0" indent="-228600" algn="l" rtl="0">
              <a:lnSpc>
                <a:spcPct val="90000"/>
              </a:lnSpc>
              <a:spcBef>
                <a:spcPts val="1000"/>
              </a:spcBef>
              <a:spcAft>
                <a:spcPts val="0"/>
              </a:spcAft>
              <a:buClr>
                <a:srgbClr val="273239"/>
              </a:buClr>
              <a:buSzPts val="2400"/>
              <a:buChar char="•"/>
            </a:pPr>
            <a:r>
              <a:rPr lang="en-IN" sz="2400" b="0" i="0" dirty="0">
                <a:solidFill>
                  <a:srgbClr val="273239"/>
                </a:solidFill>
                <a:latin typeface="Arial"/>
                <a:ea typeface="Arial"/>
                <a:cs typeface="Arial"/>
                <a:sym typeface="Arial"/>
              </a:rPr>
              <a:t>each other(i.e. </a:t>
            </a:r>
            <a:r>
              <a:rPr lang="en-IN" sz="2400" b="1" i="0" dirty="0">
                <a:solidFill>
                  <a:srgbClr val="273239"/>
                </a:solidFill>
                <a:latin typeface="Arial"/>
                <a:ea typeface="Arial"/>
                <a:cs typeface="Arial"/>
                <a:sym typeface="Arial"/>
              </a:rPr>
              <a:t>name → age </a:t>
            </a:r>
            <a:r>
              <a:rPr lang="en-IN" sz="2400" b="0" i="0" dirty="0">
                <a:solidFill>
                  <a:srgbClr val="273239"/>
                </a:solidFill>
                <a:latin typeface="Arial"/>
                <a:ea typeface="Arial"/>
                <a:cs typeface="Arial"/>
                <a:sym typeface="Arial"/>
              </a:rPr>
              <a:t>or</a:t>
            </a:r>
            <a:r>
              <a:rPr lang="en-IN" sz="2400" b="1" i="0" dirty="0">
                <a:solidFill>
                  <a:srgbClr val="273239"/>
                </a:solidFill>
                <a:latin typeface="Arial"/>
                <a:ea typeface="Arial"/>
                <a:cs typeface="Arial"/>
                <a:sym typeface="Arial"/>
              </a:rPr>
              <a:t> age → name doesn’t exist !</a:t>
            </a:r>
            <a:r>
              <a:rPr lang="en-IN" sz="2400" b="0" i="0" dirty="0">
                <a:solidFill>
                  <a:srgbClr val="273239"/>
                </a:solidFill>
                <a:latin typeface="Arial"/>
                <a:ea typeface="Arial"/>
                <a:cs typeface="Arial"/>
                <a:sym typeface="Arial"/>
              </a:rPr>
              <a:t>)</a:t>
            </a:r>
            <a:endParaRPr sz="2400" dirty="0"/>
          </a:p>
        </p:txBody>
      </p:sp>
      <p:pic>
        <p:nvPicPr>
          <p:cNvPr id="298" name="Google Shape;298;p31"/>
          <p:cNvPicPr preferRelativeResize="0"/>
          <p:nvPr/>
        </p:nvPicPr>
        <p:blipFill rotWithShape="1">
          <a:blip r:embed="rId3">
            <a:alphaModFix/>
          </a:blip>
          <a:srcRect/>
          <a:stretch/>
        </p:blipFill>
        <p:spPr>
          <a:xfrm>
            <a:off x="7160821" y="4447559"/>
            <a:ext cx="1131867" cy="2306352"/>
          </a:xfrm>
          <a:prstGeom prst="rect">
            <a:avLst/>
          </a:prstGeom>
          <a:noFill/>
          <a:ln>
            <a:noFill/>
          </a:ln>
        </p:spPr>
      </p:pic>
    </p:spTree>
    <p:extLst>
      <p:ext uri="{BB962C8B-B14F-4D97-AF65-F5344CB8AC3E}">
        <p14:creationId xmlns:p14="http://schemas.microsoft.com/office/powerpoint/2010/main" val="3753366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97">
                                            <p:txEl>
                                              <p:pRg st="0" end="0"/>
                                            </p:txEl>
                                          </p:spTgt>
                                        </p:tgtEl>
                                        <p:attrNameLst>
                                          <p:attrName>style.visibility</p:attrName>
                                        </p:attrNameLst>
                                      </p:cBhvr>
                                      <p:to>
                                        <p:strVal val="visible"/>
                                      </p:to>
                                    </p:set>
                                    <p:anim calcmode="lin" valueType="num">
                                      <p:cBhvr additive="base">
                                        <p:cTn id="7" dur="500"/>
                                        <p:tgtEl>
                                          <p:spTgt spid="29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297">
                                            <p:txEl>
                                              <p:pRg st="1" end="1"/>
                                            </p:txEl>
                                          </p:spTgt>
                                        </p:tgtEl>
                                        <p:attrNameLst>
                                          <p:attrName>style.visibility</p:attrName>
                                        </p:attrNameLst>
                                      </p:cBhvr>
                                      <p:to>
                                        <p:strVal val="visible"/>
                                      </p:to>
                                    </p:set>
                                    <p:anim calcmode="lin" valueType="num">
                                      <p:cBhvr additive="base">
                                        <p:cTn id="12" dur="500"/>
                                        <p:tgtEl>
                                          <p:spTgt spid="29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297">
                                            <p:txEl>
                                              <p:pRg st="2" end="2"/>
                                            </p:txEl>
                                          </p:spTgt>
                                        </p:tgtEl>
                                        <p:attrNameLst>
                                          <p:attrName>style.visibility</p:attrName>
                                        </p:attrNameLst>
                                      </p:cBhvr>
                                      <p:to>
                                        <p:strVal val="visible"/>
                                      </p:to>
                                    </p:set>
                                    <p:anim calcmode="lin" valueType="num">
                                      <p:cBhvr additive="base">
                                        <p:cTn id="17" dur="500"/>
                                        <p:tgtEl>
                                          <p:spTgt spid="29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297">
                                            <p:txEl>
                                              <p:pRg st="3" end="3"/>
                                            </p:txEl>
                                          </p:spTgt>
                                        </p:tgtEl>
                                        <p:attrNameLst>
                                          <p:attrName>style.visibility</p:attrName>
                                        </p:attrNameLst>
                                      </p:cBhvr>
                                      <p:to>
                                        <p:strVal val="visible"/>
                                      </p:to>
                                    </p:set>
                                    <p:anim calcmode="lin" valueType="num">
                                      <p:cBhvr additive="base">
                                        <p:cTn id="22" dur="500"/>
                                        <p:tgtEl>
                                          <p:spTgt spid="29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8"/>
                                        </p:tgtEl>
                                        <p:attrNameLst>
                                          <p:attrName>style.visibility</p:attrName>
                                        </p:attrNameLst>
                                      </p:cBhvr>
                                      <p:to>
                                        <p:strVal val="visible"/>
                                      </p:to>
                                    </p:set>
                                    <p:animEffect transition="in" filter="fade">
                                      <p:cBhvr>
                                        <p:cTn id="27" dur="1000"/>
                                        <p:tgtEl>
                                          <p:spTgt spid="2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32"/>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273239"/>
              </a:buClr>
              <a:buSzPts val="4400"/>
              <a:buFont typeface="Arial"/>
              <a:buNone/>
            </a:pPr>
            <a:r>
              <a:rPr lang="en-IN" b="1" i="0">
                <a:solidFill>
                  <a:srgbClr val="273239"/>
                </a:solidFill>
                <a:latin typeface="Arial"/>
                <a:ea typeface="Arial"/>
                <a:cs typeface="Arial"/>
                <a:sym typeface="Arial"/>
              </a:rPr>
              <a:t>Transitive Functional Dependency</a:t>
            </a:r>
            <a:endParaRPr/>
          </a:p>
        </p:txBody>
      </p:sp>
      <p:sp>
        <p:nvSpPr>
          <p:cNvPr id="304" name="Google Shape;304;p32"/>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fontScale="85000" lnSpcReduction="10000"/>
          </a:bodyPr>
          <a:lstStyle/>
          <a:p>
            <a:pPr marL="228600" lvl="0" indent="-228600" algn="l" rtl="0">
              <a:lnSpc>
                <a:spcPct val="90000"/>
              </a:lnSpc>
              <a:spcBef>
                <a:spcPts val="0"/>
              </a:spcBef>
              <a:spcAft>
                <a:spcPts val="0"/>
              </a:spcAft>
              <a:buClr>
                <a:srgbClr val="273239"/>
              </a:buClr>
              <a:buSzPct val="100000"/>
              <a:buChar char="•"/>
            </a:pPr>
            <a:r>
              <a:rPr lang="en-IN" b="0" i="0" dirty="0">
                <a:solidFill>
                  <a:srgbClr val="273239"/>
                </a:solidFill>
                <a:highlight>
                  <a:srgbClr val="FFFF00"/>
                </a:highlight>
                <a:sym typeface="Arial"/>
              </a:rPr>
              <a:t>In transitive functional dependency, dependent is indirectly dependent on determinant.</a:t>
            </a:r>
            <a:br>
              <a:rPr lang="en-IN" dirty="0">
                <a:highlight>
                  <a:srgbClr val="FFFF00"/>
                </a:highlight>
              </a:rPr>
            </a:br>
            <a:r>
              <a:rPr lang="en-IN" b="0" i="0" dirty="0">
                <a:solidFill>
                  <a:srgbClr val="273239"/>
                </a:solidFill>
                <a:highlight>
                  <a:srgbClr val="FFFF00"/>
                </a:highlight>
                <a:sym typeface="Arial"/>
              </a:rPr>
              <a:t>i.e. If </a:t>
            </a:r>
            <a:r>
              <a:rPr lang="en-IN" b="1" i="0" dirty="0">
                <a:solidFill>
                  <a:srgbClr val="273239"/>
                </a:solidFill>
                <a:highlight>
                  <a:srgbClr val="FFFF00"/>
                </a:highlight>
                <a:sym typeface="Arial"/>
              </a:rPr>
              <a:t>a → b</a:t>
            </a:r>
            <a:r>
              <a:rPr lang="en-IN" b="0" i="0" dirty="0">
                <a:solidFill>
                  <a:srgbClr val="273239"/>
                </a:solidFill>
                <a:highlight>
                  <a:srgbClr val="FFFF00"/>
                </a:highlight>
                <a:sym typeface="Arial"/>
              </a:rPr>
              <a:t> &amp; </a:t>
            </a:r>
            <a:r>
              <a:rPr lang="en-IN" b="1" i="0" dirty="0">
                <a:solidFill>
                  <a:srgbClr val="273239"/>
                </a:solidFill>
                <a:highlight>
                  <a:srgbClr val="FFFF00"/>
                </a:highlight>
                <a:sym typeface="Arial"/>
              </a:rPr>
              <a:t>b → c</a:t>
            </a:r>
            <a:r>
              <a:rPr lang="en-IN" b="0" i="0" dirty="0">
                <a:solidFill>
                  <a:srgbClr val="273239"/>
                </a:solidFill>
                <a:highlight>
                  <a:srgbClr val="FFFF00"/>
                </a:highlight>
                <a:sym typeface="Arial"/>
              </a:rPr>
              <a:t>, then according to axiom of transitivity, </a:t>
            </a:r>
            <a:r>
              <a:rPr lang="en-IN" b="1" i="0" dirty="0">
                <a:solidFill>
                  <a:srgbClr val="273239"/>
                </a:solidFill>
                <a:highlight>
                  <a:srgbClr val="FFFF00"/>
                </a:highlight>
                <a:sym typeface="Arial"/>
              </a:rPr>
              <a:t>a → c</a:t>
            </a:r>
            <a:r>
              <a:rPr lang="en-IN" b="0" i="0" dirty="0">
                <a:solidFill>
                  <a:srgbClr val="273239"/>
                </a:solidFill>
                <a:highlight>
                  <a:srgbClr val="FFFF00"/>
                </a:highlight>
                <a:sym typeface="Arial"/>
              </a:rPr>
              <a:t>. This is a </a:t>
            </a:r>
            <a:r>
              <a:rPr lang="en-IN" b="1" i="0" dirty="0">
                <a:solidFill>
                  <a:srgbClr val="273239"/>
                </a:solidFill>
                <a:highlight>
                  <a:srgbClr val="FFFF00"/>
                </a:highlight>
                <a:sym typeface="Arial"/>
              </a:rPr>
              <a:t>transitive functional dependency  </a:t>
            </a:r>
            <a:endParaRPr dirty="0">
              <a:highlight>
                <a:srgbClr val="FFFF00"/>
              </a:highlight>
            </a:endParaRPr>
          </a:p>
          <a:p>
            <a:pPr marL="228600" lvl="0" indent="-228600" algn="l" rtl="0">
              <a:lnSpc>
                <a:spcPct val="90000"/>
              </a:lnSpc>
              <a:spcBef>
                <a:spcPts val="1000"/>
              </a:spcBef>
              <a:spcAft>
                <a:spcPts val="0"/>
              </a:spcAft>
              <a:buClr>
                <a:srgbClr val="273239"/>
              </a:buClr>
              <a:buSzPct val="100000"/>
              <a:buChar char="•"/>
            </a:pPr>
            <a:r>
              <a:rPr lang="en-IN" b="0" i="0" dirty="0">
                <a:solidFill>
                  <a:srgbClr val="273239"/>
                </a:solidFill>
                <a:latin typeface="Arial"/>
                <a:ea typeface="Arial"/>
                <a:cs typeface="Arial"/>
                <a:sym typeface="Arial"/>
              </a:rPr>
              <a:t>Example:</a:t>
            </a:r>
            <a:endParaRPr dirty="0"/>
          </a:p>
          <a:p>
            <a:pPr marL="228600" lvl="0" indent="-228600" algn="l" rtl="0">
              <a:lnSpc>
                <a:spcPct val="90000"/>
              </a:lnSpc>
              <a:spcBef>
                <a:spcPts val="1000"/>
              </a:spcBef>
              <a:spcAft>
                <a:spcPts val="0"/>
              </a:spcAft>
              <a:buClr>
                <a:srgbClr val="273239"/>
              </a:buClr>
              <a:buSzPct val="100000"/>
              <a:buChar char="•"/>
            </a:pPr>
            <a:r>
              <a:rPr lang="en-IN" b="0" i="0" dirty="0">
                <a:solidFill>
                  <a:srgbClr val="273239"/>
                </a:solidFill>
                <a:latin typeface="Arial"/>
                <a:ea typeface="Arial"/>
                <a:cs typeface="Arial"/>
                <a:sym typeface="Arial"/>
              </a:rPr>
              <a:t>Here, </a:t>
            </a:r>
            <a:r>
              <a:rPr lang="en-IN" b="1" i="0" dirty="0" err="1">
                <a:solidFill>
                  <a:srgbClr val="273239"/>
                </a:solidFill>
                <a:latin typeface="Arial"/>
                <a:ea typeface="Arial"/>
                <a:cs typeface="Arial"/>
                <a:sym typeface="Arial"/>
              </a:rPr>
              <a:t>enrol_no</a:t>
            </a:r>
            <a:r>
              <a:rPr lang="en-IN" b="1" i="0" dirty="0">
                <a:solidFill>
                  <a:srgbClr val="273239"/>
                </a:solidFill>
                <a:latin typeface="Arial"/>
                <a:ea typeface="Arial"/>
                <a:cs typeface="Arial"/>
                <a:sym typeface="Arial"/>
              </a:rPr>
              <a:t> → </a:t>
            </a:r>
            <a:r>
              <a:rPr lang="en-IN" b="1" i="0" dirty="0" err="1">
                <a:solidFill>
                  <a:srgbClr val="273239"/>
                </a:solidFill>
                <a:latin typeface="Arial"/>
                <a:ea typeface="Arial"/>
                <a:cs typeface="Arial"/>
                <a:sym typeface="Arial"/>
              </a:rPr>
              <a:t>dept</a:t>
            </a:r>
            <a:r>
              <a:rPr lang="en-IN" b="0" i="0" dirty="0">
                <a:solidFill>
                  <a:srgbClr val="273239"/>
                </a:solidFill>
                <a:latin typeface="Arial"/>
                <a:ea typeface="Arial"/>
                <a:cs typeface="Arial"/>
                <a:sym typeface="Arial"/>
              </a:rPr>
              <a:t> and </a:t>
            </a:r>
            <a:r>
              <a:rPr lang="en-IN" b="1" i="0" dirty="0" err="1">
                <a:solidFill>
                  <a:srgbClr val="273239"/>
                </a:solidFill>
                <a:latin typeface="Arial"/>
                <a:ea typeface="Arial"/>
                <a:cs typeface="Arial"/>
                <a:sym typeface="Arial"/>
              </a:rPr>
              <a:t>dept</a:t>
            </a:r>
            <a:r>
              <a:rPr lang="en-IN" b="1" i="0" dirty="0">
                <a:solidFill>
                  <a:srgbClr val="273239"/>
                </a:solidFill>
                <a:latin typeface="Arial"/>
                <a:ea typeface="Arial"/>
                <a:cs typeface="Arial"/>
                <a:sym typeface="Arial"/>
              </a:rPr>
              <a:t> → </a:t>
            </a:r>
            <a:r>
              <a:rPr lang="en-IN" b="1" i="0" dirty="0" err="1">
                <a:solidFill>
                  <a:srgbClr val="273239"/>
                </a:solidFill>
                <a:latin typeface="Arial"/>
                <a:ea typeface="Arial"/>
                <a:cs typeface="Arial"/>
                <a:sym typeface="Arial"/>
              </a:rPr>
              <a:t>building_no</a:t>
            </a:r>
            <a:r>
              <a:rPr lang="en-IN" b="0" i="0" dirty="0">
                <a:solidFill>
                  <a:srgbClr val="273239"/>
                </a:solidFill>
                <a:latin typeface="Arial"/>
                <a:ea typeface="Arial"/>
                <a:cs typeface="Arial"/>
                <a:sym typeface="Arial"/>
              </a:rPr>
              <a:t>, </a:t>
            </a:r>
            <a:br>
              <a:rPr lang="en-IN" dirty="0"/>
            </a:br>
            <a:endParaRPr dirty="0"/>
          </a:p>
          <a:p>
            <a:pPr marL="228600" lvl="0" indent="-228600" algn="l" rtl="0">
              <a:lnSpc>
                <a:spcPct val="90000"/>
              </a:lnSpc>
              <a:spcBef>
                <a:spcPts val="1000"/>
              </a:spcBef>
              <a:spcAft>
                <a:spcPts val="0"/>
              </a:spcAft>
              <a:buClr>
                <a:srgbClr val="273239"/>
              </a:buClr>
              <a:buSzPct val="100000"/>
              <a:buChar char="•"/>
            </a:pPr>
            <a:r>
              <a:rPr lang="en-IN" b="0" i="0" dirty="0">
                <a:solidFill>
                  <a:srgbClr val="273239"/>
                </a:solidFill>
                <a:latin typeface="Arial"/>
                <a:ea typeface="Arial"/>
                <a:cs typeface="Arial"/>
                <a:sym typeface="Arial"/>
              </a:rPr>
              <a:t>Hence, according to the axiom of transitivity, </a:t>
            </a:r>
            <a:r>
              <a:rPr lang="en-IN" b="1" i="0" dirty="0" err="1">
                <a:solidFill>
                  <a:srgbClr val="273239"/>
                </a:solidFill>
                <a:latin typeface="Arial"/>
                <a:ea typeface="Arial"/>
                <a:cs typeface="Arial"/>
                <a:sym typeface="Arial"/>
              </a:rPr>
              <a:t>enrol_no</a:t>
            </a:r>
            <a:r>
              <a:rPr lang="en-IN" b="1" i="0" dirty="0">
                <a:solidFill>
                  <a:srgbClr val="273239"/>
                </a:solidFill>
                <a:latin typeface="Arial"/>
                <a:ea typeface="Arial"/>
                <a:cs typeface="Arial"/>
                <a:sym typeface="Arial"/>
              </a:rPr>
              <a:t> → </a:t>
            </a:r>
            <a:r>
              <a:rPr lang="en-IN" b="1" i="0" dirty="0" err="1">
                <a:solidFill>
                  <a:srgbClr val="273239"/>
                </a:solidFill>
                <a:latin typeface="Arial"/>
                <a:ea typeface="Arial"/>
                <a:cs typeface="Arial"/>
                <a:sym typeface="Arial"/>
              </a:rPr>
              <a:t>building_no</a:t>
            </a:r>
            <a:r>
              <a:rPr lang="en-IN" b="0" i="0" dirty="0">
                <a:solidFill>
                  <a:srgbClr val="273239"/>
                </a:solidFill>
                <a:latin typeface="Arial"/>
                <a:ea typeface="Arial"/>
                <a:cs typeface="Arial"/>
                <a:sym typeface="Arial"/>
              </a:rPr>
              <a:t> is a valid functional dependency. </a:t>
            </a:r>
            <a:endParaRPr dirty="0"/>
          </a:p>
          <a:p>
            <a:pPr marL="228600" lvl="0" indent="-228600" algn="l" rtl="0">
              <a:lnSpc>
                <a:spcPct val="90000"/>
              </a:lnSpc>
              <a:spcBef>
                <a:spcPts val="1000"/>
              </a:spcBef>
              <a:spcAft>
                <a:spcPts val="0"/>
              </a:spcAft>
              <a:buClr>
                <a:srgbClr val="273239"/>
              </a:buClr>
              <a:buSzPct val="100000"/>
              <a:buChar char="•"/>
            </a:pPr>
            <a:r>
              <a:rPr lang="en-IN" b="0" i="0" dirty="0">
                <a:solidFill>
                  <a:srgbClr val="273239"/>
                </a:solidFill>
                <a:latin typeface="Arial"/>
                <a:ea typeface="Arial"/>
                <a:cs typeface="Arial"/>
                <a:sym typeface="Arial"/>
              </a:rPr>
              <a:t>This is an indirect functional dependency, hence called Transitive functional dependency.</a:t>
            </a:r>
            <a:endParaRPr dirty="0"/>
          </a:p>
        </p:txBody>
      </p:sp>
      <p:pic>
        <p:nvPicPr>
          <p:cNvPr id="305" name="Google Shape;305;p32"/>
          <p:cNvPicPr preferRelativeResize="0"/>
          <p:nvPr/>
        </p:nvPicPr>
        <p:blipFill rotWithShape="1">
          <a:blip r:embed="rId3">
            <a:alphaModFix/>
          </a:blip>
          <a:srcRect/>
          <a:stretch/>
        </p:blipFill>
        <p:spPr>
          <a:xfrm>
            <a:off x="7668708" y="1427333"/>
            <a:ext cx="1475291" cy="1802480"/>
          </a:xfrm>
          <a:prstGeom prst="rect">
            <a:avLst/>
          </a:prstGeom>
          <a:noFill/>
          <a:ln>
            <a:noFill/>
          </a:ln>
        </p:spPr>
      </p:pic>
    </p:spTree>
    <p:extLst>
      <p:ext uri="{BB962C8B-B14F-4D97-AF65-F5344CB8AC3E}">
        <p14:creationId xmlns:p14="http://schemas.microsoft.com/office/powerpoint/2010/main" val="479343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5"/>
                                        </p:tgtEl>
                                        <p:attrNameLst>
                                          <p:attrName>style.visibility</p:attrName>
                                        </p:attrNameLst>
                                      </p:cBhvr>
                                      <p:to>
                                        <p:strVal val="visible"/>
                                      </p:to>
                                    </p:set>
                                    <p:animEffect transition="in" filter="fade">
                                      <p:cBhvr>
                                        <p:cTn id="7" dur="1000"/>
                                        <p:tgtEl>
                                          <p:spTgt spid="30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304">
                                            <p:txEl>
                                              <p:pRg st="0" end="0"/>
                                            </p:txEl>
                                          </p:spTgt>
                                        </p:tgtEl>
                                        <p:attrNameLst>
                                          <p:attrName>style.visibility</p:attrName>
                                        </p:attrNameLst>
                                      </p:cBhvr>
                                      <p:to>
                                        <p:strVal val="visible"/>
                                      </p:to>
                                    </p:set>
                                    <p:anim calcmode="lin" valueType="num">
                                      <p:cBhvr additive="base">
                                        <p:cTn id="12" dur="500"/>
                                        <p:tgtEl>
                                          <p:spTgt spid="30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04">
                                            <p:txEl>
                                              <p:pRg st="1" end="1"/>
                                            </p:txEl>
                                          </p:spTgt>
                                        </p:tgtEl>
                                        <p:attrNameLst>
                                          <p:attrName>style.visibility</p:attrName>
                                        </p:attrNameLst>
                                      </p:cBhvr>
                                      <p:to>
                                        <p:strVal val="visible"/>
                                      </p:to>
                                    </p:set>
                                    <p:anim calcmode="lin" valueType="num">
                                      <p:cBhvr additive="base">
                                        <p:cTn id="17" dur="500"/>
                                        <p:tgtEl>
                                          <p:spTgt spid="30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304">
                                            <p:txEl>
                                              <p:pRg st="2" end="2"/>
                                            </p:txEl>
                                          </p:spTgt>
                                        </p:tgtEl>
                                        <p:attrNameLst>
                                          <p:attrName>style.visibility</p:attrName>
                                        </p:attrNameLst>
                                      </p:cBhvr>
                                      <p:to>
                                        <p:strVal val="visible"/>
                                      </p:to>
                                    </p:set>
                                    <p:anim calcmode="lin" valueType="num">
                                      <p:cBhvr additive="base">
                                        <p:cTn id="22" dur="500"/>
                                        <p:tgtEl>
                                          <p:spTgt spid="30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304">
                                            <p:txEl>
                                              <p:pRg st="3" end="3"/>
                                            </p:txEl>
                                          </p:spTgt>
                                        </p:tgtEl>
                                        <p:attrNameLst>
                                          <p:attrName>style.visibility</p:attrName>
                                        </p:attrNameLst>
                                      </p:cBhvr>
                                      <p:to>
                                        <p:strVal val="visible"/>
                                      </p:to>
                                    </p:set>
                                    <p:anim calcmode="lin" valueType="num">
                                      <p:cBhvr additive="base">
                                        <p:cTn id="27" dur="500"/>
                                        <p:tgtEl>
                                          <p:spTgt spid="30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304">
                                            <p:txEl>
                                              <p:pRg st="4" end="4"/>
                                            </p:txEl>
                                          </p:spTgt>
                                        </p:tgtEl>
                                        <p:attrNameLst>
                                          <p:attrName>style.visibility</p:attrName>
                                        </p:attrNameLst>
                                      </p:cBhvr>
                                      <p:to>
                                        <p:strVal val="visible"/>
                                      </p:to>
                                    </p:set>
                                    <p:anim calcmode="lin" valueType="num">
                                      <p:cBhvr additive="base">
                                        <p:cTn id="32" dur="500"/>
                                        <p:tgtEl>
                                          <p:spTgt spid="304">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39"/>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51</a:t>
            </a:fld>
            <a:endParaRPr sz="1400" b="0" i="0" u="none" strike="noStrike" cap="none">
              <a:solidFill>
                <a:srgbClr val="000000"/>
              </a:solidFill>
              <a:latin typeface="Arial"/>
              <a:ea typeface="Arial"/>
              <a:cs typeface="Arial"/>
              <a:sym typeface="Arial"/>
            </a:endParaRPr>
          </a:p>
        </p:txBody>
      </p:sp>
      <p:sp>
        <p:nvSpPr>
          <p:cNvPr id="284" name="Google Shape;284;p39"/>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2.3 Equivalence of Sets of FDs </a:t>
            </a:r>
            <a:endParaRPr/>
          </a:p>
        </p:txBody>
      </p:sp>
      <p:sp>
        <p:nvSpPr>
          <p:cNvPr id="285" name="Google Shape;285;p39"/>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440"/>
              <a:buFont typeface="Noto Sans Symbols"/>
              <a:buChar char="■"/>
            </a:pPr>
            <a:r>
              <a:rPr lang="en-US" sz="2400" b="0" i="0" u="none" dirty="0">
                <a:solidFill>
                  <a:schemeClr val="dk2"/>
                </a:solidFill>
                <a:highlight>
                  <a:srgbClr val="FFFF00"/>
                </a:highlight>
                <a:latin typeface="Arial"/>
                <a:ea typeface="Arial"/>
                <a:cs typeface="Arial"/>
                <a:sym typeface="Arial"/>
              </a:rPr>
              <a:t>Two sets of FDs F and G are </a:t>
            </a:r>
            <a:r>
              <a:rPr lang="en-US" sz="2400" b="1" i="0" u="none" dirty="0">
                <a:solidFill>
                  <a:schemeClr val="dk2"/>
                </a:solidFill>
                <a:highlight>
                  <a:srgbClr val="FFFF00"/>
                </a:highlight>
                <a:latin typeface="Arial"/>
                <a:ea typeface="Arial"/>
                <a:cs typeface="Arial"/>
                <a:sym typeface="Arial"/>
              </a:rPr>
              <a:t>equivalent</a:t>
            </a:r>
            <a:r>
              <a:rPr lang="en-US" sz="2400" b="0" i="0" u="none" dirty="0">
                <a:solidFill>
                  <a:schemeClr val="dk2"/>
                </a:solidFill>
                <a:highlight>
                  <a:srgbClr val="FFFF00"/>
                </a:highlight>
                <a:latin typeface="Arial"/>
                <a:ea typeface="Arial"/>
                <a:cs typeface="Arial"/>
                <a:sym typeface="Arial"/>
              </a:rPr>
              <a:t> if:</a:t>
            </a:r>
            <a:endParaRPr dirty="0">
              <a:highlight>
                <a:srgbClr val="FFFF00"/>
              </a:highlight>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dirty="0">
                <a:solidFill>
                  <a:srgbClr val="800000"/>
                </a:solidFill>
                <a:highlight>
                  <a:srgbClr val="FFFF00"/>
                </a:highlight>
                <a:latin typeface="Arial"/>
                <a:ea typeface="Arial"/>
                <a:cs typeface="Arial"/>
                <a:sym typeface="Arial"/>
              </a:rPr>
              <a:t>Every FD in F can be inferred from G, and</a:t>
            </a:r>
            <a:endParaRPr dirty="0">
              <a:highlight>
                <a:srgbClr val="FFFF00"/>
              </a:highlight>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dirty="0">
                <a:solidFill>
                  <a:srgbClr val="800000"/>
                </a:solidFill>
                <a:highlight>
                  <a:srgbClr val="FFFF00"/>
                </a:highlight>
                <a:latin typeface="Arial"/>
                <a:ea typeface="Arial"/>
                <a:cs typeface="Arial"/>
                <a:sym typeface="Arial"/>
              </a:rPr>
              <a:t>Every FD in G can be inferred from F</a:t>
            </a:r>
            <a:endParaRPr dirty="0">
              <a:highlight>
                <a:srgbClr val="FFFF00"/>
              </a:highlight>
            </a:endParaRPr>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dirty="0">
                <a:solidFill>
                  <a:srgbClr val="800000"/>
                </a:solidFill>
                <a:highlight>
                  <a:srgbClr val="FFFF00"/>
                </a:highlight>
                <a:latin typeface="Arial"/>
                <a:ea typeface="Arial"/>
                <a:cs typeface="Arial"/>
                <a:sym typeface="Arial"/>
              </a:rPr>
              <a:t>Hence, F and G are equivalent if F</a:t>
            </a:r>
            <a:r>
              <a:rPr lang="en-US" sz="2200" b="0" i="0" u="none" baseline="30000" dirty="0">
                <a:solidFill>
                  <a:srgbClr val="800000"/>
                </a:solidFill>
                <a:highlight>
                  <a:srgbClr val="FFFF00"/>
                </a:highlight>
                <a:latin typeface="Arial"/>
                <a:ea typeface="Arial"/>
                <a:cs typeface="Arial"/>
                <a:sym typeface="Arial"/>
              </a:rPr>
              <a:t>+</a:t>
            </a:r>
            <a:r>
              <a:rPr lang="en-US" sz="2200" b="0" i="0" u="none" dirty="0">
                <a:solidFill>
                  <a:srgbClr val="800000"/>
                </a:solidFill>
                <a:highlight>
                  <a:srgbClr val="FFFF00"/>
                </a:highlight>
                <a:latin typeface="Arial"/>
                <a:ea typeface="Arial"/>
                <a:cs typeface="Arial"/>
                <a:sym typeface="Arial"/>
              </a:rPr>
              <a:t> =G</a:t>
            </a:r>
            <a:r>
              <a:rPr lang="en-US" sz="2200" b="0" i="0" u="none" baseline="30000" dirty="0">
                <a:solidFill>
                  <a:srgbClr val="800000"/>
                </a:solidFill>
                <a:highlight>
                  <a:srgbClr val="FFFF00"/>
                </a:highlight>
                <a:latin typeface="Arial"/>
                <a:ea typeface="Arial"/>
                <a:cs typeface="Arial"/>
                <a:sym typeface="Arial"/>
              </a:rPr>
              <a:t>+</a:t>
            </a:r>
            <a:endParaRPr dirty="0">
              <a:highlight>
                <a:srgbClr val="FFFF00"/>
              </a:highlight>
            </a:endParaRPr>
          </a:p>
          <a:p>
            <a:pPr marL="342900" lvl="0" indent="-342900" algn="l" rtl="0">
              <a:lnSpc>
                <a:spcPct val="100000"/>
              </a:lnSpc>
              <a:spcBef>
                <a:spcPts val="480"/>
              </a:spcBef>
              <a:spcAft>
                <a:spcPts val="0"/>
              </a:spcAft>
              <a:buClr>
                <a:srgbClr val="990033"/>
              </a:buClr>
              <a:buSzPts val="1440"/>
              <a:buFont typeface="Noto Sans Symbols"/>
              <a:buChar char="■"/>
            </a:pPr>
            <a:r>
              <a:rPr lang="en-US" sz="2400" b="0" i="0" u="none" dirty="0">
                <a:solidFill>
                  <a:schemeClr val="dk2"/>
                </a:solidFill>
                <a:latin typeface="Arial"/>
                <a:ea typeface="Arial"/>
                <a:cs typeface="Arial"/>
                <a:sym typeface="Arial"/>
              </a:rPr>
              <a:t>Definition (</a:t>
            </a:r>
            <a:r>
              <a:rPr lang="en-US" sz="2400" b="1" i="0" u="none" dirty="0">
                <a:solidFill>
                  <a:schemeClr val="dk2"/>
                </a:solidFill>
                <a:latin typeface="Arial"/>
                <a:ea typeface="Arial"/>
                <a:cs typeface="Arial"/>
                <a:sym typeface="Arial"/>
              </a:rPr>
              <a:t>Covers</a:t>
            </a:r>
            <a:r>
              <a:rPr lang="en-US" sz="2400" b="0" i="0" u="none" dirty="0">
                <a:solidFill>
                  <a:schemeClr val="dk2"/>
                </a:solidFill>
                <a:latin typeface="Arial"/>
                <a:ea typeface="Arial"/>
                <a:cs typeface="Arial"/>
                <a:sym typeface="Arial"/>
              </a:rPr>
              <a:t>):</a:t>
            </a:r>
            <a:endParaRPr dirty="0"/>
          </a:p>
          <a:p>
            <a:pPr marL="742950" lvl="1" indent="-285750" algn="l" rtl="0">
              <a:lnSpc>
                <a:spcPct val="100000"/>
              </a:lnSpc>
              <a:spcBef>
                <a:spcPts val="440"/>
              </a:spcBef>
              <a:spcAft>
                <a:spcPts val="0"/>
              </a:spcAft>
              <a:buClr>
                <a:schemeClr val="dk2"/>
              </a:buClr>
              <a:buSzPts val="1210"/>
              <a:buFont typeface="Noto Sans Symbols"/>
              <a:buChar char="■"/>
            </a:pPr>
            <a:r>
              <a:rPr lang="en-US" sz="2200" b="0" i="0" u="none" dirty="0">
                <a:solidFill>
                  <a:srgbClr val="800000"/>
                </a:solidFill>
                <a:latin typeface="Arial"/>
                <a:ea typeface="Arial"/>
                <a:cs typeface="Arial"/>
                <a:sym typeface="Arial"/>
              </a:rPr>
              <a:t>F </a:t>
            </a:r>
            <a:r>
              <a:rPr lang="en-US" sz="2200" b="1" i="0" u="none" dirty="0">
                <a:solidFill>
                  <a:srgbClr val="800000"/>
                </a:solidFill>
                <a:latin typeface="Arial"/>
                <a:ea typeface="Arial"/>
                <a:cs typeface="Arial"/>
                <a:sym typeface="Arial"/>
              </a:rPr>
              <a:t>covers</a:t>
            </a:r>
            <a:r>
              <a:rPr lang="en-US" sz="2200" b="0" i="0" u="none" dirty="0">
                <a:solidFill>
                  <a:srgbClr val="800000"/>
                </a:solidFill>
                <a:latin typeface="Arial"/>
                <a:ea typeface="Arial"/>
                <a:cs typeface="Arial"/>
                <a:sym typeface="Arial"/>
              </a:rPr>
              <a:t> G if every FD in G can be inferred from F</a:t>
            </a:r>
            <a:endParaRPr dirty="0"/>
          </a:p>
          <a:p>
            <a:pPr marL="1143000" lvl="2" indent="-228600" algn="l" rtl="0">
              <a:lnSpc>
                <a:spcPct val="100000"/>
              </a:lnSpc>
              <a:spcBef>
                <a:spcPts val="400"/>
              </a:spcBef>
              <a:spcAft>
                <a:spcPts val="0"/>
              </a:spcAft>
              <a:buClr>
                <a:srgbClr val="990033"/>
              </a:buClr>
              <a:buSzPts val="1000"/>
              <a:buFont typeface="Noto Sans Symbols"/>
              <a:buChar char="■"/>
            </a:pPr>
            <a:r>
              <a:rPr lang="en-US" sz="2000" b="0" i="0" u="none" dirty="0">
                <a:solidFill>
                  <a:schemeClr val="dk2"/>
                </a:solidFill>
                <a:latin typeface="Arial"/>
                <a:ea typeface="Arial"/>
                <a:cs typeface="Arial"/>
                <a:sym typeface="Arial"/>
              </a:rPr>
              <a:t>(i.e., if G</a:t>
            </a:r>
            <a:r>
              <a:rPr lang="en-US" sz="2000" b="0" i="0" u="none" baseline="30000" dirty="0">
                <a:solidFill>
                  <a:schemeClr val="dk2"/>
                </a:solidFill>
                <a:latin typeface="Arial"/>
                <a:ea typeface="Arial"/>
                <a:cs typeface="Arial"/>
                <a:sym typeface="Arial"/>
              </a:rPr>
              <a:t>+</a:t>
            </a:r>
            <a:r>
              <a:rPr lang="en-US" sz="2000" b="0" i="0" u="none" dirty="0">
                <a:solidFill>
                  <a:schemeClr val="dk2"/>
                </a:solidFill>
                <a:latin typeface="Arial"/>
                <a:ea typeface="Arial"/>
                <a:cs typeface="Arial"/>
                <a:sym typeface="Arial"/>
              </a:rPr>
              <a:t> </a:t>
            </a:r>
            <a:r>
              <a:rPr lang="en-US" sz="2000" b="0" i="1" u="none" dirty="0">
                <a:solidFill>
                  <a:schemeClr val="dk2"/>
                </a:solidFill>
                <a:latin typeface="Arial"/>
                <a:ea typeface="Arial"/>
                <a:cs typeface="Arial"/>
                <a:sym typeface="Arial"/>
              </a:rPr>
              <a:t>subset-of</a:t>
            </a:r>
            <a:r>
              <a:rPr lang="en-US" sz="2000" b="0" i="0" u="none" dirty="0">
                <a:solidFill>
                  <a:schemeClr val="dk2"/>
                </a:solidFill>
                <a:latin typeface="Arial"/>
                <a:ea typeface="Arial"/>
                <a:cs typeface="Arial"/>
                <a:sym typeface="Arial"/>
              </a:rPr>
              <a:t> F</a:t>
            </a:r>
            <a:r>
              <a:rPr lang="en-US" sz="2000" b="0" i="0" u="none" baseline="30000" dirty="0">
                <a:solidFill>
                  <a:schemeClr val="dk2"/>
                </a:solidFill>
                <a:latin typeface="Arial"/>
                <a:ea typeface="Arial"/>
                <a:cs typeface="Arial"/>
                <a:sym typeface="Arial"/>
              </a:rPr>
              <a:t>+</a:t>
            </a:r>
            <a:r>
              <a:rPr lang="en-US" sz="2000" b="0" i="0" u="none" dirty="0">
                <a:solidFill>
                  <a:schemeClr val="dk2"/>
                </a:solidFill>
                <a:latin typeface="Arial"/>
                <a:ea typeface="Arial"/>
                <a:cs typeface="Arial"/>
                <a:sym typeface="Arial"/>
              </a:rPr>
              <a:t>)</a:t>
            </a:r>
            <a:endParaRPr dirty="0"/>
          </a:p>
          <a:p>
            <a:pPr marL="342900" lvl="0" indent="-342900" algn="l" rtl="0">
              <a:lnSpc>
                <a:spcPct val="100000"/>
              </a:lnSpc>
              <a:spcBef>
                <a:spcPts val="480"/>
              </a:spcBef>
              <a:spcAft>
                <a:spcPts val="0"/>
              </a:spcAft>
              <a:buClr>
                <a:srgbClr val="990033"/>
              </a:buClr>
              <a:buSzPts val="1440"/>
              <a:buFont typeface="Noto Sans Symbols"/>
              <a:buChar char="■"/>
            </a:pPr>
            <a:r>
              <a:rPr lang="en-US" sz="2400" b="0" i="0" u="none" dirty="0">
                <a:solidFill>
                  <a:schemeClr val="dk2"/>
                </a:solidFill>
                <a:highlight>
                  <a:srgbClr val="FFFF00"/>
                </a:highlight>
                <a:latin typeface="Arial"/>
                <a:ea typeface="Arial"/>
                <a:cs typeface="Arial"/>
                <a:sym typeface="Arial"/>
              </a:rPr>
              <a:t>F and G are equivalent if F covers G and G covers F</a:t>
            </a:r>
            <a:endParaRPr dirty="0">
              <a:highlight>
                <a:srgbClr val="FFFF00"/>
              </a:highlight>
            </a:endParaRPr>
          </a:p>
          <a:p>
            <a:pPr marL="342900" lvl="0" indent="-342900" algn="l" rtl="0">
              <a:lnSpc>
                <a:spcPct val="100000"/>
              </a:lnSpc>
              <a:spcBef>
                <a:spcPts val="480"/>
              </a:spcBef>
              <a:spcAft>
                <a:spcPts val="0"/>
              </a:spcAft>
              <a:buClr>
                <a:srgbClr val="990033"/>
              </a:buClr>
              <a:buSzPts val="1440"/>
              <a:buFont typeface="Noto Sans Symbols"/>
              <a:buChar char="■"/>
            </a:pPr>
            <a:r>
              <a:rPr lang="en-US" sz="2400" b="0" i="0" u="none" dirty="0">
                <a:solidFill>
                  <a:schemeClr val="dk2"/>
                </a:solidFill>
                <a:latin typeface="Arial"/>
                <a:ea typeface="Arial"/>
                <a:cs typeface="Arial"/>
                <a:sym typeface="Arial"/>
              </a:rPr>
              <a:t>There is an algorithm for checking equivalence of sets of FDs </a:t>
            </a:r>
            <a:endParaRPr dirty="0"/>
          </a:p>
        </p:txBody>
      </p:sp>
    </p:spTree>
    <p:extLst>
      <p:ext uri="{BB962C8B-B14F-4D97-AF65-F5344CB8AC3E}">
        <p14:creationId xmlns:p14="http://schemas.microsoft.com/office/powerpoint/2010/main" val="39581322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40"/>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52</a:t>
            </a:fld>
            <a:endParaRPr sz="1400" b="0" i="0" u="none" strike="noStrike" cap="none">
              <a:solidFill>
                <a:srgbClr val="000000"/>
              </a:solidFill>
              <a:latin typeface="Arial"/>
              <a:ea typeface="Arial"/>
              <a:cs typeface="Arial"/>
              <a:sym typeface="Arial"/>
            </a:endParaRPr>
          </a:p>
        </p:txBody>
      </p:sp>
      <p:sp>
        <p:nvSpPr>
          <p:cNvPr id="292" name="Google Shape;292;p40"/>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2.4 Minimal Sets of FDs (1)</a:t>
            </a:r>
            <a:endParaRPr/>
          </a:p>
        </p:txBody>
      </p:sp>
      <p:sp>
        <p:nvSpPr>
          <p:cNvPr id="293" name="Google Shape;293;p40"/>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533400" lvl="0" indent="-533400" algn="l" rtl="0">
              <a:lnSpc>
                <a:spcPct val="90000"/>
              </a:lnSpc>
              <a:spcBef>
                <a:spcPts val="0"/>
              </a:spcBef>
              <a:spcAft>
                <a:spcPts val="0"/>
              </a:spcAft>
              <a:buClr>
                <a:srgbClr val="990033"/>
              </a:buClr>
              <a:buSzPts val="1680"/>
              <a:buFont typeface="Noto Sans Symbols"/>
              <a:buChar char="■"/>
            </a:pPr>
            <a:r>
              <a:rPr lang="en-US" sz="2800" b="0" i="0" u="none" dirty="0">
                <a:solidFill>
                  <a:schemeClr val="dk2"/>
                </a:solidFill>
                <a:latin typeface="Arial"/>
                <a:ea typeface="Arial"/>
                <a:cs typeface="Arial"/>
                <a:sym typeface="Arial"/>
              </a:rPr>
              <a:t>A set of FDs is </a:t>
            </a:r>
            <a:r>
              <a:rPr lang="en-US" sz="2800" b="1" i="0" u="none" dirty="0">
                <a:solidFill>
                  <a:schemeClr val="dk2"/>
                </a:solidFill>
                <a:latin typeface="Arial"/>
                <a:ea typeface="Arial"/>
                <a:cs typeface="Arial"/>
                <a:sym typeface="Arial"/>
              </a:rPr>
              <a:t>minimal</a:t>
            </a:r>
            <a:r>
              <a:rPr lang="en-US" sz="2800" b="0" i="0" u="none" dirty="0">
                <a:solidFill>
                  <a:schemeClr val="dk2"/>
                </a:solidFill>
                <a:latin typeface="Arial"/>
                <a:ea typeface="Arial"/>
                <a:cs typeface="Arial"/>
                <a:sym typeface="Arial"/>
              </a:rPr>
              <a:t> if it satisfies the following conditions:</a:t>
            </a:r>
            <a:endParaRPr dirty="0"/>
          </a:p>
          <a:p>
            <a:pPr marL="952500" lvl="1" indent="-495300" algn="l" rtl="0">
              <a:lnSpc>
                <a:spcPct val="90000"/>
              </a:lnSpc>
              <a:spcBef>
                <a:spcPts val="520"/>
              </a:spcBef>
              <a:spcAft>
                <a:spcPts val="0"/>
              </a:spcAft>
              <a:buClr>
                <a:schemeClr val="dk2"/>
              </a:buClr>
              <a:buSzPts val="1430"/>
              <a:buFont typeface="Noto Sans Symbols"/>
              <a:buAutoNum type="arabicPeriod"/>
            </a:pPr>
            <a:r>
              <a:rPr lang="en-US" sz="2600" b="0" i="0" u="none" dirty="0">
                <a:solidFill>
                  <a:srgbClr val="800000"/>
                </a:solidFill>
                <a:latin typeface="Arial"/>
                <a:ea typeface="Arial"/>
                <a:cs typeface="Arial"/>
                <a:sym typeface="Arial"/>
              </a:rPr>
              <a:t>Every dependency in F has a single attribute for its RHS.</a:t>
            </a:r>
            <a:endParaRPr dirty="0"/>
          </a:p>
          <a:p>
            <a:pPr marL="952500" lvl="1" indent="-495300" algn="l" rtl="0">
              <a:lnSpc>
                <a:spcPct val="90000"/>
              </a:lnSpc>
              <a:spcBef>
                <a:spcPts val="520"/>
              </a:spcBef>
              <a:spcAft>
                <a:spcPts val="0"/>
              </a:spcAft>
              <a:buClr>
                <a:schemeClr val="dk2"/>
              </a:buClr>
              <a:buSzPts val="1430"/>
              <a:buFont typeface="Noto Sans Symbols"/>
              <a:buAutoNum type="arabicPeriod"/>
            </a:pPr>
            <a:r>
              <a:rPr lang="en-US" sz="2600" b="0" i="0" u="none" dirty="0">
                <a:solidFill>
                  <a:srgbClr val="800000"/>
                </a:solidFill>
                <a:latin typeface="Arial"/>
                <a:ea typeface="Arial"/>
                <a:cs typeface="Arial"/>
                <a:sym typeface="Arial"/>
              </a:rPr>
              <a:t>We cannot remove any dependency from F and have a set of dependencies that is equivalent to F.</a:t>
            </a:r>
            <a:endParaRPr dirty="0"/>
          </a:p>
          <a:p>
            <a:pPr marL="952500" lvl="1" indent="-495300" algn="l" rtl="0">
              <a:lnSpc>
                <a:spcPct val="90000"/>
              </a:lnSpc>
              <a:spcBef>
                <a:spcPts val="520"/>
              </a:spcBef>
              <a:spcAft>
                <a:spcPts val="0"/>
              </a:spcAft>
              <a:buClr>
                <a:schemeClr val="dk2"/>
              </a:buClr>
              <a:buSzPts val="1430"/>
              <a:buFont typeface="Noto Sans Symbols"/>
              <a:buAutoNum type="arabicPeriod"/>
            </a:pPr>
            <a:r>
              <a:rPr lang="en-US" sz="2600" b="0" i="0" u="none" dirty="0">
                <a:solidFill>
                  <a:srgbClr val="800000"/>
                </a:solidFill>
                <a:highlight>
                  <a:srgbClr val="FFFF00"/>
                </a:highlight>
                <a:latin typeface="Arial"/>
                <a:ea typeface="Arial"/>
                <a:cs typeface="Arial"/>
                <a:sym typeface="Arial"/>
              </a:rPr>
              <a:t>We cannot replace any dependency X -&gt; A in F with a dependency Y -&gt; A, where Y proper-subset-of X ( Y subset-of X) and still have a set of dependencies that is equivalent to F.</a:t>
            </a:r>
            <a:endParaRPr dirty="0">
              <a:highlight>
                <a:srgbClr val="FFFF00"/>
              </a:highlight>
            </a:endParaRPr>
          </a:p>
        </p:txBody>
      </p:sp>
    </p:spTree>
    <p:extLst>
      <p:ext uri="{BB962C8B-B14F-4D97-AF65-F5344CB8AC3E}">
        <p14:creationId xmlns:p14="http://schemas.microsoft.com/office/powerpoint/2010/main" val="4635099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41"/>
          <p:cNvSpPr txBox="1"/>
          <p:nvPr/>
        </p:nvSpPr>
        <p:spPr>
          <a:xfrm>
            <a:off x="6934200" y="6400800"/>
            <a:ext cx="19050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990033"/>
              </a:buClr>
              <a:buSzPts val="1400"/>
              <a:buFont typeface="Arial"/>
              <a:buNone/>
            </a:pPr>
            <a:r>
              <a:rPr lang="en-US" sz="1400" b="1" i="0" u="none" strike="noStrike" cap="none">
                <a:solidFill>
                  <a:srgbClr val="990033"/>
                </a:solidFill>
                <a:latin typeface="Arial"/>
                <a:ea typeface="Arial"/>
                <a:cs typeface="Arial"/>
                <a:sym typeface="Arial"/>
              </a:rPr>
              <a:t>Slide 10- </a:t>
            </a:r>
            <a:fld id="{00000000-1234-1234-1234-123412341234}" type="slidenum">
              <a:rPr lang="en-US" sz="1400" b="1" i="0" u="none" strike="noStrike" cap="none">
                <a:solidFill>
                  <a:srgbClr val="990033"/>
                </a:solidFill>
                <a:latin typeface="Arial"/>
                <a:ea typeface="Arial"/>
                <a:cs typeface="Arial"/>
                <a:sym typeface="Arial"/>
              </a:rPr>
              <a:t>53</a:t>
            </a:fld>
            <a:endParaRPr sz="1400" b="0" i="0" u="none" strike="noStrike" cap="none">
              <a:solidFill>
                <a:srgbClr val="000000"/>
              </a:solidFill>
              <a:latin typeface="Arial"/>
              <a:ea typeface="Arial"/>
              <a:cs typeface="Arial"/>
              <a:sym typeface="Arial"/>
            </a:endParaRPr>
          </a:p>
        </p:txBody>
      </p:sp>
      <p:sp>
        <p:nvSpPr>
          <p:cNvPr id="300" name="Google Shape;300;p41"/>
          <p:cNvSpPr txBox="1">
            <a:spLocks noGrp="1"/>
          </p:cNvSpPr>
          <p:nvPr>
            <p:ph type="title"/>
          </p:nvPr>
        </p:nvSpPr>
        <p:spPr>
          <a:xfrm>
            <a:off x="228600" y="303212"/>
            <a:ext cx="7796212" cy="9921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rgbClr val="800000"/>
              </a:buClr>
              <a:buSzPts val="3600"/>
              <a:buFont typeface="Arial"/>
              <a:buNone/>
            </a:pPr>
            <a:r>
              <a:rPr lang="en-US" sz="3600" b="0" i="0" u="none">
                <a:solidFill>
                  <a:srgbClr val="800000"/>
                </a:solidFill>
                <a:latin typeface="Arial"/>
                <a:ea typeface="Arial"/>
                <a:cs typeface="Arial"/>
                <a:sym typeface="Arial"/>
              </a:rPr>
              <a:t>Minimal Sets of FDs (2)</a:t>
            </a:r>
            <a:endParaRPr/>
          </a:p>
        </p:txBody>
      </p:sp>
      <p:sp>
        <p:nvSpPr>
          <p:cNvPr id="301" name="Google Shape;301;p41"/>
          <p:cNvSpPr txBox="1">
            <a:spLocks noGrp="1"/>
          </p:cNvSpPr>
          <p:nvPr>
            <p:ph type="body" idx="1"/>
          </p:nvPr>
        </p:nvSpPr>
        <p:spPr>
          <a:xfrm>
            <a:off x="239712" y="1600200"/>
            <a:ext cx="8294687" cy="4572000"/>
          </a:xfrm>
          <a:prstGeom prst="rect">
            <a:avLst/>
          </a:prstGeom>
          <a:noFill/>
          <a:ln>
            <a:noFill/>
          </a:ln>
        </p:spPr>
        <p:txBody>
          <a:bodyPr spcFirstLastPara="1" wrap="square" lIns="91425" tIns="45700" rIns="0" bIns="45700" anchor="t" anchorCtr="0">
            <a:noAutofit/>
          </a:bodyPr>
          <a:lstStyle/>
          <a:p>
            <a:pPr marL="342900" lvl="0" indent="-342900" algn="l" rtl="0">
              <a:lnSpc>
                <a:spcPct val="100000"/>
              </a:lnSpc>
              <a:spcBef>
                <a:spcPts val="0"/>
              </a:spcBef>
              <a:spcAft>
                <a:spcPts val="0"/>
              </a:spcAft>
              <a:buClr>
                <a:srgbClr val="990033"/>
              </a:buClr>
              <a:buSzPts val="1680"/>
              <a:buFont typeface="Noto Sans Symbols"/>
              <a:buChar char="■"/>
            </a:pPr>
            <a:r>
              <a:rPr lang="en-US" sz="2800" b="0" i="0" u="none">
                <a:solidFill>
                  <a:schemeClr val="dk2"/>
                </a:solidFill>
                <a:latin typeface="Arial"/>
                <a:ea typeface="Arial"/>
                <a:cs typeface="Arial"/>
                <a:sym typeface="Arial"/>
              </a:rPr>
              <a:t>Every set of FDs has an equivalent minimal set</a:t>
            </a:r>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a:solidFill>
                  <a:schemeClr val="dk2"/>
                </a:solidFill>
                <a:latin typeface="Arial"/>
                <a:ea typeface="Arial"/>
                <a:cs typeface="Arial"/>
                <a:sym typeface="Arial"/>
              </a:rPr>
              <a:t>There can be several equivalent minimal sets</a:t>
            </a:r>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a:solidFill>
                  <a:schemeClr val="dk2"/>
                </a:solidFill>
                <a:latin typeface="Arial"/>
                <a:ea typeface="Arial"/>
                <a:cs typeface="Arial"/>
                <a:sym typeface="Arial"/>
              </a:rPr>
              <a:t>There is no simple algorithm for computing a minimal set of FDs that is equivalent to a set F of FDs</a:t>
            </a:r>
            <a:endParaRPr/>
          </a:p>
          <a:p>
            <a:pPr marL="342900" lvl="0" indent="-342900" algn="l" rtl="0">
              <a:lnSpc>
                <a:spcPct val="100000"/>
              </a:lnSpc>
              <a:spcBef>
                <a:spcPts val="560"/>
              </a:spcBef>
              <a:spcAft>
                <a:spcPts val="0"/>
              </a:spcAft>
              <a:buClr>
                <a:srgbClr val="990033"/>
              </a:buClr>
              <a:buSzPts val="1680"/>
              <a:buFont typeface="Noto Sans Symbols"/>
              <a:buChar char="■"/>
            </a:pPr>
            <a:r>
              <a:rPr lang="en-US" sz="2800" b="0" i="0" u="none">
                <a:solidFill>
                  <a:schemeClr val="dk2"/>
                </a:solidFill>
                <a:latin typeface="Arial"/>
                <a:ea typeface="Arial"/>
                <a:cs typeface="Arial"/>
                <a:sym typeface="Arial"/>
              </a:rPr>
              <a:t>To synthesize a set of relations, we assume that we start with a set of dependencies that is a minimal set</a:t>
            </a:r>
            <a:endParaRPr/>
          </a:p>
          <a:p>
            <a:pPr marL="742950" lvl="1" indent="-285750" algn="l" rtl="0">
              <a:lnSpc>
                <a:spcPct val="100000"/>
              </a:lnSpc>
              <a:spcBef>
                <a:spcPts val="520"/>
              </a:spcBef>
              <a:spcAft>
                <a:spcPts val="0"/>
              </a:spcAft>
              <a:buClr>
                <a:schemeClr val="dk2"/>
              </a:buClr>
              <a:buSzPts val="1430"/>
              <a:buFont typeface="Noto Sans Symbols"/>
              <a:buChar char="■"/>
            </a:pPr>
            <a:r>
              <a:rPr lang="en-US" sz="2600" b="0" i="0" u="none">
                <a:solidFill>
                  <a:srgbClr val="800000"/>
                </a:solidFill>
                <a:latin typeface="Arial"/>
                <a:ea typeface="Arial"/>
                <a:cs typeface="Arial"/>
                <a:sym typeface="Arial"/>
              </a:rPr>
              <a:t>E.g., see algorithms 11.2 and 11.4 </a:t>
            </a:r>
            <a:endParaRPr/>
          </a:p>
        </p:txBody>
      </p:sp>
    </p:spTree>
    <p:extLst>
      <p:ext uri="{BB962C8B-B14F-4D97-AF65-F5344CB8AC3E}">
        <p14:creationId xmlns:p14="http://schemas.microsoft.com/office/powerpoint/2010/main" val="8428642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Find </a:t>
            </a:r>
            <a:r>
              <a:rPr lang="en-US" dirty="0" err="1"/>
              <a:t>superkeys</a:t>
            </a:r>
            <a:endParaRPr lang="en-IN" dirty="0"/>
          </a:p>
        </p:txBody>
      </p:sp>
      <p:sp>
        <p:nvSpPr>
          <p:cNvPr id="3" name="Text Placeholder 2"/>
          <p:cNvSpPr>
            <a:spLocks noGrp="1"/>
          </p:cNvSpPr>
          <p:nvPr>
            <p:ph type="body" idx="1"/>
          </p:nvPr>
        </p:nvSpPr>
        <p:spPr>
          <a:xfrm>
            <a:off x="202134" y="1399784"/>
            <a:ext cx="8294687" cy="4572000"/>
          </a:xfrm>
        </p:spPr>
        <p:txBody>
          <a:bodyPr/>
          <a:lstStyle/>
          <a:p>
            <a:r>
              <a:rPr lang="en-US" dirty="0">
                <a:highlight>
                  <a:srgbClr val="FFFF00"/>
                </a:highlight>
              </a:rPr>
              <a:t>If we have ‘N’ attributes with one candidate key then the number of possible </a:t>
            </a:r>
            <a:r>
              <a:rPr lang="en-US" dirty="0" err="1">
                <a:highlight>
                  <a:srgbClr val="FFFF00"/>
                </a:highlight>
              </a:rPr>
              <a:t>superkeys</a:t>
            </a:r>
            <a:r>
              <a:rPr lang="en-US" dirty="0">
                <a:highlight>
                  <a:srgbClr val="FFFF00"/>
                </a:highlight>
              </a:rPr>
              <a:t> is 2</a:t>
            </a:r>
            <a:r>
              <a:rPr lang="en-US" baseline="30000" dirty="0">
                <a:highlight>
                  <a:srgbClr val="FFFF00"/>
                </a:highlight>
              </a:rPr>
              <a:t>(N – 1)</a:t>
            </a:r>
            <a:r>
              <a:rPr lang="en-US" dirty="0">
                <a:highlight>
                  <a:srgbClr val="FFFF00"/>
                </a:highlight>
              </a:rPr>
              <a:t>.</a:t>
            </a:r>
          </a:p>
          <a:p>
            <a:r>
              <a:rPr lang="en-US" dirty="0"/>
              <a:t>Example:</a:t>
            </a:r>
          </a:p>
          <a:p>
            <a:r>
              <a:rPr lang="en-US" dirty="0"/>
              <a:t>Let's say we have a relation R with attributes {a1, a2, a3} and a1 is the candidate key. </a:t>
            </a:r>
          </a:p>
          <a:p>
            <a:r>
              <a:rPr lang="en-US" dirty="0"/>
              <a:t>Then, any superset of a1 is the super key. </a:t>
            </a:r>
          </a:p>
          <a:p>
            <a:r>
              <a:rPr lang="en-US" dirty="0"/>
              <a:t>Here n=3, thus, we can have 2</a:t>
            </a:r>
            <a:r>
              <a:rPr lang="en-US" baseline="30000" dirty="0"/>
              <a:t>(3– 1)= </a:t>
            </a:r>
            <a:r>
              <a:rPr lang="en-US" dirty="0"/>
              <a:t> 2</a:t>
            </a:r>
            <a:r>
              <a:rPr lang="en-US" baseline="30000" dirty="0"/>
              <a:t>^2= 4 ,</a:t>
            </a:r>
          </a:p>
          <a:p>
            <a:r>
              <a:rPr lang="en-US" dirty="0"/>
              <a:t>four possible super keys: {a1, a1 a2, a1 a3, a1 a2 a3}. </a:t>
            </a:r>
          </a:p>
          <a:p>
            <a:endParaRPr lang="en-US" dirty="0"/>
          </a:p>
          <a:p>
            <a:endParaRPr lang="en-US"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54</a:t>
            </a:fld>
            <a:endParaRPr lang="en-US"/>
          </a:p>
        </p:txBody>
      </p:sp>
    </p:spTree>
    <p:extLst>
      <p:ext uri="{BB962C8B-B14F-4D97-AF65-F5344CB8AC3E}">
        <p14:creationId xmlns:p14="http://schemas.microsoft.com/office/powerpoint/2010/main" val="15789519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Examples</a:t>
            </a:r>
            <a:endParaRPr lang="en-IN" dirty="0"/>
          </a:p>
        </p:txBody>
      </p:sp>
      <p:sp>
        <p:nvSpPr>
          <p:cNvPr id="3" name="Text Placeholder 2"/>
          <p:cNvSpPr>
            <a:spLocks noGrp="1"/>
          </p:cNvSpPr>
          <p:nvPr>
            <p:ph type="body" idx="1"/>
          </p:nvPr>
        </p:nvSpPr>
        <p:spPr/>
        <p:txBody>
          <a:bodyPr/>
          <a:lstStyle/>
          <a:p>
            <a:pPr fontAlgn="base"/>
            <a:r>
              <a:rPr lang="en-US" b="1" dirty="0"/>
              <a:t>Steps to Find the Attribute Closure:</a:t>
            </a:r>
          </a:p>
          <a:p>
            <a:pPr fontAlgn="base"/>
            <a:r>
              <a:rPr lang="en-US" b="1" dirty="0"/>
              <a:t>Given the FD set of a Relation R, The attribute closure set S is the set of Attribute Closure A.</a:t>
            </a:r>
          </a:p>
          <a:p>
            <a:pPr lvl="1" fontAlgn="base"/>
            <a:r>
              <a:rPr lang="en-US" sz="1400" dirty="0"/>
              <a:t>Add A to S.</a:t>
            </a:r>
          </a:p>
          <a:p>
            <a:pPr lvl="1" fontAlgn="base"/>
            <a:r>
              <a:rPr lang="en-US" sz="1400" dirty="0"/>
              <a:t>Recursively add attributes that can be functionally </a:t>
            </a:r>
          </a:p>
          <a:p>
            <a:pPr marL="622935" lvl="1" indent="0" fontAlgn="base">
              <a:buNone/>
            </a:pPr>
            <a:r>
              <a:rPr lang="en-US" sz="1400" dirty="0"/>
              <a:t>      determined from attributes of the set S until done</a:t>
            </a:r>
            <a:r>
              <a:rPr lang="en-US" dirty="0"/>
              <a:t>.</a:t>
            </a:r>
          </a:p>
          <a:p>
            <a:pPr fontAlgn="base"/>
            <a:endParaRPr lang="en-IN" dirty="0"/>
          </a:p>
          <a:p>
            <a:pPr fontAlgn="base"/>
            <a:r>
              <a:rPr lang="en-IN" dirty="0"/>
              <a:t>From Table 1, FDs are</a:t>
            </a:r>
          </a:p>
          <a:p>
            <a:r>
              <a:rPr lang="en-IN" sz="2000" b="1" dirty="0"/>
              <a:t>Given R (</a:t>
            </a:r>
            <a:r>
              <a:rPr lang="en-IN" sz="2000" b="1" u="sng" dirty="0"/>
              <a:t>E-ID, E-NAME, E-CITY, E-STATE)</a:t>
            </a:r>
            <a:br>
              <a:rPr lang="en-IN" sz="2000" dirty="0"/>
            </a:br>
            <a:r>
              <a:rPr lang="en-IN" sz="2000" b="1" dirty="0"/>
              <a:t>FDs = { E-ID-&gt;E-NAME, E-ID-&gt;E-CITY, E-ID-&gt;E-STATE, E-CITY-&gt;E-STATE }</a:t>
            </a:r>
            <a:endParaRPr lang="en-US" sz="2000" dirty="0"/>
          </a:p>
          <a:p>
            <a:pPr fontAlgn="base"/>
            <a:endParaRPr lang="en-US" sz="2000" b="1"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55</a:t>
            </a:fld>
            <a:endParaRPr lang="en-US"/>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4643" y="3206663"/>
            <a:ext cx="2852531" cy="219081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03393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Text Placeholder 2"/>
          <p:cNvSpPr>
            <a:spLocks noGrp="1"/>
          </p:cNvSpPr>
          <p:nvPr>
            <p:ph type="body" idx="1"/>
          </p:nvPr>
        </p:nvSpPr>
        <p:spPr/>
        <p:txBody>
          <a:bodyPr/>
          <a:lstStyle/>
          <a:p>
            <a:pPr fontAlgn="base"/>
            <a:r>
              <a:rPr lang="en-US" dirty="0"/>
              <a:t>The attribute closure of E-ID can be calculated as:</a:t>
            </a:r>
          </a:p>
          <a:p>
            <a:pPr fontAlgn="base"/>
            <a:r>
              <a:rPr lang="en-US" dirty="0"/>
              <a:t>Add E-ID to the set {E-ID}</a:t>
            </a:r>
          </a:p>
          <a:p>
            <a:pPr fontAlgn="base"/>
            <a:r>
              <a:rPr lang="en-US" dirty="0"/>
              <a:t>Add Attributes that can be derived from any attribute of the set. </a:t>
            </a:r>
          </a:p>
          <a:p>
            <a:pPr fontAlgn="base"/>
            <a:r>
              <a:rPr lang="en-US" dirty="0"/>
              <a:t>As there is one other attribute remaining in relation to be derived from E-ID. </a:t>
            </a:r>
          </a:p>
          <a:p>
            <a:pPr fontAlgn="base"/>
            <a:r>
              <a:rPr lang="en-US" dirty="0"/>
              <a:t>So the result is:</a:t>
            </a:r>
          </a:p>
          <a:p>
            <a:r>
              <a:rPr lang="en-US" b="1" dirty="0"/>
              <a:t>(E-ID)</a:t>
            </a:r>
            <a:r>
              <a:rPr lang="en-US" b="1" baseline="30000" dirty="0"/>
              <a:t>+ = {E-ID, E-NAME, E-CITY, E-STATE }</a:t>
            </a:r>
            <a:endParaRPr lang="en-IN"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56</a:t>
            </a:fld>
            <a:endParaRPr lang="en-US"/>
          </a:p>
        </p:txBody>
      </p:sp>
    </p:spTree>
    <p:extLst>
      <p:ext uri="{BB962C8B-B14F-4D97-AF65-F5344CB8AC3E}">
        <p14:creationId xmlns:p14="http://schemas.microsoft.com/office/powerpoint/2010/main" val="401518528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Text Placeholder 2"/>
          <p:cNvSpPr>
            <a:spLocks noGrp="1"/>
          </p:cNvSpPr>
          <p:nvPr>
            <p:ph type="body" idx="1"/>
          </p:nvPr>
        </p:nvSpPr>
        <p:spPr/>
        <p:txBody>
          <a:bodyPr/>
          <a:lstStyle/>
          <a:p>
            <a:pPr fontAlgn="base"/>
            <a:r>
              <a:rPr lang="en-US" dirty="0"/>
              <a:t>Similarly,</a:t>
            </a:r>
          </a:p>
          <a:p>
            <a:r>
              <a:rPr lang="en-US" b="1" dirty="0"/>
              <a:t>(E-NAME)</a:t>
            </a:r>
            <a:r>
              <a:rPr lang="en-US" b="1" baseline="30000" dirty="0"/>
              <a:t>+ = {E-NAME}</a:t>
            </a:r>
          </a:p>
          <a:p>
            <a:endParaRPr lang="en-US" b="1" baseline="30000" dirty="0"/>
          </a:p>
          <a:p>
            <a:r>
              <a:rPr lang="en-US" b="1" dirty="0"/>
              <a:t>(E-CITY)</a:t>
            </a:r>
            <a:r>
              <a:rPr lang="en-US" b="1" baseline="30000" dirty="0"/>
              <a:t>+ = {E-CITY, E_STATE}</a:t>
            </a:r>
          </a:p>
          <a:p>
            <a:pPr fontAlgn="base"/>
            <a:endParaRPr lang="en-US" b="1" dirty="0"/>
          </a:p>
          <a:p>
            <a:pPr fontAlgn="base"/>
            <a:r>
              <a:rPr lang="en-US" b="1" dirty="0"/>
              <a:t>(E-STATE)</a:t>
            </a:r>
            <a:r>
              <a:rPr lang="en-US" b="1" baseline="30000" dirty="0"/>
              <a:t>+ = { E_STATE}</a:t>
            </a:r>
            <a:endParaRPr lang="en-IN"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57</a:t>
            </a:fld>
            <a:endParaRPr lang="en-US"/>
          </a:p>
        </p:txBody>
      </p:sp>
    </p:spTree>
    <p:extLst>
      <p:ext uri="{BB962C8B-B14F-4D97-AF65-F5344CB8AC3E}">
        <p14:creationId xmlns:p14="http://schemas.microsoft.com/office/powerpoint/2010/main" val="18277373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a:t>
            </a:r>
            <a:endParaRPr lang="en-IN" dirty="0"/>
          </a:p>
        </p:txBody>
      </p:sp>
      <p:sp>
        <p:nvSpPr>
          <p:cNvPr id="3" name="Text Placeholder 2"/>
          <p:cNvSpPr>
            <a:spLocks noGrp="1"/>
          </p:cNvSpPr>
          <p:nvPr>
            <p:ph type="body" idx="1"/>
          </p:nvPr>
        </p:nvSpPr>
        <p:spPr/>
        <p:txBody>
          <a:bodyPr/>
          <a:lstStyle/>
          <a:p>
            <a:r>
              <a:rPr lang="en-US" b="1" dirty="0"/>
              <a:t>Find the attribute closures of </a:t>
            </a:r>
            <a:r>
              <a:rPr lang="en-US" dirty="0"/>
              <a:t>(B)</a:t>
            </a:r>
            <a:r>
              <a:rPr lang="en-US" baseline="30000" dirty="0"/>
              <a:t>+</a:t>
            </a:r>
            <a:r>
              <a:rPr lang="en-IN" dirty="0"/>
              <a:t> ,</a:t>
            </a:r>
            <a:r>
              <a:rPr lang="en-US" b="1" dirty="0"/>
              <a:t>given FDs R(ABCDE) = {AB-&gt;C, B-&gt;D, C-&gt;E, D-&gt;A}.</a:t>
            </a:r>
          </a:p>
          <a:p>
            <a:r>
              <a:rPr lang="en-US" dirty="0"/>
              <a:t>(B)</a:t>
            </a:r>
            <a:r>
              <a:rPr lang="en-US" baseline="30000" dirty="0"/>
              <a:t>+</a:t>
            </a:r>
            <a:r>
              <a:rPr lang="en-IN" dirty="0"/>
              <a:t> = {B}</a:t>
            </a:r>
          </a:p>
          <a:p>
            <a:pPr marL="1085850" lvl="2" indent="0">
              <a:buNone/>
            </a:pPr>
            <a:r>
              <a:rPr lang="en-US" dirty="0"/>
              <a:t>= {B,D}</a:t>
            </a:r>
          </a:p>
          <a:p>
            <a:pPr marL="1085850" lvl="2" indent="0">
              <a:buNone/>
            </a:pPr>
            <a:r>
              <a:rPr lang="en-US" dirty="0"/>
              <a:t>={ B,D,A}</a:t>
            </a:r>
          </a:p>
          <a:p>
            <a:pPr marL="1085850" lvl="2" indent="0">
              <a:buNone/>
            </a:pPr>
            <a:r>
              <a:rPr lang="en-US" dirty="0"/>
              <a:t>={B,D,A,C}</a:t>
            </a:r>
          </a:p>
          <a:p>
            <a:pPr marL="1085850" lvl="2" indent="0">
              <a:buNone/>
            </a:pPr>
            <a:r>
              <a:rPr lang="en-US" dirty="0"/>
              <a:t>={B,D,A,C,E}</a:t>
            </a:r>
            <a:endParaRPr lang="en-IN" dirty="0"/>
          </a:p>
        </p:txBody>
      </p:sp>
      <p:sp>
        <p:nvSpPr>
          <p:cNvPr id="4" name="Slide Number Placeholder 3"/>
          <p:cNvSpPr>
            <a:spLocks noGrp="1"/>
          </p:cNvSpPr>
          <p:nvPr>
            <p:ph type="sldNum" idx="12"/>
          </p:nvPr>
        </p:nvSpPr>
        <p:spPr/>
        <p:txBody>
          <a:bodyPr/>
          <a:lstStyle/>
          <a:p>
            <a:pPr marL="0" lvl="0" indent="0" algn="r" rtl="0">
              <a:spcBef>
                <a:spcPts val="0"/>
              </a:spcBef>
              <a:spcAft>
                <a:spcPts val="0"/>
              </a:spcAft>
              <a:buNone/>
            </a:pPr>
            <a:r>
              <a:rPr lang="en-US"/>
              <a:t>Slide 10- </a:t>
            </a:r>
            <a:fld id="{00000000-1234-1234-1234-123412341234}" type="slidenum">
              <a:rPr lang="en-US" smtClean="0"/>
              <a:t>58</a:t>
            </a:fld>
            <a:endParaRPr lang="en-US"/>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64598" y="2776538"/>
            <a:ext cx="2924175" cy="3133725"/>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171845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16" presetClass="entr" presetSubtype="21" fill="hold" nodeType="clickEffect">
                                  <p:stCondLst>
                                    <p:cond delay="0"/>
                                  </p:stCondLst>
                                  <p:childTnLst>
                                    <p:set>
                                      <p:cBhvr>
                                        <p:cTn id="34" dur="1" fill="hold">
                                          <p:stCondLst>
                                            <p:cond delay="0"/>
                                          </p:stCondLst>
                                        </p:cTn>
                                        <p:tgtEl>
                                          <p:spTgt spid="3074"/>
                                        </p:tgtEl>
                                        <p:attrNameLst>
                                          <p:attrName>style.visibility</p:attrName>
                                        </p:attrNameLst>
                                      </p:cBhvr>
                                      <p:to>
                                        <p:strVal val="visible"/>
                                      </p:to>
                                    </p:set>
                                    <p:animEffect transition="in" filter="barn(inVertical)">
                                      <p:cBhvr>
                                        <p:cTn id="35" dur="500"/>
                                        <p:tgtEl>
                                          <p:spTgt spid="30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IN"/>
              <a:t> Closure of FD EXAMPLE’S</a:t>
            </a:r>
            <a:endParaRPr/>
          </a:p>
        </p:txBody>
      </p:sp>
      <p:sp>
        <p:nvSpPr>
          <p:cNvPr id="337" name="Google Shape;337;p37"/>
          <p:cNvSpPr txBox="1">
            <a:spLocks noGrp="1"/>
          </p:cNvSpPr>
          <p:nvPr>
            <p:ph type="body" idx="1"/>
          </p:nvPr>
        </p:nvSpPr>
        <p:spPr>
          <a:xfrm>
            <a:off x="628650" y="1825625"/>
            <a:ext cx="4000500" cy="4667250"/>
          </a:xfrm>
          <a:prstGeom prst="rect">
            <a:avLst/>
          </a:prstGeom>
          <a:noFill/>
          <a:ln>
            <a:noFill/>
          </a:ln>
        </p:spPr>
        <p:txBody>
          <a:bodyPr spcFirstLastPara="1" wrap="square" lIns="91425" tIns="45700" rIns="91425" bIns="45700" anchor="t" anchorCtr="0">
            <a:normAutofit fontScale="62500" lnSpcReduction="20000"/>
          </a:bodyPr>
          <a:lstStyle/>
          <a:p>
            <a:pPr marL="0" lvl="0" indent="0" algn="l" rtl="0">
              <a:lnSpc>
                <a:spcPct val="90000"/>
              </a:lnSpc>
              <a:spcBef>
                <a:spcPts val="0"/>
              </a:spcBef>
              <a:spcAft>
                <a:spcPts val="0"/>
              </a:spcAft>
              <a:buClr>
                <a:schemeClr val="dk1"/>
              </a:buClr>
              <a:buSzPct val="100000"/>
              <a:buNone/>
            </a:pPr>
            <a:r>
              <a:rPr lang="en-IN" b="1" dirty="0"/>
              <a:t>Ex1</a:t>
            </a:r>
            <a:r>
              <a:rPr lang="en-IN" dirty="0"/>
              <a:t>. To find Candidate keys</a:t>
            </a:r>
            <a:endParaRPr dirty="0"/>
          </a:p>
          <a:p>
            <a:pPr marL="228600" lvl="0" indent="-228600" algn="l" rtl="0">
              <a:lnSpc>
                <a:spcPct val="90000"/>
              </a:lnSpc>
              <a:spcBef>
                <a:spcPts val="1000"/>
              </a:spcBef>
              <a:spcAft>
                <a:spcPts val="0"/>
              </a:spcAft>
              <a:buClr>
                <a:schemeClr val="dk1"/>
              </a:buClr>
              <a:buSzPct val="100000"/>
              <a:buChar char="•"/>
            </a:pPr>
            <a:r>
              <a:rPr lang="en-IN" dirty="0"/>
              <a:t>R(ABCD)</a:t>
            </a:r>
            <a:endParaRPr dirty="0"/>
          </a:p>
          <a:p>
            <a:pPr marL="228600" lvl="0" indent="-228600" algn="l" rtl="0">
              <a:lnSpc>
                <a:spcPct val="90000"/>
              </a:lnSpc>
              <a:spcBef>
                <a:spcPts val="1000"/>
              </a:spcBef>
              <a:spcAft>
                <a:spcPts val="0"/>
              </a:spcAft>
              <a:buClr>
                <a:schemeClr val="dk1"/>
              </a:buClr>
              <a:buSzPct val="100000"/>
              <a:buChar char="•"/>
            </a:pPr>
            <a:r>
              <a:rPr lang="en-IN" dirty="0"/>
              <a:t>FD: {A🡪B,B🡪C,C🡪D}</a:t>
            </a:r>
            <a:endParaRPr dirty="0"/>
          </a:p>
          <a:p>
            <a:pPr marL="228600" lvl="0" indent="-228600" algn="l" rtl="0">
              <a:lnSpc>
                <a:spcPct val="90000"/>
              </a:lnSpc>
              <a:spcBef>
                <a:spcPts val="1000"/>
              </a:spcBef>
              <a:spcAft>
                <a:spcPts val="0"/>
              </a:spcAft>
              <a:buClr>
                <a:schemeClr val="dk1"/>
              </a:buClr>
              <a:buSzPct val="100000"/>
              <a:buChar char="•"/>
            </a:pPr>
            <a:r>
              <a:rPr lang="en-IN" b="1" dirty="0" err="1"/>
              <a:t>Ans</a:t>
            </a:r>
            <a:r>
              <a:rPr lang="en-IN" b="1" dirty="0"/>
              <a:t>:</a:t>
            </a:r>
            <a:endParaRPr dirty="0"/>
          </a:p>
          <a:p>
            <a:pPr marL="228600" lvl="0" indent="-228600" algn="l" rtl="0">
              <a:lnSpc>
                <a:spcPct val="90000"/>
              </a:lnSpc>
              <a:spcBef>
                <a:spcPts val="1000"/>
              </a:spcBef>
              <a:spcAft>
                <a:spcPts val="0"/>
              </a:spcAft>
              <a:buClr>
                <a:schemeClr val="dk1"/>
              </a:buClr>
              <a:buSzPct val="100000"/>
              <a:buChar char="•"/>
            </a:pPr>
            <a:r>
              <a:rPr lang="en-IN" dirty="0"/>
              <a:t>Closure of A means what A determines.</a:t>
            </a:r>
            <a:endParaRPr dirty="0"/>
          </a:p>
          <a:p>
            <a:pPr marL="228600" lvl="0" indent="-228600" algn="l" rtl="0">
              <a:lnSpc>
                <a:spcPct val="90000"/>
              </a:lnSpc>
              <a:spcBef>
                <a:spcPts val="1000"/>
              </a:spcBef>
              <a:spcAft>
                <a:spcPts val="0"/>
              </a:spcAft>
              <a:buClr>
                <a:schemeClr val="dk1"/>
              </a:buClr>
              <a:buSzPct val="100000"/>
              <a:buChar char="•"/>
            </a:pPr>
            <a:r>
              <a:rPr lang="en-IN" dirty="0"/>
              <a:t>Find closure of all attributes:</a:t>
            </a:r>
            <a:endParaRPr dirty="0"/>
          </a:p>
          <a:p>
            <a:pPr marL="228600" lvl="0" indent="-228600" algn="l" rtl="0">
              <a:lnSpc>
                <a:spcPct val="90000"/>
              </a:lnSpc>
              <a:spcBef>
                <a:spcPts val="1000"/>
              </a:spcBef>
              <a:spcAft>
                <a:spcPts val="0"/>
              </a:spcAft>
              <a:buClr>
                <a:schemeClr val="dk1"/>
              </a:buClr>
              <a:buSzPct val="100000"/>
              <a:buChar char="•"/>
            </a:pPr>
            <a:r>
              <a:rPr lang="en-IN" dirty="0"/>
              <a:t>A</a:t>
            </a:r>
            <a:r>
              <a:rPr lang="en-IN" baseline="30000" dirty="0"/>
              <a:t>+</a:t>
            </a:r>
            <a:r>
              <a:rPr lang="en-IN" dirty="0"/>
              <a:t>= {A,B,C,D} S.K</a:t>
            </a:r>
            <a:endParaRPr dirty="0"/>
          </a:p>
          <a:p>
            <a:pPr marL="228600" lvl="0" indent="-228600" algn="l" rtl="0">
              <a:lnSpc>
                <a:spcPct val="90000"/>
              </a:lnSpc>
              <a:spcBef>
                <a:spcPts val="1000"/>
              </a:spcBef>
              <a:spcAft>
                <a:spcPts val="0"/>
              </a:spcAft>
              <a:buClr>
                <a:schemeClr val="dk1"/>
              </a:buClr>
              <a:buSzPct val="100000"/>
              <a:buChar char="•"/>
            </a:pPr>
            <a:r>
              <a:rPr lang="en-IN" dirty="0"/>
              <a:t>B</a:t>
            </a:r>
            <a:r>
              <a:rPr lang="en-IN" baseline="30000" dirty="0"/>
              <a:t>+</a:t>
            </a:r>
            <a:r>
              <a:rPr lang="en-IN" dirty="0"/>
              <a:t>={B,C,D}</a:t>
            </a:r>
            <a:endParaRPr dirty="0"/>
          </a:p>
          <a:p>
            <a:pPr marL="228600" lvl="0" indent="-228600" algn="l" rtl="0">
              <a:lnSpc>
                <a:spcPct val="90000"/>
              </a:lnSpc>
              <a:spcBef>
                <a:spcPts val="1000"/>
              </a:spcBef>
              <a:spcAft>
                <a:spcPts val="0"/>
              </a:spcAft>
              <a:buClr>
                <a:schemeClr val="dk1"/>
              </a:buClr>
              <a:buSzPct val="100000"/>
              <a:buChar char="•"/>
            </a:pPr>
            <a:r>
              <a:rPr lang="en-IN" dirty="0"/>
              <a:t>C</a:t>
            </a:r>
            <a:r>
              <a:rPr lang="en-IN" baseline="30000" dirty="0"/>
              <a:t>+</a:t>
            </a:r>
            <a:r>
              <a:rPr lang="en-IN" dirty="0"/>
              <a:t>={C,D}</a:t>
            </a:r>
            <a:endParaRPr dirty="0"/>
          </a:p>
          <a:p>
            <a:pPr marL="228600" lvl="0" indent="-228600" algn="l" rtl="0">
              <a:lnSpc>
                <a:spcPct val="90000"/>
              </a:lnSpc>
              <a:spcBef>
                <a:spcPts val="1000"/>
              </a:spcBef>
              <a:spcAft>
                <a:spcPts val="0"/>
              </a:spcAft>
              <a:buClr>
                <a:schemeClr val="dk1"/>
              </a:buClr>
              <a:buSzPct val="100000"/>
              <a:buChar char="•"/>
            </a:pPr>
            <a:r>
              <a:rPr lang="en-IN" dirty="0"/>
              <a:t>D</a:t>
            </a:r>
            <a:r>
              <a:rPr lang="en-IN" baseline="30000" dirty="0"/>
              <a:t>+</a:t>
            </a:r>
            <a:r>
              <a:rPr lang="en-IN" dirty="0"/>
              <a:t>={D}</a:t>
            </a:r>
            <a:endParaRPr dirty="0"/>
          </a:p>
          <a:p>
            <a:pPr marL="228600" lvl="0" indent="-228600" algn="l" rtl="0">
              <a:lnSpc>
                <a:spcPct val="90000"/>
              </a:lnSpc>
              <a:spcBef>
                <a:spcPts val="1000"/>
              </a:spcBef>
              <a:spcAft>
                <a:spcPts val="0"/>
              </a:spcAft>
              <a:buClr>
                <a:schemeClr val="dk1"/>
              </a:buClr>
              <a:buSzPct val="100000"/>
              <a:buChar char="•"/>
            </a:pPr>
            <a:r>
              <a:rPr lang="en-IN" dirty="0"/>
              <a:t>AB</a:t>
            </a:r>
            <a:r>
              <a:rPr lang="en-IN" baseline="30000" dirty="0"/>
              <a:t>+</a:t>
            </a:r>
            <a:r>
              <a:rPr lang="en-IN" dirty="0"/>
              <a:t>={ABCD}  S.K</a:t>
            </a:r>
            <a:endParaRPr dirty="0"/>
          </a:p>
          <a:p>
            <a:pPr marL="228600" lvl="0" indent="-228600" algn="l" rtl="0">
              <a:lnSpc>
                <a:spcPct val="90000"/>
              </a:lnSpc>
              <a:spcBef>
                <a:spcPts val="1000"/>
              </a:spcBef>
              <a:spcAft>
                <a:spcPts val="0"/>
              </a:spcAft>
              <a:buClr>
                <a:schemeClr val="dk1"/>
              </a:buClr>
              <a:buSzPct val="100000"/>
              <a:buChar char="•"/>
            </a:pPr>
            <a:r>
              <a:rPr lang="en-IN" dirty="0"/>
              <a:t>AC</a:t>
            </a:r>
            <a:r>
              <a:rPr lang="en-IN" baseline="30000" dirty="0"/>
              <a:t>+ </a:t>
            </a:r>
            <a:r>
              <a:rPr lang="en-IN" dirty="0"/>
              <a:t>= {ABCD} S.K</a:t>
            </a:r>
            <a:endParaRPr dirty="0"/>
          </a:p>
          <a:p>
            <a:pPr marL="228600" lvl="0" indent="-228600" algn="l" rtl="0">
              <a:lnSpc>
                <a:spcPct val="90000"/>
              </a:lnSpc>
              <a:spcBef>
                <a:spcPts val="1000"/>
              </a:spcBef>
              <a:spcAft>
                <a:spcPts val="0"/>
              </a:spcAft>
              <a:buClr>
                <a:schemeClr val="dk1"/>
              </a:buClr>
              <a:buSzPct val="100000"/>
              <a:buChar char="•"/>
            </a:pPr>
            <a:r>
              <a:rPr lang="en-IN" dirty="0"/>
              <a:t>AD</a:t>
            </a:r>
            <a:r>
              <a:rPr lang="en-IN" baseline="30000" dirty="0"/>
              <a:t>+ </a:t>
            </a:r>
            <a:r>
              <a:rPr lang="en-IN" dirty="0"/>
              <a:t>= ABC</a:t>
            </a:r>
            <a:r>
              <a:rPr lang="en-IN" baseline="30000" dirty="0"/>
              <a:t>+ </a:t>
            </a:r>
            <a:r>
              <a:rPr lang="en-IN" dirty="0"/>
              <a:t>= ABD</a:t>
            </a:r>
            <a:r>
              <a:rPr lang="en-IN" baseline="30000" dirty="0"/>
              <a:t>+ </a:t>
            </a:r>
            <a:r>
              <a:rPr lang="en-IN" dirty="0"/>
              <a:t>= ACD</a:t>
            </a:r>
            <a:r>
              <a:rPr lang="en-IN" baseline="30000" dirty="0"/>
              <a:t>+ . . . </a:t>
            </a:r>
            <a:r>
              <a:rPr lang="en-IN" dirty="0"/>
              <a:t>S.K</a:t>
            </a:r>
          </a:p>
          <a:p>
            <a:pPr marL="228600" indent="-228600">
              <a:lnSpc>
                <a:spcPct val="90000"/>
              </a:lnSpc>
              <a:spcBef>
                <a:spcPts val="1000"/>
              </a:spcBef>
              <a:buClr>
                <a:schemeClr val="dk1"/>
              </a:buClr>
              <a:buSzPct val="100000"/>
              <a:buFont typeface="Noto Sans Symbols"/>
              <a:buChar char="•"/>
            </a:pPr>
            <a:r>
              <a:rPr lang="en-IN" b="1" dirty="0"/>
              <a:t>CK={A}</a:t>
            </a:r>
            <a:endParaRPr lang="en-IN" dirty="0"/>
          </a:p>
          <a:p>
            <a:pPr marL="228600" lvl="0" indent="-228600" algn="l" rtl="0">
              <a:lnSpc>
                <a:spcPct val="90000"/>
              </a:lnSpc>
              <a:spcBef>
                <a:spcPts val="1000"/>
              </a:spcBef>
              <a:spcAft>
                <a:spcPts val="0"/>
              </a:spcAft>
              <a:buClr>
                <a:schemeClr val="dk1"/>
              </a:buClr>
              <a:buSzPct val="100000"/>
              <a:buChar char="•"/>
            </a:pPr>
            <a:endParaRPr dirty="0"/>
          </a:p>
          <a:p>
            <a:pPr marL="228600" lvl="0" indent="-117475" algn="l" rtl="0">
              <a:lnSpc>
                <a:spcPct val="90000"/>
              </a:lnSpc>
              <a:spcBef>
                <a:spcPts val="1000"/>
              </a:spcBef>
              <a:spcAft>
                <a:spcPts val="0"/>
              </a:spcAft>
              <a:buClr>
                <a:schemeClr val="dk1"/>
              </a:buClr>
              <a:buSzPct val="100000"/>
              <a:buNone/>
            </a:pPr>
            <a:endParaRPr dirty="0"/>
          </a:p>
        </p:txBody>
      </p:sp>
      <p:sp>
        <p:nvSpPr>
          <p:cNvPr id="338" name="Google Shape;338;p37"/>
          <p:cNvSpPr txBox="1">
            <a:spLocks noGrp="1"/>
          </p:cNvSpPr>
          <p:nvPr>
            <p:ph type="body" idx="2"/>
          </p:nvPr>
        </p:nvSpPr>
        <p:spPr>
          <a:xfrm>
            <a:off x="4629150" y="1825625"/>
            <a:ext cx="4000500" cy="4508914"/>
          </a:xfrm>
          <a:prstGeom prst="rect">
            <a:avLst/>
          </a:prstGeom>
          <a:noFill/>
          <a:ln>
            <a:noFill/>
          </a:ln>
        </p:spPr>
        <p:txBody>
          <a:bodyPr spcFirstLastPara="1" wrap="square" lIns="91425" tIns="45700" rIns="91425" bIns="45700" anchor="t" anchorCtr="0">
            <a:normAutofit fontScale="92500"/>
          </a:bodyPr>
          <a:lstStyle/>
          <a:p>
            <a:pPr marL="228600" lvl="0" indent="-228600" algn="l" rtl="0">
              <a:lnSpc>
                <a:spcPct val="90000"/>
              </a:lnSpc>
              <a:spcBef>
                <a:spcPts val="0"/>
              </a:spcBef>
              <a:spcAft>
                <a:spcPts val="0"/>
              </a:spcAft>
              <a:buClr>
                <a:schemeClr val="dk1"/>
              </a:buClr>
              <a:buSzPct val="100000"/>
              <a:buChar char="•"/>
            </a:pPr>
            <a:r>
              <a:rPr lang="en-IN"/>
              <a:t>PRIME ATTRIBUTE: </a:t>
            </a:r>
            <a:endParaRPr/>
          </a:p>
          <a:p>
            <a:pPr marL="0" lvl="0" indent="0" algn="l" rtl="0">
              <a:lnSpc>
                <a:spcPct val="90000"/>
              </a:lnSpc>
              <a:spcBef>
                <a:spcPts val="1000"/>
              </a:spcBef>
              <a:spcAft>
                <a:spcPts val="0"/>
              </a:spcAft>
              <a:buClr>
                <a:schemeClr val="dk1"/>
              </a:buClr>
              <a:buSzPct val="100000"/>
              <a:buNone/>
            </a:pPr>
            <a:r>
              <a:rPr lang="en-IN"/>
              <a:t>The set of attributes makes candidate key are called prime attributes.</a:t>
            </a:r>
            <a:endParaRPr/>
          </a:p>
          <a:p>
            <a:pPr marL="0" lvl="0" indent="0" algn="l" rtl="0">
              <a:lnSpc>
                <a:spcPct val="90000"/>
              </a:lnSpc>
              <a:spcBef>
                <a:spcPts val="1000"/>
              </a:spcBef>
              <a:spcAft>
                <a:spcPts val="0"/>
              </a:spcAft>
              <a:buClr>
                <a:schemeClr val="dk1"/>
              </a:buClr>
              <a:buSzPct val="100000"/>
              <a:buNone/>
            </a:pPr>
            <a:r>
              <a:rPr lang="en-IN"/>
              <a:t>Here,</a:t>
            </a:r>
            <a:endParaRPr/>
          </a:p>
          <a:p>
            <a:pPr marL="0" lvl="0" indent="0" algn="l" rtl="0">
              <a:lnSpc>
                <a:spcPct val="90000"/>
              </a:lnSpc>
              <a:spcBef>
                <a:spcPts val="1000"/>
              </a:spcBef>
              <a:spcAft>
                <a:spcPts val="0"/>
              </a:spcAft>
              <a:buClr>
                <a:schemeClr val="dk1"/>
              </a:buClr>
              <a:buSzPct val="100000"/>
              <a:buNone/>
            </a:pPr>
            <a:r>
              <a:rPr lang="en-IN"/>
              <a:t>Prime attributes are : {A}</a:t>
            </a:r>
            <a:endParaRPr/>
          </a:p>
          <a:p>
            <a:pPr marL="0" lvl="0" indent="0" algn="l" rtl="0">
              <a:lnSpc>
                <a:spcPct val="90000"/>
              </a:lnSpc>
              <a:spcBef>
                <a:spcPts val="1000"/>
              </a:spcBef>
              <a:spcAft>
                <a:spcPts val="0"/>
              </a:spcAft>
              <a:buClr>
                <a:schemeClr val="dk1"/>
              </a:buClr>
              <a:buSzPct val="100000"/>
              <a:buNone/>
            </a:pPr>
            <a:r>
              <a:rPr lang="en-IN"/>
              <a:t>Non –prime: {B,C,D}</a:t>
            </a:r>
            <a:endParaRPr/>
          </a:p>
          <a:p>
            <a:pPr marL="0" lvl="0" indent="0" algn="l" rtl="0">
              <a:lnSpc>
                <a:spcPct val="90000"/>
              </a:lnSpc>
              <a:spcBef>
                <a:spcPts val="1000"/>
              </a:spcBef>
              <a:spcAft>
                <a:spcPts val="0"/>
              </a:spcAft>
              <a:buClr>
                <a:schemeClr val="dk1"/>
              </a:buClr>
              <a:buSzPct val="100000"/>
              <a:buNone/>
            </a:pPr>
            <a:endParaRPr/>
          </a:p>
          <a:p>
            <a:pPr marL="0" lvl="0" indent="0" algn="l" rtl="0">
              <a:lnSpc>
                <a:spcPct val="90000"/>
              </a:lnSpc>
              <a:spcBef>
                <a:spcPts val="1000"/>
              </a:spcBef>
              <a:spcAft>
                <a:spcPts val="0"/>
              </a:spcAft>
              <a:buClr>
                <a:schemeClr val="dk1"/>
              </a:buClr>
              <a:buSzPct val="100000"/>
              <a:buNone/>
            </a:pPr>
            <a:r>
              <a:rPr lang="en-IN"/>
              <a:t>Hence, candidate key is A.</a:t>
            </a:r>
            <a:endParaRPr/>
          </a:p>
        </p:txBody>
      </p:sp>
    </p:spTree>
    <p:extLst>
      <p:ext uri="{BB962C8B-B14F-4D97-AF65-F5344CB8AC3E}">
        <p14:creationId xmlns:p14="http://schemas.microsoft.com/office/powerpoint/2010/main" val="3205109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37">
                                            <p:txEl>
                                              <p:pRg st="0" end="0"/>
                                            </p:txEl>
                                          </p:spTgt>
                                        </p:tgtEl>
                                        <p:attrNameLst>
                                          <p:attrName>style.visibility</p:attrName>
                                        </p:attrNameLst>
                                      </p:cBhvr>
                                      <p:to>
                                        <p:strVal val="visible"/>
                                      </p:to>
                                    </p:set>
                                    <p:anim calcmode="lin" valueType="num">
                                      <p:cBhvr additive="base">
                                        <p:cTn id="7" dur="500"/>
                                        <p:tgtEl>
                                          <p:spTgt spid="33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337">
                                            <p:txEl>
                                              <p:pRg st="1" end="1"/>
                                            </p:txEl>
                                          </p:spTgt>
                                        </p:tgtEl>
                                        <p:attrNameLst>
                                          <p:attrName>style.visibility</p:attrName>
                                        </p:attrNameLst>
                                      </p:cBhvr>
                                      <p:to>
                                        <p:strVal val="visible"/>
                                      </p:to>
                                    </p:set>
                                    <p:anim calcmode="lin" valueType="num">
                                      <p:cBhvr additive="base">
                                        <p:cTn id="12" dur="500"/>
                                        <p:tgtEl>
                                          <p:spTgt spid="33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37">
                                            <p:txEl>
                                              <p:pRg st="2" end="2"/>
                                            </p:txEl>
                                          </p:spTgt>
                                        </p:tgtEl>
                                        <p:attrNameLst>
                                          <p:attrName>style.visibility</p:attrName>
                                        </p:attrNameLst>
                                      </p:cBhvr>
                                      <p:to>
                                        <p:strVal val="visible"/>
                                      </p:to>
                                    </p:set>
                                    <p:anim calcmode="lin" valueType="num">
                                      <p:cBhvr additive="base">
                                        <p:cTn id="17" dur="500"/>
                                        <p:tgtEl>
                                          <p:spTgt spid="33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337">
                                            <p:txEl>
                                              <p:pRg st="3" end="3"/>
                                            </p:txEl>
                                          </p:spTgt>
                                        </p:tgtEl>
                                        <p:attrNameLst>
                                          <p:attrName>style.visibility</p:attrName>
                                        </p:attrNameLst>
                                      </p:cBhvr>
                                      <p:to>
                                        <p:strVal val="visible"/>
                                      </p:to>
                                    </p:set>
                                    <p:anim calcmode="lin" valueType="num">
                                      <p:cBhvr additive="base">
                                        <p:cTn id="22" dur="500"/>
                                        <p:tgtEl>
                                          <p:spTgt spid="33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337">
                                            <p:txEl>
                                              <p:pRg st="4" end="4"/>
                                            </p:txEl>
                                          </p:spTgt>
                                        </p:tgtEl>
                                        <p:attrNameLst>
                                          <p:attrName>style.visibility</p:attrName>
                                        </p:attrNameLst>
                                      </p:cBhvr>
                                      <p:to>
                                        <p:strVal val="visible"/>
                                      </p:to>
                                    </p:set>
                                    <p:anim calcmode="lin" valueType="num">
                                      <p:cBhvr additive="base">
                                        <p:cTn id="27" dur="500"/>
                                        <p:tgtEl>
                                          <p:spTgt spid="33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337">
                                            <p:txEl>
                                              <p:pRg st="5" end="5"/>
                                            </p:txEl>
                                          </p:spTgt>
                                        </p:tgtEl>
                                        <p:attrNameLst>
                                          <p:attrName>style.visibility</p:attrName>
                                        </p:attrNameLst>
                                      </p:cBhvr>
                                      <p:to>
                                        <p:strVal val="visible"/>
                                      </p:to>
                                    </p:set>
                                    <p:anim calcmode="lin" valueType="num">
                                      <p:cBhvr additive="base">
                                        <p:cTn id="32" dur="500"/>
                                        <p:tgtEl>
                                          <p:spTgt spid="33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37">
                                            <p:txEl>
                                              <p:pRg st="6" end="6"/>
                                            </p:txEl>
                                          </p:spTgt>
                                        </p:tgtEl>
                                        <p:attrNameLst>
                                          <p:attrName>style.visibility</p:attrName>
                                        </p:attrNameLst>
                                      </p:cBhvr>
                                      <p:to>
                                        <p:strVal val="visible"/>
                                      </p:to>
                                    </p:set>
                                    <p:anim calcmode="lin" valueType="num">
                                      <p:cBhvr additive="base">
                                        <p:cTn id="37" dur="500"/>
                                        <p:tgtEl>
                                          <p:spTgt spid="33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337">
                                            <p:txEl>
                                              <p:pRg st="7" end="7"/>
                                            </p:txEl>
                                          </p:spTgt>
                                        </p:tgtEl>
                                        <p:attrNameLst>
                                          <p:attrName>style.visibility</p:attrName>
                                        </p:attrNameLst>
                                      </p:cBhvr>
                                      <p:to>
                                        <p:strVal val="visible"/>
                                      </p:to>
                                    </p:set>
                                    <p:anim calcmode="lin" valueType="num">
                                      <p:cBhvr additive="base">
                                        <p:cTn id="42" dur="500"/>
                                        <p:tgtEl>
                                          <p:spTgt spid="337">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337">
                                            <p:txEl>
                                              <p:pRg st="8" end="8"/>
                                            </p:txEl>
                                          </p:spTgt>
                                        </p:tgtEl>
                                        <p:attrNameLst>
                                          <p:attrName>style.visibility</p:attrName>
                                        </p:attrNameLst>
                                      </p:cBhvr>
                                      <p:to>
                                        <p:strVal val="visible"/>
                                      </p:to>
                                    </p:set>
                                    <p:anim calcmode="lin" valueType="num">
                                      <p:cBhvr additive="base">
                                        <p:cTn id="47" dur="500"/>
                                        <p:tgtEl>
                                          <p:spTgt spid="337">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ntr" presetSubtype="4" fill="hold" nodeType="clickEffect">
                                  <p:stCondLst>
                                    <p:cond delay="0"/>
                                  </p:stCondLst>
                                  <p:childTnLst>
                                    <p:set>
                                      <p:cBhvr>
                                        <p:cTn id="51" dur="1" fill="hold">
                                          <p:stCondLst>
                                            <p:cond delay="0"/>
                                          </p:stCondLst>
                                        </p:cTn>
                                        <p:tgtEl>
                                          <p:spTgt spid="337">
                                            <p:txEl>
                                              <p:pRg st="9" end="9"/>
                                            </p:txEl>
                                          </p:spTgt>
                                        </p:tgtEl>
                                        <p:attrNameLst>
                                          <p:attrName>style.visibility</p:attrName>
                                        </p:attrNameLst>
                                      </p:cBhvr>
                                      <p:to>
                                        <p:strVal val="visible"/>
                                      </p:to>
                                    </p:set>
                                    <p:anim calcmode="lin" valueType="num">
                                      <p:cBhvr additive="base">
                                        <p:cTn id="52" dur="500"/>
                                        <p:tgtEl>
                                          <p:spTgt spid="337">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337">
                                            <p:txEl>
                                              <p:pRg st="10" end="10"/>
                                            </p:txEl>
                                          </p:spTgt>
                                        </p:tgtEl>
                                        <p:attrNameLst>
                                          <p:attrName>style.visibility</p:attrName>
                                        </p:attrNameLst>
                                      </p:cBhvr>
                                      <p:to>
                                        <p:strVal val="visible"/>
                                      </p:to>
                                    </p:set>
                                    <p:anim calcmode="lin" valueType="num">
                                      <p:cBhvr additive="base">
                                        <p:cTn id="57" dur="500"/>
                                        <p:tgtEl>
                                          <p:spTgt spid="337">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2" presetClass="entr" presetSubtype="4" fill="hold" nodeType="clickEffect">
                                  <p:stCondLst>
                                    <p:cond delay="0"/>
                                  </p:stCondLst>
                                  <p:childTnLst>
                                    <p:set>
                                      <p:cBhvr>
                                        <p:cTn id="61" dur="1" fill="hold">
                                          <p:stCondLst>
                                            <p:cond delay="0"/>
                                          </p:stCondLst>
                                        </p:cTn>
                                        <p:tgtEl>
                                          <p:spTgt spid="337">
                                            <p:txEl>
                                              <p:pRg st="11" end="11"/>
                                            </p:txEl>
                                          </p:spTgt>
                                        </p:tgtEl>
                                        <p:attrNameLst>
                                          <p:attrName>style.visibility</p:attrName>
                                        </p:attrNameLst>
                                      </p:cBhvr>
                                      <p:to>
                                        <p:strVal val="visible"/>
                                      </p:to>
                                    </p:set>
                                    <p:anim calcmode="lin" valueType="num">
                                      <p:cBhvr additive="base">
                                        <p:cTn id="62" dur="500"/>
                                        <p:tgtEl>
                                          <p:spTgt spid="337">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nodeType="clickEffect">
                                  <p:stCondLst>
                                    <p:cond delay="0"/>
                                  </p:stCondLst>
                                  <p:childTnLst>
                                    <p:set>
                                      <p:cBhvr>
                                        <p:cTn id="66" dur="1" fill="hold">
                                          <p:stCondLst>
                                            <p:cond delay="0"/>
                                          </p:stCondLst>
                                        </p:cTn>
                                        <p:tgtEl>
                                          <p:spTgt spid="337">
                                            <p:txEl>
                                              <p:pRg st="12" end="12"/>
                                            </p:txEl>
                                          </p:spTgt>
                                        </p:tgtEl>
                                        <p:attrNameLst>
                                          <p:attrName>style.visibility</p:attrName>
                                        </p:attrNameLst>
                                      </p:cBhvr>
                                      <p:to>
                                        <p:strVal val="visible"/>
                                      </p:to>
                                    </p:set>
                                    <p:anim calcmode="lin" valueType="num">
                                      <p:cBhvr additive="base">
                                        <p:cTn id="67" dur="500"/>
                                        <p:tgtEl>
                                          <p:spTgt spid="337">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2" presetClass="entr" presetSubtype="4" fill="hold" nodeType="clickEffect">
                                  <p:stCondLst>
                                    <p:cond delay="0"/>
                                  </p:stCondLst>
                                  <p:childTnLst>
                                    <p:set>
                                      <p:cBhvr>
                                        <p:cTn id="71" dur="1" fill="hold">
                                          <p:stCondLst>
                                            <p:cond delay="0"/>
                                          </p:stCondLst>
                                        </p:cTn>
                                        <p:tgtEl>
                                          <p:spTgt spid="337">
                                            <p:txEl>
                                              <p:pRg st="13" end="13"/>
                                            </p:txEl>
                                          </p:spTgt>
                                        </p:tgtEl>
                                        <p:attrNameLst>
                                          <p:attrName>style.visibility</p:attrName>
                                        </p:attrNameLst>
                                      </p:cBhvr>
                                      <p:to>
                                        <p:strVal val="visible"/>
                                      </p:to>
                                    </p:set>
                                    <p:anim calcmode="lin" valueType="num">
                                      <p:cBhvr additive="base">
                                        <p:cTn id="72" dur="500"/>
                                        <p:tgtEl>
                                          <p:spTgt spid="337">
                                            <p:txEl>
                                              <p:pRg st="13" end="13"/>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2" presetClass="entr" presetSubtype="4" fill="hold" nodeType="clickEffect">
                                  <p:stCondLst>
                                    <p:cond delay="0"/>
                                  </p:stCondLst>
                                  <p:childTnLst>
                                    <p:set>
                                      <p:cBhvr>
                                        <p:cTn id="76" dur="1" fill="hold">
                                          <p:stCondLst>
                                            <p:cond delay="0"/>
                                          </p:stCondLst>
                                        </p:cTn>
                                        <p:tgtEl>
                                          <p:spTgt spid="338">
                                            <p:txEl>
                                              <p:pRg st="0" end="0"/>
                                            </p:txEl>
                                          </p:spTgt>
                                        </p:tgtEl>
                                        <p:attrNameLst>
                                          <p:attrName>style.visibility</p:attrName>
                                        </p:attrNameLst>
                                      </p:cBhvr>
                                      <p:to>
                                        <p:strVal val="visible"/>
                                      </p:to>
                                    </p:set>
                                    <p:anim calcmode="lin" valueType="num">
                                      <p:cBhvr additive="base">
                                        <p:cTn id="77" dur="500"/>
                                        <p:tgtEl>
                                          <p:spTgt spid="33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2" presetClass="entr" presetSubtype="4" fill="hold" nodeType="clickEffect">
                                  <p:stCondLst>
                                    <p:cond delay="0"/>
                                  </p:stCondLst>
                                  <p:childTnLst>
                                    <p:set>
                                      <p:cBhvr>
                                        <p:cTn id="81" dur="1" fill="hold">
                                          <p:stCondLst>
                                            <p:cond delay="0"/>
                                          </p:stCondLst>
                                        </p:cTn>
                                        <p:tgtEl>
                                          <p:spTgt spid="338">
                                            <p:txEl>
                                              <p:pRg st="1" end="1"/>
                                            </p:txEl>
                                          </p:spTgt>
                                        </p:tgtEl>
                                        <p:attrNameLst>
                                          <p:attrName>style.visibility</p:attrName>
                                        </p:attrNameLst>
                                      </p:cBhvr>
                                      <p:to>
                                        <p:strVal val="visible"/>
                                      </p:to>
                                    </p:set>
                                    <p:anim calcmode="lin" valueType="num">
                                      <p:cBhvr additive="base">
                                        <p:cTn id="82" dur="500"/>
                                        <p:tgtEl>
                                          <p:spTgt spid="33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ntr" presetSubtype="4" fill="hold" nodeType="clickEffect">
                                  <p:stCondLst>
                                    <p:cond delay="0"/>
                                  </p:stCondLst>
                                  <p:childTnLst>
                                    <p:set>
                                      <p:cBhvr>
                                        <p:cTn id="86" dur="1" fill="hold">
                                          <p:stCondLst>
                                            <p:cond delay="0"/>
                                          </p:stCondLst>
                                        </p:cTn>
                                        <p:tgtEl>
                                          <p:spTgt spid="338">
                                            <p:txEl>
                                              <p:pRg st="2" end="2"/>
                                            </p:txEl>
                                          </p:spTgt>
                                        </p:tgtEl>
                                        <p:attrNameLst>
                                          <p:attrName>style.visibility</p:attrName>
                                        </p:attrNameLst>
                                      </p:cBhvr>
                                      <p:to>
                                        <p:strVal val="visible"/>
                                      </p:to>
                                    </p:set>
                                    <p:anim calcmode="lin" valueType="num">
                                      <p:cBhvr additive="base">
                                        <p:cTn id="87" dur="500"/>
                                        <p:tgtEl>
                                          <p:spTgt spid="338">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88" fill="hold">
                      <p:stCondLst>
                        <p:cond delay="indefinite"/>
                      </p:stCondLst>
                      <p:childTnLst>
                        <p:par>
                          <p:cTn id="89" fill="hold">
                            <p:stCondLst>
                              <p:cond delay="0"/>
                            </p:stCondLst>
                            <p:childTnLst>
                              <p:par>
                                <p:cTn id="90" presetID="2" presetClass="entr" presetSubtype="4" fill="hold" nodeType="clickEffect">
                                  <p:stCondLst>
                                    <p:cond delay="0"/>
                                  </p:stCondLst>
                                  <p:childTnLst>
                                    <p:set>
                                      <p:cBhvr>
                                        <p:cTn id="91" dur="1" fill="hold">
                                          <p:stCondLst>
                                            <p:cond delay="0"/>
                                          </p:stCondLst>
                                        </p:cTn>
                                        <p:tgtEl>
                                          <p:spTgt spid="338">
                                            <p:txEl>
                                              <p:pRg st="3" end="3"/>
                                            </p:txEl>
                                          </p:spTgt>
                                        </p:tgtEl>
                                        <p:attrNameLst>
                                          <p:attrName>style.visibility</p:attrName>
                                        </p:attrNameLst>
                                      </p:cBhvr>
                                      <p:to>
                                        <p:strVal val="visible"/>
                                      </p:to>
                                    </p:set>
                                    <p:anim calcmode="lin" valueType="num">
                                      <p:cBhvr additive="base">
                                        <p:cTn id="92" dur="500"/>
                                        <p:tgtEl>
                                          <p:spTgt spid="338">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nodeType="clickEffect">
                                  <p:stCondLst>
                                    <p:cond delay="0"/>
                                  </p:stCondLst>
                                  <p:childTnLst>
                                    <p:set>
                                      <p:cBhvr>
                                        <p:cTn id="96" dur="1" fill="hold">
                                          <p:stCondLst>
                                            <p:cond delay="0"/>
                                          </p:stCondLst>
                                        </p:cTn>
                                        <p:tgtEl>
                                          <p:spTgt spid="338">
                                            <p:txEl>
                                              <p:pRg st="4" end="4"/>
                                            </p:txEl>
                                          </p:spTgt>
                                        </p:tgtEl>
                                        <p:attrNameLst>
                                          <p:attrName>style.visibility</p:attrName>
                                        </p:attrNameLst>
                                      </p:cBhvr>
                                      <p:to>
                                        <p:strVal val="visible"/>
                                      </p:to>
                                    </p:set>
                                    <p:anim calcmode="lin" valueType="num">
                                      <p:cBhvr additive="base">
                                        <p:cTn id="97" dur="500"/>
                                        <p:tgtEl>
                                          <p:spTgt spid="338">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98" fill="hold">
                      <p:stCondLst>
                        <p:cond delay="indefinite"/>
                      </p:stCondLst>
                      <p:childTnLst>
                        <p:par>
                          <p:cTn id="99" fill="hold">
                            <p:stCondLst>
                              <p:cond delay="0"/>
                            </p:stCondLst>
                            <p:childTnLst>
                              <p:par>
                                <p:cTn id="100" presetID="2" presetClass="entr" presetSubtype="4" fill="hold" nodeType="clickEffect">
                                  <p:stCondLst>
                                    <p:cond delay="0"/>
                                  </p:stCondLst>
                                  <p:childTnLst>
                                    <p:set>
                                      <p:cBhvr>
                                        <p:cTn id="101" dur="1" fill="hold">
                                          <p:stCondLst>
                                            <p:cond delay="0"/>
                                          </p:stCondLst>
                                        </p:cTn>
                                        <p:tgtEl>
                                          <p:spTgt spid="338">
                                            <p:txEl>
                                              <p:pRg st="5" end="5"/>
                                            </p:txEl>
                                          </p:spTgt>
                                        </p:tgtEl>
                                        <p:attrNameLst>
                                          <p:attrName>style.visibility</p:attrName>
                                        </p:attrNameLst>
                                      </p:cBhvr>
                                      <p:to>
                                        <p:strVal val="visible"/>
                                      </p:to>
                                    </p:set>
                                    <p:anim calcmode="lin" valueType="num">
                                      <p:cBhvr additive="base">
                                        <p:cTn id="102" dur="500"/>
                                        <p:tgtEl>
                                          <p:spTgt spid="338">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103" fill="hold">
                      <p:stCondLst>
                        <p:cond delay="indefinite"/>
                      </p:stCondLst>
                      <p:childTnLst>
                        <p:par>
                          <p:cTn id="104" fill="hold">
                            <p:stCondLst>
                              <p:cond delay="0"/>
                            </p:stCondLst>
                            <p:childTnLst>
                              <p:par>
                                <p:cTn id="105" presetID="2" presetClass="entr" presetSubtype="4" fill="hold" nodeType="clickEffect">
                                  <p:stCondLst>
                                    <p:cond delay="0"/>
                                  </p:stCondLst>
                                  <p:childTnLst>
                                    <p:set>
                                      <p:cBhvr>
                                        <p:cTn id="106" dur="1" fill="hold">
                                          <p:stCondLst>
                                            <p:cond delay="0"/>
                                          </p:stCondLst>
                                        </p:cTn>
                                        <p:tgtEl>
                                          <p:spTgt spid="338">
                                            <p:txEl>
                                              <p:pRg st="6" end="6"/>
                                            </p:txEl>
                                          </p:spTgt>
                                        </p:tgtEl>
                                        <p:attrNameLst>
                                          <p:attrName>style.visibility</p:attrName>
                                        </p:attrNameLst>
                                      </p:cBhvr>
                                      <p:to>
                                        <p:strVal val="visible"/>
                                      </p:to>
                                    </p:set>
                                    <p:anim calcmode="lin" valueType="num">
                                      <p:cBhvr additive="base">
                                        <p:cTn id="107" dur="500"/>
                                        <p:tgtEl>
                                          <p:spTgt spid="338">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IN"/>
              <a:t> Closure of FD EXAMPLE’S</a:t>
            </a:r>
            <a:endParaRPr/>
          </a:p>
        </p:txBody>
      </p:sp>
      <p:sp>
        <p:nvSpPr>
          <p:cNvPr id="337" name="Google Shape;337;p37"/>
          <p:cNvSpPr txBox="1">
            <a:spLocks noGrp="1"/>
          </p:cNvSpPr>
          <p:nvPr>
            <p:ph type="body" idx="1"/>
          </p:nvPr>
        </p:nvSpPr>
        <p:spPr>
          <a:xfrm>
            <a:off x="628650" y="1825625"/>
            <a:ext cx="4000500" cy="4667250"/>
          </a:xfrm>
          <a:prstGeom prst="rect">
            <a:avLst/>
          </a:prstGeom>
          <a:noFill/>
          <a:ln>
            <a:noFill/>
          </a:ln>
        </p:spPr>
        <p:txBody>
          <a:bodyPr spcFirstLastPara="1" wrap="square" lIns="91425" tIns="45700" rIns="91425" bIns="45700" anchor="t" anchorCtr="0">
            <a:normAutofit fontScale="77500" lnSpcReduction="20000"/>
          </a:bodyPr>
          <a:lstStyle/>
          <a:p>
            <a:pPr marL="0" lvl="0" indent="0" algn="l" rtl="0">
              <a:lnSpc>
                <a:spcPct val="90000"/>
              </a:lnSpc>
              <a:spcBef>
                <a:spcPts val="0"/>
              </a:spcBef>
              <a:spcAft>
                <a:spcPts val="0"/>
              </a:spcAft>
              <a:buClr>
                <a:schemeClr val="dk1"/>
              </a:buClr>
              <a:buSzPct val="100000"/>
              <a:buNone/>
            </a:pPr>
            <a:r>
              <a:rPr lang="en-IN" b="1" dirty="0"/>
              <a:t>Ex1</a:t>
            </a:r>
            <a:r>
              <a:rPr lang="en-IN" dirty="0"/>
              <a:t>. To find Candidate keys</a:t>
            </a:r>
            <a:endParaRPr dirty="0"/>
          </a:p>
          <a:p>
            <a:pPr marL="228600" lvl="0" indent="-228600" algn="l" rtl="0">
              <a:lnSpc>
                <a:spcPct val="90000"/>
              </a:lnSpc>
              <a:spcBef>
                <a:spcPts val="1000"/>
              </a:spcBef>
              <a:spcAft>
                <a:spcPts val="0"/>
              </a:spcAft>
              <a:buClr>
                <a:schemeClr val="dk1"/>
              </a:buClr>
              <a:buSzPct val="100000"/>
              <a:buChar char="•"/>
            </a:pPr>
            <a:r>
              <a:rPr lang="en-IN" dirty="0"/>
              <a:t>R(ABCD)</a:t>
            </a:r>
            <a:endParaRPr dirty="0"/>
          </a:p>
          <a:p>
            <a:pPr marL="228600" lvl="0" indent="-228600" algn="l" rtl="0">
              <a:lnSpc>
                <a:spcPct val="90000"/>
              </a:lnSpc>
              <a:spcBef>
                <a:spcPts val="1000"/>
              </a:spcBef>
              <a:spcAft>
                <a:spcPts val="0"/>
              </a:spcAft>
              <a:buClr>
                <a:schemeClr val="dk1"/>
              </a:buClr>
              <a:buSzPct val="100000"/>
              <a:buChar char="•"/>
            </a:pPr>
            <a:r>
              <a:rPr lang="en-IN" dirty="0"/>
              <a:t>FD: {A🡪B,B🡪C,C🡪D}</a:t>
            </a:r>
            <a:endParaRPr dirty="0"/>
          </a:p>
          <a:p>
            <a:pPr marL="228600" lvl="0" indent="-228600" algn="l" rtl="0">
              <a:lnSpc>
                <a:spcPct val="90000"/>
              </a:lnSpc>
              <a:spcBef>
                <a:spcPts val="1000"/>
              </a:spcBef>
              <a:spcAft>
                <a:spcPts val="0"/>
              </a:spcAft>
              <a:buClr>
                <a:schemeClr val="dk1"/>
              </a:buClr>
              <a:buSzPct val="100000"/>
              <a:buChar char="•"/>
            </a:pPr>
            <a:r>
              <a:rPr lang="en-IN" b="1" dirty="0" err="1"/>
              <a:t>Ans</a:t>
            </a:r>
            <a:r>
              <a:rPr lang="en-IN" b="1" dirty="0"/>
              <a:t>:</a:t>
            </a:r>
            <a:endParaRPr dirty="0"/>
          </a:p>
          <a:p>
            <a:pPr marL="228600" lvl="0" indent="-228600" algn="l" rtl="0">
              <a:lnSpc>
                <a:spcPct val="90000"/>
              </a:lnSpc>
              <a:spcBef>
                <a:spcPts val="1000"/>
              </a:spcBef>
              <a:spcAft>
                <a:spcPts val="0"/>
              </a:spcAft>
              <a:buClr>
                <a:schemeClr val="dk1"/>
              </a:buClr>
              <a:buSzPct val="100000"/>
              <a:buChar char="•"/>
            </a:pPr>
            <a:r>
              <a:rPr lang="en-IN" dirty="0"/>
              <a:t>Closure of A means what A determines.</a:t>
            </a:r>
            <a:endParaRPr dirty="0"/>
          </a:p>
          <a:p>
            <a:pPr marL="228600" lvl="0" indent="-228600" algn="l" rtl="0">
              <a:lnSpc>
                <a:spcPct val="90000"/>
              </a:lnSpc>
              <a:spcBef>
                <a:spcPts val="1000"/>
              </a:spcBef>
              <a:spcAft>
                <a:spcPts val="0"/>
              </a:spcAft>
              <a:buClr>
                <a:schemeClr val="dk1"/>
              </a:buClr>
              <a:buSzPct val="100000"/>
              <a:buChar char="•"/>
            </a:pPr>
            <a:r>
              <a:rPr lang="en-IN" dirty="0"/>
              <a:t>Find closure of all attributes:</a:t>
            </a:r>
            <a:endParaRPr dirty="0"/>
          </a:p>
          <a:p>
            <a:pPr marL="228600" lvl="0" indent="-228600" algn="l" rtl="0">
              <a:lnSpc>
                <a:spcPct val="90000"/>
              </a:lnSpc>
              <a:spcBef>
                <a:spcPts val="1000"/>
              </a:spcBef>
              <a:spcAft>
                <a:spcPts val="0"/>
              </a:spcAft>
              <a:buClr>
                <a:schemeClr val="dk1"/>
              </a:buClr>
              <a:buSzPct val="100000"/>
              <a:buChar char="•"/>
            </a:pPr>
            <a:r>
              <a:rPr lang="en-IN" dirty="0"/>
              <a:t>ABCD</a:t>
            </a:r>
            <a:r>
              <a:rPr lang="en-IN" baseline="30000" dirty="0"/>
              <a:t>+</a:t>
            </a:r>
            <a:r>
              <a:rPr lang="en-IN" dirty="0"/>
              <a:t>= {A,B,C,D} S.K</a:t>
            </a:r>
          </a:p>
          <a:p>
            <a:pPr marL="228600" indent="-228600">
              <a:lnSpc>
                <a:spcPct val="90000"/>
              </a:lnSpc>
              <a:spcBef>
                <a:spcPts val="1000"/>
              </a:spcBef>
              <a:buClr>
                <a:schemeClr val="dk1"/>
              </a:buClr>
              <a:buSzPct val="100000"/>
              <a:buFont typeface="Noto Sans Symbols"/>
              <a:buChar char="•"/>
            </a:pPr>
            <a:r>
              <a:rPr lang="en-IN" dirty="0"/>
              <a:t>ACD</a:t>
            </a:r>
            <a:r>
              <a:rPr lang="en-IN" baseline="30000" dirty="0"/>
              <a:t>+</a:t>
            </a:r>
            <a:r>
              <a:rPr lang="en-IN" dirty="0"/>
              <a:t>= {A,B,C,D} S.K</a:t>
            </a:r>
          </a:p>
          <a:p>
            <a:pPr marL="228600" indent="-228600">
              <a:lnSpc>
                <a:spcPct val="90000"/>
              </a:lnSpc>
              <a:spcBef>
                <a:spcPts val="1000"/>
              </a:spcBef>
              <a:buClr>
                <a:schemeClr val="dk1"/>
              </a:buClr>
              <a:buSzPct val="100000"/>
              <a:buFont typeface="Noto Sans Symbols"/>
              <a:buChar char="•"/>
            </a:pPr>
            <a:r>
              <a:rPr lang="en-IN" dirty="0"/>
              <a:t>AD</a:t>
            </a:r>
            <a:r>
              <a:rPr lang="en-IN" baseline="30000" dirty="0"/>
              <a:t>+</a:t>
            </a:r>
            <a:r>
              <a:rPr lang="en-IN" dirty="0"/>
              <a:t>= {A,B,C,D} S.K</a:t>
            </a:r>
          </a:p>
          <a:p>
            <a:pPr marL="228600" indent="-228600">
              <a:lnSpc>
                <a:spcPct val="90000"/>
              </a:lnSpc>
              <a:spcBef>
                <a:spcPts val="1000"/>
              </a:spcBef>
              <a:buClr>
                <a:schemeClr val="dk1"/>
              </a:buClr>
              <a:buSzPct val="100000"/>
              <a:buFont typeface="Noto Sans Symbols"/>
              <a:buChar char="•"/>
            </a:pPr>
            <a:r>
              <a:rPr lang="en-IN" dirty="0"/>
              <a:t>A</a:t>
            </a:r>
            <a:r>
              <a:rPr lang="en-IN" baseline="30000" dirty="0"/>
              <a:t>+</a:t>
            </a:r>
            <a:r>
              <a:rPr lang="en-IN" dirty="0"/>
              <a:t>= {A,B,C,D} S.K</a:t>
            </a:r>
          </a:p>
          <a:p>
            <a:pPr marL="228600" indent="-228600">
              <a:lnSpc>
                <a:spcPct val="90000"/>
              </a:lnSpc>
              <a:spcBef>
                <a:spcPts val="1000"/>
              </a:spcBef>
              <a:buClr>
                <a:schemeClr val="dk1"/>
              </a:buClr>
              <a:buSzPct val="100000"/>
              <a:buFont typeface="Noto Sans Symbols"/>
              <a:buChar char="•"/>
            </a:pPr>
            <a:r>
              <a:rPr lang="en-US" b="1" dirty="0"/>
              <a:t>Candidate key:</a:t>
            </a:r>
            <a:endParaRPr lang="en-IN" b="1" dirty="0"/>
          </a:p>
          <a:p>
            <a:pPr marL="0" indent="0">
              <a:lnSpc>
                <a:spcPct val="90000"/>
              </a:lnSpc>
              <a:spcBef>
                <a:spcPts val="1000"/>
              </a:spcBef>
              <a:buClr>
                <a:schemeClr val="dk1"/>
              </a:buClr>
              <a:buSzPct val="100000"/>
              <a:buNone/>
            </a:pPr>
            <a:r>
              <a:rPr lang="en-IN" b="1" dirty="0"/>
              <a:t>	CK={A}</a:t>
            </a:r>
            <a:endParaRPr lang="en-IN" dirty="0"/>
          </a:p>
          <a:p>
            <a:pPr marL="228600" lvl="0" indent="-228600" algn="l" rtl="0">
              <a:lnSpc>
                <a:spcPct val="90000"/>
              </a:lnSpc>
              <a:spcBef>
                <a:spcPts val="1000"/>
              </a:spcBef>
              <a:spcAft>
                <a:spcPts val="0"/>
              </a:spcAft>
              <a:buClr>
                <a:schemeClr val="dk1"/>
              </a:buClr>
              <a:buSzPct val="100000"/>
              <a:buChar char="•"/>
            </a:pPr>
            <a:endParaRPr dirty="0"/>
          </a:p>
          <a:p>
            <a:pPr marL="228600" lvl="0" indent="-117475" algn="l" rtl="0">
              <a:lnSpc>
                <a:spcPct val="90000"/>
              </a:lnSpc>
              <a:spcBef>
                <a:spcPts val="1000"/>
              </a:spcBef>
              <a:spcAft>
                <a:spcPts val="0"/>
              </a:spcAft>
              <a:buClr>
                <a:schemeClr val="dk1"/>
              </a:buClr>
              <a:buSzPct val="100000"/>
              <a:buNone/>
            </a:pPr>
            <a:endParaRPr dirty="0"/>
          </a:p>
        </p:txBody>
      </p:sp>
      <p:sp>
        <p:nvSpPr>
          <p:cNvPr id="338" name="Google Shape;338;p37"/>
          <p:cNvSpPr txBox="1">
            <a:spLocks noGrp="1"/>
          </p:cNvSpPr>
          <p:nvPr>
            <p:ph type="body" idx="2"/>
          </p:nvPr>
        </p:nvSpPr>
        <p:spPr>
          <a:xfrm>
            <a:off x="4629150" y="1825625"/>
            <a:ext cx="4000500" cy="4508914"/>
          </a:xfrm>
          <a:prstGeom prst="rect">
            <a:avLst/>
          </a:prstGeom>
          <a:noFill/>
          <a:ln>
            <a:noFill/>
          </a:ln>
        </p:spPr>
        <p:txBody>
          <a:bodyPr spcFirstLastPara="1" wrap="square" lIns="91425" tIns="45700" rIns="91425" bIns="45700" anchor="t" anchorCtr="0">
            <a:normAutofit fontScale="92500"/>
          </a:bodyPr>
          <a:lstStyle/>
          <a:p>
            <a:pPr marL="228600" lvl="0" indent="-228600" algn="l" rtl="0">
              <a:lnSpc>
                <a:spcPct val="90000"/>
              </a:lnSpc>
              <a:spcBef>
                <a:spcPts val="0"/>
              </a:spcBef>
              <a:spcAft>
                <a:spcPts val="0"/>
              </a:spcAft>
              <a:buClr>
                <a:schemeClr val="dk1"/>
              </a:buClr>
              <a:buSzPct val="100000"/>
              <a:buChar char="•"/>
            </a:pPr>
            <a:r>
              <a:rPr lang="en-IN" dirty="0"/>
              <a:t>PRIME ATTRIBUTE: </a:t>
            </a:r>
            <a:endParaRPr dirty="0"/>
          </a:p>
          <a:p>
            <a:pPr marL="0" lvl="0" indent="0" algn="l" rtl="0">
              <a:lnSpc>
                <a:spcPct val="90000"/>
              </a:lnSpc>
              <a:spcBef>
                <a:spcPts val="1000"/>
              </a:spcBef>
              <a:spcAft>
                <a:spcPts val="0"/>
              </a:spcAft>
              <a:buClr>
                <a:schemeClr val="dk1"/>
              </a:buClr>
              <a:buSzPct val="100000"/>
              <a:buNone/>
            </a:pPr>
            <a:r>
              <a:rPr lang="en-IN" dirty="0">
                <a:highlight>
                  <a:srgbClr val="FFFF00"/>
                </a:highlight>
              </a:rPr>
              <a:t>The set of attributes makes candidate key are called prime attributes.</a:t>
            </a:r>
            <a:endParaRPr dirty="0">
              <a:highlight>
                <a:srgbClr val="FFFF00"/>
              </a:highlight>
            </a:endParaRPr>
          </a:p>
          <a:p>
            <a:pPr marL="0" lvl="0" indent="0" algn="l" rtl="0">
              <a:lnSpc>
                <a:spcPct val="90000"/>
              </a:lnSpc>
              <a:spcBef>
                <a:spcPts val="1000"/>
              </a:spcBef>
              <a:spcAft>
                <a:spcPts val="0"/>
              </a:spcAft>
              <a:buClr>
                <a:schemeClr val="dk1"/>
              </a:buClr>
              <a:buSzPct val="100000"/>
              <a:buNone/>
            </a:pPr>
            <a:r>
              <a:rPr lang="en-IN" dirty="0"/>
              <a:t>Here,</a:t>
            </a:r>
            <a:endParaRPr dirty="0"/>
          </a:p>
          <a:p>
            <a:pPr marL="0" lvl="0" indent="0" algn="l" rtl="0">
              <a:lnSpc>
                <a:spcPct val="90000"/>
              </a:lnSpc>
              <a:spcBef>
                <a:spcPts val="1000"/>
              </a:spcBef>
              <a:spcAft>
                <a:spcPts val="0"/>
              </a:spcAft>
              <a:buClr>
                <a:schemeClr val="dk1"/>
              </a:buClr>
              <a:buSzPct val="100000"/>
              <a:buNone/>
            </a:pPr>
            <a:r>
              <a:rPr lang="en-IN" dirty="0"/>
              <a:t>Prime attributes are : {A}</a:t>
            </a:r>
            <a:endParaRPr dirty="0"/>
          </a:p>
          <a:p>
            <a:pPr marL="0" lvl="0" indent="0" algn="l" rtl="0">
              <a:lnSpc>
                <a:spcPct val="90000"/>
              </a:lnSpc>
              <a:spcBef>
                <a:spcPts val="1000"/>
              </a:spcBef>
              <a:spcAft>
                <a:spcPts val="0"/>
              </a:spcAft>
              <a:buClr>
                <a:schemeClr val="dk1"/>
              </a:buClr>
              <a:buSzPct val="100000"/>
              <a:buNone/>
            </a:pPr>
            <a:r>
              <a:rPr lang="en-IN" dirty="0"/>
              <a:t>Non –prime: {B,C,D}</a:t>
            </a:r>
            <a:endParaRPr dirty="0"/>
          </a:p>
          <a:p>
            <a:pPr marL="0" lvl="0" indent="0" algn="l" rtl="0">
              <a:lnSpc>
                <a:spcPct val="90000"/>
              </a:lnSpc>
              <a:spcBef>
                <a:spcPts val="1000"/>
              </a:spcBef>
              <a:spcAft>
                <a:spcPts val="0"/>
              </a:spcAft>
              <a:buClr>
                <a:schemeClr val="dk1"/>
              </a:buClr>
              <a:buSzPct val="100000"/>
              <a:buNone/>
            </a:pPr>
            <a:endParaRPr dirty="0"/>
          </a:p>
          <a:p>
            <a:pPr marL="0" lvl="0" indent="0" algn="l" rtl="0">
              <a:lnSpc>
                <a:spcPct val="90000"/>
              </a:lnSpc>
              <a:spcBef>
                <a:spcPts val="1000"/>
              </a:spcBef>
              <a:spcAft>
                <a:spcPts val="0"/>
              </a:spcAft>
              <a:buClr>
                <a:schemeClr val="dk1"/>
              </a:buClr>
              <a:buSzPct val="100000"/>
              <a:buNone/>
            </a:pPr>
            <a:r>
              <a:rPr lang="en-IN" dirty="0"/>
              <a:t>Hence, candidate key is A.</a:t>
            </a:r>
            <a:endParaRPr dirty="0"/>
          </a:p>
        </p:txBody>
      </p:sp>
    </p:spTree>
    <p:extLst>
      <p:ext uri="{BB962C8B-B14F-4D97-AF65-F5344CB8AC3E}">
        <p14:creationId xmlns:p14="http://schemas.microsoft.com/office/powerpoint/2010/main" val="333435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37">
                                            <p:txEl>
                                              <p:pRg st="0" end="0"/>
                                            </p:txEl>
                                          </p:spTgt>
                                        </p:tgtEl>
                                        <p:attrNameLst>
                                          <p:attrName>style.visibility</p:attrName>
                                        </p:attrNameLst>
                                      </p:cBhvr>
                                      <p:to>
                                        <p:strVal val="visible"/>
                                      </p:to>
                                    </p:set>
                                    <p:anim calcmode="lin" valueType="num">
                                      <p:cBhvr additive="base">
                                        <p:cTn id="7" dur="500"/>
                                        <p:tgtEl>
                                          <p:spTgt spid="33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337">
                                            <p:txEl>
                                              <p:pRg st="1" end="1"/>
                                            </p:txEl>
                                          </p:spTgt>
                                        </p:tgtEl>
                                        <p:attrNameLst>
                                          <p:attrName>style.visibility</p:attrName>
                                        </p:attrNameLst>
                                      </p:cBhvr>
                                      <p:to>
                                        <p:strVal val="visible"/>
                                      </p:to>
                                    </p:set>
                                    <p:anim calcmode="lin" valueType="num">
                                      <p:cBhvr additive="base">
                                        <p:cTn id="12" dur="500"/>
                                        <p:tgtEl>
                                          <p:spTgt spid="33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37">
                                            <p:txEl>
                                              <p:pRg st="2" end="2"/>
                                            </p:txEl>
                                          </p:spTgt>
                                        </p:tgtEl>
                                        <p:attrNameLst>
                                          <p:attrName>style.visibility</p:attrName>
                                        </p:attrNameLst>
                                      </p:cBhvr>
                                      <p:to>
                                        <p:strVal val="visible"/>
                                      </p:to>
                                    </p:set>
                                    <p:anim calcmode="lin" valueType="num">
                                      <p:cBhvr additive="base">
                                        <p:cTn id="17" dur="500"/>
                                        <p:tgtEl>
                                          <p:spTgt spid="33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337">
                                            <p:txEl>
                                              <p:pRg st="3" end="3"/>
                                            </p:txEl>
                                          </p:spTgt>
                                        </p:tgtEl>
                                        <p:attrNameLst>
                                          <p:attrName>style.visibility</p:attrName>
                                        </p:attrNameLst>
                                      </p:cBhvr>
                                      <p:to>
                                        <p:strVal val="visible"/>
                                      </p:to>
                                    </p:set>
                                    <p:anim calcmode="lin" valueType="num">
                                      <p:cBhvr additive="base">
                                        <p:cTn id="22" dur="500"/>
                                        <p:tgtEl>
                                          <p:spTgt spid="33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337">
                                            <p:txEl>
                                              <p:pRg st="4" end="4"/>
                                            </p:txEl>
                                          </p:spTgt>
                                        </p:tgtEl>
                                        <p:attrNameLst>
                                          <p:attrName>style.visibility</p:attrName>
                                        </p:attrNameLst>
                                      </p:cBhvr>
                                      <p:to>
                                        <p:strVal val="visible"/>
                                      </p:to>
                                    </p:set>
                                    <p:anim calcmode="lin" valueType="num">
                                      <p:cBhvr additive="base">
                                        <p:cTn id="27" dur="500"/>
                                        <p:tgtEl>
                                          <p:spTgt spid="33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337">
                                            <p:txEl>
                                              <p:pRg st="5" end="5"/>
                                            </p:txEl>
                                          </p:spTgt>
                                        </p:tgtEl>
                                        <p:attrNameLst>
                                          <p:attrName>style.visibility</p:attrName>
                                        </p:attrNameLst>
                                      </p:cBhvr>
                                      <p:to>
                                        <p:strVal val="visible"/>
                                      </p:to>
                                    </p:set>
                                    <p:anim calcmode="lin" valueType="num">
                                      <p:cBhvr additive="base">
                                        <p:cTn id="32" dur="500"/>
                                        <p:tgtEl>
                                          <p:spTgt spid="33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37">
                                            <p:txEl>
                                              <p:pRg st="6" end="6"/>
                                            </p:txEl>
                                          </p:spTgt>
                                        </p:tgtEl>
                                        <p:attrNameLst>
                                          <p:attrName>style.visibility</p:attrName>
                                        </p:attrNameLst>
                                      </p:cBhvr>
                                      <p:to>
                                        <p:strVal val="visible"/>
                                      </p:to>
                                    </p:set>
                                    <p:anim calcmode="lin" valueType="num">
                                      <p:cBhvr additive="base">
                                        <p:cTn id="37" dur="500"/>
                                        <p:tgtEl>
                                          <p:spTgt spid="33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337">
                                            <p:txEl>
                                              <p:pRg st="7" end="7"/>
                                            </p:txEl>
                                          </p:spTgt>
                                        </p:tgtEl>
                                        <p:attrNameLst>
                                          <p:attrName>style.visibility</p:attrName>
                                        </p:attrNameLst>
                                      </p:cBhvr>
                                      <p:to>
                                        <p:strVal val="visible"/>
                                      </p:to>
                                    </p:set>
                                    <p:anim calcmode="lin" valueType="num">
                                      <p:cBhvr additive="base">
                                        <p:cTn id="42" dur="500"/>
                                        <p:tgtEl>
                                          <p:spTgt spid="337">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337">
                                            <p:txEl>
                                              <p:pRg st="8" end="8"/>
                                            </p:txEl>
                                          </p:spTgt>
                                        </p:tgtEl>
                                        <p:attrNameLst>
                                          <p:attrName>style.visibility</p:attrName>
                                        </p:attrNameLst>
                                      </p:cBhvr>
                                      <p:to>
                                        <p:strVal val="visible"/>
                                      </p:to>
                                    </p:set>
                                    <p:anim calcmode="lin" valueType="num">
                                      <p:cBhvr additive="base">
                                        <p:cTn id="47" dur="500"/>
                                        <p:tgtEl>
                                          <p:spTgt spid="337">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ntr" presetSubtype="4" fill="hold" nodeType="clickEffect">
                                  <p:stCondLst>
                                    <p:cond delay="0"/>
                                  </p:stCondLst>
                                  <p:childTnLst>
                                    <p:set>
                                      <p:cBhvr>
                                        <p:cTn id="51" dur="1" fill="hold">
                                          <p:stCondLst>
                                            <p:cond delay="0"/>
                                          </p:stCondLst>
                                        </p:cTn>
                                        <p:tgtEl>
                                          <p:spTgt spid="337">
                                            <p:txEl>
                                              <p:pRg st="9" end="9"/>
                                            </p:txEl>
                                          </p:spTgt>
                                        </p:tgtEl>
                                        <p:attrNameLst>
                                          <p:attrName>style.visibility</p:attrName>
                                        </p:attrNameLst>
                                      </p:cBhvr>
                                      <p:to>
                                        <p:strVal val="visible"/>
                                      </p:to>
                                    </p:set>
                                    <p:anim calcmode="lin" valueType="num">
                                      <p:cBhvr additive="base">
                                        <p:cTn id="52" dur="500"/>
                                        <p:tgtEl>
                                          <p:spTgt spid="337">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337">
                                            <p:txEl>
                                              <p:pRg st="10" end="10"/>
                                            </p:txEl>
                                          </p:spTgt>
                                        </p:tgtEl>
                                        <p:attrNameLst>
                                          <p:attrName>style.visibility</p:attrName>
                                        </p:attrNameLst>
                                      </p:cBhvr>
                                      <p:to>
                                        <p:strVal val="visible"/>
                                      </p:to>
                                    </p:set>
                                    <p:anim calcmode="lin" valueType="num">
                                      <p:cBhvr additive="base">
                                        <p:cTn id="57" dur="500"/>
                                        <p:tgtEl>
                                          <p:spTgt spid="337">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2" presetClass="entr" presetSubtype="4" fill="hold" nodeType="clickEffect">
                                  <p:stCondLst>
                                    <p:cond delay="0"/>
                                  </p:stCondLst>
                                  <p:childTnLst>
                                    <p:set>
                                      <p:cBhvr>
                                        <p:cTn id="61" dur="1" fill="hold">
                                          <p:stCondLst>
                                            <p:cond delay="0"/>
                                          </p:stCondLst>
                                        </p:cTn>
                                        <p:tgtEl>
                                          <p:spTgt spid="337">
                                            <p:txEl>
                                              <p:pRg st="11" end="11"/>
                                            </p:txEl>
                                          </p:spTgt>
                                        </p:tgtEl>
                                        <p:attrNameLst>
                                          <p:attrName>style.visibility</p:attrName>
                                        </p:attrNameLst>
                                      </p:cBhvr>
                                      <p:to>
                                        <p:strVal val="visible"/>
                                      </p:to>
                                    </p:set>
                                    <p:anim calcmode="lin" valueType="num">
                                      <p:cBhvr additive="base">
                                        <p:cTn id="62" dur="500"/>
                                        <p:tgtEl>
                                          <p:spTgt spid="337">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nodeType="clickEffect">
                                  <p:stCondLst>
                                    <p:cond delay="0"/>
                                  </p:stCondLst>
                                  <p:childTnLst>
                                    <p:set>
                                      <p:cBhvr>
                                        <p:cTn id="66" dur="1" fill="hold">
                                          <p:stCondLst>
                                            <p:cond delay="0"/>
                                          </p:stCondLst>
                                        </p:cTn>
                                        <p:tgtEl>
                                          <p:spTgt spid="338">
                                            <p:txEl>
                                              <p:pRg st="0" end="0"/>
                                            </p:txEl>
                                          </p:spTgt>
                                        </p:tgtEl>
                                        <p:attrNameLst>
                                          <p:attrName>style.visibility</p:attrName>
                                        </p:attrNameLst>
                                      </p:cBhvr>
                                      <p:to>
                                        <p:strVal val="visible"/>
                                      </p:to>
                                    </p:set>
                                    <p:anim calcmode="lin" valueType="num">
                                      <p:cBhvr additive="base">
                                        <p:cTn id="67" dur="500"/>
                                        <p:tgtEl>
                                          <p:spTgt spid="33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2" presetClass="entr" presetSubtype="4" fill="hold" nodeType="clickEffect">
                                  <p:stCondLst>
                                    <p:cond delay="0"/>
                                  </p:stCondLst>
                                  <p:childTnLst>
                                    <p:set>
                                      <p:cBhvr>
                                        <p:cTn id="71" dur="1" fill="hold">
                                          <p:stCondLst>
                                            <p:cond delay="0"/>
                                          </p:stCondLst>
                                        </p:cTn>
                                        <p:tgtEl>
                                          <p:spTgt spid="338">
                                            <p:txEl>
                                              <p:pRg st="1" end="1"/>
                                            </p:txEl>
                                          </p:spTgt>
                                        </p:tgtEl>
                                        <p:attrNameLst>
                                          <p:attrName>style.visibility</p:attrName>
                                        </p:attrNameLst>
                                      </p:cBhvr>
                                      <p:to>
                                        <p:strVal val="visible"/>
                                      </p:to>
                                    </p:set>
                                    <p:anim calcmode="lin" valueType="num">
                                      <p:cBhvr additive="base">
                                        <p:cTn id="72" dur="500"/>
                                        <p:tgtEl>
                                          <p:spTgt spid="33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2" presetClass="entr" presetSubtype="4" fill="hold" nodeType="clickEffect">
                                  <p:stCondLst>
                                    <p:cond delay="0"/>
                                  </p:stCondLst>
                                  <p:childTnLst>
                                    <p:set>
                                      <p:cBhvr>
                                        <p:cTn id="76" dur="1" fill="hold">
                                          <p:stCondLst>
                                            <p:cond delay="0"/>
                                          </p:stCondLst>
                                        </p:cTn>
                                        <p:tgtEl>
                                          <p:spTgt spid="338">
                                            <p:txEl>
                                              <p:pRg st="2" end="2"/>
                                            </p:txEl>
                                          </p:spTgt>
                                        </p:tgtEl>
                                        <p:attrNameLst>
                                          <p:attrName>style.visibility</p:attrName>
                                        </p:attrNameLst>
                                      </p:cBhvr>
                                      <p:to>
                                        <p:strVal val="visible"/>
                                      </p:to>
                                    </p:set>
                                    <p:anim calcmode="lin" valueType="num">
                                      <p:cBhvr additive="base">
                                        <p:cTn id="77" dur="500"/>
                                        <p:tgtEl>
                                          <p:spTgt spid="338">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2" presetClass="entr" presetSubtype="4" fill="hold" nodeType="clickEffect">
                                  <p:stCondLst>
                                    <p:cond delay="0"/>
                                  </p:stCondLst>
                                  <p:childTnLst>
                                    <p:set>
                                      <p:cBhvr>
                                        <p:cTn id="81" dur="1" fill="hold">
                                          <p:stCondLst>
                                            <p:cond delay="0"/>
                                          </p:stCondLst>
                                        </p:cTn>
                                        <p:tgtEl>
                                          <p:spTgt spid="338">
                                            <p:txEl>
                                              <p:pRg st="3" end="3"/>
                                            </p:txEl>
                                          </p:spTgt>
                                        </p:tgtEl>
                                        <p:attrNameLst>
                                          <p:attrName>style.visibility</p:attrName>
                                        </p:attrNameLst>
                                      </p:cBhvr>
                                      <p:to>
                                        <p:strVal val="visible"/>
                                      </p:to>
                                    </p:set>
                                    <p:anim calcmode="lin" valueType="num">
                                      <p:cBhvr additive="base">
                                        <p:cTn id="82" dur="500"/>
                                        <p:tgtEl>
                                          <p:spTgt spid="338">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ntr" presetSubtype="4" fill="hold" nodeType="clickEffect">
                                  <p:stCondLst>
                                    <p:cond delay="0"/>
                                  </p:stCondLst>
                                  <p:childTnLst>
                                    <p:set>
                                      <p:cBhvr>
                                        <p:cTn id="86" dur="1" fill="hold">
                                          <p:stCondLst>
                                            <p:cond delay="0"/>
                                          </p:stCondLst>
                                        </p:cTn>
                                        <p:tgtEl>
                                          <p:spTgt spid="338">
                                            <p:txEl>
                                              <p:pRg st="4" end="4"/>
                                            </p:txEl>
                                          </p:spTgt>
                                        </p:tgtEl>
                                        <p:attrNameLst>
                                          <p:attrName>style.visibility</p:attrName>
                                        </p:attrNameLst>
                                      </p:cBhvr>
                                      <p:to>
                                        <p:strVal val="visible"/>
                                      </p:to>
                                    </p:set>
                                    <p:anim calcmode="lin" valueType="num">
                                      <p:cBhvr additive="base">
                                        <p:cTn id="87" dur="500"/>
                                        <p:tgtEl>
                                          <p:spTgt spid="338">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88" fill="hold">
                      <p:stCondLst>
                        <p:cond delay="indefinite"/>
                      </p:stCondLst>
                      <p:childTnLst>
                        <p:par>
                          <p:cTn id="89" fill="hold">
                            <p:stCondLst>
                              <p:cond delay="0"/>
                            </p:stCondLst>
                            <p:childTnLst>
                              <p:par>
                                <p:cTn id="90" presetID="2" presetClass="entr" presetSubtype="4" fill="hold" nodeType="clickEffect">
                                  <p:stCondLst>
                                    <p:cond delay="0"/>
                                  </p:stCondLst>
                                  <p:childTnLst>
                                    <p:set>
                                      <p:cBhvr>
                                        <p:cTn id="91" dur="1" fill="hold">
                                          <p:stCondLst>
                                            <p:cond delay="0"/>
                                          </p:stCondLst>
                                        </p:cTn>
                                        <p:tgtEl>
                                          <p:spTgt spid="338">
                                            <p:txEl>
                                              <p:pRg st="5" end="5"/>
                                            </p:txEl>
                                          </p:spTgt>
                                        </p:tgtEl>
                                        <p:attrNameLst>
                                          <p:attrName>style.visibility</p:attrName>
                                        </p:attrNameLst>
                                      </p:cBhvr>
                                      <p:to>
                                        <p:strVal val="visible"/>
                                      </p:to>
                                    </p:set>
                                    <p:anim calcmode="lin" valueType="num">
                                      <p:cBhvr additive="base">
                                        <p:cTn id="92" dur="500"/>
                                        <p:tgtEl>
                                          <p:spTgt spid="338">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nodeType="clickEffect">
                                  <p:stCondLst>
                                    <p:cond delay="0"/>
                                  </p:stCondLst>
                                  <p:childTnLst>
                                    <p:set>
                                      <p:cBhvr>
                                        <p:cTn id="96" dur="1" fill="hold">
                                          <p:stCondLst>
                                            <p:cond delay="0"/>
                                          </p:stCondLst>
                                        </p:cTn>
                                        <p:tgtEl>
                                          <p:spTgt spid="338">
                                            <p:txEl>
                                              <p:pRg st="6" end="6"/>
                                            </p:txEl>
                                          </p:spTgt>
                                        </p:tgtEl>
                                        <p:attrNameLst>
                                          <p:attrName>style.visibility</p:attrName>
                                        </p:attrNameLst>
                                      </p:cBhvr>
                                      <p:to>
                                        <p:strVal val="visible"/>
                                      </p:to>
                                    </p:set>
                                    <p:anim calcmode="lin" valueType="num">
                                      <p:cBhvr additive="base">
                                        <p:cTn id="97" dur="500"/>
                                        <p:tgtEl>
                                          <p:spTgt spid="338">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39"/>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Example </a:t>
            </a:r>
            <a:endParaRPr dirty="0"/>
          </a:p>
        </p:txBody>
      </p:sp>
      <p:sp>
        <p:nvSpPr>
          <p:cNvPr id="351" name="Google Shape;351;p39"/>
          <p:cNvSpPr txBox="1">
            <a:spLocks noGrp="1"/>
          </p:cNvSpPr>
          <p:nvPr>
            <p:ph type="body" idx="1"/>
          </p:nvPr>
        </p:nvSpPr>
        <p:spPr>
          <a:xfrm>
            <a:off x="463463" y="1678488"/>
            <a:ext cx="8051887" cy="4498475"/>
          </a:xfrm>
          <a:prstGeom prst="rect">
            <a:avLst/>
          </a:prstGeom>
          <a:noFill/>
          <a:ln>
            <a:noFill/>
          </a:ln>
        </p:spPr>
        <p:txBody>
          <a:bodyPr spcFirstLastPara="1" wrap="square" lIns="91425" tIns="45700" rIns="91425" bIns="45700" anchor="t" anchorCtr="0">
            <a:normAutofit fontScale="92500" lnSpcReduction="10000"/>
          </a:bodyPr>
          <a:lstStyle/>
          <a:p>
            <a:pPr marL="228600" lvl="0" indent="-228600" algn="l" rtl="0">
              <a:lnSpc>
                <a:spcPct val="90000"/>
              </a:lnSpc>
              <a:spcBef>
                <a:spcPts val="0"/>
              </a:spcBef>
              <a:spcAft>
                <a:spcPts val="0"/>
              </a:spcAft>
              <a:buClr>
                <a:schemeClr val="dk1"/>
              </a:buClr>
              <a:buSzPct val="100000"/>
              <a:buChar char="•"/>
            </a:pPr>
            <a:r>
              <a:rPr lang="en-IN" dirty="0">
                <a:highlight>
                  <a:srgbClr val="FFFF00"/>
                </a:highlight>
              </a:rPr>
              <a:t>Given Relation R(A,B,C,D,E) &amp; FD: {A🡪B, D🡪E}</a:t>
            </a:r>
          </a:p>
          <a:p>
            <a:pPr marL="228600" lvl="0" indent="-228600" algn="l" rtl="0">
              <a:lnSpc>
                <a:spcPct val="90000"/>
              </a:lnSpc>
              <a:spcBef>
                <a:spcPts val="0"/>
              </a:spcBef>
              <a:spcAft>
                <a:spcPts val="0"/>
              </a:spcAft>
              <a:buClr>
                <a:schemeClr val="dk1"/>
              </a:buClr>
              <a:buSzPct val="100000"/>
              <a:buChar char="•"/>
            </a:pPr>
            <a:endParaRPr dirty="0">
              <a:highlight>
                <a:srgbClr val="FFFF00"/>
              </a:highlight>
            </a:endParaRPr>
          </a:p>
          <a:p>
            <a:pPr marL="228600" lvl="0" indent="-228600" algn="l" rtl="0">
              <a:lnSpc>
                <a:spcPct val="90000"/>
              </a:lnSpc>
              <a:spcBef>
                <a:spcPts val="1000"/>
              </a:spcBef>
              <a:spcAft>
                <a:spcPts val="0"/>
              </a:spcAft>
              <a:buClr>
                <a:schemeClr val="dk1"/>
              </a:buClr>
              <a:buSzPct val="100000"/>
              <a:buChar char="•"/>
            </a:pPr>
            <a:r>
              <a:rPr lang="en-IN" dirty="0">
                <a:highlight>
                  <a:srgbClr val="FFFF00"/>
                </a:highlight>
              </a:rPr>
              <a:t>ABCDE</a:t>
            </a:r>
            <a:r>
              <a:rPr lang="en-IN" baseline="30000" dirty="0">
                <a:highlight>
                  <a:srgbClr val="FFFF00"/>
                </a:highlight>
              </a:rPr>
              <a:t>+ </a:t>
            </a:r>
            <a:r>
              <a:rPr lang="en-IN" dirty="0">
                <a:highlight>
                  <a:srgbClr val="FFFF00"/>
                </a:highlight>
              </a:rPr>
              <a:t> = {A,B,C,D,E} S.K</a:t>
            </a:r>
            <a:endParaRPr dirty="0">
              <a:highlight>
                <a:srgbClr val="FFFF00"/>
              </a:highlight>
            </a:endParaRPr>
          </a:p>
          <a:p>
            <a:pPr marL="228600" lvl="0" indent="-228600" algn="l" rtl="0">
              <a:lnSpc>
                <a:spcPct val="90000"/>
              </a:lnSpc>
              <a:spcBef>
                <a:spcPts val="1000"/>
              </a:spcBef>
              <a:spcAft>
                <a:spcPts val="0"/>
              </a:spcAft>
              <a:buClr>
                <a:schemeClr val="dk1"/>
              </a:buClr>
              <a:buSzPct val="100000"/>
              <a:buChar char="•"/>
            </a:pPr>
            <a:r>
              <a:rPr lang="en-IN" dirty="0">
                <a:highlight>
                  <a:srgbClr val="FFFF00"/>
                </a:highlight>
              </a:rPr>
              <a:t>ACDE</a:t>
            </a:r>
            <a:r>
              <a:rPr lang="en-IN" baseline="30000" dirty="0">
                <a:highlight>
                  <a:srgbClr val="FFFF00"/>
                </a:highlight>
              </a:rPr>
              <a:t>+ </a:t>
            </a:r>
            <a:r>
              <a:rPr lang="en-IN" dirty="0">
                <a:highlight>
                  <a:srgbClr val="FFFF00"/>
                </a:highlight>
              </a:rPr>
              <a:t> = {A,B,C,D,E} S.K</a:t>
            </a:r>
            <a:endParaRPr dirty="0">
              <a:highlight>
                <a:srgbClr val="FFFF00"/>
              </a:highlight>
            </a:endParaRPr>
          </a:p>
          <a:p>
            <a:pPr marL="228600" lvl="0" indent="-228600" algn="l" rtl="0">
              <a:lnSpc>
                <a:spcPct val="90000"/>
              </a:lnSpc>
              <a:spcBef>
                <a:spcPts val="1000"/>
              </a:spcBef>
              <a:spcAft>
                <a:spcPts val="0"/>
              </a:spcAft>
              <a:buClr>
                <a:schemeClr val="dk1"/>
              </a:buClr>
              <a:buSzPct val="100000"/>
              <a:buChar char="•"/>
            </a:pPr>
            <a:r>
              <a:rPr lang="en-IN" dirty="0">
                <a:highlight>
                  <a:srgbClr val="FFFF00"/>
                </a:highlight>
              </a:rPr>
              <a:t>ACD</a:t>
            </a:r>
            <a:r>
              <a:rPr lang="en-IN" baseline="30000" dirty="0">
                <a:highlight>
                  <a:srgbClr val="FFFF00"/>
                </a:highlight>
              </a:rPr>
              <a:t>+ </a:t>
            </a:r>
            <a:r>
              <a:rPr lang="en-IN" dirty="0">
                <a:highlight>
                  <a:srgbClr val="FFFF00"/>
                </a:highlight>
              </a:rPr>
              <a:t> = {A,B,C,D,E} S.K</a:t>
            </a:r>
            <a:endParaRPr dirty="0">
              <a:highlight>
                <a:srgbClr val="FFFF00"/>
              </a:highlight>
            </a:endParaRPr>
          </a:p>
          <a:p>
            <a:pPr marL="228600" lvl="0" indent="-228600" algn="l" rtl="0">
              <a:lnSpc>
                <a:spcPct val="90000"/>
              </a:lnSpc>
              <a:spcBef>
                <a:spcPts val="1000"/>
              </a:spcBef>
              <a:spcAft>
                <a:spcPts val="0"/>
              </a:spcAft>
              <a:buClr>
                <a:schemeClr val="dk1"/>
              </a:buClr>
              <a:buSzPct val="100000"/>
              <a:buChar char="•"/>
            </a:pPr>
            <a:r>
              <a:rPr lang="en-IN" dirty="0">
                <a:highlight>
                  <a:srgbClr val="FFFF00"/>
                </a:highlight>
              </a:rPr>
              <a:t>How to check ACD is only the candidate key.</a:t>
            </a:r>
            <a:endParaRPr dirty="0">
              <a:highlight>
                <a:srgbClr val="FFFF00"/>
              </a:highlight>
            </a:endParaRPr>
          </a:p>
          <a:p>
            <a:pPr marL="228600" lvl="0" indent="-228600" algn="l" rtl="0">
              <a:lnSpc>
                <a:spcPct val="90000"/>
              </a:lnSpc>
              <a:spcBef>
                <a:spcPts val="1000"/>
              </a:spcBef>
              <a:spcAft>
                <a:spcPts val="0"/>
              </a:spcAft>
              <a:buClr>
                <a:schemeClr val="dk1"/>
              </a:buClr>
              <a:buSzPct val="100000"/>
              <a:buChar char="•"/>
            </a:pPr>
            <a:r>
              <a:rPr lang="en-IN" dirty="0">
                <a:highlight>
                  <a:srgbClr val="FFFF00"/>
                </a:highlight>
              </a:rPr>
              <a:t>Prime attributes: {A,C,D}</a:t>
            </a:r>
            <a:endParaRPr dirty="0">
              <a:highlight>
                <a:srgbClr val="FFFF00"/>
              </a:highlight>
            </a:endParaRPr>
          </a:p>
          <a:p>
            <a:pPr marL="228600" lvl="0" indent="-228600" algn="l" rtl="0">
              <a:lnSpc>
                <a:spcPct val="90000"/>
              </a:lnSpc>
              <a:spcBef>
                <a:spcPts val="1000"/>
              </a:spcBef>
              <a:spcAft>
                <a:spcPts val="0"/>
              </a:spcAft>
              <a:buClr>
                <a:schemeClr val="dk1"/>
              </a:buClr>
              <a:buSzPct val="100000"/>
              <a:buChar char="•"/>
            </a:pPr>
            <a:r>
              <a:rPr lang="en-IN" dirty="0">
                <a:highlight>
                  <a:srgbClr val="FFFF00"/>
                </a:highlight>
              </a:rPr>
              <a:t>Check any of the prime attribute is available in R.H.S of Functional Dependency </a:t>
            </a:r>
            <a:r>
              <a:rPr lang="en-IN" dirty="0" err="1">
                <a:highlight>
                  <a:srgbClr val="FFFF00"/>
                </a:highlight>
              </a:rPr>
              <a:t>i.e</a:t>
            </a:r>
            <a:r>
              <a:rPr lang="en-IN" dirty="0">
                <a:highlight>
                  <a:srgbClr val="FFFF00"/>
                </a:highlight>
              </a:rPr>
              <a:t> A,C &amp; D</a:t>
            </a:r>
            <a:endParaRPr dirty="0">
              <a:highlight>
                <a:srgbClr val="FFFF00"/>
              </a:highlight>
            </a:endParaRPr>
          </a:p>
          <a:p>
            <a:pPr marL="228600" lvl="0" indent="-228600" algn="l" rtl="0">
              <a:lnSpc>
                <a:spcPct val="90000"/>
              </a:lnSpc>
              <a:spcBef>
                <a:spcPts val="1000"/>
              </a:spcBef>
              <a:spcAft>
                <a:spcPts val="0"/>
              </a:spcAft>
              <a:buClr>
                <a:schemeClr val="dk1"/>
              </a:buClr>
              <a:buSzPct val="100000"/>
              <a:buChar char="•"/>
            </a:pPr>
            <a:r>
              <a:rPr lang="en-IN" dirty="0">
                <a:highlight>
                  <a:srgbClr val="FFFF00"/>
                </a:highlight>
              </a:rPr>
              <a:t>No any prime attribute is present in RHS. So we can say that is the only candidate key {ACD}.</a:t>
            </a:r>
            <a:endParaRPr dirty="0">
              <a:highlight>
                <a:srgbClr val="FFFF00"/>
              </a:highlight>
            </a:endParaRPr>
          </a:p>
          <a:p>
            <a:pPr marL="228600" lvl="0" indent="-64135" algn="l" rtl="0">
              <a:lnSpc>
                <a:spcPct val="90000"/>
              </a:lnSpc>
              <a:spcBef>
                <a:spcPts val="1000"/>
              </a:spcBef>
              <a:spcAft>
                <a:spcPts val="0"/>
              </a:spcAft>
              <a:buClr>
                <a:schemeClr val="dk1"/>
              </a:buClr>
              <a:buSzPct val="100000"/>
              <a:buNone/>
            </a:pPr>
            <a:endParaRPr dirty="0"/>
          </a:p>
          <a:p>
            <a:pPr marL="228600" lvl="0" indent="-64135" algn="l" rtl="0">
              <a:lnSpc>
                <a:spcPct val="90000"/>
              </a:lnSpc>
              <a:spcBef>
                <a:spcPts val="1000"/>
              </a:spcBef>
              <a:spcAft>
                <a:spcPts val="0"/>
              </a:spcAft>
              <a:buClr>
                <a:schemeClr val="dk1"/>
              </a:buClr>
              <a:buSzPct val="100000"/>
              <a:buNone/>
            </a:pPr>
            <a:endParaRPr dirty="0"/>
          </a:p>
          <a:p>
            <a:pPr marL="228600" lvl="0" indent="-64135" algn="l" rtl="0">
              <a:lnSpc>
                <a:spcPct val="90000"/>
              </a:lnSpc>
              <a:spcBef>
                <a:spcPts val="1000"/>
              </a:spcBef>
              <a:spcAft>
                <a:spcPts val="0"/>
              </a:spcAft>
              <a:buClr>
                <a:schemeClr val="dk1"/>
              </a:buClr>
              <a:buSzPct val="100000"/>
              <a:buNone/>
            </a:pPr>
            <a:endParaRPr dirty="0"/>
          </a:p>
          <a:p>
            <a:pPr marL="228600" lvl="0" indent="-64135" algn="l" rtl="0">
              <a:lnSpc>
                <a:spcPct val="90000"/>
              </a:lnSpc>
              <a:spcBef>
                <a:spcPts val="1000"/>
              </a:spcBef>
              <a:spcAft>
                <a:spcPts val="0"/>
              </a:spcAft>
              <a:buClr>
                <a:schemeClr val="dk1"/>
              </a:buClr>
              <a:buSzPct val="100000"/>
              <a:buNone/>
            </a:pPr>
            <a:endParaRPr dirty="0"/>
          </a:p>
        </p:txBody>
      </p:sp>
    </p:spTree>
    <p:extLst>
      <p:ext uri="{BB962C8B-B14F-4D97-AF65-F5344CB8AC3E}">
        <p14:creationId xmlns:p14="http://schemas.microsoft.com/office/powerpoint/2010/main" val="2776604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51">
                                            <p:txEl>
                                              <p:pRg st="0" end="0"/>
                                            </p:txEl>
                                          </p:spTgt>
                                        </p:tgtEl>
                                        <p:attrNameLst>
                                          <p:attrName>style.visibility</p:attrName>
                                        </p:attrNameLst>
                                      </p:cBhvr>
                                      <p:to>
                                        <p:strVal val="visible"/>
                                      </p:to>
                                    </p:set>
                                    <p:anim calcmode="lin" valueType="num">
                                      <p:cBhvr additive="base">
                                        <p:cTn id="7" dur="500"/>
                                        <p:tgtEl>
                                          <p:spTgt spid="35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351">
                                            <p:txEl>
                                              <p:pRg st="2" end="2"/>
                                            </p:txEl>
                                          </p:spTgt>
                                        </p:tgtEl>
                                        <p:attrNameLst>
                                          <p:attrName>style.visibility</p:attrName>
                                        </p:attrNameLst>
                                      </p:cBhvr>
                                      <p:to>
                                        <p:strVal val="visible"/>
                                      </p:to>
                                    </p:set>
                                    <p:anim calcmode="lin" valueType="num">
                                      <p:cBhvr additive="base">
                                        <p:cTn id="12" dur="500"/>
                                        <p:tgtEl>
                                          <p:spTgt spid="351">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351">
                                            <p:txEl>
                                              <p:pRg st="3" end="3"/>
                                            </p:txEl>
                                          </p:spTgt>
                                        </p:tgtEl>
                                        <p:attrNameLst>
                                          <p:attrName>style.visibility</p:attrName>
                                        </p:attrNameLst>
                                      </p:cBhvr>
                                      <p:to>
                                        <p:strVal val="visible"/>
                                      </p:to>
                                    </p:set>
                                    <p:anim calcmode="lin" valueType="num">
                                      <p:cBhvr additive="base">
                                        <p:cTn id="17" dur="500"/>
                                        <p:tgtEl>
                                          <p:spTgt spid="351">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351">
                                            <p:txEl>
                                              <p:pRg st="4" end="4"/>
                                            </p:txEl>
                                          </p:spTgt>
                                        </p:tgtEl>
                                        <p:attrNameLst>
                                          <p:attrName>style.visibility</p:attrName>
                                        </p:attrNameLst>
                                      </p:cBhvr>
                                      <p:to>
                                        <p:strVal val="visible"/>
                                      </p:to>
                                    </p:set>
                                    <p:anim calcmode="lin" valueType="num">
                                      <p:cBhvr additive="base">
                                        <p:cTn id="22" dur="500"/>
                                        <p:tgtEl>
                                          <p:spTgt spid="351">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351">
                                            <p:txEl>
                                              <p:pRg st="5" end="5"/>
                                            </p:txEl>
                                          </p:spTgt>
                                        </p:tgtEl>
                                        <p:attrNameLst>
                                          <p:attrName>style.visibility</p:attrName>
                                        </p:attrNameLst>
                                      </p:cBhvr>
                                      <p:to>
                                        <p:strVal val="visible"/>
                                      </p:to>
                                    </p:set>
                                    <p:anim calcmode="lin" valueType="num">
                                      <p:cBhvr additive="base">
                                        <p:cTn id="27" dur="500"/>
                                        <p:tgtEl>
                                          <p:spTgt spid="351">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351">
                                            <p:txEl>
                                              <p:pRg st="6" end="6"/>
                                            </p:txEl>
                                          </p:spTgt>
                                        </p:tgtEl>
                                        <p:attrNameLst>
                                          <p:attrName>style.visibility</p:attrName>
                                        </p:attrNameLst>
                                      </p:cBhvr>
                                      <p:to>
                                        <p:strVal val="visible"/>
                                      </p:to>
                                    </p:set>
                                    <p:anim calcmode="lin" valueType="num">
                                      <p:cBhvr additive="base">
                                        <p:cTn id="32" dur="500"/>
                                        <p:tgtEl>
                                          <p:spTgt spid="351">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51">
                                            <p:txEl>
                                              <p:pRg st="7" end="7"/>
                                            </p:txEl>
                                          </p:spTgt>
                                        </p:tgtEl>
                                        <p:attrNameLst>
                                          <p:attrName>style.visibility</p:attrName>
                                        </p:attrNameLst>
                                      </p:cBhvr>
                                      <p:to>
                                        <p:strVal val="visible"/>
                                      </p:to>
                                    </p:set>
                                    <p:anim calcmode="lin" valueType="num">
                                      <p:cBhvr additive="base">
                                        <p:cTn id="37" dur="500"/>
                                        <p:tgtEl>
                                          <p:spTgt spid="351">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351">
                                            <p:txEl>
                                              <p:pRg st="8" end="8"/>
                                            </p:txEl>
                                          </p:spTgt>
                                        </p:tgtEl>
                                        <p:attrNameLst>
                                          <p:attrName>style.visibility</p:attrName>
                                        </p:attrNameLst>
                                      </p:cBhvr>
                                      <p:to>
                                        <p:strVal val="visible"/>
                                      </p:to>
                                    </p:set>
                                    <p:anim calcmode="lin" valueType="num">
                                      <p:cBhvr additive="base">
                                        <p:cTn id="42" dur="500"/>
                                        <p:tgtEl>
                                          <p:spTgt spid="351">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Blends">
  <a:themeElements>
    <a:clrScheme name="Blends 2">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Blends">
  <a:themeElements>
    <a:clrScheme name="Blends 2">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2561</TotalTime>
  <Words>4407</Words>
  <Application>Microsoft Office PowerPoint</Application>
  <PresentationFormat>On-screen Show (4:3)</PresentationFormat>
  <Paragraphs>597</Paragraphs>
  <Slides>61</Slides>
  <Notes>44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61</vt:i4>
      </vt:variant>
    </vt:vector>
  </HeadingPairs>
  <TitlesOfParts>
    <vt:vector size="69" baseType="lpstr">
      <vt:lpstr>Arial</vt:lpstr>
      <vt:lpstr>Arial</vt:lpstr>
      <vt:lpstr>Calibri</vt:lpstr>
      <vt:lpstr>Noto Sans Symbols</vt:lpstr>
      <vt:lpstr>Inter</vt:lpstr>
      <vt:lpstr>Tahoma</vt:lpstr>
      <vt:lpstr>Blends</vt:lpstr>
      <vt:lpstr>1_Blends</vt:lpstr>
      <vt:lpstr>/ </vt:lpstr>
      <vt:lpstr>PowerPoint Presentation</vt:lpstr>
      <vt:lpstr>Chapter Outline</vt:lpstr>
      <vt:lpstr>Chapter Outline</vt:lpstr>
      <vt:lpstr>1 Informal Design Guidelines for Relational Databases (1)</vt:lpstr>
      <vt:lpstr>Informal Design Guidelines for Relational Databases (2)</vt:lpstr>
      <vt:lpstr>1.1 Semantics of the Relation Attributes </vt:lpstr>
      <vt:lpstr>Figure 10.1 A simplified COMPANY relational database schema</vt:lpstr>
      <vt:lpstr>1.2 Redundant Information in Tuples and Update Anomalies </vt:lpstr>
      <vt:lpstr>Guideline to Redundant Information in Tuples and Update Anomalies</vt:lpstr>
      <vt:lpstr>EXAMPLE OF AN UPDATE ANOMALY</vt:lpstr>
      <vt:lpstr>EXAMPLE OF AN INSERT ANOMALY</vt:lpstr>
      <vt:lpstr>EXAMPLE OF AN DELETE ANOMALY</vt:lpstr>
      <vt:lpstr>Figure 10.3 Two relation schemas suffering from update anomalies</vt:lpstr>
      <vt:lpstr>Figure 10.4 Example States for EMP_DEPT and EMP_PROJ</vt:lpstr>
      <vt:lpstr>1.3 Null Values in Tuples </vt:lpstr>
      <vt:lpstr>PowerPoint Presentation</vt:lpstr>
      <vt:lpstr>1.4 Spurious Tuples  Spurious tuples are wrong or meaningless rows that appear in a query result when two or more relations are incorrectly joined. They happen when the join condition is improper, usually because proper keys are not used. Spurious tuples lead to incorrect or redundant data in the result.</vt:lpstr>
      <vt:lpstr>Spurious Tuples (2)</vt:lpstr>
      <vt:lpstr>Example:</vt:lpstr>
      <vt:lpstr>Example:</vt:lpstr>
      <vt:lpstr>Example:</vt:lpstr>
      <vt:lpstr>2.1  Functional Dependencies </vt:lpstr>
      <vt:lpstr>Keys:</vt:lpstr>
      <vt:lpstr>PowerPoint Presentation</vt:lpstr>
      <vt:lpstr>Candidate key</vt:lpstr>
      <vt:lpstr>Primary key</vt:lpstr>
      <vt:lpstr>Alternate Keys </vt:lpstr>
      <vt:lpstr>Unique key &amp; Composite key</vt:lpstr>
      <vt:lpstr>Foreign key</vt:lpstr>
      <vt:lpstr>Example </vt:lpstr>
      <vt:lpstr>Proper subset: </vt:lpstr>
      <vt:lpstr>Functional Dependencies (2)</vt:lpstr>
      <vt:lpstr>Examples of FD constraints (1) </vt:lpstr>
      <vt:lpstr>Examples of FD constraints (2)</vt:lpstr>
      <vt:lpstr>functional dependency</vt:lpstr>
      <vt:lpstr>Example </vt:lpstr>
      <vt:lpstr>Example </vt:lpstr>
      <vt:lpstr>PowerPoint Presentation</vt:lpstr>
      <vt:lpstr>2.2 Inference Rules for FDs (1) </vt:lpstr>
      <vt:lpstr>PowerPoint Presentation</vt:lpstr>
      <vt:lpstr>Inference Rules for FDs (2)</vt:lpstr>
      <vt:lpstr>Inference Rules for FDs (3)</vt:lpstr>
      <vt:lpstr>Types of Functional dependencies</vt:lpstr>
      <vt:lpstr>Fully functional dependency</vt:lpstr>
      <vt:lpstr>Partial functional dependency</vt:lpstr>
      <vt:lpstr>Trivial Functional Dependency: </vt:lpstr>
      <vt:lpstr>Non-trivial Functional Dependency</vt:lpstr>
      <vt:lpstr> Multivalued Functional Dependency</vt:lpstr>
      <vt:lpstr>Transitive Functional Dependency</vt:lpstr>
      <vt:lpstr>2.3 Equivalence of Sets of FDs </vt:lpstr>
      <vt:lpstr>2.4 Minimal Sets of FDs (1)</vt:lpstr>
      <vt:lpstr>Minimal Sets of FDs (2)</vt:lpstr>
      <vt:lpstr>Find superkeys</vt:lpstr>
      <vt:lpstr>Examples</vt:lpstr>
      <vt:lpstr>PowerPoint Presentation</vt:lpstr>
      <vt:lpstr>PowerPoint Presentation</vt:lpstr>
      <vt:lpstr>Example </vt:lpstr>
      <vt:lpstr> Closure of FD EXAMPLE’S</vt:lpstr>
      <vt:lpstr> Closure of FD EXAMPLE’S</vt:lpstr>
      <vt:lpstr>Example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c:title>
  <dc:creator>kjscecomp</dc:creator>
  <cp:lastModifiedBy>Om Thanage</cp:lastModifiedBy>
  <cp:revision>51</cp:revision>
  <dcterms:modified xsi:type="dcterms:W3CDTF">2025-05-05T13:32:56Z</dcterms:modified>
</cp:coreProperties>
</file>