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 id="287" r:id="rId15"/>
    <p:sldId id="296" r:id="rId16"/>
    <p:sldId id="288" r:id="rId17"/>
    <p:sldId id="289" r:id="rId18"/>
    <p:sldId id="290" r:id="rId19"/>
    <p:sldId id="269" r:id="rId20"/>
    <p:sldId id="291" r:id="rId21"/>
    <p:sldId id="270" r:id="rId22"/>
    <p:sldId id="292" r:id="rId23"/>
    <p:sldId id="271" r:id="rId24"/>
    <p:sldId id="273" r:id="rId25"/>
    <p:sldId id="274" r:id="rId26"/>
    <p:sldId id="275" r:id="rId27"/>
    <p:sldId id="276" r:id="rId28"/>
    <p:sldId id="278" r:id="rId29"/>
    <p:sldId id="279" r:id="rId30"/>
    <p:sldId id="280" r:id="rId31"/>
    <p:sldId id="293" r:id="rId32"/>
    <p:sldId id="294" r:id="rId33"/>
    <p:sldId id="295" r:id="rId34"/>
    <p:sldId id="286" r:id="rId35"/>
    <p:sldId id="281" r:id="rId36"/>
    <p:sldId id="282" r:id="rId37"/>
    <p:sldId id="283" r:id="rId38"/>
    <p:sldId id="298" r:id="rId39"/>
    <p:sldId id="284" r:id="rId40"/>
    <p:sldId id="297" r:id="rId41"/>
    <p:sldId id="299"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714"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42E4BED-FD93-4178-BEB8-04723E121F85}"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1750536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2E4BED-FD93-4178-BEB8-04723E121F85}"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2664737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2E4BED-FD93-4178-BEB8-04723E121F85}"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1653550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42E4BED-FD93-4178-BEB8-04723E121F85}" type="datetimeFigureOut">
              <a:rPr lang="en-IN" smtClean="0"/>
              <a:t>24-04-2025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2469643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42E4BED-FD93-4178-BEB8-04723E121F85}" type="datetimeFigureOut">
              <a:rPr lang="en-IN" smtClean="0"/>
              <a:t>24-04-2025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2283548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42E4BED-FD93-4178-BEB8-04723E121F85}" type="datetimeFigureOut">
              <a:rPr lang="en-IN" smtClean="0"/>
              <a:t>24-04-2025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3420593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2E4BED-FD93-4178-BEB8-04723E121F85}" type="datetimeFigureOut">
              <a:rPr lang="en-IN" smtClean="0"/>
              <a:t>24-04-2025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407688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2E4BED-FD93-4178-BEB8-04723E121F85}" type="datetimeFigureOut">
              <a:rPr lang="en-IN" smtClean="0"/>
              <a:t>24-04-2025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2558797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2E4BED-FD93-4178-BEB8-04723E121F85}" type="datetimeFigureOut">
              <a:rPr lang="en-IN" smtClean="0"/>
              <a:t>24-04-2025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4114501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2E4BED-FD93-4178-BEB8-04723E121F85}"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175728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2E4BED-FD93-4178-BEB8-04723E121F85}" type="datetimeFigureOut">
              <a:rPr lang="en-IN" smtClean="0"/>
              <a:t>24-04-2025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9514C-7B81-416F-8DD5-9C9F99C82B83}" type="slidenum">
              <a:rPr lang="en-IN" smtClean="0"/>
              <a:t>‹#›</a:t>
            </a:fld>
            <a:endParaRPr lang="en-IN"/>
          </a:p>
        </p:txBody>
      </p:sp>
    </p:spTree>
    <p:extLst>
      <p:ext uri="{BB962C8B-B14F-4D97-AF65-F5344CB8AC3E}">
        <p14:creationId xmlns:p14="http://schemas.microsoft.com/office/powerpoint/2010/main" val="136271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2E4BED-FD93-4178-BEB8-04723E121F85}" type="datetimeFigureOut">
              <a:rPr lang="en-IN" smtClean="0"/>
              <a:t>24-04-2025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F9514C-7B81-416F-8DD5-9C9F99C82B83}" type="slidenum">
              <a:rPr lang="en-IN" smtClean="0"/>
              <a:t>‹#›</a:t>
            </a:fld>
            <a:endParaRPr lang="en-IN"/>
          </a:p>
        </p:txBody>
      </p:sp>
    </p:spTree>
    <p:extLst>
      <p:ext uri="{BB962C8B-B14F-4D97-AF65-F5344CB8AC3E}">
        <p14:creationId xmlns:p14="http://schemas.microsoft.com/office/powerpoint/2010/main" val="762378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Concurrency control</a:t>
            </a:r>
            <a:endParaRPr lang="en-IN" dirty="0"/>
          </a:p>
        </p:txBody>
      </p:sp>
      <p:sp>
        <p:nvSpPr>
          <p:cNvPr id="3" name="Subtitle 2"/>
          <p:cNvSpPr>
            <a:spLocks noGrp="1"/>
          </p:cNvSpPr>
          <p:nvPr>
            <p:ph type="subTitle" idx="1"/>
          </p:nvPr>
        </p:nvSpPr>
        <p:spPr/>
        <p:txBody>
          <a:bodyPr/>
          <a:lstStyle/>
          <a:p>
            <a:r>
              <a:rPr lang="en-US" dirty="0"/>
              <a:t>6.2</a:t>
            </a:r>
            <a:endParaRPr lang="en-IN" dirty="0"/>
          </a:p>
        </p:txBody>
      </p:sp>
    </p:spTree>
    <p:extLst>
      <p:ext uri="{BB962C8B-B14F-4D97-AF65-F5344CB8AC3E}">
        <p14:creationId xmlns:p14="http://schemas.microsoft.com/office/powerpoint/2010/main" val="237733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4638"/>
            <a:ext cx="8219256" cy="346050"/>
          </a:xfrm>
        </p:spPr>
        <p:txBody>
          <a:bodyPr>
            <a:normAutofit fontScale="90000"/>
          </a:bodyPr>
          <a:lstStyle/>
          <a:p>
            <a:r>
              <a:rPr lang="en-US" dirty="0"/>
              <a:t>Concurrency control</a:t>
            </a:r>
            <a:endParaRPr lang="en-IN" dirty="0"/>
          </a:p>
        </p:txBody>
      </p:sp>
      <p:sp>
        <p:nvSpPr>
          <p:cNvPr id="3" name="Content Placeholder 2"/>
          <p:cNvSpPr>
            <a:spLocks noGrp="1"/>
          </p:cNvSpPr>
          <p:nvPr>
            <p:ph idx="1"/>
          </p:nvPr>
        </p:nvSpPr>
        <p:spPr>
          <a:xfrm>
            <a:off x="395536" y="908720"/>
            <a:ext cx="8291264" cy="5217443"/>
          </a:xfrm>
        </p:spPr>
        <p:txBody>
          <a:bodyPr>
            <a:normAutofit fontScale="85000" lnSpcReduction="10000"/>
          </a:bodyPr>
          <a:lstStyle/>
          <a:p>
            <a:pPr fontAlgn="base"/>
            <a:r>
              <a:rPr lang="en-US" dirty="0"/>
              <a:t>Executing a single transaction at a time will increase the waiting time of the other transactions which may result in delay in the overall execution. </a:t>
            </a:r>
          </a:p>
          <a:p>
            <a:pPr fontAlgn="base"/>
            <a:r>
              <a:rPr lang="en-US" dirty="0"/>
              <a:t>Hence for increasing the overall throughput and efficiency of the system, several transactions are executed.</a:t>
            </a:r>
          </a:p>
          <a:p>
            <a:pPr fontAlgn="base"/>
            <a:r>
              <a:rPr lang="en-US" dirty="0">
                <a:highlight>
                  <a:srgbClr val="FFFF00"/>
                </a:highlight>
              </a:rPr>
              <a:t>Concurrency control is a very important concept of DBMS which ensures the simultaneous execution or manipulation of data by several processes or user without resulting in data inconsistency.</a:t>
            </a:r>
          </a:p>
          <a:p>
            <a:pPr fontAlgn="base"/>
            <a:r>
              <a:rPr lang="en-US" dirty="0">
                <a:highlight>
                  <a:srgbClr val="FFFF00"/>
                </a:highlight>
              </a:rPr>
              <a:t>Concurrency control provides a procedure that is able to control concurrent execution of the operations in the database. </a:t>
            </a:r>
          </a:p>
          <a:p>
            <a:endParaRPr lang="en-IN" dirty="0"/>
          </a:p>
        </p:txBody>
      </p:sp>
    </p:spTree>
    <p:extLst>
      <p:ext uri="{BB962C8B-B14F-4D97-AF65-F5344CB8AC3E}">
        <p14:creationId xmlns:p14="http://schemas.microsoft.com/office/powerpoint/2010/main" val="2664040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Concurrency Control Problems</a:t>
            </a:r>
            <a:endParaRPr lang="en-IN" dirty="0"/>
          </a:p>
        </p:txBody>
      </p:sp>
      <p:sp>
        <p:nvSpPr>
          <p:cNvPr id="3" name="Content Placeholder 2"/>
          <p:cNvSpPr>
            <a:spLocks noGrp="1"/>
          </p:cNvSpPr>
          <p:nvPr>
            <p:ph idx="1"/>
          </p:nvPr>
        </p:nvSpPr>
        <p:spPr/>
        <p:txBody>
          <a:bodyPr>
            <a:normAutofit fontScale="70000" lnSpcReduction="20000"/>
          </a:bodyPr>
          <a:lstStyle/>
          <a:p>
            <a:r>
              <a:rPr lang="en-US" dirty="0"/>
              <a:t>The database transaction consist of two major operations “Read” and “Write”. </a:t>
            </a:r>
          </a:p>
          <a:p>
            <a:r>
              <a:rPr lang="en-US" dirty="0"/>
              <a:t>It is very important to manage these operations in the concurrent execution of the transactions in order to maintain the consistency of the data.</a:t>
            </a:r>
          </a:p>
          <a:p>
            <a:pPr fontAlgn="base"/>
            <a:r>
              <a:rPr lang="en-US" b="1" dirty="0">
                <a:highlight>
                  <a:srgbClr val="FFFF00"/>
                </a:highlight>
              </a:rPr>
              <a:t>Dirty Read Problem(Write-Read conflict)</a:t>
            </a:r>
          </a:p>
          <a:p>
            <a:pPr fontAlgn="base"/>
            <a:r>
              <a:rPr lang="en-US" dirty="0">
                <a:highlight>
                  <a:srgbClr val="FFFF00"/>
                </a:highlight>
              </a:rPr>
              <a:t>Dirty read problem occurs when one transaction updates an item but due to some unconditional events that transaction fails but before the transaction performs rollback, some other transaction reads the updated value. Thus creates an inconsistency in the database. </a:t>
            </a:r>
          </a:p>
          <a:p>
            <a:pPr fontAlgn="base"/>
            <a:r>
              <a:rPr lang="en-US" b="1" dirty="0">
                <a:highlight>
                  <a:srgbClr val="FFFF00"/>
                </a:highlight>
              </a:rPr>
              <a:t>Lost Update Problem</a:t>
            </a:r>
          </a:p>
          <a:p>
            <a:pPr fontAlgn="base"/>
            <a:r>
              <a:rPr lang="en-US" dirty="0">
                <a:highlight>
                  <a:srgbClr val="FFFF00"/>
                </a:highlight>
              </a:rPr>
              <a:t>Lost update problem occurs when two or more transactions modify the same data, resulting in the update being overwritten or lost by another transaction.</a:t>
            </a:r>
          </a:p>
          <a:p>
            <a:endParaRPr lang="en-IN" dirty="0"/>
          </a:p>
        </p:txBody>
      </p:sp>
    </p:spTree>
    <p:extLst>
      <p:ext uri="{BB962C8B-B14F-4D97-AF65-F5344CB8AC3E}">
        <p14:creationId xmlns:p14="http://schemas.microsoft.com/office/powerpoint/2010/main" val="278406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Concurrency Control Protocols</a:t>
            </a:r>
            <a:endParaRPr lang="en-IN" dirty="0"/>
          </a:p>
        </p:txBody>
      </p:sp>
      <p:sp>
        <p:nvSpPr>
          <p:cNvPr id="3" name="Content Placeholder 2"/>
          <p:cNvSpPr>
            <a:spLocks noGrp="1"/>
          </p:cNvSpPr>
          <p:nvPr>
            <p:ph idx="1"/>
          </p:nvPr>
        </p:nvSpPr>
        <p:spPr/>
        <p:txBody>
          <a:bodyPr/>
          <a:lstStyle/>
          <a:p>
            <a:r>
              <a:rPr lang="en-US" b="1" dirty="0"/>
              <a:t>Two-phase locking Protocol</a:t>
            </a:r>
            <a:endParaRPr lang="en-US" dirty="0"/>
          </a:p>
          <a:p>
            <a:r>
              <a:rPr lang="en-US" b="1" dirty="0"/>
              <a:t>Time stamp ordering Protocol</a:t>
            </a:r>
            <a:endParaRPr lang="en-US" dirty="0"/>
          </a:p>
          <a:p>
            <a:r>
              <a:rPr lang="en-US" b="1" dirty="0"/>
              <a:t>Multi version concurrency control</a:t>
            </a:r>
            <a:endParaRPr lang="en-US" dirty="0"/>
          </a:p>
          <a:p>
            <a:r>
              <a:rPr lang="en-US" b="1" dirty="0"/>
              <a:t>Validation concurrency control</a:t>
            </a:r>
            <a:endParaRPr lang="en-US" dirty="0"/>
          </a:p>
          <a:p>
            <a:endParaRPr lang="en-IN" dirty="0"/>
          </a:p>
        </p:txBody>
      </p:sp>
    </p:spTree>
    <p:extLst>
      <p:ext uri="{BB962C8B-B14F-4D97-AF65-F5344CB8AC3E}">
        <p14:creationId xmlns:p14="http://schemas.microsoft.com/office/powerpoint/2010/main" val="4189682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Two-phase locking Protocol</a:t>
            </a:r>
            <a:endParaRPr lang="en-IN" dirty="0"/>
          </a:p>
        </p:txBody>
      </p:sp>
      <p:sp>
        <p:nvSpPr>
          <p:cNvPr id="3" name="Content Placeholder 2"/>
          <p:cNvSpPr>
            <a:spLocks noGrp="1"/>
          </p:cNvSpPr>
          <p:nvPr>
            <p:ph idx="1"/>
          </p:nvPr>
        </p:nvSpPr>
        <p:spPr/>
        <p:txBody>
          <a:bodyPr>
            <a:normAutofit fontScale="62500" lnSpcReduction="20000"/>
          </a:bodyPr>
          <a:lstStyle/>
          <a:p>
            <a:r>
              <a:rPr lang="en-US" dirty="0">
                <a:highlight>
                  <a:srgbClr val="FFFF00"/>
                </a:highlight>
              </a:rPr>
              <a:t>It’s called “two-phase” because, during each transaction, there are two distinct phases: the Growing phase and the Shrinking phase.</a:t>
            </a:r>
          </a:p>
          <a:p>
            <a:br>
              <a:rPr lang="en-US" dirty="0">
                <a:highlight>
                  <a:srgbClr val="FFFF00"/>
                </a:highlight>
              </a:rPr>
            </a:br>
            <a:r>
              <a:rPr lang="en-US" b="1" dirty="0">
                <a:highlight>
                  <a:srgbClr val="FFFF00"/>
                </a:highlight>
              </a:rPr>
              <a:t>Phases</a:t>
            </a:r>
            <a:r>
              <a:rPr lang="en-US" dirty="0">
                <a:highlight>
                  <a:srgbClr val="FFFF00"/>
                </a:highlight>
              </a:rPr>
              <a:t>:</a:t>
            </a:r>
          </a:p>
          <a:p>
            <a:pPr lvl="1"/>
            <a:r>
              <a:rPr lang="en-US" b="1" dirty="0">
                <a:highlight>
                  <a:srgbClr val="FFFF00"/>
                </a:highlight>
              </a:rPr>
              <a:t>Growing Phase</a:t>
            </a:r>
            <a:r>
              <a:rPr lang="en-US" dirty="0">
                <a:highlight>
                  <a:srgbClr val="FFFF00"/>
                </a:highlight>
              </a:rPr>
              <a:t>: During this phase, a transaction can obtain (acquire) any number of locks as required but cannot release any. This phase continues until the transaction acquires all the locks it needs and no longer requests.</a:t>
            </a:r>
          </a:p>
          <a:p>
            <a:pPr lvl="1"/>
            <a:r>
              <a:rPr lang="en-US" dirty="0">
                <a:highlight>
                  <a:srgbClr val="FFFF00"/>
                </a:highlight>
              </a:rPr>
              <a:t>In the growing phase, a new lock on the data item may be acquired by the transaction, but none can be released.</a:t>
            </a:r>
          </a:p>
          <a:p>
            <a:pPr lvl="1"/>
            <a:r>
              <a:rPr lang="en-US" b="1" dirty="0">
                <a:highlight>
                  <a:srgbClr val="FFFF00"/>
                </a:highlight>
              </a:rPr>
              <a:t>Shrinking Phase: </a:t>
            </a:r>
            <a:r>
              <a:rPr lang="en-US" dirty="0">
                <a:highlight>
                  <a:srgbClr val="FFFF00"/>
                </a:highlight>
              </a:rPr>
              <a:t>Once the transaction releases its first lock, the Shrinking phase starts. During this phase, the transaction can release but not acquire any more locks.</a:t>
            </a:r>
          </a:p>
          <a:p>
            <a:pPr lvl="1"/>
            <a:r>
              <a:rPr lang="en-US" dirty="0">
                <a:highlight>
                  <a:srgbClr val="FFFF00"/>
                </a:highlight>
              </a:rPr>
              <a:t>In the shrinking phase, existing lock held by the transaction may be released, but no new locks can be acquired.</a:t>
            </a:r>
          </a:p>
          <a:p>
            <a:r>
              <a:rPr lang="en-US" dirty="0">
                <a:highlight>
                  <a:srgbClr val="FFFF00"/>
                </a:highlight>
              </a:rPr>
              <a:t>The primary purpose of the Two-Phase Locking protocol is to ensure conflict-</a:t>
            </a:r>
            <a:r>
              <a:rPr lang="en-US" dirty="0" err="1">
                <a:highlight>
                  <a:srgbClr val="FFFF00"/>
                </a:highlight>
              </a:rPr>
              <a:t>serializability</a:t>
            </a:r>
            <a:r>
              <a:rPr lang="en-US" dirty="0">
                <a:highlight>
                  <a:srgbClr val="FFFF00"/>
                </a:highlight>
              </a:rPr>
              <a:t>, as the protocol ensures a transaction does not interfere with others in ways that produce inconsistent results</a:t>
            </a:r>
          </a:p>
          <a:p>
            <a:endParaRPr lang="en-IN" dirty="0"/>
          </a:p>
        </p:txBody>
      </p:sp>
    </p:spTree>
    <p:extLst>
      <p:ext uri="{BB962C8B-B14F-4D97-AF65-F5344CB8AC3E}">
        <p14:creationId xmlns:p14="http://schemas.microsoft.com/office/powerpoint/2010/main" val="1270393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2. Time stamp ordering Protocol</a:t>
            </a:r>
            <a:endParaRPr lang="en-IN" dirty="0"/>
          </a:p>
        </p:txBody>
      </p:sp>
      <p:sp>
        <p:nvSpPr>
          <p:cNvPr id="3" name="Content Placeholder 2"/>
          <p:cNvSpPr>
            <a:spLocks noGrp="1"/>
          </p:cNvSpPr>
          <p:nvPr>
            <p:ph idx="1"/>
          </p:nvPr>
        </p:nvSpPr>
        <p:spPr/>
        <p:txBody>
          <a:bodyPr>
            <a:normAutofit fontScale="85000" lnSpcReduction="10000"/>
          </a:bodyPr>
          <a:lstStyle/>
          <a:p>
            <a:r>
              <a:rPr lang="en-US" dirty="0">
                <a:highlight>
                  <a:srgbClr val="FFFF00"/>
                </a:highlight>
              </a:rPr>
              <a:t>The</a:t>
            </a:r>
            <a:r>
              <a:rPr lang="en-US" b="1" dirty="0">
                <a:highlight>
                  <a:srgbClr val="FFFF00"/>
                </a:highlight>
              </a:rPr>
              <a:t> Timestamp Ordering Protocol</a:t>
            </a:r>
            <a:r>
              <a:rPr lang="en-US" dirty="0">
                <a:highlight>
                  <a:srgbClr val="FFFF00"/>
                </a:highlight>
              </a:rPr>
              <a:t> is a concurrency control method used in database management systems to maintain the </a:t>
            </a:r>
            <a:r>
              <a:rPr lang="en-US" dirty="0" err="1">
                <a:highlight>
                  <a:srgbClr val="FFFF00"/>
                </a:highlight>
              </a:rPr>
              <a:t>serializability</a:t>
            </a:r>
            <a:r>
              <a:rPr lang="en-US" dirty="0">
                <a:highlight>
                  <a:srgbClr val="FFFF00"/>
                </a:highlight>
              </a:rPr>
              <a:t> of transactions. </a:t>
            </a:r>
          </a:p>
          <a:p>
            <a:r>
              <a:rPr lang="en-US" dirty="0"/>
              <a:t>The Timestamp Ordering Protocol is used to order the transactions based on their </a:t>
            </a:r>
            <a:r>
              <a:rPr lang="en-US" dirty="0">
                <a:highlight>
                  <a:srgbClr val="FFFF00"/>
                </a:highlight>
              </a:rPr>
              <a:t>Timestamps. </a:t>
            </a:r>
          </a:p>
          <a:p>
            <a:r>
              <a:rPr lang="en-US" dirty="0"/>
              <a:t>The order of transaction is nothing but the </a:t>
            </a:r>
            <a:r>
              <a:rPr lang="en-US" dirty="0">
                <a:highlight>
                  <a:srgbClr val="FFFF00"/>
                </a:highlight>
              </a:rPr>
              <a:t>ascending order of the transaction creation.</a:t>
            </a:r>
          </a:p>
          <a:p>
            <a:r>
              <a:rPr lang="en-US" dirty="0"/>
              <a:t>The priority of the older transaction is higher that's why it executes first. </a:t>
            </a:r>
          </a:p>
          <a:p>
            <a:r>
              <a:rPr lang="en-US" dirty="0">
                <a:highlight>
                  <a:srgbClr val="FFFF00"/>
                </a:highlight>
              </a:rPr>
              <a:t>To determine the timestamp of the transaction, this protocol uses system time or logical counter.</a:t>
            </a:r>
          </a:p>
          <a:p>
            <a:endParaRPr lang="en-US" dirty="0"/>
          </a:p>
        </p:txBody>
      </p:sp>
    </p:spTree>
    <p:extLst>
      <p:ext uri="{BB962C8B-B14F-4D97-AF65-F5344CB8AC3E}">
        <p14:creationId xmlns:p14="http://schemas.microsoft.com/office/powerpoint/2010/main" val="2426517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US" dirty="0"/>
              <a:t>Example:</a:t>
            </a:r>
          </a:p>
          <a:p>
            <a:r>
              <a:rPr lang="en-US" dirty="0"/>
              <a:t>Let’s assume there are two transactions T1 and T2. </a:t>
            </a:r>
          </a:p>
          <a:p>
            <a:r>
              <a:rPr lang="en-US" dirty="0"/>
              <a:t>Suppose the transaction T1 has entered the system at 007 times and transaction T2 has entered the system at 009 times. </a:t>
            </a:r>
          </a:p>
          <a:p>
            <a:r>
              <a:rPr lang="en-US" dirty="0"/>
              <a:t>T1 has the higher priority, so it executes first as it is entered the system first.</a:t>
            </a:r>
          </a:p>
          <a:p>
            <a:r>
              <a:rPr lang="en-US" dirty="0">
                <a:highlight>
                  <a:srgbClr val="FFFF00"/>
                </a:highlight>
              </a:rPr>
              <a:t>The timestamp ordering protocol also maintains the timestamp of last 'read' and 'write' operation on a data</a:t>
            </a:r>
            <a:endParaRPr lang="en-IN" dirty="0">
              <a:highlight>
                <a:srgbClr val="FFFF00"/>
              </a:highlight>
            </a:endParaRPr>
          </a:p>
        </p:txBody>
      </p:sp>
    </p:spTree>
    <p:extLst>
      <p:ext uri="{BB962C8B-B14F-4D97-AF65-F5344CB8AC3E}">
        <p14:creationId xmlns:p14="http://schemas.microsoft.com/office/powerpoint/2010/main" val="2596988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b="1" dirty="0">
                <a:highlight>
                  <a:srgbClr val="FFFF00"/>
                </a:highlight>
              </a:rPr>
              <a:t>Basic Timestamp ordering protocol works as follows:</a:t>
            </a:r>
            <a:endParaRPr lang="en-US" dirty="0">
              <a:highlight>
                <a:srgbClr val="FFFF00"/>
              </a:highlight>
            </a:endParaRPr>
          </a:p>
          <a:p>
            <a:pPr marL="0" indent="0">
              <a:buNone/>
            </a:pPr>
            <a:r>
              <a:rPr lang="en-US" dirty="0">
                <a:highlight>
                  <a:srgbClr val="FFFF00"/>
                </a:highlight>
              </a:rPr>
              <a:t>1. Check the following condition whenever a transaction </a:t>
            </a:r>
            <a:r>
              <a:rPr lang="en-US" dirty="0" err="1">
                <a:highlight>
                  <a:srgbClr val="FFFF00"/>
                </a:highlight>
              </a:rPr>
              <a:t>Ti</a:t>
            </a:r>
            <a:r>
              <a:rPr lang="en-US" dirty="0">
                <a:highlight>
                  <a:srgbClr val="FFFF00"/>
                </a:highlight>
              </a:rPr>
              <a:t> issues a </a:t>
            </a:r>
            <a:r>
              <a:rPr lang="en-US" b="1" dirty="0">
                <a:highlight>
                  <a:srgbClr val="FFFF00"/>
                </a:highlight>
              </a:rPr>
              <a:t>Read (X)</a:t>
            </a:r>
            <a:r>
              <a:rPr lang="en-US" dirty="0">
                <a:highlight>
                  <a:srgbClr val="FFFF00"/>
                </a:highlight>
              </a:rPr>
              <a:t> operation:</a:t>
            </a:r>
          </a:p>
          <a:p>
            <a:r>
              <a:rPr lang="en-US" dirty="0">
                <a:highlight>
                  <a:srgbClr val="FFFF00"/>
                </a:highlight>
              </a:rPr>
              <a:t>If W_TS(X) &gt;TS(</a:t>
            </a:r>
            <a:r>
              <a:rPr lang="en-US" dirty="0" err="1">
                <a:highlight>
                  <a:srgbClr val="FFFF00"/>
                </a:highlight>
              </a:rPr>
              <a:t>Ti</a:t>
            </a:r>
            <a:r>
              <a:rPr lang="en-US" dirty="0">
                <a:highlight>
                  <a:srgbClr val="FFFF00"/>
                </a:highlight>
              </a:rPr>
              <a:t>) then the operation is rejected.</a:t>
            </a:r>
          </a:p>
          <a:p>
            <a:r>
              <a:rPr lang="en-US" dirty="0">
                <a:highlight>
                  <a:srgbClr val="FFFF00"/>
                </a:highlight>
              </a:rPr>
              <a:t>If W_TS(X) &lt;= TS(</a:t>
            </a:r>
            <a:r>
              <a:rPr lang="en-US" dirty="0" err="1">
                <a:highlight>
                  <a:srgbClr val="FFFF00"/>
                </a:highlight>
              </a:rPr>
              <a:t>Ti</a:t>
            </a:r>
            <a:r>
              <a:rPr lang="en-US" dirty="0">
                <a:highlight>
                  <a:srgbClr val="FFFF00"/>
                </a:highlight>
              </a:rPr>
              <a:t>) then the operation is executed.</a:t>
            </a:r>
          </a:p>
          <a:p>
            <a:r>
              <a:rPr lang="en-US" dirty="0">
                <a:highlight>
                  <a:srgbClr val="FFFF00"/>
                </a:highlight>
              </a:rPr>
              <a:t>Timestamps of all the data items are updated.</a:t>
            </a:r>
          </a:p>
          <a:p>
            <a:pPr marL="0" indent="0">
              <a:buNone/>
            </a:pPr>
            <a:endParaRPr lang="en-US" dirty="0">
              <a:highlight>
                <a:srgbClr val="FFFF00"/>
              </a:highlight>
            </a:endParaRPr>
          </a:p>
          <a:p>
            <a:pPr marL="0" indent="0">
              <a:buNone/>
            </a:pPr>
            <a:r>
              <a:rPr lang="en-US" dirty="0">
                <a:highlight>
                  <a:srgbClr val="FFFF00"/>
                </a:highlight>
              </a:rPr>
              <a:t>2. Check the following condition whenever a transaction </a:t>
            </a:r>
            <a:r>
              <a:rPr lang="en-US" dirty="0" err="1">
                <a:highlight>
                  <a:srgbClr val="FFFF00"/>
                </a:highlight>
              </a:rPr>
              <a:t>Ti</a:t>
            </a:r>
            <a:r>
              <a:rPr lang="en-US" dirty="0">
                <a:highlight>
                  <a:srgbClr val="FFFF00"/>
                </a:highlight>
              </a:rPr>
              <a:t> issues a </a:t>
            </a:r>
            <a:r>
              <a:rPr lang="en-US" b="1" dirty="0">
                <a:highlight>
                  <a:srgbClr val="FFFF00"/>
                </a:highlight>
              </a:rPr>
              <a:t>Write(X)</a:t>
            </a:r>
            <a:r>
              <a:rPr lang="en-US" dirty="0">
                <a:highlight>
                  <a:srgbClr val="FFFF00"/>
                </a:highlight>
              </a:rPr>
              <a:t> operation:</a:t>
            </a:r>
          </a:p>
          <a:p>
            <a:r>
              <a:rPr lang="en-US" dirty="0">
                <a:highlight>
                  <a:srgbClr val="FFFF00"/>
                </a:highlight>
              </a:rPr>
              <a:t>If TS(</a:t>
            </a:r>
            <a:r>
              <a:rPr lang="en-US" dirty="0" err="1">
                <a:highlight>
                  <a:srgbClr val="FFFF00"/>
                </a:highlight>
              </a:rPr>
              <a:t>Ti</a:t>
            </a:r>
            <a:r>
              <a:rPr lang="en-US" dirty="0">
                <a:highlight>
                  <a:srgbClr val="FFFF00"/>
                </a:highlight>
              </a:rPr>
              <a:t>) &lt; R_TS(X) then the operation is rejected.</a:t>
            </a:r>
          </a:p>
          <a:p>
            <a:r>
              <a:rPr lang="en-US" dirty="0">
                <a:highlight>
                  <a:srgbClr val="FFFF00"/>
                </a:highlight>
              </a:rPr>
              <a:t>If TS(</a:t>
            </a:r>
            <a:r>
              <a:rPr lang="en-US" dirty="0" err="1">
                <a:highlight>
                  <a:srgbClr val="FFFF00"/>
                </a:highlight>
              </a:rPr>
              <a:t>Ti</a:t>
            </a:r>
            <a:r>
              <a:rPr lang="en-US" dirty="0">
                <a:highlight>
                  <a:srgbClr val="FFFF00"/>
                </a:highlight>
              </a:rPr>
              <a:t>) &lt; W_TS(X) then the operation is rejected and </a:t>
            </a:r>
            <a:r>
              <a:rPr lang="en-US" dirty="0" err="1">
                <a:highlight>
                  <a:srgbClr val="FFFF00"/>
                </a:highlight>
              </a:rPr>
              <a:t>Ti</a:t>
            </a:r>
            <a:r>
              <a:rPr lang="en-US" dirty="0">
                <a:highlight>
                  <a:srgbClr val="FFFF00"/>
                </a:highlight>
              </a:rPr>
              <a:t> is rolled back otherwise the operation is executed.</a:t>
            </a:r>
          </a:p>
          <a:p>
            <a:endParaRPr lang="en-IN" dirty="0">
              <a:highlight>
                <a:srgbClr val="FFFF00"/>
              </a:highlight>
            </a:endParaRPr>
          </a:p>
        </p:txBody>
      </p:sp>
    </p:spTree>
    <p:extLst>
      <p:ext uri="{BB962C8B-B14F-4D97-AF65-F5344CB8AC3E}">
        <p14:creationId xmlns:p14="http://schemas.microsoft.com/office/powerpoint/2010/main" val="575629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Where, </a:t>
            </a:r>
          </a:p>
          <a:p>
            <a:r>
              <a:rPr lang="en-US" b="1" dirty="0"/>
              <a:t>TS(TI)</a:t>
            </a:r>
            <a:r>
              <a:rPr lang="en-US" dirty="0"/>
              <a:t> denotes the timestamp of the transaction </a:t>
            </a:r>
            <a:r>
              <a:rPr lang="en-US" dirty="0" err="1"/>
              <a:t>Ti</a:t>
            </a:r>
            <a:r>
              <a:rPr lang="en-US" dirty="0"/>
              <a:t>.</a:t>
            </a:r>
          </a:p>
          <a:p>
            <a:r>
              <a:rPr lang="en-US" b="1" dirty="0"/>
              <a:t>R_TS(X)</a:t>
            </a:r>
            <a:r>
              <a:rPr lang="en-US" dirty="0"/>
              <a:t> denotes the Read time-stamp of data-item X.</a:t>
            </a:r>
          </a:p>
          <a:p>
            <a:r>
              <a:rPr lang="en-US" b="1" dirty="0"/>
              <a:t>W_TS(X)</a:t>
            </a:r>
            <a:r>
              <a:rPr lang="en-US" dirty="0"/>
              <a:t> denotes the Write time-stamp of data-item X.</a:t>
            </a:r>
          </a:p>
          <a:p>
            <a:endParaRPr lang="en-IN" dirty="0"/>
          </a:p>
        </p:txBody>
      </p:sp>
    </p:spTree>
    <p:extLst>
      <p:ext uri="{BB962C8B-B14F-4D97-AF65-F5344CB8AC3E}">
        <p14:creationId xmlns:p14="http://schemas.microsoft.com/office/powerpoint/2010/main" val="2409926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Multi version concurrency control</a:t>
            </a:r>
            <a:endParaRPr lang="en-IN" dirty="0"/>
          </a:p>
        </p:txBody>
      </p:sp>
      <p:sp>
        <p:nvSpPr>
          <p:cNvPr id="3" name="Content Placeholder 2"/>
          <p:cNvSpPr>
            <a:spLocks noGrp="1"/>
          </p:cNvSpPr>
          <p:nvPr>
            <p:ph idx="1"/>
          </p:nvPr>
        </p:nvSpPr>
        <p:spPr/>
        <p:txBody>
          <a:bodyPr>
            <a:normAutofit/>
          </a:bodyPr>
          <a:lstStyle/>
          <a:p>
            <a:r>
              <a:rPr lang="en-US" sz="1800" b="1" dirty="0">
                <a:highlight>
                  <a:srgbClr val="FFFF00"/>
                </a:highlight>
              </a:rPr>
              <a:t>It is </a:t>
            </a:r>
            <a:r>
              <a:rPr lang="en-US" sz="1800" dirty="0">
                <a:highlight>
                  <a:srgbClr val="FFFF00"/>
                </a:highlight>
              </a:rPr>
              <a:t>a technique used in database management systems to handle concurrent operations without conflicts, using multiple versions of a data item. </a:t>
            </a:r>
            <a:r>
              <a:rPr lang="en-US" sz="1800" dirty="0"/>
              <a:t>Instead of locking the items for write operations (which can reduce concurrency and lead to bottlenecks or deadlocks), MVCC will create a separate version of the data item being modified.</a:t>
            </a:r>
            <a:endParaRPr lang="en-IN" sz="1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367" y="3140968"/>
            <a:ext cx="6430913" cy="346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2855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Breakdown of the Multi version concurrency control (MVCC)</a:t>
            </a:r>
            <a:br>
              <a:rPr lang="en-US" dirty="0"/>
            </a:br>
            <a:endParaRPr lang="en-IN" dirty="0"/>
          </a:p>
        </p:txBody>
      </p:sp>
      <p:sp>
        <p:nvSpPr>
          <p:cNvPr id="3" name="Content Placeholder 2"/>
          <p:cNvSpPr>
            <a:spLocks noGrp="1"/>
          </p:cNvSpPr>
          <p:nvPr>
            <p:ph idx="1"/>
          </p:nvPr>
        </p:nvSpPr>
        <p:spPr>
          <a:xfrm>
            <a:off x="457200" y="1600200"/>
            <a:ext cx="8435280" cy="4925144"/>
          </a:xfrm>
        </p:spPr>
        <p:txBody>
          <a:bodyPr>
            <a:normAutofit fontScale="55000" lnSpcReduction="20000"/>
          </a:bodyPr>
          <a:lstStyle/>
          <a:p>
            <a:r>
              <a:rPr lang="en-US" dirty="0"/>
              <a:t>Multiple Versions: When a transaction modifies a data item, instead of changing the item in place, it creates a new version of that item. This means that multiple versions of a database object can exist simultaneously.</a:t>
            </a:r>
          </a:p>
          <a:p>
            <a:r>
              <a:rPr lang="en-US" dirty="0"/>
              <a:t>Reads aren’t Blocked: One of the significant advantages of MVCC is that read operations don’t get blocked by write operations. When a transaction reads a data item, it sees a version of that item consistent with the last time it began a transaction or issued a read, even if other transactions are currently modifying that item.</a:t>
            </a:r>
          </a:p>
          <a:p>
            <a:r>
              <a:rPr lang="en-US" dirty="0"/>
              <a:t>Timestamps or Transaction IDs: Each version of a data item is tagged with a unique identifier, typically a timestamp or a transaction ID. This identifier determines which version of the data item a transaction sees when it accesses that item. A transaction will always see its own writes, even if they are uncommitted.</a:t>
            </a:r>
          </a:p>
          <a:p>
            <a:r>
              <a:rPr lang="en-US" dirty="0"/>
              <a:t>Garbage Collection: As transactions create newer versions of data items, older versions can become obsolete. There’s typically a background process that cleans up these old versions, a procedure often referred to as “garbage collection.”</a:t>
            </a:r>
          </a:p>
          <a:p>
            <a:r>
              <a:rPr lang="en-US" dirty="0"/>
              <a:t>Conflict Resolution: If two transactions try to modify the same data item concurrently, the system will need a way to resolve this. Different systems have different methods for conflict resolution. A common one is that the first transaction to commit will succeed, and the other transaction will be rolled back or will need to resolve the conflict before proceeding</a:t>
            </a:r>
            <a:endParaRPr lang="en-IN" dirty="0"/>
          </a:p>
        </p:txBody>
      </p:sp>
    </p:spTree>
    <p:extLst>
      <p:ext uri="{BB962C8B-B14F-4D97-AF65-F5344CB8AC3E}">
        <p14:creationId xmlns:p14="http://schemas.microsoft.com/office/powerpoint/2010/main" val="2553423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Validation Based Protocol</a:t>
            </a:r>
          </a:p>
        </p:txBody>
      </p:sp>
      <p:sp>
        <p:nvSpPr>
          <p:cNvPr id="3" name="Content Placeholder 2"/>
          <p:cNvSpPr>
            <a:spLocks noGrp="1"/>
          </p:cNvSpPr>
          <p:nvPr>
            <p:ph idx="1"/>
          </p:nvPr>
        </p:nvSpPr>
        <p:spPr/>
        <p:txBody>
          <a:bodyPr>
            <a:normAutofit fontScale="70000" lnSpcReduction="20000"/>
          </a:bodyPr>
          <a:lstStyle/>
          <a:p>
            <a:r>
              <a:rPr lang="en-US" dirty="0"/>
              <a:t>Validation phase is also known as optimistic concurrency control technique. </a:t>
            </a:r>
          </a:p>
          <a:p>
            <a:r>
              <a:rPr lang="en-US" dirty="0"/>
              <a:t>In the validation based protocol, the transaction is executed in the following three phases:</a:t>
            </a:r>
          </a:p>
          <a:p>
            <a:pPr lvl="1"/>
            <a:r>
              <a:rPr lang="en-US" b="1" dirty="0"/>
              <a:t>Read phase:</a:t>
            </a:r>
            <a:r>
              <a:rPr lang="en-US" dirty="0"/>
              <a:t> </a:t>
            </a:r>
          </a:p>
          <a:p>
            <a:pPr lvl="1"/>
            <a:r>
              <a:rPr lang="en-US" dirty="0"/>
              <a:t>In this phase, the transaction T is read and executed. It is used to read the value of various data items and stores them in temporary local variables. It can perform all the write operations on temporary variables without an update to the actual database.</a:t>
            </a:r>
          </a:p>
          <a:p>
            <a:pPr lvl="1"/>
            <a:r>
              <a:rPr lang="en-US" b="1" dirty="0"/>
              <a:t>Validation phase:</a:t>
            </a:r>
            <a:r>
              <a:rPr lang="en-US" dirty="0"/>
              <a:t> </a:t>
            </a:r>
          </a:p>
          <a:p>
            <a:pPr lvl="1"/>
            <a:r>
              <a:rPr lang="en-US" dirty="0"/>
              <a:t>In this phase, the temporary variable value will be validated against the actual data to see if it violates the </a:t>
            </a:r>
            <a:r>
              <a:rPr lang="en-US" dirty="0" err="1"/>
              <a:t>serializability</a:t>
            </a:r>
            <a:r>
              <a:rPr lang="en-US" dirty="0"/>
              <a:t>.</a:t>
            </a:r>
          </a:p>
          <a:p>
            <a:pPr lvl="1"/>
            <a:r>
              <a:rPr lang="en-US" b="1" dirty="0"/>
              <a:t>Write phase:</a:t>
            </a:r>
            <a:r>
              <a:rPr lang="en-US" dirty="0"/>
              <a:t> </a:t>
            </a:r>
          </a:p>
          <a:p>
            <a:pPr lvl="1"/>
            <a:r>
              <a:rPr lang="en-US" dirty="0"/>
              <a:t>If the validation of the transaction is validated, then the temporary results are written to the database or system otherwise the transaction is rolled back.</a:t>
            </a:r>
          </a:p>
          <a:p>
            <a:endParaRPr lang="en-IN" dirty="0"/>
          </a:p>
        </p:txBody>
      </p:sp>
    </p:spTree>
    <p:extLst>
      <p:ext uri="{BB962C8B-B14F-4D97-AF65-F5344CB8AC3E}">
        <p14:creationId xmlns:p14="http://schemas.microsoft.com/office/powerpoint/2010/main" val="268814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dirty="0"/>
              <a:t>Here each phase has the following different timestamps:</a:t>
            </a:r>
          </a:p>
          <a:p>
            <a:r>
              <a:rPr lang="en-US" b="1" dirty="0"/>
              <a:t>Start(</a:t>
            </a:r>
            <a:r>
              <a:rPr lang="en-US" b="1" dirty="0" err="1"/>
              <a:t>Ti</a:t>
            </a:r>
            <a:r>
              <a:rPr lang="en-US" b="1" dirty="0"/>
              <a:t>):</a:t>
            </a:r>
            <a:r>
              <a:rPr lang="en-US" dirty="0"/>
              <a:t> It contains the time when </a:t>
            </a:r>
            <a:r>
              <a:rPr lang="en-US" dirty="0" err="1"/>
              <a:t>Ti</a:t>
            </a:r>
            <a:r>
              <a:rPr lang="en-US" dirty="0"/>
              <a:t> started its execution.</a:t>
            </a:r>
          </a:p>
          <a:p>
            <a:r>
              <a:rPr lang="en-US" b="1" dirty="0"/>
              <a:t>Validation (</a:t>
            </a:r>
            <a:r>
              <a:rPr lang="en-US" b="1" dirty="0" err="1"/>
              <a:t>T</a:t>
            </a:r>
            <a:r>
              <a:rPr lang="en-US" b="1" baseline="-25000" dirty="0" err="1"/>
              <a:t>i</a:t>
            </a:r>
            <a:r>
              <a:rPr lang="en-US" b="1" dirty="0"/>
              <a:t>):</a:t>
            </a:r>
            <a:r>
              <a:rPr lang="en-US" dirty="0"/>
              <a:t> It contains the time when </a:t>
            </a:r>
            <a:r>
              <a:rPr lang="en-US" dirty="0" err="1"/>
              <a:t>Ti</a:t>
            </a:r>
            <a:r>
              <a:rPr lang="en-US" dirty="0"/>
              <a:t> finishes its read phase and starts its validation phase.</a:t>
            </a:r>
          </a:p>
          <a:p>
            <a:r>
              <a:rPr lang="en-US" b="1" dirty="0"/>
              <a:t>Finish(</a:t>
            </a:r>
            <a:r>
              <a:rPr lang="en-US" b="1" dirty="0" err="1"/>
              <a:t>Ti</a:t>
            </a:r>
            <a:r>
              <a:rPr lang="en-US" b="1" dirty="0"/>
              <a:t>):</a:t>
            </a:r>
            <a:r>
              <a:rPr lang="en-US" dirty="0"/>
              <a:t> It contains the time when </a:t>
            </a:r>
            <a:r>
              <a:rPr lang="en-US" dirty="0" err="1"/>
              <a:t>Ti</a:t>
            </a:r>
            <a:r>
              <a:rPr lang="en-US" dirty="0"/>
              <a:t> finishes its write phase</a:t>
            </a:r>
          </a:p>
          <a:p>
            <a:endParaRPr lang="en-US" dirty="0"/>
          </a:p>
          <a:p>
            <a:r>
              <a:rPr lang="en-US" dirty="0"/>
              <a:t>This protocol is used to determine the time stamp for the transaction for serialization using the time stamp of the validation phase, as it is the actual phase which determines if the transaction will commit or rollback.</a:t>
            </a:r>
          </a:p>
          <a:p>
            <a:r>
              <a:rPr lang="en-US" dirty="0"/>
              <a:t>Hence TS(T) = validation(T).</a:t>
            </a:r>
          </a:p>
          <a:p>
            <a:r>
              <a:rPr lang="en-US" dirty="0"/>
              <a:t>The </a:t>
            </a:r>
            <a:r>
              <a:rPr lang="en-US" dirty="0" err="1"/>
              <a:t>serializability</a:t>
            </a:r>
            <a:r>
              <a:rPr lang="en-US" dirty="0"/>
              <a:t> is determined during the validation process. It can't be decided in advance.</a:t>
            </a:r>
          </a:p>
          <a:p>
            <a:r>
              <a:rPr lang="en-US" dirty="0"/>
              <a:t>While executing the transaction, it ensures a greater degree of concurrency and also less number of conflicts.</a:t>
            </a:r>
          </a:p>
          <a:p>
            <a:r>
              <a:rPr lang="en-US" dirty="0"/>
              <a:t>Thus it contains transactions which have less number of rollbacks.</a:t>
            </a:r>
          </a:p>
          <a:p>
            <a:endParaRPr lang="en-IN" dirty="0"/>
          </a:p>
        </p:txBody>
      </p:sp>
    </p:spTree>
    <p:extLst>
      <p:ext uri="{BB962C8B-B14F-4D97-AF65-F5344CB8AC3E}">
        <p14:creationId xmlns:p14="http://schemas.microsoft.com/office/powerpoint/2010/main" val="837087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1FE92-9A21-F293-7D13-547B6D93D09F}"/>
              </a:ext>
            </a:extLst>
          </p:cNvPr>
          <p:cNvSpPr>
            <a:spLocks noGrp="1"/>
          </p:cNvSpPr>
          <p:nvPr>
            <p:ph type="title"/>
          </p:nvPr>
        </p:nvSpPr>
        <p:spPr/>
        <p:txBody>
          <a:bodyPr/>
          <a:lstStyle/>
          <a:p>
            <a:r>
              <a:rPr lang="en-IN" dirty="0"/>
              <a:t>Types of Locks</a:t>
            </a:r>
          </a:p>
        </p:txBody>
      </p:sp>
      <p:sp>
        <p:nvSpPr>
          <p:cNvPr id="3" name="Content Placeholder 2">
            <a:extLst>
              <a:ext uri="{FF2B5EF4-FFF2-40B4-BE49-F238E27FC236}">
                <a16:creationId xmlns:a16="http://schemas.microsoft.com/office/drawing/2014/main" id="{9B33BD41-1050-50D6-FB92-404B6E16BB4E}"/>
              </a:ext>
            </a:extLst>
          </p:cNvPr>
          <p:cNvSpPr>
            <a:spLocks noGrp="1"/>
          </p:cNvSpPr>
          <p:nvPr>
            <p:ph idx="1"/>
          </p:nvPr>
        </p:nvSpPr>
        <p:spPr>
          <a:xfrm>
            <a:off x="457200" y="1268760"/>
            <a:ext cx="8229600" cy="4857403"/>
          </a:xfrm>
        </p:spPr>
        <p:txBody>
          <a:bodyPr>
            <a:normAutofit/>
          </a:bodyPr>
          <a:lstStyle/>
          <a:p>
            <a:r>
              <a:rPr lang="en-US" b="1" dirty="0"/>
              <a:t>Binary Lock: </a:t>
            </a:r>
            <a:r>
              <a:rPr lang="en-US" dirty="0"/>
              <a:t>A data item is either locked (1) or unlocked (0).</a:t>
            </a:r>
          </a:p>
          <a:p>
            <a:r>
              <a:rPr lang="en-US" b="1" dirty="0"/>
              <a:t>Shared Lock (S-Lock):</a:t>
            </a:r>
            <a:r>
              <a:rPr lang="en-US" dirty="0"/>
              <a:t>Allows multiple transactions to read the data. Used for read-only operations.</a:t>
            </a:r>
          </a:p>
          <a:p>
            <a:r>
              <a:rPr lang="en-US" b="1" dirty="0"/>
              <a:t>Exclusive Lock (X-Lock):</a:t>
            </a:r>
            <a:r>
              <a:rPr lang="en-US" dirty="0"/>
              <a:t>Allows only one transaction to write/update. No other transaction can read/write until the lock is released.</a:t>
            </a:r>
            <a:endParaRPr lang="en-IN" dirty="0"/>
          </a:p>
        </p:txBody>
      </p:sp>
    </p:spTree>
    <p:extLst>
      <p:ext uri="{BB962C8B-B14F-4D97-AF65-F5344CB8AC3E}">
        <p14:creationId xmlns:p14="http://schemas.microsoft.com/office/powerpoint/2010/main" val="3192361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lock</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dirty="0"/>
              <a:t>Use binary locking in scenarios where:</a:t>
            </a:r>
          </a:p>
          <a:p>
            <a:r>
              <a:rPr lang="en-US" dirty="0"/>
              <a:t>You want a </a:t>
            </a:r>
            <a:r>
              <a:rPr lang="en-US" b="1" dirty="0"/>
              <a:t>simple lock mechanism</a:t>
            </a:r>
            <a:r>
              <a:rPr lang="en-US" dirty="0"/>
              <a:t> (either locked or unlocked).</a:t>
            </a:r>
          </a:p>
          <a:p>
            <a:r>
              <a:rPr lang="en-US" b="1" dirty="0"/>
              <a:t>Only one transaction</a:t>
            </a:r>
            <a:r>
              <a:rPr lang="en-US" dirty="0"/>
              <a:t> should access a data item at a time (no shared reading).</a:t>
            </a:r>
          </a:p>
          <a:p>
            <a:r>
              <a:rPr lang="en-US" dirty="0"/>
              <a:t>You are dealing with </a:t>
            </a:r>
            <a:r>
              <a:rPr lang="en-US" b="1" dirty="0"/>
              <a:t>basic concurrency control</a:t>
            </a:r>
            <a:r>
              <a:rPr lang="en-US" dirty="0"/>
              <a:t> in small or educational systems.</a:t>
            </a:r>
          </a:p>
          <a:p>
            <a:r>
              <a:rPr lang="en-US" dirty="0"/>
              <a:t>You don’t need </a:t>
            </a:r>
            <a:r>
              <a:rPr lang="en-US" b="1" dirty="0"/>
              <a:t>granular control</a:t>
            </a:r>
            <a:r>
              <a:rPr lang="en-US" dirty="0"/>
              <a:t> like allowing multiple readers (as in shared/exclusive locks).</a:t>
            </a:r>
          </a:p>
          <a:p>
            <a:endParaRPr lang="en-IN" dirty="0"/>
          </a:p>
        </p:txBody>
      </p:sp>
    </p:spTree>
    <p:extLst>
      <p:ext uri="{BB962C8B-B14F-4D97-AF65-F5344CB8AC3E}">
        <p14:creationId xmlns:p14="http://schemas.microsoft.com/office/powerpoint/2010/main" val="3902870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4DAFA-E28D-F997-6310-66D93241B426}"/>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2B6D02F-49E9-092A-11FC-53470B11D58E}"/>
              </a:ext>
            </a:extLst>
          </p:cNvPr>
          <p:cNvSpPr>
            <a:spLocks noGrp="1"/>
          </p:cNvSpPr>
          <p:nvPr>
            <p:ph idx="1"/>
          </p:nvPr>
        </p:nvSpPr>
        <p:spPr/>
        <p:txBody>
          <a:bodyPr>
            <a:normAutofit fontScale="92500" lnSpcReduction="10000"/>
          </a:bodyPr>
          <a:lstStyle/>
          <a:p>
            <a:r>
              <a:rPr lang="en-US" dirty="0"/>
              <a:t>Assume two transactions T1 and T2 are trying to access the same account balance record.</a:t>
            </a:r>
          </a:p>
          <a:p>
            <a:pPr>
              <a:buNone/>
            </a:pPr>
            <a:r>
              <a:rPr lang="en-US" b="1" dirty="0"/>
              <a:t>Initial state:</a:t>
            </a:r>
          </a:p>
          <a:p>
            <a:r>
              <a:rPr lang="en-US" dirty="0"/>
              <a:t>Account balance: ₹1000</a:t>
            </a:r>
          </a:p>
          <a:p>
            <a:pPr marL="0" indent="0">
              <a:buNone/>
            </a:pPr>
            <a:r>
              <a:rPr lang="en-IN" b="1" dirty="0"/>
              <a:t>Transaction T1:</a:t>
            </a:r>
          </a:p>
          <a:p>
            <a:pPr marL="0" indent="0">
              <a:buNone/>
            </a:pPr>
            <a:r>
              <a:rPr lang="en-US" b="1" dirty="0"/>
              <a:t>BEGIN;</a:t>
            </a:r>
          </a:p>
          <a:p>
            <a:pPr marL="0" indent="0">
              <a:buNone/>
            </a:pPr>
            <a:r>
              <a:rPr lang="en-US" b="1" dirty="0"/>
              <a:t>SELECT balance FROM account WHERE </a:t>
            </a:r>
            <a:r>
              <a:rPr lang="en-US" b="1" dirty="0" err="1"/>
              <a:t>acc_id</a:t>
            </a:r>
            <a:r>
              <a:rPr lang="en-US" b="1" dirty="0"/>
              <a:t> = 1;</a:t>
            </a:r>
          </a:p>
          <a:p>
            <a:pPr marL="0" indent="0">
              <a:buNone/>
            </a:pPr>
            <a:r>
              <a:rPr lang="en-US" dirty="0">
                <a:solidFill>
                  <a:schemeClr val="accent3">
                    <a:lumMod val="75000"/>
                  </a:schemeClr>
                </a:solidFill>
              </a:rPr>
              <a:t>-- wants to read balance</a:t>
            </a:r>
          </a:p>
          <a:p>
            <a:pPr marL="0" indent="0">
              <a:buNone/>
            </a:pPr>
            <a:r>
              <a:rPr lang="en-US" dirty="0">
                <a:solidFill>
                  <a:schemeClr val="accent3">
                    <a:lumMod val="75000"/>
                  </a:schemeClr>
                </a:solidFill>
              </a:rPr>
              <a:t>-- acquires Shared Lock (S-Lock)</a:t>
            </a:r>
            <a:endParaRPr lang="en-IN" dirty="0">
              <a:solidFill>
                <a:schemeClr val="accent3">
                  <a:lumMod val="75000"/>
                </a:schemeClr>
              </a:solidFill>
            </a:endParaRPr>
          </a:p>
        </p:txBody>
      </p:sp>
    </p:spTree>
    <p:extLst>
      <p:ext uri="{BB962C8B-B14F-4D97-AF65-F5344CB8AC3E}">
        <p14:creationId xmlns:p14="http://schemas.microsoft.com/office/powerpoint/2010/main" val="3680601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B39449-A6CF-A81B-78FB-E2B0B5AF600F}"/>
              </a:ext>
            </a:extLst>
          </p:cNvPr>
          <p:cNvSpPr>
            <a:spLocks noGrp="1"/>
          </p:cNvSpPr>
          <p:nvPr>
            <p:ph idx="1"/>
          </p:nvPr>
        </p:nvSpPr>
        <p:spPr>
          <a:xfrm>
            <a:off x="467544" y="476672"/>
            <a:ext cx="8219256" cy="5649491"/>
          </a:xfrm>
        </p:spPr>
        <p:txBody>
          <a:bodyPr>
            <a:normAutofit lnSpcReduction="10000"/>
          </a:bodyPr>
          <a:lstStyle/>
          <a:p>
            <a:pPr marL="0" indent="0">
              <a:buNone/>
            </a:pPr>
            <a:r>
              <a:rPr lang="en-IN" b="1" dirty="0"/>
              <a:t>Transaction T2:</a:t>
            </a:r>
          </a:p>
          <a:p>
            <a:pPr marL="0" indent="0">
              <a:buNone/>
            </a:pPr>
            <a:r>
              <a:rPr lang="en-US" b="1" dirty="0"/>
              <a:t>BEGIN;</a:t>
            </a:r>
          </a:p>
          <a:p>
            <a:pPr marL="0" indent="0">
              <a:buNone/>
            </a:pPr>
            <a:r>
              <a:rPr lang="en-US" b="1" dirty="0"/>
              <a:t>UPDATE account SET balance = balance - 500 WHERE </a:t>
            </a:r>
            <a:r>
              <a:rPr lang="en-US" b="1" dirty="0" err="1"/>
              <a:t>acc_id</a:t>
            </a:r>
            <a:r>
              <a:rPr lang="en-US" b="1" dirty="0"/>
              <a:t> = 1;</a:t>
            </a:r>
          </a:p>
          <a:p>
            <a:pPr marL="0" indent="0">
              <a:buNone/>
            </a:pPr>
            <a:r>
              <a:rPr lang="en-US" dirty="0">
                <a:solidFill>
                  <a:schemeClr val="accent3">
                    <a:lumMod val="75000"/>
                  </a:schemeClr>
                </a:solidFill>
              </a:rPr>
              <a:t>-- wants to write/update balance</a:t>
            </a:r>
          </a:p>
          <a:p>
            <a:pPr marL="0" indent="0">
              <a:buNone/>
            </a:pPr>
            <a:r>
              <a:rPr lang="en-US" dirty="0">
                <a:solidFill>
                  <a:schemeClr val="accent3">
                    <a:lumMod val="75000"/>
                  </a:schemeClr>
                </a:solidFill>
              </a:rPr>
              <a:t>--needs Exclusive Lock (X-Lock)</a:t>
            </a:r>
          </a:p>
          <a:p>
            <a:pPr>
              <a:buNone/>
            </a:pPr>
            <a:r>
              <a:rPr lang="en-US" dirty="0"/>
              <a:t>Since T1 holds a </a:t>
            </a:r>
            <a:r>
              <a:rPr lang="en-US" b="1" dirty="0"/>
              <a:t>shared lock</a:t>
            </a:r>
            <a:r>
              <a:rPr lang="en-US" dirty="0"/>
              <a:t>, T2 must </a:t>
            </a:r>
            <a:r>
              <a:rPr lang="en-US" b="1" dirty="0"/>
              <a:t>wait</a:t>
            </a:r>
            <a:r>
              <a:rPr lang="en-US" dirty="0"/>
              <a:t> until T1 </a:t>
            </a:r>
            <a:r>
              <a:rPr lang="en-US" b="1" dirty="0"/>
              <a:t>releases</a:t>
            </a:r>
            <a:r>
              <a:rPr lang="en-US" dirty="0"/>
              <a:t> the lock. This ensures:</a:t>
            </a:r>
          </a:p>
          <a:p>
            <a:pPr>
              <a:buFont typeface="Arial" panose="020B0604020202020204" pitchFamily="34" charset="0"/>
              <a:buChar char="•"/>
            </a:pPr>
            <a:r>
              <a:rPr lang="en-US" dirty="0"/>
              <a:t>T2 does </a:t>
            </a:r>
            <a:r>
              <a:rPr lang="en-US" b="1" dirty="0"/>
              <a:t>not update</a:t>
            </a:r>
            <a:r>
              <a:rPr lang="en-US" dirty="0"/>
              <a:t> while T1 is reading.</a:t>
            </a:r>
          </a:p>
          <a:p>
            <a:pPr>
              <a:buFont typeface="Arial" panose="020B0604020202020204" pitchFamily="34" charset="0"/>
              <a:buChar char="•"/>
            </a:pPr>
            <a:r>
              <a:rPr lang="en-US" dirty="0"/>
              <a:t>T1 does </a:t>
            </a:r>
            <a:r>
              <a:rPr lang="en-US" b="1" dirty="0"/>
              <a:t>not read dirty data</a:t>
            </a:r>
            <a:r>
              <a:rPr lang="en-US" dirty="0"/>
              <a:t> while T2 is updating.</a:t>
            </a:r>
          </a:p>
          <a:p>
            <a:pPr>
              <a:buFont typeface="Wingdings" panose="05000000000000000000" pitchFamily="2" charset="2"/>
              <a:buChar char="n"/>
            </a:pPr>
            <a:endParaRPr lang="en-IN" dirty="0">
              <a:solidFill>
                <a:schemeClr val="accent3">
                  <a:lumMod val="75000"/>
                </a:schemeClr>
              </a:solidFill>
            </a:endParaRPr>
          </a:p>
        </p:txBody>
      </p:sp>
    </p:spTree>
    <p:extLst>
      <p:ext uri="{BB962C8B-B14F-4D97-AF65-F5344CB8AC3E}">
        <p14:creationId xmlns:p14="http://schemas.microsoft.com/office/powerpoint/2010/main" val="985511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60D928-A712-9D80-A81D-22CDD39080C8}"/>
              </a:ext>
            </a:extLst>
          </p:cNvPr>
          <p:cNvSpPr>
            <a:spLocks noGrp="1"/>
          </p:cNvSpPr>
          <p:nvPr>
            <p:ph idx="1"/>
          </p:nvPr>
        </p:nvSpPr>
        <p:spPr>
          <a:xfrm>
            <a:off x="539552" y="1124744"/>
            <a:ext cx="8147248" cy="5001419"/>
          </a:xfrm>
        </p:spPr>
        <p:txBody>
          <a:bodyPr/>
          <a:lstStyle/>
          <a:p>
            <a:pPr>
              <a:buNone/>
            </a:pPr>
            <a:r>
              <a:rPr lang="en-US" b="1" dirty="0"/>
              <a:t>Lock Release</a:t>
            </a:r>
          </a:p>
          <a:p>
            <a:pPr>
              <a:buFont typeface="Arial" panose="020B0604020202020204" pitchFamily="34" charset="0"/>
              <a:buChar char="•"/>
            </a:pPr>
            <a:r>
              <a:rPr lang="en-US" dirty="0"/>
              <a:t>Locks are released when a </a:t>
            </a:r>
            <a:r>
              <a:rPr lang="en-US" b="1" dirty="0"/>
              <a:t>transaction commits or rolls back</a:t>
            </a:r>
            <a:r>
              <a:rPr lang="en-US" dirty="0"/>
              <a:t>.</a:t>
            </a:r>
          </a:p>
          <a:p>
            <a:pPr>
              <a:buFont typeface="Arial" panose="020B0604020202020204" pitchFamily="34" charset="0"/>
              <a:buChar char="•"/>
            </a:pPr>
            <a:r>
              <a:rPr lang="en-US" b="1" dirty="0">
                <a:highlight>
                  <a:srgbClr val="FFFF00"/>
                </a:highlight>
              </a:rPr>
              <a:t>Two-Phase Locking (2PL)</a:t>
            </a:r>
            <a:r>
              <a:rPr lang="en-US" dirty="0">
                <a:highlight>
                  <a:srgbClr val="FFFF00"/>
                </a:highlight>
              </a:rPr>
              <a:t> ensures serializability:</a:t>
            </a:r>
          </a:p>
          <a:p>
            <a:pPr marL="742950" lvl="1" indent="-285750">
              <a:buFont typeface="Arial" panose="020B0604020202020204" pitchFamily="34" charset="0"/>
              <a:buChar char="•"/>
            </a:pPr>
            <a:r>
              <a:rPr lang="en-US" b="1" dirty="0">
                <a:highlight>
                  <a:srgbClr val="FFFF00"/>
                </a:highlight>
              </a:rPr>
              <a:t>Growing phase</a:t>
            </a:r>
            <a:r>
              <a:rPr lang="en-US" dirty="0">
                <a:highlight>
                  <a:srgbClr val="FFFF00"/>
                </a:highlight>
              </a:rPr>
              <a:t>: Locks acquired, no release.</a:t>
            </a:r>
          </a:p>
          <a:p>
            <a:pPr marL="742950" lvl="1" indent="-285750">
              <a:buFont typeface="Arial" panose="020B0604020202020204" pitchFamily="34" charset="0"/>
              <a:buChar char="•"/>
            </a:pPr>
            <a:r>
              <a:rPr lang="en-US" b="1" dirty="0">
                <a:highlight>
                  <a:srgbClr val="FFFF00"/>
                </a:highlight>
              </a:rPr>
              <a:t>Shrinking phase</a:t>
            </a:r>
            <a:r>
              <a:rPr lang="en-US" dirty="0">
                <a:highlight>
                  <a:srgbClr val="FFFF00"/>
                </a:highlight>
              </a:rPr>
              <a:t>: Locks released, no acquisition.</a:t>
            </a:r>
          </a:p>
          <a:p>
            <a:endParaRPr lang="en-IN" dirty="0"/>
          </a:p>
        </p:txBody>
      </p:sp>
    </p:spTree>
    <p:extLst>
      <p:ext uri="{BB962C8B-B14F-4D97-AF65-F5344CB8AC3E}">
        <p14:creationId xmlns:p14="http://schemas.microsoft.com/office/powerpoint/2010/main" val="767878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a:t>
            </a:r>
            <a:endParaRPr lang="en-IN" dirty="0"/>
          </a:p>
        </p:txBody>
      </p:sp>
      <p:sp>
        <p:nvSpPr>
          <p:cNvPr id="3" name="Content Placeholder 2"/>
          <p:cNvSpPr>
            <a:spLocks noGrp="1"/>
          </p:cNvSpPr>
          <p:nvPr>
            <p:ph idx="1"/>
          </p:nvPr>
        </p:nvSpPr>
        <p:spPr>
          <a:xfrm>
            <a:off x="457200" y="1433795"/>
            <a:ext cx="8229600" cy="4525963"/>
          </a:xfrm>
        </p:spPr>
        <p:txBody>
          <a:bodyPr>
            <a:normAutofit/>
          </a:bodyPr>
          <a:lstStyle/>
          <a:p>
            <a:r>
              <a:rPr lang="en-US" dirty="0">
                <a:highlight>
                  <a:srgbClr val="FFFF00"/>
                </a:highlight>
              </a:rPr>
              <a:t>A deadlock is a condition where two or more transactions are waiting indefinitely for one another to give up locks. </a:t>
            </a:r>
          </a:p>
          <a:p>
            <a:endParaRPr lang="en-US" dirty="0"/>
          </a:p>
          <a:p>
            <a:r>
              <a:rPr lang="en-US" dirty="0"/>
              <a:t>Deadlock is said to be one of the most feared complications in DBMS as no task ever gets finished and is in waiting state forever.</a:t>
            </a:r>
          </a:p>
          <a:p>
            <a:endParaRPr lang="en-IN" dirty="0"/>
          </a:p>
        </p:txBody>
      </p:sp>
    </p:spTree>
    <p:extLst>
      <p:ext uri="{BB962C8B-B14F-4D97-AF65-F5344CB8AC3E}">
        <p14:creationId xmlns:p14="http://schemas.microsoft.com/office/powerpoint/2010/main" val="625250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7E5AD-978C-2FCD-B4D2-C83AA3CF8326}"/>
              </a:ext>
            </a:extLst>
          </p:cNvPr>
          <p:cNvSpPr>
            <a:spLocks noGrp="1"/>
          </p:cNvSpPr>
          <p:nvPr>
            <p:ph type="title"/>
          </p:nvPr>
        </p:nvSpPr>
        <p:spPr>
          <a:xfrm>
            <a:off x="457200" y="274638"/>
            <a:ext cx="8229600" cy="457199"/>
          </a:xfrm>
        </p:spPr>
        <p:txBody>
          <a:bodyPr>
            <a:normAutofit fontScale="90000"/>
          </a:bodyPr>
          <a:lstStyle/>
          <a:p>
            <a:r>
              <a:rPr lang="en-US" dirty="0"/>
              <a:t>Example</a:t>
            </a:r>
            <a:endParaRPr lang="en-IN" dirty="0"/>
          </a:p>
        </p:txBody>
      </p:sp>
      <p:sp>
        <p:nvSpPr>
          <p:cNvPr id="3" name="Content Placeholder 2">
            <a:extLst>
              <a:ext uri="{FF2B5EF4-FFF2-40B4-BE49-F238E27FC236}">
                <a16:creationId xmlns:a16="http://schemas.microsoft.com/office/drawing/2014/main" id="{4870DEE0-B0CF-3F0F-DEDD-D6E29C185FCB}"/>
              </a:ext>
            </a:extLst>
          </p:cNvPr>
          <p:cNvSpPr>
            <a:spLocks noGrp="1"/>
          </p:cNvSpPr>
          <p:nvPr>
            <p:ph idx="1"/>
          </p:nvPr>
        </p:nvSpPr>
        <p:spPr>
          <a:xfrm>
            <a:off x="457200" y="908720"/>
            <a:ext cx="8229600" cy="4525963"/>
          </a:xfrm>
        </p:spPr>
        <p:txBody>
          <a:bodyPr>
            <a:normAutofit/>
          </a:bodyPr>
          <a:lstStyle/>
          <a:p>
            <a:r>
              <a:rPr lang="en-US" sz="2800" b="0" i="0" dirty="0">
                <a:solidFill>
                  <a:srgbClr val="333333"/>
                </a:solidFill>
                <a:effectLst/>
                <a:latin typeface="Inter-Regular"/>
              </a:rPr>
              <a:t>In the student table, transaction T1 holds a lock on some rows and needs to update some rows in the grade table. </a:t>
            </a:r>
          </a:p>
          <a:p>
            <a:r>
              <a:rPr lang="en-US" sz="2800" b="0" i="0" dirty="0">
                <a:solidFill>
                  <a:srgbClr val="333333"/>
                </a:solidFill>
                <a:effectLst/>
                <a:latin typeface="Inter-Regular"/>
              </a:rPr>
              <a:t>Simultaneously, transaction T2 holds locks on some rows in the grade table and needs to update the rows in the Student table held by Transaction T1.</a:t>
            </a:r>
            <a:endParaRPr lang="en-IN" sz="2800" dirty="0"/>
          </a:p>
        </p:txBody>
      </p:sp>
      <p:pic>
        <p:nvPicPr>
          <p:cNvPr id="3076" name="Picture 4" descr="Deadlock in DBMS">
            <a:extLst>
              <a:ext uri="{FF2B5EF4-FFF2-40B4-BE49-F238E27FC236}">
                <a16:creationId xmlns:a16="http://schemas.microsoft.com/office/drawing/2014/main" id="{F5EF3CA1-F865-BCD1-C3E0-2FED89F614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3861048"/>
            <a:ext cx="4083183" cy="2636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085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Deadlock Avoidance</a:t>
            </a:r>
            <a:endParaRPr lang="en-IN" dirty="0"/>
          </a:p>
        </p:txBody>
      </p:sp>
      <p:sp>
        <p:nvSpPr>
          <p:cNvPr id="3" name="Content Placeholder 2"/>
          <p:cNvSpPr>
            <a:spLocks noGrp="1"/>
          </p:cNvSpPr>
          <p:nvPr>
            <p:ph idx="1"/>
          </p:nvPr>
        </p:nvSpPr>
        <p:spPr/>
        <p:txBody>
          <a:bodyPr>
            <a:normAutofit fontScale="85000" lnSpcReduction="20000"/>
          </a:bodyPr>
          <a:lstStyle/>
          <a:p>
            <a:r>
              <a:rPr lang="en-US" dirty="0"/>
              <a:t>When a database is stuck in a deadlock state, then it is better to avoid the database rather than aborting or restating the database. </a:t>
            </a:r>
          </a:p>
          <a:p>
            <a:r>
              <a:rPr lang="en-US" dirty="0"/>
              <a:t>This is a waste of time and resource.</a:t>
            </a:r>
          </a:p>
          <a:p>
            <a:r>
              <a:rPr lang="en-US" b="0" i="0" dirty="0">
                <a:effectLst/>
                <a:highlight>
                  <a:srgbClr val="FFFF00"/>
                </a:highlight>
                <a:latin typeface="Inter"/>
              </a:rPr>
              <a:t>Deadlock Avoidance is a strategy used in database management systems and operating systems to ensure that deadlock situations are prevented before they occur. </a:t>
            </a:r>
          </a:p>
          <a:p>
            <a:r>
              <a:rPr lang="en-US" b="0" i="0" dirty="0">
                <a:effectLst/>
                <a:highlight>
                  <a:srgbClr val="FFFF00"/>
                </a:highlight>
                <a:latin typeface="Inter"/>
              </a:rPr>
              <a:t>Unlike deadlock detection, which deals with resolving deadlocks after they happen, deadlock avoidance proactively manages resource allocation to avoid the circular wait condition that leads to deadlock.</a:t>
            </a:r>
            <a:endParaRPr lang="en-US" dirty="0">
              <a:highlight>
                <a:srgbClr val="FFFF00"/>
              </a:highlight>
            </a:endParaRPr>
          </a:p>
          <a:p>
            <a:endParaRPr lang="en-IN" dirty="0"/>
          </a:p>
        </p:txBody>
      </p:sp>
    </p:spTree>
    <p:extLst>
      <p:ext uri="{BB962C8B-B14F-4D97-AF65-F5344CB8AC3E}">
        <p14:creationId xmlns:p14="http://schemas.microsoft.com/office/powerpoint/2010/main" val="3342556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C40A-2C06-A448-BF79-819038EB69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5E58D4-7AFA-6215-DAA9-DF048FF67643}"/>
              </a:ext>
            </a:extLst>
          </p:cNvPr>
          <p:cNvSpPr>
            <a:spLocks noGrp="1"/>
          </p:cNvSpPr>
          <p:nvPr>
            <p:ph idx="1"/>
          </p:nvPr>
        </p:nvSpPr>
        <p:spPr/>
        <p:txBody>
          <a:bodyPr>
            <a:normAutofit lnSpcReduction="10000"/>
          </a:bodyPr>
          <a:lstStyle/>
          <a:p>
            <a:pPr algn="l">
              <a:buNone/>
            </a:pPr>
            <a:r>
              <a:rPr lang="en-US" b="0" i="0" dirty="0">
                <a:effectLst/>
                <a:highlight>
                  <a:srgbClr val="FFFF00"/>
                </a:highlight>
                <a:latin typeface="Inter"/>
              </a:rPr>
              <a:t>Key principles of deadlock avoidance include:</a:t>
            </a:r>
          </a:p>
          <a:p>
            <a:pPr algn="l">
              <a:buFont typeface="Arial" panose="020B0604020202020204" pitchFamily="34" charset="0"/>
              <a:buChar char="•"/>
            </a:pPr>
            <a:r>
              <a:rPr lang="en-US" b="1" i="0" dirty="0">
                <a:effectLst/>
                <a:highlight>
                  <a:srgbClr val="FFFF00"/>
                </a:highlight>
                <a:latin typeface="Tasaorbiterdeck Bold"/>
              </a:rPr>
              <a:t>Safe State</a:t>
            </a:r>
            <a:r>
              <a:rPr lang="en-US" b="0" i="0" dirty="0">
                <a:effectLst/>
                <a:highlight>
                  <a:srgbClr val="FFFF00"/>
                </a:highlight>
                <a:latin typeface="Inter"/>
              </a:rPr>
              <a:t>: The system always checks for a "safe state," meaning a sequence of process executions where each process can eventually complete without causing deadlock.</a:t>
            </a:r>
          </a:p>
          <a:p>
            <a:pPr algn="l">
              <a:buFont typeface="Arial" panose="020B0604020202020204" pitchFamily="34" charset="0"/>
              <a:buChar char="•"/>
            </a:pPr>
            <a:r>
              <a:rPr lang="en-US" b="1" i="0" dirty="0">
                <a:effectLst/>
                <a:highlight>
                  <a:srgbClr val="FFFF00"/>
                </a:highlight>
                <a:latin typeface="Tasaorbiterdeck Bold"/>
              </a:rPr>
              <a:t>Resource Allocation Decisions</a:t>
            </a:r>
            <a:r>
              <a:rPr lang="en-US" b="0" i="0" dirty="0">
                <a:effectLst/>
                <a:highlight>
                  <a:srgbClr val="FFFF00"/>
                </a:highlight>
                <a:latin typeface="Inter"/>
              </a:rPr>
              <a:t>: Resources are allocated in such a way that the system avoids creating conditions that could lead to a deadlock.</a:t>
            </a:r>
          </a:p>
          <a:p>
            <a:endParaRPr lang="en-IN" dirty="0">
              <a:highlight>
                <a:srgbClr val="FFFF00"/>
              </a:highlight>
            </a:endParaRPr>
          </a:p>
        </p:txBody>
      </p:sp>
    </p:spTree>
    <p:extLst>
      <p:ext uri="{BB962C8B-B14F-4D97-AF65-F5344CB8AC3E}">
        <p14:creationId xmlns:p14="http://schemas.microsoft.com/office/powerpoint/2010/main" val="2568403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Deadlock Detection</a:t>
            </a:r>
          </a:p>
        </p:txBody>
      </p:sp>
      <p:sp>
        <p:nvSpPr>
          <p:cNvPr id="3" name="Content Placeholder 2"/>
          <p:cNvSpPr>
            <a:spLocks noGrp="1"/>
          </p:cNvSpPr>
          <p:nvPr>
            <p:ph idx="1"/>
          </p:nvPr>
        </p:nvSpPr>
        <p:spPr/>
        <p:txBody>
          <a:bodyPr>
            <a:normAutofit fontScale="92500" lnSpcReduction="20000"/>
          </a:bodyPr>
          <a:lstStyle/>
          <a:p>
            <a:r>
              <a:rPr lang="en-US" dirty="0"/>
              <a:t>In a database, when a transaction waits indefinitely to obtain a lock, then the DBMS should detect whether the </a:t>
            </a:r>
            <a:r>
              <a:rPr lang="en-US" dirty="0">
                <a:highlight>
                  <a:srgbClr val="FFFF00"/>
                </a:highlight>
              </a:rPr>
              <a:t>transaction is involved in a deadlock or not. </a:t>
            </a:r>
          </a:p>
          <a:p>
            <a:r>
              <a:rPr lang="en-US" b="0" i="0" dirty="0">
                <a:effectLst/>
                <a:latin typeface="Inter"/>
              </a:rPr>
              <a:t>Unlike deadlock avoidance, which tries to prevent deadlocks from happening in the first place, </a:t>
            </a:r>
            <a:r>
              <a:rPr lang="en-US" b="0" i="0" dirty="0">
                <a:effectLst/>
                <a:highlight>
                  <a:srgbClr val="FFFF00"/>
                </a:highlight>
                <a:latin typeface="Inter"/>
              </a:rPr>
              <a:t>deadlock detection focuses on recognizing deadlock situations once they occur so they can be resolved.</a:t>
            </a:r>
            <a:endParaRPr lang="en-US" dirty="0">
              <a:highlight>
                <a:srgbClr val="FFFF00"/>
              </a:highlight>
            </a:endParaRPr>
          </a:p>
          <a:p>
            <a:r>
              <a:rPr lang="en-US" dirty="0">
                <a:highlight>
                  <a:srgbClr val="FFFF00"/>
                </a:highlight>
              </a:rPr>
              <a:t>The lock manager maintains a Wait for the graph to detect the deadlock cycle in the database.</a:t>
            </a:r>
            <a:endParaRPr lang="en-IN" dirty="0">
              <a:highlight>
                <a:srgbClr val="FFFF00"/>
              </a:highlight>
            </a:endParaRPr>
          </a:p>
        </p:txBody>
      </p:sp>
    </p:spTree>
    <p:extLst>
      <p:ext uri="{BB962C8B-B14F-4D97-AF65-F5344CB8AC3E}">
        <p14:creationId xmlns:p14="http://schemas.microsoft.com/office/powerpoint/2010/main" val="2653351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B4C347-6640-C908-60EA-E5F68B985A29}"/>
              </a:ext>
            </a:extLst>
          </p:cNvPr>
          <p:cNvSpPr>
            <a:spLocks noGrp="1"/>
          </p:cNvSpPr>
          <p:nvPr>
            <p:ph type="title"/>
          </p:nvPr>
        </p:nvSpPr>
        <p:spPr>
          <a:xfrm>
            <a:off x="457200" y="274638"/>
            <a:ext cx="8229600" cy="457199"/>
          </a:xfrm>
        </p:spPr>
        <p:txBody>
          <a:bodyPr>
            <a:normAutofit fontScale="90000"/>
          </a:bodyPr>
          <a:lstStyle/>
          <a:p>
            <a:r>
              <a:rPr lang="en-IN" b="1" i="0" dirty="0">
                <a:effectLst/>
                <a:latin typeface="Tasaorbiterdeck Bold"/>
              </a:rPr>
              <a:t>Resource Allocation Graph (RAG)</a:t>
            </a:r>
            <a:endParaRPr lang="en-IN" dirty="0"/>
          </a:p>
        </p:txBody>
      </p:sp>
      <p:sp>
        <p:nvSpPr>
          <p:cNvPr id="3" name="Content Placeholder 2"/>
          <p:cNvSpPr>
            <a:spLocks noGrp="1"/>
          </p:cNvSpPr>
          <p:nvPr>
            <p:ph idx="1"/>
          </p:nvPr>
        </p:nvSpPr>
        <p:spPr>
          <a:xfrm>
            <a:off x="457200" y="1196752"/>
            <a:ext cx="8229600" cy="4929411"/>
          </a:xfrm>
        </p:spPr>
        <p:txBody>
          <a:bodyPr>
            <a:normAutofit/>
          </a:bodyPr>
          <a:lstStyle/>
          <a:p>
            <a:pPr fontAlgn="base"/>
            <a:r>
              <a:rPr lang="en-US" sz="2800" b="0" i="0" dirty="0">
                <a:effectLst/>
                <a:highlight>
                  <a:srgbClr val="FFFF00"/>
                </a:highlight>
                <a:latin typeface="Inter"/>
              </a:rPr>
              <a:t>A common approach to detect deadlocks is to maintain a Resource Allocation Graph. </a:t>
            </a:r>
          </a:p>
          <a:p>
            <a:pPr fontAlgn="base"/>
            <a:r>
              <a:rPr lang="en-US" sz="2800" b="0" i="0" dirty="0">
                <a:effectLst/>
                <a:highlight>
                  <a:srgbClr val="FFFF00"/>
                </a:highlight>
                <a:latin typeface="Inter"/>
              </a:rPr>
              <a:t>This graph represents processes and resources as nodes, and the edges indicate the relationships (e.g., a process holding a resource or requesting a resource).</a:t>
            </a:r>
            <a:endParaRPr lang="en-US" sz="2800" dirty="0">
              <a:highlight>
                <a:srgbClr val="FFFF00"/>
              </a:highlight>
            </a:endParaRPr>
          </a:p>
          <a:p>
            <a:endParaRPr lang="en-IN" sz="2800" dirty="0">
              <a:highlight>
                <a:srgbClr val="FFFF00"/>
              </a:highlight>
            </a:endParaRPr>
          </a:p>
        </p:txBody>
      </p:sp>
      <p:pic>
        <p:nvPicPr>
          <p:cNvPr id="5" name="Picture 4">
            <a:extLst>
              <a:ext uri="{FF2B5EF4-FFF2-40B4-BE49-F238E27FC236}">
                <a16:creationId xmlns:a16="http://schemas.microsoft.com/office/drawing/2014/main" id="{33B4379F-9DAF-FD66-6C51-67C373DCFF27}"/>
              </a:ext>
            </a:extLst>
          </p:cNvPr>
          <p:cNvPicPr>
            <a:picLocks noChangeAspect="1"/>
          </p:cNvPicPr>
          <p:nvPr/>
        </p:nvPicPr>
        <p:blipFill>
          <a:blip r:embed="rId2"/>
          <a:stretch>
            <a:fillRect/>
          </a:stretch>
        </p:blipFill>
        <p:spPr>
          <a:xfrm>
            <a:off x="2411760" y="3861048"/>
            <a:ext cx="4876800" cy="24003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11448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74638"/>
            <a:ext cx="8075240" cy="418058"/>
          </a:xfrm>
        </p:spPr>
        <p:txBody>
          <a:bodyPr>
            <a:normAutofit fontScale="90000"/>
          </a:bodyPr>
          <a:lstStyle/>
          <a:p>
            <a:r>
              <a:rPr lang="en-US" dirty="0"/>
              <a:t>Wait-for-Graph</a:t>
            </a:r>
            <a:endParaRPr lang="en-IN" dirty="0"/>
          </a:p>
        </p:txBody>
      </p:sp>
      <p:sp>
        <p:nvSpPr>
          <p:cNvPr id="3" name="Content Placeholder 2"/>
          <p:cNvSpPr>
            <a:spLocks noGrp="1"/>
          </p:cNvSpPr>
          <p:nvPr>
            <p:ph idx="1"/>
          </p:nvPr>
        </p:nvSpPr>
        <p:spPr>
          <a:xfrm>
            <a:off x="395536" y="908720"/>
            <a:ext cx="8424936" cy="5544616"/>
          </a:xfrm>
        </p:spPr>
        <p:txBody>
          <a:bodyPr>
            <a:normAutofit fontScale="70000" lnSpcReduction="20000"/>
          </a:bodyPr>
          <a:lstStyle/>
          <a:p>
            <a:r>
              <a:rPr lang="en-US" dirty="0"/>
              <a:t>This is the suitable method for deadlock detection. In this method, a graph is created based on the transaction and their lock. If the created graph has a cycle or closed loop, then there is a deadlock.</a:t>
            </a:r>
          </a:p>
          <a:p>
            <a:endParaRPr lang="en-US" dirty="0"/>
          </a:p>
          <a:p>
            <a:r>
              <a:rPr lang="en-US" dirty="0"/>
              <a:t>The wait for the graph is maintained by the system for every transaction which is waiting for some data held by the others. The system keeps checking the graph if there is any cycle in the graph.</a:t>
            </a:r>
          </a:p>
          <a:p>
            <a:endParaRPr lang="en-US" dirty="0"/>
          </a:p>
          <a:p>
            <a:r>
              <a:rPr lang="en-US" dirty="0"/>
              <a:t>It is a variant of the Resource Allocation graph. In this algorithm, we only have processes as vertices in the graph. If the Wait-for-Graph contains a cycle then we can say the system is in a Deadlock state. </a:t>
            </a:r>
          </a:p>
          <a:p>
            <a:endParaRPr lang="en-US" dirty="0"/>
          </a:p>
          <a:p>
            <a:r>
              <a:rPr lang="en-US" dirty="0"/>
              <a:t>The Resource Allocation graph will be converted into Wait-for-Graph in an Algorithmic Approach. </a:t>
            </a:r>
          </a:p>
          <a:p>
            <a:endParaRPr lang="en-US" dirty="0"/>
          </a:p>
          <a:p>
            <a:r>
              <a:rPr lang="en-US" dirty="0"/>
              <a:t>We need to remove resources while converting</a:t>
            </a:r>
          </a:p>
          <a:p>
            <a:pPr marL="0" indent="0">
              <a:buNone/>
            </a:pPr>
            <a:r>
              <a:rPr lang="en-US" dirty="0"/>
              <a:t>from Resource Allocation Graph to Wait-for-Graph.</a:t>
            </a:r>
          </a:p>
        </p:txBody>
      </p:sp>
      <p:pic>
        <p:nvPicPr>
          <p:cNvPr id="4098" name="Picture 2" descr="Deadlock in DBMS">
            <a:extLst>
              <a:ext uri="{FF2B5EF4-FFF2-40B4-BE49-F238E27FC236}">
                <a16:creationId xmlns:a16="http://schemas.microsoft.com/office/drawing/2014/main" id="{64C49358-5CE5-2D75-9570-4B0BB6F2B5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4873927"/>
            <a:ext cx="1994376" cy="1580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471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 for graph algorithm </a:t>
            </a:r>
            <a:endParaRPr lang="en-IN" dirty="0"/>
          </a:p>
        </p:txBody>
      </p:sp>
      <p:sp>
        <p:nvSpPr>
          <p:cNvPr id="3" name="Content Placeholder 2"/>
          <p:cNvSpPr>
            <a:spLocks noGrp="1"/>
          </p:cNvSpPr>
          <p:nvPr>
            <p:ph idx="1"/>
          </p:nvPr>
        </p:nvSpPr>
        <p:spPr/>
        <p:txBody>
          <a:bodyPr>
            <a:normAutofit fontScale="77500" lnSpcReduction="20000"/>
          </a:bodyPr>
          <a:lstStyle/>
          <a:p>
            <a:pPr fontAlgn="base"/>
            <a:r>
              <a:rPr lang="en-US" b="1" dirty="0">
                <a:highlight>
                  <a:srgbClr val="FFFF00"/>
                </a:highlight>
              </a:rPr>
              <a:t>Step 1:</a:t>
            </a:r>
            <a:r>
              <a:rPr lang="en-US" dirty="0">
                <a:highlight>
                  <a:srgbClr val="FFFF00"/>
                </a:highlight>
              </a:rPr>
              <a:t> Take the first process (Pi) from the resource allocation graph and check the path in which it is acquiring resource (</a:t>
            </a:r>
            <a:r>
              <a:rPr lang="en-US" dirty="0" err="1">
                <a:highlight>
                  <a:srgbClr val="FFFF00"/>
                </a:highlight>
              </a:rPr>
              <a:t>R</a:t>
            </a:r>
            <a:r>
              <a:rPr lang="en-US" baseline="-25000" dirty="0" err="1">
                <a:highlight>
                  <a:srgbClr val="FFFF00"/>
                </a:highlight>
              </a:rPr>
              <a:t>i</a:t>
            </a:r>
            <a:r>
              <a:rPr lang="en-US" dirty="0">
                <a:highlight>
                  <a:srgbClr val="FFFF00"/>
                </a:highlight>
              </a:rPr>
              <a:t>), and start a wait-for-graph with that particular process.</a:t>
            </a:r>
          </a:p>
          <a:p>
            <a:pPr fontAlgn="base"/>
            <a:r>
              <a:rPr lang="en-US" b="1" dirty="0">
                <a:highlight>
                  <a:srgbClr val="FFFF00"/>
                </a:highlight>
              </a:rPr>
              <a:t>Step 2:</a:t>
            </a:r>
            <a:r>
              <a:rPr lang="en-US" dirty="0">
                <a:highlight>
                  <a:srgbClr val="FFFF00"/>
                </a:highlight>
              </a:rPr>
              <a:t> Make a path for the Wait-for-Graph in which there will be no Resource included from the current process (P</a:t>
            </a:r>
            <a:r>
              <a:rPr lang="en-US" baseline="-25000" dirty="0">
                <a:highlight>
                  <a:srgbClr val="FFFF00"/>
                </a:highlight>
              </a:rPr>
              <a:t>i</a:t>
            </a:r>
            <a:r>
              <a:rPr lang="en-US" dirty="0">
                <a:highlight>
                  <a:srgbClr val="FFFF00"/>
                </a:highlight>
              </a:rPr>
              <a:t>) to next process (</a:t>
            </a:r>
            <a:r>
              <a:rPr lang="en-US" dirty="0" err="1">
                <a:highlight>
                  <a:srgbClr val="FFFF00"/>
                </a:highlight>
              </a:rPr>
              <a:t>P</a:t>
            </a:r>
            <a:r>
              <a:rPr lang="en-US" baseline="-25000" dirty="0" err="1">
                <a:highlight>
                  <a:srgbClr val="FFFF00"/>
                </a:highlight>
              </a:rPr>
              <a:t>j</a:t>
            </a:r>
            <a:r>
              <a:rPr lang="en-US" dirty="0">
                <a:highlight>
                  <a:srgbClr val="FFFF00"/>
                </a:highlight>
              </a:rPr>
              <a:t>), from that next process (</a:t>
            </a:r>
            <a:r>
              <a:rPr lang="en-US" dirty="0" err="1">
                <a:highlight>
                  <a:srgbClr val="FFFF00"/>
                </a:highlight>
              </a:rPr>
              <a:t>P</a:t>
            </a:r>
            <a:r>
              <a:rPr lang="en-US" baseline="-25000" dirty="0" err="1">
                <a:highlight>
                  <a:srgbClr val="FFFF00"/>
                </a:highlight>
              </a:rPr>
              <a:t>j</a:t>
            </a:r>
            <a:r>
              <a:rPr lang="en-US" dirty="0">
                <a:highlight>
                  <a:srgbClr val="FFFF00"/>
                </a:highlight>
              </a:rPr>
              <a:t>) find a resource (</a:t>
            </a:r>
            <a:r>
              <a:rPr lang="en-US" dirty="0" err="1">
                <a:highlight>
                  <a:srgbClr val="FFFF00"/>
                </a:highlight>
              </a:rPr>
              <a:t>R</a:t>
            </a:r>
            <a:r>
              <a:rPr lang="en-US" baseline="-25000" dirty="0" err="1">
                <a:highlight>
                  <a:srgbClr val="FFFF00"/>
                </a:highlight>
              </a:rPr>
              <a:t>j</a:t>
            </a:r>
            <a:r>
              <a:rPr lang="en-US" dirty="0">
                <a:highlight>
                  <a:srgbClr val="FFFF00"/>
                </a:highlight>
              </a:rPr>
              <a:t>) that will be acquired by next Process (</a:t>
            </a:r>
            <a:r>
              <a:rPr lang="en-US" dirty="0" err="1">
                <a:highlight>
                  <a:srgbClr val="FFFF00"/>
                </a:highlight>
              </a:rPr>
              <a:t>P</a:t>
            </a:r>
            <a:r>
              <a:rPr lang="en-US" baseline="-25000" dirty="0" err="1">
                <a:highlight>
                  <a:srgbClr val="FFFF00"/>
                </a:highlight>
              </a:rPr>
              <a:t>k</a:t>
            </a:r>
            <a:r>
              <a:rPr lang="en-US" dirty="0">
                <a:highlight>
                  <a:srgbClr val="FFFF00"/>
                </a:highlight>
              </a:rPr>
              <a:t>) which is released from Process (</a:t>
            </a:r>
            <a:r>
              <a:rPr lang="en-US" dirty="0" err="1">
                <a:highlight>
                  <a:srgbClr val="FFFF00"/>
                </a:highlight>
              </a:rPr>
              <a:t>P</a:t>
            </a:r>
            <a:r>
              <a:rPr lang="en-US" baseline="-25000" dirty="0" err="1">
                <a:highlight>
                  <a:srgbClr val="FFFF00"/>
                </a:highlight>
              </a:rPr>
              <a:t>j</a:t>
            </a:r>
            <a:r>
              <a:rPr lang="en-US" dirty="0">
                <a:highlight>
                  <a:srgbClr val="FFFF00"/>
                </a:highlight>
              </a:rPr>
              <a:t>).</a:t>
            </a:r>
          </a:p>
          <a:p>
            <a:pPr fontAlgn="base"/>
            <a:r>
              <a:rPr lang="en-US" b="1" dirty="0">
                <a:highlight>
                  <a:srgbClr val="FFFF00"/>
                </a:highlight>
              </a:rPr>
              <a:t>Step 3:</a:t>
            </a:r>
            <a:r>
              <a:rPr lang="en-US" dirty="0">
                <a:highlight>
                  <a:srgbClr val="FFFF00"/>
                </a:highlight>
              </a:rPr>
              <a:t> Repeat Step 2 for all the processes.</a:t>
            </a:r>
          </a:p>
          <a:p>
            <a:pPr fontAlgn="base"/>
            <a:r>
              <a:rPr lang="en-US" b="1" dirty="0">
                <a:highlight>
                  <a:srgbClr val="FFFF00"/>
                </a:highlight>
              </a:rPr>
              <a:t>Step 4:</a:t>
            </a:r>
            <a:r>
              <a:rPr lang="en-US" dirty="0">
                <a:highlight>
                  <a:srgbClr val="FFFF00"/>
                </a:highlight>
              </a:rPr>
              <a:t> After completion of all processes, if we find a closed-loop cycle then the system is in a deadlock state, and deadlock is detected.</a:t>
            </a:r>
          </a:p>
          <a:p>
            <a:endParaRPr lang="en-IN" dirty="0">
              <a:highlight>
                <a:srgbClr val="FFFF00"/>
              </a:highlight>
            </a:endParaRPr>
          </a:p>
        </p:txBody>
      </p:sp>
    </p:spTree>
    <p:extLst>
      <p:ext uri="{BB962C8B-B14F-4D97-AF65-F5344CB8AC3E}">
        <p14:creationId xmlns:p14="http://schemas.microsoft.com/office/powerpoint/2010/main" val="16859411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endParaRPr lang="en-IN" dirty="0"/>
          </a:p>
        </p:txBody>
      </p:sp>
      <p:sp>
        <p:nvSpPr>
          <p:cNvPr id="3" name="Content Placeholder 2"/>
          <p:cNvSpPr>
            <a:spLocks noGrp="1"/>
          </p:cNvSpPr>
          <p:nvPr>
            <p:ph idx="1"/>
          </p:nvPr>
        </p:nvSpPr>
        <p:spPr>
          <a:xfrm>
            <a:off x="467544" y="1412776"/>
            <a:ext cx="8229600" cy="4525963"/>
          </a:xfrm>
        </p:spPr>
        <p:txBody>
          <a:bodyPr>
            <a:normAutofit/>
          </a:bodyPr>
          <a:lstStyle/>
          <a:p>
            <a:r>
              <a:rPr lang="en-US" dirty="0">
                <a:highlight>
                  <a:srgbClr val="FFFF00"/>
                </a:highlight>
              </a:rPr>
              <a:t>Consider a Resource Allocation Graph with 4 Processes P1, P2, P3, P4, and 4 Resources R1, R2, R3, R4. Find if there is a deadlock in the Graph using the Wait for Graph-based deadlock detection algorithm.</a:t>
            </a:r>
          </a:p>
          <a:p>
            <a:endParaRPr lang="en-US" dirty="0">
              <a:highlight>
                <a:srgbClr val="FFFF00"/>
              </a:highlight>
            </a:endParaRPr>
          </a:p>
          <a:p>
            <a:endParaRPr lang="en-US" dirty="0">
              <a:highlight>
                <a:srgbClr val="FFFF00"/>
              </a:highlight>
            </a:endParaRPr>
          </a:p>
          <a:p>
            <a:endParaRPr lang="en-US" dirty="0">
              <a:highlight>
                <a:srgbClr val="FFFF00"/>
              </a:highlight>
            </a:endParaRPr>
          </a:p>
          <a:p>
            <a:endParaRPr lang="en-IN" dirty="0">
              <a:highlight>
                <a:srgbClr val="FFFF00"/>
              </a:highligh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8428" y="4077072"/>
            <a:ext cx="2723009" cy="1999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1736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US" dirty="0">
                <a:highlight>
                  <a:srgbClr val="FFFF00"/>
                </a:highlight>
              </a:rPr>
              <a:t>Step1:</a:t>
            </a:r>
          </a:p>
          <a:p>
            <a:r>
              <a:rPr lang="en-US" dirty="0">
                <a:highlight>
                  <a:srgbClr val="FFFF00"/>
                </a:highlight>
              </a:rPr>
              <a:t>Process P1 which is waiting for Resource R1, resource R1 is acquired by Process P2, Start a Wait-for-Graph for the above Resource Allocation Graph. </a:t>
            </a:r>
          </a:p>
          <a:p>
            <a:r>
              <a:rPr lang="en-US" b="1" dirty="0">
                <a:highlight>
                  <a:srgbClr val="FFFF00"/>
                </a:highlight>
              </a:rPr>
              <a:t>Step 2:</a:t>
            </a:r>
            <a:r>
              <a:rPr lang="en-US" dirty="0">
                <a:highlight>
                  <a:srgbClr val="FFFF00"/>
                </a:highlight>
              </a:rPr>
              <a:t> Now we can observe that there is a path from P1 to P2 as P1 is waiting for R1 which is been acquired by P2. Now the Graph would be after removing resource R1 looks like.</a:t>
            </a:r>
            <a:endParaRPr lang="en-IN" dirty="0">
              <a:highlight>
                <a:srgbClr val="FFFF00"/>
              </a:highlight>
            </a:endParaRPr>
          </a:p>
        </p:txBody>
      </p:sp>
    </p:spTree>
    <p:extLst>
      <p:ext uri="{BB962C8B-B14F-4D97-AF65-F5344CB8AC3E}">
        <p14:creationId xmlns:p14="http://schemas.microsoft.com/office/powerpoint/2010/main" val="256294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fontAlgn="base"/>
            <a:r>
              <a:rPr lang="en-US" b="1" dirty="0">
                <a:highlight>
                  <a:srgbClr val="FFFF00"/>
                </a:highlight>
              </a:rPr>
              <a:t>Step 3:</a:t>
            </a:r>
            <a:r>
              <a:rPr lang="en-US" dirty="0">
                <a:highlight>
                  <a:srgbClr val="FFFF00"/>
                </a:highlight>
              </a:rPr>
              <a:t> From P2 we can observe a path from P2 to P3 as P2 is waiting for R4 which is acquired by P3. So make a path from P2 to P3 after removing resource R4 looks like.</a:t>
            </a:r>
            <a:endParaRPr lang="en-US" i="1" dirty="0">
              <a:highlight>
                <a:srgbClr val="FFFF00"/>
              </a:highlight>
            </a:endParaRPr>
          </a:p>
          <a:p>
            <a:pPr fontAlgn="base"/>
            <a:r>
              <a:rPr lang="en-US" b="1" dirty="0">
                <a:highlight>
                  <a:srgbClr val="FFFF00"/>
                </a:highlight>
              </a:rPr>
              <a:t>Step 4:</a:t>
            </a:r>
            <a:r>
              <a:rPr lang="en-US" dirty="0">
                <a:highlight>
                  <a:srgbClr val="FFFF00"/>
                </a:highlight>
              </a:rPr>
              <a:t> From P3 we find a path to P4 as it is waiting for P3 which is acquired by P4. After removing R3 the graph looks like this.</a:t>
            </a:r>
            <a:endParaRPr lang="en-US" i="1" dirty="0">
              <a:highlight>
                <a:srgbClr val="FFFF00"/>
              </a:highlight>
            </a:endParaRPr>
          </a:p>
          <a:p>
            <a:pPr fontAlgn="base"/>
            <a:r>
              <a:rPr lang="en-US" b="1" dirty="0">
                <a:highlight>
                  <a:srgbClr val="FFFF00"/>
                </a:highlight>
              </a:rPr>
              <a:t>Step 5:</a:t>
            </a:r>
            <a:r>
              <a:rPr lang="en-US" dirty="0">
                <a:highlight>
                  <a:srgbClr val="FFFF00"/>
                </a:highlight>
              </a:rPr>
              <a:t> Here we can find Process P4 is waiting for R2 which is acquired by P1. So finally the Wait-for-Graph is as follows:</a:t>
            </a:r>
          </a:p>
          <a:p>
            <a:endParaRPr lang="en-IN" dirty="0">
              <a:highlight>
                <a:srgbClr val="FFFF00"/>
              </a:highlight>
            </a:endParaRPr>
          </a:p>
        </p:txBody>
      </p:sp>
    </p:spTree>
    <p:extLst>
      <p:ext uri="{BB962C8B-B14F-4D97-AF65-F5344CB8AC3E}">
        <p14:creationId xmlns:p14="http://schemas.microsoft.com/office/powerpoint/2010/main" val="3270192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fontAlgn="base"/>
            <a:r>
              <a:rPr lang="en-US" b="1" dirty="0">
                <a:highlight>
                  <a:srgbClr val="FFFF00"/>
                </a:highlight>
              </a:rPr>
              <a:t>Step 6:</a:t>
            </a:r>
            <a:r>
              <a:rPr lang="en-US" dirty="0">
                <a:highlight>
                  <a:srgbClr val="FFFF00"/>
                </a:highlight>
              </a:rPr>
              <a:t> Finally In this Graph, we found a cycle as the Process P4 again came back to the Process P1 which is the starting point (i.e., it’s a closed-loop). </a:t>
            </a:r>
          </a:p>
          <a:p>
            <a:pPr fontAlgn="base"/>
            <a:r>
              <a:rPr lang="en-US" dirty="0">
                <a:highlight>
                  <a:srgbClr val="FFFF00"/>
                </a:highlight>
              </a:rPr>
              <a:t>So, According to the Algorithm if we found a closed loop, then the system is in a deadlock state. So here we can say the system is in a deadlock state.</a:t>
            </a:r>
          </a:p>
          <a:p>
            <a:pPr fontAlgn="base"/>
            <a:endParaRPr lang="en-US" dirty="0">
              <a:highlight>
                <a:srgbClr val="FFFF00"/>
              </a:highlight>
            </a:endParaRPr>
          </a:p>
        </p:txBody>
      </p:sp>
      <p:pic>
        <p:nvPicPr>
          <p:cNvPr id="5" name="Picture 4">
            <a:extLst>
              <a:ext uri="{FF2B5EF4-FFF2-40B4-BE49-F238E27FC236}">
                <a16:creationId xmlns:a16="http://schemas.microsoft.com/office/drawing/2014/main" id="{47A8E8F7-B307-C162-0998-6DD3A72FC53D}"/>
              </a:ext>
            </a:extLst>
          </p:cNvPr>
          <p:cNvPicPr>
            <a:picLocks noChangeAspect="1"/>
          </p:cNvPicPr>
          <p:nvPr/>
        </p:nvPicPr>
        <p:blipFill>
          <a:blip r:embed="rId2"/>
          <a:stretch>
            <a:fillRect/>
          </a:stretch>
        </p:blipFill>
        <p:spPr>
          <a:xfrm>
            <a:off x="4572000" y="5164595"/>
            <a:ext cx="1952625" cy="1390650"/>
          </a:xfrm>
          <a:prstGeom prst="rect">
            <a:avLst/>
          </a:prstGeom>
        </p:spPr>
      </p:pic>
    </p:spTree>
    <p:extLst>
      <p:ext uri="{BB962C8B-B14F-4D97-AF65-F5344CB8AC3E}">
        <p14:creationId xmlns:p14="http://schemas.microsoft.com/office/powerpoint/2010/main" val="1272313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6FA73-C01F-9114-8AE6-B862EF4D6ED8}"/>
              </a:ext>
            </a:extLst>
          </p:cNvPr>
          <p:cNvSpPr>
            <a:spLocks noGrp="1"/>
          </p:cNvSpPr>
          <p:nvPr>
            <p:ph type="title"/>
          </p:nvPr>
        </p:nvSpPr>
        <p:spPr/>
        <p:txBody>
          <a:bodyPr>
            <a:normAutofit/>
          </a:bodyPr>
          <a:lstStyle/>
          <a:p>
            <a:r>
              <a:rPr lang="en-IN" b="1" i="0" dirty="0">
                <a:solidFill>
                  <a:srgbClr val="231F20"/>
                </a:solidFill>
                <a:effectLst/>
                <a:latin typeface="Inter"/>
              </a:rPr>
              <a:t>Deadlock Prevention</a:t>
            </a:r>
            <a:endParaRPr lang="en-IN" dirty="0"/>
          </a:p>
        </p:txBody>
      </p:sp>
      <p:sp>
        <p:nvSpPr>
          <p:cNvPr id="3" name="Content Placeholder 2">
            <a:extLst>
              <a:ext uri="{FF2B5EF4-FFF2-40B4-BE49-F238E27FC236}">
                <a16:creationId xmlns:a16="http://schemas.microsoft.com/office/drawing/2014/main" id="{A83C188C-17A6-028D-F01E-C6E624597773}"/>
              </a:ext>
            </a:extLst>
          </p:cNvPr>
          <p:cNvSpPr>
            <a:spLocks noGrp="1"/>
          </p:cNvSpPr>
          <p:nvPr>
            <p:ph idx="1"/>
          </p:nvPr>
        </p:nvSpPr>
        <p:spPr/>
        <p:txBody>
          <a:bodyPr>
            <a:normAutofit fontScale="92500" lnSpcReduction="20000"/>
          </a:bodyPr>
          <a:lstStyle/>
          <a:p>
            <a:r>
              <a:rPr lang="en-US" b="0" i="0" dirty="0">
                <a:effectLst/>
                <a:latin typeface="Inter"/>
              </a:rPr>
              <a:t>Deadlock Prevention is a proactive strategy used to ensure that deadlock situations do not occur in a system. </a:t>
            </a:r>
          </a:p>
          <a:p>
            <a:r>
              <a:rPr lang="en-US" b="0" i="0" dirty="0">
                <a:effectLst/>
                <a:highlight>
                  <a:srgbClr val="FFFF00"/>
                </a:highlight>
                <a:latin typeface="Inter"/>
              </a:rPr>
              <a:t>The primary goal of deadlock prevention is to structure resource allocation in such a way that at least one of the four necessary conditions for deadlock is always violated, thereby preventing deadlocks from forming. </a:t>
            </a:r>
          </a:p>
          <a:p>
            <a:r>
              <a:rPr lang="en-US" b="0" i="0" dirty="0">
                <a:effectLst/>
                <a:latin typeface="Inter"/>
              </a:rPr>
              <a:t>In deadlock prevention, the system </a:t>
            </a:r>
            <a:r>
              <a:rPr lang="en-US" b="0" i="0" dirty="0">
                <a:effectLst/>
                <a:highlight>
                  <a:srgbClr val="FFFF00"/>
                </a:highlight>
                <a:latin typeface="Inter"/>
              </a:rPr>
              <a:t>enforces specific rules to avoid the conditions </a:t>
            </a:r>
            <a:r>
              <a:rPr lang="en-US" b="0" i="0" dirty="0">
                <a:effectLst/>
                <a:latin typeface="Inter"/>
              </a:rPr>
              <a:t>that lead to deadlock.</a:t>
            </a:r>
            <a:endParaRPr lang="en-IN" dirty="0"/>
          </a:p>
        </p:txBody>
      </p:sp>
    </p:spTree>
    <p:extLst>
      <p:ext uri="{BB962C8B-B14F-4D97-AF65-F5344CB8AC3E}">
        <p14:creationId xmlns:p14="http://schemas.microsoft.com/office/powerpoint/2010/main" val="17289001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D7E6-98E8-3F22-E3A6-9C37BF9DF90F}"/>
              </a:ext>
            </a:extLst>
          </p:cNvPr>
          <p:cNvSpPr>
            <a:spLocks noGrp="1"/>
          </p:cNvSpPr>
          <p:nvPr>
            <p:ph type="title"/>
          </p:nvPr>
        </p:nvSpPr>
        <p:spPr/>
        <p:txBody>
          <a:bodyPr>
            <a:normAutofit/>
          </a:bodyPr>
          <a:lstStyle/>
          <a:p>
            <a:r>
              <a:rPr lang="en-US" b="1" i="0" dirty="0">
                <a:effectLst/>
                <a:latin typeface="Inter"/>
              </a:rPr>
              <a:t>The Four Conditions for Deadlock:</a:t>
            </a:r>
            <a:endParaRPr lang="en-IN" dirty="0"/>
          </a:p>
        </p:txBody>
      </p:sp>
      <p:sp>
        <p:nvSpPr>
          <p:cNvPr id="3" name="Content Placeholder 2">
            <a:extLst>
              <a:ext uri="{FF2B5EF4-FFF2-40B4-BE49-F238E27FC236}">
                <a16:creationId xmlns:a16="http://schemas.microsoft.com/office/drawing/2014/main" id="{B4640D2B-D8F6-7FA9-0DE8-C349E20778DD}"/>
              </a:ext>
            </a:extLst>
          </p:cNvPr>
          <p:cNvSpPr>
            <a:spLocks noGrp="1"/>
          </p:cNvSpPr>
          <p:nvPr>
            <p:ph idx="1"/>
          </p:nvPr>
        </p:nvSpPr>
        <p:spPr/>
        <p:txBody>
          <a:bodyPr>
            <a:normAutofit fontScale="92500" lnSpcReduction="20000"/>
          </a:bodyPr>
          <a:lstStyle/>
          <a:p>
            <a:pPr algn="l">
              <a:buFont typeface="Arial" panose="020B0604020202020204" pitchFamily="34" charset="0"/>
              <a:buChar char="•"/>
            </a:pPr>
            <a:r>
              <a:rPr lang="en-US" b="1" i="0" dirty="0">
                <a:effectLst/>
                <a:highlight>
                  <a:srgbClr val="FFFF00"/>
                </a:highlight>
                <a:latin typeface="Tasaorbiterdeck Bold"/>
              </a:rPr>
              <a:t>Mutual Exclusion</a:t>
            </a:r>
            <a:r>
              <a:rPr lang="en-US" b="0" i="0" dirty="0">
                <a:effectLst/>
                <a:highlight>
                  <a:srgbClr val="FFFF00"/>
                </a:highlight>
                <a:latin typeface="Inter"/>
              </a:rPr>
              <a:t>: A resource can only be held by one process at a time.</a:t>
            </a:r>
          </a:p>
          <a:p>
            <a:pPr algn="l">
              <a:buFont typeface="Arial" panose="020B0604020202020204" pitchFamily="34" charset="0"/>
              <a:buChar char="•"/>
            </a:pPr>
            <a:r>
              <a:rPr lang="en-US" b="1" i="0" dirty="0">
                <a:effectLst/>
                <a:highlight>
                  <a:srgbClr val="FFFF00"/>
                </a:highlight>
                <a:latin typeface="Tasaorbiterdeck Bold"/>
              </a:rPr>
              <a:t>Hold and Wait:</a:t>
            </a:r>
            <a:r>
              <a:rPr lang="en-US" b="0" i="0" dirty="0">
                <a:effectLst/>
                <a:highlight>
                  <a:srgbClr val="FFFF00"/>
                </a:highlight>
                <a:latin typeface="Inter"/>
              </a:rPr>
              <a:t> A process holding one resource is waiting for additional resources held by other processes.</a:t>
            </a:r>
          </a:p>
          <a:p>
            <a:pPr algn="l">
              <a:buFont typeface="Arial" panose="020B0604020202020204" pitchFamily="34" charset="0"/>
              <a:buChar char="•"/>
            </a:pPr>
            <a:r>
              <a:rPr lang="en-US" b="1" i="0" dirty="0">
                <a:effectLst/>
                <a:highlight>
                  <a:srgbClr val="FFFF00"/>
                </a:highlight>
                <a:latin typeface="Tasaorbiterdeck Bold"/>
              </a:rPr>
              <a:t>No Preemption</a:t>
            </a:r>
            <a:r>
              <a:rPr lang="en-US" b="0" i="0" dirty="0">
                <a:effectLst/>
                <a:highlight>
                  <a:srgbClr val="FFFF00"/>
                </a:highlight>
                <a:latin typeface="Inter"/>
              </a:rPr>
              <a:t>: Resources cannot be forcibly taken from a process; they must be released voluntarily.</a:t>
            </a:r>
          </a:p>
          <a:p>
            <a:pPr algn="l">
              <a:buFont typeface="Arial" panose="020B0604020202020204" pitchFamily="34" charset="0"/>
              <a:buChar char="•"/>
            </a:pPr>
            <a:r>
              <a:rPr lang="en-US" b="1" i="0" dirty="0">
                <a:effectLst/>
                <a:highlight>
                  <a:srgbClr val="FFFF00"/>
                </a:highlight>
                <a:latin typeface="Tasaorbiterdeck Bold"/>
              </a:rPr>
              <a:t>Circular Wait</a:t>
            </a:r>
            <a:r>
              <a:rPr lang="en-US" b="0" i="0" dirty="0">
                <a:effectLst/>
                <a:highlight>
                  <a:srgbClr val="FFFF00"/>
                </a:highlight>
                <a:latin typeface="Inter"/>
              </a:rPr>
              <a:t>: A circular chain of processes exists, where each process is waiting for the next process to release a resource.</a:t>
            </a:r>
          </a:p>
          <a:p>
            <a:endParaRPr lang="en-IN" dirty="0">
              <a:highlight>
                <a:srgbClr val="FFFF00"/>
              </a:highlight>
            </a:endParaRPr>
          </a:p>
        </p:txBody>
      </p:sp>
    </p:spTree>
    <p:extLst>
      <p:ext uri="{BB962C8B-B14F-4D97-AF65-F5344CB8AC3E}">
        <p14:creationId xmlns:p14="http://schemas.microsoft.com/office/powerpoint/2010/main" val="2627095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AA97B-46D8-A1CE-DD30-184D14AD048B}"/>
              </a:ext>
            </a:extLst>
          </p:cNvPr>
          <p:cNvSpPr>
            <a:spLocks noGrp="1"/>
          </p:cNvSpPr>
          <p:nvPr>
            <p:ph type="title"/>
          </p:nvPr>
        </p:nvSpPr>
        <p:spPr/>
        <p:txBody>
          <a:bodyPr>
            <a:normAutofit/>
          </a:bodyPr>
          <a:lstStyle/>
          <a:p>
            <a:r>
              <a:rPr lang="en-IN" b="1" i="0" dirty="0">
                <a:solidFill>
                  <a:srgbClr val="231F20"/>
                </a:solidFill>
                <a:effectLst/>
                <a:latin typeface="Inter"/>
              </a:rPr>
              <a:t>Deadlock Recovery</a:t>
            </a:r>
            <a:endParaRPr lang="en-IN" dirty="0"/>
          </a:p>
        </p:txBody>
      </p:sp>
      <p:pic>
        <p:nvPicPr>
          <p:cNvPr id="6" name="Content Placeholder 5">
            <a:extLst>
              <a:ext uri="{FF2B5EF4-FFF2-40B4-BE49-F238E27FC236}">
                <a16:creationId xmlns:a16="http://schemas.microsoft.com/office/drawing/2014/main" id="{D53FA1A3-6FA4-83F9-0267-AA73375CB677}"/>
              </a:ext>
            </a:extLst>
          </p:cNvPr>
          <p:cNvPicPr>
            <a:picLocks noGrp="1" noChangeAspect="1"/>
          </p:cNvPicPr>
          <p:nvPr>
            <p:ph idx="1"/>
          </p:nvPr>
        </p:nvPicPr>
        <p:blipFill>
          <a:blip r:embed="rId2"/>
          <a:stretch>
            <a:fillRect/>
          </a:stretch>
        </p:blipFill>
        <p:spPr>
          <a:xfrm>
            <a:off x="1763688" y="1916832"/>
            <a:ext cx="5370921" cy="3441774"/>
          </a:xfrm>
        </p:spPr>
      </p:pic>
    </p:spTree>
    <p:extLst>
      <p:ext uri="{BB962C8B-B14F-4D97-AF65-F5344CB8AC3E}">
        <p14:creationId xmlns:p14="http://schemas.microsoft.com/office/powerpoint/2010/main" val="800886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Recovery system</a:t>
            </a:r>
            <a:endParaRPr lang="en-IN" dirty="0"/>
          </a:p>
        </p:txBody>
      </p:sp>
      <p:sp>
        <p:nvSpPr>
          <p:cNvPr id="3" name="Content Placeholder 2"/>
          <p:cNvSpPr>
            <a:spLocks noGrp="1"/>
          </p:cNvSpPr>
          <p:nvPr>
            <p:ph idx="1"/>
          </p:nvPr>
        </p:nvSpPr>
        <p:spPr/>
        <p:txBody>
          <a:bodyPr>
            <a:normAutofit fontScale="62500" lnSpcReduction="20000"/>
          </a:bodyPr>
          <a:lstStyle/>
          <a:p>
            <a:r>
              <a:rPr lang="en-US" dirty="0"/>
              <a:t>There are two different approaches:</a:t>
            </a:r>
          </a:p>
          <a:p>
            <a:pPr marL="400050" lvl="1" indent="0">
              <a:buNone/>
            </a:pPr>
            <a:r>
              <a:rPr lang="en-IN" dirty="0"/>
              <a:t>– log-based recovery, and </a:t>
            </a:r>
          </a:p>
          <a:p>
            <a:pPr marL="400050" lvl="1" indent="0">
              <a:buNone/>
            </a:pPr>
            <a:r>
              <a:rPr lang="en-IN" dirty="0"/>
              <a:t>– shadow-paging</a:t>
            </a:r>
          </a:p>
          <a:p>
            <a:pPr marL="400050" lvl="1" indent="0">
              <a:buNone/>
            </a:pPr>
            <a:endParaRPr lang="en-IN" b="1" dirty="0"/>
          </a:p>
          <a:p>
            <a:pPr marL="400050" lvl="1" indent="0">
              <a:buNone/>
            </a:pPr>
            <a:r>
              <a:rPr lang="en-IN" b="1" dirty="0"/>
              <a:t>log-based recovery</a:t>
            </a:r>
            <a:endParaRPr lang="en-US" b="1" dirty="0"/>
          </a:p>
          <a:p>
            <a:r>
              <a:rPr lang="en-US" dirty="0">
                <a:highlight>
                  <a:srgbClr val="FFFF00"/>
                </a:highlight>
              </a:rPr>
              <a:t>A log is kept on stable storage. </a:t>
            </a:r>
          </a:p>
          <a:p>
            <a:r>
              <a:rPr lang="en-US" dirty="0">
                <a:highlight>
                  <a:srgbClr val="FFFF00"/>
                </a:highlight>
              </a:rPr>
              <a:t>The log is a sequence of log records, and maintains a record of update activities on the database. </a:t>
            </a:r>
          </a:p>
          <a:p>
            <a:r>
              <a:rPr lang="en-US" dirty="0">
                <a:highlight>
                  <a:srgbClr val="FFFF00"/>
                </a:highlight>
              </a:rPr>
              <a:t>When transaction </a:t>
            </a:r>
            <a:r>
              <a:rPr lang="en-US" dirty="0" err="1">
                <a:highlight>
                  <a:srgbClr val="FFFF00"/>
                </a:highlight>
              </a:rPr>
              <a:t>Ti</a:t>
            </a:r>
            <a:r>
              <a:rPr lang="en-US" dirty="0">
                <a:highlight>
                  <a:srgbClr val="FFFF00"/>
                </a:highlight>
              </a:rPr>
              <a:t> starts, it registers itself by writing a &lt; </a:t>
            </a:r>
            <a:r>
              <a:rPr lang="en-US" dirty="0" err="1">
                <a:highlight>
                  <a:srgbClr val="FFFF00"/>
                </a:highlight>
              </a:rPr>
              <a:t>Ti</a:t>
            </a:r>
            <a:r>
              <a:rPr lang="en-US" dirty="0">
                <a:highlight>
                  <a:srgbClr val="FFFF00"/>
                </a:highlight>
              </a:rPr>
              <a:t> start &gt; log record </a:t>
            </a:r>
          </a:p>
          <a:p>
            <a:r>
              <a:rPr lang="en-US" dirty="0">
                <a:highlight>
                  <a:srgbClr val="FFFF00"/>
                </a:highlight>
              </a:rPr>
              <a:t>Before </a:t>
            </a:r>
            <a:r>
              <a:rPr lang="en-US" dirty="0" err="1">
                <a:highlight>
                  <a:srgbClr val="FFFF00"/>
                </a:highlight>
              </a:rPr>
              <a:t>Ti</a:t>
            </a:r>
            <a:r>
              <a:rPr lang="en-US" dirty="0">
                <a:highlight>
                  <a:srgbClr val="FFFF00"/>
                </a:highlight>
              </a:rPr>
              <a:t> executes write(X), a log record &lt; </a:t>
            </a:r>
            <a:r>
              <a:rPr lang="en-US" dirty="0" err="1">
                <a:highlight>
                  <a:srgbClr val="FFFF00"/>
                </a:highlight>
              </a:rPr>
              <a:t>Ti</a:t>
            </a:r>
            <a:r>
              <a:rPr lang="en-US" dirty="0">
                <a:highlight>
                  <a:srgbClr val="FFFF00"/>
                </a:highlight>
              </a:rPr>
              <a:t>, X, V1, V2 &gt; is written, where V1 is the value of X before the write, and V2 is the value to be written to X. </a:t>
            </a:r>
          </a:p>
          <a:p>
            <a:r>
              <a:rPr lang="en-US" dirty="0">
                <a:highlight>
                  <a:srgbClr val="FFFF00"/>
                </a:highlight>
              </a:rPr>
              <a:t>When </a:t>
            </a:r>
            <a:r>
              <a:rPr lang="en-US" dirty="0" err="1">
                <a:highlight>
                  <a:srgbClr val="FFFF00"/>
                </a:highlight>
              </a:rPr>
              <a:t>Ti</a:t>
            </a:r>
            <a:r>
              <a:rPr lang="en-US" dirty="0">
                <a:highlight>
                  <a:srgbClr val="FFFF00"/>
                </a:highlight>
              </a:rPr>
              <a:t> finishes it last statement, the log record &lt; </a:t>
            </a:r>
            <a:r>
              <a:rPr lang="en-US" dirty="0" err="1">
                <a:highlight>
                  <a:srgbClr val="FFFF00"/>
                </a:highlight>
              </a:rPr>
              <a:t>Ti</a:t>
            </a:r>
            <a:r>
              <a:rPr lang="en-US" dirty="0">
                <a:highlight>
                  <a:srgbClr val="FFFF00"/>
                </a:highlight>
              </a:rPr>
              <a:t> commit &gt; is written. </a:t>
            </a:r>
          </a:p>
          <a:p>
            <a:r>
              <a:rPr lang="en-US" dirty="0">
                <a:highlight>
                  <a:srgbClr val="FFFF00"/>
                </a:highlight>
              </a:rPr>
              <a:t>We assume for now that log records are written directly to stable storage (that is, they are not buffered)</a:t>
            </a:r>
            <a:endParaRPr lang="en-IN" dirty="0">
              <a:highlight>
                <a:srgbClr val="FFFF00"/>
              </a:highlight>
            </a:endParaRPr>
          </a:p>
        </p:txBody>
      </p:sp>
    </p:spTree>
    <p:extLst>
      <p:ext uri="{BB962C8B-B14F-4D97-AF65-F5344CB8AC3E}">
        <p14:creationId xmlns:p14="http://schemas.microsoft.com/office/powerpoint/2010/main" val="3434117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Shadow paging</a:t>
            </a:r>
            <a:endParaRPr lang="en-IN" dirty="0"/>
          </a:p>
        </p:txBody>
      </p:sp>
      <p:sp>
        <p:nvSpPr>
          <p:cNvPr id="3" name="Content Placeholder 2"/>
          <p:cNvSpPr>
            <a:spLocks noGrp="1"/>
          </p:cNvSpPr>
          <p:nvPr>
            <p:ph idx="1"/>
          </p:nvPr>
        </p:nvSpPr>
        <p:spPr>
          <a:xfrm>
            <a:off x="395536" y="1412776"/>
            <a:ext cx="8291264" cy="4853136"/>
          </a:xfrm>
        </p:spPr>
        <p:txBody>
          <a:bodyPr>
            <a:normAutofit fontScale="62500" lnSpcReduction="20000"/>
          </a:bodyPr>
          <a:lstStyle/>
          <a:p>
            <a:r>
              <a:rPr lang="en-US" b="1" dirty="0">
                <a:highlight>
                  <a:srgbClr val="FFFF00"/>
                </a:highlight>
              </a:rPr>
              <a:t>Shadow Paging </a:t>
            </a:r>
            <a:r>
              <a:rPr lang="en-US" dirty="0">
                <a:highlight>
                  <a:srgbClr val="FFFF00"/>
                </a:highlight>
              </a:rPr>
              <a:t>is recovery technique that is used to recover database. </a:t>
            </a:r>
          </a:p>
          <a:p>
            <a:r>
              <a:rPr lang="en-US" dirty="0">
                <a:highlight>
                  <a:srgbClr val="FFFF00"/>
                </a:highlight>
              </a:rPr>
              <a:t>In this recovery technique, database is considered as made up of fixed size of logical units of storage which are referred as </a:t>
            </a:r>
            <a:r>
              <a:rPr lang="en-US" b="1" dirty="0">
                <a:highlight>
                  <a:srgbClr val="FFFF00"/>
                </a:highlight>
              </a:rPr>
              <a:t>pages.</a:t>
            </a:r>
            <a:r>
              <a:rPr lang="en-US" dirty="0">
                <a:highlight>
                  <a:srgbClr val="FFFF00"/>
                </a:highlight>
              </a:rPr>
              <a:t> </a:t>
            </a:r>
          </a:p>
          <a:p>
            <a:r>
              <a:rPr lang="en-US" dirty="0">
                <a:highlight>
                  <a:srgbClr val="FFFF00"/>
                </a:highlight>
              </a:rPr>
              <a:t>pages are mapped into physical blocks of storage, with help of the </a:t>
            </a:r>
            <a:r>
              <a:rPr lang="en-US" b="1" dirty="0">
                <a:highlight>
                  <a:srgbClr val="FFFF00"/>
                </a:highlight>
              </a:rPr>
              <a:t>page table </a:t>
            </a:r>
            <a:r>
              <a:rPr lang="en-US" dirty="0">
                <a:highlight>
                  <a:srgbClr val="FFFF00"/>
                </a:highlight>
              </a:rPr>
              <a:t>which allow one entry for each logical page of database. </a:t>
            </a:r>
          </a:p>
          <a:p>
            <a:r>
              <a:rPr lang="en-US" dirty="0">
                <a:highlight>
                  <a:srgbClr val="FFFF00"/>
                </a:highlight>
              </a:rPr>
              <a:t>This method uses two page tables named </a:t>
            </a:r>
            <a:r>
              <a:rPr lang="en-US" b="1" dirty="0">
                <a:highlight>
                  <a:srgbClr val="FFFF00"/>
                </a:highlight>
              </a:rPr>
              <a:t>current page table</a:t>
            </a:r>
            <a:r>
              <a:rPr lang="en-US" dirty="0">
                <a:highlight>
                  <a:srgbClr val="FFFF00"/>
                </a:highlight>
              </a:rPr>
              <a:t> and </a:t>
            </a:r>
            <a:r>
              <a:rPr lang="en-US" b="1" dirty="0">
                <a:highlight>
                  <a:srgbClr val="FFFF00"/>
                </a:highlight>
              </a:rPr>
              <a:t>shadow page table</a:t>
            </a:r>
            <a:r>
              <a:rPr lang="en-US" dirty="0">
                <a:highlight>
                  <a:srgbClr val="FFFF00"/>
                </a:highlight>
              </a:rPr>
              <a:t>. </a:t>
            </a:r>
          </a:p>
          <a:p>
            <a:r>
              <a:rPr lang="en-US" dirty="0">
                <a:highlight>
                  <a:srgbClr val="FFFF00"/>
                </a:highlight>
              </a:rPr>
              <a:t>The entries which are present in current page table are used to point to most recent database pages on disk. </a:t>
            </a:r>
          </a:p>
          <a:p>
            <a:r>
              <a:rPr lang="en-US" dirty="0">
                <a:highlight>
                  <a:srgbClr val="FFFF00"/>
                </a:highlight>
              </a:rPr>
              <a:t>Another table i.e., Shadow page table is used when the transaction starts which is copying current page table. </a:t>
            </a:r>
          </a:p>
          <a:p>
            <a:r>
              <a:rPr lang="en-US" dirty="0">
                <a:highlight>
                  <a:srgbClr val="FFFF00"/>
                </a:highlight>
              </a:rPr>
              <a:t>After this, shadow page table gets saved on disk and current page table is going to be used for transaction. </a:t>
            </a:r>
          </a:p>
          <a:p>
            <a:r>
              <a:rPr lang="en-US" dirty="0">
                <a:highlight>
                  <a:srgbClr val="FFFF00"/>
                </a:highlight>
              </a:rPr>
              <a:t>Entries present in current page table may be changed during execution but in shadow page table it never get changed. </a:t>
            </a:r>
          </a:p>
          <a:p>
            <a:r>
              <a:rPr lang="en-US" dirty="0">
                <a:highlight>
                  <a:srgbClr val="FFFF00"/>
                </a:highlight>
              </a:rPr>
              <a:t>After transaction, both tables become identical. This technique is also known as </a:t>
            </a:r>
            <a:r>
              <a:rPr lang="en-US" b="1" dirty="0">
                <a:highlight>
                  <a:srgbClr val="FFFF00"/>
                </a:highlight>
              </a:rPr>
              <a:t>Cut-of-Place updating.</a:t>
            </a:r>
            <a:endParaRPr lang="en-IN" dirty="0">
              <a:highlight>
                <a:srgbClr val="FFFF00"/>
              </a:highlight>
            </a:endParaRPr>
          </a:p>
        </p:txBody>
      </p:sp>
    </p:spTree>
    <p:extLst>
      <p:ext uri="{BB962C8B-B14F-4D97-AF65-F5344CB8AC3E}">
        <p14:creationId xmlns:p14="http://schemas.microsoft.com/office/powerpoint/2010/main" val="40296664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098"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628800"/>
            <a:ext cx="6886575" cy="3724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3715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fontAlgn="base"/>
            <a:r>
              <a:rPr lang="en-US" dirty="0">
                <a:highlight>
                  <a:srgbClr val="FFFF00"/>
                </a:highlight>
              </a:rPr>
              <a:t>To understand concept, consider above figure. In this 2 write operations are performed on page 3 and 5. Before start of write operation on page 3, current page table points to old page 3. When write operation starts following steps are performed :</a:t>
            </a:r>
          </a:p>
          <a:p>
            <a:pPr fontAlgn="base"/>
            <a:r>
              <a:rPr lang="en-US" dirty="0">
                <a:highlight>
                  <a:srgbClr val="FFFF00"/>
                </a:highlight>
              </a:rPr>
              <a:t>Firstly, search start for available free block in disk blocks.</a:t>
            </a:r>
          </a:p>
          <a:p>
            <a:pPr fontAlgn="base"/>
            <a:r>
              <a:rPr lang="en-US" dirty="0">
                <a:highlight>
                  <a:srgbClr val="FFFF00"/>
                </a:highlight>
              </a:rPr>
              <a:t>After finding free block, it copies page 3 to free block which is represented by Page 3 (New).</a:t>
            </a:r>
          </a:p>
          <a:p>
            <a:pPr fontAlgn="base"/>
            <a:r>
              <a:rPr lang="en-US" dirty="0">
                <a:highlight>
                  <a:srgbClr val="FFFF00"/>
                </a:highlight>
              </a:rPr>
              <a:t>Now current page table points to Page 3 (New) on disk but shadow page table points to old page 3 because it is not modified.</a:t>
            </a:r>
          </a:p>
          <a:p>
            <a:pPr fontAlgn="base"/>
            <a:r>
              <a:rPr lang="en-US" dirty="0">
                <a:highlight>
                  <a:srgbClr val="FFFF00"/>
                </a:highlight>
              </a:rPr>
              <a:t>The changes are now propagated to Page 3 (New) which is pointed by current page table.</a:t>
            </a:r>
          </a:p>
        </p:txBody>
      </p:sp>
    </p:spTree>
    <p:extLst>
      <p:ext uri="{BB962C8B-B14F-4D97-AF65-F5344CB8AC3E}">
        <p14:creationId xmlns:p14="http://schemas.microsoft.com/office/powerpoint/2010/main" val="38001745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i="1" dirty="0">
                <a:highlight>
                  <a:srgbClr val="FFFF00"/>
                </a:highlight>
              </a:rPr>
              <a:t>Each transaction holds a resource and waits for another in a circular chain</a:t>
            </a:r>
          </a:p>
          <a:p>
            <a:endParaRPr lang="en-US" i="1" dirty="0">
              <a:highlight>
                <a:srgbClr val="FFFF00"/>
              </a:highlight>
            </a:endParaRPr>
          </a:p>
          <a:p>
            <a:r>
              <a:rPr lang="en-US" i="1" dirty="0">
                <a:highlight>
                  <a:srgbClr val="FFFF00"/>
                </a:highlight>
              </a:rPr>
              <a:t>A transaction holds a lock and waits for another lock without releasing the first.</a:t>
            </a:r>
          </a:p>
          <a:p>
            <a:endParaRPr lang="en-US" i="1" dirty="0">
              <a:highlight>
                <a:srgbClr val="FFFF00"/>
              </a:highlight>
            </a:endParaRPr>
          </a:p>
          <a:p>
            <a:r>
              <a:rPr lang="en-US" i="1" dirty="0">
                <a:highlight>
                  <a:srgbClr val="FFFF00"/>
                </a:highlight>
              </a:rPr>
              <a:t>A technique used to identify deadlock by analyzing a transaction dependency graph</a:t>
            </a:r>
            <a:endParaRPr lang="en-IN" dirty="0">
              <a:highlight>
                <a:srgbClr val="FFFF00"/>
              </a:highlight>
            </a:endParaRPr>
          </a:p>
        </p:txBody>
      </p:sp>
    </p:spTree>
    <p:extLst>
      <p:ext uri="{BB962C8B-B14F-4D97-AF65-F5344CB8AC3E}">
        <p14:creationId xmlns:p14="http://schemas.microsoft.com/office/powerpoint/2010/main" val="243253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4638"/>
            <a:ext cx="8219256" cy="274042"/>
          </a:xfrm>
        </p:spPr>
        <p:txBody>
          <a:bodyPr>
            <a:normAutofit fontScale="90000"/>
          </a:bodyPr>
          <a:lstStyle/>
          <a:p>
            <a:endParaRPr lang="en-IN"/>
          </a:p>
        </p:txBody>
      </p:sp>
      <p:sp>
        <p:nvSpPr>
          <p:cNvPr id="3" name="Content Placeholder 2"/>
          <p:cNvSpPr>
            <a:spLocks noGrp="1"/>
          </p:cNvSpPr>
          <p:nvPr>
            <p:ph idx="1"/>
          </p:nvPr>
        </p:nvSpPr>
        <p:spPr>
          <a:xfrm>
            <a:off x="395536" y="908720"/>
            <a:ext cx="8424936" cy="5616624"/>
          </a:xfrm>
        </p:spPr>
        <p:txBody>
          <a:bodyPr>
            <a:normAutofit fontScale="62500" lnSpcReduction="20000"/>
          </a:bodyPr>
          <a:lstStyle/>
          <a:p>
            <a:pPr fontAlgn="base"/>
            <a:r>
              <a:rPr lang="en-US" b="1" dirty="0">
                <a:highlight>
                  <a:srgbClr val="FFFF00"/>
                </a:highlight>
              </a:rPr>
              <a:t>COMMIT Operation :</a:t>
            </a:r>
            <a:r>
              <a:rPr lang="en-US" dirty="0">
                <a:highlight>
                  <a:srgbClr val="FFFF00"/>
                </a:highlight>
              </a:rPr>
              <a:t> </a:t>
            </a:r>
          </a:p>
          <a:p>
            <a:pPr marL="0" indent="0" fontAlgn="base">
              <a:buNone/>
            </a:pPr>
            <a:r>
              <a:rPr lang="en-US" dirty="0">
                <a:highlight>
                  <a:srgbClr val="FFFF00"/>
                </a:highlight>
              </a:rPr>
              <a:t>To commit transaction following steps should be done :</a:t>
            </a:r>
          </a:p>
          <a:p>
            <a:pPr fontAlgn="base"/>
            <a:r>
              <a:rPr lang="en-US" dirty="0">
                <a:highlight>
                  <a:srgbClr val="FFFF00"/>
                </a:highlight>
              </a:rPr>
              <a:t>All the modifications which are done by transaction which are present in buffers are transferred to physical database.</a:t>
            </a:r>
          </a:p>
          <a:p>
            <a:pPr fontAlgn="base"/>
            <a:r>
              <a:rPr lang="en-US" dirty="0">
                <a:highlight>
                  <a:srgbClr val="FFFF00"/>
                </a:highlight>
              </a:rPr>
              <a:t>Output current page table to disk.</a:t>
            </a:r>
          </a:p>
          <a:p>
            <a:pPr fontAlgn="base"/>
            <a:r>
              <a:rPr lang="en-US" dirty="0">
                <a:highlight>
                  <a:srgbClr val="FFFF00"/>
                </a:highlight>
              </a:rPr>
              <a:t>Disk address of current page table output to fixed location which is in stable storage containing address of shadow page table. </a:t>
            </a:r>
          </a:p>
          <a:p>
            <a:pPr fontAlgn="base"/>
            <a:r>
              <a:rPr lang="en-US" dirty="0">
                <a:highlight>
                  <a:srgbClr val="FFFF00"/>
                </a:highlight>
              </a:rPr>
              <a:t>This operation overwrites address of old shadow page table. With this current page table becomes same as shadow page table and transaction is committed.</a:t>
            </a:r>
          </a:p>
          <a:p>
            <a:pPr fontAlgn="base"/>
            <a:endParaRPr lang="en-US" b="1" dirty="0">
              <a:highlight>
                <a:srgbClr val="FFFF00"/>
              </a:highlight>
            </a:endParaRPr>
          </a:p>
          <a:p>
            <a:pPr fontAlgn="base"/>
            <a:r>
              <a:rPr lang="en-US" b="1" dirty="0">
                <a:highlight>
                  <a:srgbClr val="FFFF00"/>
                </a:highlight>
              </a:rPr>
              <a:t>Failure :</a:t>
            </a:r>
            <a:r>
              <a:rPr lang="en-US" dirty="0">
                <a:highlight>
                  <a:srgbClr val="FFFF00"/>
                </a:highlight>
              </a:rPr>
              <a:t> If system crashes during execution of transaction but before commit operation, With this, it is sufficient only to free modified database pages and discard current page table.</a:t>
            </a:r>
          </a:p>
          <a:p>
            <a:pPr fontAlgn="base"/>
            <a:r>
              <a:rPr lang="en-US" dirty="0">
                <a:highlight>
                  <a:srgbClr val="FFFF00"/>
                </a:highlight>
              </a:rPr>
              <a:t>Before execution of transaction, state of database get recovered by reinstalling shadow page table. </a:t>
            </a:r>
          </a:p>
          <a:p>
            <a:pPr fontAlgn="base"/>
            <a:r>
              <a:rPr lang="en-US" dirty="0">
                <a:highlight>
                  <a:srgbClr val="FFFF00"/>
                </a:highlight>
              </a:rPr>
              <a:t>If the crash of system occur after last write operation then it does not affect propagation of changes that are made by transaction. </a:t>
            </a:r>
          </a:p>
          <a:p>
            <a:pPr fontAlgn="base"/>
            <a:r>
              <a:rPr lang="en-US" dirty="0">
                <a:highlight>
                  <a:srgbClr val="FFFF00"/>
                </a:highlight>
              </a:rPr>
              <a:t>These changes are preserved and there is no need to perform redo operation.</a:t>
            </a:r>
          </a:p>
          <a:p>
            <a:endParaRPr lang="en-IN" dirty="0">
              <a:highlight>
                <a:srgbClr val="FFFF00"/>
              </a:highlight>
            </a:endParaRPr>
          </a:p>
          <a:p>
            <a:endParaRPr lang="en-IN" dirty="0">
              <a:highlight>
                <a:srgbClr val="FFFF00"/>
              </a:highlight>
            </a:endParaRPr>
          </a:p>
        </p:txBody>
      </p:sp>
    </p:spTree>
    <p:extLst>
      <p:ext uri="{BB962C8B-B14F-4D97-AF65-F5344CB8AC3E}">
        <p14:creationId xmlns:p14="http://schemas.microsoft.com/office/powerpoint/2010/main" val="489762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i="1" dirty="0">
                <a:highlight>
                  <a:srgbClr val="FFFF00"/>
                </a:highlight>
              </a:rPr>
              <a:t>A cycle in the Wait-For Graph indicates this condition</a:t>
            </a:r>
          </a:p>
          <a:p>
            <a:endParaRPr lang="en-US" i="1" dirty="0">
              <a:highlight>
                <a:srgbClr val="FFFF00"/>
              </a:highlight>
            </a:endParaRPr>
          </a:p>
          <a:p>
            <a:r>
              <a:rPr lang="en-US" i="1" dirty="0">
                <a:highlight>
                  <a:srgbClr val="FFFF00"/>
                </a:highlight>
              </a:rPr>
              <a:t>This type of lock allows multiple transactions to read data simultaneously</a:t>
            </a:r>
          </a:p>
          <a:p>
            <a:endParaRPr lang="en-US" i="1" dirty="0">
              <a:highlight>
                <a:srgbClr val="FFFF00"/>
              </a:highlight>
            </a:endParaRPr>
          </a:p>
          <a:p>
            <a:r>
              <a:rPr lang="en-US" i="1" dirty="0">
                <a:highlight>
                  <a:srgbClr val="FFFF00"/>
                </a:highlight>
              </a:rPr>
              <a:t>Resources cannot be taken away from a transaction holding them</a:t>
            </a:r>
            <a:endParaRPr lang="en-IN" dirty="0">
              <a:highlight>
                <a:srgbClr val="FFFF00"/>
              </a:highlight>
            </a:endParaRPr>
          </a:p>
        </p:txBody>
      </p:sp>
    </p:spTree>
    <p:extLst>
      <p:ext uri="{BB962C8B-B14F-4D97-AF65-F5344CB8AC3E}">
        <p14:creationId xmlns:p14="http://schemas.microsoft.com/office/powerpoint/2010/main" val="2296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i="1" dirty="0">
                <a:highlight>
                  <a:srgbClr val="FFFF00"/>
                </a:highlight>
              </a:rPr>
              <a:t>This property of a transaction ensures it either completes fully or not at all</a:t>
            </a:r>
          </a:p>
          <a:p>
            <a:endParaRPr lang="en-US" i="1" dirty="0">
              <a:highlight>
                <a:srgbClr val="FFFF00"/>
              </a:highlight>
            </a:endParaRPr>
          </a:p>
          <a:p>
            <a:r>
              <a:rPr lang="en-US" i="1" dirty="0">
                <a:highlight>
                  <a:srgbClr val="FFFF00"/>
                </a:highlight>
              </a:rPr>
              <a:t>This method checks for the possibility of deadlock before allocating resources."</a:t>
            </a:r>
            <a:endParaRPr lang="en-IN" dirty="0">
              <a:highlight>
                <a:srgbClr val="FFFF00"/>
              </a:highlight>
            </a:endParaRPr>
          </a:p>
        </p:txBody>
      </p:sp>
    </p:spTree>
    <p:extLst>
      <p:ext uri="{BB962C8B-B14F-4D97-AF65-F5344CB8AC3E}">
        <p14:creationId xmlns:p14="http://schemas.microsoft.com/office/powerpoint/2010/main" val="186255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1435</TotalTime>
  <Words>3526</Words>
  <Application>Microsoft Office PowerPoint</Application>
  <PresentationFormat>On-screen Show (4:3)</PresentationFormat>
  <Paragraphs>221</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Inter</vt:lpstr>
      <vt:lpstr>Inter-Regular</vt:lpstr>
      <vt:lpstr>Tasaorbiterdeck Bold</vt:lpstr>
      <vt:lpstr>Wingdings</vt:lpstr>
      <vt:lpstr>Office Theme</vt:lpstr>
      <vt:lpstr>Concurrency control</vt:lpstr>
      <vt:lpstr>Concurrency control</vt:lpstr>
      <vt:lpstr>Concurrency Control Problems</vt:lpstr>
      <vt:lpstr>Concurrency Control Protocols</vt:lpstr>
      <vt:lpstr>Two-phase locking Protocol</vt:lpstr>
      <vt:lpstr>2. Time stamp ordering Protocol</vt:lpstr>
      <vt:lpstr>PowerPoint Presentation</vt:lpstr>
      <vt:lpstr>PowerPoint Presentation</vt:lpstr>
      <vt:lpstr>PowerPoint Presentation</vt:lpstr>
      <vt:lpstr>Multi version concurrency control</vt:lpstr>
      <vt:lpstr>Breakdown of the Multi version concurrency control (MVCC) </vt:lpstr>
      <vt:lpstr>Validation Based Protocol</vt:lpstr>
      <vt:lpstr>PowerPoint Presentation</vt:lpstr>
      <vt:lpstr>Types of Locks</vt:lpstr>
      <vt:lpstr>Binary lock</vt:lpstr>
      <vt:lpstr>Example</vt:lpstr>
      <vt:lpstr>PowerPoint Presentation</vt:lpstr>
      <vt:lpstr>PowerPoint Presentation</vt:lpstr>
      <vt:lpstr>Deadlock </vt:lpstr>
      <vt:lpstr>Example</vt:lpstr>
      <vt:lpstr>Deadlock Avoidance</vt:lpstr>
      <vt:lpstr>PowerPoint Presentation</vt:lpstr>
      <vt:lpstr>Deadlock Detection</vt:lpstr>
      <vt:lpstr>Resource Allocation Graph (RAG)</vt:lpstr>
      <vt:lpstr>Wait-for-Graph</vt:lpstr>
      <vt:lpstr>Wait for graph algorithm </vt:lpstr>
      <vt:lpstr>Example </vt:lpstr>
      <vt:lpstr>PowerPoint Presentation</vt:lpstr>
      <vt:lpstr>PowerPoint Presentation</vt:lpstr>
      <vt:lpstr>PowerPoint Presentation</vt:lpstr>
      <vt:lpstr>Deadlock Prevention</vt:lpstr>
      <vt:lpstr>The Four Conditions for Deadlock:</vt:lpstr>
      <vt:lpstr>Deadlock Recovery</vt:lpstr>
      <vt:lpstr>Recovery system</vt:lpstr>
      <vt:lpstr>Shadow paging</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Concurrency control</dc:title>
  <dc:creator>kjscecomp</dc:creator>
  <cp:lastModifiedBy>Om Thanage</cp:lastModifiedBy>
  <cp:revision>38</cp:revision>
  <dcterms:created xsi:type="dcterms:W3CDTF">2024-04-15T10:05:34Z</dcterms:created>
  <dcterms:modified xsi:type="dcterms:W3CDTF">2025-04-25T07:32:25Z</dcterms:modified>
</cp:coreProperties>
</file>