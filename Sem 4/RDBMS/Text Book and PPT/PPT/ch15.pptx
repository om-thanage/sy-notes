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6858000" cx="9144000"/>
  <p:notesSz cx="7315200" cy="9601200"/>
  <p:embeddedFontLst>
    <p:embeddedFont>
      <p:font typeface="Helvetica Neue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97">
          <p15:clr>
            <a:srgbClr val="000000"/>
          </p15:clr>
        </p15:guide>
        <p15:guide id="2" pos="576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7" orient="horz"/>
        <p:guide pos="5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HelveticaNeue-bold.fntdata"/><Relationship Id="rId52" Type="http://schemas.openxmlformats.org/officeDocument/2006/relationships/font" Target="fonts/HelveticaNeue-regular.fntdata"/><Relationship Id="rId11" Type="http://schemas.openxmlformats.org/officeDocument/2006/relationships/slide" Target="slides/slide6.xml"/><Relationship Id="rId55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54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" name="Google Shape;6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" name="Google Shape;9;n"/>
          <p:cNvSpPr txBox="1"/>
          <p:nvPr>
            <p:ph idx="4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2" name="Google Shape;92;p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4" name="Google Shape;114;p1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1" name="Google Shape;121;p1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8" name="Google Shape;128;p1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5" name="Google Shape;135;p1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3" name="Google Shape;143;p1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1" name="Google Shape;151;p1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0" name="Google Shape;160;p1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8" name="Google Shape;168;p1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2" name="Google Shape;182;p2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9" name="Google Shape;189;p2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0" name="Google Shape;200;p2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8" name="Google Shape;208;p2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5" name="Google Shape;215;p2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3" name="Google Shape;223;p2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" name="Google Shape;230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1" name="Google Shape;231;p2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1" name="Google Shape;241;p2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7" name="Google Shape;267;p2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5" name="Google Shape;275;p2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3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2" name="Google Shape;282;p3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1" name="Google Shape;291;p3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9" name="Google Shape;299;p3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5" name="Google Shape;305;p3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6" name="Google Shape;306;p3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" name="Google Shape;312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3" name="Google Shape;313;p3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" name="Google Shape;319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0" name="Google Shape;320;p3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6" name="Google Shape;326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7" name="Google Shape;327;p3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3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5" name="Google Shape;335;p3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" name="Google Shape;341;p3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42" name="Google Shape;342;p3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9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8" name="Google Shape;348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49" name="Google Shape;349;p3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0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" name="Google Shape;355;p4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56" name="Google Shape;356;p4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1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2" name="Google Shape;362;p4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3" name="Google Shape;363;p4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2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9" name="Google Shape;369;p4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0" name="Google Shape;370;p4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3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" name="Google Shape;376;p4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7" name="Google Shape;377;p4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4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3" name="Google Shape;383;p4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4" name="Google Shape;384;p4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5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0" name="Google Shape;390;p4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1" name="Google Shape;391;p4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6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7" name="Google Shape;397;p4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8" name="Google Shape;398;p4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db-book.com/" TargetMode="Externa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1" type="ftr"/>
          </p:nvPr>
        </p:nvSpPr>
        <p:spPr>
          <a:xfrm>
            <a:off x="2862262" y="5780087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6596062" y="62182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524000" y="1397000"/>
            <a:ext cx="609600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2673350" y="5726112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b="1" i="0" lang="en-US" sz="16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5th Ed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b="1" i="0" lang="en-US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br>
              <a:rPr b="1" i="0" lang="en-US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</a:t>
            </a:r>
            <a:r>
              <a:rPr b="1" i="0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/>
              </a:rPr>
              <a:t>www.db-book.com</a:t>
            </a:r>
            <a:r>
              <a:rPr b="1" i="0" lang="en-US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conditions on re-use </a:t>
            </a:r>
            <a:endParaRPr/>
          </a:p>
        </p:txBody>
      </p:sp>
      <p:pic>
        <p:nvPicPr>
          <p:cNvPr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588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"/>
          <p:cNvPicPr preferRelativeResize="0"/>
          <p:nvPr/>
        </p:nvPicPr>
        <p:blipFill rotWithShape="1">
          <a:blip r:embed="rId4">
            <a:alphaModFix/>
          </a:blip>
          <a:srcRect b="26144" l="0" r="0" t="0"/>
          <a:stretch/>
        </p:blipFill>
        <p:spPr>
          <a:xfrm>
            <a:off x="8528050" y="6053137"/>
            <a:ext cx="615950" cy="614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" type="body"/>
          </p:nvPr>
        </p:nvSpPr>
        <p:spPr>
          <a:xfrm>
            <a:off x="914400" y="11064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/>
          <p:nvPr>
            <p:ph idx="1" type="body"/>
          </p:nvPr>
        </p:nvSpPr>
        <p:spPr>
          <a:xfrm>
            <a:off x="914400" y="11064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endParaRPr/>
          </a:p>
        </p:txBody>
      </p:sp>
      <p:sp>
        <p:nvSpPr>
          <p:cNvPr id="14" name="Google Shape;14;p1"/>
          <p:cNvSpPr txBox="1"/>
          <p:nvPr/>
        </p:nvSpPr>
        <p:spPr>
          <a:xfrm>
            <a:off x="4446587" y="6613525"/>
            <a:ext cx="5143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15.</a:t>
            </a:r>
            <a:fld id="{00000000-1234-1234-1234-123412341234}" type="slidenum"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5" name="Google Shape;15;p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6" name="Google Shape;16;p1"/>
          <p:cNvSpPr txBox="1"/>
          <p:nvPr/>
        </p:nvSpPr>
        <p:spPr>
          <a:xfrm>
            <a:off x="0" y="6613525"/>
            <a:ext cx="34353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 - 5</a:t>
            </a:r>
            <a:r>
              <a:rPr b="1" baseline="30000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Edition, Sep 12, 2006.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61" w="285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660400" cy="877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2">
            <a:alphaModFix/>
          </a:blip>
          <a:srcRect b="26144" l="0" r="0" t="0"/>
          <a:stretch/>
        </p:blipFill>
        <p:spPr>
          <a:xfrm>
            <a:off x="8528050" y="6053137"/>
            <a:ext cx="615950" cy="6143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15: Transactions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15:  Transactions</a:t>
            </a:r>
            <a:endParaRPr/>
          </a:p>
        </p:txBody>
      </p:sp>
      <p:sp>
        <p:nvSpPr>
          <p:cNvPr id="52" name="Google Shape;52;p6"/>
          <p:cNvSpPr txBox="1"/>
          <p:nvPr>
            <p:ph idx="1" type="body"/>
          </p:nvPr>
        </p:nvSpPr>
        <p:spPr>
          <a:xfrm>
            <a:off x="914400" y="1106487"/>
            <a:ext cx="6564312" cy="4137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Concept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State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Concurrent Executions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Serializability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Recoverability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Implementation of Isolation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Definition in SQL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Testing for Serializability.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Concept</a:t>
            </a:r>
            <a:endParaRPr/>
          </a:p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914400" y="1106487"/>
            <a:ext cx="7386637" cy="486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program execution that accesses and  possibly updates various data items.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transaction to transfer $50 from account A to account B: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	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	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:=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–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50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	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	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	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:=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+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50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	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B)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main issues to deal with: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Failures of various kinds, such as hardware failures and system crashes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Concurrent execution of multiple transactions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Fund Transfer</a:t>
            </a:r>
            <a:endParaRPr/>
          </a:p>
        </p:txBody>
      </p:sp>
      <p:sp>
        <p:nvSpPr>
          <p:cNvPr id="66" name="Google Shape;66;p8"/>
          <p:cNvSpPr txBox="1"/>
          <p:nvPr>
            <p:ph idx="1" type="body"/>
          </p:nvPr>
        </p:nvSpPr>
        <p:spPr>
          <a:xfrm>
            <a:off x="914400" y="1106487"/>
            <a:ext cx="7653337" cy="500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to transfer $50 from account A to account B: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hlink"/>
              </a:buClr>
              <a:buSzPts val="112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	</a:t>
            </a:r>
            <a:r>
              <a:rPr b="1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hlink"/>
              </a:buClr>
              <a:buSzPts val="112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	</a:t>
            </a:r>
            <a:r>
              <a:rPr b="0" i="1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:= </a:t>
            </a:r>
            <a:r>
              <a:rPr b="0" i="1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– 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50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hlink"/>
              </a:buClr>
              <a:buSzPts val="112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	</a:t>
            </a:r>
            <a:r>
              <a:rPr b="1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hlink"/>
              </a:buClr>
              <a:buSzPts val="112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	</a:t>
            </a:r>
            <a:r>
              <a:rPr b="1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hlink"/>
              </a:buClr>
              <a:buSzPts val="112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	</a:t>
            </a:r>
            <a:r>
              <a:rPr b="0" i="1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:= </a:t>
            </a:r>
            <a:r>
              <a:rPr b="0" i="1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+ 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50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hlink"/>
              </a:buClr>
              <a:buSzPts val="112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	</a:t>
            </a:r>
            <a:r>
              <a:rPr b="1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1" i="0" lang="en-US" sz="1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Atomicity requirement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 transaction fails after step 3 and before step 6, money will be “lost” leading to an inconsistent database state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Failure could be due to software or hardware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system should ensure that updates of a partially executed transaction are not reflected in the database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1" i="0" lang="en-US" sz="1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Durability requirement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once the user has been notified that the transaction has completed (i.e., the transfer of the $50 has taken place), the updates to the database by the transaction must persist even if there are software or hardware failures.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Fund Transfer (Cont.)</a:t>
            </a:r>
            <a:endParaRPr/>
          </a:p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784225" y="1106487"/>
            <a:ext cx="7812087" cy="536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to transfer $50 from account A to account B: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90"/>
              </a:spcBef>
              <a:spcAft>
                <a:spcPts val="0"/>
              </a:spcAft>
              <a:buClr>
                <a:schemeClr val="hlink"/>
              </a:buClr>
              <a:buSzPts val="112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	</a:t>
            </a:r>
            <a:r>
              <a:rPr b="1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90"/>
              </a:spcBef>
              <a:spcAft>
                <a:spcPts val="0"/>
              </a:spcAft>
              <a:buClr>
                <a:schemeClr val="hlink"/>
              </a:buClr>
              <a:buSzPts val="112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	</a:t>
            </a:r>
            <a:r>
              <a:rPr b="0" i="1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:= </a:t>
            </a:r>
            <a:r>
              <a:rPr b="0" i="1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– 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50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90"/>
              </a:spcBef>
              <a:spcAft>
                <a:spcPts val="0"/>
              </a:spcAft>
              <a:buClr>
                <a:schemeClr val="hlink"/>
              </a:buClr>
              <a:buSzPts val="112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	</a:t>
            </a:r>
            <a:r>
              <a:rPr b="1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90"/>
              </a:spcBef>
              <a:spcAft>
                <a:spcPts val="0"/>
              </a:spcAft>
              <a:buClr>
                <a:schemeClr val="hlink"/>
              </a:buClr>
              <a:buSzPts val="112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	</a:t>
            </a:r>
            <a:r>
              <a:rPr b="1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90"/>
              </a:spcBef>
              <a:spcAft>
                <a:spcPts val="0"/>
              </a:spcAft>
              <a:buClr>
                <a:schemeClr val="hlink"/>
              </a:buClr>
              <a:buSzPts val="112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	</a:t>
            </a:r>
            <a:r>
              <a:rPr b="0" i="1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:= </a:t>
            </a:r>
            <a:r>
              <a:rPr b="0" i="1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+ 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50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90"/>
              </a:spcBef>
              <a:spcAft>
                <a:spcPts val="0"/>
              </a:spcAft>
              <a:buClr>
                <a:schemeClr val="hlink"/>
              </a:buClr>
              <a:buSzPts val="112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	</a:t>
            </a:r>
            <a:r>
              <a:rPr b="1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1" i="0" lang="en-US" sz="1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Consistency requirement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above example: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sum of A and B is unchanged by the execution of the transaction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general, consistency requirements include </a:t>
            </a:r>
            <a:endParaRPr/>
          </a:p>
          <a:p>
            <a:pPr indent="-228600" lvl="2" marL="10858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Explicitly specified integrity constraints such as primary keys and foreign keys</a:t>
            </a:r>
            <a:endParaRPr/>
          </a:p>
          <a:p>
            <a:pPr indent="-228600" lvl="2" marL="10858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Implicit integrity constraints</a:t>
            </a:r>
            <a:endParaRPr/>
          </a:p>
          <a:p>
            <a:pPr indent="-228600" lvl="3" marL="14287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Helvetica Neue"/>
              <a:buChar char="–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sum of balances of all accounts, minus sum of loan amounts must equal value of cash-in-hand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must see a consistent database.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During transaction execution the database may be temporarily inconsistent.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the transaction completes successfully the database must be consistent</a:t>
            </a:r>
            <a:endParaRPr/>
          </a:p>
          <a:p>
            <a:pPr indent="-228600" lvl="2" marL="10858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Erroneous transaction logic can lead to inconsistency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Fund Transfer (Cont.)</a:t>
            </a:r>
            <a:endParaRPr/>
          </a:p>
        </p:txBody>
      </p:sp>
      <p:sp>
        <p:nvSpPr>
          <p:cNvPr id="80" name="Google Shape;80;p10"/>
          <p:cNvSpPr txBox="1"/>
          <p:nvPr>
            <p:ph idx="1" type="body"/>
          </p:nvPr>
        </p:nvSpPr>
        <p:spPr>
          <a:xfrm>
            <a:off x="914400" y="1106487"/>
            <a:ext cx="7615237" cy="4884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Isolation requirement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if between steps 3 and 6, another transaction T2 is allowed to access the partially updated database, it will see an inconsistent database (the sum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+ B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will be less than it should be).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T1                                        T2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	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	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:=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–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50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	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read(A), read(B), print(A+B)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	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	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:=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+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50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	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Isolation can be ensured trivially by running transactions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serially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is, one after the other.  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executing multiple transactions concurrently has significant benefits, as we will see later.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ACID Properties</a:t>
            </a:r>
            <a:endParaRPr/>
          </a:p>
        </p:txBody>
      </p:sp>
      <p:sp>
        <p:nvSpPr>
          <p:cNvPr id="87" name="Google Shape;87;p11"/>
          <p:cNvSpPr txBox="1"/>
          <p:nvPr>
            <p:ph idx="1" type="body"/>
          </p:nvPr>
        </p:nvSpPr>
        <p:spPr>
          <a:xfrm>
            <a:off x="914400" y="2081212"/>
            <a:ext cx="7872412" cy="4776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Atomicity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Either all operations of the transaction are properly reflected in the database or none are.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Consistency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Execution of a transaction in isolation preserves the consistency of the database.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Isolation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Although multiple transactions may execute concurrently, each transaction must be unaware of other concurrently executing transactions.  Intermediate transaction results must be hidden from other concurrently executed transactions.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is, for every pair of transactions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appears to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either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finished execution before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started, or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started execution after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finished.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Durability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a transaction completes successfully, the changes it has made to the database persist, even if there are system failures. </a:t>
            </a:r>
            <a:endParaRPr/>
          </a:p>
        </p:txBody>
      </p:sp>
      <p:sp>
        <p:nvSpPr>
          <p:cNvPr id="88" name="Google Shape;88;p11"/>
          <p:cNvSpPr txBox="1"/>
          <p:nvPr/>
        </p:nvSpPr>
        <p:spPr>
          <a:xfrm>
            <a:off x="901700" y="1106487"/>
            <a:ext cx="8242300" cy="91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is a unit of program execution that accesses and possibly updates various data items.To preserve the integrity of data the database system must ensure: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State</a:t>
            </a:r>
            <a:endParaRPr/>
          </a:p>
        </p:txBody>
      </p:sp>
      <p:sp>
        <p:nvSpPr>
          <p:cNvPr id="95" name="Google Shape;95;p12"/>
          <p:cNvSpPr txBox="1"/>
          <p:nvPr>
            <p:ph idx="1" type="body"/>
          </p:nvPr>
        </p:nvSpPr>
        <p:spPr>
          <a:xfrm>
            <a:off x="914400" y="1106487"/>
            <a:ext cx="7493000" cy="507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Active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initial state; the transaction stays in this state while it is executing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Partially committed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the final statement has been executed.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Failed 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--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the discovery that normal execution can no longer proceed.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Aborted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after the transaction has been rolled back and the database restored to its state prior to the start of the transaction.  Two options after it has been aborted: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restart the transaction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done only if no internal logical error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kill the transaction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Committed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after successful completion.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State (Cont.)</a:t>
            </a:r>
            <a:endParaRPr/>
          </a:p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3">
            <a:alphaModFix/>
          </a:blip>
          <a:srcRect b="549" l="9916" r="10123" t="550"/>
          <a:stretch/>
        </p:blipFill>
        <p:spPr>
          <a:xfrm>
            <a:off x="1863725" y="1106487"/>
            <a:ext cx="5529262" cy="512921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>
            <p:ph type="title"/>
          </p:nvPr>
        </p:nvSpPr>
        <p:spPr>
          <a:xfrm>
            <a:off x="801687" y="495300"/>
            <a:ext cx="7664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Implementation of Atomicity and Durability</a:t>
            </a:r>
            <a:endParaRPr/>
          </a:p>
        </p:txBody>
      </p:sp>
      <p:sp>
        <p:nvSpPr>
          <p:cNvPr id="109" name="Google Shape;109;p14"/>
          <p:cNvSpPr txBox="1"/>
          <p:nvPr>
            <p:ph idx="1" type="body"/>
          </p:nvPr>
        </p:nvSpPr>
        <p:spPr>
          <a:xfrm>
            <a:off x="841375" y="917575"/>
            <a:ext cx="7753350" cy="321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recovery-management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component of a database system implements the support for atomicity and durability.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the </a:t>
            </a:r>
            <a:r>
              <a:rPr b="1" i="1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shadow-database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scheme: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updates are made on 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shadow copy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the database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db_pointer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made to point to the updated shadow copy  after</a:t>
            </a:r>
            <a:endParaRPr/>
          </a:p>
          <a:p>
            <a:pPr indent="-228600" lvl="3" marL="14287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transaction reaches partial commit and </a:t>
            </a:r>
            <a:endParaRPr/>
          </a:p>
          <a:p>
            <a:pPr indent="-228600" lvl="3" marL="14287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updated pages have been flushed to disk.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0" name="Google Shape;110;p14"/>
          <p:cNvPicPr preferRelativeResize="0"/>
          <p:nvPr/>
        </p:nvPicPr>
        <p:blipFill rotWithShape="1">
          <a:blip r:embed="rId3">
            <a:alphaModFix/>
          </a:blip>
          <a:srcRect b="18566" l="398" r="595" t="18301"/>
          <a:stretch/>
        </p:blipFill>
        <p:spPr>
          <a:xfrm>
            <a:off x="1458912" y="3654425"/>
            <a:ext cx="6180137" cy="29559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>
            <p:ph type="title"/>
          </p:nvPr>
        </p:nvSpPr>
        <p:spPr>
          <a:xfrm>
            <a:off x="1066800" y="315912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Implementation of Atomicity and Durability (Cont.)</a:t>
            </a:r>
            <a:endParaRPr/>
          </a:p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639762" y="1338262"/>
            <a:ext cx="810577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db_pointer always points to the current consistent copy of the database.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case transaction fails, old consistent copy pointed to by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db_pointer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used, and the shadow copy can be deleted.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shadow-database scheme: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Assumes that only one transaction is active at a time.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Assumes disks do not fail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Useful for text editors, but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extremely inefficient for large databases (why?)</a:t>
            </a:r>
            <a:endParaRPr/>
          </a:p>
          <a:p>
            <a:pPr indent="-228600" lvl="3" marL="14287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Variant called shadow paging reduces copying of data, but is still not practical for large databases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Does not handle concurrent transactions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Will study better schemes in Chapter 17.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Concurrent Executions</a:t>
            </a:r>
            <a:endParaRPr/>
          </a:p>
        </p:txBody>
      </p:sp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914400" y="1106487"/>
            <a:ext cx="7439025" cy="5099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 transactions are allowed to run concurrently in the system.  Advantages are: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increased processor and disk utilization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leading to better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throughput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one transaction can be using the CPU while another is reading from or writing to the disk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reduced average response time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transactions: short transactions need not wait behind long ones.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Concurrency control schemes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mechanisms  to achieve isolation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is, to control the interaction among the concurrent transactions in order to prevent them from destroying the consistency of the database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Will study in Chapter 16, after studying notion of correctness of concurrent executions.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Schedules</a:t>
            </a:r>
            <a:endParaRPr/>
          </a:p>
        </p:txBody>
      </p:sp>
      <p:sp>
        <p:nvSpPr>
          <p:cNvPr id="131" name="Google Shape;131;p17"/>
          <p:cNvSpPr txBox="1"/>
          <p:nvPr>
            <p:ph idx="1" type="body"/>
          </p:nvPr>
        </p:nvSpPr>
        <p:spPr>
          <a:xfrm>
            <a:off x="914400" y="1106487"/>
            <a:ext cx="7810500" cy="4981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a sequences of instructions that specify the chronological order in which instructions of concurrent transactions are executed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schedule for a set of transactions must consist of all instructions of those transactions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must preserve the order in which the instructions appear in each individual transaction.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that successfully completes its execution will have a commit instructions as the last statement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 default transaction assumed to execute commit instruction as its last step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that fails to successfully complete its execution will have an abort instruction as the last statement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1</a:t>
            </a:r>
            <a:endParaRPr/>
          </a:p>
        </p:txBody>
      </p:sp>
      <p:sp>
        <p:nvSpPr>
          <p:cNvPr id="138" name="Google Shape;138;p18"/>
          <p:cNvSpPr txBox="1"/>
          <p:nvPr>
            <p:ph idx="1" type="body"/>
          </p:nvPr>
        </p:nvSpPr>
        <p:spPr>
          <a:xfrm>
            <a:off x="914400" y="1106487"/>
            <a:ext cx="7262812" cy="118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transfer $50 from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transfer 10% of the balance from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B.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serial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schedule in which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followed by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0" i="0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9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/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 b="555" l="20474" r="20265" t="555"/>
          <a:stretch/>
        </p:blipFill>
        <p:spPr>
          <a:xfrm>
            <a:off x="2770187" y="2089150"/>
            <a:ext cx="3495675" cy="4375150"/>
          </a:xfrm>
          <a:prstGeom prst="rect">
            <a:avLst/>
          </a:prstGeom>
          <a:noFill/>
          <a:ln cap="flat" cmpd="thinThick" w="571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2</a:t>
            </a:r>
            <a:endParaRPr/>
          </a:p>
        </p:txBody>
      </p:sp>
      <p:pic>
        <p:nvPicPr>
          <p:cNvPr id="146" name="Google Shape;146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903" l="20330" r="20783" t="602"/>
          <a:stretch/>
        </p:blipFill>
        <p:spPr>
          <a:xfrm>
            <a:off x="2317750" y="1738312"/>
            <a:ext cx="3883025" cy="427196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47" name="Google Shape;147;p19"/>
          <p:cNvSpPr txBox="1"/>
          <p:nvPr/>
        </p:nvSpPr>
        <p:spPr>
          <a:xfrm>
            <a:off x="741362" y="1089025"/>
            <a:ext cx="78803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serial schedule where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followed by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3</a:t>
            </a:r>
            <a:endParaRPr/>
          </a:p>
        </p:txBody>
      </p:sp>
      <p:sp>
        <p:nvSpPr>
          <p:cNvPr id="154" name="Google Shape;154;p20"/>
          <p:cNvSpPr txBox="1"/>
          <p:nvPr>
            <p:ph idx="1" type="body"/>
          </p:nvPr>
        </p:nvSpPr>
        <p:spPr>
          <a:xfrm>
            <a:off x="914400" y="1106487"/>
            <a:ext cx="6765925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the transactions defined previously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The following schedule is not a serial schedule, but it is </a:t>
            </a:r>
            <a:r>
              <a:rPr b="0" i="1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equivalent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Schedule 1.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1000125" y="6018212"/>
            <a:ext cx="67246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Schedules 1, 2 and 3, the sum A + B is preserved.</a:t>
            </a:r>
            <a:endParaRPr/>
          </a:p>
        </p:txBody>
      </p:sp>
      <p:pic>
        <p:nvPicPr>
          <p:cNvPr id="156" name="Google Shape;156;p20"/>
          <p:cNvPicPr preferRelativeResize="0"/>
          <p:nvPr/>
        </p:nvPicPr>
        <p:blipFill rotWithShape="1">
          <a:blip r:embed="rId3">
            <a:alphaModFix/>
          </a:blip>
          <a:srcRect b="5331" l="21800" r="23799" t="4266"/>
          <a:stretch/>
        </p:blipFill>
        <p:spPr>
          <a:xfrm>
            <a:off x="3259137" y="1900237"/>
            <a:ext cx="3146425" cy="39211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4</a:t>
            </a:r>
            <a:endParaRPr/>
          </a:p>
        </p:txBody>
      </p:sp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914400" y="1106487"/>
            <a:ext cx="6724650" cy="118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following concurrent schedule does not preserve the value of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			</a:t>
            </a:r>
            <a:endParaRPr/>
          </a:p>
        </p:txBody>
      </p:sp>
      <p:pic>
        <p:nvPicPr>
          <p:cNvPr id="164" name="Google Shape;164;p21"/>
          <p:cNvPicPr preferRelativeResize="0"/>
          <p:nvPr/>
        </p:nvPicPr>
        <p:blipFill rotWithShape="1">
          <a:blip r:embed="rId3">
            <a:alphaModFix/>
          </a:blip>
          <a:srcRect b="530" l="20291" r="20292" t="531"/>
          <a:stretch/>
        </p:blipFill>
        <p:spPr>
          <a:xfrm>
            <a:off x="2884487" y="1854200"/>
            <a:ext cx="3513137" cy="43878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Serializability</a:t>
            </a:r>
            <a:endParaRPr/>
          </a:p>
        </p:txBody>
      </p:sp>
      <p:sp>
        <p:nvSpPr>
          <p:cNvPr id="171" name="Google Shape;171;p22"/>
          <p:cNvSpPr txBox="1"/>
          <p:nvPr>
            <p:ph idx="1" type="body"/>
          </p:nvPr>
        </p:nvSpPr>
        <p:spPr>
          <a:xfrm>
            <a:off x="914400" y="1106487"/>
            <a:ext cx="7689850" cy="5011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Assumption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Each transaction preserves database consistency.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Thus serial execution of a set of transactions preserves database consistency.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(possibly concurrent) schedule is serializable if it is equivalent to a serial schedule.  Different forms of schedule equivalence give rise to the notions of: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	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conflict serializability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	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serializability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Simplified view of transactions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ignore operations other than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instructions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assume that transactions may perform arbitrary computations on data in local buffers in between reads and writes.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simplified schedules consist of only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Conflicting Instructions </a:t>
            </a:r>
            <a:endParaRPr/>
          </a:p>
        </p:txBody>
      </p:sp>
      <p:sp>
        <p:nvSpPr>
          <p:cNvPr id="178" name="Google Shape;178;p23"/>
          <p:cNvSpPr txBox="1"/>
          <p:nvPr>
            <p:ph idx="1" type="body"/>
          </p:nvPr>
        </p:nvSpPr>
        <p:spPr>
          <a:xfrm>
            <a:off x="914400" y="1106487"/>
            <a:ext cx="7659687" cy="509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transactions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respectively,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conflict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and only if there exists some item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accessed by both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at least one of these instructions wrote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Q.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1.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Q), 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don’t conflict.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2.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Q),  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  They conflict.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3.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Q), 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   They conflict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4.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Q), 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  They conflict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Intuitively, a conflict between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forces a (logical) temporal order between them.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are consecutive in a schedule and they do not conflict, their results would remain the same even if they had been interchanged in the schedule.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Conflict Serializability</a:t>
            </a:r>
            <a:endParaRPr/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914400" y="1106487"/>
            <a:ext cx="7623175" cy="427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 schedule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transformed into a schedule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S´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 a series of swaps of non-conflicting instructions, we say that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S´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conflict equivalent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say that a schedule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conflict serializable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it is conflict equivalent to a serial schedule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Conflict Serializability (Cont.)</a:t>
            </a:r>
            <a:endParaRPr/>
          </a:p>
        </p:txBody>
      </p:sp>
      <p:sp>
        <p:nvSpPr>
          <p:cNvPr id="192" name="Google Shape;192;p25"/>
          <p:cNvSpPr txBox="1"/>
          <p:nvPr>
            <p:ph idx="1" type="body"/>
          </p:nvPr>
        </p:nvSpPr>
        <p:spPr>
          <a:xfrm>
            <a:off x="914400" y="1106487"/>
            <a:ext cx="7397750" cy="4068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3 can be transformed into Schedule 6, a serial schedule where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follows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by series of swaps of non-conflicting instructions.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Therefore Schedule 3 is conflict serializable.</a:t>
            </a:r>
            <a:endParaRPr/>
          </a:p>
        </p:txBody>
      </p:sp>
      <p:pic>
        <p:nvPicPr>
          <p:cNvPr id="193" name="Google Shape;193;p25"/>
          <p:cNvPicPr preferRelativeResize="0"/>
          <p:nvPr/>
        </p:nvPicPr>
        <p:blipFill rotWithShape="1">
          <a:blip r:embed="rId3">
            <a:alphaModFix/>
          </a:blip>
          <a:srcRect b="894" l="17239" r="17461" t="299"/>
          <a:stretch/>
        </p:blipFill>
        <p:spPr>
          <a:xfrm>
            <a:off x="895350" y="2695575"/>
            <a:ext cx="3003550" cy="34099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94" name="Google Shape;194;p25"/>
          <p:cNvPicPr preferRelativeResize="0"/>
          <p:nvPr/>
        </p:nvPicPr>
        <p:blipFill rotWithShape="1">
          <a:blip r:embed="rId4">
            <a:alphaModFix/>
          </a:blip>
          <a:srcRect b="795" l="17505" r="17904" t="531"/>
          <a:stretch/>
        </p:blipFill>
        <p:spPr>
          <a:xfrm>
            <a:off x="5141912" y="2643187"/>
            <a:ext cx="2970212" cy="34036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95" name="Google Shape;195;p25"/>
          <p:cNvSpPr txBox="1"/>
          <p:nvPr/>
        </p:nvSpPr>
        <p:spPr>
          <a:xfrm>
            <a:off x="1639887" y="6138862"/>
            <a:ext cx="14557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3</a:t>
            </a:r>
            <a:endParaRPr/>
          </a:p>
        </p:txBody>
      </p:sp>
      <p:sp>
        <p:nvSpPr>
          <p:cNvPr id="196" name="Google Shape;196;p25"/>
          <p:cNvSpPr txBox="1"/>
          <p:nvPr/>
        </p:nvSpPr>
        <p:spPr>
          <a:xfrm>
            <a:off x="5929312" y="6102350"/>
            <a:ext cx="14557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Conflict Serializability (Cont.)</a:t>
            </a:r>
            <a:endParaRPr/>
          </a:p>
        </p:txBody>
      </p:sp>
      <p:sp>
        <p:nvSpPr>
          <p:cNvPr id="203" name="Google Shape;203;p26"/>
          <p:cNvSpPr txBox="1"/>
          <p:nvPr>
            <p:ph idx="1" type="body"/>
          </p:nvPr>
        </p:nvSpPr>
        <p:spPr>
          <a:xfrm>
            <a:off x="914400" y="1106487"/>
            <a:ext cx="7650162" cy="456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a schedule that is not conflict serializable: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are unable to swap instructions in the above schedule to obtain either the serial schedule 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&gt;, or the serial schedule 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&gt;.</a:t>
            </a:r>
            <a:endParaRPr/>
          </a:p>
        </p:txBody>
      </p:sp>
      <p:pic>
        <p:nvPicPr>
          <p:cNvPr id="204" name="Google Shape;204;p26"/>
          <p:cNvPicPr preferRelativeResize="0"/>
          <p:nvPr/>
        </p:nvPicPr>
        <p:blipFill rotWithShape="1">
          <a:blip r:embed="rId3">
            <a:alphaModFix/>
          </a:blip>
          <a:srcRect b="16996" l="849" r="849" t="16995"/>
          <a:stretch/>
        </p:blipFill>
        <p:spPr>
          <a:xfrm>
            <a:off x="3106737" y="2012950"/>
            <a:ext cx="2913062" cy="14668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Serializability</a:t>
            </a:r>
            <a:endParaRPr/>
          </a:p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914400" y="1106487"/>
            <a:ext cx="7566025" cy="510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S´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two schedules with the same set of transactions.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S´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are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equivalent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 following three conditions are met, for each data item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Q,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in schedule S,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the initial value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then in schedule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S’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also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must read the initial value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in schedule S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executes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Q)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that value was produced by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(if any), then in schedule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S’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also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must read the value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was produced by the same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(Q) operation of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transaction (if any) that performs the final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operation in schedule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must also perform the final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operation in schedule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S’.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can be seen, view equivalence is also based purely on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alone.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Serializability (Cont.)</a:t>
            </a:r>
            <a:endParaRPr/>
          </a:p>
        </p:txBody>
      </p:sp>
      <p:sp>
        <p:nvSpPr>
          <p:cNvPr id="218" name="Google Shape;218;p28"/>
          <p:cNvSpPr txBox="1"/>
          <p:nvPr>
            <p:ph idx="1" type="body"/>
          </p:nvPr>
        </p:nvSpPr>
        <p:spPr>
          <a:xfrm>
            <a:off x="914400" y="1106487"/>
            <a:ext cx="7848600" cy="50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schedule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serializable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it is view equivalent to a serial schedule.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conflict serializable schedule is also view serializable.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Below is a schedule which is view-serializable but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conflict serializable.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serial schedule is above equivalent to?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view serializable schedule that is not conflict serializable has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blind writes.</a:t>
            </a:r>
            <a:endParaRPr/>
          </a:p>
        </p:txBody>
      </p:sp>
      <p:pic>
        <p:nvPicPr>
          <p:cNvPr id="219" name="Google Shape;219;p28"/>
          <p:cNvPicPr preferRelativeResize="0"/>
          <p:nvPr/>
        </p:nvPicPr>
        <p:blipFill rotWithShape="1">
          <a:blip r:embed="rId3">
            <a:alphaModFix/>
          </a:blip>
          <a:srcRect b="22891" l="677" r="1129" t="21687"/>
          <a:stretch/>
        </p:blipFill>
        <p:spPr>
          <a:xfrm>
            <a:off x="2662237" y="2859087"/>
            <a:ext cx="4038600" cy="17097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Notions of Serializability</a:t>
            </a:r>
            <a:endParaRPr/>
          </a:p>
        </p:txBody>
      </p:sp>
      <p:sp>
        <p:nvSpPr>
          <p:cNvPr id="226" name="Google Shape;226;p29"/>
          <p:cNvSpPr txBox="1"/>
          <p:nvPr>
            <p:ph idx="1" type="body"/>
          </p:nvPr>
        </p:nvSpPr>
        <p:spPr>
          <a:xfrm>
            <a:off x="914400" y="1106487"/>
            <a:ext cx="6985000" cy="627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schedule below produces same outcome as the serial schedule 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&gt;, yet is not conflict equivalent or view equivalent to it.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Determining such equivalence requires analysis of operations other than read and write.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7" name="Google Shape;227;p29"/>
          <p:cNvPicPr preferRelativeResize="0"/>
          <p:nvPr/>
        </p:nvPicPr>
        <p:blipFill rotWithShape="1">
          <a:blip r:embed="rId3">
            <a:alphaModFix/>
          </a:blip>
          <a:srcRect b="1094" l="21575" r="21986" t="547"/>
          <a:stretch/>
        </p:blipFill>
        <p:spPr>
          <a:xfrm>
            <a:off x="3140075" y="1825625"/>
            <a:ext cx="2638425" cy="34496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Testing for Serializability</a:t>
            </a:r>
            <a:endParaRPr/>
          </a:p>
        </p:txBody>
      </p:sp>
      <p:sp>
        <p:nvSpPr>
          <p:cNvPr id="234" name="Google Shape;234;p30"/>
          <p:cNvSpPr txBox="1"/>
          <p:nvPr>
            <p:ph idx="1" type="body"/>
          </p:nvPr>
        </p:nvSpPr>
        <p:spPr>
          <a:xfrm>
            <a:off x="914400" y="1106487"/>
            <a:ext cx="6796087" cy="321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some schedule of a set of transactions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Precedence graph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a direct graph where the vertices are the transactions (names).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draw an arc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 two transaction conflict,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accessed the data item on which the conflict arose earlier.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may label the arc by the item that was accessed.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1</a:t>
            </a:r>
            <a:endParaRPr/>
          </a:p>
        </p:txBody>
      </p:sp>
      <p:sp>
        <p:nvSpPr>
          <p:cNvPr id="235" name="Google Shape;235;p30"/>
          <p:cNvSpPr txBox="1"/>
          <p:nvPr/>
        </p:nvSpPr>
        <p:spPr>
          <a:xfrm>
            <a:off x="4203700" y="3941762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/>
          </a:p>
        </p:txBody>
      </p:sp>
      <p:sp>
        <p:nvSpPr>
          <p:cNvPr id="236" name="Google Shape;236;p30"/>
          <p:cNvSpPr txBox="1"/>
          <p:nvPr/>
        </p:nvSpPr>
        <p:spPr>
          <a:xfrm>
            <a:off x="4225925" y="5621337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endParaRPr/>
          </a:p>
        </p:txBody>
      </p:sp>
      <p:pic>
        <p:nvPicPr>
          <p:cNvPr id="237" name="Google Shape;237;p30"/>
          <p:cNvPicPr preferRelativeResize="0"/>
          <p:nvPr/>
        </p:nvPicPr>
        <p:blipFill rotWithShape="1">
          <a:blip r:embed="rId3">
            <a:alphaModFix/>
          </a:blip>
          <a:srcRect b="18799" l="682" r="682" t="17890"/>
          <a:stretch/>
        </p:blipFill>
        <p:spPr>
          <a:xfrm>
            <a:off x="2970212" y="4303712"/>
            <a:ext cx="2727325" cy="131286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Schedule (Schedule A) + Precedence Graph</a:t>
            </a:r>
            <a:endParaRPr/>
          </a:p>
        </p:txBody>
      </p:sp>
      <p:sp>
        <p:nvSpPr>
          <p:cNvPr id="244" name="Google Shape;244;p31"/>
          <p:cNvSpPr txBox="1"/>
          <p:nvPr>
            <p:ph idx="1" type="body"/>
          </p:nvPr>
        </p:nvSpPr>
        <p:spPr>
          <a:xfrm>
            <a:off x="666750" y="1038225"/>
            <a:ext cx="67246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		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		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		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		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read(X)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read(Y)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read(Z)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				read(V)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				read(W)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				read(W)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read(Y)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write(Y)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write(Z)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read(U)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		read(Y)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		write(Y)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		read(Z)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		write(Z)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read(U)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write(U)</a:t>
            </a:r>
            <a:endParaRPr/>
          </a:p>
        </p:txBody>
      </p:sp>
      <p:grpSp>
        <p:nvGrpSpPr>
          <p:cNvPr id="245" name="Google Shape;245;p31"/>
          <p:cNvGrpSpPr/>
          <p:nvPr/>
        </p:nvGrpSpPr>
        <p:grpSpPr>
          <a:xfrm>
            <a:off x="976312" y="1074737"/>
            <a:ext cx="5443537" cy="4806950"/>
            <a:chOff x="997" y="485"/>
            <a:chExt cx="3429" cy="3028"/>
          </a:xfrm>
        </p:grpSpPr>
        <p:cxnSp>
          <p:nvCxnSpPr>
            <p:cNvPr id="246" name="Google Shape;246;p31"/>
            <p:cNvCxnSpPr/>
            <p:nvPr/>
          </p:nvCxnSpPr>
          <p:spPr>
            <a:xfrm>
              <a:off x="1019" y="682"/>
              <a:ext cx="340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247" name="Google Shape;247;p31"/>
            <p:cNvGrpSpPr/>
            <p:nvPr/>
          </p:nvGrpSpPr>
          <p:grpSpPr>
            <a:xfrm>
              <a:off x="997" y="485"/>
              <a:ext cx="3427" cy="3028"/>
              <a:chOff x="1005" y="485"/>
              <a:chExt cx="3427" cy="3696"/>
            </a:xfrm>
          </p:grpSpPr>
          <p:cxnSp>
            <p:nvCxnSpPr>
              <p:cNvPr id="248" name="Google Shape;248;p31"/>
              <p:cNvCxnSpPr/>
              <p:nvPr/>
            </p:nvCxnSpPr>
            <p:spPr>
              <a:xfrm>
                <a:off x="1005" y="485"/>
                <a:ext cx="0" cy="36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49" name="Google Shape;249;p31"/>
              <p:cNvCxnSpPr/>
              <p:nvPr/>
            </p:nvCxnSpPr>
            <p:spPr>
              <a:xfrm>
                <a:off x="1721" y="485"/>
                <a:ext cx="0" cy="36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50" name="Google Shape;250;p31"/>
              <p:cNvCxnSpPr/>
              <p:nvPr/>
            </p:nvCxnSpPr>
            <p:spPr>
              <a:xfrm>
                <a:off x="2428" y="485"/>
                <a:ext cx="0" cy="365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51" name="Google Shape;251;p31"/>
              <p:cNvCxnSpPr/>
              <p:nvPr/>
            </p:nvCxnSpPr>
            <p:spPr>
              <a:xfrm>
                <a:off x="3099" y="485"/>
                <a:ext cx="0" cy="36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52" name="Google Shape;252;p31"/>
              <p:cNvCxnSpPr/>
              <p:nvPr/>
            </p:nvCxnSpPr>
            <p:spPr>
              <a:xfrm>
                <a:off x="3761" y="485"/>
                <a:ext cx="0" cy="36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53" name="Google Shape;253;p31"/>
              <p:cNvCxnSpPr/>
              <p:nvPr/>
            </p:nvCxnSpPr>
            <p:spPr>
              <a:xfrm>
                <a:off x="4432" y="485"/>
                <a:ext cx="0" cy="36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54" name="Google Shape;254;p31"/>
          <p:cNvGrpSpPr/>
          <p:nvPr/>
        </p:nvGrpSpPr>
        <p:grpSpPr>
          <a:xfrm>
            <a:off x="6527800" y="2316162"/>
            <a:ext cx="2446337" cy="2306637"/>
            <a:chOff x="4112" y="1459"/>
            <a:chExt cx="1541" cy="1453"/>
          </a:xfrm>
        </p:grpSpPr>
        <p:sp>
          <p:nvSpPr>
            <p:cNvPr id="255" name="Google Shape;255;p31"/>
            <p:cNvSpPr txBox="1"/>
            <p:nvPr/>
          </p:nvSpPr>
          <p:spPr>
            <a:xfrm>
              <a:off x="4262" y="2613"/>
              <a:ext cx="30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0" i="1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</a:t>
              </a:r>
              <a:r>
                <a:rPr b="0" baseline="-25000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</a:t>
              </a:r>
              <a:endParaRPr/>
            </a:p>
          </p:txBody>
        </p:sp>
        <p:cxnSp>
          <p:nvCxnSpPr>
            <p:cNvPr id="256" name="Google Shape;256;p31"/>
            <p:cNvCxnSpPr/>
            <p:nvPr/>
          </p:nvCxnSpPr>
          <p:spPr>
            <a:xfrm rot="10800000">
              <a:off x="4531" y="2670"/>
              <a:ext cx="873" cy="242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stealth"/>
              <a:tailEnd len="med" w="med" type="none"/>
            </a:ln>
          </p:spPr>
        </p:cxnSp>
        <p:sp>
          <p:nvSpPr>
            <p:cNvPr id="257" name="Google Shape;257;p31"/>
            <p:cNvSpPr txBox="1"/>
            <p:nvPr/>
          </p:nvSpPr>
          <p:spPr>
            <a:xfrm>
              <a:off x="5347" y="2522"/>
              <a:ext cx="30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0" i="1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</a:t>
              </a:r>
              <a:r>
                <a:rPr b="0" baseline="-25000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4</a:t>
              </a:r>
              <a:endParaRPr/>
            </a:p>
          </p:txBody>
        </p:sp>
        <p:sp>
          <p:nvSpPr>
            <p:cNvPr id="258" name="Google Shape;258;p31"/>
            <p:cNvSpPr txBox="1"/>
            <p:nvPr/>
          </p:nvSpPr>
          <p:spPr>
            <a:xfrm>
              <a:off x="4131" y="1505"/>
              <a:ext cx="30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0" i="1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</a:t>
              </a:r>
              <a:r>
                <a:rPr b="0" baseline="-25000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</a:t>
              </a:r>
              <a:endParaRPr/>
            </a:p>
          </p:txBody>
        </p:sp>
        <p:cxnSp>
          <p:nvCxnSpPr>
            <p:cNvPr id="259" name="Google Shape;259;p31"/>
            <p:cNvCxnSpPr/>
            <p:nvPr/>
          </p:nvCxnSpPr>
          <p:spPr>
            <a:xfrm flipH="1" rot="5400000">
              <a:off x="5112" y="1994"/>
              <a:ext cx="744" cy="31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stealth"/>
              <a:tailEnd len="med" w="med" type="none"/>
            </a:ln>
          </p:spPr>
        </p:cxnSp>
        <p:sp>
          <p:nvSpPr>
            <p:cNvPr id="260" name="Google Shape;260;p31"/>
            <p:cNvSpPr txBox="1"/>
            <p:nvPr/>
          </p:nvSpPr>
          <p:spPr>
            <a:xfrm>
              <a:off x="5303" y="1505"/>
              <a:ext cx="30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0" i="1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</a:t>
              </a:r>
              <a:r>
                <a:rPr b="0" baseline="-25000" i="0" lang="en-US" sz="2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</a:t>
              </a:r>
              <a:endParaRPr/>
            </a:p>
          </p:txBody>
        </p:sp>
        <p:cxnSp>
          <p:nvCxnSpPr>
            <p:cNvPr id="261" name="Google Shape;261;p31"/>
            <p:cNvCxnSpPr/>
            <p:nvPr/>
          </p:nvCxnSpPr>
          <p:spPr>
            <a:xfrm flipH="1">
              <a:off x="4384" y="1459"/>
              <a:ext cx="952" cy="278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stealth"/>
              <a:tailEnd len="med" w="med" type="none"/>
            </a:ln>
          </p:spPr>
        </p:cxnSp>
        <p:cxnSp>
          <p:nvCxnSpPr>
            <p:cNvPr id="262" name="Google Shape;262;p31"/>
            <p:cNvCxnSpPr/>
            <p:nvPr/>
          </p:nvCxnSpPr>
          <p:spPr>
            <a:xfrm rot="-5400000">
              <a:off x="3772" y="2060"/>
              <a:ext cx="927" cy="247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stealth"/>
              <a:tailEnd len="med" w="med" type="none"/>
            </a:ln>
          </p:spPr>
        </p:cxnSp>
      </p:grpSp>
      <p:sp>
        <p:nvSpPr>
          <p:cNvPr id="263" name="Google Shape;263;p31"/>
          <p:cNvSpPr txBox="1"/>
          <p:nvPr/>
        </p:nvSpPr>
        <p:spPr>
          <a:xfrm>
            <a:off x="7464425" y="5372100"/>
            <a:ext cx="4873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for Conflict Serializability</a:t>
            </a:r>
            <a:endParaRPr/>
          </a:p>
        </p:txBody>
      </p:sp>
      <p:sp>
        <p:nvSpPr>
          <p:cNvPr id="270" name="Google Shape;270;p32"/>
          <p:cNvSpPr txBox="1"/>
          <p:nvPr>
            <p:ph idx="1" type="body"/>
          </p:nvPr>
        </p:nvSpPr>
        <p:spPr>
          <a:xfrm>
            <a:off x="754062" y="1106487"/>
            <a:ext cx="5078412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schedule is conflict serializable if and only if its precedence graph is acyclic.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Cycle-detection algorithms exist which take order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baseline="30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time, 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the number of vertices in the graph.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(Better algorithms take order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where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number of edges.)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precedence graph is acyclic, the serializability order can be obtained by a </a:t>
            </a:r>
            <a:r>
              <a:rPr b="0" i="1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topological sorting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the graph.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This is a linear order consistent with the partial order of the graph.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example, a serializability order for Schedule A would be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Are there others?</a:t>
            </a:r>
            <a:endParaRPr/>
          </a:p>
        </p:txBody>
      </p:sp>
      <p:pic>
        <p:nvPicPr>
          <p:cNvPr id="271" name="Google Shape;271;p32"/>
          <p:cNvPicPr preferRelativeResize="0"/>
          <p:nvPr/>
        </p:nvPicPr>
        <p:blipFill rotWithShape="1">
          <a:blip r:embed="rId3">
            <a:alphaModFix/>
          </a:blip>
          <a:srcRect b="846" l="32203" r="32202" t="563"/>
          <a:stretch/>
        </p:blipFill>
        <p:spPr>
          <a:xfrm>
            <a:off x="6153150" y="1077912"/>
            <a:ext cx="2400300" cy="49863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for View Serializability</a:t>
            </a:r>
            <a:endParaRPr/>
          </a:p>
        </p:txBody>
      </p:sp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914400" y="1106487"/>
            <a:ext cx="76771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precedence graph test for conflict serializability cannot be used directly to test for view serializability.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Extension to test for view serializability has cost exponential in the size of the precedence graph.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problem of checking if a schedule is view serializable falls in the class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-complete problems.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Thus existence of an efficient algorithm is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extremely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unlikely.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 practical algorithms that just check some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sufficient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conditions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view serializability can still be used.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Recoverable Schedules</a:t>
            </a:r>
            <a:endParaRPr/>
          </a:p>
        </p:txBody>
      </p:sp>
      <p:sp>
        <p:nvSpPr>
          <p:cNvPr id="285" name="Google Shape;285;p34"/>
          <p:cNvSpPr txBox="1"/>
          <p:nvPr>
            <p:ph idx="1" type="body"/>
          </p:nvPr>
        </p:nvSpPr>
        <p:spPr>
          <a:xfrm>
            <a:off x="914400" y="1747837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Recoverable</a:t>
            </a:r>
            <a:r>
              <a:rPr b="1" i="1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if a transaction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reads a data item previously written by a transaction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then the commit operation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appears before the commit operation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following schedule (Schedule 11) is not recoverable if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commits immediately after the read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should abort,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would have read (and possibly shown to the user) an inconsistent database state.  Hence, database must ensure that schedules are recoverable.</a:t>
            </a:r>
            <a:endParaRPr/>
          </a:p>
        </p:txBody>
      </p:sp>
      <p:sp>
        <p:nvSpPr>
          <p:cNvPr id="286" name="Google Shape;286;p34"/>
          <p:cNvSpPr txBox="1"/>
          <p:nvPr/>
        </p:nvSpPr>
        <p:spPr>
          <a:xfrm>
            <a:off x="914400" y="1106487"/>
            <a:ext cx="67913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to address the effect of transaction failures on concurrently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running transactions.</a:t>
            </a:r>
            <a:endParaRPr/>
          </a:p>
        </p:txBody>
      </p:sp>
      <p:pic>
        <p:nvPicPr>
          <p:cNvPr id="287" name="Google Shape;287;p34"/>
          <p:cNvPicPr preferRelativeResize="0"/>
          <p:nvPr/>
        </p:nvPicPr>
        <p:blipFill rotWithShape="1">
          <a:blip r:embed="rId3">
            <a:alphaModFix/>
          </a:blip>
          <a:srcRect b="6161" l="462" r="1155" t="5853"/>
          <a:stretch/>
        </p:blipFill>
        <p:spPr>
          <a:xfrm>
            <a:off x="3303587" y="3408362"/>
            <a:ext cx="2379662" cy="15954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Cascading Rollbacks</a:t>
            </a:r>
            <a:endParaRPr/>
          </a:p>
        </p:txBody>
      </p:sp>
      <p:sp>
        <p:nvSpPr>
          <p:cNvPr id="294" name="Google Shape;294;p35"/>
          <p:cNvSpPr txBox="1"/>
          <p:nvPr>
            <p:ph idx="1" type="body"/>
          </p:nvPr>
        </p:nvSpPr>
        <p:spPr>
          <a:xfrm>
            <a:off x="914400" y="1106487"/>
            <a:ext cx="7169150" cy="4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Cascading rollback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a single transaction failure leads to a series of transaction rollbacks.  Consider the following schedule where none of the transactions has yet committed (so the schedule is recoverable)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fails,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must also be rolled back.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lead to the undoing of a significant amount of work</a:t>
            </a:r>
            <a:endParaRPr/>
          </a:p>
        </p:txBody>
      </p:sp>
      <p:pic>
        <p:nvPicPr>
          <p:cNvPr id="295" name="Google Shape;295;p35"/>
          <p:cNvPicPr preferRelativeResize="0"/>
          <p:nvPr/>
        </p:nvPicPr>
        <p:blipFill rotWithShape="1">
          <a:blip r:embed="rId3">
            <a:alphaModFix/>
          </a:blip>
          <a:srcRect b="9592" l="450" r="673" t="9592"/>
          <a:stretch/>
        </p:blipFill>
        <p:spPr>
          <a:xfrm>
            <a:off x="2220912" y="2278062"/>
            <a:ext cx="3711575" cy="22764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Cascadeless Schedules</a:t>
            </a:r>
            <a:endParaRPr/>
          </a:p>
        </p:txBody>
      </p:sp>
      <p:sp>
        <p:nvSpPr>
          <p:cNvPr id="302" name="Google Shape;302;p36"/>
          <p:cNvSpPr txBox="1"/>
          <p:nvPr>
            <p:ph idx="1" type="body"/>
          </p:nvPr>
        </p:nvSpPr>
        <p:spPr>
          <a:xfrm>
            <a:off x="914400" y="11064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Cascadeless</a:t>
            </a:r>
            <a:r>
              <a:rPr b="1" i="1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cascading rollbacks cannot occur; for each pair of transactions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such that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reads a data item previously written by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 commit operation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appears before the read operation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cascadeless schedule is also recoverable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desirable to restrict the schedules to those that are cascadeless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Concurrency Control</a:t>
            </a:r>
            <a:endParaRPr/>
          </a:p>
        </p:txBody>
      </p:sp>
      <p:sp>
        <p:nvSpPr>
          <p:cNvPr id="309" name="Google Shape;309;p37"/>
          <p:cNvSpPr txBox="1"/>
          <p:nvPr>
            <p:ph idx="1" type="body"/>
          </p:nvPr>
        </p:nvSpPr>
        <p:spPr>
          <a:xfrm>
            <a:off x="914400" y="1106487"/>
            <a:ext cx="7939087" cy="4884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database must provide a mechanism that will ensure that all possible schedules are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either conflict or view serializable, and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are recoverable and preferably cascadeless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policy in which only one transaction can execute at a time generates serial schedules, but provides a poor degree of concurrency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Are serial schedules recoverable/cascadeless?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Testing a schedule for serializability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it has executed is a little too late!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to develop concurrency control protocols that will assure serializability.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8"/>
          <p:cNvSpPr txBox="1"/>
          <p:nvPr>
            <p:ph type="title"/>
          </p:nvPr>
        </p:nvSpPr>
        <p:spPr>
          <a:xfrm>
            <a:off x="1114425" y="200025"/>
            <a:ext cx="7753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Concurrency Control vs. Serializability Tests</a:t>
            </a:r>
            <a:endParaRPr/>
          </a:p>
        </p:txBody>
      </p:sp>
      <p:sp>
        <p:nvSpPr>
          <p:cNvPr id="316" name="Google Shape;316;p38"/>
          <p:cNvSpPr txBox="1"/>
          <p:nvPr>
            <p:ph idx="1" type="body"/>
          </p:nvPr>
        </p:nvSpPr>
        <p:spPr>
          <a:xfrm>
            <a:off x="914400" y="11064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Concurrency-control protocols allow concurrent schedules, but ensure that the schedules are conflict/view serializable, and are recoverable and cascadeless 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Concurrency control protocols generally do not examine the precedence graph as it is being created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Instead a protocol imposes a discipline that avoids nonseralizable schedules.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study such protocols in Chapter 16.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Different concurrency control protocols provide different tradeoffs between the amount of concurrency they allow and the amount of overhead that they incur.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Tests for serializability help us understand why a concurrency control protocol is correct.   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Weak Levels of Consistency</a:t>
            </a:r>
            <a:endParaRPr/>
          </a:p>
        </p:txBody>
      </p:sp>
      <p:sp>
        <p:nvSpPr>
          <p:cNvPr id="323" name="Google Shape;323;p39"/>
          <p:cNvSpPr txBox="1"/>
          <p:nvPr>
            <p:ph idx="1" type="body"/>
          </p:nvPr>
        </p:nvSpPr>
        <p:spPr>
          <a:xfrm>
            <a:off x="914400" y="11064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applications are willing to live with weak levels of consistency, allowing schedules that are not serializable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a read-only transaction that wants to get an approximate total balance of all accounts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database statistics computed for query optimization can be approximate (why?)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Such transactions need not be serializable with respect to other transactions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Tradeoff accuracy for performance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Levels of Consistency in SQL-92</a:t>
            </a:r>
            <a:endParaRPr/>
          </a:p>
        </p:txBody>
      </p:sp>
      <p:sp>
        <p:nvSpPr>
          <p:cNvPr id="330" name="Google Shape;330;p40"/>
          <p:cNvSpPr txBox="1"/>
          <p:nvPr>
            <p:ph idx="1" type="body"/>
          </p:nvPr>
        </p:nvSpPr>
        <p:spPr>
          <a:xfrm>
            <a:off x="914400" y="1106487"/>
            <a:ext cx="762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Serializable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default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Repeatable read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only committed records to be read, repeated reads of same record must return same value.  However, a transaction may not be serializable – it may find some records inserted by a transaction but not find others.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 committed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only committed records can be read, but successive reads of record may return different (but committed) values.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 uncommitted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even uncommitted records may be read. </a:t>
            </a:r>
            <a:endParaRPr/>
          </a:p>
        </p:txBody>
      </p:sp>
      <p:sp>
        <p:nvSpPr>
          <p:cNvPr id="331" name="Google Shape;331;p40"/>
          <p:cNvSpPr txBox="1"/>
          <p:nvPr/>
        </p:nvSpPr>
        <p:spPr>
          <a:xfrm>
            <a:off x="525462" y="4398962"/>
            <a:ext cx="7527925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Lower degrees of consistency useful for gathering approximate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information about the database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Warning: some database systems do not ensure serializable schedules by default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Oracle and PostgreSQL by default support a level of consistency called snapshot isolation (not part of the SQL standard)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Definition in SQL</a:t>
            </a:r>
            <a:endParaRPr/>
          </a:p>
        </p:txBody>
      </p:sp>
      <p:sp>
        <p:nvSpPr>
          <p:cNvPr id="338" name="Google Shape;338;p41"/>
          <p:cNvSpPr txBox="1"/>
          <p:nvPr>
            <p:ph idx="1" type="body"/>
          </p:nvPr>
        </p:nvSpPr>
        <p:spPr>
          <a:xfrm>
            <a:off x="914400" y="1106487"/>
            <a:ext cx="728662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manipulation language must include a construct for specifying the set of actions that comprise a transaction.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SQL, a transaction begins implicitly.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in SQL ends by: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Commit work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commits current transaction and begins a new one.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Rollback work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causes current transaction to abort.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almost all database systems, by default, every SQL statement also commits implicitly if it executes successfully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Implicit commit can be turned off by a database directive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in JDBC,     connection.setAutoCommit(false);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of Chapter</a:t>
            </a:r>
            <a:endParaRPr/>
          </a:p>
        </p:txBody>
      </p:sp>
      <p:sp>
        <p:nvSpPr>
          <p:cNvPr id="345" name="Google Shape;345;p4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 txBox="1"/>
          <p:nvPr>
            <p:ph type="title"/>
          </p:nvPr>
        </p:nvSpPr>
        <p:spPr>
          <a:xfrm>
            <a:off x="631825" y="2667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2" name="Google Shape;352;p43"/>
          <p:cNvPicPr preferRelativeResize="0"/>
          <p:nvPr/>
        </p:nvPicPr>
        <p:blipFill rotWithShape="1">
          <a:blip r:embed="rId3">
            <a:alphaModFix/>
          </a:blip>
          <a:srcRect b="795" l="17505" r="17904" t="531"/>
          <a:stretch/>
        </p:blipFill>
        <p:spPr>
          <a:xfrm>
            <a:off x="2401887" y="1106487"/>
            <a:ext cx="4202112" cy="481488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/>
          <p:nvPr>
            <p:ph type="title"/>
          </p:nvPr>
        </p:nvSpPr>
        <p:spPr>
          <a:xfrm>
            <a:off x="657225" y="1905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9" name="Google Shape;359;p44"/>
          <p:cNvPicPr preferRelativeResize="0"/>
          <p:nvPr/>
        </p:nvPicPr>
        <p:blipFill rotWithShape="1">
          <a:blip r:embed="rId3">
            <a:alphaModFix/>
          </a:blip>
          <a:srcRect b="851" l="17495" r="17496" t="569"/>
          <a:stretch/>
        </p:blipFill>
        <p:spPr>
          <a:xfrm>
            <a:off x="2420937" y="1106487"/>
            <a:ext cx="4352925" cy="495141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7</a:t>
            </a:r>
            <a:endParaRPr/>
          </a:p>
        </p:txBody>
      </p:sp>
      <p:pic>
        <p:nvPicPr>
          <p:cNvPr id="366" name="Google Shape;366;p45"/>
          <p:cNvPicPr preferRelativeResize="0"/>
          <p:nvPr/>
        </p:nvPicPr>
        <p:blipFill rotWithShape="1">
          <a:blip r:embed="rId3">
            <a:alphaModFix/>
          </a:blip>
          <a:srcRect b="17715" l="874" r="2622" t="16084"/>
          <a:stretch/>
        </p:blipFill>
        <p:spPr>
          <a:xfrm>
            <a:off x="2324100" y="1701800"/>
            <a:ext cx="5181600" cy="26670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 txBox="1"/>
          <p:nvPr>
            <p:ph type="title"/>
          </p:nvPr>
        </p:nvSpPr>
        <p:spPr>
          <a:xfrm>
            <a:off x="657225" y="2540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Precedence Graph for </a:t>
            </a:r>
            <a:b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(a) Schedule 1 and (b) Schedule 2</a:t>
            </a:r>
            <a:endParaRPr/>
          </a:p>
        </p:txBody>
      </p:sp>
      <p:pic>
        <p:nvPicPr>
          <p:cNvPr id="373" name="Google Shape;373;p46"/>
          <p:cNvPicPr preferRelativeResize="0"/>
          <p:nvPr/>
        </p:nvPicPr>
        <p:blipFill rotWithShape="1">
          <a:blip r:embed="rId3">
            <a:alphaModFix/>
          </a:blip>
          <a:srcRect b="39289" l="593" r="593" t="39554"/>
          <a:stretch/>
        </p:blipFill>
        <p:spPr>
          <a:xfrm>
            <a:off x="1123950" y="2197100"/>
            <a:ext cx="7138987" cy="11461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Precedence Graph</a:t>
            </a:r>
            <a:endParaRPr/>
          </a:p>
        </p:txBody>
      </p:sp>
      <p:pic>
        <p:nvPicPr>
          <p:cNvPr id="380" name="Google Shape;380;p47"/>
          <p:cNvPicPr preferRelativeResize="0"/>
          <p:nvPr/>
        </p:nvPicPr>
        <p:blipFill rotWithShape="1">
          <a:blip r:embed="rId3">
            <a:alphaModFix/>
          </a:blip>
          <a:srcRect b="894" l="15672" r="16118" t="596"/>
          <a:stretch/>
        </p:blipFill>
        <p:spPr>
          <a:xfrm>
            <a:off x="2125662" y="1106487"/>
            <a:ext cx="4352925" cy="47148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fig. 15.21</a:t>
            </a:r>
            <a:endParaRPr/>
          </a:p>
        </p:txBody>
      </p:sp>
      <p:pic>
        <p:nvPicPr>
          <p:cNvPr id="387" name="Google Shape;387;p48"/>
          <p:cNvPicPr preferRelativeResize="0"/>
          <p:nvPr/>
        </p:nvPicPr>
        <p:blipFill rotWithShape="1">
          <a:blip r:embed="rId3">
            <a:alphaModFix/>
          </a:blip>
          <a:srcRect b="16835" l="756" r="504" t="16496"/>
          <a:stretch/>
        </p:blipFill>
        <p:spPr>
          <a:xfrm>
            <a:off x="2027237" y="1681162"/>
            <a:ext cx="5586412" cy="28289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Implementation of Isolation</a:t>
            </a:r>
            <a:endParaRPr/>
          </a:p>
        </p:txBody>
      </p:sp>
      <p:sp>
        <p:nvSpPr>
          <p:cNvPr id="394" name="Google Shape;394;p49"/>
          <p:cNvSpPr txBox="1"/>
          <p:nvPr>
            <p:ph idx="1" type="body"/>
          </p:nvPr>
        </p:nvSpPr>
        <p:spPr>
          <a:xfrm>
            <a:off x="914400" y="1106487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Schedules must be conflict or view serializable, and recoverable, for the sake of database consistency, and preferably cascadeless.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policy in which only one transaction can execute at a time generates serial schedules, but provides a poor degree of concurrency.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Concurrency-control schemes tradeoff between the amount of concurrency they allow and the amount of overhead that they incur.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schemes allow only conflict-serializable schedules to be generated, while others allow  view-serializable schedules that are not conflict-serializable.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15.6</a:t>
            </a:r>
            <a:endParaRPr/>
          </a:p>
        </p:txBody>
      </p:sp>
      <p:pic>
        <p:nvPicPr>
          <p:cNvPr id="401" name="Google Shape;401;p50"/>
          <p:cNvPicPr preferRelativeResize="0"/>
          <p:nvPr/>
        </p:nvPicPr>
        <p:blipFill rotWithShape="1">
          <a:blip r:embed="rId3">
            <a:alphaModFix/>
          </a:blip>
          <a:srcRect b="530" l="20291" r="20292" t="531"/>
          <a:stretch/>
        </p:blipFill>
        <p:spPr>
          <a:xfrm>
            <a:off x="2419350" y="971550"/>
            <a:ext cx="4267200" cy="53292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b-5-grey">
  <a:themeElements>
    <a:clrScheme name="default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CCECFF"/>
      </a:accent3>
      <a:accent4>
        <a:srgbClr val="FFFFFF"/>
      </a:accent4>
      <a:accent5>
        <a:srgbClr val="CCCC00"/>
      </a:accent5>
      <a:accent6>
        <a:srgbClr val="CCECFF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