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8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Master+xml" PartName="/ppt/slideMasters/slideMaster7.xml"/>
  <Override ContentType="application/vnd.openxmlformats-officedocument.presentationml.slideMaster+xml" PartName="/ppt/slideMasters/slideMaster6.xml"/>
  <Override ContentType="application/vnd.openxmlformats-officedocument.presentationml.slideMaster+xml" PartName="/ppt/slideMasters/slideMaster5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7.xml"/>
  <Override ContentType="application/vnd.openxmlformats-officedocument.theme+xml" PartName="/ppt/theme/theme6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  <Override ContentType="application/vnd.openxmlformats-officedocument.theme+xml" PartName="/ppt/theme/theme8.xml"/>
  <Override ContentType="application/vnd.openxmlformats-officedocument.theme+xml" PartName="/ppt/theme/theme9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  <p:sldMasterId id="2147483660" r:id="rId5"/>
    <p:sldMasterId id="2147483661" r:id="rId6"/>
    <p:sldMasterId id="2147483662" r:id="rId7"/>
    <p:sldMasterId id="2147483663" r:id="rId8"/>
    <p:sldMasterId id="2147483664" r:id="rId9"/>
    <p:sldMasterId id="2147483665" r:id="rId10"/>
    <p:sldMasterId id="2147483666" r:id="rId11"/>
  </p:sldMasterIdLst>
  <p:notesMasterIdLst>
    <p:notesMasterId r:id="rId12"/>
  </p:notes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  <p:sldId id="273" r:id="rId30"/>
    <p:sldId id="274" r:id="rId31"/>
    <p:sldId id="275" r:id="rId32"/>
    <p:sldId id="276" r:id="rId33"/>
    <p:sldId id="277" r:id="rId34"/>
    <p:sldId id="278" r:id="rId35"/>
    <p:sldId id="279" r:id="rId36"/>
    <p:sldId id="280" r:id="rId37"/>
    <p:sldId id="281" r:id="rId38"/>
  </p:sldIdLst>
  <p:sldSz cy="6858000" cx="9144000"/>
  <p:notesSz cx="9144000" cy="6858000"/>
  <p:embeddedFontLst>
    <p:embeddedFont>
      <p:font typeface="Noto Sans Symbols"/>
      <p:regular r:id="rId39"/>
      <p:bold r:id="rId4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NotoSansSymbols-bold.fntdata"/><Relationship Id="rId20" Type="http://schemas.openxmlformats.org/officeDocument/2006/relationships/slide" Target="slides/slide8.xml"/><Relationship Id="rId22" Type="http://schemas.openxmlformats.org/officeDocument/2006/relationships/slide" Target="slides/slide10.xml"/><Relationship Id="rId21" Type="http://schemas.openxmlformats.org/officeDocument/2006/relationships/slide" Target="slides/slide9.xml"/><Relationship Id="rId24" Type="http://schemas.openxmlformats.org/officeDocument/2006/relationships/slide" Target="slides/slide12.xml"/><Relationship Id="rId23" Type="http://schemas.openxmlformats.org/officeDocument/2006/relationships/slide" Target="slides/slide11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26" Type="http://schemas.openxmlformats.org/officeDocument/2006/relationships/slide" Target="slides/slide14.xml"/><Relationship Id="rId25" Type="http://schemas.openxmlformats.org/officeDocument/2006/relationships/slide" Target="slides/slide13.xml"/><Relationship Id="rId28" Type="http://schemas.openxmlformats.org/officeDocument/2006/relationships/slide" Target="slides/slide16.xml"/><Relationship Id="rId27" Type="http://schemas.openxmlformats.org/officeDocument/2006/relationships/slide" Target="slides/slide15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29" Type="http://schemas.openxmlformats.org/officeDocument/2006/relationships/slide" Target="slides/slide17.xml"/><Relationship Id="rId7" Type="http://schemas.openxmlformats.org/officeDocument/2006/relationships/slideMaster" Target="slideMasters/slideMaster4.xml"/><Relationship Id="rId8" Type="http://schemas.openxmlformats.org/officeDocument/2006/relationships/slideMaster" Target="slideMasters/slideMaster5.xml"/><Relationship Id="rId31" Type="http://schemas.openxmlformats.org/officeDocument/2006/relationships/slide" Target="slides/slide19.xml"/><Relationship Id="rId30" Type="http://schemas.openxmlformats.org/officeDocument/2006/relationships/slide" Target="slides/slide18.xml"/><Relationship Id="rId11" Type="http://schemas.openxmlformats.org/officeDocument/2006/relationships/slideMaster" Target="slideMasters/slideMaster8.xml"/><Relationship Id="rId33" Type="http://schemas.openxmlformats.org/officeDocument/2006/relationships/slide" Target="slides/slide21.xml"/><Relationship Id="rId10" Type="http://schemas.openxmlformats.org/officeDocument/2006/relationships/slideMaster" Target="slideMasters/slideMaster7.xml"/><Relationship Id="rId32" Type="http://schemas.openxmlformats.org/officeDocument/2006/relationships/slide" Target="slides/slide20.xml"/><Relationship Id="rId13" Type="http://schemas.openxmlformats.org/officeDocument/2006/relationships/slide" Target="slides/slide1.xml"/><Relationship Id="rId35" Type="http://schemas.openxmlformats.org/officeDocument/2006/relationships/slide" Target="slides/slide23.xml"/><Relationship Id="rId12" Type="http://schemas.openxmlformats.org/officeDocument/2006/relationships/notesMaster" Target="notesMasters/notesMaster1.xml"/><Relationship Id="rId34" Type="http://schemas.openxmlformats.org/officeDocument/2006/relationships/slide" Target="slides/slide22.xml"/><Relationship Id="rId15" Type="http://schemas.openxmlformats.org/officeDocument/2006/relationships/slide" Target="slides/slide3.xml"/><Relationship Id="rId37" Type="http://schemas.openxmlformats.org/officeDocument/2006/relationships/slide" Target="slides/slide25.xml"/><Relationship Id="rId14" Type="http://schemas.openxmlformats.org/officeDocument/2006/relationships/slide" Target="slides/slide2.xml"/><Relationship Id="rId36" Type="http://schemas.openxmlformats.org/officeDocument/2006/relationships/slide" Target="slides/slide24.xml"/><Relationship Id="rId17" Type="http://schemas.openxmlformats.org/officeDocument/2006/relationships/slide" Target="slides/slide5.xml"/><Relationship Id="rId39" Type="http://schemas.openxmlformats.org/officeDocument/2006/relationships/font" Target="fonts/NotoSansSymbols-regular.fntdata"/><Relationship Id="rId16" Type="http://schemas.openxmlformats.org/officeDocument/2006/relationships/slide" Target="slides/slide4.xml"/><Relationship Id="rId38" Type="http://schemas.openxmlformats.org/officeDocument/2006/relationships/slide" Target="slides/slide26.xml"/><Relationship Id="rId19" Type="http://schemas.openxmlformats.org/officeDocument/2006/relationships/slide" Target="slides/slide7.xml"/><Relationship Id="rId18" Type="http://schemas.openxmlformats.org/officeDocument/2006/relationships/slide" Target="slides/slide6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54" name="Google Shape;154;p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60" name="Google Shape;160;p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191" name="Google Shape;191;p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23" name="Google Shape;223;p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5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46" name="Google Shape;246;p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6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66" name="Google Shape;266;p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7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81" name="Google Shape;281;p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8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291" name="Google Shape;291;p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9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22" name="Google Shape;322;p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0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53" name="Google Shape;353;p1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1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375" name="Google Shape;375;p1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2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00" name="Google Shape;400;p1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3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16" name="Google Shape;416;p1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14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25" name="Google Shape;425;p1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15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44" name="Google Shape;444;p1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16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62" name="Google Shape;462;p1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7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80" name="Google Shape;480;p17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18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498" name="Google Shape;498;p18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19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19" name="Google Shape;519;p19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20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43" name="Google Shape;543;p20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21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53" name="Google Shape;553;p21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2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77" name="Google Shape;577;p22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23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593" name="Google Shape;593;p23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7" name="Shape 6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4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09" name="Google Shape;609;p24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25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0" name="Google Shape;630;p25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4" name="Shape 6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" name="Google Shape;655;p26:notes"/>
          <p:cNvSpPr txBox="1"/>
          <p:nvPr>
            <p:ph idx="1" type="body"/>
          </p:nvPr>
        </p:nvSpPr>
        <p:spPr>
          <a:xfrm>
            <a:off x="-2147483648" y="-2147483648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56" name="Google Shape;656;p26:notes"/>
          <p:cNvSpPr/>
          <p:nvPr>
            <p:ph idx="2" type="sldImg"/>
          </p:nvPr>
        </p:nvSpPr>
        <p:spPr>
          <a:xfrm>
            <a:off x="1524300" y="514350"/>
            <a:ext cx="60963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/>
          <p:nvPr>
            <p:ph type="title"/>
          </p:nvPr>
        </p:nvSpPr>
        <p:spPr>
          <a:xfrm rot="5400000">
            <a:off x="4936367" y="2182286"/>
            <a:ext cx="5592761" cy="177747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" type="body"/>
          </p:nvPr>
        </p:nvSpPr>
        <p:spPr>
          <a:xfrm rot="5400000">
            <a:off x="823120" y="-91279"/>
            <a:ext cx="5592760" cy="632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" type="body"/>
          </p:nvPr>
        </p:nvSpPr>
        <p:spPr>
          <a:xfrm rot="5400000">
            <a:off x="2378965" y="-440435"/>
            <a:ext cx="4386071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06324" lvl="0" marL="457200" algn="l">
              <a:spcBef>
                <a:spcPts val="400"/>
              </a:spcBef>
              <a:spcAft>
                <a:spcPts val="0"/>
              </a:spcAft>
              <a:buSzPts val="1224"/>
              <a:buChar char="🞂"/>
              <a:defRPr/>
            </a:lvl1pPr>
            <a:lvl2pPr indent="-342900" lvl="1" marL="914400" algn="l">
              <a:spcBef>
                <a:spcPts val="325"/>
              </a:spcBef>
              <a:spcAft>
                <a:spcPts val="0"/>
              </a:spcAft>
              <a:buSzPts val="1800"/>
              <a:buChar char="◦"/>
              <a:defRPr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/>
          <p:nvPr>
            <p:ph type="ctrTitle"/>
          </p:nvPr>
        </p:nvSpPr>
        <p:spPr>
          <a:xfrm>
            <a:off x="685800" y="1752601"/>
            <a:ext cx="7772400" cy="182976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1" sz="4800">
                <a:solidFill>
                  <a:schemeClr val="dk2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7"/>
          <p:cNvSpPr txBox="1"/>
          <p:nvPr>
            <p:ph idx="1" type="subTitle"/>
          </p:nvPr>
        </p:nvSpPr>
        <p:spPr>
          <a:xfrm>
            <a:off x="685800" y="3611607"/>
            <a:ext cx="7772400" cy="119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>
            <a:lvl1pPr lvl="0" marR="64008" algn="r">
              <a:spcBef>
                <a:spcPts val="400"/>
              </a:spcBef>
              <a:spcAft>
                <a:spcPts val="0"/>
              </a:spcAft>
              <a:buSzPts val="1836"/>
              <a:buNone/>
              <a:defRPr>
                <a:solidFill>
                  <a:schemeClr val="dk2"/>
                </a:solidFill>
              </a:defRPr>
            </a:lvl1pPr>
            <a:lvl2pPr lvl="1" algn="ctr">
              <a:spcBef>
                <a:spcPts val="325"/>
              </a:spcBef>
              <a:spcAft>
                <a:spcPts val="0"/>
              </a:spcAft>
              <a:buSzPts val="1800"/>
              <a:buNone/>
              <a:defRPr/>
            </a:lvl2pPr>
            <a:lvl3pPr lvl="2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3pPr>
            <a:lvl4pPr lvl="3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4pPr>
            <a:lvl5pPr lvl="4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5pPr>
            <a:lvl6pPr lvl="5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6pPr>
            <a:lvl7pPr lvl="6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7pPr>
            <a:lvl8pPr lvl="7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5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>
                <a:solidFill>
                  <a:srgbClr val="E8F0F4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/>
          <p:nvPr>
            <p:ph type="title"/>
          </p:nvPr>
        </p:nvSpPr>
        <p:spPr>
          <a:xfrm>
            <a:off x="722376" y="1059712"/>
            <a:ext cx="7772400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Lucida Sans"/>
              <a:buNone/>
              <a:defRPr b="1" sz="480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" type="body"/>
          </p:nvPr>
        </p:nvSpPr>
        <p:spPr>
          <a:xfrm>
            <a:off x="3922713" y="2931712"/>
            <a:ext cx="4572000" cy="1454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564"/>
              <a:buNone/>
              <a:defRPr sz="23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lt1"/>
                </a:solidFill>
              </a:defRPr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70" name="Google Shape;70;p9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9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9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/>
          <p:nvPr>
            <p:ph idx="1" type="body"/>
          </p:nvPr>
        </p:nvSpPr>
        <p:spPr>
          <a:xfrm>
            <a:off x="457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9504" lvl="0" marL="457200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indent="-381000" lvl="1" marL="914400" algn="l">
              <a:spcBef>
                <a:spcPts val="325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5" name="Google Shape;85;p11"/>
          <p:cNvSpPr txBox="1"/>
          <p:nvPr>
            <p:ph idx="2" type="body"/>
          </p:nvPr>
        </p:nvSpPr>
        <p:spPr>
          <a:xfrm>
            <a:off x="4648200" y="1481328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9504" lvl="0" marL="457200" algn="l">
              <a:spcBef>
                <a:spcPts val="400"/>
              </a:spcBef>
              <a:spcAft>
                <a:spcPts val="0"/>
              </a:spcAft>
              <a:buSzPts val="1904"/>
              <a:buChar char="🞂"/>
              <a:defRPr sz="2800"/>
            </a:lvl1pPr>
            <a:lvl2pPr indent="-381000" lvl="1" marL="914400" algn="l">
              <a:spcBef>
                <a:spcPts val="325"/>
              </a:spcBef>
              <a:spcAft>
                <a:spcPts val="0"/>
              </a:spcAft>
              <a:buSzPts val="2400"/>
              <a:buChar char="◦"/>
              <a:defRPr sz="2400"/>
            </a:lvl2pPr>
            <a:lvl3pPr indent="-355600" lvl="2" marL="13716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3pPr>
            <a:lvl4pPr indent="-342900" lvl="3" marL="18288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86" name="Google Shape;86;p1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1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1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1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showMasterSp="0" type="twoTxTwoObj">
  <p:cSld name="TWO_OBJECTS_WITH_TEXT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3"/>
          <p:cNvSpPr txBox="1"/>
          <p:nvPr>
            <p:ph type="title"/>
          </p:nvPr>
        </p:nvSpPr>
        <p:spPr>
          <a:xfrm>
            <a:off x="457200" y="27305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1" type="body"/>
          </p:nvPr>
        </p:nvSpPr>
        <p:spPr>
          <a:xfrm>
            <a:off x="457200" y="5410200"/>
            <a:ext cx="4040188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32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2" type="body"/>
          </p:nvPr>
        </p:nvSpPr>
        <p:spPr>
          <a:xfrm>
            <a:off x="4645026" y="5410200"/>
            <a:ext cx="4041775" cy="762000"/>
          </a:xfrm>
          <a:prstGeom prst="rect">
            <a:avLst/>
          </a:prstGeom>
          <a:solidFill>
            <a:schemeClr val="accent1"/>
          </a:solidFill>
          <a:ln cap="flat" cmpd="sng" w="9650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182875" spcFirstLastPara="1" rIns="91425" wrap="square" tIns="45700">
            <a:no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SzPts val="1632"/>
              <a:buNone/>
              <a:defRPr b="0" sz="24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idx="3" type="body"/>
          </p:nvPr>
        </p:nvSpPr>
        <p:spPr>
          <a:xfrm>
            <a:off x="457200" y="1444294"/>
            <a:ext cx="4040188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2232" lvl="0" marL="457200" algn="l">
              <a:spcBef>
                <a:spcPts val="400"/>
              </a:spcBef>
              <a:spcAft>
                <a:spcPts val="0"/>
              </a:spcAft>
              <a:buSzPts val="1632"/>
              <a:buChar char="🞂"/>
              <a:defRPr sz="2400"/>
            </a:lvl1pPr>
            <a:lvl2pPr indent="-355600" lvl="1" marL="914400" algn="l">
              <a:spcBef>
                <a:spcPts val="325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1" name="Google Shape;101;p13"/>
          <p:cNvSpPr txBox="1"/>
          <p:nvPr>
            <p:ph idx="4" type="body"/>
          </p:nvPr>
        </p:nvSpPr>
        <p:spPr>
          <a:xfrm>
            <a:off x="4645025" y="1444294"/>
            <a:ext cx="4041775" cy="39417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32232" lvl="0" marL="457200" algn="l">
              <a:spcBef>
                <a:spcPts val="0"/>
              </a:spcBef>
              <a:spcAft>
                <a:spcPts val="0"/>
              </a:spcAft>
              <a:buSzPts val="1632"/>
              <a:buChar char="🞂"/>
              <a:defRPr sz="2400"/>
            </a:lvl1pPr>
            <a:lvl2pPr indent="-355600" lvl="1" marL="914400" algn="l">
              <a:spcBef>
                <a:spcPts val="325"/>
              </a:spcBef>
              <a:spcAft>
                <a:spcPts val="0"/>
              </a:spcAft>
              <a:buSzPts val="2000"/>
              <a:buChar char="◦"/>
              <a:defRPr sz="2000"/>
            </a:lvl2pPr>
            <a:lvl3pPr indent="-342900" lvl="2" marL="1371600" algn="l">
              <a:spcBef>
                <a:spcPts val="350"/>
              </a:spcBef>
              <a:spcAft>
                <a:spcPts val="0"/>
              </a:spcAft>
              <a:buSzPts val="1800"/>
              <a:buChar char="●"/>
              <a:defRPr sz="1800"/>
            </a:lvl3pPr>
            <a:lvl4pPr indent="-330200" lvl="3" marL="18288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4pPr>
            <a:lvl5pPr indent="-330200" lvl="4" marL="2286000" algn="l">
              <a:spcBef>
                <a:spcPts val="350"/>
              </a:spcBef>
              <a:spcAft>
                <a:spcPts val="0"/>
              </a:spcAft>
              <a:buSzPts val="1600"/>
              <a:buChar char="●"/>
              <a:defRPr sz="16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02" name="Google Shape;102;p13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13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13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15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5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9" name="Google Shape;119;p15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/>
          <p:nvPr>
            <p:ph type="title"/>
          </p:nvPr>
        </p:nvSpPr>
        <p:spPr>
          <a:xfrm>
            <a:off x="914400" y="4876800"/>
            <a:ext cx="7481776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500"/>
              <a:buFont typeface="Lucida Sans"/>
              <a:buNone/>
              <a:defRPr b="0" sz="25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17"/>
          <p:cNvSpPr txBox="1"/>
          <p:nvPr>
            <p:ph idx="1" type="body"/>
          </p:nvPr>
        </p:nvSpPr>
        <p:spPr>
          <a:xfrm>
            <a:off x="4419600" y="5355102"/>
            <a:ext cx="3974592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r">
              <a:spcBef>
                <a:spcPts val="400"/>
              </a:spcBef>
              <a:spcAft>
                <a:spcPts val="0"/>
              </a:spcAft>
              <a:buSzPts val="1088"/>
              <a:buNone/>
              <a:defRPr sz="1600"/>
            </a:lvl1pPr>
            <a:lvl2pPr indent="-228600" lvl="1" marL="914400" algn="l">
              <a:spcBef>
                <a:spcPts val="325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spcBef>
                <a:spcPts val="35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spcBef>
                <a:spcPts val="350"/>
              </a:spcBef>
              <a:spcAft>
                <a:spcPts val="0"/>
              </a:spcAft>
              <a:buSzPts val="900"/>
              <a:buNone/>
              <a:defRPr sz="9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29" name="Google Shape;129;p17"/>
          <p:cNvSpPr txBox="1"/>
          <p:nvPr>
            <p:ph idx="2" type="body"/>
          </p:nvPr>
        </p:nvSpPr>
        <p:spPr>
          <a:xfrm>
            <a:off x="914400" y="274320"/>
            <a:ext cx="7479792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6776" lvl="0" marL="457200" algn="l">
              <a:spcBef>
                <a:spcPts val="400"/>
              </a:spcBef>
              <a:spcAft>
                <a:spcPts val="0"/>
              </a:spcAft>
              <a:buSzPts val="2176"/>
              <a:buChar char="🞂"/>
              <a:defRPr sz="3200"/>
            </a:lvl1pPr>
            <a:lvl2pPr indent="-406400" lvl="1" marL="914400" algn="l">
              <a:spcBef>
                <a:spcPts val="325"/>
              </a:spcBef>
              <a:spcAft>
                <a:spcPts val="0"/>
              </a:spcAft>
              <a:buSzPts val="2800"/>
              <a:buChar char="◦"/>
              <a:defRPr sz="2800"/>
            </a:lvl2pPr>
            <a:lvl3pPr indent="-381000" lvl="2" marL="1371600" algn="l">
              <a:spcBef>
                <a:spcPts val="350"/>
              </a:spcBef>
              <a:spcAft>
                <a:spcPts val="0"/>
              </a:spcAft>
              <a:buSzPts val="2400"/>
              <a:buChar char="●"/>
              <a:defRPr sz="2400"/>
            </a:lvl3pPr>
            <a:lvl4pPr indent="-355600" lvl="3" marL="18288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4pPr>
            <a:lvl5pPr indent="-355600" lvl="4" marL="2286000" algn="l">
              <a:spcBef>
                <a:spcPts val="350"/>
              </a:spcBef>
              <a:spcAft>
                <a:spcPts val="0"/>
              </a:spcAft>
              <a:buSzPts val="2000"/>
              <a:buChar char="●"/>
              <a:defRPr sz="20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30" name="Google Shape;130;p17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17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2" name="Google Shape;132;p17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9"/>
          <p:cNvSpPr txBox="1"/>
          <p:nvPr>
            <p:ph idx="1" type="body"/>
          </p:nvPr>
        </p:nvSpPr>
        <p:spPr>
          <a:xfrm>
            <a:off x="1141232" y="5443402"/>
            <a:ext cx="7162800" cy="6482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Autofit/>
          </a:bodyPr>
          <a:lstStyle>
            <a:lvl1pPr indent="-228600" lvl="0" marL="457200" marR="18288" algn="r">
              <a:spcBef>
                <a:spcPts val="400"/>
              </a:spcBef>
              <a:spcAft>
                <a:spcPts val="0"/>
              </a:spcAft>
              <a:buSzPts val="952"/>
              <a:buNone/>
              <a:defRPr sz="1400"/>
            </a:lvl1pPr>
            <a:lvl2pPr indent="-304800" lvl="1" marL="914400" algn="l">
              <a:spcBef>
                <a:spcPts val="325"/>
              </a:spcBef>
              <a:spcAft>
                <a:spcPts val="0"/>
              </a:spcAft>
              <a:buSzPts val="1200"/>
              <a:buChar char="◦"/>
              <a:defRPr sz="1200"/>
            </a:lvl2pPr>
            <a:lvl3pPr indent="-292100" lvl="2" marL="1371600" algn="l">
              <a:spcBef>
                <a:spcPts val="350"/>
              </a:spcBef>
              <a:spcAft>
                <a:spcPts val="0"/>
              </a:spcAft>
              <a:buSzPts val="1000"/>
              <a:buChar char="●"/>
              <a:defRPr sz="1000"/>
            </a:lvl3pPr>
            <a:lvl4pPr indent="-285750" lvl="3" marL="182880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 algn="l">
              <a:spcBef>
                <a:spcPts val="350"/>
              </a:spcBef>
              <a:spcAft>
                <a:spcPts val="0"/>
              </a:spcAft>
              <a:buSzPts val="900"/>
              <a:buChar char="●"/>
              <a:defRPr sz="900"/>
            </a:lvl5pPr>
            <a:lvl6pPr indent="-342900" lvl="5" marL="27432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7pPr>
            <a:lvl8pPr indent="-342900" lvl="7" marL="36576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8pPr>
            <a:lvl9pPr indent="-342900" lvl="8" marL="4114800" algn="l">
              <a:spcBef>
                <a:spcPts val="35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47" name="Google Shape;147;p19"/>
          <p:cNvSpPr/>
          <p:nvPr>
            <p:ph idx="2" type="pic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dk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8" name="Google Shape;148;p19"/>
          <p:cNvSpPr txBox="1"/>
          <p:nvPr>
            <p:ph type="title"/>
          </p:nvPr>
        </p:nvSpPr>
        <p:spPr>
          <a:xfrm>
            <a:off x="228600" y="4865122"/>
            <a:ext cx="8075432" cy="5626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000"/>
              <a:buFont typeface="Lucida Sans"/>
              <a:buNone/>
              <a:defRPr b="0" sz="3000">
                <a:solidFill>
                  <a:schemeClr val="accent1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9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9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9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theme" Target="../theme/theme2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image" Target="../media/image2.jp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5.xml"/><Relationship Id="rId4" Type="http://schemas.openxmlformats.org/officeDocument/2006/relationships/theme" Target="../theme/theme3.xml"/></Relationships>
</file>

<file path=ppt/slideMasters/_rels/slideMaster3.xml.rels><?xml version="1.0" encoding="UTF-8" standalone="yes"?><Relationships xmlns="http://schemas.openxmlformats.org/package/2006/relationships"><Relationship Id="rId1" Type="http://schemas.openxmlformats.org/officeDocument/2006/relationships/image" Target="../media/image9.jpg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6.xml"/><Relationship Id="rId5" Type="http://schemas.openxmlformats.org/officeDocument/2006/relationships/theme" Target="../theme/theme4.xml"/></Relationships>
</file>

<file path=ppt/slideMasters/_rels/slideMaster4.xml.rels><?xml version="1.0" encoding="UTF-8" standalone="yes"?><Relationships xmlns="http://schemas.openxmlformats.org/package/2006/relationships"><Relationship Id="rId1" Type="http://schemas.openxmlformats.org/officeDocument/2006/relationships/image" Target="../media/image9.jpg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7.xml"/><Relationship Id="rId5" Type="http://schemas.openxmlformats.org/officeDocument/2006/relationships/theme" Target="../theme/theme8.xml"/></Relationships>
</file>

<file path=ppt/slideMasters/_rels/slideMaster5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8.xml"/><Relationship Id="rId3" Type="http://schemas.openxmlformats.org/officeDocument/2006/relationships/theme" Target="../theme/theme5.xml"/></Relationships>
</file>

<file path=ppt/slideMasters/_rels/slideMaster6.xml.rels><?xml version="1.0" encoding="UTF-8" standalone="yes"?><Relationships xmlns="http://schemas.openxmlformats.org/package/2006/relationships"><Relationship Id="rId1" Type="http://schemas.openxmlformats.org/officeDocument/2006/relationships/image" Target="../media/image9.jpg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9.xml"/><Relationship Id="rId5" Type="http://schemas.openxmlformats.org/officeDocument/2006/relationships/theme" Target="../theme/theme7.xml"/></Relationships>
</file>

<file path=ppt/slideMasters/_rels/slideMaster7.xml.rels><?xml version="1.0" encoding="UTF-8" standalone="yes"?><Relationships xmlns="http://schemas.openxmlformats.org/package/2006/relationships"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0.xml"/><Relationship Id="rId3" Type="http://schemas.openxmlformats.org/officeDocument/2006/relationships/theme" Target="../theme/theme9.xml"/></Relationships>
</file>

<file path=ppt/slideMasters/_rels/slideMaster8.xml.rels><?xml version="1.0" encoding="UTF-8" standalone="yes"?><Relationships xmlns="http://schemas.openxmlformats.org/package/2006/relationships"><Relationship Id="rId1" Type="http://schemas.openxmlformats.org/officeDocument/2006/relationships/image" Target="../media/image9.jpg"/><Relationship Id="rId2" Type="http://schemas.openxmlformats.org/officeDocument/2006/relationships/image" Target="../media/image2.jp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1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500062" y="5945187"/>
            <a:ext cx="4940300" cy="920750"/>
          </a:xfrm>
          <a:custGeom>
            <a:rect b="b" l="l" r="r" t="t"/>
            <a:pathLst>
              <a:path extrusionOk="0" h="337" w="7485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rgbClr val="9FCBDC">
              <a:alpha val="3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7;p1"/>
          <p:cNvSpPr/>
          <p:nvPr/>
        </p:nvSpPr>
        <p:spPr>
          <a:xfrm>
            <a:off x="485775" y="5938837"/>
            <a:ext cx="3690937" cy="933450"/>
          </a:xfrm>
          <a:custGeom>
            <a:rect b="b" l="l" r="r" t="t"/>
            <a:pathLst>
              <a:path extrusionOk="0" h="588" w="5591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" name="Google Shape;8;p1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1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9" name="Google Shape;9;p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19050" y="5778500"/>
            <a:ext cx="341471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1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3"/>
    <p:sldLayoutId id="2147483649" r:id="rId4"/>
    <p:sldLayoutId id="2147483650" r:id="rId5"/>
    <p:sldLayoutId id="2147483651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>
            <a:gsLst>
              <a:gs pos="0">
                <a:srgbClr val="007897"/>
              </a:gs>
              <a:gs pos="55000">
                <a:srgbClr val="4ABBE0"/>
              </a:gs>
              <a:gs pos="100000">
                <a:srgbClr val="007897"/>
              </a:gs>
            </a:gsLst>
            <a:lin ang="30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" name="Google Shape;39;p6"/>
          <p:cNvGrpSpPr/>
          <p:nvPr/>
        </p:nvGrpSpPr>
        <p:grpSpPr>
          <a:xfrm>
            <a:off x="-12192" y="4953000"/>
            <a:ext cx="9156192" cy="1911350"/>
            <a:chOff x="-12783" y="4832896"/>
            <a:chExt cx="9156783" cy="2032192"/>
          </a:xfrm>
        </p:grpSpPr>
        <p:sp>
          <p:nvSpPr>
            <p:cNvPr id="40" name="Google Shape;40;p6"/>
            <p:cNvSpPr/>
            <p:nvPr/>
          </p:nvSpPr>
          <p:spPr>
            <a:xfrm>
              <a:off x="1687032" y="4832896"/>
              <a:ext cx="7456968" cy="518176"/>
            </a:xfrm>
            <a:custGeom>
              <a:rect b="b" l="l" r="r" t="t"/>
              <a:pathLst>
                <a:path extrusionOk="0" h="367" w="469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rgbClr val="9FCBDC">
                <a:alpha val="39607"/>
              </a:srgbClr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41;p6"/>
            <p:cNvSpPr/>
            <p:nvPr/>
          </p:nvSpPr>
          <p:spPr>
            <a:xfrm>
              <a:off x="35443" y="5135526"/>
              <a:ext cx="9108557" cy="838200"/>
            </a:xfrm>
            <a:custGeom>
              <a:rect b="b" l="l" r="r" t="t"/>
              <a:pathLst>
                <a:path extrusionOk="0" h="528" w="5760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42;p6"/>
            <p:cNvSpPr/>
            <p:nvPr/>
          </p:nvSpPr>
          <p:spPr>
            <a:xfrm>
              <a:off x="0" y="4883888"/>
              <a:ext cx="9144000" cy="1981200"/>
            </a:xfrm>
            <a:custGeom>
              <a:rect b="b" l="l" r="r" t="t"/>
              <a:pathLst>
                <a:path extrusionOk="0" h="1248" w="5760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">
                <a:alphaModFix amt="50000"/>
              </a:blip>
              <a:tile algn="t" flip="none" tx="0" sx="50000" ty="0" sy="50000"/>
            </a:blip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endParaRPr>
            </a:p>
          </p:txBody>
        </p:sp>
        <p:pic>
          <p:nvPicPr>
            <p:cNvPr id="43" name="Google Shape;43;p6"/>
            <p:cNvPicPr preferRelativeResize="0"/>
            <p:nvPr/>
          </p:nvPicPr>
          <p:blipFill rotWithShape="1">
            <a:blip r:embed="rId2">
              <a:alphaModFix/>
            </a:blip>
            <a:srcRect b="0" l="0" r="0" t="0"/>
            <a:stretch/>
          </p:blipFill>
          <p:spPr>
            <a:xfrm>
              <a:off x="-12783" y="4875025"/>
              <a:ext cx="9156783" cy="85554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" name="Google Shape;44;p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rgbClr val="E8F0F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8" name="Google Shape;48;p6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  <a:defRPr b="0" i="0" sz="1000" u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/>
          <p:nvPr/>
        </p:nvSpPr>
        <p:spPr>
          <a:xfrm>
            <a:off x="500062" y="5945187"/>
            <a:ext cx="4940300" cy="920750"/>
          </a:xfrm>
          <a:custGeom>
            <a:rect b="b" l="l" r="r" t="t"/>
            <a:pathLst>
              <a:path extrusionOk="0" h="337" w="7485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rgbClr val="9FCBDC">
              <a:alpha val="3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8"/>
          <p:cNvSpPr/>
          <p:nvPr/>
        </p:nvSpPr>
        <p:spPr>
          <a:xfrm>
            <a:off x="485775" y="5938837"/>
            <a:ext cx="3690937" cy="933450"/>
          </a:xfrm>
          <a:custGeom>
            <a:rect b="b" l="l" r="r" t="t"/>
            <a:pathLst>
              <a:path extrusionOk="0" h="588" w="5591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8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59" name="Google Shape;5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1471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8"/>
          <p:cNvSpPr/>
          <p:nvPr/>
        </p:nvSpPr>
        <p:spPr>
          <a:xfrm>
            <a:off x="3636962" y="3005137"/>
            <a:ext cx="182562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8"/>
          <p:cNvSpPr/>
          <p:nvPr/>
        </p:nvSpPr>
        <p:spPr>
          <a:xfrm>
            <a:off x="3449637" y="3005137"/>
            <a:ext cx="184150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63" name="Google Shape;63;p8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64" name="Google Shape;64;p8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8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8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3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/>
          <p:nvPr/>
        </p:nvSpPr>
        <p:spPr>
          <a:xfrm>
            <a:off x="500062" y="5945187"/>
            <a:ext cx="4940300" cy="920750"/>
          </a:xfrm>
          <a:custGeom>
            <a:rect b="b" l="l" r="r" t="t"/>
            <a:pathLst>
              <a:path extrusionOk="0" h="337" w="7485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rgbClr val="9FCBDC">
              <a:alpha val="3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10"/>
          <p:cNvSpPr/>
          <p:nvPr/>
        </p:nvSpPr>
        <p:spPr>
          <a:xfrm>
            <a:off x="485775" y="5938837"/>
            <a:ext cx="3690937" cy="933450"/>
          </a:xfrm>
          <a:custGeom>
            <a:rect b="b" l="l" r="r" t="t"/>
            <a:pathLst>
              <a:path extrusionOk="0" h="588" w="5591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10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77" name="Google Shape;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1471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0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79" name="Google Shape;79;p10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80" name="Google Shape;80;p10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0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0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2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92" name="Google Shape;92;p12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93" name="Google Shape;93;p12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4" name="Google Shape;94;p12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5" name="Google Shape;95;p12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4"/>
          <p:cNvSpPr/>
          <p:nvPr/>
        </p:nvSpPr>
        <p:spPr>
          <a:xfrm>
            <a:off x="500062" y="5945187"/>
            <a:ext cx="4940300" cy="920750"/>
          </a:xfrm>
          <a:custGeom>
            <a:rect b="b" l="l" r="r" t="t"/>
            <a:pathLst>
              <a:path extrusionOk="0" h="337" w="7485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rgbClr val="9FCBDC">
              <a:alpha val="3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/>
          <p:nvPr/>
        </p:nvSpPr>
        <p:spPr>
          <a:xfrm>
            <a:off x="485775" y="5938837"/>
            <a:ext cx="3690937" cy="933450"/>
          </a:xfrm>
          <a:custGeom>
            <a:rect b="b" l="l" r="r" t="t"/>
            <a:pathLst>
              <a:path extrusionOk="0" h="588" w="5591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4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09" name="Google Shape;10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1471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11" name="Google Shape;111;p14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12" name="Google Shape;112;p14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3" name="Google Shape;113;p14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4" name="Google Shape;114;p14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6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dk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b="0" i="0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7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8"/>
          <p:cNvSpPr/>
          <p:nvPr/>
        </p:nvSpPr>
        <p:spPr>
          <a:xfrm>
            <a:off x="500062" y="5945187"/>
            <a:ext cx="4940300" cy="920750"/>
          </a:xfrm>
          <a:custGeom>
            <a:rect b="b" l="l" r="r" t="t"/>
            <a:pathLst>
              <a:path extrusionOk="0" h="337" w="7485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rgbClr val="9FCBDC">
              <a:alpha val="39607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485775" y="5938837"/>
            <a:ext cx="3690937" cy="933450"/>
          </a:xfrm>
          <a:custGeom>
            <a:rect b="b" l="l" r="r" t="t"/>
            <a:pathLst>
              <a:path extrusionOk="0" h="588" w="5591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-6042" y="5791253"/>
            <a:ext cx="3402314" cy="1080868"/>
          </a:xfrm>
          <a:prstGeom prst="rtTriangle">
            <a:avLst/>
          </a:prstGeom>
          <a:blipFill rotWithShape="1">
            <a:blip r:embed="rId2">
              <a:alphaModFix amt="50000"/>
            </a:blip>
            <a:tile algn="t" flip="none" tx="0" sx="50000" ty="0" sy="50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Lucida Sans"/>
              <a:ea typeface="Lucida Sans"/>
              <a:cs typeface="Lucida Sans"/>
              <a:sym typeface="Lucida Sans"/>
            </a:endParaRPr>
          </a:p>
        </p:txBody>
      </p:sp>
      <p:pic>
        <p:nvPicPr>
          <p:cNvPr id="137" name="Google Shape;1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19050" y="5778500"/>
            <a:ext cx="3414712" cy="1098550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/>
          <p:nvPr/>
        </p:nvSpPr>
        <p:spPr>
          <a:xfrm>
            <a:off x="8664575" y="4987925"/>
            <a:ext cx="182562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8477250" y="4987925"/>
            <a:ext cx="182562" cy="228600"/>
          </a:xfrm>
          <a:prstGeom prst="chevron">
            <a:avLst>
              <a:gd fmla="val 10800" name="adj"/>
            </a:avLst>
          </a:prstGeom>
          <a:gradFill>
            <a:gsLst>
              <a:gs pos="0">
                <a:srgbClr val="1389A6"/>
              </a:gs>
              <a:gs pos="72000">
                <a:srgbClr val="50B8DA"/>
              </a:gs>
              <a:gs pos="100000">
                <a:srgbClr val="7FC4DD"/>
              </a:gs>
            </a:gsLst>
            <a:lin ang="16200000" scaled="0"/>
          </a:gradFill>
          <a:ln cap="rnd" cmpd="sng" w="9525">
            <a:solidFill>
              <a:srgbClr val="1E768C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63500" dir="5400000" dist="25400">
              <a:srgbClr val="000000">
                <a:alpha val="4588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 txBox="1"/>
          <p:nvPr>
            <p:ph type="title"/>
          </p:nvPr>
        </p:nvSpPr>
        <p:spPr>
          <a:xfrm>
            <a:off x="457200" y="274637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100" u="none" cap="none" strike="noStrike">
                <a:solidFill>
                  <a:schemeClr val="lt2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41" name="Google Shape;141;p18"/>
          <p:cNvSpPr txBox="1"/>
          <p:nvPr>
            <p:ph idx="1" type="body"/>
          </p:nvPr>
        </p:nvSpPr>
        <p:spPr>
          <a:xfrm>
            <a:off x="457200" y="1481137"/>
            <a:ext cx="8229600" cy="4525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5186" lvl="0" marL="457200" marR="0" rtl="0" algn="l"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36"/>
              <a:buFont typeface="Noto Sans Symbols"/>
              <a:buChar char="🞂"/>
              <a:defRPr b="0" i="0" sz="27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1pPr>
            <a:lvl2pPr indent="-374650" lvl="1" marL="914400" marR="0" rtl="0" algn="l">
              <a:spcBef>
                <a:spcPts val="325"/>
              </a:spcBef>
              <a:spcAft>
                <a:spcPts val="0"/>
              </a:spcAft>
              <a:buClr>
                <a:schemeClr val="accent1"/>
              </a:buClr>
              <a:buSzPts val="2300"/>
              <a:buFont typeface="Verdana"/>
              <a:buChar char="◦"/>
              <a:defRPr b="0" i="0" sz="23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2pPr>
            <a:lvl3pPr indent="-361950" lvl="2" marL="13716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2100"/>
              <a:buFont typeface="Noto Sans Symbols"/>
              <a:buChar char="●"/>
              <a:defRPr b="0" i="0" sz="21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3pPr>
            <a:lvl4pPr indent="-349250" lvl="3" marL="18288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900"/>
              <a:buFont typeface="Noto Sans Symbols"/>
              <a:buChar char="●"/>
              <a:defRPr b="0" i="0" sz="19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4pPr>
            <a:lvl5pPr indent="-342900" lvl="4" marL="2286000" marR="0" rtl="0" algn="l">
              <a:spcBef>
                <a:spcPts val="35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Noto Sans Symbols"/>
              <a:buChar char="●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5pPr>
            <a:lvl6pPr indent="-342900" lvl="5" marL="27432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Noto Sans Symbols"/>
              <a:buChar char="■"/>
              <a:defRPr b="0" i="0" sz="18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6pPr>
            <a:lvl7pPr indent="-330200" lvl="6" marL="32004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7pPr>
            <a:lvl8pPr indent="-330200" lvl="7" marL="36576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8pPr>
            <a:lvl9pPr indent="-330200" lvl="8" marL="4114800" marR="0" rtl="0" algn="l">
              <a:spcBef>
                <a:spcPts val="350"/>
              </a:spcBef>
              <a:spcAft>
                <a:spcPts val="0"/>
              </a:spcAft>
              <a:buClr>
                <a:schemeClr val="accent3"/>
              </a:buClr>
              <a:buSzPts val="1600"/>
              <a:buFont typeface="Noto Sans Symbols"/>
              <a:buChar char="■"/>
              <a:defRPr b="0" i="0" sz="1600" u="none" cap="none" strike="noStrike">
                <a:solidFill>
                  <a:schemeClr val="lt1"/>
                </a:solidFill>
                <a:latin typeface="Lucida Sans"/>
                <a:ea typeface="Lucida Sans"/>
                <a:cs typeface="Lucida Sans"/>
                <a:sym typeface="Lucida Sans"/>
              </a:defRPr>
            </a:lvl9pPr>
          </a:lstStyle>
          <a:p/>
        </p:txBody>
      </p:sp>
      <p:sp>
        <p:nvSpPr>
          <p:cNvPr id="142" name="Google Shape;142;p18"/>
          <p:cNvSpPr txBox="1"/>
          <p:nvPr>
            <p:ph idx="10" type="dt"/>
          </p:nvPr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11" type="ftr"/>
          </p:nvPr>
        </p:nvSpPr>
        <p:spPr>
          <a:xfrm>
            <a:off x="4379912" y="6408737"/>
            <a:ext cx="23510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4" name="Google Shape;144;p18"/>
          <p:cNvSpPr txBox="1"/>
          <p:nvPr>
            <p:ph idx="12" type="sldNum"/>
          </p:nvPr>
        </p:nvSpPr>
        <p:spPr>
          <a:xfrm>
            <a:off x="8647112" y="6408737"/>
            <a:ext cx="366712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Calibri"/>
              <a:buNone/>
              <a:defRPr b="0" i="0" sz="10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8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0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7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0"/>
          <p:cNvSpPr txBox="1"/>
          <p:nvPr/>
        </p:nvSpPr>
        <p:spPr>
          <a:xfrm>
            <a:off x="2255837" y="2971800"/>
            <a:ext cx="4633912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Chapter 1:	Introduction</a:t>
            </a:r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21"/>
          <p:cNvSpPr txBox="1"/>
          <p:nvPr/>
        </p:nvSpPr>
        <p:spPr>
          <a:xfrm>
            <a:off x="2490787" y="269875"/>
            <a:ext cx="4633912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Chapter 1:	Introduction</a:t>
            </a:r>
            <a:endParaRPr/>
          </a:p>
        </p:txBody>
      </p:sp>
      <p:sp>
        <p:nvSpPr>
          <p:cNvPr id="164" name="Google Shape;164;p21"/>
          <p:cNvSpPr txBox="1"/>
          <p:nvPr/>
        </p:nvSpPr>
        <p:spPr>
          <a:xfrm>
            <a:off x="933450" y="11938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65" name="Google Shape;165;p21"/>
          <p:cNvSpPr txBox="1"/>
          <p:nvPr/>
        </p:nvSpPr>
        <p:spPr>
          <a:xfrm>
            <a:off x="1276350" y="1241425"/>
            <a:ext cx="31083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Purpose of Database Systems</a:t>
            </a:r>
            <a:endParaRPr/>
          </a:p>
        </p:txBody>
      </p:sp>
      <p:sp>
        <p:nvSpPr>
          <p:cNvPr id="166" name="Google Shape;166;p21"/>
          <p:cNvSpPr txBox="1"/>
          <p:nvPr/>
        </p:nvSpPr>
        <p:spPr>
          <a:xfrm>
            <a:off x="933450" y="156686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67" name="Google Shape;167;p21"/>
          <p:cNvSpPr txBox="1"/>
          <p:nvPr/>
        </p:nvSpPr>
        <p:spPr>
          <a:xfrm>
            <a:off x="1276350" y="1614487"/>
            <a:ext cx="13208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View of Data</a:t>
            </a:r>
            <a:endParaRPr/>
          </a:p>
        </p:txBody>
      </p:sp>
      <p:sp>
        <p:nvSpPr>
          <p:cNvPr id="168" name="Google Shape;168;p21"/>
          <p:cNvSpPr txBox="1"/>
          <p:nvPr/>
        </p:nvSpPr>
        <p:spPr>
          <a:xfrm>
            <a:off x="933450" y="194151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69" name="Google Shape;169;p21"/>
          <p:cNvSpPr txBox="1"/>
          <p:nvPr/>
        </p:nvSpPr>
        <p:spPr>
          <a:xfrm>
            <a:off x="1276350" y="1989137"/>
            <a:ext cx="21907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Languages</a:t>
            </a:r>
            <a:endParaRPr/>
          </a:p>
        </p:txBody>
      </p:sp>
      <p:sp>
        <p:nvSpPr>
          <p:cNvPr id="170" name="Google Shape;170;p21"/>
          <p:cNvSpPr txBox="1"/>
          <p:nvPr/>
        </p:nvSpPr>
        <p:spPr>
          <a:xfrm>
            <a:off x="933450" y="231616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71" name="Google Shape;171;p21"/>
          <p:cNvSpPr txBox="1"/>
          <p:nvPr/>
        </p:nvSpPr>
        <p:spPr>
          <a:xfrm>
            <a:off x="1276350" y="2362200"/>
            <a:ext cx="21907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Relational Databases</a:t>
            </a:r>
            <a:endParaRPr/>
          </a:p>
        </p:txBody>
      </p:sp>
      <p:sp>
        <p:nvSpPr>
          <p:cNvPr id="172" name="Google Shape;172;p21"/>
          <p:cNvSpPr txBox="1"/>
          <p:nvPr/>
        </p:nvSpPr>
        <p:spPr>
          <a:xfrm>
            <a:off x="933450" y="269081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73" name="Google Shape;173;p21"/>
          <p:cNvSpPr txBox="1"/>
          <p:nvPr/>
        </p:nvSpPr>
        <p:spPr>
          <a:xfrm>
            <a:off x="1276350" y="2736850"/>
            <a:ext cx="17732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Design</a:t>
            </a:r>
            <a:endParaRPr/>
          </a:p>
        </p:txBody>
      </p:sp>
      <p:sp>
        <p:nvSpPr>
          <p:cNvPr id="174" name="Google Shape;174;p21"/>
          <p:cNvSpPr txBox="1"/>
          <p:nvPr/>
        </p:nvSpPr>
        <p:spPr>
          <a:xfrm>
            <a:off x="933450" y="306546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75" name="Google Shape;175;p21"/>
          <p:cNvSpPr txBox="1"/>
          <p:nvPr/>
        </p:nvSpPr>
        <p:spPr>
          <a:xfrm>
            <a:off x="1276350" y="3109912"/>
            <a:ext cx="45005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Object-based and semistructured databases</a:t>
            </a:r>
            <a:endParaRPr/>
          </a:p>
        </p:txBody>
      </p:sp>
      <p:sp>
        <p:nvSpPr>
          <p:cNvPr id="176" name="Google Shape;176;p21"/>
          <p:cNvSpPr txBox="1"/>
          <p:nvPr/>
        </p:nvSpPr>
        <p:spPr>
          <a:xfrm>
            <a:off x="933450" y="3438525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77" name="Google Shape;177;p21"/>
          <p:cNvSpPr txBox="1"/>
          <p:nvPr/>
        </p:nvSpPr>
        <p:spPr>
          <a:xfrm>
            <a:off x="1276350" y="3484562"/>
            <a:ext cx="28019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Storage and Querying</a:t>
            </a:r>
            <a:endParaRPr/>
          </a:p>
        </p:txBody>
      </p:sp>
      <p:sp>
        <p:nvSpPr>
          <p:cNvPr id="178" name="Google Shape;178;p21"/>
          <p:cNvSpPr txBox="1"/>
          <p:nvPr/>
        </p:nvSpPr>
        <p:spPr>
          <a:xfrm>
            <a:off x="933450" y="3813175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79" name="Google Shape;179;p21"/>
          <p:cNvSpPr txBox="1"/>
          <p:nvPr/>
        </p:nvSpPr>
        <p:spPr>
          <a:xfrm>
            <a:off x="1276350" y="3857625"/>
            <a:ext cx="26098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Transaction Management</a:t>
            </a:r>
            <a:endParaRPr/>
          </a:p>
        </p:txBody>
      </p:sp>
      <p:sp>
        <p:nvSpPr>
          <p:cNvPr id="180" name="Google Shape;180;p21"/>
          <p:cNvSpPr txBox="1"/>
          <p:nvPr/>
        </p:nvSpPr>
        <p:spPr>
          <a:xfrm>
            <a:off x="933450" y="418623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1276350" y="4232275"/>
            <a:ext cx="22828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Architecture</a:t>
            </a:r>
            <a:endParaRPr/>
          </a:p>
        </p:txBody>
      </p:sp>
      <p:sp>
        <p:nvSpPr>
          <p:cNvPr id="182" name="Google Shape;182;p21"/>
          <p:cNvSpPr txBox="1"/>
          <p:nvPr/>
        </p:nvSpPr>
        <p:spPr>
          <a:xfrm>
            <a:off x="933450" y="456088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83" name="Google Shape;183;p21"/>
          <p:cNvSpPr txBox="1"/>
          <p:nvPr/>
        </p:nvSpPr>
        <p:spPr>
          <a:xfrm>
            <a:off x="1276350" y="4606925"/>
            <a:ext cx="36258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Users and Administrators</a:t>
            </a:r>
            <a:endParaRPr/>
          </a:p>
        </p:txBody>
      </p:sp>
      <p:sp>
        <p:nvSpPr>
          <p:cNvPr id="184" name="Google Shape;184;p21"/>
          <p:cNvSpPr txBox="1"/>
          <p:nvPr/>
        </p:nvSpPr>
        <p:spPr>
          <a:xfrm>
            <a:off x="933450" y="493395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85" name="Google Shape;185;p21"/>
          <p:cNvSpPr txBox="1"/>
          <p:nvPr/>
        </p:nvSpPr>
        <p:spPr>
          <a:xfrm>
            <a:off x="1276350" y="4981575"/>
            <a:ext cx="17399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Overall Structure</a:t>
            </a:r>
            <a:endParaRPr/>
          </a:p>
        </p:txBody>
      </p:sp>
      <p:sp>
        <p:nvSpPr>
          <p:cNvPr id="186" name="Google Shape;186;p21"/>
          <p:cNvSpPr txBox="1"/>
          <p:nvPr/>
        </p:nvSpPr>
        <p:spPr>
          <a:xfrm>
            <a:off x="933450" y="53086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87" name="Google Shape;187;p21"/>
          <p:cNvSpPr txBox="1"/>
          <p:nvPr/>
        </p:nvSpPr>
        <p:spPr>
          <a:xfrm>
            <a:off x="1276350" y="5354637"/>
            <a:ext cx="29686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History of Database Systems</a:t>
            </a:r>
            <a:endParaRPr/>
          </a:p>
        </p:txBody>
      </p:sp>
      <p:sp>
        <p:nvSpPr>
          <p:cNvPr id="188" name="Google Shape;188;p21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2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1122362" y="219075"/>
            <a:ext cx="7567612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Management System (DBMS)</a:t>
            </a:r>
            <a:endParaRPr/>
          </a:p>
        </p:txBody>
      </p:sp>
      <p:sp>
        <p:nvSpPr>
          <p:cNvPr id="195" name="Google Shape;195;p22"/>
          <p:cNvSpPr txBox="1"/>
          <p:nvPr/>
        </p:nvSpPr>
        <p:spPr>
          <a:xfrm>
            <a:off x="892175" y="1133475"/>
            <a:ext cx="180975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196" name="Google Shape;196;p22"/>
          <p:cNvSpPr txBox="1"/>
          <p:nvPr/>
        </p:nvSpPr>
        <p:spPr>
          <a:xfrm>
            <a:off x="1235075" y="1179512"/>
            <a:ext cx="56927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DBMS contains information about a particular enterprise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1349375" y="152241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198" name="Google Shape;198;p22"/>
          <p:cNvSpPr txBox="1"/>
          <p:nvPr/>
        </p:nvSpPr>
        <p:spPr>
          <a:xfrm>
            <a:off x="1635125" y="1554162"/>
            <a:ext cx="29908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Collection of interrelated data</a:t>
            </a:r>
            <a:endParaRPr/>
          </a:p>
        </p:txBody>
      </p:sp>
      <p:sp>
        <p:nvSpPr>
          <p:cNvPr id="199" name="Google Shape;199;p22"/>
          <p:cNvSpPr txBox="1"/>
          <p:nvPr/>
        </p:nvSpPr>
        <p:spPr>
          <a:xfrm>
            <a:off x="1349375" y="189547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00" name="Google Shape;200;p22"/>
          <p:cNvSpPr txBox="1"/>
          <p:nvPr/>
        </p:nvSpPr>
        <p:spPr>
          <a:xfrm>
            <a:off x="1635125" y="1927225"/>
            <a:ext cx="35671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Set of programs to access the data</a:t>
            </a:r>
            <a:endParaRPr/>
          </a:p>
        </p:txBody>
      </p:sp>
      <p:sp>
        <p:nvSpPr>
          <p:cNvPr id="201" name="Google Shape;201;p22"/>
          <p:cNvSpPr txBox="1"/>
          <p:nvPr/>
        </p:nvSpPr>
        <p:spPr>
          <a:xfrm>
            <a:off x="1349375" y="227012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02" name="Google Shape;202;p22"/>
          <p:cNvSpPr txBox="1"/>
          <p:nvPr/>
        </p:nvSpPr>
        <p:spPr>
          <a:xfrm>
            <a:off x="1635125" y="2301875"/>
            <a:ext cx="594995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environment that is both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convenient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efficient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 use</a:t>
            </a:r>
            <a:endParaRPr/>
          </a:p>
        </p:txBody>
      </p:sp>
      <p:sp>
        <p:nvSpPr>
          <p:cNvPr id="203" name="Google Shape;203;p22"/>
          <p:cNvSpPr txBox="1"/>
          <p:nvPr/>
        </p:nvSpPr>
        <p:spPr>
          <a:xfrm>
            <a:off x="892175" y="2628900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04" name="Google Shape;204;p22"/>
          <p:cNvSpPr txBox="1"/>
          <p:nvPr/>
        </p:nvSpPr>
        <p:spPr>
          <a:xfrm>
            <a:off x="1235075" y="2676525"/>
            <a:ext cx="23558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Applications: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1349375" y="3017837"/>
            <a:ext cx="1698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1635125" y="3051175"/>
            <a:ext cx="24955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Banking: all transactions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1349375" y="3392487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1635125" y="3424237"/>
            <a:ext cx="32956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Airlines: reservations, schedules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1349375" y="3767137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1635125" y="3798887"/>
            <a:ext cx="33464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Universities:	registration, grades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1349375" y="414020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1635125" y="4171950"/>
            <a:ext cx="39576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Sales: customers, products, purchases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1349375" y="451485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14" name="Google Shape;214;p22"/>
          <p:cNvSpPr txBox="1"/>
          <p:nvPr/>
        </p:nvSpPr>
        <p:spPr>
          <a:xfrm>
            <a:off x="1635125" y="4546600"/>
            <a:ext cx="62372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Online retailers: order tracking, customized recommendations</a:t>
            </a:r>
            <a:endParaRPr/>
          </a:p>
        </p:txBody>
      </p:sp>
      <p:sp>
        <p:nvSpPr>
          <p:cNvPr id="215" name="Google Shape;215;p22"/>
          <p:cNvSpPr txBox="1"/>
          <p:nvPr/>
        </p:nvSpPr>
        <p:spPr>
          <a:xfrm>
            <a:off x="1349375" y="488950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16" name="Google Shape;216;p22"/>
          <p:cNvSpPr txBox="1"/>
          <p:nvPr/>
        </p:nvSpPr>
        <p:spPr>
          <a:xfrm>
            <a:off x="1635125" y="4919662"/>
            <a:ext cx="58832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Manufacturing: production, inventory, orders, supply chain</a:t>
            </a:r>
            <a:endParaRPr/>
          </a:p>
        </p:txBody>
      </p:sp>
      <p:sp>
        <p:nvSpPr>
          <p:cNvPr id="217" name="Google Shape;217;p22"/>
          <p:cNvSpPr txBox="1"/>
          <p:nvPr/>
        </p:nvSpPr>
        <p:spPr>
          <a:xfrm>
            <a:off x="1349375" y="526256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18" name="Google Shape;218;p22"/>
          <p:cNvSpPr txBox="1"/>
          <p:nvPr/>
        </p:nvSpPr>
        <p:spPr>
          <a:xfrm>
            <a:off x="1635125" y="5294312"/>
            <a:ext cx="63388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Human resources:	employee records, salaries, tax deductions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892175" y="5622925"/>
            <a:ext cx="180975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1235075" y="5667375"/>
            <a:ext cx="40449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Databases touch all aspects of our lives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3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3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99313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Purpose of Database Systems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904875" y="1117600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1247775" y="1165225"/>
            <a:ext cx="68087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the early days, database applications were built directly on top of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1247775" y="1438275"/>
            <a:ext cx="12176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file systems</a:t>
            </a:r>
            <a:endParaRPr/>
          </a:p>
        </p:txBody>
      </p:sp>
      <p:sp>
        <p:nvSpPr>
          <p:cNvPr id="230" name="Google Shape;230;p23"/>
          <p:cNvSpPr txBox="1"/>
          <p:nvPr/>
        </p:nvSpPr>
        <p:spPr>
          <a:xfrm>
            <a:off x="904875" y="1765300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31" name="Google Shape;231;p23"/>
          <p:cNvSpPr txBox="1"/>
          <p:nvPr/>
        </p:nvSpPr>
        <p:spPr>
          <a:xfrm>
            <a:off x="1247775" y="1812925"/>
            <a:ext cx="46704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Drawbacks of using file systems to store data: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1362075" y="2154237"/>
            <a:ext cx="1698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1646237" y="2187575"/>
            <a:ext cx="36385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redundancy and inconsistency</a:t>
            </a:r>
            <a:endParaRPr/>
          </a:p>
        </p:txBody>
      </p:sp>
      <p:sp>
        <p:nvSpPr>
          <p:cNvPr id="234" name="Google Shape;234;p23"/>
          <p:cNvSpPr txBox="1"/>
          <p:nvPr/>
        </p:nvSpPr>
        <p:spPr>
          <a:xfrm>
            <a:off x="1762125" y="2520950"/>
            <a:ext cx="6480175" cy="293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Multiple file formats, duplication of information in different files</a:t>
            </a:r>
            <a:endParaRPr/>
          </a:p>
        </p:txBody>
      </p:sp>
      <p:sp>
        <p:nvSpPr>
          <p:cNvPr id="235" name="Google Shape;235;p23"/>
          <p:cNvSpPr txBox="1"/>
          <p:nvPr/>
        </p:nvSpPr>
        <p:spPr>
          <a:xfrm>
            <a:off x="1362075" y="2903537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36" name="Google Shape;236;p23"/>
          <p:cNvSpPr txBox="1"/>
          <p:nvPr/>
        </p:nvSpPr>
        <p:spPr>
          <a:xfrm>
            <a:off x="1646237" y="2935287"/>
            <a:ext cx="27162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Difficulty in accessing data</a:t>
            </a:r>
            <a:endParaRPr/>
          </a:p>
        </p:txBody>
      </p:sp>
      <p:sp>
        <p:nvSpPr>
          <p:cNvPr id="237" name="Google Shape;237;p23"/>
          <p:cNvSpPr txBox="1"/>
          <p:nvPr/>
        </p:nvSpPr>
        <p:spPr>
          <a:xfrm>
            <a:off x="1762125" y="3268662"/>
            <a:ext cx="5911850" cy="293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write a new program to carry out each new task</a:t>
            </a:r>
            <a:endParaRPr/>
          </a:p>
        </p:txBody>
      </p:sp>
      <p:sp>
        <p:nvSpPr>
          <p:cNvPr id="238" name="Google Shape;238;p23"/>
          <p:cNvSpPr txBox="1"/>
          <p:nvPr/>
        </p:nvSpPr>
        <p:spPr>
          <a:xfrm>
            <a:off x="1362075" y="365125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39" name="Google Shape;239;p23"/>
          <p:cNvSpPr txBox="1"/>
          <p:nvPr/>
        </p:nvSpPr>
        <p:spPr>
          <a:xfrm>
            <a:off x="1646237" y="3683000"/>
            <a:ext cx="42878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isolation — multiple files and formats</a:t>
            </a:r>
            <a:endParaRPr/>
          </a:p>
        </p:txBody>
      </p:sp>
      <p:sp>
        <p:nvSpPr>
          <p:cNvPr id="240" name="Google Shape;240;p23"/>
          <p:cNvSpPr txBox="1"/>
          <p:nvPr/>
        </p:nvSpPr>
        <p:spPr>
          <a:xfrm>
            <a:off x="1362075" y="402590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1646237" y="4056062"/>
            <a:ext cx="18383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Integrity problems</a:t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1762125" y="4391025"/>
            <a:ext cx="6146800" cy="9413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413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Integrity constraints	(e.g. account balance &gt; 0) become “buried” in program code rather than being stated explicitly</a:t>
            </a:r>
            <a:endParaRPr/>
          </a:p>
          <a:p>
            <a:pPr indent="-228600" lvl="0" marL="2413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 to add new constraints or change existing ones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4"/>
          <p:cNvSpPr txBox="1"/>
          <p:nvPr/>
        </p:nvSpPr>
        <p:spPr>
          <a:xfrm>
            <a:off x="1228725" y="442912"/>
            <a:ext cx="7275512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Purpose of Database Systems (Cont.)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904875" y="1090612"/>
            <a:ext cx="180975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1247775" y="1135062"/>
            <a:ext cx="39830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Drawbacks of using file systems (cont.)</a:t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1362075" y="1449387"/>
            <a:ext cx="1698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1647825" y="1482725"/>
            <a:ext cx="20796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Atomicity of updates</a:t>
            </a:r>
            <a:endParaRPr/>
          </a:p>
        </p:txBody>
      </p:sp>
      <p:sp>
        <p:nvSpPr>
          <p:cNvPr id="254" name="Google Shape;254;p24"/>
          <p:cNvSpPr txBox="1"/>
          <p:nvPr/>
        </p:nvSpPr>
        <p:spPr>
          <a:xfrm>
            <a:off x="1762125" y="1789112"/>
            <a:ext cx="6707187" cy="1133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228600" lvl="0" marL="241300" marR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Failures may leave database in an inconsistent state with partial updates carried out</a:t>
            </a:r>
            <a:endParaRPr/>
          </a:p>
          <a:p>
            <a:pPr indent="-228600" lvl="0" marL="241300" marR="0" rtl="0" algn="l">
              <a:lnSpc>
                <a:spcPct val="95000"/>
              </a:lnSpc>
              <a:spcBef>
                <a:spcPts val="70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Transfer of funds from one account to another should either complete or not happen at all</a:t>
            </a:r>
            <a:endParaRPr/>
          </a:p>
        </p:txBody>
      </p:sp>
      <p:sp>
        <p:nvSpPr>
          <p:cNvPr id="255" name="Google Shape;255;p24"/>
          <p:cNvSpPr txBox="1"/>
          <p:nvPr/>
        </p:nvSpPr>
        <p:spPr>
          <a:xfrm>
            <a:off x="1362075" y="298291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56" name="Google Shape;256;p24"/>
          <p:cNvSpPr txBox="1"/>
          <p:nvPr/>
        </p:nvSpPr>
        <p:spPr>
          <a:xfrm>
            <a:off x="1647825" y="3014662"/>
            <a:ext cx="37020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Concurrent access by multiple users</a:t>
            </a:r>
            <a:endParaRPr/>
          </a:p>
        </p:txBody>
      </p:sp>
      <p:sp>
        <p:nvSpPr>
          <p:cNvPr id="257" name="Google Shape;257;p24"/>
          <p:cNvSpPr txBox="1"/>
          <p:nvPr/>
        </p:nvSpPr>
        <p:spPr>
          <a:xfrm>
            <a:off x="1762125" y="3321050"/>
            <a:ext cx="6859587" cy="12334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Concurrent accessed needed for performance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Uncontrolled concurrent accesses can lead to inconsistencies</a:t>
            </a:r>
            <a:endParaRPr/>
          </a:p>
          <a:p>
            <a:pPr indent="0" lvl="0" marL="12700" marR="0" rtl="0" algn="l">
              <a:lnSpc>
                <a:spcPct val="70370"/>
              </a:lnSpc>
              <a:spcBef>
                <a:spcPts val="800"/>
              </a:spcBef>
              <a:spcAft>
                <a:spcPts val="0"/>
              </a:spcAft>
              <a:buClr>
                <a:srgbClr val="FF9800"/>
              </a:buClr>
              <a:buSzPts val="2700"/>
              <a:buFont typeface="Arial"/>
              <a:buNone/>
            </a:pPr>
            <a:r>
              <a:rPr b="0" baseline="-25000" i="0" lang="en-US" sz="2700" u="none">
                <a:solidFill>
                  <a:srgbClr val="FF9800"/>
                </a:solidFill>
                <a:latin typeface="Arial"/>
                <a:ea typeface="Arial"/>
                <a:cs typeface="Arial"/>
                <a:sym typeface="Arial"/>
              </a:rPr>
              <a:t>–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Two people reading a balance and updating it at the same time</a:t>
            </a:r>
            <a:endParaRPr/>
          </a:p>
        </p:txBody>
      </p:sp>
      <p:sp>
        <p:nvSpPr>
          <p:cNvPr id="258" name="Google Shape;258;p24"/>
          <p:cNvSpPr txBox="1"/>
          <p:nvPr/>
        </p:nvSpPr>
        <p:spPr>
          <a:xfrm>
            <a:off x="1362075" y="461486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259" name="Google Shape;259;p24"/>
          <p:cNvSpPr txBox="1"/>
          <p:nvPr/>
        </p:nvSpPr>
        <p:spPr>
          <a:xfrm>
            <a:off x="1647825" y="4645025"/>
            <a:ext cx="18494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Security problems</a:t>
            </a:r>
            <a:endParaRPr/>
          </a:p>
        </p:txBody>
      </p:sp>
      <p:sp>
        <p:nvSpPr>
          <p:cNvPr id="260" name="Google Shape;260;p24"/>
          <p:cNvSpPr txBox="1"/>
          <p:nvPr/>
        </p:nvSpPr>
        <p:spPr>
          <a:xfrm>
            <a:off x="1762125" y="4953000"/>
            <a:ext cx="5661025" cy="293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Hard to provide user access to some, but not all, data</a:t>
            </a:r>
            <a:endParaRPr/>
          </a:p>
        </p:txBody>
      </p:sp>
      <p:sp>
        <p:nvSpPr>
          <p:cNvPr id="261" name="Google Shape;261;p24"/>
          <p:cNvSpPr txBox="1"/>
          <p:nvPr/>
        </p:nvSpPr>
        <p:spPr>
          <a:xfrm>
            <a:off x="904875" y="5292725"/>
            <a:ext cx="180975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62" name="Google Shape;262;p24"/>
          <p:cNvSpPr txBox="1"/>
          <p:nvPr/>
        </p:nvSpPr>
        <p:spPr>
          <a:xfrm>
            <a:off x="1247775" y="5338762"/>
            <a:ext cx="59991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systems offer solutions to all the above problems</a:t>
            </a:r>
            <a:endParaRPr/>
          </a:p>
        </p:txBody>
      </p:sp>
      <p:sp>
        <p:nvSpPr>
          <p:cNvPr id="263" name="Google Shape;263;p24"/>
          <p:cNvSpPr txBox="1"/>
          <p:nvPr/>
        </p:nvSpPr>
        <p:spPr>
          <a:xfrm>
            <a:off x="6700837" y="6567487"/>
            <a:ext cx="1920875" cy="3667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5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5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83896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Levels of Abstraction</a:t>
            </a:r>
            <a:endParaRPr/>
          </a:p>
        </p:txBody>
      </p:sp>
      <p:sp>
        <p:nvSpPr>
          <p:cNvPr id="270" name="Google Shape;270;p25"/>
          <p:cNvSpPr txBox="1"/>
          <p:nvPr/>
        </p:nvSpPr>
        <p:spPr>
          <a:xfrm>
            <a:off x="904875" y="1117600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71" name="Google Shape;271;p25"/>
          <p:cNvSpPr txBox="1"/>
          <p:nvPr/>
        </p:nvSpPr>
        <p:spPr>
          <a:xfrm>
            <a:off x="1247775" y="1163637"/>
            <a:ext cx="66754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Physical level: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describes how a record (e.g., customer) is stored.</a:t>
            </a:r>
            <a:endParaRPr/>
          </a:p>
        </p:txBody>
      </p:sp>
      <p:sp>
        <p:nvSpPr>
          <p:cNvPr id="272" name="Google Shape;272;p25"/>
          <p:cNvSpPr txBox="1"/>
          <p:nvPr/>
        </p:nvSpPr>
        <p:spPr>
          <a:xfrm>
            <a:off x="904875" y="1490662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73" name="Google Shape;273;p25"/>
          <p:cNvSpPr txBox="1"/>
          <p:nvPr/>
        </p:nvSpPr>
        <p:spPr>
          <a:xfrm>
            <a:off x="1247775" y="1538287"/>
            <a:ext cx="71913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Logical level: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describes data stored in database, and the relationships</a:t>
            </a:r>
            <a:endParaRPr/>
          </a:p>
        </p:txBody>
      </p:sp>
      <p:sp>
        <p:nvSpPr>
          <p:cNvPr id="274" name="Google Shape;274;p25"/>
          <p:cNvSpPr txBox="1"/>
          <p:nvPr/>
        </p:nvSpPr>
        <p:spPr>
          <a:xfrm>
            <a:off x="1247775" y="1812925"/>
            <a:ext cx="3952875" cy="21986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among the data.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type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record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customer_id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string;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customer_name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string;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_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street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string;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customer_city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integer;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end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;</a:t>
            </a:r>
            <a:endParaRPr/>
          </a:p>
        </p:txBody>
      </p:sp>
      <p:sp>
        <p:nvSpPr>
          <p:cNvPr id="275" name="Google Shape;275;p25"/>
          <p:cNvSpPr txBox="1"/>
          <p:nvPr/>
        </p:nvSpPr>
        <p:spPr>
          <a:xfrm>
            <a:off x="904875" y="4084637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76" name="Google Shape;276;p25"/>
          <p:cNvSpPr txBox="1"/>
          <p:nvPr/>
        </p:nvSpPr>
        <p:spPr>
          <a:xfrm>
            <a:off x="1247775" y="4130675"/>
            <a:ext cx="719296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View level: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programs hide details of data types.	Views can</a:t>
            </a:r>
            <a:endParaRPr/>
          </a:p>
        </p:txBody>
      </p:sp>
      <p:sp>
        <p:nvSpPr>
          <p:cNvPr id="277" name="Google Shape;277;p25"/>
          <p:cNvSpPr txBox="1"/>
          <p:nvPr/>
        </p:nvSpPr>
        <p:spPr>
          <a:xfrm>
            <a:off x="1247775" y="4405312"/>
            <a:ext cx="651668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also hide information (such as an employee’s salary) for security purposes.</a:t>
            </a:r>
            <a:endParaRPr/>
          </a:p>
        </p:txBody>
      </p:sp>
      <p:sp>
        <p:nvSpPr>
          <p:cNvPr id="278" name="Google Shape;278;p25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6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6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6962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View of Data</a:t>
            </a:r>
            <a:endParaRPr/>
          </a:p>
        </p:txBody>
      </p:sp>
      <p:sp>
        <p:nvSpPr>
          <p:cNvPr id="285" name="Google Shape;285;p26"/>
          <p:cNvSpPr txBox="1"/>
          <p:nvPr/>
        </p:nvSpPr>
        <p:spPr>
          <a:xfrm>
            <a:off x="847725" y="1266825"/>
            <a:ext cx="4314825" cy="2809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 architecture for a database system</a:t>
            </a:r>
            <a:endParaRPr/>
          </a:p>
        </p:txBody>
      </p:sp>
      <p:sp>
        <p:nvSpPr>
          <p:cNvPr id="286" name="Google Shape;286;p26"/>
          <p:cNvSpPr/>
          <p:nvPr/>
        </p:nvSpPr>
        <p:spPr>
          <a:xfrm>
            <a:off x="1016000" y="1908175"/>
            <a:ext cx="7348537" cy="4357687"/>
          </a:xfrm>
          <a:custGeom>
            <a:rect b="b" l="l" r="r" t="t"/>
            <a:pathLst>
              <a:path extrusionOk="0" h="4358005" w="7348855">
                <a:moveTo>
                  <a:pt x="3674113" y="4357384"/>
                </a:moveTo>
                <a:lnTo>
                  <a:pt x="0" y="4357384"/>
                </a:lnTo>
                <a:lnTo>
                  <a:pt x="0" y="0"/>
                </a:lnTo>
                <a:lnTo>
                  <a:pt x="7348234" y="0"/>
                </a:lnTo>
                <a:lnTo>
                  <a:pt x="7348234" y="4357384"/>
                </a:lnTo>
                <a:lnTo>
                  <a:pt x="3674113" y="4357384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6"/>
          <p:cNvSpPr txBox="1"/>
          <p:nvPr/>
        </p:nvSpPr>
        <p:spPr>
          <a:xfrm>
            <a:off x="1035050" y="1927225"/>
            <a:ext cx="7312025" cy="43195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6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7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7"/>
          <p:cNvSpPr txBox="1"/>
          <p:nvPr>
            <p:ph idx="4294967295" type="title"/>
          </p:nvPr>
        </p:nvSpPr>
        <p:spPr>
          <a:xfrm>
            <a:off x="457200" y="-12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16027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Instances and Schemas</a:t>
            </a:r>
            <a:endParaRPr/>
          </a:p>
        </p:txBody>
      </p:sp>
      <p:sp>
        <p:nvSpPr>
          <p:cNvPr id="295" name="Google Shape;295;p27"/>
          <p:cNvSpPr txBox="1"/>
          <p:nvPr/>
        </p:nvSpPr>
        <p:spPr>
          <a:xfrm>
            <a:off x="904875" y="1116012"/>
            <a:ext cx="16351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96" name="Google Shape;296;p27"/>
          <p:cNvSpPr txBox="1"/>
          <p:nvPr/>
        </p:nvSpPr>
        <p:spPr>
          <a:xfrm>
            <a:off x="1247775" y="1157287"/>
            <a:ext cx="51371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Similar to types and variables in programming languages</a:t>
            </a:r>
            <a:endParaRPr/>
          </a:p>
        </p:txBody>
      </p:sp>
      <p:sp>
        <p:nvSpPr>
          <p:cNvPr id="297" name="Google Shape;297;p27"/>
          <p:cNvSpPr txBox="1"/>
          <p:nvPr/>
        </p:nvSpPr>
        <p:spPr>
          <a:xfrm>
            <a:off x="904875" y="1449387"/>
            <a:ext cx="16351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298" name="Google Shape;298;p27"/>
          <p:cNvSpPr txBox="1"/>
          <p:nvPr/>
        </p:nvSpPr>
        <p:spPr>
          <a:xfrm>
            <a:off x="1247775" y="1489075"/>
            <a:ext cx="42449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Schema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the logical structure of the database</a:t>
            </a:r>
            <a:endParaRPr/>
          </a:p>
        </p:txBody>
      </p:sp>
      <p:sp>
        <p:nvSpPr>
          <p:cNvPr id="299" name="Google Shape;299;p27"/>
          <p:cNvSpPr txBox="1"/>
          <p:nvPr/>
        </p:nvSpPr>
        <p:spPr>
          <a:xfrm>
            <a:off x="1362075" y="1793875"/>
            <a:ext cx="153987" cy="18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MS Gothic"/>
              <a:buNone/>
            </a:pPr>
            <a:r>
              <a:rPr b="0" i="0" lang="en-US" sz="12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00" name="Google Shape;300;p27"/>
          <p:cNvSpPr txBox="1"/>
          <p:nvPr/>
        </p:nvSpPr>
        <p:spPr>
          <a:xfrm>
            <a:off x="1646237" y="1822450"/>
            <a:ext cx="69230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The database consists of information about a set of customers and</a:t>
            </a:r>
            <a:endParaRPr/>
          </a:p>
        </p:txBody>
      </p:sp>
      <p:sp>
        <p:nvSpPr>
          <p:cNvPr id="301" name="Google Shape;301;p27"/>
          <p:cNvSpPr txBox="1"/>
          <p:nvPr/>
        </p:nvSpPr>
        <p:spPr>
          <a:xfrm>
            <a:off x="1646237" y="2063750"/>
            <a:ext cx="40671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accounts and the relationship between them)</a:t>
            </a:r>
            <a:endParaRPr/>
          </a:p>
        </p:txBody>
      </p:sp>
      <p:sp>
        <p:nvSpPr>
          <p:cNvPr id="302" name="Google Shape;302;p27"/>
          <p:cNvSpPr txBox="1"/>
          <p:nvPr/>
        </p:nvSpPr>
        <p:spPr>
          <a:xfrm>
            <a:off x="1362075" y="2370137"/>
            <a:ext cx="153987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MS Gothic"/>
              <a:buNone/>
            </a:pPr>
            <a:r>
              <a:rPr b="0" i="0" lang="en-US" sz="12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03" name="Google Shape;303;p27"/>
          <p:cNvSpPr txBox="1"/>
          <p:nvPr/>
        </p:nvSpPr>
        <p:spPr>
          <a:xfrm>
            <a:off x="1646237" y="2397125"/>
            <a:ext cx="50704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Analogous to type information of a variable in a program</a:t>
            </a:r>
            <a:endParaRPr/>
          </a:p>
        </p:txBody>
      </p:sp>
      <p:sp>
        <p:nvSpPr>
          <p:cNvPr id="304" name="Google Shape;304;p27"/>
          <p:cNvSpPr txBox="1"/>
          <p:nvPr/>
        </p:nvSpPr>
        <p:spPr>
          <a:xfrm>
            <a:off x="1362075" y="2700337"/>
            <a:ext cx="153987" cy="18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MS Gothic"/>
              <a:buNone/>
            </a:pPr>
            <a:r>
              <a:rPr b="0" i="0" lang="en-US" sz="12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05" name="Google Shape;305;p27"/>
          <p:cNvSpPr txBox="1"/>
          <p:nvPr/>
        </p:nvSpPr>
        <p:spPr>
          <a:xfrm>
            <a:off x="1646237" y="2728912"/>
            <a:ext cx="509428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Physical schema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database design at the physical level</a:t>
            </a:r>
            <a:endParaRPr/>
          </a:p>
        </p:txBody>
      </p:sp>
      <p:sp>
        <p:nvSpPr>
          <p:cNvPr id="306" name="Google Shape;306;p27"/>
          <p:cNvSpPr txBox="1"/>
          <p:nvPr/>
        </p:nvSpPr>
        <p:spPr>
          <a:xfrm>
            <a:off x="1362075" y="3032125"/>
            <a:ext cx="153987" cy="18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MS Gothic"/>
              <a:buNone/>
            </a:pPr>
            <a:r>
              <a:rPr b="0" i="0" lang="en-US" sz="12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07" name="Google Shape;307;p27"/>
          <p:cNvSpPr txBox="1"/>
          <p:nvPr/>
        </p:nvSpPr>
        <p:spPr>
          <a:xfrm>
            <a:off x="1646237" y="3060700"/>
            <a:ext cx="48212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Logical schema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database design at the logical level</a:t>
            </a:r>
            <a:endParaRPr/>
          </a:p>
        </p:txBody>
      </p:sp>
      <p:sp>
        <p:nvSpPr>
          <p:cNvPr id="308" name="Google Shape;308;p27"/>
          <p:cNvSpPr txBox="1"/>
          <p:nvPr/>
        </p:nvSpPr>
        <p:spPr>
          <a:xfrm>
            <a:off x="904875" y="3351212"/>
            <a:ext cx="16351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09" name="Google Shape;309;p27"/>
          <p:cNvSpPr txBox="1"/>
          <p:nvPr/>
        </p:nvSpPr>
        <p:spPr>
          <a:xfrm>
            <a:off x="1247775" y="3392487"/>
            <a:ext cx="65690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Instance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the actual content of the database at a particular point in time</a:t>
            </a:r>
            <a:endParaRPr/>
          </a:p>
        </p:txBody>
      </p:sp>
      <p:sp>
        <p:nvSpPr>
          <p:cNvPr id="310" name="Google Shape;310;p27"/>
          <p:cNvSpPr txBox="1"/>
          <p:nvPr/>
        </p:nvSpPr>
        <p:spPr>
          <a:xfrm>
            <a:off x="1362075" y="3697287"/>
            <a:ext cx="153987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MS Gothic"/>
              <a:buNone/>
            </a:pPr>
            <a:r>
              <a:rPr b="0" i="0" lang="en-US" sz="12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11" name="Google Shape;311;p27"/>
          <p:cNvSpPr txBox="1"/>
          <p:nvPr/>
        </p:nvSpPr>
        <p:spPr>
          <a:xfrm>
            <a:off x="1646237" y="3724275"/>
            <a:ext cx="32559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Analogous to the value of a variable</a:t>
            </a:r>
            <a:endParaRPr/>
          </a:p>
        </p:txBody>
      </p:sp>
      <p:sp>
        <p:nvSpPr>
          <p:cNvPr id="312" name="Google Shape;312;p27"/>
          <p:cNvSpPr txBox="1"/>
          <p:nvPr/>
        </p:nvSpPr>
        <p:spPr>
          <a:xfrm>
            <a:off x="904875" y="4016375"/>
            <a:ext cx="16351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13" name="Google Shape;313;p27"/>
          <p:cNvSpPr txBox="1"/>
          <p:nvPr/>
        </p:nvSpPr>
        <p:spPr>
          <a:xfrm>
            <a:off x="1247775" y="4057650"/>
            <a:ext cx="7324725" cy="4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87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Arial"/>
              <a:buNone/>
            </a:pPr>
            <a:r>
              <a:rPr b="1" i="0" lang="en-US" sz="16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Physical Data Independence </a:t>
            </a: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the ability to modify the physical schema without changing the logical schema</a:t>
            </a:r>
            <a:endParaRPr/>
          </a:p>
        </p:txBody>
      </p:sp>
      <p:sp>
        <p:nvSpPr>
          <p:cNvPr id="314" name="Google Shape;314;p27"/>
          <p:cNvSpPr txBox="1"/>
          <p:nvPr/>
        </p:nvSpPr>
        <p:spPr>
          <a:xfrm>
            <a:off x="1362075" y="4603750"/>
            <a:ext cx="153987" cy="187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MS Gothic"/>
              <a:buNone/>
            </a:pPr>
            <a:r>
              <a:rPr b="0" i="0" lang="en-US" sz="12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15" name="Google Shape;315;p27"/>
          <p:cNvSpPr txBox="1"/>
          <p:nvPr/>
        </p:nvSpPr>
        <p:spPr>
          <a:xfrm>
            <a:off x="1646237" y="4632325"/>
            <a:ext cx="38798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Applications depend on the logical schema</a:t>
            </a:r>
            <a:endParaRPr/>
          </a:p>
        </p:txBody>
      </p:sp>
      <p:sp>
        <p:nvSpPr>
          <p:cNvPr id="316" name="Google Shape;316;p27"/>
          <p:cNvSpPr txBox="1"/>
          <p:nvPr/>
        </p:nvSpPr>
        <p:spPr>
          <a:xfrm>
            <a:off x="1362075" y="4935537"/>
            <a:ext cx="153987" cy="1889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200"/>
              <a:buFont typeface="MS Gothic"/>
              <a:buNone/>
            </a:pPr>
            <a:r>
              <a:rPr b="0" i="0" lang="en-US" sz="12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17" name="Google Shape;317;p27"/>
          <p:cNvSpPr txBox="1"/>
          <p:nvPr/>
        </p:nvSpPr>
        <p:spPr>
          <a:xfrm>
            <a:off x="1646237" y="4964112"/>
            <a:ext cx="7205662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general, the interfaces between the various levels and components should be</a:t>
            </a:r>
            <a:endParaRPr/>
          </a:p>
        </p:txBody>
      </p:sp>
      <p:sp>
        <p:nvSpPr>
          <p:cNvPr id="318" name="Google Shape;318;p27"/>
          <p:cNvSpPr txBox="1"/>
          <p:nvPr/>
        </p:nvSpPr>
        <p:spPr>
          <a:xfrm>
            <a:off x="1646237" y="5207000"/>
            <a:ext cx="6891337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well defined so that changes in some parts do not seriously influence others.</a:t>
            </a:r>
            <a:endParaRPr/>
          </a:p>
        </p:txBody>
      </p:sp>
      <p:sp>
        <p:nvSpPr>
          <p:cNvPr id="319" name="Google Shape;319;p27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8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7089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Data Models</a:t>
            </a:r>
            <a:endParaRPr/>
          </a:p>
        </p:txBody>
      </p:sp>
      <p:sp>
        <p:nvSpPr>
          <p:cNvPr id="326" name="Google Shape;326;p28"/>
          <p:cNvSpPr txBox="1"/>
          <p:nvPr/>
        </p:nvSpPr>
        <p:spPr>
          <a:xfrm>
            <a:off x="931862" y="113188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27" name="Google Shape;327;p28"/>
          <p:cNvSpPr txBox="1"/>
          <p:nvPr/>
        </p:nvSpPr>
        <p:spPr>
          <a:xfrm>
            <a:off x="1274762" y="1177925"/>
            <a:ext cx="34258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collection of tools for describing</a:t>
            </a:r>
            <a:endParaRPr/>
          </a:p>
        </p:txBody>
      </p:sp>
      <p:sp>
        <p:nvSpPr>
          <p:cNvPr id="328" name="Google Shape;328;p28"/>
          <p:cNvSpPr txBox="1"/>
          <p:nvPr/>
        </p:nvSpPr>
        <p:spPr>
          <a:xfrm>
            <a:off x="1389062" y="146526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1674812" y="1497012"/>
            <a:ext cx="5095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endParaRPr/>
          </a:p>
        </p:txBody>
      </p:sp>
      <p:sp>
        <p:nvSpPr>
          <p:cNvPr id="330" name="Google Shape;330;p28"/>
          <p:cNvSpPr txBox="1"/>
          <p:nvPr/>
        </p:nvSpPr>
        <p:spPr>
          <a:xfrm>
            <a:off x="1389062" y="178435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31" name="Google Shape;331;p28"/>
          <p:cNvSpPr txBox="1"/>
          <p:nvPr/>
        </p:nvSpPr>
        <p:spPr>
          <a:xfrm>
            <a:off x="1674812" y="1816100"/>
            <a:ext cx="18494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relationships</a:t>
            </a:r>
            <a:endParaRPr/>
          </a:p>
        </p:txBody>
      </p:sp>
      <p:sp>
        <p:nvSpPr>
          <p:cNvPr id="332" name="Google Shape;332;p28"/>
          <p:cNvSpPr txBox="1"/>
          <p:nvPr/>
        </p:nvSpPr>
        <p:spPr>
          <a:xfrm>
            <a:off x="1389062" y="2103437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33" name="Google Shape;333;p28"/>
          <p:cNvSpPr txBox="1"/>
          <p:nvPr/>
        </p:nvSpPr>
        <p:spPr>
          <a:xfrm>
            <a:off x="1674812" y="2135187"/>
            <a:ext cx="15986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semantics</a:t>
            </a:r>
            <a:endParaRPr/>
          </a:p>
        </p:txBody>
      </p:sp>
      <p:sp>
        <p:nvSpPr>
          <p:cNvPr id="334" name="Google Shape;334;p28"/>
          <p:cNvSpPr txBox="1"/>
          <p:nvPr/>
        </p:nvSpPr>
        <p:spPr>
          <a:xfrm>
            <a:off x="1389062" y="242252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35" name="Google Shape;335;p28"/>
          <p:cNvSpPr txBox="1"/>
          <p:nvPr/>
        </p:nvSpPr>
        <p:spPr>
          <a:xfrm>
            <a:off x="1674812" y="2454275"/>
            <a:ext cx="16748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constraints</a:t>
            </a:r>
            <a:endParaRPr/>
          </a:p>
        </p:txBody>
      </p:sp>
      <p:sp>
        <p:nvSpPr>
          <p:cNvPr id="336" name="Google Shape;336;p28"/>
          <p:cNvSpPr txBox="1"/>
          <p:nvPr/>
        </p:nvSpPr>
        <p:spPr>
          <a:xfrm>
            <a:off x="931862" y="278130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37" name="Google Shape;337;p28"/>
          <p:cNvSpPr txBox="1"/>
          <p:nvPr/>
        </p:nvSpPr>
        <p:spPr>
          <a:xfrm>
            <a:off x="1274762" y="2828925"/>
            <a:ext cx="17224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Relational model</a:t>
            </a:r>
            <a:endParaRPr/>
          </a:p>
        </p:txBody>
      </p:sp>
      <p:sp>
        <p:nvSpPr>
          <p:cNvPr id="338" name="Google Shape;338;p28"/>
          <p:cNvSpPr txBox="1"/>
          <p:nvPr/>
        </p:nvSpPr>
        <p:spPr>
          <a:xfrm>
            <a:off x="931862" y="315595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39" name="Google Shape;339;p28"/>
          <p:cNvSpPr txBox="1"/>
          <p:nvPr/>
        </p:nvSpPr>
        <p:spPr>
          <a:xfrm>
            <a:off x="1274762" y="3201987"/>
            <a:ext cx="60594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Entity-Relationship data model (mainly for database design)</a:t>
            </a:r>
            <a:endParaRPr/>
          </a:p>
        </p:txBody>
      </p:sp>
      <p:sp>
        <p:nvSpPr>
          <p:cNvPr id="340" name="Google Shape;340;p28"/>
          <p:cNvSpPr txBox="1"/>
          <p:nvPr/>
        </p:nvSpPr>
        <p:spPr>
          <a:xfrm>
            <a:off x="931862" y="352901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41" name="Google Shape;341;p28"/>
          <p:cNvSpPr txBox="1"/>
          <p:nvPr/>
        </p:nvSpPr>
        <p:spPr>
          <a:xfrm>
            <a:off x="1274762" y="3576637"/>
            <a:ext cx="66309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Object-based data models (Object-oriented and Object-relational)</a:t>
            </a:r>
            <a:endParaRPr/>
          </a:p>
        </p:txBody>
      </p:sp>
      <p:sp>
        <p:nvSpPr>
          <p:cNvPr id="342" name="Google Shape;342;p28"/>
          <p:cNvSpPr txBox="1"/>
          <p:nvPr/>
        </p:nvSpPr>
        <p:spPr>
          <a:xfrm>
            <a:off x="931862" y="390366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43" name="Google Shape;343;p28"/>
          <p:cNvSpPr txBox="1"/>
          <p:nvPr/>
        </p:nvSpPr>
        <p:spPr>
          <a:xfrm>
            <a:off x="1274762" y="3949700"/>
            <a:ext cx="35020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Semistructured data model	(XML)</a:t>
            </a:r>
            <a:endParaRPr/>
          </a:p>
        </p:txBody>
      </p:sp>
      <p:sp>
        <p:nvSpPr>
          <p:cNvPr id="344" name="Google Shape;344;p28"/>
          <p:cNvSpPr txBox="1"/>
          <p:nvPr/>
        </p:nvSpPr>
        <p:spPr>
          <a:xfrm>
            <a:off x="931862" y="427831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45" name="Google Shape;345;p28"/>
          <p:cNvSpPr txBox="1"/>
          <p:nvPr/>
        </p:nvSpPr>
        <p:spPr>
          <a:xfrm>
            <a:off x="1274762" y="4324350"/>
            <a:ext cx="20304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Other older models:</a:t>
            </a:r>
            <a:endParaRPr/>
          </a:p>
        </p:txBody>
      </p:sp>
      <p:sp>
        <p:nvSpPr>
          <p:cNvPr id="346" name="Google Shape;346;p28"/>
          <p:cNvSpPr txBox="1"/>
          <p:nvPr/>
        </p:nvSpPr>
        <p:spPr>
          <a:xfrm>
            <a:off x="1389062" y="455612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47" name="Google Shape;347;p28"/>
          <p:cNvSpPr txBox="1"/>
          <p:nvPr/>
        </p:nvSpPr>
        <p:spPr>
          <a:xfrm>
            <a:off x="1674812" y="4587875"/>
            <a:ext cx="15478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Network model</a:t>
            </a:r>
            <a:endParaRPr/>
          </a:p>
        </p:txBody>
      </p:sp>
      <p:sp>
        <p:nvSpPr>
          <p:cNvPr id="348" name="Google Shape;348;p28"/>
          <p:cNvSpPr txBox="1"/>
          <p:nvPr/>
        </p:nvSpPr>
        <p:spPr>
          <a:xfrm>
            <a:off x="1389062" y="4821237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49" name="Google Shape;349;p28"/>
          <p:cNvSpPr txBox="1"/>
          <p:nvPr/>
        </p:nvSpPr>
        <p:spPr>
          <a:xfrm>
            <a:off x="1674812" y="4852987"/>
            <a:ext cx="19129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Hierarchical model</a:t>
            </a:r>
            <a:endParaRPr/>
          </a:p>
        </p:txBody>
      </p:sp>
      <p:sp>
        <p:nvSpPr>
          <p:cNvPr id="350" name="Google Shape;350;p28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9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29"/>
          <p:cNvSpPr txBox="1"/>
          <p:nvPr>
            <p:ph idx="4294967295" type="title"/>
          </p:nvPr>
        </p:nvSpPr>
        <p:spPr>
          <a:xfrm>
            <a:off x="457200" y="533401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5067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b="1" i="0" lang="en-US" sz="36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Data Manipulation Language (DML</a:t>
            </a: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)</a:t>
            </a:r>
            <a:endParaRPr/>
          </a:p>
        </p:txBody>
      </p:sp>
      <p:sp>
        <p:nvSpPr>
          <p:cNvPr id="357" name="Google Shape;357;p29"/>
          <p:cNvSpPr txBox="1"/>
          <p:nvPr/>
        </p:nvSpPr>
        <p:spPr>
          <a:xfrm>
            <a:off x="892175" y="1133475"/>
            <a:ext cx="180975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58" name="Google Shape;358;p29"/>
          <p:cNvSpPr txBox="1"/>
          <p:nvPr/>
        </p:nvSpPr>
        <p:spPr>
          <a:xfrm>
            <a:off x="1235075" y="1179512"/>
            <a:ext cx="68818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Language for accessing and manipulating the data organized by the</a:t>
            </a:r>
            <a:endParaRPr/>
          </a:p>
        </p:txBody>
      </p:sp>
      <p:sp>
        <p:nvSpPr>
          <p:cNvPr id="359" name="Google Shape;359;p29"/>
          <p:cNvSpPr txBox="1"/>
          <p:nvPr/>
        </p:nvSpPr>
        <p:spPr>
          <a:xfrm>
            <a:off x="1235075" y="1454150"/>
            <a:ext cx="23685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appropriate data model</a:t>
            </a:r>
            <a:endParaRPr/>
          </a:p>
        </p:txBody>
      </p:sp>
      <p:sp>
        <p:nvSpPr>
          <p:cNvPr id="360" name="Google Shape;360;p29"/>
          <p:cNvSpPr txBox="1"/>
          <p:nvPr/>
        </p:nvSpPr>
        <p:spPr>
          <a:xfrm>
            <a:off x="1349375" y="179705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61" name="Google Shape;361;p29"/>
          <p:cNvSpPr txBox="1"/>
          <p:nvPr/>
        </p:nvSpPr>
        <p:spPr>
          <a:xfrm>
            <a:off x="1635125" y="1828800"/>
            <a:ext cx="36496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DML also known as query language</a:t>
            </a:r>
            <a:endParaRPr/>
          </a:p>
        </p:txBody>
      </p:sp>
      <p:sp>
        <p:nvSpPr>
          <p:cNvPr id="362" name="Google Shape;362;p29"/>
          <p:cNvSpPr txBox="1"/>
          <p:nvPr/>
        </p:nvSpPr>
        <p:spPr>
          <a:xfrm>
            <a:off x="892175" y="2155825"/>
            <a:ext cx="180975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63" name="Google Shape;363;p29"/>
          <p:cNvSpPr txBox="1"/>
          <p:nvPr/>
        </p:nvSpPr>
        <p:spPr>
          <a:xfrm>
            <a:off x="1235075" y="2201862"/>
            <a:ext cx="26479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 classes of languages</a:t>
            </a:r>
            <a:endParaRPr/>
          </a:p>
        </p:txBody>
      </p:sp>
      <p:sp>
        <p:nvSpPr>
          <p:cNvPr id="364" name="Google Shape;364;p29"/>
          <p:cNvSpPr txBox="1"/>
          <p:nvPr/>
        </p:nvSpPr>
        <p:spPr>
          <a:xfrm>
            <a:off x="1349375" y="254476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65" name="Google Shape;365;p29"/>
          <p:cNvSpPr txBox="1"/>
          <p:nvPr/>
        </p:nvSpPr>
        <p:spPr>
          <a:xfrm>
            <a:off x="1635125" y="2576512"/>
            <a:ext cx="660876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Procedural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user specifies what data is required and how to get</a:t>
            </a:r>
            <a:endParaRPr/>
          </a:p>
        </p:txBody>
      </p:sp>
      <p:sp>
        <p:nvSpPr>
          <p:cNvPr id="366" name="Google Shape;366;p29"/>
          <p:cNvSpPr txBox="1"/>
          <p:nvPr/>
        </p:nvSpPr>
        <p:spPr>
          <a:xfrm>
            <a:off x="1635125" y="2851150"/>
            <a:ext cx="10906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those data</a:t>
            </a:r>
            <a:endParaRPr/>
          </a:p>
        </p:txBody>
      </p:sp>
      <p:sp>
        <p:nvSpPr>
          <p:cNvPr id="367" name="Google Shape;367;p29"/>
          <p:cNvSpPr txBox="1"/>
          <p:nvPr/>
        </p:nvSpPr>
        <p:spPr>
          <a:xfrm>
            <a:off x="1349375" y="319246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68" name="Google Shape;368;p29"/>
          <p:cNvSpPr txBox="1"/>
          <p:nvPr/>
        </p:nvSpPr>
        <p:spPr>
          <a:xfrm>
            <a:off x="1635125" y="3224212"/>
            <a:ext cx="598805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Declarative (nonprocedural)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user specifies what data is</a:t>
            </a:r>
            <a:endParaRPr/>
          </a:p>
        </p:txBody>
      </p:sp>
      <p:sp>
        <p:nvSpPr>
          <p:cNvPr id="369" name="Google Shape;369;p29"/>
          <p:cNvSpPr txBox="1"/>
          <p:nvPr/>
        </p:nvSpPr>
        <p:spPr>
          <a:xfrm>
            <a:off x="1635125" y="3498850"/>
            <a:ext cx="49704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required without specifying how to get those data</a:t>
            </a:r>
            <a:endParaRPr/>
          </a:p>
        </p:txBody>
      </p:sp>
      <p:sp>
        <p:nvSpPr>
          <p:cNvPr id="370" name="Google Shape;370;p29"/>
          <p:cNvSpPr txBox="1"/>
          <p:nvPr/>
        </p:nvSpPr>
        <p:spPr>
          <a:xfrm>
            <a:off x="892175" y="3827462"/>
            <a:ext cx="180975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71" name="Google Shape;371;p29"/>
          <p:cNvSpPr txBox="1"/>
          <p:nvPr/>
        </p:nvSpPr>
        <p:spPr>
          <a:xfrm>
            <a:off x="1235075" y="3873500"/>
            <a:ext cx="45402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SQL is the most widely used query language</a:t>
            </a:r>
            <a:endParaRPr/>
          </a:p>
        </p:txBody>
      </p:sp>
      <p:sp>
        <p:nvSpPr>
          <p:cNvPr id="372" name="Google Shape;372;p29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30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0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6299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Data Definition Language (DDL)</a:t>
            </a:r>
            <a:endParaRPr/>
          </a:p>
        </p:txBody>
      </p:sp>
      <p:sp>
        <p:nvSpPr>
          <p:cNvPr id="379" name="Google Shape;379;p30"/>
          <p:cNvSpPr txBox="1"/>
          <p:nvPr/>
        </p:nvSpPr>
        <p:spPr>
          <a:xfrm>
            <a:off x="892175" y="1116012"/>
            <a:ext cx="180975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80" name="Google Shape;380;p30"/>
          <p:cNvSpPr txBox="1"/>
          <p:nvPr/>
        </p:nvSpPr>
        <p:spPr>
          <a:xfrm>
            <a:off x="1235075" y="1162050"/>
            <a:ext cx="56292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Specification notation for defining the database schema</a:t>
            </a:r>
            <a:endParaRPr/>
          </a:p>
        </p:txBody>
      </p:sp>
      <p:sp>
        <p:nvSpPr>
          <p:cNvPr id="381" name="Google Shape;381;p30"/>
          <p:cNvSpPr txBox="1"/>
          <p:nvPr/>
        </p:nvSpPr>
        <p:spPr>
          <a:xfrm>
            <a:off x="1349375" y="1508125"/>
            <a:ext cx="9747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</p:txBody>
      </p:sp>
      <p:sp>
        <p:nvSpPr>
          <p:cNvPr id="382" name="Google Shape;382;p30"/>
          <p:cNvSpPr txBox="1"/>
          <p:nvPr/>
        </p:nvSpPr>
        <p:spPr>
          <a:xfrm>
            <a:off x="2720975" y="1508125"/>
            <a:ext cx="3649662" cy="747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create table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endParaRPr/>
          </a:p>
          <a:p>
            <a:pPr indent="0" lvl="0" marL="1270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account-number	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char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(10),</a:t>
            </a:r>
            <a:endParaRPr/>
          </a:p>
          <a:p>
            <a:pPr indent="0" lvl="0" marL="12700" marR="0" rtl="0" algn="l">
              <a:lnSpc>
                <a:spcPct val="111111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balance	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integer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</p:txBody>
      </p:sp>
      <p:sp>
        <p:nvSpPr>
          <p:cNvPr id="383" name="Google Shape;383;p30"/>
          <p:cNvSpPr txBox="1"/>
          <p:nvPr/>
        </p:nvSpPr>
        <p:spPr>
          <a:xfrm>
            <a:off x="892175" y="2301875"/>
            <a:ext cx="180975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84" name="Google Shape;384;p30"/>
          <p:cNvSpPr txBox="1"/>
          <p:nvPr/>
        </p:nvSpPr>
        <p:spPr>
          <a:xfrm>
            <a:off x="1235075" y="2347912"/>
            <a:ext cx="6645275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DDL compiler generates a set of tables stored in a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dictionary</a:t>
            </a:r>
            <a:endParaRPr/>
          </a:p>
        </p:txBody>
      </p:sp>
      <p:sp>
        <p:nvSpPr>
          <p:cNvPr id="385" name="Google Shape;385;p30"/>
          <p:cNvSpPr txBox="1"/>
          <p:nvPr/>
        </p:nvSpPr>
        <p:spPr>
          <a:xfrm>
            <a:off x="892175" y="2647950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386" name="Google Shape;386;p30"/>
          <p:cNvSpPr txBox="1"/>
          <p:nvPr/>
        </p:nvSpPr>
        <p:spPr>
          <a:xfrm>
            <a:off x="1235075" y="2693987"/>
            <a:ext cx="57070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dictionary contains metadata (i.e., data about data)</a:t>
            </a:r>
            <a:endParaRPr/>
          </a:p>
        </p:txBody>
      </p:sp>
      <p:sp>
        <p:nvSpPr>
          <p:cNvPr id="387" name="Google Shape;387;p30"/>
          <p:cNvSpPr txBox="1"/>
          <p:nvPr/>
        </p:nvSpPr>
        <p:spPr>
          <a:xfrm>
            <a:off x="1349375" y="300831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88" name="Google Shape;388;p30"/>
          <p:cNvSpPr txBox="1"/>
          <p:nvPr/>
        </p:nvSpPr>
        <p:spPr>
          <a:xfrm>
            <a:off x="1635125" y="3040062"/>
            <a:ext cx="18637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schema</a:t>
            </a:r>
            <a:endParaRPr/>
          </a:p>
        </p:txBody>
      </p:sp>
      <p:sp>
        <p:nvSpPr>
          <p:cNvPr id="389" name="Google Shape;389;p30"/>
          <p:cNvSpPr txBox="1"/>
          <p:nvPr/>
        </p:nvSpPr>
        <p:spPr>
          <a:xfrm>
            <a:off x="1349375" y="3354387"/>
            <a:ext cx="1698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90" name="Google Shape;390;p30"/>
          <p:cNvSpPr txBox="1"/>
          <p:nvPr/>
        </p:nvSpPr>
        <p:spPr>
          <a:xfrm>
            <a:off x="1635125" y="3387725"/>
            <a:ext cx="37496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 and definition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language</a:t>
            </a:r>
            <a:endParaRPr/>
          </a:p>
        </p:txBody>
      </p:sp>
      <p:sp>
        <p:nvSpPr>
          <p:cNvPr id="391" name="Google Shape;391;p30"/>
          <p:cNvSpPr txBox="1"/>
          <p:nvPr/>
        </p:nvSpPr>
        <p:spPr>
          <a:xfrm>
            <a:off x="1749425" y="3694112"/>
            <a:ext cx="6051550" cy="2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Specifies the storage structure and access methods used</a:t>
            </a:r>
            <a:endParaRPr/>
          </a:p>
        </p:txBody>
      </p:sp>
      <p:sp>
        <p:nvSpPr>
          <p:cNvPr id="392" name="Google Shape;392;p30"/>
          <p:cNvSpPr txBox="1"/>
          <p:nvPr/>
        </p:nvSpPr>
        <p:spPr>
          <a:xfrm>
            <a:off x="1349375" y="4046537"/>
            <a:ext cx="1698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93" name="Google Shape;393;p30"/>
          <p:cNvSpPr txBox="1"/>
          <p:nvPr/>
        </p:nvSpPr>
        <p:spPr>
          <a:xfrm>
            <a:off x="1635125" y="4079875"/>
            <a:ext cx="20050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Integrity constraints</a:t>
            </a:r>
            <a:endParaRPr/>
          </a:p>
        </p:txBody>
      </p:sp>
      <p:sp>
        <p:nvSpPr>
          <p:cNvPr id="394" name="Google Shape;394;p30"/>
          <p:cNvSpPr txBox="1"/>
          <p:nvPr/>
        </p:nvSpPr>
        <p:spPr>
          <a:xfrm>
            <a:off x="1749425" y="4386262"/>
            <a:ext cx="5400675" cy="9858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Domain constraints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Referential integrity (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constraint in SQL)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Assertions</a:t>
            </a:r>
            <a:endParaRPr/>
          </a:p>
        </p:txBody>
      </p:sp>
      <p:sp>
        <p:nvSpPr>
          <p:cNvPr id="395" name="Google Shape;395;p30"/>
          <p:cNvSpPr txBox="1"/>
          <p:nvPr/>
        </p:nvSpPr>
        <p:spPr>
          <a:xfrm>
            <a:off x="1349375" y="543242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396" name="Google Shape;396;p30"/>
          <p:cNvSpPr txBox="1"/>
          <p:nvPr/>
        </p:nvSpPr>
        <p:spPr>
          <a:xfrm>
            <a:off x="1635125" y="5464175"/>
            <a:ext cx="13557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Authorization</a:t>
            </a:r>
            <a:endParaRPr/>
          </a:p>
        </p:txBody>
      </p:sp>
      <p:sp>
        <p:nvSpPr>
          <p:cNvPr id="397" name="Google Shape;397;p30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31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1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29108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Relational Model</a:t>
            </a:r>
            <a:endParaRPr/>
          </a:p>
        </p:txBody>
      </p:sp>
      <p:sp>
        <p:nvSpPr>
          <p:cNvPr id="404" name="Google Shape;404;p31"/>
          <p:cNvSpPr txBox="1"/>
          <p:nvPr/>
        </p:nvSpPr>
        <p:spPr>
          <a:xfrm>
            <a:off x="892175" y="1133475"/>
            <a:ext cx="180975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405" name="Google Shape;405;p31"/>
          <p:cNvSpPr txBox="1"/>
          <p:nvPr/>
        </p:nvSpPr>
        <p:spPr>
          <a:xfrm>
            <a:off x="1235075" y="1179512"/>
            <a:ext cx="47275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 of tabular data in the relational model</a:t>
            </a:r>
            <a:endParaRPr/>
          </a:p>
        </p:txBody>
      </p:sp>
      <p:sp>
        <p:nvSpPr>
          <p:cNvPr id="406" name="Google Shape;406;p31"/>
          <p:cNvSpPr/>
          <p:nvPr/>
        </p:nvSpPr>
        <p:spPr>
          <a:xfrm>
            <a:off x="7154862" y="1652587"/>
            <a:ext cx="82550" cy="74612"/>
          </a:xfrm>
          <a:custGeom>
            <a:rect b="b" l="l" r="r" t="t"/>
            <a:pathLst>
              <a:path extrusionOk="0" h="75564" w="82550">
                <a:moveTo>
                  <a:pt x="38099" y="0"/>
                </a:moveTo>
                <a:lnTo>
                  <a:pt x="0" y="74950"/>
                </a:lnTo>
                <a:lnTo>
                  <a:pt x="82539" y="59710"/>
                </a:lnTo>
                <a:lnTo>
                  <a:pt x="3809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1"/>
          <p:cNvSpPr/>
          <p:nvPr/>
        </p:nvSpPr>
        <p:spPr>
          <a:xfrm>
            <a:off x="7200900" y="1085850"/>
            <a:ext cx="814387" cy="609600"/>
          </a:xfrm>
          <a:custGeom>
            <a:rect b="b" l="l" r="r" t="t"/>
            <a:pathLst>
              <a:path extrusionOk="0" h="609600" w="814070">
                <a:moveTo>
                  <a:pt x="807719" y="0"/>
                </a:moveTo>
                <a:lnTo>
                  <a:pt x="0" y="601979"/>
                </a:lnTo>
                <a:lnTo>
                  <a:pt x="5090" y="609599"/>
                </a:lnTo>
                <a:lnTo>
                  <a:pt x="814059" y="6339"/>
                </a:lnTo>
                <a:lnTo>
                  <a:pt x="80771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1"/>
          <p:cNvSpPr txBox="1"/>
          <p:nvPr/>
        </p:nvSpPr>
        <p:spPr>
          <a:xfrm>
            <a:off x="7634287" y="881062"/>
            <a:ext cx="8826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0" i="0" lang="en-US" sz="16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Attributes</a:t>
            </a:r>
            <a:endParaRPr/>
          </a:p>
        </p:txBody>
      </p:sp>
      <p:sp>
        <p:nvSpPr>
          <p:cNvPr id="409" name="Google Shape;409;p31"/>
          <p:cNvSpPr/>
          <p:nvPr/>
        </p:nvSpPr>
        <p:spPr>
          <a:xfrm>
            <a:off x="6270625" y="1677987"/>
            <a:ext cx="84137" cy="69850"/>
          </a:xfrm>
          <a:custGeom>
            <a:rect b="b" l="l" r="r" t="t"/>
            <a:pathLst>
              <a:path extrusionOk="0" h="69850" w="85089">
                <a:moveTo>
                  <a:pt x="55900" y="0"/>
                </a:moveTo>
                <a:lnTo>
                  <a:pt x="0" y="63489"/>
                </a:lnTo>
                <a:lnTo>
                  <a:pt x="85100" y="69829"/>
                </a:lnTo>
                <a:lnTo>
                  <a:pt x="55900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1"/>
          <p:cNvSpPr/>
          <p:nvPr/>
        </p:nvSpPr>
        <p:spPr>
          <a:xfrm>
            <a:off x="6324600" y="1112837"/>
            <a:ext cx="1457325" cy="609600"/>
          </a:xfrm>
          <a:custGeom>
            <a:rect b="b" l="l" r="r" t="t"/>
            <a:pathLst>
              <a:path extrusionOk="0" h="609600" w="1457959">
                <a:moveTo>
                  <a:pt x="1454139" y="0"/>
                </a:moveTo>
                <a:lnTo>
                  <a:pt x="0" y="601979"/>
                </a:lnTo>
                <a:lnTo>
                  <a:pt x="3809" y="609599"/>
                </a:lnTo>
                <a:lnTo>
                  <a:pt x="1457949" y="8900"/>
                </a:lnTo>
                <a:lnTo>
                  <a:pt x="1454139" y="0"/>
                </a:ln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1"/>
          <p:cNvSpPr/>
          <p:nvPr/>
        </p:nvSpPr>
        <p:spPr>
          <a:xfrm>
            <a:off x="808037" y="1798637"/>
            <a:ext cx="7597775" cy="2157412"/>
          </a:xfrm>
          <a:custGeom>
            <a:rect b="b" l="l" r="r" t="t"/>
            <a:pathLst>
              <a:path extrusionOk="0" h="2157729" w="7598409">
                <a:moveTo>
                  <a:pt x="3798569" y="2157734"/>
                </a:moveTo>
                <a:lnTo>
                  <a:pt x="0" y="2157734"/>
                </a:lnTo>
                <a:lnTo>
                  <a:pt x="0" y="0"/>
                </a:lnTo>
                <a:lnTo>
                  <a:pt x="7598419" y="0"/>
                </a:lnTo>
                <a:lnTo>
                  <a:pt x="7598419" y="2157734"/>
                </a:lnTo>
                <a:lnTo>
                  <a:pt x="3798569" y="2157734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1"/>
          <p:cNvSpPr txBox="1"/>
          <p:nvPr/>
        </p:nvSpPr>
        <p:spPr>
          <a:xfrm>
            <a:off x="827087" y="1817687"/>
            <a:ext cx="7561262" cy="21209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1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2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2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99313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A Sample Relational Database</a:t>
            </a:r>
            <a:endParaRPr/>
          </a:p>
        </p:txBody>
      </p:sp>
      <p:sp>
        <p:nvSpPr>
          <p:cNvPr id="420" name="Google Shape;420;p32"/>
          <p:cNvSpPr/>
          <p:nvPr/>
        </p:nvSpPr>
        <p:spPr>
          <a:xfrm>
            <a:off x="2447925" y="1058862"/>
            <a:ext cx="4378325" cy="5364162"/>
          </a:xfrm>
          <a:custGeom>
            <a:rect b="b" l="l" r="r" t="t"/>
            <a:pathLst>
              <a:path extrusionOk="0" h="5364480" w="4377055">
                <a:moveTo>
                  <a:pt x="2186933" y="5364479"/>
                </a:moveTo>
                <a:lnTo>
                  <a:pt x="0" y="5364479"/>
                </a:lnTo>
                <a:lnTo>
                  <a:pt x="0" y="0"/>
                </a:lnTo>
                <a:lnTo>
                  <a:pt x="4376434" y="0"/>
                </a:lnTo>
                <a:lnTo>
                  <a:pt x="4376434" y="5364479"/>
                </a:lnTo>
                <a:lnTo>
                  <a:pt x="2186933" y="5364479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2"/>
          <p:cNvSpPr txBox="1"/>
          <p:nvPr/>
        </p:nvSpPr>
        <p:spPr>
          <a:xfrm>
            <a:off x="2466975" y="1077912"/>
            <a:ext cx="4340225" cy="532765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2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3"/>
          <p:cNvSpPr txBox="1"/>
          <p:nvPr/>
        </p:nvSpPr>
        <p:spPr>
          <a:xfrm>
            <a:off x="4160837" y="233362"/>
            <a:ext cx="863600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endParaRPr/>
          </a:p>
        </p:txBody>
      </p:sp>
      <p:sp>
        <p:nvSpPr>
          <p:cNvPr id="428" name="Google Shape;428;p33"/>
          <p:cNvSpPr txBox="1"/>
          <p:nvPr/>
        </p:nvSpPr>
        <p:spPr>
          <a:xfrm>
            <a:off x="930275" y="1139825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429" name="Google Shape;429;p33"/>
          <p:cNvSpPr txBox="1"/>
          <p:nvPr/>
        </p:nvSpPr>
        <p:spPr>
          <a:xfrm>
            <a:off x="1273175" y="1185862"/>
            <a:ext cx="441166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SQL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widely used non-procedural language</a:t>
            </a:r>
            <a:endParaRPr/>
          </a:p>
        </p:txBody>
      </p:sp>
      <p:sp>
        <p:nvSpPr>
          <p:cNvPr id="430" name="Google Shape;430;p33"/>
          <p:cNvSpPr txBox="1"/>
          <p:nvPr/>
        </p:nvSpPr>
        <p:spPr>
          <a:xfrm>
            <a:off x="1387475" y="1528762"/>
            <a:ext cx="171450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431" name="Google Shape;431;p33"/>
          <p:cNvSpPr txBox="1"/>
          <p:nvPr/>
        </p:nvSpPr>
        <p:spPr>
          <a:xfrm>
            <a:off x="1673225" y="1558925"/>
            <a:ext cx="7218362" cy="14525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Find the name of the customer with customer-id 192-83-7465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customer.customer_name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customer.customer_id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‘192-83-7465’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Find the balances of all accounts held by the customer with</a:t>
            </a:r>
            <a:endParaRPr/>
          </a:p>
        </p:txBody>
      </p:sp>
      <p:sp>
        <p:nvSpPr>
          <p:cNvPr id="432" name="Google Shape;432;p33"/>
          <p:cNvSpPr txBox="1"/>
          <p:nvPr/>
        </p:nvSpPr>
        <p:spPr>
          <a:xfrm>
            <a:off x="1387475" y="2725737"/>
            <a:ext cx="171450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433" name="Google Shape;433;p33"/>
          <p:cNvSpPr txBox="1"/>
          <p:nvPr/>
        </p:nvSpPr>
        <p:spPr>
          <a:xfrm>
            <a:off x="1673225" y="3032125"/>
            <a:ext cx="6634162" cy="1350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1450" lvl="0" marL="184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customer-id 192-83-7465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select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account.balance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depositor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account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84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where	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depositor.customer_id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= ‘192-83-7465’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endParaRPr b="0" i="0" sz="1800" u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1841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depositor.account_number = account.account_number</a:t>
            </a:r>
            <a:endParaRPr/>
          </a:p>
        </p:txBody>
      </p:sp>
      <p:sp>
        <p:nvSpPr>
          <p:cNvPr id="434" name="Google Shape;434;p33"/>
          <p:cNvSpPr txBox="1"/>
          <p:nvPr/>
        </p:nvSpPr>
        <p:spPr>
          <a:xfrm>
            <a:off x="930275" y="445611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435" name="Google Shape;435;p33"/>
          <p:cNvSpPr txBox="1"/>
          <p:nvPr/>
        </p:nvSpPr>
        <p:spPr>
          <a:xfrm>
            <a:off x="1273175" y="4502150"/>
            <a:ext cx="65801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programs generally access databases through one of</a:t>
            </a:r>
            <a:endParaRPr/>
          </a:p>
        </p:txBody>
      </p:sp>
      <p:sp>
        <p:nvSpPr>
          <p:cNvPr id="436" name="Google Shape;436;p33"/>
          <p:cNvSpPr txBox="1"/>
          <p:nvPr/>
        </p:nvSpPr>
        <p:spPr>
          <a:xfrm>
            <a:off x="1387475" y="4845050"/>
            <a:ext cx="171450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437" name="Google Shape;437;p33"/>
          <p:cNvSpPr txBox="1"/>
          <p:nvPr/>
        </p:nvSpPr>
        <p:spPr>
          <a:xfrm>
            <a:off x="1673225" y="4876800"/>
            <a:ext cx="46910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Language extensions to allow embedded SQL</a:t>
            </a:r>
            <a:endParaRPr/>
          </a:p>
        </p:txBody>
      </p:sp>
      <p:sp>
        <p:nvSpPr>
          <p:cNvPr id="438" name="Google Shape;438;p33"/>
          <p:cNvSpPr txBox="1"/>
          <p:nvPr/>
        </p:nvSpPr>
        <p:spPr>
          <a:xfrm>
            <a:off x="1387475" y="5219700"/>
            <a:ext cx="171450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439" name="Google Shape;439;p33"/>
          <p:cNvSpPr txBox="1"/>
          <p:nvPr/>
        </p:nvSpPr>
        <p:spPr>
          <a:xfrm>
            <a:off x="1673225" y="5249862"/>
            <a:ext cx="67881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Application program interface (e.g., ODBC/JDBC) which allow SQL</a:t>
            </a:r>
            <a:endParaRPr/>
          </a:p>
        </p:txBody>
      </p:sp>
      <p:sp>
        <p:nvSpPr>
          <p:cNvPr id="440" name="Google Shape;440;p33"/>
          <p:cNvSpPr txBox="1"/>
          <p:nvPr/>
        </p:nvSpPr>
        <p:spPr>
          <a:xfrm>
            <a:off x="1673225" y="5524500"/>
            <a:ext cx="32861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queries to be sent to a database</a:t>
            </a:r>
            <a:endParaRPr/>
          </a:p>
        </p:txBody>
      </p:sp>
      <p:sp>
        <p:nvSpPr>
          <p:cNvPr id="441" name="Google Shape;441;p33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4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4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2682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Database Design</a:t>
            </a:r>
            <a:endParaRPr/>
          </a:p>
        </p:txBody>
      </p:sp>
      <p:sp>
        <p:nvSpPr>
          <p:cNvPr id="448" name="Google Shape;448;p34"/>
          <p:cNvSpPr txBox="1"/>
          <p:nvPr/>
        </p:nvSpPr>
        <p:spPr>
          <a:xfrm>
            <a:off x="904875" y="1163637"/>
            <a:ext cx="64293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process of designing the general structure of the database:</a:t>
            </a:r>
            <a:endParaRPr/>
          </a:p>
        </p:txBody>
      </p:sp>
      <p:sp>
        <p:nvSpPr>
          <p:cNvPr id="449" name="Google Shape;449;p34"/>
          <p:cNvSpPr txBox="1"/>
          <p:nvPr/>
        </p:nvSpPr>
        <p:spPr>
          <a:xfrm>
            <a:off x="904875" y="1865312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450" name="Google Shape;450;p34"/>
          <p:cNvSpPr txBox="1"/>
          <p:nvPr/>
        </p:nvSpPr>
        <p:spPr>
          <a:xfrm>
            <a:off x="1247775" y="1911350"/>
            <a:ext cx="71215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Logical Design –  Deciding on the database schema. Database design</a:t>
            </a:r>
            <a:endParaRPr/>
          </a:p>
        </p:txBody>
      </p:sp>
      <p:sp>
        <p:nvSpPr>
          <p:cNvPr id="451" name="Google Shape;451;p34"/>
          <p:cNvSpPr txBox="1"/>
          <p:nvPr/>
        </p:nvSpPr>
        <p:spPr>
          <a:xfrm>
            <a:off x="1247775" y="2185987"/>
            <a:ext cx="61118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requires that we find a “good” collection of relation schemas.</a:t>
            </a:r>
            <a:endParaRPr/>
          </a:p>
        </p:txBody>
      </p:sp>
      <p:sp>
        <p:nvSpPr>
          <p:cNvPr id="452" name="Google Shape;452;p34"/>
          <p:cNvSpPr txBox="1"/>
          <p:nvPr/>
        </p:nvSpPr>
        <p:spPr>
          <a:xfrm>
            <a:off x="1362075" y="2528887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453" name="Google Shape;453;p34"/>
          <p:cNvSpPr txBox="1"/>
          <p:nvPr/>
        </p:nvSpPr>
        <p:spPr>
          <a:xfrm>
            <a:off x="1647825" y="2560637"/>
            <a:ext cx="60610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Business decision – What attributes should we record in the</a:t>
            </a:r>
            <a:endParaRPr/>
          </a:p>
        </p:txBody>
      </p:sp>
      <p:sp>
        <p:nvSpPr>
          <p:cNvPr id="454" name="Google Shape;454;p34"/>
          <p:cNvSpPr txBox="1"/>
          <p:nvPr/>
        </p:nvSpPr>
        <p:spPr>
          <a:xfrm>
            <a:off x="1647825" y="2835275"/>
            <a:ext cx="10890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database?</a:t>
            </a:r>
            <a:endParaRPr/>
          </a:p>
        </p:txBody>
      </p:sp>
      <p:sp>
        <p:nvSpPr>
          <p:cNvPr id="455" name="Google Shape;455;p34"/>
          <p:cNvSpPr txBox="1"/>
          <p:nvPr/>
        </p:nvSpPr>
        <p:spPr>
          <a:xfrm>
            <a:off x="1362075" y="3176587"/>
            <a:ext cx="1698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456" name="Google Shape;456;p34"/>
          <p:cNvSpPr txBox="1"/>
          <p:nvPr/>
        </p:nvSpPr>
        <p:spPr>
          <a:xfrm>
            <a:off x="1647825" y="3208337"/>
            <a:ext cx="65944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Computer Science	decision –  What relation schemas should we</a:t>
            </a:r>
            <a:endParaRPr/>
          </a:p>
        </p:txBody>
      </p:sp>
      <p:sp>
        <p:nvSpPr>
          <p:cNvPr id="457" name="Google Shape;457;p34"/>
          <p:cNvSpPr txBox="1"/>
          <p:nvPr/>
        </p:nvSpPr>
        <p:spPr>
          <a:xfrm>
            <a:off x="1647825" y="3482975"/>
            <a:ext cx="6934200" cy="527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 and how should the attributes be distributed among the various relation schemas?</a:t>
            </a:r>
            <a:endParaRPr/>
          </a:p>
        </p:txBody>
      </p:sp>
      <p:sp>
        <p:nvSpPr>
          <p:cNvPr id="458" name="Google Shape;458;p34"/>
          <p:cNvSpPr txBox="1"/>
          <p:nvPr/>
        </p:nvSpPr>
        <p:spPr>
          <a:xfrm>
            <a:off x="904875" y="4459287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459" name="Google Shape;459;p34"/>
          <p:cNvSpPr txBox="1"/>
          <p:nvPr/>
        </p:nvSpPr>
        <p:spPr>
          <a:xfrm>
            <a:off x="1247775" y="4505325"/>
            <a:ext cx="66817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Physical Design – Deciding on the physical layout of the database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5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35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99313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The Entity-Relationship Model</a:t>
            </a:r>
            <a:endParaRPr/>
          </a:p>
        </p:txBody>
      </p:sp>
      <p:sp>
        <p:nvSpPr>
          <p:cNvPr id="466" name="Google Shape;466;p35"/>
          <p:cNvSpPr txBox="1"/>
          <p:nvPr/>
        </p:nvSpPr>
        <p:spPr>
          <a:xfrm>
            <a:off x="892175" y="1133475"/>
            <a:ext cx="180975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467" name="Google Shape;467;p35"/>
          <p:cNvSpPr txBox="1"/>
          <p:nvPr/>
        </p:nvSpPr>
        <p:spPr>
          <a:xfrm>
            <a:off x="1235075" y="1179512"/>
            <a:ext cx="648970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Models an enterprise as a collection of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entities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and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relationships</a:t>
            </a:r>
            <a:endParaRPr/>
          </a:p>
        </p:txBody>
      </p:sp>
      <p:sp>
        <p:nvSpPr>
          <p:cNvPr id="468" name="Google Shape;468;p35"/>
          <p:cNvSpPr txBox="1"/>
          <p:nvPr/>
        </p:nvSpPr>
        <p:spPr>
          <a:xfrm>
            <a:off x="1349375" y="152241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469" name="Google Shape;469;p35"/>
          <p:cNvSpPr txBox="1"/>
          <p:nvPr/>
        </p:nvSpPr>
        <p:spPr>
          <a:xfrm>
            <a:off x="1635125" y="1554162"/>
            <a:ext cx="65960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Entity: a “thing” or “object” in the enterprise that is distinguishable</a:t>
            </a:r>
            <a:endParaRPr/>
          </a:p>
        </p:txBody>
      </p:sp>
      <p:sp>
        <p:nvSpPr>
          <p:cNvPr id="470" name="Google Shape;470;p35"/>
          <p:cNvSpPr txBox="1"/>
          <p:nvPr/>
        </p:nvSpPr>
        <p:spPr>
          <a:xfrm>
            <a:off x="1635125" y="1828800"/>
            <a:ext cx="35147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from other objects</a:t>
            </a:r>
            <a:endParaRPr/>
          </a:p>
          <a:p>
            <a:pPr indent="0" lvl="0" marL="127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rgbClr val="32CC32"/>
              </a:buClr>
              <a:buSzPts val="2000"/>
              <a:buFont typeface="Noto Sans Symbols"/>
              <a:buNone/>
            </a:pPr>
            <a:r>
              <a:rPr b="0" baseline="30000" i="0" lang="en-US" sz="2000" u="none">
                <a:solidFill>
                  <a:srgbClr val="32CC32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</a:t>
            </a:r>
            <a:r>
              <a:rPr b="0" baseline="30000" i="0" lang="en-US" sz="2000" u="none">
                <a:solidFill>
                  <a:srgbClr val="32CC3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Described by a set of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attributes</a:t>
            </a:r>
            <a:endParaRPr/>
          </a:p>
        </p:txBody>
      </p:sp>
      <p:sp>
        <p:nvSpPr>
          <p:cNvPr id="471" name="Google Shape;471;p35"/>
          <p:cNvSpPr txBox="1"/>
          <p:nvPr/>
        </p:nvSpPr>
        <p:spPr>
          <a:xfrm>
            <a:off x="1349375" y="254476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472" name="Google Shape;472;p35"/>
          <p:cNvSpPr txBox="1"/>
          <p:nvPr/>
        </p:nvSpPr>
        <p:spPr>
          <a:xfrm>
            <a:off x="1635125" y="2576512"/>
            <a:ext cx="52070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Relationship: an association among several entities</a:t>
            </a:r>
            <a:endParaRPr/>
          </a:p>
        </p:txBody>
      </p:sp>
      <p:sp>
        <p:nvSpPr>
          <p:cNvPr id="473" name="Google Shape;473;p35"/>
          <p:cNvSpPr txBox="1"/>
          <p:nvPr/>
        </p:nvSpPr>
        <p:spPr>
          <a:xfrm>
            <a:off x="892175" y="2903537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474" name="Google Shape;474;p35"/>
          <p:cNvSpPr txBox="1"/>
          <p:nvPr/>
        </p:nvSpPr>
        <p:spPr>
          <a:xfrm>
            <a:off x="1235075" y="2949575"/>
            <a:ext cx="652621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Represented diagrammatically by an </a:t>
            </a:r>
            <a:r>
              <a:rPr b="0" i="1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entity-relationship diagram:</a:t>
            </a:r>
            <a:endParaRPr/>
          </a:p>
        </p:txBody>
      </p:sp>
      <p:sp>
        <p:nvSpPr>
          <p:cNvPr id="475" name="Google Shape;475;p35"/>
          <p:cNvSpPr/>
          <p:nvPr/>
        </p:nvSpPr>
        <p:spPr>
          <a:xfrm>
            <a:off x="963612" y="3476625"/>
            <a:ext cx="7315200" cy="2081212"/>
          </a:xfrm>
          <a:custGeom>
            <a:rect b="b" l="l" r="r" t="t"/>
            <a:pathLst>
              <a:path extrusionOk="0" h="2081529" w="7315200">
                <a:moveTo>
                  <a:pt x="3657599" y="2081515"/>
                </a:moveTo>
                <a:lnTo>
                  <a:pt x="0" y="2081515"/>
                </a:lnTo>
                <a:lnTo>
                  <a:pt x="0" y="0"/>
                </a:lnTo>
                <a:lnTo>
                  <a:pt x="7315199" y="0"/>
                </a:lnTo>
                <a:lnTo>
                  <a:pt x="7315199" y="2081515"/>
                </a:lnTo>
                <a:lnTo>
                  <a:pt x="3657599" y="2081515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5"/>
          <p:cNvSpPr txBox="1"/>
          <p:nvPr/>
        </p:nvSpPr>
        <p:spPr>
          <a:xfrm>
            <a:off x="982662" y="3495675"/>
            <a:ext cx="7278687" cy="20447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35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6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6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9817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Object-Relational Data Models</a:t>
            </a:r>
            <a:endParaRPr/>
          </a:p>
        </p:txBody>
      </p:sp>
      <p:sp>
        <p:nvSpPr>
          <p:cNvPr id="484" name="Google Shape;484;p36"/>
          <p:cNvSpPr txBox="1"/>
          <p:nvPr/>
        </p:nvSpPr>
        <p:spPr>
          <a:xfrm>
            <a:off x="935037" y="114776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485" name="Google Shape;485;p36"/>
          <p:cNvSpPr txBox="1"/>
          <p:nvPr/>
        </p:nvSpPr>
        <p:spPr>
          <a:xfrm>
            <a:off x="1277937" y="1193800"/>
            <a:ext cx="68056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Extend the relational data model by including object orientation and</a:t>
            </a:r>
            <a:endParaRPr/>
          </a:p>
        </p:txBody>
      </p:sp>
      <p:sp>
        <p:nvSpPr>
          <p:cNvPr id="486" name="Google Shape;486;p36"/>
          <p:cNvSpPr txBox="1"/>
          <p:nvPr/>
        </p:nvSpPr>
        <p:spPr>
          <a:xfrm>
            <a:off x="1277937" y="1468437"/>
            <a:ext cx="41608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constructs to deal with added data types.</a:t>
            </a:r>
            <a:endParaRPr/>
          </a:p>
        </p:txBody>
      </p:sp>
      <p:sp>
        <p:nvSpPr>
          <p:cNvPr id="487" name="Google Shape;487;p36"/>
          <p:cNvSpPr txBox="1"/>
          <p:nvPr/>
        </p:nvSpPr>
        <p:spPr>
          <a:xfrm>
            <a:off x="935037" y="179546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488" name="Google Shape;488;p36"/>
          <p:cNvSpPr txBox="1"/>
          <p:nvPr/>
        </p:nvSpPr>
        <p:spPr>
          <a:xfrm>
            <a:off x="1277937" y="1843087"/>
            <a:ext cx="70500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Allow attributes of tuples to have complex types, including non-atomic</a:t>
            </a:r>
            <a:endParaRPr/>
          </a:p>
        </p:txBody>
      </p:sp>
      <p:sp>
        <p:nvSpPr>
          <p:cNvPr id="489" name="Google Shape;489;p36"/>
          <p:cNvSpPr txBox="1"/>
          <p:nvPr/>
        </p:nvSpPr>
        <p:spPr>
          <a:xfrm>
            <a:off x="1277937" y="2117725"/>
            <a:ext cx="32702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values such as nested relations.</a:t>
            </a:r>
            <a:endParaRPr/>
          </a:p>
        </p:txBody>
      </p:sp>
      <p:sp>
        <p:nvSpPr>
          <p:cNvPr id="490" name="Google Shape;490;p36"/>
          <p:cNvSpPr txBox="1"/>
          <p:nvPr/>
        </p:nvSpPr>
        <p:spPr>
          <a:xfrm>
            <a:off x="935037" y="244475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491" name="Google Shape;491;p36"/>
          <p:cNvSpPr txBox="1"/>
          <p:nvPr/>
        </p:nvSpPr>
        <p:spPr>
          <a:xfrm>
            <a:off x="1277937" y="2490787"/>
            <a:ext cx="70500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Preserve relational foundations, in particular the declarative access to</a:t>
            </a:r>
            <a:endParaRPr/>
          </a:p>
        </p:txBody>
      </p:sp>
      <p:sp>
        <p:nvSpPr>
          <p:cNvPr id="492" name="Google Shape;492;p36"/>
          <p:cNvSpPr txBox="1"/>
          <p:nvPr/>
        </p:nvSpPr>
        <p:spPr>
          <a:xfrm>
            <a:off x="1277937" y="2765425"/>
            <a:ext cx="39020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data, while extending modeling power.</a:t>
            </a:r>
            <a:endParaRPr/>
          </a:p>
        </p:txBody>
      </p:sp>
      <p:sp>
        <p:nvSpPr>
          <p:cNvPr id="493" name="Google Shape;493;p36"/>
          <p:cNvSpPr txBox="1"/>
          <p:nvPr/>
        </p:nvSpPr>
        <p:spPr>
          <a:xfrm>
            <a:off x="935037" y="3092450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494" name="Google Shape;494;p36"/>
          <p:cNvSpPr txBox="1"/>
          <p:nvPr/>
        </p:nvSpPr>
        <p:spPr>
          <a:xfrm>
            <a:off x="1277937" y="3140075"/>
            <a:ext cx="63992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Provide upward compatibility with existing relational languages.</a:t>
            </a:r>
            <a:endParaRPr/>
          </a:p>
        </p:txBody>
      </p:sp>
      <p:sp>
        <p:nvSpPr>
          <p:cNvPr id="495" name="Google Shape;495;p36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7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37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48514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000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XML:	Extensible Markup Language</a:t>
            </a:r>
            <a:endParaRPr/>
          </a:p>
        </p:txBody>
      </p:sp>
      <p:sp>
        <p:nvSpPr>
          <p:cNvPr id="502" name="Google Shape;502;p37"/>
          <p:cNvSpPr txBox="1"/>
          <p:nvPr/>
        </p:nvSpPr>
        <p:spPr>
          <a:xfrm>
            <a:off x="904875" y="1117600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503" name="Google Shape;503;p37"/>
          <p:cNvSpPr txBox="1"/>
          <p:nvPr/>
        </p:nvSpPr>
        <p:spPr>
          <a:xfrm>
            <a:off x="1247775" y="1165225"/>
            <a:ext cx="41624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Defined by the WWW Consortium (W3C)</a:t>
            </a:r>
            <a:endParaRPr/>
          </a:p>
        </p:txBody>
      </p:sp>
      <p:sp>
        <p:nvSpPr>
          <p:cNvPr id="504" name="Google Shape;504;p37"/>
          <p:cNvSpPr txBox="1"/>
          <p:nvPr/>
        </p:nvSpPr>
        <p:spPr>
          <a:xfrm>
            <a:off x="904875" y="1490662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505" name="Google Shape;505;p37"/>
          <p:cNvSpPr txBox="1"/>
          <p:nvPr/>
        </p:nvSpPr>
        <p:spPr>
          <a:xfrm>
            <a:off x="1247775" y="1538287"/>
            <a:ext cx="58689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Originally intended as a document markup language not a</a:t>
            </a:r>
            <a:endParaRPr/>
          </a:p>
        </p:txBody>
      </p:sp>
      <p:sp>
        <p:nvSpPr>
          <p:cNvPr id="506" name="Google Shape;506;p37"/>
          <p:cNvSpPr txBox="1"/>
          <p:nvPr/>
        </p:nvSpPr>
        <p:spPr>
          <a:xfrm>
            <a:off x="1247775" y="1812925"/>
            <a:ext cx="19621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language</a:t>
            </a:r>
            <a:endParaRPr/>
          </a:p>
        </p:txBody>
      </p:sp>
      <p:sp>
        <p:nvSpPr>
          <p:cNvPr id="507" name="Google Shape;507;p37"/>
          <p:cNvSpPr txBox="1"/>
          <p:nvPr/>
        </p:nvSpPr>
        <p:spPr>
          <a:xfrm>
            <a:off x="904875" y="2139950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508" name="Google Shape;508;p37"/>
          <p:cNvSpPr txBox="1"/>
          <p:nvPr/>
        </p:nvSpPr>
        <p:spPr>
          <a:xfrm>
            <a:off x="1247775" y="2187575"/>
            <a:ext cx="67246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ability to specify new tags, and to create nested tag structures</a:t>
            </a:r>
            <a:endParaRPr/>
          </a:p>
        </p:txBody>
      </p:sp>
      <p:sp>
        <p:nvSpPr>
          <p:cNvPr id="509" name="Google Shape;509;p37"/>
          <p:cNvSpPr txBox="1"/>
          <p:nvPr/>
        </p:nvSpPr>
        <p:spPr>
          <a:xfrm>
            <a:off x="1247775" y="2460625"/>
            <a:ext cx="625475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made XML a great way to exchange </a:t>
            </a:r>
            <a:r>
              <a:rPr b="1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not just documents</a:t>
            </a:r>
            <a:endParaRPr/>
          </a:p>
        </p:txBody>
      </p:sp>
      <p:sp>
        <p:nvSpPr>
          <p:cNvPr id="510" name="Google Shape;510;p37"/>
          <p:cNvSpPr txBox="1"/>
          <p:nvPr/>
        </p:nvSpPr>
        <p:spPr>
          <a:xfrm>
            <a:off x="904875" y="2787650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511" name="Google Shape;511;p37"/>
          <p:cNvSpPr txBox="1"/>
          <p:nvPr/>
        </p:nvSpPr>
        <p:spPr>
          <a:xfrm>
            <a:off x="1247775" y="2835275"/>
            <a:ext cx="67833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XML has become the basis for all new generation data interchange</a:t>
            </a:r>
            <a:endParaRPr/>
          </a:p>
        </p:txBody>
      </p:sp>
      <p:sp>
        <p:nvSpPr>
          <p:cNvPr id="512" name="Google Shape;512;p37"/>
          <p:cNvSpPr txBox="1"/>
          <p:nvPr/>
        </p:nvSpPr>
        <p:spPr>
          <a:xfrm>
            <a:off x="1247775" y="3108325"/>
            <a:ext cx="8509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formats.</a:t>
            </a:r>
            <a:endParaRPr/>
          </a:p>
        </p:txBody>
      </p:sp>
      <p:sp>
        <p:nvSpPr>
          <p:cNvPr id="513" name="Google Shape;513;p37"/>
          <p:cNvSpPr txBox="1"/>
          <p:nvPr/>
        </p:nvSpPr>
        <p:spPr>
          <a:xfrm>
            <a:off x="904875" y="3436937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514" name="Google Shape;514;p37"/>
          <p:cNvSpPr txBox="1"/>
          <p:nvPr/>
        </p:nvSpPr>
        <p:spPr>
          <a:xfrm>
            <a:off x="1247775" y="3482975"/>
            <a:ext cx="60610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wide variety of tools is available for parsing, browsing and</a:t>
            </a:r>
            <a:endParaRPr/>
          </a:p>
        </p:txBody>
      </p:sp>
      <p:sp>
        <p:nvSpPr>
          <p:cNvPr id="515" name="Google Shape;515;p37"/>
          <p:cNvSpPr txBox="1"/>
          <p:nvPr/>
        </p:nvSpPr>
        <p:spPr>
          <a:xfrm>
            <a:off x="1247775" y="3757612"/>
            <a:ext cx="31194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querying XML documents/data</a:t>
            </a:r>
            <a:endParaRPr/>
          </a:p>
        </p:txBody>
      </p:sp>
      <p:sp>
        <p:nvSpPr>
          <p:cNvPr id="516" name="Google Shape;516;p37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8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38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850389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Storage Management</a:t>
            </a:r>
            <a:endParaRPr/>
          </a:p>
        </p:txBody>
      </p:sp>
      <p:sp>
        <p:nvSpPr>
          <p:cNvPr id="523" name="Google Shape;523;p38"/>
          <p:cNvSpPr txBox="1"/>
          <p:nvPr/>
        </p:nvSpPr>
        <p:spPr>
          <a:xfrm>
            <a:off x="892175" y="1133475"/>
            <a:ext cx="180975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524" name="Google Shape;524;p38"/>
          <p:cNvSpPr txBox="1"/>
          <p:nvPr/>
        </p:nvSpPr>
        <p:spPr>
          <a:xfrm>
            <a:off x="1235075" y="1179512"/>
            <a:ext cx="672306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Storage manager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program module that provides the interface</a:t>
            </a:r>
            <a:endParaRPr/>
          </a:p>
        </p:txBody>
      </p:sp>
      <p:sp>
        <p:nvSpPr>
          <p:cNvPr id="525" name="Google Shape;525;p38"/>
          <p:cNvSpPr txBox="1"/>
          <p:nvPr/>
        </p:nvSpPr>
        <p:spPr>
          <a:xfrm>
            <a:off x="1235075" y="1454150"/>
            <a:ext cx="7021512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between the low-level data stored in the database and the application programs and queries submitted to the system.</a:t>
            </a:r>
            <a:endParaRPr/>
          </a:p>
        </p:txBody>
      </p:sp>
      <p:sp>
        <p:nvSpPr>
          <p:cNvPr id="526" name="Google Shape;526;p38"/>
          <p:cNvSpPr txBox="1"/>
          <p:nvPr/>
        </p:nvSpPr>
        <p:spPr>
          <a:xfrm>
            <a:off x="892175" y="2055812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527" name="Google Shape;527;p38"/>
          <p:cNvSpPr txBox="1"/>
          <p:nvPr/>
        </p:nvSpPr>
        <p:spPr>
          <a:xfrm>
            <a:off x="1235075" y="2103437"/>
            <a:ext cx="59086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storage manager is responsible to the following tasks:</a:t>
            </a:r>
            <a:endParaRPr/>
          </a:p>
        </p:txBody>
      </p:sp>
      <p:sp>
        <p:nvSpPr>
          <p:cNvPr id="528" name="Google Shape;528;p38"/>
          <p:cNvSpPr txBox="1"/>
          <p:nvPr/>
        </p:nvSpPr>
        <p:spPr>
          <a:xfrm>
            <a:off x="1349375" y="244475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529" name="Google Shape;529;p38"/>
          <p:cNvSpPr txBox="1"/>
          <p:nvPr/>
        </p:nvSpPr>
        <p:spPr>
          <a:xfrm>
            <a:off x="1635125" y="2476500"/>
            <a:ext cx="32575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Interaction with the file manager</a:t>
            </a:r>
            <a:endParaRPr/>
          </a:p>
        </p:txBody>
      </p:sp>
      <p:sp>
        <p:nvSpPr>
          <p:cNvPr id="530" name="Google Shape;530;p38"/>
          <p:cNvSpPr txBox="1"/>
          <p:nvPr/>
        </p:nvSpPr>
        <p:spPr>
          <a:xfrm>
            <a:off x="1349375" y="281940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531" name="Google Shape;531;p38"/>
          <p:cNvSpPr txBox="1"/>
          <p:nvPr/>
        </p:nvSpPr>
        <p:spPr>
          <a:xfrm>
            <a:off x="1635125" y="2851150"/>
            <a:ext cx="47942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Efficient storing, retrieving and updating of data</a:t>
            </a:r>
            <a:endParaRPr/>
          </a:p>
        </p:txBody>
      </p:sp>
      <p:sp>
        <p:nvSpPr>
          <p:cNvPr id="532" name="Google Shape;532;p38"/>
          <p:cNvSpPr txBox="1"/>
          <p:nvPr/>
        </p:nvSpPr>
        <p:spPr>
          <a:xfrm>
            <a:off x="892175" y="3178175"/>
            <a:ext cx="180975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533" name="Google Shape;533;p38"/>
          <p:cNvSpPr txBox="1"/>
          <p:nvPr/>
        </p:nvSpPr>
        <p:spPr>
          <a:xfrm>
            <a:off x="1235075" y="3224212"/>
            <a:ext cx="7493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Issues:</a:t>
            </a:r>
            <a:endParaRPr/>
          </a:p>
        </p:txBody>
      </p:sp>
      <p:sp>
        <p:nvSpPr>
          <p:cNvPr id="534" name="Google Shape;534;p38"/>
          <p:cNvSpPr txBox="1"/>
          <p:nvPr/>
        </p:nvSpPr>
        <p:spPr>
          <a:xfrm>
            <a:off x="1349375" y="356711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535" name="Google Shape;535;p38"/>
          <p:cNvSpPr txBox="1"/>
          <p:nvPr/>
        </p:nvSpPr>
        <p:spPr>
          <a:xfrm>
            <a:off x="1635125" y="3598862"/>
            <a:ext cx="15970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 access</a:t>
            </a:r>
            <a:endParaRPr/>
          </a:p>
        </p:txBody>
      </p:sp>
      <p:sp>
        <p:nvSpPr>
          <p:cNvPr id="536" name="Google Shape;536;p38"/>
          <p:cNvSpPr txBox="1"/>
          <p:nvPr/>
        </p:nvSpPr>
        <p:spPr>
          <a:xfrm>
            <a:off x="1349375" y="394017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537" name="Google Shape;537;p38"/>
          <p:cNvSpPr txBox="1"/>
          <p:nvPr/>
        </p:nvSpPr>
        <p:spPr>
          <a:xfrm>
            <a:off x="1635125" y="3971925"/>
            <a:ext cx="16986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File organization</a:t>
            </a:r>
            <a:endParaRPr/>
          </a:p>
        </p:txBody>
      </p:sp>
      <p:sp>
        <p:nvSpPr>
          <p:cNvPr id="538" name="Google Shape;538;p38"/>
          <p:cNvSpPr txBox="1"/>
          <p:nvPr/>
        </p:nvSpPr>
        <p:spPr>
          <a:xfrm>
            <a:off x="1349375" y="431482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539" name="Google Shape;539;p38"/>
          <p:cNvSpPr txBox="1"/>
          <p:nvPr/>
        </p:nvSpPr>
        <p:spPr>
          <a:xfrm>
            <a:off x="1635125" y="4346575"/>
            <a:ext cx="21907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Indexing and hashing</a:t>
            </a:r>
            <a:endParaRPr/>
          </a:p>
        </p:txBody>
      </p:sp>
      <p:sp>
        <p:nvSpPr>
          <p:cNvPr id="540" name="Google Shape;540;p38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9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9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73939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Query Processing</a:t>
            </a:r>
            <a:endParaRPr/>
          </a:p>
        </p:txBody>
      </p:sp>
      <p:sp>
        <p:nvSpPr>
          <p:cNvPr id="547" name="Google Shape;547;p39"/>
          <p:cNvSpPr txBox="1"/>
          <p:nvPr/>
        </p:nvSpPr>
        <p:spPr>
          <a:xfrm>
            <a:off x="892175" y="1243012"/>
            <a:ext cx="2700337" cy="10017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4290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Parsing and translation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Optimization</a:t>
            </a:r>
            <a:endParaRPr/>
          </a:p>
          <a:p>
            <a:pPr indent="-342900" lvl="0" marL="3556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Evaluation</a:t>
            </a:r>
            <a:endParaRPr/>
          </a:p>
        </p:txBody>
      </p:sp>
      <p:sp>
        <p:nvSpPr>
          <p:cNvPr id="548" name="Google Shape;548;p39"/>
          <p:cNvSpPr/>
          <p:nvPr/>
        </p:nvSpPr>
        <p:spPr>
          <a:xfrm>
            <a:off x="1314450" y="2501900"/>
            <a:ext cx="6083300" cy="3700462"/>
          </a:xfrm>
          <a:custGeom>
            <a:rect b="b" l="l" r="r" t="t"/>
            <a:pathLst>
              <a:path extrusionOk="0" h="3700779" w="6083300">
                <a:moveTo>
                  <a:pt x="3041660" y="3700790"/>
                </a:moveTo>
                <a:lnTo>
                  <a:pt x="0" y="3700790"/>
                </a:lnTo>
                <a:lnTo>
                  <a:pt x="0" y="0"/>
                </a:lnTo>
                <a:lnTo>
                  <a:pt x="6083289" y="0"/>
                </a:lnTo>
                <a:lnTo>
                  <a:pt x="6083289" y="3700790"/>
                </a:lnTo>
                <a:lnTo>
                  <a:pt x="3041660" y="3700790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39"/>
          <p:cNvSpPr txBox="1"/>
          <p:nvPr/>
        </p:nvSpPr>
        <p:spPr>
          <a:xfrm>
            <a:off x="1333500" y="2520950"/>
            <a:ext cx="6046787" cy="366395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39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4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40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6" name="Google Shape;556;p40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37541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Query Processing (Cont.)</a:t>
            </a:r>
            <a:endParaRPr/>
          </a:p>
        </p:txBody>
      </p:sp>
      <p:sp>
        <p:nvSpPr>
          <p:cNvPr id="557" name="Google Shape;557;p40"/>
          <p:cNvSpPr txBox="1"/>
          <p:nvPr/>
        </p:nvSpPr>
        <p:spPr>
          <a:xfrm>
            <a:off x="904875" y="1117600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558" name="Google Shape;558;p40"/>
          <p:cNvSpPr txBox="1"/>
          <p:nvPr/>
        </p:nvSpPr>
        <p:spPr>
          <a:xfrm>
            <a:off x="1247775" y="1165225"/>
            <a:ext cx="44751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Alternative ways of evaluating a given query</a:t>
            </a:r>
            <a:endParaRPr/>
          </a:p>
        </p:txBody>
      </p:sp>
      <p:sp>
        <p:nvSpPr>
          <p:cNvPr id="559" name="Google Shape;559;p40"/>
          <p:cNvSpPr txBox="1"/>
          <p:nvPr/>
        </p:nvSpPr>
        <p:spPr>
          <a:xfrm>
            <a:off x="1362075" y="1506537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560" name="Google Shape;560;p40"/>
          <p:cNvSpPr txBox="1"/>
          <p:nvPr/>
        </p:nvSpPr>
        <p:spPr>
          <a:xfrm>
            <a:off x="1646237" y="1538287"/>
            <a:ext cx="23701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Equivalent expressions</a:t>
            </a:r>
            <a:endParaRPr/>
          </a:p>
        </p:txBody>
      </p:sp>
      <p:sp>
        <p:nvSpPr>
          <p:cNvPr id="561" name="Google Shape;561;p40"/>
          <p:cNvSpPr txBox="1"/>
          <p:nvPr/>
        </p:nvSpPr>
        <p:spPr>
          <a:xfrm>
            <a:off x="1362075" y="1881187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562" name="Google Shape;562;p40"/>
          <p:cNvSpPr txBox="1"/>
          <p:nvPr/>
        </p:nvSpPr>
        <p:spPr>
          <a:xfrm>
            <a:off x="1646237" y="1912937"/>
            <a:ext cx="39068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Different algorithms for each operation</a:t>
            </a:r>
            <a:endParaRPr/>
          </a:p>
        </p:txBody>
      </p:sp>
      <p:sp>
        <p:nvSpPr>
          <p:cNvPr id="563" name="Google Shape;563;p40"/>
          <p:cNvSpPr txBox="1"/>
          <p:nvPr/>
        </p:nvSpPr>
        <p:spPr>
          <a:xfrm>
            <a:off x="904875" y="2239962"/>
            <a:ext cx="180975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564" name="Google Shape;564;p40"/>
          <p:cNvSpPr txBox="1"/>
          <p:nvPr/>
        </p:nvSpPr>
        <p:spPr>
          <a:xfrm>
            <a:off x="1247775" y="2286000"/>
            <a:ext cx="740410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Cost difference between a good and a bad way of evaluating a query can</a:t>
            </a:r>
            <a:endParaRPr/>
          </a:p>
        </p:txBody>
      </p:sp>
      <p:sp>
        <p:nvSpPr>
          <p:cNvPr id="565" name="Google Shape;565;p40"/>
          <p:cNvSpPr txBox="1"/>
          <p:nvPr/>
        </p:nvSpPr>
        <p:spPr>
          <a:xfrm>
            <a:off x="1247775" y="2560637"/>
            <a:ext cx="13541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be enormous</a:t>
            </a:r>
            <a:endParaRPr/>
          </a:p>
        </p:txBody>
      </p:sp>
      <p:sp>
        <p:nvSpPr>
          <p:cNvPr id="566" name="Google Shape;566;p40"/>
          <p:cNvSpPr txBox="1"/>
          <p:nvPr/>
        </p:nvSpPr>
        <p:spPr>
          <a:xfrm>
            <a:off x="904875" y="2887662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567" name="Google Shape;567;p40"/>
          <p:cNvSpPr txBox="1"/>
          <p:nvPr/>
        </p:nvSpPr>
        <p:spPr>
          <a:xfrm>
            <a:off x="1247775" y="2935287"/>
            <a:ext cx="39957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estimate the cost of operations</a:t>
            </a:r>
            <a:endParaRPr/>
          </a:p>
        </p:txBody>
      </p:sp>
      <p:sp>
        <p:nvSpPr>
          <p:cNvPr id="568" name="Google Shape;568;p40"/>
          <p:cNvSpPr txBox="1"/>
          <p:nvPr/>
        </p:nvSpPr>
        <p:spPr>
          <a:xfrm>
            <a:off x="1362075" y="327660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569" name="Google Shape;569;p40"/>
          <p:cNvSpPr txBox="1"/>
          <p:nvPr/>
        </p:nvSpPr>
        <p:spPr>
          <a:xfrm>
            <a:off x="1646237" y="3308350"/>
            <a:ext cx="69103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Depends critically on statistical information about relations which the</a:t>
            </a:r>
            <a:endParaRPr/>
          </a:p>
        </p:txBody>
      </p:sp>
      <p:sp>
        <p:nvSpPr>
          <p:cNvPr id="570" name="Google Shape;570;p40"/>
          <p:cNvSpPr txBox="1"/>
          <p:nvPr/>
        </p:nvSpPr>
        <p:spPr>
          <a:xfrm>
            <a:off x="1646237" y="3582987"/>
            <a:ext cx="24495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must maintain</a:t>
            </a:r>
            <a:endParaRPr/>
          </a:p>
        </p:txBody>
      </p:sp>
      <p:sp>
        <p:nvSpPr>
          <p:cNvPr id="571" name="Google Shape;571;p40"/>
          <p:cNvSpPr txBox="1"/>
          <p:nvPr/>
        </p:nvSpPr>
        <p:spPr>
          <a:xfrm>
            <a:off x="1362075" y="3925887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572" name="Google Shape;572;p40"/>
          <p:cNvSpPr txBox="1"/>
          <p:nvPr/>
        </p:nvSpPr>
        <p:spPr>
          <a:xfrm>
            <a:off x="1646237" y="3957637"/>
            <a:ext cx="70072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Need to estimate statistics for intermediate results to compute cost of</a:t>
            </a:r>
            <a:endParaRPr/>
          </a:p>
        </p:txBody>
      </p:sp>
      <p:sp>
        <p:nvSpPr>
          <p:cNvPr id="573" name="Google Shape;573;p40"/>
          <p:cNvSpPr txBox="1"/>
          <p:nvPr/>
        </p:nvSpPr>
        <p:spPr>
          <a:xfrm>
            <a:off x="1646237" y="4232275"/>
            <a:ext cx="21542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complex expressions</a:t>
            </a:r>
            <a:endParaRPr/>
          </a:p>
        </p:txBody>
      </p:sp>
      <p:sp>
        <p:nvSpPr>
          <p:cNvPr id="574" name="Google Shape;574;p40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41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0" name="Google Shape;580;p41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1620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Transaction Management</a:t>
            </a:r>
            <a:endParaRPr/>
          </a:p>
        </p:txBody>
      </p:sp>
      <p:sp>
        <p:nvSpPr>
          <p:cNvPr id="581" name="Google Shape;581;p41"/>
          <p:cNvSpPr txBox="1"/>
          <p:nvPr/>
        </p:nvSpPr>
        <p:spPr>
          <a:xfrm>
            <a:off x="904875" y="1117600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582" name="Google Shape;582;p41"/>
          <p:cNvSpPr txBox="1"/>
          <p:nvPr/>
        </p:nvSpPr>
        <p:spPr>
          <a:xfrm>
            <a:off x="1247775" y="1165225"/>
            <a:ext cx="65468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transaction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 a collection of operations that performs a single</a:t>
            </a:r>
            <a:endParaRPr/>
          </a:p>
        </p:txBody>
      </p:sp>
      <p:sp>
        <p:nvSpPr>
          <p:cNvPr id="583" name="Google Shape;583;p41"/>
          <p:cNvSpPr txBox="1"/>
          <p:nvPr/>
        </p:nvSpPr>
        <p:spPr>
          <a:xfrm>
            <a:off x="1247775" y="1438275"/>
            <a:ext cx="41179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logical function in a database application</a:t>
            </a:r>
            <a:endParaRPr/>
          </a:p>
        </p:txBody>
      </p:sp>
      <p:sp>
        <p:nvSpPr>
          <p:cNvPr id="584" name="Google Shape;584;p41"/>
          <p:cNvSpPr txBox="1"/>
          <p:nvPr/>
        </p:nvSpPr>
        <p:spPr>
          <a:xfrm>
            <a:off x="904875" y="1765300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585" name="Google Shape;585;p41"/>
          <p:cNvSpPr txBox="1"/>
          <p:nvPr/>
        </p:nvSpPr>
        <p:spPr>
          <a:xfrm>
            <a:off x="1247775" y="1812925"/>
            <a:ext cx="68040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Transaction-management component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ensures that the database</a:t>
            </a:r>
            <a:endParaRPr/>
          </a:p>
        </p:txBody>
      </p:sp>
      <p:sp>
        <p:nvSpPr>
          <p:cNvPr id="586" name="Google Shape;586;p41"/>
          <p:cNvSpPr txBox="1"/>
          <p:nvPr/>
        </p:nvSpPr>
        <p:spPr>
          <a:xfrm>
            <a:off x="1247775" y="2085975"/>
            <a:ext cx="7113587" cy="5286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remains in a consistent (correct) state despite system failures (e.g., power failures and operating system crashes) and transaction failures.</a:t>
            </a:r>
            <a:endParaRPr/>
          </a:p>
        </p:txBody>
      </p:sp>
      <p:sp>
        <p:nvSpPr>
          <p:cNvPr id="587" name="Google Shape;587;p41"/>
          <p:cNvSpPr txBox="1"/>
          <p:nvPr/>
        </p:nvSpPr>
        <p:spPr>
          <a:xfrm>
            <a:off x="904875" y="2689225"/>
            <a:ext cx="180975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588" name="Google Shape;588;p41"/>
          <p:cNvSpPr txBox="1"/>
          <p:nvPr/>
        </p:nvSpPr>
        <p:spPr>
          <a:xfrm>
            <a:off x="1247775" y="2735262"/>
            <a:ext cx="6800850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Concurrency-control manager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controls the interaction among the</a:t>
            </a:r>
            <a:endParaRPr/>
          </a:p>
        </p:txBody>
      </p:sp>
      <p:sp>
        <p:nvSpPr>
          <p:cNvPr id="589" name="Google Shape;589;p41"/>
          <p:cNvSpPr txBox="1"/>
          <p:nvPr/>
        </p:nvSpPr>
        <p:spPr>
          <a:xfrm>
            <a:off x="1247775" y="3009900"/>
            <a:ext cx="681196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concurrent transactions, to ensure the consistency of the database.</a:t>
            </a:r>
            <a:endParaRPr/>
          </a:p>
        </p:txBody>
      </p:sp>
      <p:sp>
        <p:nvSpPr>
          <p:cNvPr id="590" name="Google Shape;590;p41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2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6" name="Google Shape;596;p42"/>
          <p:cNvSpPr txBox="1"/>
          <p:nvPr/>
        </p:nvSpPr>
        <p:spPr>
          <a:xfrm>
            <a:off x="2508250" y="219075"/>
            <a:ext cx="4340225" cy="434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3200"/>
              <a:buFont typeface="Arial"/>
              <a:buNone/>
            </a:pPr>
            <a:r>
              <a:rPr b="1" i="0" lang="en-US" sz="32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Database Architecture</a:t>
            </a:r>
            <a:endParaRPr/>
          </a:p>
        </p:txBody>
      </p:sp>
      <p:sp>
        <p:nvSpPr>
          <p:cNvPr id="597" name="Google Shape;597;p42"/>
          <p:cNvSpPr txBox="1"/>
          <p:nvPr/>
        </p:nvSpPr>
        <p:spPr>
          <a:xfrm>
            <a:off x="930275" y="1238250"/>
            <a:ext cx="678497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63500" lvl="0" marL="76200" marR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architecture of a database systems is greatly influenced by  the underlying computer system on which the database is running:</a:t>
            </a:r>
            <a:endParaRPr/>
          </a:p>
        </p:txBody>
      </p:sp>
      <p:sp>
        <p:nvSpPr>
          <p:cNvPr id="598" name="Google Shape;598;p42"/>
          <p:cNvSpPr txBox="1"/>
          <p:nvPr/>
        </p:nvSpPr>
        <p:spPr>
          <a:xfrm>
            <a:off x="930275" y="194151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599" name="Google Shape;599;p42"/>
          <p:cNvSpPr txBox="1"/>
          <p:nvPr/>
        </p:nvSpPr>
        <p:spPr>
          <a:xfrm>
            <a:off x="1273175" y="1985962"/>
            <a:ext cx="11795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Centralized</a:t>
            </a:r>
            <a:endParaRPr/>
          </a:p>
        </p:txBody>
      </p:sp>
      <p:sp>
        <p:nvSpPr>
          <p:cNvPr id="600" name="Google Shape;600;p42"/>
          <p:cNvSpPr txBox="1"/>
          <p:nvPr/>
        </p:nvSpPr>
        <p:spPr>
          <a:xfrm>
            <a:off x="930275" y="2314575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601" name="Google Shape;601;p42"/>
          <p:cNvSpPr txBox="1"/>
          <p:nvPr/>
        </p:nvSpPr>
        <p:spPr>
          <a:xfrm>
            <a:off x="1273175" y="2360612"/>
            <a:ext cx="13192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Client-server</a:t>
            </a:r>
            <a:endParaRPr/>
          </a:p>
        </p:txBody>
      </p:sp>
      <p:sp>
        <p:nvSpPr>
          <p:cNvPr id="602" name="Google Shape;602;p42"/>
          <p:cNvSpPr txBox="1"/>
          <p:nvPr/>
        </p:nvSpPr>
        <p:spPr>
          <a:xfrm>
            <a:off x="930275" y="2689225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603" name="Google Shape;603;p42"/>
          <p:cNvSpPr txBox="1"/>
          <p:nvPr/>
        </p:nvSpPr>
        <p:spPr>
          <a:xfrm>
            <a:off x="1273175" y="2733675"/>
            <a:ext cx="25606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Parallel (multi-processor)</a:t>
            </a:r>
            <a:endParaRPr/>
          </a:p>
        </p:txBody>
      </p:sp>
      <p:sp>
        <p:nvSpPr>
          <p:cNvPr id="604" name="Google Shape;604;p42"/>
          <p:cNvSpPr txBox="1"/>
          <p:nvPr/>
        </p:nvSpPr>
        <p:spPr>
          <a:xfrm>
            <a:off x="930275" y="3062287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605" name="Google Shape;605;p42"/>
          <p:cNvSpPr txBox="1"/>
          <p:nvPr/>
        </p:nvSpPr>
        <p:spPr>
          <a:xfrm>
            <a:off x="1273175" y="3108325"/>
            <a:ext cx="11160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Distributed</a:t>
            </a:r>
            <a:endParaRPr/>
          </a:p>
        </p:txBody>
      </p:sp>
      <p:sp>
        <p:nvSpPr>
          <p:cNvPr id="606" name="Google Shape;606;p42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43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43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23812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Database Users</a:t>
            </a:r>
            <a:endParaRPr/>
          </a:p>
        </p:txBody>
      </p:sp>
      <p:sp>
        <p:nvSpPr>
          <p:cNvPr id="613" name="Google Shape;613;p43"/>
          <p:cNvSpPr txBox="1"/>
          <p:nvPr/>
        </p:nvSpPr>
        <p:spPr>
          <a:xfrm>
            <a:off x="892175" y="1179512"/>
            <a:ext cx="63563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37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Users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are differentiated by the way they expect to interact with the system</a:t>
            </a:r>
            <a:endParaRPr/>
          </a:p>
        </p:txBody>
      </p:sp>
      <p:sp>
        <p:nvSpPr>
          <p:cNvPr id="614" name="Google Shape;614;p43"/>
          <p:cNvSpPr txBox="1"/>
          <p:nvPr/>
        </p:nvSpPr>
        <p:spPr>
          <a:xfrm>
            <a:off x="892175" y="1881187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615" name="Google Shape;615;p43"/>
          <p:cNvSpPr txBox="1"/>
          <p:nvPr/>
        </p:nvSpPr>
        <p:spPr>
          <a:xfrm>
            <a:off x="1235075" y="1927225"/>
            <a:ext cx="6967537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Application programmers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interact with system through DML calls</a:t>
            </a:r>
            <a:endParaRPr/>
          </a:p>
        </p:txBody>
      </p:sp>
      <p:sp>
        <p:nvSpPr>
          <p:cNvPr id="616" name="Google Shape;616;p43"/>
          <p:cNvSpPr txBox="1"/>
          <p:nvPr/>
        </p:nvSpPr>
        <p:spPr>
          <a:xfrm>
            <a:off x="892175" y="2255837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617" name="Google Shape;617;p43"/>
          <p:cNvSpPr txBox="1"/>
          <p:nvPr/>
        </p:nvSpPr>
        <p:spPr>
          <a:xfrm>
            <a:off x="1235075" y="2301875"/>
            <a:ext cx="6913562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Sophisticated users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form requests in a database query language</a:t>
            </a:r>
            <a:endParaRPr/>
          </a:p>
        </p:txBody>
      </p:sp>
      <p:sp>
        <p:nvSpPr>
          <p:cNvPr id="618" name="Google Shape;618;p43"/>
          <p:cNvSpPr txBox="1"/>
          <p:nvPr/>
        </p:nvSpPr>
        <p:spPr>
          <a:xfrm>
            <a:off x="892175" y="2628900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619" name="Google Shape;619;p43"/>
          <p:cNvSpPr txBox="1"/>
          <p:nvPr/>
        </p:nvSpPr>
        <p:spPr>
          <a:xfrm>
            <a:off x="1235075" y="2676525"/>
            <a:ext cx="689927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Specialized users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write specialized database applications that do</a:t>
            </a:r>
            <a:endParaRPr/>
          </a:p>
        </p:txBody>
      </p:sp>
      <p:sp>
        <p:nvSpPr>
          <p:cNvPr id="620" name="Google Shape;620;p43"/>
          <p:cNvSpPr txBox="1"/>
          <p:nvPr/>
        </p:nvSpPr>
        <p:spPr>
          <a:xfrm>
            <a:off x="1235075" y="2949575"/>
            <a:ext cx="52514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 fit into the traditional data processing framework</a:t>
            </a:r>
            <a:endParaRPr/>
          </a:p>
        </p:txBody>
      </p:sp>
      <p:sp>
        <p:nvSpPr>
          <p:cNvPr id="621" name="Google Shape;621;p43"/>
          <p:cNvSpPr txBox="1"/>
          <p:nvPr/>
        </p:nvSpPr>
        <p:spPr>
          <a:xfrm>
            <a:off x="892175" y="3278187"/>
            <a:ext cx="180975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622" name="Google Shape;622;p43"/>
          <p:cNvSpPr txBox="1"/>
          <p:nvPr/>
        </p:nvSpPr>
        <p:spPr>
          <a:xfrm>
            <a:off x="1235075" y="3324225"/>
            <a:ext cx="7075487" cy="2555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800"/>
              <a:buFont typeface="Arial"/>
              <a:buNone/>
            </a:pPr>
            <a:r>
              <a:rPr b="1" i="0" lang="en-US" sz="1800" u="none">
                <a:solidFill>
                  <a:srgbClr val="CC3200"/>
                </a:solidFill>
                <a:latin typeface="Arial"/>
                <a:ea typeface="Arial"/>
                <a:cs typeface="Arial"/>
                <a:sym typeface="Arial"/>
              </a:rPr>
              <a:t>Naïve users </a:t>
            </a: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– invoke one of the permanent application programs that</a:t>
            </a:r>
            <a:endParaRPr/>
          </a:p>
        </p:txBody>
      </p:sp>
      <p:sp>
        <p:nvSpPr>
          <p:cNvPr id="623" name="Google Shape;623;p43"/>
          <p:cNvSpPr txBox="1"/>
          <p:nvPr/>
        </p:nvSpPr>
        <p:spPr>
          <a:xfrm>
            <a:off x="1235075" y="3598862"/>
            <a:ext cx="29146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have been written previously</a:t>
            </a:r>
            <a:endParaRPr/>
          </a:p>
        </p:txBody>
      </p:sp>
      <p:sp>
        <p:nvSpPr>
          <p:cNvPr id="624" name="Google Shape;624;p43"/>
          <p:cNvSpPr txBox="1"/>
          <p:nvPr/>
        </p:nvSpPr>
        <p:spPr>
          <a:xfrm>
            <a:off x="1349375" y="3940175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625" name="Google Shape;625;p43"/>
          <p:cNvSpPr txBox="1"/>
          <p:nvPr/>
        </p:nvSpPr>
        <p:spPr>
          <a:xfrm>
            <a:off x="1635125" y="3971925"/>
            <a:ext cx="66436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Examples, people accessing database over the web, bank tellers,</a:t>
            </a:r>
            <a:endParaRPr/>
          </a:p>
        </p:txBody>
      </p:sp>
      <p:sp>
        <p:nvSpPr>
          <p:cNvPr id="626" name="Google Shape;626;p43"/>
          <p:cNvSpPr txBox="1"/>
          <p:nvPr/>
        </p:nvSpPr>
        <p:spPr>
          <a:xfrm>
            <a:off x="1635125" y="4246562"/>
            <a:ext cx="12303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clerical staff</a:t>
            </a:r>
            <a:endParaRPr/>
          </a:p>
        </p:txBody>
      </p:sp>
      <p:sp>
        <p:nvSpPr>
          <p:cNvPr id="627" name="Google Shape;627;p43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44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3" name="Google Shape;633;p44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61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Database Administrator</a:t>
            </a:r>
            <a:endParaRPr/>
          </a:p>
        </p:txBody>
      </p:sp>
      <p:sp>
        <p:nvSpPr>
          <p:cNvPr id="634" name="Google Shape;634;p44"/>
          <p:cNvSpPr txBox="1"/>
          <p:nvPr/>
        </p:nvSpPr>
        <p:spPr>
          <a:xfrm>
            <a:off x="901700" y="1122362"/>
            <a:ext cx="182562" cy="2301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635" name="Google Shape;635;p44"/>
          <p:cNvSpPr txBox="1"/>
          <p:nvPr/>
        </p:nvSpPr>
        <p:spPr>
          <a:xfrm>
            <a:off x="1244600" y="1168400"/>
            <a:ext cx="57340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Coordinates all the activities of the database system; the</a:t>
            </a:r>
            <a:endParaRPr/>
          </a:p>
        </p:txBody>
      </p:sp>
      <p:sp>
        <p:nvSpPr>
          <p:cNvPr id="636" name="Google Shape;636;p44"/>
          <p:cNvSpPr txBox="1"/>
          <p:nvPr/>
        </p:nvSpPr>
        <p:spPr>
          <a:xfrm>
            <a:off x="1244600" y="1414462"/>
            <a:ext cx="5680075" cy="5000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5555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administrator has a good understanding of the enterprise’s information resources and needs.</a:t>
            </a:r>
            <a:endParaRPr/>
          </a:p>
        </p:txBody>
      </p:sp>
      <p:sp>
        <p:nvSpPr>
          <p:cNvPr id="637" name="Google Shape;637;p44"/>
          <p:cNvSpPr txBox="1"/>
          <p:nvPr/>
        </p:nvSpPr>
        <p:spPr>
          <a:xfrm>
            <a:off x="901700" y="1960562"/>
            <a:ext cx="182562" cy="231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6250"/>
              </a:lnSpc>
              <a:spcBef>
                <a:spcPts val="0"/>
              </a:spcBef>
              <a:spcAft>
                <a:spcPts val="0"/>
              </a:spcAft>
              <a:buClr>
                <a:srgbClr val="CC3200"/>
              </a:buClr>
              <a:buSzPts val="1600"/>
              <a:buFont typeface="MS Gothic"/>
              <a:buNone/>
            </a:pPr>
            <a:r>
              <a:rPr b="0" i="0" lang="en-US" sz="1600" u="none">
                <a:solidFill>
                  <a:srgbClr val="CC3200"/>
                </a:solidFill>
                <a:latin typeface="MS Gothic"/>
                <a:ea typeface="MS Gothic"/>
                <a:cs typeface="MS Gothic"/>
                <a:sym typeface="MS Gothic"/>
              </a:rPr>
              <a:t>■</a:t>
            </a:r>
            <a:endParaRPr/>
          </a:p>
        </p:txBody>
      </p:sp>
      <p:sp>
        <p:nvSpPr>
          <p:cNvPr id="638" name="Google Shape;638;p44"/>
          <p:cNvSpPr txBox="1"/>
          <p:nvPr/>
        </p:nvSpPr>
        <p:spPr>
          <a:xfrm>
            <a:off x="1244600" y="2008187"/>
            <a:ext cx="4062412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Database administrator's duties include:</a:t>
            </a:r>
            <a:endParaRPr/>
          </a:p>
        </p:txBody>
      </p:sp>
      <p:sp>
        <p:nvSpPr>
          <p:cNvPr id="639" name="Google Shape;639;p44"/>
          <p:cNvSpPr txBox="1"/>
          <p:nvPr/>
        </p:nvSpPr>
        <p:spPr>
          <a:xfrm>
            <a:off x="1358900" y="232251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640" name="Google Shape;640;p44"/>
          <p:cNvSpPr txBox="1"/>
          <p:nvPr/>
        </p:nvSpPr>
        <p:spPr>
          <a:xfrm>
            <a:off x="1644650" y="2352675"/>
            <a:ext cx="18383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Schema definition</a:t>
            </a:r>
            <a:endParaRPr/>
          </a:p>
        </p:txBody>
      </p:sp>
      <p:sp>
        <p:nvSpPr>
          <p:cNvPr id="641" name="Google Shape;641;p44"/>
          <p:cNvSpPr txBox="1"/>
          <p:nvPr/>
        </p:nvSpPr>
        <p:spPr>
          <a:xfrm>
            <a:off x="1358900" y="2668587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642" name="Google Shape;642;p44"/>
          <p:cNvSpPr txBox="1"/>
          <p:nvPr/>
        </p:nvSpPr>
        <p:spPr>
          <a:xfrm>
            <a:off x="1644650" y="2700337"/>
            <a:ext cx="4794250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Storage structure and access method definition</a:t>
            </a:r>
            <a:endParaRPr/>
          </a:p>
        </p:txBody>
      </p:sp>
      <p:sp>
        <p:nvSpPr>
          <p:cNvPr id="643" name="Google Shape;643;p44"/>
          <p:cNvSpPr txBox="1"/>
          <p:nvPr/>
        </p:nvSpPr>
        <p:spPr>
          <a:xfrm>
            <a:off x="1358900" y="301466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644" name="Google Shape;644;p44"/>
          <p:cNvSpPr txBox="1"/>
          <p:nvPr/>
        </p:nvSpPr>
        <p:spPr>
          <a:xfrm>
            <a:off x="1644650" y="3046412"/>
            <a:ext cx="47767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Schema and physical organization modification</a:t>
            </a:r>
            <a:endParaRPr/>
          </a:p>
        </p:txBody>
      </p:sp>
      <p:sp>
        <p:nvSpPr>
          <p:cNvPr id="645" name="Google Shape;645;p44"/>
          <p:cNvSpPr txBox="1"/>
          <p:nvPr/>
        </p:nvSpPr>
        <p:spPr>
          <a:xfrm>
            <a:off x="1358900" y="3360737"/>
            <a:ext cx="1698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646" name="Google Shape;646;p44"/>
          <p:cNvSpPr txBox="1"/>
          <p:nvPr/>
        </p:nvSpPr>
        <p:spPr>
          <a:xfrm>
            <a:off x="1644650" y="3392487"/>
            <a:ext cx="47577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Granting user authority to access the database</a:t>
            </a:r>
            <a:endParaRPr/>
          </a:p>
        </p:txBody>
      </p:sp>
      <p:sp>
        <p:nvSpPr>
          <p:cNvPr id="647" name="Google Shape;647;p44"/>
          <p:cNvSpPr txBox="1"/>
          <p:nvPr/>
        </p:nvSpPr>
        <p:spPr>
          <a:xfrm>
            <a:off x="1358900" y="3706812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648" name="Google Shape;648;p44"/>
          <p:cNvSpPr txBox="1"/>
          <p:nvPr/>
        </p:nvSpPr>
        <p:spPr>
          <a:xfrm>
            <a:off x="1644650" y="3738562"/>
            <a:ext cx="310673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Specifying integrity constraints</a:t>
            </a:r>
            <a:endParaRPr/>
          </a:p>
        </p:txBody>
      </p:sp>
      <p:sp>
        <p:nvSpPr>
          <p:cNvPr id="649" name="Google Shape;649;p44"/>
          <p:cNvSpPr txBox="1"/>
          <p:nvPr/>
        </p:nvSpPr>
        <p:spPr>
          <a:xfrm>
            <a:off x="1358900" y="4052887"/>
            <a:ext cx="169862" cy="209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650" name="Google Shape;650;p44"/>
          <p:cNvSpPr txBox="1"/>
          <p:nvPr/>
        </p:nvSpPr>
        <p:spPr>
          <a:xfrm>
            <a:off x="1358900" y="4400550"/>
            <a:ext cx="169862" cy="2079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7142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400"/>
              <a:buFont typeface="MS Gothic"/>
              <a:buNone/>
            </a:pPr>
            <a:r>
              <a:rPr b="0" i="0" lang="en-US" sz="1400" u="none">
                <a:solidFill>
                  <a:srgbClr val="FF9800"/>
                </a:solidFill>
                <a:latin typeface="MS Gothic"/>
                <a:ea typeface="MS Gothic"/>
                <a:cs typeface="MS Gothic"/>
                <a:sym typeface="MS Gothic"/>
              </a:rPr>
              <a:t>●</a:t>
            </a:r>
            <a:endParaRPr/>
          </a:p>
        </p:txBody>
      </p:sp>
      <p:sp>
        <p:nvSpPr>
          <p:cNvPr id="651" name="Google Shape;651;p44"/>
          <p:cNvSpPr txBox="1"/>
          <p:nvPr/>
        </p:nvSpPr>
        <p:spPr>
          <a:xfrm>
            <a:off x="1644650" y="4432300"/>
            <a:ext cx="5487987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Monitoring performance and responding to changes in</a:t>
            </a:r>
            <a:endParaRPr/>
          </a:p>
        </p:txBody>
      </p:sp>
      <p:sp>
        <p:nvSpPr>
          <p:cNvPr id="652" name="Google Shape;652;p44"/>
          <p:cNvSpPr txBox="1"/>
          <p:nvPr/>
        </p:nvSpPr>
        <p:spPr>
          <a:xfrm>
            <a:off x="1644650" y="4678362"/>
            <a:ext cx="1355725" cy="2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b="0" i="0" lang="en-US" sz="1800" u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requirements</a:t>
            </a:r>
            <a:endParaRPr/>
          </a:p>
        </p:txBody>
      </p:sp>
      <p:sp>
        <p:nvSpPr>
          <p:cNvPr id="653" name="Google Shape;653;p44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5"/>
          <p:cNvSpPr/>
          <p:nvPr/>
        </p:nvSpPr>
        <p:spPr>
          <a:xfrm>
            <a:off x="8916987" y="5445125"/>
            <a:ext cx="227012" cy="47625"/>
          </a:xfrm>
          <a:custGeom>
            <a:rect b="b" l="l" r="r" t="t"/>
            <a:pathLst>
              <a:path extrusionOk="0" h="48260" w="227329">
                <a:moveTo>
                  <a:pt x="123169" y="1274"/>
                </a:moveTo>
                <a:lnTo>
                  <a:pt x="55869" y="1274"/>
                </a:lnTo>
                <a:lnTo>
                  <a:pt x="50779" y="5084"/>
                </a:lnTo>
                <a:lnTo>
                  <a:pt x="45719" y="5084"/>
                </a:lnTo>
                <a:lnTo>
                  <a:pt x="35539" y="7619"/>
                </a:lnTo>
                <a:lnTo>
                  <a:pt x="31729" y="10155"/>
                </a:lnTo>
                <a:lnTo>
                  <a:pt x="19049" y="16514"/>
                </a:lnTo>
                <a:lnTo>
                  <a:pt x="12679" y="19049"/>
                </a:lnTo>
                <a:lnTo>
                  <a:pt x="10149" y="24134"/>
                </a:lnTo>
                <a:lnTo>
                  <a:pt x="6339" y="26669"/>
                </a:lnTo>
                <a:lnTo>
                  <a:pt x="3809" y="31754"/>
                </a:lnTo>
                <a:lnTo>
                  <a:pt x="1249" y="38099"/>
                </a:lnTo>
                <a:lnTo>
                  <a:pt x="0" y="43184"/>
                </a:lnTo>
                <a:lnTo>
                  <a:pt x="0" y="46994"/>
                </a:lnTo>
                <a:lnTo>
                  <a:pt x="1249" y="48255"/>
                </a:lnTo>
                <a:lnTo>
                  <a:pt x="2529" y="46994"/>
                </a:lnTo>
                <a:lnTo>
                  <a:pt x="5059" y="43184"/>
                </a:lnTo>
                <a:lnTo>
                  <a:pt x="11429" y="39374"/>
                </a:lnTo>
                <a:lnTo>
                  <a:pt x="17769" y="34289"/>
                </a:lnTo>
                <a:lnTo>
                  <a:pt x="25389" y="30479"/>
                </a:lnTo>
                <a:lnTo>
                  <a:pt x="30479" y="29205"/>
                </a:lnTo>
                <a:lnTo>
                  <a:pt x="38099" y="24134"/>
                </a:lnTo>
                <a:lnTo>
                  <a:pt x="41909" y="24134"/>
                </a:lnTo>
                <a:lnTo>
                  <a:pt x="45719" y="22859"/>
                </a:lnTo>
                <a:lnTo>
                  <a:pt x="67892" y="22859"/>
                </a:lnTo>
                <a:lnTo>
                  <a:pt x="66019" y="16514"/>
                </a:lnTo>
                <a:lnTo>
                  <a:pt x="88838" y="16514"/>
                </a:lnTo>
                <a:lnTo>
                  <a:pt x="87629" y="11429"/>
                </a:lnTo>
                <a:lnTo>
                  <a:pt x="177789" y="11429"/>
                </a:lnTo>
                <a:lnTo>
                  <a:pt x="171449" y="10155"/>
                </a:lnTo>
                <a:lnTo>
                  <a:pt x="166359" y="8894"/>
                </a:lnTo>
                <a:lnTo>
                  <a:pt x="160019" y="8894"/>
                </a:lnTo>
                <a:lnTo>
                  <a:pt x="152399" y="6345"/>
                </a:lnTo>
                <a:lnTo>
                  <a:pt x="144779" y="6345"/>
                </a:lnTo>
                <a:lnTo>
                  <a:pt x="137159" y="5084"/>
                </a:lnTo>
                <a:lnTo>
                  <a:pt x="129539" y="2535"/>
                </a:lnTo>
                <a:lnTo>
                  <a:pt x="123169" y="1274"/>
                </a:lnTo>
                <a:close/>
              </a:path>
              <a:path extrusionOk="0" h="48260" w="227329">
                <a:moveTo>
                  <a:pt x="67892" y="22859"/>
                </a:moveTo>
                <a:lnTo>
                  <a:pt x="46969" y="22859"/>
                </a:lnTo>
                <a:lnTo>
                  <a:pt x="72389" y="38099"/>
                </a:lnTo>
                <a:lnTo>
                  <a:pt x="67892" y="22859"/>
                </a:lnTo>
                <a:close/>
              </a:path>
              <a:path extrusionOk="0" h="48260" w="227329">
                <a:moveTo>
                  <a:pt x="88838" y="16514"/>
                </a:moveTo>
                <a:lnTo>
                  <a:pt x="66019" y="16514"/>
                </a:lnTo>
                <a:lnTo>
                  <a:pt x="93969" y="38099"/>
                </a:lnTo>
                <a:lnTo>
                  <a:pt x="88838" y="16514"/>
                </a:lnTo>
                <a:close/>
              </a:path>
              <a:path extrusionOk="0" h="48260" w="227329">
                <a:moveTo>
                  <a:pt x="177789" y="11429"/>
                </a:moveTo>
                <a:lnTo>
                  <a:pt x="87629" y="11429"/>
                </a:lnTo>
                <a:lnTo>
                  <a:pt x="114299" y="38099"/>
                </a:lnTo>
                <a:lnTo>
                  <a:pt x="113019" y="15239"/>
                </a:lnTo>
                <a:lnTo>
                  <a:pt x="190499" y="15239"/>
                </a:lnTo>
                <a:lnTo>
                  <a:pt x="186689" y="13965"/>
                </a:lnTo>
                <a:lnTo>
                  <a:pt x="177789" y="11429"/>
                </a:lnTo>
                <a:close/>
              </a:path>
              <a:path extrusionOk="0" h="48260" w="227329">
                <a:moveTo>
                  <a:pt x="217169" y="21585"/>
                </a:moveTo>
                <a:lnTo>
                  <a:pt x="151119" y="21585"/>
                </a:lnTo>
                <a:lnTo>
                  <a:pt x="156209" y="22859"/>
                </a:lnTo>
                <a:lnTo>
                  <a:pt x="160019" y="22859"/>
                </a:lnTo>
                <a:lnTo>
                  <a:pt x="165079" y="24134"/>
                </a:lnTo>
                <a:lnTo>
                  <a:pt x="170169" y="24134"/>
                </a:lnTo>
                <a:lnTo>
                  <a:pt x="173979" y="25395"/>
                </a:lnTo>
                <a:lnTo>
                  <a:pt x="177789" y="25395"/>
                </a:lnTo>
                <a:lnTo>
                  <a:pt x="182879" y="26669"/>
                </a:lnTo>
                <a:lnTo>
                  <a:pt x="187939" y="26669"/>
                </a:lnTo>
                <a:lnTo>
                  <a:pt x="191749" y="29205"/>
                </a:lnTo>
                <a:lnTo>
                  <a:pt x="206989" y="31754"/>
                </a:lnTo>
                <a:lnTo>
                  <a:pt x="213359" y="33015"/>
                </a:lnTo>
                <a:lnTo>
                  <a:pt x="217169" y="33015"/>
                </a:lnTo>
                <a:lnTo>
                  <a:pt x="220979" y="34289"/>
                </a:lnTo>
                <a:lnTo>
                  <a:pt x="222229" y="34289"/>
                </a:lnTo>
                <a:lnTo>
                  <a:pt x="227319" y="25395"/>
                </a:lnTo>
                <a:lnTo>
                  <a:pt x="226039" y="24134"/>
                </a:lnTo>
                <a:lnTo>
                  <a:pt x="222229" y="22859"/>
                </a:lnTo>
                <a:lnTo>
                  <a:pt x="217169" y="21585"/>
                </a:lnTo>
                <a:close/>
              </a:path>
              <a:path extrusionOk="0" h="48260" w="227329">
                <a:moveTo>
                  <a:pt x="212079" y="19049"/>
                </a:moveTo>
                <a:lnTo>
                  <a:pt x="142219" y="19049"/>
                </a:lnTo>
                <a:lnTo>
                  <a:pt x="144779" y="21585"/>
                </a:lnTo>
                <a:lnTo>
                  <a:pt x="214609" y="21585"/>
                </a:lnTo>
                <a:lnTo>
                  <a:pt x="212079" y="19049"/>
                </a:lnTo>
                <a:close/>
              </a:path>
              <a:path extrusionOk="0" h="48260" w="227329">
                <a:moveTo>
                  <a:pt x="190499" y="15239"/>
                </a:moveTo>
                <a:lnTo>
                  <a:pt x="118109" y="15239"/>
                </a:lnTo>
                <a:lnTo>
                  <a:pt x="123169" y="16514"/>
                </a:lnTo>
                <a:lnTo>
                  <a:pt x="125729" y="16514"/>
                </a:lnTo>
                <a:lnTo>
                  <a:pt x="129539" y="17775"/>
                </a:lnTo>
                <a:lnTo>
                  <a:pt x="133349" y="17775"/>
                </a:lnTo>
                <a:lnTo>
                  <a:pt x="137159" y="19049"/>
                </a:lnTo>
                <a:lnTo>
                  <a:pt x="206989" y="19049"/>
                </a:lnTo>
                <a:lnTo>
                  <a:pt x="196839" y="16514"/>
                </a:lnTo>
                <a:lnTo>
                  <a:pt x="190499" y="15239"/>
                </a:lnTo>
                <a:close/>
              </a:path>
              <a:path extrusionOk="0" h="48260" w="227329">
                <a:moveTo>
                  <a:pt x="109209" y="0"/>
                </a:moveTo>
                <a:lnTo>
                  <a:pt x="67299" y="0"/>
                </a:lnTo>
                <a:lnTo>
                  <a:pt x="62209" y="1274"/>
                </a:lnTo>
                <a:lnTo>
                  <a:pt x="115549" y="1274"/>
                </a:lnTo>
                <a:lnTo>
                  <a:pt x="109209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9" name="Google Shape;659;p45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142113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100"/>
              <a:buFont typeface="Lucida Sans"/>
              <a:buNone/>
            </a:pPr>
            <a:r>
              <a:rPr b="1" i="0" lang="en-US" sz="4100" u="none" cap="none" strike="noStrike">
                <a:solidFill>
                  <a:schemeClr val="dk2"/>
                </a:solidFill>
                <a:latin typeface="Lucida Sans"/>
                <a:ea typeface="Lucida Sans"/>
                <a:cs typeface="Lucida Sans"/>
                <a:sym typeface="Lucida Sans"/>
              </a:rPr>
              <a:t>Overall System Structure</a:t>
            </a:r>
            <a:endParaRPr/>
          </a:p>
        </p:txBody>
      </p:sp>
      <p:sp>
        <p:nvSpPr>
          <p:cNvPr id="660" name="Google Shape;660;p45"/>
          <p:cNvSpPr/>
          <p:nvPr/>
        </p:nvSpPr>
        <p:spPr>
          <a:xfrm>
            <a:off x="2319337" y="1295400"/>
            <a:ext cx="5002212" cy="5202237"/>
          </a:xfrm>
          <a:custGeom>
            <a:rect b="b" l="l" r="r" t="t"/>
            <a:pathLst>
              <a:path extrusionOk="0" h="5721350" w="5002530">
                <a:moveTo>
                  <a:pt x="2501914" y="5721345"/>
                </a:moveTo>
                <a:lnTo>
                  <a:pt x="0" y="5721345"/>
                </a:lnTo>
                <a:lnTo>
                  <a:pt x="0" y="0"/>
                </a:lnTo>
                <a:lnTo>
                  <a:pt x="5002523" y="0"/>
                </a:lnTo>
                <a:lnTo>
                  <a:pt x="5002523" y="5721345"/>
                </a:lnTo>
                <a:lnTo>
                  <a:pt x="2501914" y="5721345"/>
                </a:lnTo>
                <a:close/>
              </a:path>
            </a:pathLst>
          </a:custGeom>
          <a:noFill/>
          <a:ln cap="flat" cmpd="sng" w="38075">
            <a:solidFill>
              <a:srgbClr val="CC32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45"/>
          <p:cNvSpPr txBox="1"/>
          <p:nvPr/>
        </p:nvSpPr>
        <p:spPr>
          <a:xfrm>
            <a:off x="2319337" y="1447800"/>
            <a:ext cx="4965700" cy="5026025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45"/>
          <p:cNvSpPr txBox="1"/>
          <p:nvPr/>
        </p:nvSpPr>
        <p:spPr>
          <a:xfrm>
            <a:off x="6727825" y="6408737"/>
            <a:ext cx="19192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</a:pPr>
            <a:r>
              <a:rPr b="0" i="0" lang="en-US" sz="1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DBMS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7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1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2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4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5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3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6_Concourse">
  <a:themeElements>
    <a:clrScheme name="Concourse">
      <a:dk1>
        <a:srgbClr val="000000"/>
      </a:dk1>
      <a:lt1>
        <a:srgbClr val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