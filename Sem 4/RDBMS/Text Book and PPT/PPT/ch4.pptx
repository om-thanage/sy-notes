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6858000" cx="9144000"/>
  <p:notesSz cx="6858000" cy="9144000"/>
  <p:embeddedFontLst>
    <p:embeddedFont>
      <p:font typeface="Tahoma"/>
      <p:regular r:id="rId69"/>
      <p:bold r:id="rId70"/>
    </p:embeddedFon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15">
          <p15:clr>
            <a:srgbClr val="000000"/>
          </p15:clr>
        </p15:guide>
        <p15:guide id="2" pos="53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15" orient="horz"/>
        <p:guide pos="53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HelveticaNeue-regular.fntdata"/><Relationship Id="rId70" Type="http://schemas.openxmlformats.org/officeDocument/2006/relationships/font" Target="fonts/Tahoma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Tahoma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 rot="5400000">
            <a:off x="2193131" y="-284957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5" name="Google Shape;6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0" name="Google Shape;70;p12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www.db-book.com/" TargetMode="Externa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1"/>
          <p:cNvSpPr txBox="1"/>
          <p:nvPr/>
        </p:nvSpPr>
        <p:spPr>
          <a:xfrm>
            <a:off x="2679700" y="5726112"/>
            <a:ext cx="3679825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1"/>
              </a:rPr>
              <a:t>www.db-book.com</a:t>
            </a: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descr="Icon11"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13" name="Google Shape;13;p1"/>
          <p:cNvPicPr preferRelativeResize="0"/>
          <p:nvPr/>
        </p:nvPicPr>
        <p:blipFill rotWithShape="1">
          <a:blip r:embed="rId3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759575" y="6613525"/>
            <a:ext cx="2387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4481512" y="6613525"/>
            <a:ext cx="4460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</a:t>
            </a:r>
            <a:fld id="{00000000-1234-1234-1234-123412341234}" type="slidenum"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3"/>
          <p:cNvSpPr txBox="1"/>
          <p:nvPr/>
        </p:nvSpPr>
        <p:spPr>
          <a:xfrm>
            <a:off x="0" y="6613525"/>
            <a:ext cx="2970212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Ed., July  2005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con11" id="31" name="Google Shape;3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32" name="Google Shape;32;p3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4: Advanced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4:  Advanced SQL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841375" y="1135062"/>
            <a:ext cx="6843712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Data Types and Schemas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and Procedural Constructs**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Queries**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SQL Features**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435100" y="-763587"/>
            <a:ext cx="1841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1217612" y="306387"/>
            <a:ext cx="7264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Built-in Data Types in SQL 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841375" y="1135062"/>
            <a:ext cx="7848600" cy="486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Dates, containing a (4 digit) year, month and date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‘2005-7-27’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time: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 of day, in hours, minutes and seconds.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‘09:00:30’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‘09:00:30.75’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date plus time of day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‘2005-7-27 09:00:30.75’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interval: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period of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interval  ‘1’ day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Subtracting a date/time/timestamp value from another gives an interval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Interval values can be added to date/time/timestamp values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290637" y="117475"/>
            <a:ext cx="7554912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Build-in Data Types in SQL (Cont.)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841375" y="1135062"/>
            <a:ext cx="6991350" cy="473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extract values of individual fields from date/time/timestamp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year 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r.starttime)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cast string types to date/time/timestamp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&lt;string-valued-expression&gt;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date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&lt;string-valued-expression&gt;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time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User-Defined Types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41375" y="1135062"/>
            <a:ext cx="7600950" cy="508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type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in SQL creates user-defined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create type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numeric (12,2) final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 in SQL-92 creates user-defined domain types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create domain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and domains are similar.  Domains can have constraints, such as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specified on them.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Constraints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841375" y="1135062"/>
            <a:ext cx="7661275" cy="444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constraints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the most elementary form of integrity constraint. They test values inserted in the database, and test queries to ensure that the comparisons make sense.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domains can be created from existing data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(12, 2)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Pounds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cannot assign or compare a value of type Dollars to a value of type Pounds.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we can convert type as below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Pounds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(Should also multiply by the dollar-to-pound conversion-rate)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Large-Object Types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 objects (photos, videos, CAD files, etc.) are stored as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 object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binary large object -- object is a large collection of uninterpreted binary data (whose interpretation is left to an application outside of the database system)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character large object -- object is a large collection of character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query returns a large object, a pointer is returned rather than the large object itself.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841375" y="1135062"/>
            <a:ext cx="6630987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guard against accidental damage to the database, by ensuring that authorized changes to the database do not result in a loss of data consistency.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checking account must have a balance greater than $10,000.00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salary of a bank employee must be at least $4.00 an hour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 must have a (non-null) phone number</a:t>
            </a:r>
            <a:endParaRPr/>
          </a:p>
          <a:p>
            <a:pPr indent="-194309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Constraints on a Single Relation 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841375" y="1135062"/>
            <a:ext cx="7573962" cy="264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predicate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 Constraint 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841375" y="1135062"/>
            <a:ext cx="7948612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branch_name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the domain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be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Dollars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Unique Constraint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841375" y="1135062"/>
            <a:ext cx="7947025" cy="459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unique specification states that the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2, …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candidate key.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 keys are permitted to be null (in contrast to primary keys).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1022350" y="1960562"/>
            <a:ext cx="7678737" cy="2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check clause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823912" y="1098550"/>
            <a:ext cx="6384925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predicate</a:t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1214437" y="1638300"/>
            <a:ext cx="6802437" cy="286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Declare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primary key for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ensure that the values of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non-negative.</a:t>
            </a:r>
            <a:endParaRPr b="1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     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&gt;=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0))</a:t>
            </a:r>
            <a:endParaRPr/>
          </a:p>
        </p:txBody>
      </p:sp>
      <p:sp>
        <p:nvSpPr>
          <p:cNvPr id="154" name="Google Shape;154;p25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465262" y="117475"/>
            <a:ext cx="7380287" cy="595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check clause (Cont.)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841375" y="1135062"/>
            <a:ext cx="7848600" cy="498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in SQL-92 permits domains to be restricted: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to ensure that an hourly_wage domain allows only values greater than a specified value.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hourly_wage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numeric(5,2)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constraint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value_test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= 4.00)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domain has a constraint that ensures that the hourly_wage is greater than 4.00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clause 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value_test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optional; useful to indicate which constraint an update violated.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Referential Integrity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841375" y="1135062"/>
            <a:ext cx="7886700" cy="521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Ensures that a value that appears in one relation for a given set of attributes also appears for a certain set of attributes in another relation.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If “Perryridge” is a branch name appearing in one of the tuples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relation, then there exists a tuple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 for branch “Perryridge”.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and candidate keys and foreign keys can be specified as part of the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lists attributes that comprise the primary key.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lists attributes that comprise a candidate key.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lists the attributes that comprise the foreign key and the name of the relation referenced by the foreign key. By default, a foreign key references the primary key attributes of the referenced table.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866775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Referential Integrity in SQL – Example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841375" y="1135062"/>
            <a:ext cx="6564312" cy="413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customer_street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customer_city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(branch_name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800100" y="228600"/>
            <a:ext cx="8539162" cy="427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Referential Integrity in SQL – Example (Cont.)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841375" y="1135062"/>
            <a:ext cx="6564312" cy="413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account_number),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account_number),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references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Assertions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predicate expressing a condition that we wish the database always to satisfy.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assertion in SQL takes the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assertion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&lt;assertion-name&gt;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&lt;predicate&gt;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an assertion is made, the system tests it for validity, and tests it again on every update that may violate the assertion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testing may introduce a significant amount of overhead; hence assertions should be used with great care.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Asserting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achieved in a round-about fashion using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not exists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not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assertion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&lt;assertion-name&gt;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&lt;predicate&gt;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 Example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838200" y="1135062"/>
            <a:ext cx="8305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loan has at least one borrower who maintains an account with a minimum balance or $1000.00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create assertion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balance_constraint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(not exists (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select *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not exists (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select *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loan.loan_number = borrower.loan_number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borrower.customer_name = depositor.customer_name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depositor.account_number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&gt;=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1000)))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 Example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6075" lvl="0" marL="346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sum of all loan amounts for each branch must be less than the sum of all account balances at the branch.</a:t>
            </a:r>
            <a:endParaRPr/>
          </a:p>
          <a:p>
            <a:pPr indent="-346075" lvl="0" marL="346075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create assertion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sum_constraint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exists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*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sum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loan.branch_name =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branch.branch_name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&gt;=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sum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loan.branch_name =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branch.branch_name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</a:t>
            </a:r>
            <a:endParaRPr/>
          </a:p>
        </p:txBody>
      </p:sp>
      <p:sp>
        <p:nvSpPr>
          <p:cNvPr id="208" name="Google Shape;208;p34"/>
          <p:cNvSpPr txBox="1"/>
          <p:nvPr>
            <p:ph idx="4294967295" type="body"/>
          </p:nvPr>
        </p:nvSpPr>
        <p:spPr>
          <a:xfrm>
            <a:off x="841375" y="1135062"/>
            <a:ext cx="81153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Forms of authorization on parts of  the database:</a:t>
            </a:r>
            <a:endParaRPr/>
          </a:p>
          <a:p>
            <a:pPr indent="-342900" lvl="0" marL="342900" marR="0" rtl="0" algn="l">
              <a:lnSpc>
                <a:spcPct val="16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reading, but not modification of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insertion of new data, but not modification of existing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modification, but not deletion of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deletion of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Forms of authorization to modify the database schema (covered in Chapter 8):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creation and deletion of indices.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creation of new relations.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Alteration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addition or deletion of attributes in a relation.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deletion of relations.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 Specification in SQL</a:t>
            </a:r>
            <a:endParaRPr/>
          </a:p>
        </p:txBody>
      </p:sp>
      <p:sp>
        <p:nvSpPr>
          <p:cNvPr id="214" name="Google Shape;214;p35"/>
          <p:cNvSpPr txBox="1"/>
          <p:nvPr>
            <p:ph idx="4294967295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is used to confer authorization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&lt;privilege list&gt;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&lt;relation name or view name&gt;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&lt;user list&gt;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&lt;user list&gt; is: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user-id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allows all valid users the privilege granted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role (more on this in Chapter 8)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Granting a privilege on a view does not imply granting any privileges on the underlying relations.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grantor of the privilege must already hold the privilege on the specified item (or be the database administrator).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Privileges in SQL</a:t>
            </a:r>
            <a:endParaRPr/>
          </a:p>
        </p:txBody>
      </p:sp>
      <p:sp>
        <p:nvSpPr>
          <p:cNvPr id="220" name="Google Shape;220;p36"/>
          <p:cNvSpPr txBox="1"/>
          <p:nvPr>
            <p:ph idx="4294967295" type="body"/>
          </p:nvPr>
        </p:nvSpPr>
        <p:spPr>
          <a:xfrm>
            <a:off x="841375" y="1135062"/>
            <a:ext cx="7289800" cy="4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allows read access to relation,or the ability to query using the view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grant users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authorization on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 select 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ability to insert tuples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ability  to update using the SQL update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ability to delete tuples.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privileges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used as a short form for all the allowable privileges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in Chapter 8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Revoking Authorization in SQL</a:t>
            </a:r>
            <a:endParaRPr/>
          </a:p>
        </p:txBody>
      </p:sp>
      <p:sp>
        <p:nvSpPr>
          <p:cNvPr id="226" name="Google Shape;226;p37"/>
          <p:cNvSpPr txBox="1"/>
          <p:nvPr>
            <p:ph idx="4294967295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is used to revoke authorization.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&lt;privilege list&gt;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&lt;relation name or view name&gt;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&lt;user list&gt;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revoke select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privileges that depend on the privilege being revoked are also revoked.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&lt;privilege-list&gt; may be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revoke all privileges the revokee may hold.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same privilege was granted twice to the same user by different grantees, the user may retain the privilege after the revocation.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SQL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SQL standard defines embeddings of SQL in a variety of programming languages such as C, Java, and Cobol.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language to which SQL queries are embedded is referred to as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 language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the SQL structures permitted in the host language comprise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basic form of these languages follows that of the System R embedding of SQL into PL/I.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 SQL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is used to identify embedded SQL request to the preprocessor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 &lt;embedded SQL statement &gt; END_EXEC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Note: this varies by language (for example, the Java embedding uses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                       # SQL { …. }; )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 the query in SQL and declare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for 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Eg: To find the customer names and their city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EXEC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cursor for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select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name, city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END_EXEC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828675" y="2233612"/>
            <a:ext cx="7970837" cy="333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 the query in SQL and declare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for 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EXEC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cursor for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depositor.customer_name, customer_city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customer,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 = customer.customer_name       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depositor 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&gt; :amount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END_EXEC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841375" y="1135062"/>
            <a:ext cx="72390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within a host language, find the names and cities of customers with more than the variable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dollars in some account.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SQL (Cont.)</a:t>
            </a:r>
            <a:endParaRPr/>
          </a:p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causes the query to be evaluated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END_EXEC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causes the values of one tuple in the query result to be placed on host language variables.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fetch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cn, :cc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END_EXEC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 calls to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get successive tuples in the query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variable called SQLSTATE in the SQL communication area (SQLCA) gets set to ‘02000’ to indicate no more data is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causes the database system to delete the temporary relation that holds the result of the query.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END_EXEC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above details vary with language.  For example, the Java embedding defines Java iterators to step through result tuples.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 Through Cursors</a:t>
            </a:r>
            <a:endParaRPr/>
          </a:p>
        </p:txBody>
      </p:sp>
      <p:sp>
        <p:nvSpPr>
          <p:cNvPr id="269" name="Google Shape;269;p44"/>
          <p:cNvSpPr txBox="1"/>
          <p:nvPr/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update tuples fetched by cursor by declaring that the cursor is for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 for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‘Perryridge’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update tuple at the current location of cursor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update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= 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current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SQL</a:t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841375" y="1135062"/>
            <a:ext cx="78295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programs to construct and submit SQL queries at run time.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the use of dynamic SQL from within a C program.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 *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sqlprog = “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= balance *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1.05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= ?”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dynprog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:sqlprog;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 = “A-101”;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dynprog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:account;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dynamic SQL program contains a ?, which is a place holder for a value that is provided when the SQL program is executed.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and JDBC</a:t>
            </a:r>
            <a:endParaRPr/>
          </a:p>
        </p:txBody>
      </p:sp>
      <p:sp>
        <p:nvSpPr>
          <p:cNvPr id="282" name="Google Shape;282;p46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(application-program interface) for a program to interact with a database server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makes calls 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 with the database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SQL commands to the database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 tuples of result one-by-one into program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(Open Database Connectivity) works with C, C++, C#, and Visual Basic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(Java Database Connectivity) works with Java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</a:t>
            </a:r>
            <a:endParaRPr/>
          </a:p>
        </p:txBody>
      </p:sp>
      <p:sp>
        <p:nvSpPr>
          <p:cNvPr id="288" name="Google Shape;288;p47"/>
          <p:cNvSpPr txBox="1"/>
          <p:nvPr>
            <p:ph idx="4294967295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DataBase Connectivity(ODBC) standard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for application program to communicate with a database server.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program interface (API) to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a connection with a database,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queries and updates,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back results.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 such as GUI, spreadsheets, etc. can use ODBC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 (Cont.)</a:t>
            </a:r>
            <a:endParaRPr/>
          </a:p>
        </p:txBody>
      </p:sp>
      <p:sp>
        <p:nvSpPr>
          <p:cNvPr id="294" name="Google Shape;294;p48"/>
          <p:cNvSpPr txBox="1"/>
          <p:nvPr>
            <p:ph idx="4294967295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database system supporting ODBC provides a "driver" library that must be linked with the client program.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client program makes an ODBC API call, the code in the library communicates with the server to carry out the requested action, and fetch results.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program first allocates an SQL environment, then a database connection handle.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 database connection using SQLConnect().  Parameters for SQLConnect: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connection handle,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server to which to connect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user identifier,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password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also specify types of arguments: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SQL_NTS denotes previous argument is a null-terminated string.</a:t>
            </a:r>
            <a:endParaRPr/>
          </a:p>
          <a:p>
            <a:pPr indent="-251459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552450" y="-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Code</a:t>
            </a:r>
            <a:endParaRPr/>
          </a:p>
        </p:txBody>
      </p:sp>
      <p:sp>
        <p:nvSpPr>
          <p:cNvPr id="300" name="Google Shape;300;p49"/>
          <p:cNvSpPr txBox="1"/>
          <p:nvPr>
            <p:ph idx="4294967295" type="body"/>
          </p:nvPr>
        </p:nvSpPr>
        <p:spPr>
          <a:xfrm>
            <a:off x="876300" y="1135062"/>
            <a:ext cx="82677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ODBCexample()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{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RETCODE error;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HENV    env;     /* environment */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HDBC    conn;  /* database connection */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SQLAllocEnv(&amp;env);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SQLAllocConnect(env, &amp;conn);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SQLConnect(conn, "aura.bell-labs.com", SQL_NTS, "avi", SQL_NTS, "avipasswd", SQL_NTS);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{ …. Do actual work … }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SQLDisconnect(conn);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SQLFreeConnect(conn);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SQLFreeEnv(env);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}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Code (Cont.)</a:t>
            </a:r>
            <a:endParaRPr/>
          </a:p>
        </p:txBody>
      </p:sp>
      <p:sp>
        <p:nvSpPr>
          <p:cNvPr id="306" name="Google Shape;306;p50"/>
          <p:cNvSpPr txBox="1"/>
          <p:nvPr>
            <p:ph idx="1" type="body"/>
          </p:nvPr>
        </p:nvSpPr>
        <p:spPr>
          <a:xfrm>
            <a:off x="841375" y="1135062"/>
            <a:ext cx="8026400" cy="554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sends SQL commands to the database by using SQLExecDirect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tuples are fetched using SQLFetch()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SQLBindCol() binds C language variables to attributes of the query result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tuple is fetched, its attribute values are automatically stored in corresponding C variables.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Arguments to SQLBindCol()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stmt variable, attribute position in query result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type conversion from SQL to C. 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address of the variable.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variable-length types like character arrays, 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maximum length of the variable 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Location to store actual length when a tuple is fetched.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 negative value returned for the length field indicates null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Good programming requires checking results of every function call for errors; we have omitted most checks for brevity.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Code (Cont.)</a:t>
            </a:r>
            <a:endParaRPr/>
          </a:p>
        </p:txBody>
      </p:sp>
      <p:sp>
        <p:nvSpPr>
          <p:cNvPr id="312" name="Google Shape;312;p51"/>
          <p:cNvSpPr txBox="1"/>
          <p:nvPr>
            <p:ph idx="1" type="body"/>
          </p:nvPr>
        </p:nvSpPr>
        <p:spPr>
          <a:xfrm>
            <a:off x="887412" y="1135062"/>
            <a:ext cx="8356600" cy="559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body of program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 branchname[80];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float  balance;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 lenOut1, lenOut2;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HSTMT   stmt;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SQLAllocStmt(conn, &amp;stmt);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 * sqlquery = "select branch_name, sum (balance)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from account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group by branch_name";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error = SQLExecDirect(stmt, sqlquery, SQL_NTS);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if (error == SQL_SUCCESS) {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SQLBindCol(stmt, 1, SQL_C_CHAR,   branchname , 80, &amp;lenOut1);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SQLBindCol(stmt, 2, SQL_C_FLOAT, &amp;balance,         0 , &amp;lenOut2);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while (SQLFetch(stmt) &gt;= SQL_SUCCESS) {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printf (" %s  %g\n", branchname, balance);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}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SQLFreeStmt(stmt, SQL_DROP);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/>
          <p:nvPr>
            <p:ph type="title"/>
          </p:nvPr>
        </p:nvSpPr>
        <p:spPr>
          <a:xfrm>
            <a:off x="552450" y="857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ODBC Features</a:t>
            </a:r>
            <a:endParaRPr/>
          </a:p>
        </p:txBody>
      </p:sp>
      <p:sp>
        <p:nvSpPr>
          <p:cNvPr id="318" name="Google Shape;318;p52"/>
          <p:cNvSpPr txBox="1"/>
          <p:nvPr>
            <p:ph idx="4294967295" type="body"/>
          </p:nvPr>
        </p:nvSpPr>
        <p:spPr>
          <a:xfrm>
            <a:off x="841375" y="1162050"/>
            <a:ext cx="8515350" cy="569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Prepared Statement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statement prepared: compiled at the database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have placeholders:  E.g.  insert into account values(?,?,?)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Repeatedly executed with actual values for the placeholders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Metadata features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all the relations in the database and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the names and types of columns of a query result or a relation in the database.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default, each SQL statement is treated as a separate transaction that is committed automatically.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turn off automatic commit on a connection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SQLSetConnectOption(conn, SQL_AUTOCOMMIT, 0)}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transactions must then be committed or rolled back explicitly by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SQLTransact(conn, SQL_COMMIT) or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SQLTransact(conn, SQL_ROLLBACK)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Conformance Levels</a:t>
            </a:r>
            <a:endParaRPr/>
          </a:p>
        </p:txBody>
      </p:sp>
      <p:sp>
        <p:nvSpPr>
          <p:cNvPr id="324" name="Google Shape;324;p53"/>
          <p:cNvSpPr txBox="1"/>
          <p:nvPr>
            <p:ph idx="4294967295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Conformance levels specify subsets of the functionality defined by the standard.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 1 requires support for metadata querying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 2 requires ability to send and retrieve arrays of parameter values and more detailed catalog information.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Call Level Interface (CLI) standard similar to ODBC interface, but with some minor differences.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</a:t>
            </a:r>
            <a:endParaRPr/>
          </a:p>
        </p:txBody>
      </p:sp>
      <p:sp>
        <p:nvSpPr>
          <p:cNvPr id="330" name="Google Shape;330;p54"/>
          <p:cNvSpPr txBox="1"/>
          <p:nvPr>
            <p:ph idx="1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Java API for communicating with database systems supporting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supports a variety of features for querying and updating data, and for retrieving query results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also supports metadata retrieval, such as querying about relations present in the database and the names and types of relation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for communicating with the database: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a connection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“statement”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queries using the Statement object to send queries and fetch results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Exception mechanism to handle errors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Code</a:t>
            </a:r>
            <a:endParaRPr/>
          </a:p>
        </p:txBody>
      </p:sp>
      <p:sp>
        <p:nvSpPr>
          <p:cNvPr id="336" name="Google Shape;336;p55"/>
          <p:cNvSpPr txBox="1"/>
          <p:nvPr>
            <p:ph idx="4294967295" type="body"/>
          </p:nvPr>
        </p:nvSpPr>
        <p:spPr>
          <a:xfrm>
            <a:off x="841375" y="1135062"/>
            <a:ext cx="8534400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 static void JDBCexample(String dbid, String userid, String passwd)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{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try {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Class.forName ("oracle.jdbc.driver.OracleDriver");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Connection conn = DriverManager.getConnection(   "jdbc:oracle:thin:@aura.bell-labs.com:2000:bankdb", userid, passwd);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Statement stmt = conn.createStatement();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… Do Actual Work ….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stmt.close();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conn.close();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catch (SQLException sqle) { 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System.out.println("SQLException : " + sqle);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	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}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Code (Cont.)</a:t>
            </a:r>
            <a:endParaRPr/>
          </a:p>
        </p:txBody>
      </p:sp>
      <p:sp>
        <p:nvSpPr>
          <p:cNvPr id="342" name="Google Shape;342;p56"/>
          <p:cNvSpPr txBox="1"/>
          <p:nvPr>
            <p:ph idx="1" type="body"/>
          </p:nvPr>
        </p:nvSpPr>
        <p:spPr>
          <a:xfrm>
            <a:off x="841375" y="1135062"/>
            <a:ext cx="8129587" cy="534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to database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{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stmt.executeUpdate(  "insert into account values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('A-9732', 'Perryridge', 1200)");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 catch (SQLException sqle) {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System.out.println("Could not insert tuple. " + sqle);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query and fetch and print results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ResultSet rset = stmt.executeQuery( "select branch_name, avg(balance) 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from account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group by branch_name");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(rset.next()) {		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System.out.println(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rset.getString("branch_name") + "  " + rset.getFloat(2));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		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Code Details       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Getting result fields: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rs.getString(“branchname”) and rs.getString(1) equivalent if branchname is the first argument of select result.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Dealing with Null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a = rs.getInt(“a”);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(rs.wasNull()) Systems.out.println(“Got null value”);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990600" y="-419100"/>
            <a:ext cx="80772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Extensions and Stored Procedures</a:t>
            </a:r>
            <a:endParaRPr/>
          </a:p>
        </p:txBody>
      </p:sp>
      <p:sp>
        <p:nvSpPr>
          <p:cNvPr id="354" name="Google Shape;354;p58"/>
          <p:cNvSpPr txBox="1"/>
          <p:nvPr>
            <p:ph idx="4294967295" type="body"/>
          </p:nvPr>
        </p:nvSpPr>
        <p:spPr>
          <a:xfrm>
            <a:off x="841375" y="1135062"/>
            <a:ext cx="7921625" cy="43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provides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language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Permits definition of procedures in SQL, with if-then-else statements, for and while loops, etc.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in Chapter 9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Stored Procedures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store procedures in the database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execute them using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 external applications to operate on the database without knowing about internal details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features are covered in Chapter 9 (Object Relational Databases)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and Procedures</a:t>
            </a:r>
            <a:endParaRPr/>
          </a:p>
        </p:txBody>
      </p:sp>
      <p:sp>
        <p:nvSpPr>
          <p:cNvPr id="360" name="Google Shape;360;p59"/>
          <p:cNvSpPr txBox="1"/>
          <p:nvPr>
            <p:ph idx="1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supports functions and procedures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Functions/procedures can be written in SQL itself, or in an external programming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are particularly useful with specialized data types such as images and geometric objects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functions to check if polygons overlap, or to compare images for similarity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database systems support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table-valued functions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can return a relation as a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also supports a rich set of imperative constructs, including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Loops, if-then-else, assignment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databases have proprietary procedural extensions to SQL that differ from SQL:1999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Functions</a:t>
            </a:r>
            <a:endParaRPr/>
          </a:p>
        </p:txBody>
      </p:sp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a function that, given the name of a customer, returns the count of the number of accounts owned by the customer.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function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integer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begin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select 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 =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a_count;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 and address of each customer that has more than one account.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customer_street, customer_city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&gt; 1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Functions</a:t>
            </a:r>
            <a:endParaRPr/>
          </a:p>
        </p:txBody>
      </p:sp>
      <p:sp>
        <p:nvSpPr>
          <p:cNvPr id="372" name="Google Shape;372;p61"/>
          <p:cNvSpPr txBox="1"/>
          <p:nvPr>
            <p:ph idx="1" type="body"/>
          </p:nvPr>
        </p:nvSpPr>
        <p:spPr>
          <a:xfrm>
            <a:off x="681037" y="857250"/>
            <a:ext cx="7794625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 added functions that return a relation as a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Return all accounts owned by a given customer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accounts_of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account_number, branch_name, balance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D.customer_name = accounts_of.customer_name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D.account_number = A.account_number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Functions (cont’d)</a:t>
            </a:r>
            <a:endParaRPr/>
          </a:p>
        </p:txBody>
      </p:sp>
      <p:sp>
        <p:nvSpPr>
          <p:cNvPr id="378" name="Google Shape;378;p62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*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from table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accounts_of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(‘Smith’))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1009650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Procedures</a:t>
            </a:r>
            <a:endParaRPr/>
          </a:p>
        </p:txBody>
      </p:sp>
      <p:sp>
        <p:nvSpPr>
          <p:cNvPr id="384" name="Google Shape;384;p63"/>
          <p:cNvSpPr txBox="1"/>
          <p:nvPr>
            <p:ph idx="4294967295" type="body"/>
          </p:nvPr>
        </p:nvSpPr>
        <p:spPr>
          <a:xfrm>
            <a:off x="841375" y="1135062"/>
            <a:ext cx="8054975" cy="5281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author_count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 could instead be written as procedure: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create procedure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account_count_proc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title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(20),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select 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 = account_count_proc.customer_name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Procedures can be invoked either from an SQL procedure or from embedded SQL,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account_count_proc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‘Smith’,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Procedures and functions can be invoked also from dynamic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allows more than one function/procedure of the same name (called name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overloading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as long as the number of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arguments differ, or at least the types of the arguments differ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Constructs</a:t>
            </a:r>
            <a:endParaRPr/>
          </a:p>
        </p:txBody>
      </p:sp>
      <p:sp>
        <p:nvSpPr>
          <p:cNvPr id="390" name="Google Shape;390;p64"/>
          <p:cNvSpPr txBox="1"/>
          <p:nvPr>
            <p:ph idx="4294967295" type="body"/>
          </p:nvPr>
        </p:nvSpPr>
        <p:spPr>
          <a:xfrm>
            <a:off x="841375" y="1135062"/>
            <a:ext cx="8364537" cy="57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Compound statement: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begin … end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May contain multiple SQL statements 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begin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Local variables can be declared within a compound statements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While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repeat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statements:</a:t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declare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integer default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0;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while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 10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</a:t>
            </a:r>
            <a:endParaRPr/>
          </a:p>
          <a:p>
            <a:pPr indent="-285750" lvl="1" marL="74295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    set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+ 1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end while</a:t>
            </a:r>
            <a:b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repeat</a:t>
            </a:r>
            <a:endParaRPr/>
          </a:p>
          <a:p>
            <a:pPr indent="-285750" lvl="1" marL="74295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set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1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until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0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end repeat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Constructs (Cont.)</a:t>
            </a:r>
            <a:endParaRPr/>
          </a:p>
        </p:txBody>
      </p:sp>
      <p:sp>
        <p:nvSpPr>
          <p:cNvPr id="396" name="Google Shape;396;p65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loop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Permits iteration over all results of a query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find total of all balances at the Perryridge branch</a:t>
            </a: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default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0;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‘Perryridge’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r.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for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Constructs (cont.)</a:t>
            </a:r>
            <a:endParaRPr/>
          </a:p>
        </p:txBody>
      </p:sp>
      <p:sp>
        <p:nvSpPr>
          <p:cNvPr id="402" name="Google Shape;402;p66"/>
          <p:cNvSpPr txBox="1"/>
          <p:nvPr>
            <p:ph idx="4294967295" type="body"/>
          </p:nvPr>
        </p:nvSpPr>
        <p:spPr>
          <a:xfrm>
            <a:off x="841375" y="1135062"/>
            <a:ext cx="79883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Conditional statements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if-then-else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To find sum of balances for each of three categories of accounts (with balance &lt;1000, &gt;=1000 and &lt;5000, &gt;= 5000)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1000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5000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if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also supports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similar to C case statement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Signaling of exception conditions, and declaring handlers for exceptions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out_of_stock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declare exit handler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out_of_stock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..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out-of-stock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handler here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 causes enclosing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begin..end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exited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actions possible on exception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Language Functions/Procedures</a:t>
            </a:r>
            <a:endParaRPr/>
          </a:p>
        </p:txBody>
      </p:sp>
      <p:sp>
        <p:nvSpPr>
          <p:cNvPr id="408" name="Google Shape;408;p67"/>
          <p:cNvSpPr txBox="1"/>
          <p:nvPr>
            <p:ph idx="1" type="body"/>
          </p:nvPr>
        </p:nvSpPr>
        <p:spPr>
          <a:xfrm>
            <a:off x="841375" y="1135062"/>
            <a:ext cx="8056562" cy="472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permits the use of functions and procedures written in other languages such as C or C++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Declaring external language procedures and functions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procedure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account_count_proc(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 /usr/avi/bin/account_count_proc’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function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‘/usr/avi/bin/author_count’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Language Routines (Cont.)</a:t>
            </a:r>
            <a:endParaRPr/>
          </a:p>
        </p:txBody>
      </p:sp>
      <p:sp>
        <p:nvSpPr>
          <p:cNvPr id="414" name="Google Shape;414;p68"/>
          <p:cNvSpPr txBox="1"/>
          <p:nvPr>
            <p:ph idx="4294967295" type="body"/>
          </p:nvPr>
        </p:nvSpPr>
        <p:spPr>
          <a:xfrm>
            <a:off x="841375" y="1135062"/>
            <a:ext cx="7937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 of external language functions/procedures: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efficient for many operations, and more expressive power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to implement function may need to be loaded into database system and executed in the database system’s address space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of accidental corruption of database structures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risk, allowing users access to unauthorized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alternatives, which give good security at the cost of potentially worse performance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execution in the database system’s space is used when efficiency is more important than security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with External Language Routines</a:t>
            </a:r>
            <a:endParaRPr/>
          </a:p>
        </p:txBody>
      </p:sp>
      <p:sp>
        <p:nvSpPr>
          <p:cNvPr id="420" name="Google Shape;420;p69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deal with security problems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sandbox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techniques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 use a safe language like Java, which cannot be used to access/damage other parts of the database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Or, run external language functions/procedures in a separate process, with no access to the database process’ memory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Parameters and results communicated via inter-process communication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have performance overheads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database systems support both above approaches as well as direct executing in database system address space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 in SQL</a:t>
            </a:r>
            <a:endParaRPr/>
          </a:p>
        </p:txBody>
      </p:sp>
      <p:sp>
        <p:nvSpPr>
          <p:cNvPr id="426" name="Google Shape;426;p70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permits recursive view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all employee-manager pairs, where the employee reports to the manager directly or indirectly (that is manager’s manager, manager’s manager’s manager, etc.)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recursive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employee_name, manager_name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manager.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loye_name)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example view,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called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transitive closure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Power of Recursion</a:t>
            </a:r>
            <a:endParaRPr/>
          </a:p>
        </p:txBody>
      </p:sp>
      <p:sp>
        <p:nvSpPr>
          <p:cNvPr id="432" name="Google Shape;432;p71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views make it possible to write queries, such as transitive closure queries, that cannot be written without recursion or iteration.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Intuition:  Without recursion, a non-recursive non-iterative program can perform only a fixed number of joins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itself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give only a fixed number of levels of managers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program we can construct a database with a greater number of levels of managers on which the program will not work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Computing transitive closure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next slide shows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step of the iterative process constructs an extended version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its recursive definition.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final result is called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point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recursive view definition.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views are required to be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monotonic.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is, if we add tuples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view contains all of the tuples it contained before, plus possibly more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2"/>
          <p:cNvSpPr txBox="1"/>
          <p:nvPr>
            <p:ph type="title"/>
          </p:nvPr>
        </p:nvSpPr>
        <p:spPr>
          <a:xfrm>
            <a:off x="962025" y="73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Fixed-Point Computation</a:t>
            </a:r>
            <a:endParaRPr/>
          </a:p>
        </p:txBody>
      </p:sp>
      <p:pic>
        <p:nvPicPr>
          <p:cNvPr id="438" name="Google Shape;438;p72"/>
          <p:cNvPicPr preferRelativeResize="0"/>
          <p:nvPr/>
        </p:nvPicPr>
        <p:blipFill rotWithShape="1">
          <a:blip r:embed="rId3">
            <a:alphaModFix/>
          </a:blip>
          <a:srcRect b="4022" l="463" r="697" t="3715"/>
          <a:stretch/>
        </p:blipFill>
        <p:spPr>
          <a:xfrm>
            <a:off x="2938462" y="1165225"/>
            <a:ext cx="3222625" cy="22558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39" name="Google Shape;439;p72"/>
          <p:cNvPicPr preferRelativeResize="0"/>
          <p:nvPr/>
        </p:nvPicPr>
        <p:blipFill rotWithShape="1">
          <a:blip r:embed="rId4">
            <a:alphaModFix/>
          </a:blip>
          <a:srcRect b="35525" l="592" r="591" t="35000"/>
          <a:stretch/>
        </p:blipFill>
        <p:spPr>
          <a:xfrm>
            <a:off x="806450" y="3987800"/>
            <a:ext cx="7664450" cy="17145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SQL Features**</a:t>
            </a:r>
            <a:endParaRPr/>
          </a:p>
        </p:txBody>
      </p:sp>
      <p:sp>
        <p:nvSpPr>
          <p:cNvPr id="445" name="Google Shape;445;p73"/>
          <p:cNvSpPr txBox="1"/>
          <p:nvPr>
            <p:ph idx="1" type="body"/>
          </p:nvPr>
        </p:nvSpPr>
        <p:spPr>
          <a:xfrm>
            <a:off x="814387" y="1093787"/>
            <a:ext cx="8032750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table with the same schema as an existing table: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temp_account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 allows subqueries to occur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value is required provided the subquery returns only one value.  This applies to updates as well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 allows subqueries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to access attributes of other relations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lateral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num_accounts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lateral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		 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A.customer_name = C.customer_name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this_customer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num_accounts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SQL Features (cont’d)</a:t>
            </a:r>
            <a:endParaRPr/>
          </a:p>
        </p:txBody>
      </p:sp>
      <p:sp>
        <p:nvSpPr>
          <p:cNvPr id="451" name="Google Shape;451;p7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 construct allows batch processing of updates.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funds_received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account_number, 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has batch of deposits to be added to the proper account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funds_received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matched then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update 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F.amount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