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6858000" cx="9144000"/>
  <p:notesSz cx="7315200" cy="9601200"/>
  <p:embeddedFontLst>
    <p:embeddedFont>
      <p:font typeface="Tahoma"/>
      <p:regular r:id="rId87"/>
      <p:bold r:id="rId88"/>
    </p:embeddedFont>
    <p:embeddedFont>
      <p:font typeface="Helvetica Neue"/>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7">
          <p15:clr>
            <a:srgbClr val="000000"/>
          </p15:clr>
        </p15:guide>
        <p15:guide id="2" pos="53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7" orient="horz"/>
        <p:guide pos="53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font" Target="fonts/Tahoma-bold.fntdata"/><Relationship Id="rId43" Type="http://schemas.openxmlformats.org/officeDocument/2006/relationships/slide" Target="slides/slide38.xml"/><Relationship Id="rId87" Type="http://schemas.openxmlformats.org/officeDocument/2006/relationships/font" Target="fonts/Tahoma-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HelveticaNeue-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HelveticaNeue-italic.fntdata"/><Relationship Id="rId90" Type="http://schemas.openxmlformats.org/officeDocument/2006/relationships/font" Target="fonts/HelveticaNeue-bold.fntdata"/><Relationship Id="rId92" Type="http://schemas.openxmlformats.org/officeDocument/2006/relationships/font" Target="fonts/HelveticaNeue-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7"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4143375" y="0"/>
            <a:ext cx="3170237"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20187"/>
            <a:ext cx="3170237"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4143375" y="9120187"/>
            <a:ext cx="3170237"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1" name="Google Shape;41;p1:notes"/>
          <p:cNvSpPr txBox="1"/>
          <p:nvPr>
            <p:ph idx="1" type="body"/>
          </p:nvPr>
        </p:nvSpPr>
        <p:spPr>
          <a:xfrm>
            <a:off x="974725" y="4560887"/>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5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5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5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5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5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5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5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5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5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5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5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6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6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6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6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6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6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6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6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6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6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6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7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7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7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7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72: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7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73: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7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4: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7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5: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7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76: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7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77: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7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78: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7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79: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7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80: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8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81:notes"/>
          <p:cNvSpPr txBox="1"/>
          <p:nvPr>
            <p:ph idx="1" type="body"/>
          </p:nvPr>
        </p:nvSpPr>
        <p:spPr>
          <a:xfrm>
            <a:off x="731837" y="4560887"/>
            <a:ext cx="5851525" cy="43195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8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db-book.com/" TargetMode="External"/><Relationship Id="rId3" Type="http://schemas.openxmlformats.org/officeDocument/2006/relationships/image" Target="../media/image5.jpg"/><Relationship Id="rId4"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DDDDDD"/>
            </a:gs>
            <a:gs pos="100000">
              <a:srgbClr val="F8F8F8"/>
            </a:gs>
          </a:gsLst>
          <a:lin ang="5400000" scaled="0"/>
        </a:gradFill>
      </p:bgPr>
    </p:bg>
    <p:spTree>
      <p:nvGrpSpPr>
        <p:cNvPr id="19" name="Shape 19"/>
        <p:cNvGrpSpPr/>
        <p:nvPr/>
      </p:nvGrpSpPr>
      <p:grpSpPr>
        <a:xfrm>
          <a:off x="0" y="0"/>
          <a:ext cx="0" cy="0"/>
          <a:chOff x="0" y="0"/>
          <a:chExt cx="0" cy="0"/>
        </a:xfrm>
      </p:grpSpPr>
      <p:sp>
        <p:nvSpPr>
          <p:cNvPr id="20" name="Google Shape;20;p2"/>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630"/>
              </a:spcBef>
              <a:spcAft>
                <a:spcPts val="0"/>
              </a:spcAft>
              <a:buSzPts val="1620"/>
              <a:buChar char="●"/>
              <a:defRPr/>
            </a:lvl1pPr>
            <a:lvl2pPr lvl="1" algn="l">
              <a:lnSpc>
                <a:spcPct val="100000"/>
              </a:lnSpc>
              <a:spcBef>
                <a:spcPts val="630"/>
              </a:spcBef>
              <a:spcAft>
                <a:spcPts val="0"/>
              </a:spcAft>
              <a:buSzPts val="1440"/>
              <a:buChar char="●"/>
              <a:defRPr/>
            </a:lvl2pPr>
            <a:lvl3pPr lvl="2" algn="l">
              <a:lnSpc>
                <a:spcPct val="100000"/>
              </a:lnSpc>
              <a:spcBef>
                <a:spcPts val="630"/>
              </a:spcBef>
              <a:spcAft>
                <a:spcPts val="0"/>
              </a:spcAft>
              <a:buSzPts val="1350"/>
              <a:buChar char="4"/>
              <a:defRPr/>
            </a:lvl3pPr>
            <a:lvl4pPr lvl="3" algn="l">
              <a:lnSpc>
                <a:spcPct val="100000"/>
              </a:lnSpc>
              <a:spcBef>
                <a:spcPts val="630"/>
              </a:spcBef>
              <a:spcAft>
                <a:spcPts val="0"/>
              </a:spcAft>
              <a:buSzPts val="1800"/>
              <a:buChar char="–"/>
              <a:defRPr/>
            </a:lvl4pPr>
            <a:lvl5pPr lvl="4" algn="l">
              <a:lnSpc>
                <a:spcPct val="100000"/>
              </a:lnSpc>
              <a:spcBef>
                <a:spcPts val="630"/>
              </a:spcBef>
              <a:spcAft>
                <a:spcPts val="0"/>
              </a:spcAft>
              <a:buSzPts val="1350"/>
              <a:buChar char="»"/>
              <a:defRPr/>
            </a:lvl5pPr>
            <a:lvl6pPr lvl="5" algn="l">
              <a:lnSpc>
                <a:spcPct val="100000"/>
              </a:lnSpc>
              <a:spcBef>
                <a:spcPts val="630"/>
              </a:spcBef>
              <a:spcAft>
                <a:spcPts val="0"/>
              </a:spcAft>
              <a:buSzPts val="1350"/>
              <a:buChar char="»"/>
              <a:defRPr/>
            </a:lvl6pPr>
            <a:lvl7pPr lvl="6" algn="l">
              <a:lnSpc>
                <a:spcPct val="100000"/>
              </a:lnSpc>
              <a:spcBef>
                <a:spcPts val="630"/>
              </a:spcBef>
              <a:spcAft>
                <a:spcPts val="0"/>
              </a:spcAft>
              <a:buSzPts val="1350"/>
              <a:buChar char="»"/>
              <a:defRPr/>
            </a:lvl7pPr>
            <a:lvl8pPr lvl="7" algn="l">
              <a:lnSpc>
                <a:spcPct val="100000"/>
              </a:lnSpc>
              <a:spcBef>
                <a:spcPts val="630"/>
              </a:spcBef>
              <a:spcAft>
                <a:spcPts val="0"/>
              </a:spcAft>
              <a:buSzPts val="1350"/>
              <a:buChar char="»"/>
              <a:defRPr/>
            </a:lvl8pPr>
            <a:lvl9pPr lvl="8" algn="l">
              <a:lnSpc>
                <a:spcPct val="100000"/>
              </a:lnSpc>
              <a:spcBef>
                <a:spcPts val="630"/>
              </a:spcBef>
              <a:spcAft>
                <a:spcPts val="0"/>
              </a:spcAft>
              <a:buSzPts val="1350"/>
              <a:buChar char="»"/>
              <a:defRPr/>
            </a:lvl9pPr>
          </a:lstStyle>
          <a:p/>
        </p:txBody>
      </p:sp>
      <p:sp>
        <p:nvSpPr>
          <p:cNvPr id="22" name="Google Shape;22;p2"/>
          <p:cNvSpPr txBox="1"/>
          <p:nvPr>
            <p:ph idx="11" type="ftr"/>
          </p:nvPr>
        </p:nvSpPr>
        <p:spPr>
          <a:xfrm>
            <a:off x="2862262" y="5780087"/>
            <a:ext cx="344805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 name="Google Shape;23;p2"/>
          <p:cNvSpPr txBox="1"/>
          <p:nvPr>
            <p:ph idx="12" type="sldNum"/>
          </p:nvPr>
        </p:nvSpPr>
        <p:spPr>
          <a:xfrm>
            <a:off x="6596062" y="6218237"/>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578963"/>
              </a:buClr>
              <a:buSzPts val="1400"/>
              <a:buFont typeface="Times New Roman"/>
              <a:buNone/>
              <a:defRPr b="0" i="0" sz="1400" u="none">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chemeClr val="lt2"/>
              </a:solidFill>
            </a:endParaRPr>
          </a:p>
        </p:txBody>
      </p:sp>
      <p:sp>
        <p:nvSpPr>
          <p:cNvPr id="24" name="Google Shape;24;p2"/>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 name="Google Shape;25;p2"/>
          <p:cNvSpPr txBox="1"/>
          <p:nvPr/>
        </p:nvSpPr>
        <p:spPr>
          <a:xfrm>
            <a:off x="2673350" y="5726112"/>
            <a:ext cx="3694112" cy="793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600"/>
              <a:buFont typeface="Helvetica Neue"/>
              <a:buNone/>
            </a:pPr>
            <a:r>
              <a:rPr b="1" i="0" lang="en-US" sz="1600" u="none">
                <a:solidFill>
                  <a:schemeClr val="dk2"/>
                </a:solidFill>
                <a:latin typeface="Helvetica Neue"/>
                <a:ea typeface="Helvetica Neue"/>
                <a:cs typeface="Helvetica Neue"/>
                <a:sym typeface="Helvetica Neue"/>
              </a:rPr>
              <a:t>Database System Concepts</a:t>
            </a:r>
            <a:endParaRPr b="0" i="0" sz="1600" u="none">
              <a:solidFill>
                <a:schemeClr val="dk1"/>
              </a:solidFill>
              <a:latin typeface="Helvetica Neue"/>
              <a:ea typeface="Helvetica Neue"/>
              <a:cs typeface="Helvetica Neue"/>
              <a:sym typeface="Helvetica Neue"/>
            </a:endParaRPr>
          </a:p>
          <a:p>
            <a:pPr indent="0" lvl="0" marL="0" marR="0" rtl="0" algn="ctr">
              <a:lnSpc>
                <a:spcPct val="100000"/>
              </a:lnSpc>
              <a:spcBef>
                <a:spcPts val="600"/>
              </a:spcBef>
              <a:spcAft>
                <a:spcPts val="0"/>
              </a:spcAft>
              <a:buClr>
                <a:schemeClr val="dk2"/>
              </a:buClr>
              <a:buSzPts val="1200"/>
              <a:buFont typeface="Helvetica Neue"/>
              <a:buNone/>
            </a:pPr>
            <a:r>
              <a:rPr b="1" i="0" lang="en-US" sz="1200" u="none">
                <a:solidFill>
                  <a:schemeClr val="dk2"/>
                </a:solidFill>
                <a:latin typeface="Helvetica Neue"/>
                <a:ea typeface="Helvetica Neue"/>
                <a:cs typeface="Helvetica Neue"/>
                <a:sym typeface="Helvetica Neue"/>
              </a:rPr>
              <a:t>©Silberschatz, Korth and Sudarshan</a:t>
            </a:r>
            <a:br>
              <a:rPr b="1" i="0" lang="en-US" sz="1200" u="none">
                <a:solidFill>
                  <a:schemeClr val="dk2"/>
                </a:solidFill>
                <a:latin typeface="Helvetica Neue"/>
                <a:ea typeface="Helvetica Neue"/>
                <a:cs typeface="Helvetica Neue"/>
                <a:sym typeface="Helvetica Neue"/>
              </a:rPr>
            </a:br>
            <a:r>
              <a:rPr b="1" i="0" lang="en-US" sz="1200" u="none">
                <a:solidFill>
                  <a:schemeClr val="dk2"/>
                </a:solidFill>
                <a:latin typeface="Helvetica Neue"/>
                <a:ea typeface="Helvetica Neue"/>
                <a:cs typeface="Helvetica Neue"/>
                <a:sym typeface="Helvetica Neue"/>
              </a:rPr>
              <a:t>See </a:t>
            </a:r>
            <a:r>
              <a:rPr b="1" i="0" lang="en-US" sz="1200" u="sng">
                <a:solidFill>
                  <a:schemeClr val="hlink"/>
                </a:solidFill>
                <a:latin typeface="Times New Roman"/>
                <a:ea typeface="Times New Roman"/>
                <a:cs typeface="Times New Roman"/>
                <a:sym typeface="Times New Roman"/>
                <a:hlinkClick r:id="rId2"/>
              </a:rPr>
              <a:t>www.db-book.com</a:t>
            </a:r>
            <a:r>
              <a:rPr b="1" i="0" lang="en-US" sz="1200" u="none">
                <a:solidFill>
                  <a:schemeClr val="dk2"/>
                </a:solidFill>
                <a:latin typeface="Helvetica Neue"/>
                <a:ea typeface="Helvetica Neue"/>
                <a:cs typeface="Helvetica Neue"/>
                <a:sym typeface="Helvetica Neue"/>
              </a:rPr>
              <a:t> for conditions on re-use </a:t>
            </a:r>
            <a:endParaRPr/>
          </a:p>
        </p:txBody>
      </p:sp>
      <p:pic>
        <p:nvPicPr>
          <p:cNvPr id="26" name="Google Shape;26;p2"/>
          <p:cNvPicPr preferRelativeResize="0"/>
          <p:nvPr/>
        </p:nvPicPr>
        <p:blipFill rotWithShape="1">
          <a:blip r:embed="rId3">
            <a:alphaModFix/>
          </a:blip>
          <a:srcRect b="0" l="0" r="0" t="0"/>
          <a:stretch/>
        </p:blipFill>
        <p:spPr>
          <a:xfrm>
            <a:off x="0" y="0"/>
            <a:ext cx="558800" cy="742950"/>
          </a:xfrm>
          <a:prstGeom prst="rect">
            <a:avLst/>
          </a:prstGeom>
          <a:noFill/>
          <a:ln>
            <a:noFill/>
          </a:ln>
        </p:spPr>
      </p:pic>
      <p:pic>
        <p:nvPicPr>
          <p:cNvPr id="27" name="Google Shape;27;p2"/>
          <p:cNvPicPr preferRelativeResize="0"/>
          <p:nvPr/>
        </p:nvPicPr>
        <p:blipFill rotWithShape="1">
          <a:blip r:embed="rId4">
            <a:alphaModFix/>
          </a:blip>
          <a:srcRect b="26144" l="0" r="0" t="0"/>
          <a:stretch/>
        </p:blipFill>
        <p:spPr>
          <a:xfrm>
            <a:off x="8528050" y="6053137"/>
            <a:ext cx="615950" cy="6143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1" name="Google Shape;31;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2" name="Google Shape;32;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solidFill>
                  <a:schemeClr val="lt2"/>
                </a:solidFill>
              </a:defRPr>
            </a:lvl1pPr>
            <a:lvl2pPr indent="0" lvl="1" marL="0" algn="r">
              <a:lnSpc>
                <a:spcPct val="100000"/>
              </a:lnSpc>
              <a:spcBef>
                <a:spcPts val="0"/>
              </a:spcBef>
              <a:spcAft>
                <a:spcPts val="0"/>
              </a:spcAft>
              <a:buNone/>
              <a:defRPr sz="1400">
                <a:solidFill>
                  <a:schemeClr val="lt2"/>
                </a:solidFill>
              </a:defRPr>
            </a:lvl2pPr>
            <a:lvl3pPr indent="0" lvl="2" marL="0" algn="r">
              <a:lnSpc>
                <a:spcPct val="100000"/>
              </a:lnSpc>
              <a:spcBef>
                <a:spcPts val="0"/>
              </a:spcBef>
              <a:spcAft>
                <a:spcPts val="0"/>
              </a:spcAft>
              <a:buNone/>
              <a:defRPr sz="1400">
                <a:solidFill>
                  <a:schemeClr val="lt2"/>
                </a:solidFill>
              </a:defRPr>
            </a:lvl3pPr>
            <a:lvl4pPr indent="0" lvl="3" marL="0" algn="r">
              <a:lnSpc>
                <a:spcPct val="100000"/>
              </a:lnSpc>
              <a:spcBef>
                <a:spcPts val="0"/>
              </a:spcBef>
              <a:spcAft>
                <a:spcPts val="0"/>
              </a:spcAft>
              <a:buNone/>
              <a:defRPr sz="1400">
                <a:solidFill>
                  <a:schemeClr val="lt2"/>
                </a:solidFill>
              </a:defRPr>
            </a:lvl4pPr>
            <a:lvl5pPr indent="0" lvl="4" marL="0" algn="r">
              <a:lnSpc>
                <a:spcPct val="100000"/>
              </a:lnSpc>
              <a:spcBef>
                <a:spcPts val="0"/>
              </a:spcBef>
              <a:spcAft>
                <a:spcPts val="0"/>
              </a:spcAft>
              <a:buNone/>
              <a:defRPr sz="1400">
                <a:solidFill>
                  <a:schemeClr val="lt2"/>
                </a:solidFill>
              </a:defRPr>
            </a:lvl5pPr>
            <a:lvl6pPr indent="0" lvl="5" marL="0" algn="r">
              <a:lnSpc>
                <a:spcPct val="100000"/>
              </a:lnSpc>
              <a:spcBef>
                <a:spcPts val="0"/>
              </a:spcBef>
              <a:spcAft>
                <a:spcPts val="0"/>
              </a:spcAft>
              <a:buNone/>
              <a:defRPr sz="1400">
                <a:solidFill>
                  <a:schemeClr val="lt2"/>
                </a:solidFill>
              </a:defRPr>
            </a:lvl6pPr>
            <a:lvl7pPr indent="0" lvl="6" marL="0" algn="r">
              <a:lnSpc>
                <a:spcPct val="100000"/>
              </a:lnSpc>
              <a:spcBef>
                <a:spcPts val="0"/>
              </a:spcBef>
              <a:spcAft>
                <a:spcPts val="0"/>
              </a:spcAft>
              <a:buNone/>
              <a:defRPr sz="1400">
                <a:solidFill>
                  <a:schemeClr val="lt2"/>
                </a:solidFill>
              </a:defRPr>
            </a:lvl7pPr>
            <a:lvl8pPr indent="0" lvl="7" marL="0" algn="r">
              <a:lnSpc>
                <a:spcPct val="100000"/>
              </a:lnSpc>
              <a:spcBef>
                <a:spcPts val="0"/>
              </a:spcBef>
              <a:spcAft>
                <a:spcPts val="0"/>
              </a:spcAft>
              <a:buNone/>
              <a:defRPr sz="1400">
                <a:solidFill>
                  <a:schemeClr val="lt2"/>
                </a:solidFill>
              </a:defRPr>
            </a:lvl8pPr>
            <a:lvl9pPr indent="0" lvl="8" marL="0" algn="r">
              <a:lnSpc>
                <a:spcPct val="100000"/>
              </a:lnSpc>
              <a:spcBef>
                <a:spcPts val="0"/>
              </a:spcBef>
              <a:spcAft>
                <a:spcPts val="0"/>
              </a:spcAft>
              <a:buNone/>
              <a:defRPr sz="14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3" name="Shape 33"/>
        <p:cNvGrpSpPr/>
        <p:nvPr/>
      </p:nvGrpSpPr>
      <p:grpSpPr>
        <a:xfrm>
          <a:off x="0" y="0"/>
          <a:ext cx="0" cy="0"/>
          <a:chOff x="0" y="0"/>
          <a:chExt cx="0" cy="0"/>
        </a:xfrm>
      </p:grpSpPr>
      <p:sp>
        <p:nvSpPr>
          <p:cNvPr id="34" name="Google Shape;34;p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4"/>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42900" lvl="3" marL="1828800" algn="l">
              <a:lnSpc>
                <a:spcPct val="100000"/>
              </a:lnSpc>
              <a:spcBef>
                <a:spcPts val="630"/>
              </a:spcBef>
              <a:spcAft>
                <a:spcPts val="0"/>
              </a:spcAft>
              <a:buSzPts val="180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6" name="Google Shape;36;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7" name="Google Shape;37;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8" name="Google Shape;38;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solidFill>
                  <a:schemeClr val="lt2"/>
                </a:solidFill>
              </a:defRPr>
            </a:lvl1pPr>
            <a:lvl2pPr indent="0" lvl="1" marL="0" algn="r">
              <a:lnSpc>
                <a:spcPct val="100000"/>
              </a:lnSpc>
              <a:spcBef>
                <a:spcPts val="0"/>
              </a:spcBef>
              <a:spcAft>
                <a:spcPts val="0"/>
              </a:spcAft>
              <a:buNone/>
              <a:defRPr sz="1400">
                <a:solidFill>
                  <a:schemeClr val="lt2"/>
                </a:solidFill>
              </a:defRPr>
            </a:lvl2pPr>
            <a:lvl3pPr indent="0" lvl="2" marL="0" algn="r">
              <a:lnSpc>
                <a:spcPct val="100000"/>
              </a:lnSpc>
              <a:spcBef>
                <a:spcPts val="0"/>
              </a:spcBef>
              <a:spcAft>
                <a:spcPts val="0"/>
              </a:spcAft>
              <a:buNone/>
              <a:defRPr sz="1400">
                <a:solidFill>
                  <a:schemeClr val="lt2"/>
                </a:solidFill>
              </a:defRPr>
            </a:lvl3pPr>
            <a:lvl4pPr indent="0" lvl="3" marL="0" algn="r">
              <a:lnSpc>
                <a:spcPct val="100000"/>
              </a:lnSpc>
              <a:spcBef>
                <a:spcPts val="0"/>
              </a:spcBef>
              <a:spcAft>
                <a:spcPts val="0"/>
              </a:spcAft>
              <a:buNone/>
              <a:defRPr sz="1400">
                <a:solidFill>
                  <a:schemeClr val="lt2"/>
                </a:solidFill>
              </a:defRPr>
            </a:lvl4pPr>
            <a:lvl5pPr indent="0" lvl="4" marL="0" algn="r">
              <a:lnSpc>
                <a:spcPct val="100000"/>
              </a:lnSpc>
              <a:spcBef>
                <a:spcPts val="0"/>
              </a:spcBef>
              <a:spcAft>
                <a:spcPts val="0"/>
              </a:spcAft>
              <a:buNone/>
              <a:defRPr sz="1400">
                <a:solidFill>
                  <a:schemeClr val="lt2"/>
                </a:solidFill>
              </a:defRPr>
            </a:lvl5pPr>
            <a:lvl6pPr indent="0" lvl="5" marL="0" algn="r">
              <a:lnSpc>
                <a:spcPct val="100000"/>
              </a:lnSpc>
              <a:spcBef>
                <a:spcPts val="0"/>
              </a:spcBef>
              <a:spcAft>
                <a:spcPts val="0"/>
              </a:spcAft>
              <a:buNone/>
              <a:defRPr sz="1400">
                <a:solidFill>
                  <a:schemeClr val="lt2"/>
                </a:solidFill>
              </a:defRPr>
            </a:lvl6pPr>
            <a:lvl7pPr indent="0" lvl="6" marL="0" algn="r">
              <a:lnSpc>
                <a:spcPct val="100000"/>
              </a:lnSpc>
              <a:spcBef>
                <a:spcPts val="0"/>
              </a:spcBef>
              <a:spcAft>
                <a:spcPts val="0"/>
              </a:spcAft>
              <a:buNone/>
              <a:defRPr sz="1400">
                <a:solidFill>
                  <a:schemeClr val="lt2"/>
                </a:solidFill>
              </a:defRPr>
            </a:lvl7pPr>
            <a:lvl8pPr indent="0" lvl="7" marL="0" algn="r">
              <a:lnSpc>
                <a:spcPct val="100000"/>
              </a:lnSpc>
              <a:spcBef>
                <a:spcPts val="0"/>
              </a:spcBef>
              <a:spcAft>
                <a:spcPts val="0"/>
              </a:spcAft>
              <a:buNone/>
              <a:defRPr sz="1400">
                <a:solidFill>
                  <a:schemeClr val="lt2"/>
                </a:solidFill>
              </a:defRPr>
            </a:lvl8pPr>
            <a:lvl9pPr indent="0" lvl="8" marL="0" algn="r">
              <a:lnSpc>
                <a:spcPct val="100000"/>
              </a:lnSpc>
              <a:spcBef>
                <a:spcPts val="0"/>
              </a:spcBef>
              <a:spcAft>
                <a:spcPts val="0"/>
              </a:spcAft>
              <a:buNone/>
              <a:defRPr sz="14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chemeClr va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rtl="0" algn="l">
              <a:lnSpc>
                <a:spcPct val="100000"/>
              </a:lnSpc>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1" name="Google Shape;11;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2"/>
              </a:buClr>
              <a:buSzPts val="1400"/>
              <a:buFont typeface="Times New Roman"/>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12" name="Google Shape;12;p1"/>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©Silberschatz, Korth and Sudarshan</a:t>
            </a:r>
            <a:endParaRPr/>
          </a:p>
        </p:txBody>
      </p:sp>
      <p:sp>
        <p:nvSpPr>
          <p:cNvPr id="13" name="Google Shape;13;p1"/>
          <p:cNvSpPr txBox="1"/>
          <p:nvPr/>
        </p:nvSpPr>
        <p:spPr>
          <a:xfrm>
            <a:off x="4446587" y="6613525"/>
            <a:ext cx="5143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17.</a:t>
            </a:r>
            <a:fld id="{00000000-1234-1234-1234-123412341234}" type="slidenum">
              <a:rPr b="1" i="0" lang="en-US" sz="1000" u="none" cap="none" strike="noStrike">
                <a:solidFill>
                  <a:schemeClr val="dk2"/>
                </a:solidFill>
                <a:latin typeface="Helvetica Neue"/>
                <a:ea typeface="Helvetica Neue"/>
                <a:cs typeface="Helvetica Neue"/>
                <a:sym typeface="Helvetica Neue"/>
              </a:rPr>
              <a:t>‹#›</a:t>
            </a:fld>
            <a:endParaRPr/>
          </a:p>
        </p:txBody>
      </p:sp>
      <p:sp>
        <p:nvSpPr>
          <p:cNvPr id="14" name="Google Shape;14;p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1pPr>
            <a:lvl2pPr lvl="1"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lnSpc>
                <a:spcPct val="100000"/>
              </a:lnSpc>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15" name="Google Shape;15;p1"/>
          <p:cNvSpPr txBox="1"/>
          <p:nvPr/>
        </p:nvSpPr>
        <p:spPr>
          <a:xfrm>
            <a:off x="0" y="6613525"/>
            <a:ext cx="229552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000"/>
              <a:buFont typeface="Helvetica Neue"/>
              <a:buNone/>
            </a:pPr>
            <a:r>
              <a:rPr b="1" i="0" lang="en-US" sz="1000" u="none" cap="none" strike="noStrike">
                <a:solidFill>
                  <a:schemeClr val="dk2"/>
                </a:solidFill>
                <a:latin typeface="Helvetica Neue"/>
                <a:ea typeface="Helvetica Neue"/>
                <a:cs typeface="Helvetica Neue"/>
                <a:sym typeface="Helvetica Neue"/>
              </a:rPr>
              <a:t>Database System Concepts, 5</a:t>
            </a:r>
            <a:r>
              <a:rPr b="1" baseline="30000" i="0" lang="en-US" sz="1000" u="none" cap="none" strike="noStrike">
                <a:solidFill>
                  <a:schemeClr val="dk2"/>
                </a:solidFill>
                <a:latin typeface="Helvetica Neue"/>
                <a:ea typeface="Helvetica Neue"/>
                <a:cs typeface="Helvetica Neue"/>
                <a:sym typeface="Helvetica Neue"/>
              </a:rPr>
              <a:t>th</a:t>
            </a:r>
            <a:r>
              <a:rPr b="1" i="0" lang="en-US" sz="1000" u="none" cap="none" strike="noStrike">
                <a:solidFill>
                  <a:schemeClr val="dk2"/>
                </a:solidFill>
                <a:latin typeface="Helvetica Neue"/>
                <a:ea typeface="Helvetica Neue"/>
                <a:cs typeface="Helvetica Neue"/>
                <a:sym typeface="Helvetica Neue"/>
              </a:rPr>
              <a:t> Ed.</a:t>
            </a:r>
            <a:endParaRPr/>
          </a:p>
        </p:txBody>
      </p:sp>
      <p:sp>
        <p:nvSpPr>
          <p:cNvPr id="16" name="Google Shape;16;p1"/>
          <p:cNvSpPr/>
          <p:nvPr/>
        </p:nvSpPr>
        <p:spPr>
          <a:xfrm>
            <a:off x="8916987" y="5445125"/>
            <a:ext cx="227012" cy="47625"/>
          </a:xfrm>
          <a:custGeom>
            <a:rect b="b" l="l" r="r" t="t"/>
            <a:pathLst>
              <a:path extrusionOk="0" h="61" w="285">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lnTo>
                  <a:pt x="2" y="6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7" name="Google Shape;17;p1"/>
          <p:cNvPicPr preferRelativeResize="0"/>
          <p:nvPr/>
        </p:nvPicPr>
        <p:blipFill rotWithShape="1">
          <a:blip r:embed="rId1">
            <a:alphaModFix/>
          </a:blip>
          <a:srcRect b="0" l="0" r="0" t="0"/>
          <a:stretch/>
        </p:blipFill>
        <p:spPr>
          <a:xfrm>
            <a:off x="0" y="0"/>
            <a:ext cx="660400" cy="877887"/>
          </a:xfrm>
          <a:prstGeom prst="rect">
            <a:avLst/>
          </a:prstGeom>
          <a:noFill/>
          <a:ln>
            <a:noFill/>
          </a:ln>
        </p:spPr>
      </p:pic>
      <p:pic>
        <p:nvPicPr>
          <p:cNvPr id="18" name="Google Shape;18;p1"/>
          <p:cNvPicPr preferRelativeResize="0"/>
          <p:nvPr/>
        </p:nvPicPr>
        <p:blipFill rotWithShape="1">
          <a:blip r:embed="rId2">
            <a:alphaModFix/>
          </a:blip>
          <a:srcRect b="26144" l="0" r="0" t="0"/>
          <a:stretch/>
        </p:blipFill>
        <p:spPr>
          <a:xfrm>
            <a:off x="8528050" y="6053137"/>
            <a:ext cx="615950" cy="6143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2" name="Shape 42"/>
        <p:cNvGrpSpPr/>
        <p:nvPr/>
      </p:nvGrpSpPr>
      <p:grpSpPr>
        <a:xfrm>
          <a:off x="0" y="0"/>
          <a:ext cx="0" cy="0"/>
          <a:chOff x="0" y="0"/>
          <a:chExt cx="0" cy="0"/>
        </a:xfrm>
      </p:grpSpPr>
      <p:sp>
        <p:nvSpPr>
          <p:cNvPr id="43" name="Google Shape;43;p5"/>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17: Recovery System</a:t>
            </a:r>
            <a:endParaRPr/>
          </a:p>
        </p:txBody>
      </p:sp>
      <p:sp>
        <p:nvSpPr>
          <p:cNvPr id="44" name="Google Shape;44;p5"/>
          <p:cNvSpPr txBox="1"/>
          <p:nvPr>
            <p:ph idx="1" type="subTitle"/>
          </p:nvPr>
        </p:nvSpPr>
        <p:spPr>
          <a:xfrm>
            <a:off x="1314450" y="4772025"/>
            <a:ext cx="6400800" cy="561975"/>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620"/>
              <a:buNone/>
            </a:pPr>
            <a:r>
              <a:rPr b="1" i="0" lang="en-US" sz="1800" u="none">
                <a:solidFill>
                  <a:schemeClr val="dk1"/>
                </a:solidFill>
                <a:latin typeface="Helvetica Neue"/>
                <a:ea typeface="Helvetica Neue"/>
                <a:cs typeface="Helvetica Neue"/>
                <a:sym typeface="Helvetica Neue"/>
              </a:rPr>
              <a:t>Version:  Oct 5, 2006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8" name="Shape 48"/>
        <p:cNvGrpSpPr/>
        <p:nvPr/>
      </p:nvGrpSpPr>
      <p:grpSpPr>
        <a:xfrm>
          <a:off x="0" y="0"/>
          <a:ext cx="0" cy="0"/>
          <a:chOff x="0" y="0"/>
          <a:chExt cx="0" cy="0"/>
        </a:xfrm>
      </p:grpSpPr>
      <p:sp>
        <p:nvSpPr>
          <p:cNvPr id="49" name="Google Shape;49;p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Chapter 17: Recovery System</a:t>
            </a:r>
            <a:endParaRPr/>
          </a:p>
        </p:txBody>
      </p:sp>
      <p:sp>
        <p:nvSpPr>
          <p:cNvPr id="50" name="Google Shape;50;p6"/>
          <p:cNvSpPr txBox="1"/>
          <p:nvPr>
            <p:ph idx="4294967295" type="body"/>
          </p:nvPr>
        </p:nvSpPr>
        <p:spPr>
          <a:xfrm>
            <a:off x="842962" y="11064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Failure Classification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Storage Structure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Recovery and Atomicity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Log-Based Recovery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Shadow Paging</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Recovery With Concurrent Transactions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Buffer Management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Failure with Loss of Nonvolatile Storage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Advanced Recovery Techniques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ARIES Recovery Algorithm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Remote Backup Systems</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4" name="Shape 54"/>
        <p:cNvGrpSpPr/>
        <p:nvPr/>
      </p:nvGrpSpPr>
      <p:grpSpPr>
        <a:xfrm>
          <a:off x="0" y="0"/>
          <a:ext cx="0" cy="0"/>
          <a:chOff x="0" y="0"/>
          <a:chExt cx="0" cy="0"/>
        </a:xfrm>
      </p:grpSpPr>
      <p:sp>
        <p:nvSpPr>
          <p:cNvPr id="55" name="Google Shape;55;p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Failure Classification</a:t>
            </a:r>
            <a:endParaRPr/>
          </a:p>
        </p:txBody>
      </p:sp>
      <p:sp>
        <p:nvSpPr>
          <p:cNvPr id="56" name="Google Shape;56;p7"/>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Transaction failure</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Logical errors</a:t>
            </a:r>
            <a:r>
              <a:rPr b="0" i="0" lang="en-US" sz="1800" u="none" cap="none" strike="noStrike">
                <a:solidFill>
                  <a:schemeClr val="dk1"/>
                </a:solidFill>
                <a:latin typeface="Helvetica Neue"/>
                <a:ea typeface="Helvetica Neue"/>
                <a:cs typeface="Helvetica Neue"/>
                <a:sym typeface="Helvetica Neue"/>
              </a:rPr>
              <a:t>: transaction cannot complete due to some internal error condition</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System errors</a:t>
            </a:r>
            <a:r>
              <a:rPr b="0" i="0" lang="en-US" sz="1800" u="none" cap="none" strike="noStrike">
                <a:solidFill>
                  <a:schemeClr val="dk1"/>
                </a:solidFill>
                <a:latin typeface="Helvetica Neue"/>
                <a:ea typeface="Helvetica Neue"/>
                <a:cs typeface="Helvetica Neue"/>
                <a:sym typeface="Helvetica Neue"/>
              </a:rPr>
              <a:t>: the database system must terminate an active transaction due to an error condition (e.g., deadlock)</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System crash</a:t>
            </a:r>
            <a:r>
              <a:rPr b="0" i="0" lang="en-US" sz="1800" u="none">
                <a:solidFill>
                  <a:schemeClr val="dk1"/>
                </a:solidFill>
                <a:latin typeface="Helvetica Neue"/>
                <a:ea typeface="Helvetica Neue"/>
                <a:cs typeface="Helvetica Neue"/>
                <a:sym typeface="Helvetica Neue"/>
              </a:rPr>
              <a:t>: a power failure or other hardware or software failure causes the system to crash.</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Fail-stop assumption</a:t>
            </a:r>
            <a:r>
              <a:rPr b="0" i="0" lang="en-US" sz="1800" u="none" cap="none" strike="noStrike">
                <a:solidFill>
                  <a:schemeClr val="dk1"/>
                </a:solidFill>
                <a:latin typeface="Helvetica Neue"/>
                <a:ea typeface="Helvetica Neue"/>
                <a:cs typeface="Helvetica Neue"/>
                <a:sym typeface="Helvetica Neue"/>
              </a:rPr>
              <a:t>: non-volatile storage contents are assumed to not be corrupted by system crash</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Database systems have numerous integrity checks to prevent corruption of disk data </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Disk failure</a:t>
            </a:r>
            <a:r>
              <a:rPr b="0" i="0" lang="en-US" sz="1800" u="none">
                <a:solidFill>
                  <a:schemeClr val="dk1"/>
                </a:solidFill>
                <a:latin typeface="Helvetica Neue"/>
                <a:ea typeface="Helvetica Neue"/>
                <a:cs typeface="Helvetica Neue"/>
                <a:sym typeface="Helvetica Neue"/>
              </a:rPr>
              <a:t>: a head crash or similar disk failure destroys all or part of disk storage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Destruction is assumed to be detectable: disk drives use checksums to detect failures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0" name="Shape 60"/>
        <p:cNvGrpSpPr/>
        <p:nvPr/>
      </p:nvGrpSpPr>
      <p:grpSpPr>
        <a:xfrm>
          <a:off x="0" y="0"/>
          <a:ext cx="0" cy="0"/>
          <a:chOff x="0" y="0"/>
          <a:chExt cx="0" cy="0"/>
        </a:xfrm>
      </p:grpSpPr>
      <p:sp>
        <p:nvSpPr>
          <p:cNvPr id="61" name="Google Shape;61;p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Recovery Algorithms</a:t>
            </a:r>
            <a:endParaRPr/>
          </a:p>
        </p:txBody>
      </p:sp>
      <p:sp>
        <p:nvSpPr>
          <p:cNvPr id="62" name="Google Shape;62;p8"/>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algorithms are techniques to ensure database consistency and transaction atomicity and durability despite failures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Focus of this chapter</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algorithms have two parts</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Actions taken during normal transaction processing to ensure enough information exists to recover from failures</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Actions taken after a failure to recover the database contents to a state that ensures atomicity, consistency and durability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6" name="Shape 66"/>
        <p:cNvGrpSpPr/>
        <p:nvPr/>
      </p:nvGrpSpPr>
      <p:grpSpPr>
        <a:xfrm>
          <a:off x="0" y="0"/>
          <a:ext cx="0" cy="0"/>
          <a:chOff x="0" y="0"/>
          <a:chExt cx="0" cy="0"/>
        </a:xfrm>
      </p:grpSpPr>
      <p:sp>
        <p:nvSpPr>
          <p:cNvPr id="67" name="Google Shape;67;p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Storage Structure</a:t>
            </a:r>
            <a:endParaRPr/>
          </a:p>
        </p:txBody>
      </p:sp>
      <p:sp>
        <p:nvSpPr>
          <p:cNvPr id="68" name="Google Shape;68;p9"/>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Volatile storage</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does not survive system crashes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examples: main memory, cache memory</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Nonvolatile storage</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survives system crashes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examples: disk, tape, flash memory,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non-volatile (battery backed up) RAM </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Stable storage</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mythical form of storage that survives all failures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approximated by maintaining multiple copies on distinct nonvolatile media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2" name="Shape 72"/>
        <p:cNvGrpSpPr/>
        <p:nvPr/>
      </p:nvGrpSpPr>
      <p:grpSpPr>
        <a:xfrm>
          <a:off x="0" y="0"/>
          <a:ext cx="0" cy="0"/>
          <a:chOff x="0" y="0"/>
          <a:chExt cx="0" cy="0"/>
        </a:xfrm>
      </p:grpSpPr>
      <p:sp>
        <p:nvSpPr>
          <p:cNvPr id="73" name="Google Shape;73;p1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Stable-Storage Implementation</a:t>
            </a:r>
            <a:endParaRPr/>
          </a:p>
        </p:txBody>
      </p:sp>
      <p:sp>
        <p:nvSpPr>
          <p:cNvPr id="74" name="Google Shape;74;p10"/>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Maintain multiple copies of each block on separate disks</a:t>
            </a:r>
            <a:endParaRPr/>
          </a:p>
          <a:p>
            <a:pPr indent="-304800" lvl="1" marL="7620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copies can be at remote sites to protect against disasters such as fire or flooding.</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Failure during data transfer can still result in inconsistent copies: Block transfer can result in</a:t>
            </a:r>
            <a:endParaRPr/>
          </a:p>
          <a:p>
            <a:pPr indent="-304800" lvl="1" marL="7620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Successful completion</a:t>
            </a:r>
            <a:endParaRPr/>
          </a:p>
          <a:p>
            <a:pPr indent="-304800" lvl="1" marL="7620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Partial failure: destination block has incorrect information</a:t>
            </a:r>
            <a:endParaRPr/>
          </a:p>
          <a:p>
            <a:pPr indent="-304800" lvl="1" marL="7620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Total failure: destination block was never updated</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Protecting storage media from failure during data transfer (one solution):</a:t>
            </a:r>
            <a:endParaRPr/>
          </a:p>
          <a:p>
            <a:pPr indent="-304800" lvl="1" marL="7620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Execute output operation as follows (assuming two copies of each block):</a:t>
            </a:r>
            <a:endParaRPr/>
          </a:p>
          <a:p>
            <a:pPr indent="-304800" lvl="2" marL="11620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Write the information onto the first physical block.</a:t>
            </a:r>
            <a:endParaRPr/>
          </a:p>
          <a:p>
            <a:pPr indent="-304800" lvl="2" marL="11620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When the first write successfully completes, write the same information onto the second physical block.</a:t>
            </a:r>
            <a:endParaRPr/>
          </a:p>
          <a:p>
            <a:pPr indent="-304800" lvl="2" marL="1162050" marR="0" rtl="0" algn="l">
              <a:lnSpc>
                <a:spcPct val="90000"/>
              </a:lnSpc>
              <a:spcBef>
                <a:spcPts val="630"/>
              </a:spcBef>
              <a:spcAft>
                <a:spcPts val="0"/>
              </a:spcAft>
              <a:buClr>
                <a:srgbClr val="33CC33"/>
              </a:buClr>
              <a:buSzPts val="1350"/>
              <a:buFont typeface="Arial"/>
              <a:buAutoNum type="arabicPeriod"/>
            </a:pPr>
            <a:r>
              <a:rPr b="0" i="0" lang="en-US" sz="1800" u="none" cap="none" strike="noStrike">
                <a:solidFill>
                  <a:schemeClr val="dk1"/>
                </a:solidFill>
                <a:latin typeface="Helvetica Neue"/>
                <a:ea typeface="Helvetica Neue"/>
                <a:cs typeface="Helvetica Neue"/>
                <a:sym typeface="Helvetica Neue"/>
              </a:rPr>
              <a:t>The output is completed only after the second write successfully completes.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8" name="Shape 78"/>
        <p:cNvGrpSpPr/>
        <p:nvPr/>
      </p:nvGrpSpPr>
      <p:grpSpPr>
        <a:xfrm>
          <a:off x="0" y="0"/>
          <a:ext cx="0" cy="0"/>
          <a:chOff x="0" y="0"/>
          <a:chExt cx="0" cy="0"/>
        </a:xfrm>
      </p:grpSpPr>
      <p:sp>
        <p:nvSpPr>
          <p:cNvPr id="79" name="Google Shape;79;p11"/>
          <p:cNvSpPr txBox="1"/>
          <p:nvPr>
            <p:ph type="title"/>
          </p:nvPr>
        </p:nvSpPr>
        <p:spPr>
          <a:xfrm>
            <a:off x="762000" y="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Stable-Storage Implementation (Cont.)</a:t>
            </a:r>
            <a:endParaRPr/>
          </a:p>
        </p:txBody>
      </p:sp>
      <p:sp>
        <p:nvSpPr>
          <p:cNvPr id="80" name="Google Shape;80;p11"/>
          <p:cNvSpPr txBox="1"/>
          <p:nvPr>
            <p:ph idx="4294967295" type="body"/>
          </p:nvPr>
        </p:nvSpPr>
        <p:spPr>
          <a:xfrm>
            <a:off x="842962" y="1106487"/>
            <a:ext cx="8382000" cy="4876800"/>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Protecting storage media from failure during data transfer (cont.):</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Copies of a block may differ due to failure during output operation. To recover from failure:</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First find inconsistent blocks:</a:t>
            </a:r>
            <a:endParaRPr/>
          </a:p>
          <a:p>
            <a:pPr indent="-342900" lvl="2" marL="1200150" marR="0" rtl="0" algn="l">
              <a:lnSpc>
                <a:spcPct val="100000"/>
              </a:lnSpc>
              <a:spcBef>
                <a:spcPts val="630"/>
              </a:spcBef>
              <a:spcAft>
                <a:spcPts val="0"/>
              </a:spcAft>
              <a:buClr>
                <a:srgbClr val="33CC33"/>
              </a:buClr>
              <a:buSzPts val="1350"/>
              <a:buFont typeface="Arial"/>
              <a:buAutoNum type="arabicPeriod"/>
            </a:pPr>
            <a:r>
              <a:rPr b="0" i="1" lang="en-US" sz="1800" u="none" cap="none" strike="noStrike">
                <a:solidFill>
                  <a:schemeClr val="dk1"/>
                </a:solidFill>
                <a:latin typeface="Helvetica Neue"/>
                <a:ea typeface="Helvetica Neue"/>
                <a:cs typeface="Helvetica Neue"/>
                <a:sym typeface="Helvetica Neue"/>
              </a:rPr>
              <a:t>Expensive solution</a:t>
            </a:r>
            <a:r>
              <a:rPr b="0" i="0" lang="en-US" sz="1800" u="none" cap="none" strike="noStrike">
                <a:solidFill>
                  <a:schemeClr val="dk1"/>
                </a:solidFill>
                <a:latin typeface="Helvetica Neue"/>
                <a:ea typeface="Helvetica Neue"/>
                <a:cs typeface="Helvetica Neue"/>
                <a:sym typeface="Helvetica Neue"/>
              </a:rPr>
              <a:t>: Compare the two copies of every disk block.</a:t>
            </a:r>
            <a:endParaRPr/>
          </a:p>
          <a:p>
            <a:pPr indent="-342900" lvl="2" marL="1200150" marR="0" rtl="0" algn="l">
              <a:lnSpc>
                <a:spcPct val="100000"/>
              </a:lnSpc>
              <a:spcBef>
                <a:spcPts val="630"/>
              </a:spcBef>
              <a:spcAft>
                <a:spcPts val="0"/>
              </a:spcAft>
              <a:buClr>
                <a:srgbClr val="33CC33"/>
              </a:buClr>
              <a:buSzPts val="1350"/>
              <a:buFont typeface="Arial"/>
              <a:buAutoNum type="arabicPeriod"/>
            </a:pPr>
            <a:r>
              <a:rPr b="0" i="1" lang="en-US" sz="1800" u="none" cap="none" strike="noStrike">
                <a:solidFill>
                  <a:schemeClr val="dk1"/>
                </a:solidFill>
                <a:latin typeface="Helvetica Neue"/>
                <a:ea typeface="Helvetica Neue"/>
                <a:cs typeface="Helvetica Neue"/>
                <a:sym typeface="Helvetica Neue"/>
              </a:rPr>
              <a:t>Better solution</a:t>
            </a:r>
            <a:r>
              <a:rPr b="0" i="0" lang="en-US" sz="1800" u="none" cap="none" strike="noStrike">
                <a:solidFill>
                  <a:schemeClr val="dk1"/>
                </a:solidFill>
                <a:latin typeface="Helvetica Neue"/>
                <a:ea typeface="Helvetica Neue"/>
                <a:cs typeface="Helvetica Neue"/>
                <a:sym typeface="Helvetica Neue"/>
              </a:rPr>
              <a:t>: </a:t>
            </a:r>
            <a:endParaRPr/>
          </a:p>
          <a:p>
            <a:pPr indent="-342900" lvl="3" marL="15430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Record in-progress disk writes on non-volatile storage (Non-volatile RAM or special area of disk). </a:t>
            </a:r>
            <a:endParaRPr/>
          </a:p>
          <a:p>
            <a:pPr indent="-342900" lvl="3" marL="15430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 Use this information during recovery  to find blocks that may be inconsistent, and only compare copies of these. </a:t>
            </a:r>
            <a:endParaRPr/>
          </a:p>
          <a:p>
            <a:pPr indent="-342900" lvl="3" marL="15430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Used in hardware RAID systems</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If either copy of an inconsistent block is detected to have an error (bad checksum), overwrite it by the other copy.  If both have no error, but are different, overwrite the second block by the first block.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84" name="Shape 84"/>
        <p:cNvGrpSpPr/>
        <p:nvPr/>
      </p:nvGrpSpPr>
      <p:grpSpPr>
        <a:xfrm>
          <a:off x="0" y="0"/>
          <a:ext cx="0" cy="0"/>
          <a:chOff x="0" y="0"/>
          <a:chExt cx="0" cy="0"/>
        </a:xfrm>
      </p:grpSpPr>
      <p:sp>
        <p:nvSpPr>
          <p:cNvPr id="85" name="Google Shape;85;p1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Data Access</a:t>
            </a:r>
            <a:endParaRPr/>
          </a:p>
        </p:txBody>
      </p:sp>
      <p:sp>
        <p:nvSpPr>
          <p:cNvPr id="86" name="Google Shape;86;p12"/>
          <p:cNvSpPr txBox="1"/>
          <p:nvPr>
            <p:ph idx="4294967295" type="body"/>
          </p:nvPr>
        </p:nvSpPr>
        <p:spPr>
          <a:xfrm>
            <a:off x="814387" y="1093787"/>
            <a:ext cx="7661275" cy="4473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Physical blocks</a:t>
            </a:r>
            <a:r>
              <a:rPr b="0" i="0" lang="en-US" sz="1800" u="none">
                <a:solidFill>
                  <a:schemeClr val="dk1"/>
                </a:solidFill>
                <a:latin typeface="Helvetica Neue"/>
                <a:ea typeface="Helvetica Neue"/>
                <a:cs typeface="Helvetica Neue"/>
                <a:sym typeface="Helvetica Neue"/>
              </a:rPr>
              <a:t> are those blocks residing on the disk. </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Buffer blocks</a:t>
            </a:r>
            <a:r>
              <a:rPr b="0" i="0" lang="en-US" sz="1800" u="none">
                <a:solidFill>
                  <a:schemeClr val="dk1"/>
                </a:solidFill>
                <a:latin typeface="Helvetica Neue"/>
                <a:ea typeface="Helvetica Neue"/>
                <a:cs typeface="Helvetica Neue"/>
                <a:sym typeface="Helvetica Neue"/>
              </a:rPr>
              <a:t> are the blocks residing temporarily in main memory.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Block movements between  disk and main memory are initiated through the following two operations:</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input</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transfers the physical block </a:t>
            </a:r>
            <a:r>
              <a:rPr b="0" i="1" lang="en-US" sz="1800" u="none" cap="none" strike="noStrike">
                <a:solidFill>
                  <a:schemeClr val="dk1"/>
                </a:solidFill>
                <a:latin typeface="Helvetica Neue"/>
                <a:ea typeface="Helvetica Neue"/>
                <a:cs typeface="Helvetica Neue"/>
                <a:sym typeface="Helvetica Neue"/>
              </a:rPr>
              <a:t>B  </a:t>
            </a:r>
            <a:r>
              <a:rPr b="0" i="0" lang="en-US" sz="1800" u="none" cap="none" strike="noStrike">
                <a:solidFill>
                  <a:schemeClr val="dk1"/>
                </a:solidFill>
                <a:latin typeface="Helvetica Neue"/>
                <a:ea typeface="Helvetica Neue"/>
                <a:cs typeface="Helvetica Neue"/>
                <a:sym typeface="Helvetica Neue"/>
              </a:rPr>
              <a:t>to main memory.</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output</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transfers the buffer block </a:t>
            </a:r>
            <a:r>
              <a:rPr b="0" i="1" lang="en-US" sz="1800" u="none" cap="none" strike="noStrike">
                <a:solidFill>
                  <a:schemeClr val="dk1"/>
                </a:solidFill>
                <a:latin typeface="Helvetica Neue"/>
                <a:ea typeface="Helvetica Neue"/>
                <a:cs typeface="Helvetica Neue"/>
                <a:sym typeface="Helvetica Neue"/>
              </a:rPr>
              <a:t>B </a:t>
            </a:r>
            <a:r>
              <a:rPr b="0" i="0" lang="en-US" sz="1800" u="none" cap="none" strike="noStrike">
                <a:solidFill>
                  <a:schemeClr val="dk1"/>
                </a:solidFill>
                <a:latin typeface="Helvetica Neue"/>
                <a:ea typeface="Helvetica Neue"/>
                <a:cs typeface="Helvetica Neue"/>
                <a:sym typeface="Helvetica Neue"/>
              </a:rPr>
              <a:t>to the disk, and replaces the appropriate physical block there.</a:t>
            </a:r>
            <a:endParaRPr/>
          </a:p>
          <a:p>
            <a:pPr indent="-342900" lvl="0" marL="342900" marR="0" rtl="0" algn="l">
              <a:lnSpc>
                <a:spcPct val="100000"/>
              </a:lnSpc>
              <a:spcBef>
                <a:spcPts val="84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Each transaction </a:t>
            </a:r>
            <a:r>
              <a:rPr b="0" i="1" lang="en-US" sz="1800" u="none">
                <a:solidFill>
                  <a:schemeClr val="dk1"/>
                </a:solidFill>
                <a:latin typeface="Helvetica Neue"/>
                <a:ea typeface="Helvetica Neue"/>
                <a:cs typeface="Helvetica Neue"/>
                <a:sym typeface="Helvetica Neue"/>
              </a:rPr>
              <a:t>T</a:t>
            </a:r>
            <a:r>
              <a:rPr b="0" baseline="-25000" i="1" lang="en-US" sz="24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has its private work-area in which local copies of all data items accessed and updated by it are kept.</a:t>
            </a:r>
            <a:endParaRPr/>
          </a:p>
          <a:p>
            <a:pPr indent="-285750" lvl="1" marL="742950" marR="0" rtl="0" algn="l">
              <a:lnSpc>
                <a:spcPct val="100000"/>
              </a:lnSpc>
              <a:spcBef>
                <a:spcPts val="84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T</a:t>
            </a:r>
            <a:r>
              <a:rPr b="0" baseline="-25000" i="1" lang="en-US" sz="24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's local copy of a data item </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is called </a:t>
            </a:r>
            <a:r>
              <a:rPr b="0" i="1" lang="en-US" sz="1800" u="none" cap="none" strike="noStrike">
                <a:solidFill>
                  <a:schemeClr val="dk1"/>
                </a:solidFill>
                <a:latin typeface="Helvetica Neue"/>
                <a:ea typeface="Helvetica Neue"/>
                <a:cs typeface="Helvetica Neue"/>
                <a:sym typeface="Helvetica Neue"/>
              </a:rPr>
              <a:t>x</a:t>
            </a:r>
            <a:r>
              <a:rPr b="0" baseline="-25000" i="1" lang="en-US" sz="24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assume, for simplicity, that each data item fits in, and is stored inside, a single block.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0" name="Shape 90"/>
        <p:cNvGrpSpPr/>
        <p:nvPr/>
      </p:nvGrpSpPr>
      <p:grpSpPr>
        <a:xfrm>
          <a:off x="0" y="0"/>
          <a:ext cx="0" cy="0"/>
          <a:chOff x="0" y="0"/>
          <a:chExt cx="0" cy="0"/>
        </a:xfrm>
      </p:grpSpPr>
      <p:sp>
        <p:nvSpPr>
          <p:cNvPr id="91" name="Google Shape;91;p1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Data Access (Cont.)</a:t>
            </a:r>
            <a:endParaRPr/>
          </a:p>
        </p:txBody>
      </p:sp>
      <p:sp>
        <p:nvSpPr>
          <p:cNvPr id="92" name="Google Shape;92;p13"/>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 transfers data items between system buffer blocks and its private work-area using the following operations :</a:t>
            </a:r>
            <a:endParaRPr/>
          </a:p>
          <a:p>
            <a:pPr indent="-285750" lvl="1" marL="742950" marR="0" rtl="0" algn="l">
              <a:lnSpc>
                <a:spcPct val="100000"/>
              </a:lnSpc>
              <a:spcBef>
                <a:spcPts val="84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read</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assigns the value of data item </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to the local variable </a:t>
            </a:r>
            <a:r>
              <a:rPr b="0" i="1" lang="en-US" sz="1800" u="none" cap="none" strike="noStrike">
                <a:solidFill>
                  <a:schemeClr val="dk1"/>
                </a:solidFill>
                <a:latin typeface="Helvetica Neue"/>
                <a:ea typeface="Helvetica Neue"/>
                <a:cs typeface="Helvetica Neue"/>
                <a:sym typeface="Helvetica Neue"/>
              </a:rPr>
              <a:t>x</a:t>
            </a:r>
            <a:r>
              <a:rPr b="0" baseline="-25000" i="1" lang="en-US" sz="24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84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write</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assigns the value of local variable </a:t>
            </a:r>
            <a:r>
              <a:rPr b="0" i="1" lang="en-US" sz="1800" u="none" cap="none" strike="noStrike">
                <a:solidFill>
                  <a:schemeClr val="dk1"/>
                </a:solidFill>
                <a:latin typeface="Helvetica Neue"/>
                <a:ea typeface="Helvetica Neue"/>
                <a:cs typeface="Helvetica Neue"/>
                <a:sym typeface="Helvetica Neue"/>
              </a:rPr>
              <a:t>x</a:t>
            </a:r>
            <a:r>
              <a:rPr b="0" baseline="-25000" i="1" lang="en-US" sz="24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to data item {</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in the buffer block.</a:t>
            </a:r>
            <a:endParaRPr/>
          </a:p>
          <a:p>
            <a:pPr indent="-285750" lvl="1" marL="742950" marR="0" rtl="0" algn="l">
              <a:lnSpc>
                <a:spcPct val="100000"/>
              </a:lnSpc>
              <a:spcBef>
                <a:spcPts val="70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both these commands may necessitate the issue of an</a:t>
            </a:r>
            <a:r>
              <a:rPr b="1" i="0" lang="en-US" sz="1800" u="none" cap="none" strike="noStrike">
                <a:solidFill>
                  <a:schemeClr val="dk1"/>
                </a:solidFill>
                <a:latin typeface="Helvetica Neue"/>
                <a:ea typeface="Helvetica Neue"/>
                <a:cs typeface="Helvetica Neue"/>
                <a:sym typeface="Helvetica Neue"/>
              </a:rPr>
              <a:t> input</a:t>
            </a:r>
            <a:r>
              <a:rPr b="0" i="0" lang="en-US" sz="1800" u="none" cap="none" strike="noStrike">
                <a:solidFill>
                  <a:schemeClr val="dk1"/>
                </a:solidFill>
                <a:latin typeface="Helvetica Neue"/>
                <a:ea typeface="Helvetica Neue"/>
                <a:cs typeface="Helvetica Neue"/>
                <a:sym typeface="Helvetica Neue"/>
              </a:rPr>
              <a:t>(B</a:t>
            </a:r>
            <a:r>
              <a:rPr b="0" baseline="-25000" i="0" lang="en-US" sz="20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instruction before the assignment, if the block </a:t>
            </a:r>
            <a:r>
              <a:rPr b="0" i="1" lang="en-US" sz="1800" u="none" cap="none" strike="noStrike">
                <a:solidFill>
                  <a:schemeClr val="dk1"/>
                </a:solidFill>
                <a:latin typeface="Helvetica Neue"/>
                <a:ea typeface="Helvetica Neue"/>
                <a:cs typeface="Helvetica Neue"/>
                <a:sym typeface="Helvetica Neue"/>
              </a:rPr>
              <a:t>B</a:t>
            </a:r>
            <a:r>
              <a:rPr b="0" baseline="-25000" i="1" lang="en-US" sz="20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in which </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resides is not already in memory.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Transactions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Perform </a:t>
            </a:r>
            <a:r>
              <a:rPr b="1" i="0" lang="en-US" sz="1800" u="none" cap="none" strike="noStrike">
                <a:solidFill>
                  <a:schemeClr val="dk1"/>
                </a:solidFill>
                <a:latin typeface="Helvetica Neue"/>
                <a:ea typeface="Helvetica Neue"/>
                <a:cs typeface="Helvetica Neue"/>
                <a:sym typeface="Helvetica Neue"/>
              </a:rPr>
              <a:t>read</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while accessing </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 for the first time;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 subsequent accesses are to the local copy.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After last access, transaction executes </a:t>
            </a:r>
            <a:r>
              <a:rPr b="1" i="0" lang="en-US" sz="1800" u="none" cap="none" strike="noStrike">
                <a:solidFill>
                  <a:schemeClr val="dk1"/>
                </a:solidFill>
                <a:latin typeface="Helvetica Neue"/>
                <a:ea typeface="Helvetica Neue"/>
                <a:cs typeface="Helvetica Neue"/>
                <a:sym typeface="Helvetica Neue"/>
              </a:rPr>
              <a:t>write</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X</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output</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a:t>
            </a:r>
            <a:r>
              <a:rPr b="0" baseline="-2500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 need not immediately follow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 System can perform the </a:t>
            </a:r>
            <a:r>
              <a:rPr b="1" i="0" lang="en-US" sz="1800" u="none">
                <a:solidFill>
                  <a:schemeClr val="dk1"/>
                </a:solidFill>
                <a:latin typeface="Helvetica Neue"/>
                <a:ea typeface="Helvetica Neue"/>
                <a:cs typeface="Helvetica Neue"/>
                <a:sym typeface="Helvetica Neue"/>
              </a:rPr>
              <a:t>output</a:t>
            </a:r>
            <a:r>
              <a:rPr b="0" i="0" lang="en-US" sz="1800" u="none">
                <a:solidFill>
                  <a:schemeClr val="dk1"/>
                </a:solidFill>
                <a:latin typeface="Helvetica Neue"/>
                <a:ea typeface="Helvetica Neue"/>
                <a:cs typeface="Helvetica Neue"/>
                <a:sym typeface="Helvetica Neue"/>
              </a:rPr>
              <a:t> operation when it deems fit.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96" name="Shape 96"/>
        <p:cNvGrpSpPr/>
        <p:nvPr/>
      </p:nvGrpSpPr>
      <p:grpSpPr>
        <a:xfrm>
          <a:off x="0" y="0"/>
          <a:ext cx="0" cy="0"/>
          <a:chOff x="0" y="0"/>
          <a:chExt cx="0" cy="0"/>
        </a:xfrm>
      </p:grpSpPr>
      <p:sp>
        <p:nvSpPr>
          <p:cNvPr id="97" name="Google Shape;97;p1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Data Access</a:t>
            </a:r>
            <a:endParaRPr/>
          </a:p>
        </p:txBody>
      </p:sp>
      <p:sp>
        <p:nvSpPr>
          <p:cNvPr id="98" name="Google Shape;98;p14"/>
          <p:cNvSpPr/>
          <p:nvPr/>
        </p:nvSpPr>
        <p:spPr>
          <a:xfrm>
            <a:off x="4027487" y="1352550"/>
            <a:ext cx="1139825" cy="133826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 name="Google Shape;99;p14"/>
          <p:cNvSpPr txBox="1"/>
          <p:nvPr/>
        </p:nvSpPr>
        <p:spPr>
          <a:xfrm>
            <a:off x="4217987" y="1443037"/>
            <a:ext cx="671512" cy="31908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X      </a:t>
            </a:r>
            <a:endParaRPr/>
          </a:p>
        </p:txBody>
      </p:sp>
      <p:sp>
        <p:nvSpPr>
          <p:cNvPr id="100" name="Google Shape;100;p14"/>
          <p:cNvSpPr txBox="1"/>
          <p:nvPr/>
        </p:nvSpPr>
        <p:spPr>
          <a:xfrm>
            <a:off x="4217987" y="1900237"/>
            <a:ext cx="657225" cy="31908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Y     </a:t>
            </a:r>
            <a:endParaRPr/>
          </a:p>
        </p:txBody>
      </p:sp>
      <p:sp>
        <p:nvSpPr>
          <p:cNvPr id="101" name="Google Shape;101;p14"/>
          <p:cNvSpPr/>
          <p:nvPr/>
        </p:nvSpPr>
        <p:spPr>
          <a:xfrm>
            <a:off x="6623050" y="1095375"/>
            <a:ext cx="1143000" cy="381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2" name="Google Shape;102;p14"/>
          <p:cNvCxnSpPr/>
          <p:nvPr/>
        </p:nvCxnSpPr>
        <p:spPr>
          <a:xfrm>
            <a:off x="6623050" y="1247775"/>
            <a:ext cx="0" cy="1143000"/>
          </a:xfrm>
          <a:prstGeom prst="straightConnector1">
            <a:avLst/>
          </a:prstGeom>
          <a:noFill/>
          <a:ln cap="flat" cmpd="sng" w="9525">
            <a:solidFill>
              <a:schemeClr val="dk1"/>
            </a:solidFill>
            <a:prstDash val="solid"/>
            <a:miter lim="800000"/>
            <a:headEnd len="med" w="med" type="none"/>
            <a:tailEnd len="med" w="med" type="none"/>
          </a:ln>
        </p:spPr>
      </p:cxnSp>
      <p:cxnSp>
        <p:nvCxnSpPr>
          <p:cNvPr id="103" name="Google Shape;103;p14"/>
          <p:cNvCxnSpPr/>
          <p:nvPr/>
        </p:nvCxnSpPr>
        <p:spPr>
          <a:xfrm>
            <a:off x="7766050" y="1266825"/>
            <a:ext cx="0" cy="1143000"/>
          </a:xfrm>
          <a:prstGeom prst="straightConnector1">
            <a:avLst/>
          </a:prstGeom>
          <a:noFill/>
          <a:ln cap="flat" cmpd="sng" w="9525">
            <a:solidFill>
              <a:schemeClr val="dk1"/>
            </a:solidFill>
            <a:prstDash val="solid"/>
            <a:miter lim="800000"/>
            <a:headEnd len="med" w="med" type="none"/>
            <a:tailEnd len="med" w="med" type="none"/>
          </a:ln>
        </p:spPr>
      </p:cxnSp>
      <p:sp>
        <p:nvSpPr>
          <p:cNvPr id="104" name="Google Shape;104;p14"/>
          <p:cNvSpPr/>
          <p:nvPr/>
        </p:nvSpPr>
        <p:spPr>
          <a:xfrm>
            <a:off x="6623050" y="2390775"/>
            <a:ext cx="1143000" cy="177800"/>
          </a:xfrm>
          <a:custGeom>
            <a:rect b="b" l="l" r="r" t="t"/>
            <a:pathLst>
              <a:path extrusionOk="0" h="112" w="720">
                <a:moveTo>
                  <a:pt x="0" y="0"/>
                </a:moveTo>
                <a:cubicBezTo>
                  <a:pt x="76" y="40"/>
                  <a:pt x="152" y="80"/>
                  <a:pt x="240" y="96"/>
                </a:cubicBezTo>
                <a:cubicBezTo>
                  <a:pt x="328" y="112"/>
                  <a:pt x="448" y="112"/>
                  <a:pt x="528" y="96"/>
                </a:cubicBezTo>
                <a:cubicBezTo>
                  <a:pt x="608" y="80"/>
                  <a:pt x="688" y="16"/>
                  <a:pt x="720" y="0"/>
                </a:cubicBezTo>
              </a:path>
            </a:pathLst>
          </a:custGeom>
          <a:no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 name="Google Shape;105;p14"/>
          <p:cNvSpPr/>
          <p:nvPr/>
        </p:nvSpPr>
        <p:spPr>
          <a:xfrm>
            <a:off x="7004050" y="1552575"/>
            <a:ext cx="3048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 name="Google Shape;106;p14"/>
          <p:cNvSpPr/>
          <p:nvPr/>
        </p:nvSpPr>
        <p:spPr>
          <a:xfrm>
            <a:off x="7004050" y="2009775"/>
            <a:ext cx="304800" cy="3048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 name="Google Shape;107;p14"/>
          <p:cNvSpPr txBox="1"/>
          <p:nvPr/>
        </p:nvSpPr>
        <p:spPr>
          <a:xfrm>
            <a:off x="7369175" y="1487487"/>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A</a:t>
            </a:r>
            <a:endParaRPr/>
          </a:p>
        </p:txBody>
      </p:sp>
      <p:sp>
        <p:nvSpPr>
          <p:cNvPr id="108" name="Google Shape;108;p14"/>
          <p:cNvSpPr txBox="1"/>
          <p:nvPr/>
        </p:nvSpPr>
        <p:spPr>
          <a:xfrm>
            <a:off x="7385050" y="1927225"/>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B</a:t>
            </a:r>
            <a:endParaRPr/>
          </a:p>
        </p:txBody>
      </p:sp>
      <p:sp>
        <p:nvSpPr>
          <p:cNvPr id="109" name="Google Shape;109;p14"/>
          <p:cNvSpPr/>
          <p:nvPr/>
        </p:nvSpPr>
        <p:spPr>
          <a:xfrm>
            <a:off x="3189287" y="3576637"/>
            <a:ext cx="762000" cy="1143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0" name="Google Shape;110;p14"/>
          <p:cNvSpPr/>
          <p:nvPr/>
        </p:nvSpPr>
        <p:spPr>
          <a:xfrm>
            <a:off x="4408487" y="3576637"/>
            <a:ext cx="762000" cy="1143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1" name="Google Shape;111;p14"/>
          <p:cNvSpPr/>
          <p:nvPr/>
        </p:nvSpPr>
        <p:spPr>
          <a:xfrm>
            <a:off x="4713287" y="3729037"/>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 name="Google Shape;112;p14"/>
          <p:cNvSpPr/>
          <p:nvPr/>
        </p:nvSpPr>
        <p:spPr>
          <a:xfrm>
            <a:off x="3570287" y="3881437"/>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 name="Google Shape;113;p14"/>
          <p:cNvSpPr/>
          <p:nvPr/>
        </p:nvSpPr>
        <p:spPr>
          <a:xfrm>
            <a:off x="3570287" y="4338637"/>
            <a:ext cx="228600" cy="228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4" name="Google Shape;114;p14"/>
          <p:cNvCxnSpPr/>
          <p:nvPr/>
        </p:nvCxnSpPr>
        <p:spPr>
          <a:xfrm>
            <a:off x="3113087" y="5557837"/>
            <a:ext cx="4552950" cy="0"/>
          </a:xfrm>
          <a:prstGeom prst="straightConnector1">
            <a:avLst/>
          </a:prstGeom>
          <a:noFill/>
          <a:ln cap="flat" cmpd="sng" w="9525">
            <a:solidFill>
              <a:schemeClr val="dk1"/>
            </a:solidFill>
            <a:prstDash val="solid"/>
            <a:miter lim="800000"/>
            <a:headEnd len="med" w="med" type="none"/>
            <a:tailEnd len="med" w="med" type="none"/>
          </a:ln>
        </p:spPr>
      </p:cxnSp>
      <p:sp>
        <p:nvSpPr>
          <p:cNvPr id="115" name="Google Shape;115;p14"/>
          <p:cNvSpPr txBox="1"/>
          <p:nvPr/>
        </p:nvSpPr>
        <p:spPr>
          <a:xfrm>
            <a:off x="3230562" y="3816350"/>
            <a:ext cx="4032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x</a:t>
            </a:r>
            <a:r>
              <a:rPr b="0" baseline="-25000" i="0" lang="en-US" sz="2000" u="none">
                <a:solidFill>
                  <a:schemeClr val="dk1"/>
                </a:solidFill>
                <a:latin typeface="Helvetica Neue"/>
                <a:ea typeface="Helvetica Neue"/>
                <a:cs typeface="Helvetica Neue"/>
                <a:sym typeface="Helvetica Neue"/>
              </a:rPr>
              <a:t>1</a:t>
            </a:r>
            <a:endParaRPr/>
          </a:p>
        </p:txBody>
      </p:sp>
      <p:sp>
        <p:nvSpPr>
          <p:cNvPr id="116" name="Google Shape;116;p14"/>
          <p:cNvSpPr txBox="1"/>
          <p:nvPr/>
        </p:nvSpPr>
        <p:spPr>
          <a:xfrm>
            <a:off x="3227387" y="4211637"/>
            <a:ext cx="4492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y</a:t>
            </a:r>
            <a:r>
              <a:rPr b="0" baseline="-25000" i="0" lang="en-US" sz="2000" u="none">
                <a:solidFill>
                  <a:schemeClr val="dk1"/>
                </a:solidFill>
                <a:latin typeface="Helvetica Neue"/>
                <a:ea typeface="Helvetica Neue"/>
                <a:cs typeface="Helvetica Neue"/>
                <a:sym typeface="Helvetica Neue"/>
              </a:rPr>
              <a:t>1 </a:t>
            </a:r>
            <a:endParaRPr/>
          </a:p>
        </p:txBody>
      </p:sp>
      <p:sp>
        <p:nvSpPr>
          <p:cNvPr id="117" name="Google Shape;117;p14"/>
          <p:cNvSpPr txBox="1"/>
          <p:nvPr/>
        </p:nvSpPr>
        <p:spPr>
          <a:xfrm>
            <a:off x="4087812" y="996950"/>
            <a:ext cx="8318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Helvetica Neue"/>
              <a:buNone/>
            </a:pPr>
            <a:r>
              <a:rPr b="0" i="0" lang="en-US" sz="2000" u="none">
                <a:solidFill>
                  <a:schemeClr val="dk2"/>
                </a:solidFill>
                <a:latin typeface="Helvetica Neue"/>
                <a:ea typeface="Helvetica Neue"/>
                <a:cs typeface="Helvetica Neue"/>
                <a:sym typeface="Helvetica Neue"/>
              </a:rPr>
              <a:t>buffer</a:t>
            </a:r>
            <a:endParaRPr/>
          </a:p>
        </p:txBody>
      </p:sp>
      <p:sp>
        <p:nvSpPr>
          <p:cNvPr id="118" name="Google Shape;118;p14"/>
          <p:cNvSpPr txBox="1"/>
          <p:nvPr/>
        </p:nvSpPr>
        <p:spPr>
          <a:xfrm>
            <a:off x="1549400" y="1330325"/>
            <a:ext cx="1862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Buffer Block A</a:t>
            </a:r>
            <a:r>
              <a:rPr b="0" i="0" lang="en-US" sz="2000" u="none">
                <a:solidFill>
                  <a:schemeClr val="dk1"/>
                </a:solidFill>
                <a:latin typeface="Helvetica Neue"/>
                <a:ea typeface="Helvetica Neue"/>
                <a:cs typeface="Helvetica Neue"/>
                <a:sym typeface="Helvetica Neue"/>
              </a:rPr>
              <a:t> </a:t>
            </a:r>
            <a:endParaRPr/>
          </a:p>
        </p:txBody>
      </p:sp>
      <p:sp>
        <p:nvSpPr>
          <p:cNvPr id="119" name="Google Shape;119;p14"/>
          <p:cNvSpPr txBox="1"/>
          <p:nvPr/>
        </p:nvSpPr>
        <p:spPr>
          <a:xfrm>
            <a:off x="1535112" y="1847850"/>
            <a:ext cx="17922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Buffer Block B</a:t>
            </a:r>
            <a:endParaRPr/>
          </a:p>
        </p:txBody>
      </p:sp>
      <p:cxnSp>
        <p:nvCxnSpPr>
          <p:cNvPr id="120" name="Google Shape;120;p14"/>
          <p:cNvCxnSpPr/>
          <p:nvPr/>
        </p:nvCxnSpPr>
        <p:spPr>
          <a:xfrm>
            <a:off x="3357562" y="1562100"/>
            <a:ext cx="8382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21" name="Google Shape;121;p14"/>
          <p:cNvCxnSpPr/>
          <p:nvPr/>
        </p:nvCxnSpPr>
        <p:spPr>
          <a:xfrm>
            <a:off x="3341687" y="2052637"/>
            <a:ext cx="89535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122" name="Google Shape;122;p14"/>
          <p:cNvCxnSpPr/>
          <p:nvPr/>
        </p:nvCxnSpPr>
        <p:spPr>
          <a:xfrm rot="10800000">
            <a:off x="4865687" y="1593850"/>
            <a:ext cx="2101850" cy="93662"/>
          </a:xfrm>
          <a:prstGeom prst="straightConnector1">
            <a:avLst/>
          </a:prstGeom>
          <a:noFill/>
          <a:ln cap="flat" cmpd="sng" w="9525">
            <a:solidFill>
              <a:schemeClr val="dk1"/>
            </a:solidFill>
            <a:prstDash val="solid"/>
            <a:miter lim="800000"/>
            <a:headEnd len="med" w="med" type="none"/>
            <a:tailEnd len="lg" w="lg" type="triangle"/>
          </a:ln>
        </p:spPr>
      </p:cxnSp>
      <p:cxnSp>
        <p:nvCxnSpPr>
          <p:cNvPr id="123" name="Google Shape;123;p14"/>
          <p:cNvCxnSpPr/>
          <p:nvPr/>
        </p:nvCxnSpPr>
        <p:spPr>
          <a:xfrm>
            <a:off x="4868862" y="2052637"/>
            <a:ext cx="2082800" cy="104775"/>
          </a:xfrm>
          <a:prstGeom prst="straightConnector1">
            <a:avLst/>
          </a:prstGeom>
          <a:noFill/>
          <a:ln cap="flat" cmpd="sng" w="9525">
            <a:solidFill>
              <a:schemeClr val="dk1"/>
            </a:solidFill>
            <a:prstDash val="solid"/>
            <a:miter lim="800000"/>
            <a:headEnd len="med" w="med" type="none"/>
            <a:tailEnd len="lg" w="lg" type="triangle"/>
          </a:ln>
        </p:spPr>
      </p:cxnSp>
      <p:sp>
        <p:nvSpPr>
          <p:cNvPr id="124" name="Google Shape;124;p14"/>
          <p:cNvSpPr txBox="1"/>
          <p:nvPr/>
        </p:nvSpPr>
        <p:spPr>
          <a:xfrm>
            <a:off x="5353050" y="1231900"/>
            <a:ext cx="10731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input(A)</a:t>
            </a:r>
            <a:endParaRPr/>
          </a:p>
        </p:txBody>
      </p:sp>
      <p:sp>
        <p:nvSpPr>
          <p:cNvPr id="125" name="Google Shape;125;p14"/>
          <p:cNvSpPr txBox="1"/>
          <p:nvPr/>
        </p:nvSpPr>
        <p:spPr>
          <a:xfrm>
            <a:off x="5295900" y="2155825"/>
            <a:ext cx="12969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output(B) </a:t>
            </a:r>
            <a:endParaRPr/>
          </a:p>
        </p:txBody>
      </p:sp>
      <p:cxnSp>
        <p:nvCxnSpPr>
          <p:cNvPr id="126" name="Google Shape;126;p14"/>
          <p:cNvCxnSpPr/>
          <p:nvPr/>
        </p:nvCxnSpPr>
        <p:spPr>
          <a:xfrm flipH="1">
            <a:off x="3665537" y="1671637"/>
            <a:ext cx="533400" cy="2209800"/>
          </a:xfrm>
          <a:prstGeom prst="straightConnector1">
            <a:avLst/>
          </a:prstGeom>
          <a:noFill/>
          <a:ln cap="flat" cmpd="sng" w="9525">
            <a:solidFill>
              <a:schemeClr val="dk1"/>
            </a:solidFill>
            <a:prstDash val="solid"/>
            <a:miter lim="800000"/>
            <a:headEnd len="med" w="med" type="none"/>
            <a:tailEnd len="lg" w="lg" type="triangle"/>
          </a:ln>
        </p:spPr>
      </p:cxnSp>
      <p:cxnSp>
        <p:nvCxnSpPr>
          <p:cNvPr id="127" name="Google Shape;127;p14"/>
          <p:cNvCxnSpPr/>
          <p:nvPr/>
        </p:nvCxnSpPr>
        <p:spPr>
          <a:xfrm flipH="1" rot="10800000">
            <a:off x="3798887" y="2205037"/>
            <a:ext cx="609600" cy="2286000"/>
          </a:xfrm>
          <a:prstGeom prst="straightConnector1">
            <a:avLst/>
          </a:prstGeom>
          <a:noFill/>
          <a:ln cap="flat" cmpd="sng" w="9525">
            <a:solidFill>
              <a:schemeClr val="dk1"/>
            </a:solidFill>
            <a:prstDash val="solid"/>
            <a:miter lim="800000"/>
            <a:headEnd len="med" w="med" type="none"/>
            <a:tailEnd len="lg" w="lg" type="triangle"/>
          </a:ln>
        </p:spPr>
      </p:cxnSp>
      <p:sp>
        <p:nvSpPr>
          <p:cNvPr id="128" name="Google Shape;128;p14"/>
          <p:cNvSpPr txBox="1"/>
          <p:nvPr/>
        </p:nvSpPr>
        <p:spPr>
          <a:xfrm>
            <a:off x="2881312" y="2605087"/>
            <a:ext cx="10302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read(X)</a:t>
            </a:r>
            <a:endParaRPr/>
          </a:p>
        </p:txBody>
      </p:sp>
      <p:sp>
        <p:nvSpPr>
          <p:cNvPr id="129" name="Google Shape;129;p14"/>
          <p:cNvSpPr txBox="1"/>
          <p:nvPr/>
        </p:nvSpPr>
        <p:spPr>
          <a:xfrm>
            <a:off x="4195762" y="2936875"/>
            <a:ext cx="10541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write(Y)</a:t>
            </a:r>
            <a:endParaRPr/>
          </a:p>
        </p:txBody>
      </p:sp>
      <p:sp>
        <p:nvSpPr>
          <p:cNvPr id="130" name="Google Shape;130;p14"/>
          <p:cNvSpPr txBox="1"/>
          <p:nvPr/>
        </p:nvSpPr>
        <p:spPr>
          <a:xfrm>
            <a:off x="6961187" y="5748337"/>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Helvetica Neue"/>
              <a:buNone/>
            </a:pPr>
            <a:r>
              <a:rPr b="0" i="0" lang="en-US" sz="2000" u="none">
                <a:solidFill>
                  <a:schemeClr val="dk2"/>
                </a:solidFill>
                <a:latin typeface="Helvetica Neue"/>
                <a:ea typeface="Helvetica Neue"/>
                <a:cs typeface="Helvetica Neue"/>
                <a:sym typeface="Helvetica Neue"/>
              </a:rPr>
              <a:t>disk</a:t>
            </a:r>
            <a:endParaRPr/>
          </a:p>
        </p:txBody>
      </p:sp>
      <p:sp>
        <p:nvSpPr>
          <p:cNvPr id="131" name="Google Shape;131;p14"/>
          <p:cNvSpPr txBox="1"/>
          <p:nvPr/>
        </p:nvSpPr>
        <p:spPr>
          <a:xfrm>
            <a:off x="2971800" y="4795837"/>
            <a:ext cx="1371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work area</a:t>
            </a:r>
            <a:endParaRPr/>
          </a:p>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of T</a:t>
            </a:r>
            <a:r>
              <a:rPr b="0" baseline="-25000" i="0" lang="en-US" sz="2000" u="none">
                <a:solidFill>
                  <a:schemeClr val="dk1"/>
                </a:solidFill>
                <a:latin typeface="Helvetica Neue"/>
                <a:ea typeface="Helvetica Neue"/>
                <a:cs typeface="Helvetica Neue"/>
                <a:sym typeface="Helvetica Neue"/>
              </a:rPr>
              <a:t>1</a:t>
            </a:r>
            <a:endParaRPr/>
          </a:p>
        </p:txBody>
      </p:sp>
      <p:sp>
        <p:nvSpPr>
          <p:cNvPr id="132" name="Google Shape;132;p14"/>
          <p:cNvSpPr txBox="1"/>
          <p:nvPr/>
        </p:nvSpPr>
        <p:spPr>
          <a:xfrm>
            <a:off x="4416425" y="4768850"/>
            <a:ext cx="1293812"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work area</a:t>
            </a:r>
            <a:endParaRPr/>
          </a:p>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of T</a:t>
            </a:r>
            <a:r>
              <a:rPr b="0" baseline="-25000" i="0" lang="en-US" sz="2000" u="none">
                <a:solidFill>
                  <a:schemeClr val="dk1"/>
                </a:solidFill>
                <a:latin typeface="Helvetica Neue"/>
                <a:ea typeface="Helvetica Neue"/>
                <a:cs typeface="Helvetica Neue"/>
                <a:sym typeface="Helvetica Neue"/>
              </a:rPr>
              <a:t>2 </a:t>
            </a:r>
            <a:endParaRPr/>
          </a:p>
        </p:txBody>
      </p:sp>
      <p:sp>
        <p:nvSpPr>
          <p:cNvPr id="133" name="Google Shape;133;p14"/>
          <p:cNvSpPr txBox="1"/>
          <p:nvPr/>
        </p:nvSpPr>
        <p:spPr>
          <a:xfrm>
            <a:off x="4335462" y="5762625"/>
            <a:ext cx="1100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Helvetica Neue"/>
              <a:buNone/>
            </a:pPr>
            <a:r>
              <a:rPr b="0" i="0" lang="en-US" sz="2000" u="none">
                <a:solidFill>
                  <a:schemeClr val="dk2"/>
                </a:solidFill>
                <a:latin typeface="Helvetica Neue"/>
                <a:ea typeface="Helvetica Neue"/>
                <a:cs typeface="Helvetica Neue"/>
                <a:sym typeface="Helvetica Neue"/>
              </a:rPr>
              <a:t>memory</a:t>
            </a:r>
            <a:endParaRPr/>
          </a:p>
        </p:txBody>
      </p:sp>
      <p:sp>
        <p:nvSpPr>
          <p:cNvPr id="134" name="Google Shape;134;p14"/>
          <p:cNvSpPr txBox="1"/>
          <p:nvPr/>
        </p:nvSpPr>
        <p:spPr>
          <a:xfrm>
            <a:off x="4389437" y="3589337"/>
            <a:ext cx="4032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x</a:t>
            </a:r>
            <a:r>
              <a:rPr b="0" baseline="-25000" i="0" lang="en-US" sz="2000" u="none">
                <a:solidFill>
                  <a:schemeClr val="dk1"/>
                </a:solidFill>
                <a:latin typeface="Helvetica Neue"/>
                <a:ea typeface="Helvetica Neue"/>
                <a:cs typeface="Helvetica Neue"/>
                <a:sym typeface="Helvetica Neue"/>
              </a:rPr>
              <a:t>2</a:t>
            </a:r>
            <a:endParaRPr/>
          </a:p>
        </p:txBody>
      </p:sp>
      <p:cxnSp>
        <p:nvCxnSpPr>
          <p:cNvPr id="135" name="Google Shape;135;p14"/>
          <p:cNvCxnSpPr/>
          <p:nvPr/>
        </p:nvCxnSpPr>
        <p:spPr>
          <a:xfrm>
            <a:off x="6443662" y="784225"/>
            <a:ext cx="0" cy="554355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39" name="Shape 139"/>
        <p:cNvGrpSpPr/>
        <p:nvPr/>
      </p:nvGrpSpPr>
      <p:grpSpPr>
        <a:xfrm>
          <a:off x="0" y="0"/>
          <a:ext cx="0" cy="0"/>
          <a:chOff x="0" y="0"/>
          <a:chExt cx="0" cy="0"/>
        </a:xfrm>
      </p:grpSpPr>
      <p:sp>
        <p:nvSpPr>
          <p:cNvPr id="140" name="Google Shape;140;p15"/>
          <p:cNvSpPr txBox="1"/>
          <p:nvPr>
            <p:ph type="title"/>
          </p:nvPr>
        </p:nvSpPr>
        <p:spPr>
          <a:xfrm>
            <a:off x="552450" y="1047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Recovery and Atomicity</a:t>
            </a:r>
            <a:endParaRPr/>
          </a:p>
        </p:txBody>
      </p:sp>
      <p:sp>
        <p:nvSpPr>
          <p:cNvPr id="141" name="Google Shape;141;p15"/>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Modifying the database without ensuring that the transaction will commit  may leave the database in an inconsistent state.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Consider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that transfers $50 from account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to account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goal is either to perform all database modifications made by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or none at all.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Several output operations may be required for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(to output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A failure may occur after one of these modifications have been made but before all of them are made.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45" name="Shape 145"/>
        <p:cNvGrpSpPr/>
        <p:nvPr/>
      </p:nvGrpSpPr>
      <p:grpSpPr>
        <a:xfrm>
          <a:off x="0" y="0"/>
          <a:ext cx="0" cy="0"/>
          <a:chOff x="0" y="0"/>
          <a:chExt cx="0" cy="0"/>
        </a:xfrm>
      </p:grpSpPr>
      <p:sp>
        <p:nvSpPr>
          <p:cNvPr id="146" name="Google Shape;146;p1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Recovery and Atomicity (Cont.)</a:t>
            </a:r>
            <a:endParaRPr/>
          </a:p>
        </p:txBody>
      </p:sp>
      <p:sp>
        <p:nvSpPr>
          <p:cNvPr id="147" name="Google Shape;147;p16"/>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ensure atomicity despite failures, we first output information describing the modifications to stable storage without modifying the database itself.</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study two approaches:</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log-based recovery</a:t>
            </a:r>
            <a:r>
              <a:rPr b="0" i="0" lang="en-US" sz="1800" u="none" cap="none" strike="noStrike">
                <a:solidFill>
                  <a:schemeClr val="dk1"/>
                </a:solidFill>
                <a:latin typeface="Helvetica Neue"/>
                <a:ea typeface="Helvetica Neue"/>
                <a:cs typeface="Helvetica Neue"/>
                <a:sym typeface="Helvetica Neue"/>
              </a:rPr>
              <a:t>, and</a:t>
            </a:r>
            <a:endParaRPr/>
          </a:p>
          <a:p>
            <a:pPr indent="-285750" lvl="1" marL="742950" marR="0" rtl="0" algn="l">
              <a:lnSpc>
                <a:spcPct val="100000"/>
              </a:lnSpc>
              <a:spcBef>
                <a:spcPts val="630"/>
              </a:spcBef>
              <a:spcAft>
                <a:spcPts val="0"/>
              </a:spcAft>
              <a:buClr>
                <a:schemeClr val="hlink"/>
              </a:buClr>
              <a:buSzPts val="1440"/>
              <a:buFont typeface="Arial"/>
              <a:buChar char="●"/>
            </a:pPr>
            <a:r>
              <a:rPr b="1" i="0" lang="en-US" sz="1800" u="none" cap="none" strike="noStrike">
                <a:solidFill>
                  <a:schemeClr val="dk2"/>
                </a:solidFill>
                <a:latin typeface="Helvetica Neue"/>
                <a:ea typeface="Helvetica Neue"/>
                <a:cs typeface="Helvetica Neue"/>
                <a:sym typeface="Helvetica Neue"/>
              </a:rPr>
              <a:t>shadow-paging</a:t>
            </a:r>
            <a:endParaRPr b="0" i="0" sz="1800" u="none" cap="none" strike="noStrike">
              <a:solidFill>
                <a:schemeClr val="dk2"/>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assume (initially) that transactions run serially, that is, one after the other.</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51" name="Shape 151"/>
        <p:cNvGrpSpPr/>
        <p:nvPr/>
      </p:nvGrpSpPr>
      <p:grpSpPr>
        <a:xfrm>
          <a:off x="0" y="0"/>
          <a:ext cx="0" cy="0"/>
          <a:chOff x="0" y="0"/>
          <a:chExt cx="0" cy="0"/>
        </a:xfrm>
      </p:grpSpPr>
      <p:sp>
        <p:nvSpPr>
          <p:cNvPr id="152" name="Google Shape;152;p1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Log-Based Recovery</a:t>
            </a:r>
            <a:endParaRPr/>
          </a:p>
        </p:txBody>
      </p:sp>
      <p:sp>
        <p:nvSpPr>
          <p:cNvPr id="153" name="Google Shape;153;p17"/>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1" i="0" lang="en-US" sz="1800" u="none">
                <a:solidFill>
                  <a:schemeClr val="dk2"/>
                </a:solidFill>
                <a:latin typeface="Helvetica Neue"/>
                <a:ea typeface="Helvetica Neue"/>
                <a:cs typeface="Helvetica Neue"/>
                <a:sym typeface="Helvetica Neue"/>
              </a:rPr>
              <a:t>log</a:t>
            </a:r>
            <a:r>
              <a:rPr b="0" i="0" lang="en-US" sz="1800" u="none">
                <a:solidFill>
                  <a:schemeClr val="dk1"/>
                </a:solidFill>
                <a:latin typeface="Helvetica Neue"/>
                <a:ea typeface="Helvetica Neue"/>
                <a:cs typeface="Helvetica Neue"/>
                <a:sym typeface="Helvetica Neue"/>
              </a:rPr>
              <a:t> is kept on stable storage.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log is a sequence of </a:t>
            </a:r>
            <a:r>
              <a:rPr b="1" i="0" lang="en-US" sz="1800" u="none" cap="none" strike="noStrike">
                <a:solidFill>
                  <a:schemeClr val="dk2"/>
                </a:solidFill>
                <a:latin typeface="Helvetica Neue"/>
                <a:ea typeface="Helvetica Neue"/>
                <a:cs typeface="Helvetica Neue"/>
                <a:sym typeface="Helvetica Neue"/>
              </a:rPr>
              <a:t>log records</a:t>
            </a:r>
            <a:r>
              <a:rPr b="0" i="0" lang="en-US" sz="1800" u="none" cap="none" strike="noStrike">
                <a:solidFill>
                  <a:schemeClr val="dk1"/>
                </a:solidFill>
                <a:latin typeface="Helvetica Neue"/>
                <a:ea typeface="Helvetica Neue"/>
                <a:cs typeface="Helvetica Neue"/>
                <a:sym typeface="Helvetica Neue"/>
              </a:rPr>
              <a:t>, and maintains a record of update activities on the database.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starts, it registers itself by writing a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&lt;T</a:t>
            </a:r>
            <a:r>
              <a:rPr b="0" baseline="-25000" i="1" lang="en-US" sz="1800" u="none">
                <a:solidFill>
                  <a:schemeClr val="dk1"/>
                </a:solidFill>
                <a:latin typeface="Helvetica Neue"/>
                <a:ea typeface="Helvetica Neue"/>
                <a:cs typeface="Helvetica Neue"/>
                <a:sym typeface="Helvetica Neue"/>
              </a:rPr>
              <a:t>i  </a:t>
            </a:r>
            <a:r>
              <a:rPr b="1" i="0" lang="en-US" sz="1800" u="none">
                <a:solidFill>
                  <a:schemeClr val="dk1"/>
                </a:solidFill>
                <a:latin typeface="Helvetica Neue"/>
                <a:ea typeface="Helvetica Neue"/>
                <a:cs typeface="Helvetica Neue"/>
                <a:sym typeface="Helvetica Neue"/>
              </a:rPr>
              <a:t>start</a:t>
            </a:r>
            <a:r>
              <a:rPr b="0" i="0" lang="en-US" sz="1800" u="none">
                <a:solidFill>
                  <a:schemeClr val="dk1"/>
                </a:solidFill>
                <a:latin typeface="Helvetica Neue"/>
                <a:ea typeface="Helvetica Neue"/>
                <a:cs typeface="Helvetica Neue"/>
                <a:sym typeface="Helvetica Neue"/>
              </a:rPr>
              <a:t>&gt;log record</a:t>
            </a:r>
            <a:endParaRPr/>
          </a:p>
          <a:p>
            <a:pPr indent="-342900" lvl="0" marL="342900" marR="0" rtl="0" algn="l">
              <a:lnSpc>
                <a:spcPct val="9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Before 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executes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 a log record </a:t>
            </a:r>
            <a:r>
              <a:rPr b="0" i="1" lang="en-US" sz="1800" u="none">
                <a:solidFill>
                  <a:schemeClr val="dk1"/>
                </a:solidFill>
                <a:latin typeface="Helvetica Neue"/>
                <a:ea typeface="Helvetica Neue"/>
                <a:cs typeface="Helvetica Neue"/>
                <a:sym typeface="Helvetica Neue"/>
              </a:rPr>
              <a:t>&lt;T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X,  V</a:t>
            </a:r>
            <a:r>
              <a:rPr b="0" baseline="-25000" i="1"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V</a:t>
            </a:r>
            <a:r>
              <a:rPr b="0" baseline="-25000" i="1"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&gt; </a:t>
            </a:r>
            <a:r>
              <a:rPr b="0" i="0" lang="en-US" sz="1800" u="none">
                <a:solidFill>
                  <a:schemeClr val="dk1"/>
                </a:solidFill>
                <a:latin typeface="Helvetica Neue"/>
                <a:ea typeface="Helvetica Neue"/>
                <a:cs typeface="Helvetica Neue"/>
                <a:sym typeface="Helvetica Neue"/>
              </a:rPr>
              <a:t>is written, where</a:t>
            </a:r>
            <a:r>
              <a:rPr b="0" i="1" lang="en-US" sz="1800" u="none">
                <a:solidFill>
                  <a:schemeClr val="dk1"/>
                </a:solidFill>
                <a:latin typeface="Helvetica Neue"/>
                <a:ea typeface="Helvetica Neue"/>
                <a:cs typeface="Helvetica Neue"/>
                <a:sym typeface="Helvetica Neue"/>
              </a:rPr>
              <a:t> V</a:t>
            </a:r>
            <a:r>
              <a:rPr b="0" baseline="-25000" i="1"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is the value of </a:t>
            </a:r>
            <a:r>
              <a:rPr b="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  before the write, and </a:t>
            </a:r>
            <a:r>
              <a:rPr b="0" i="1" lang="en-US" sz="1800" u="none">
                <a:solidFill>
                  <a:schemeClr val="dk1"/>
                </a:solidFill>
                <a:latin typeface="Helvetica Neue"/>
                <a:ea typeface="Helvetica Neue"/>
                <a:cs typeface="Helvetica Neue"/>
                <a:sym typeface="Helvetica Neue"/>
              </a:rPr>
              <a:t>V</a:t>
            </a:r>
            <a:r>
              <a:rPr b="0" baseline="-25000" i="1"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the value to be written to </a:t>
            </a:r>
            <a:r>
              <a:rPr b="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 notes that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has performed a write on data item </a:t>
            </a:r>
            <a:r>
              <a:rPr b="0" i="1" lang="en-US" sz="1800" u="none" cap="none" strike="noStrike">
                <a:solidFill>
                  <a:schemeClr val="dk1"/>
                </a:solidFill>
                <a:latin typeface="Helvetica Neue"/>
                <a:ea typeface="Helvetica Neue"/>
                <a:cs typeface="Helvetica Neue"/>
                <a:sym typeface="Helvetica Neue"/>
              </a:rPr>
              <a:t>X</a:t>
            </a:r>
            <a:r>
              <a:rPr b="0" baseline="-25000" i="1" lang="en-US" sz="1800" u="none" cap="none" strike="noStrike">
                <a:solidFill>
                  <a:schemeClr val="dk1"/>
                </a:solidFill>
                <a:latin typeface="Helvetica Neue"/>
                <a:ea typeface="Helvetica Neue"/>
                <a:cs typeface="Helvetica Neue"/>
                <a:sym typeface="Helvetica Neue"/>
              </a:rPr>
              <a:t>j </a:t>
            </a:r>
            <a:r>
              <a:rPr b="0" i="1" lang="en-US" sz="1800" u="none" cap="none" strike="noStrike">
                <a:solidFill>
                  <a:schemeClr val="dk1"/>
                </a:solidFill>
                <a:latin typeface="Helvetica Neue"/>
                <a:ea typeface="Helvetica Neue"/>
                <a:cs typeface="Helvetica Neue"/>
                <a:sym typeface="Helvetica Neue"/>
              </a:rPr>
              <a:t>  X</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had value </a:t>
            </a:r>
            <a:r>
              <a:rPr b="0" i="1" lang="en-US" sz="1800" u="none" cap="none" strike="noStrike">
                <a:solidFill>
                  <a:schemeClr val="dk1"/>
                </a:solidFill>
                <a:latin typeface="Helvetica Neue"/>
                <a:ea typeface="Helvetica Neue"/>
                <a:cs typeface="Helvetica Neue"/>
                <a:sym typeface="Helvetica Neue"/>
              </a:rPr>
              <a:t>V</a:t>
            </a:r>
            <a:r>
              <a:rPr b="0" baseline="-25000" i="1"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before the write, and will have value </a:t>
            </a:r>
            <a:r>
              <a:rPr b="0" i="1" lang="en-US" sz="1800" u="none" cap="none" strike="noStrike">
                <a:solidFill>
                  <a:schemeClr val="dk1"/>
                </a:solidFill>
                <a:latin typeface="Helvetica Neue"/>
                <a:ea typeface="Helvetica Neue"/>
                <a:cs typeface="Helvetica Neue"/>
                <a:sym typeface="Helvetica Neue"/>
              </a:rPr>
              <a:t>V</a:t>
            </a:r>
            <a:r>
              <a:rPr b="0" baseline="-25000" i="1" lang="en-US" sz="1800" u="none" cap="none" strike="noStrike">
                <a:solidFill>
                  <a:schemeClr val="dk1"/>
                </a:solidFill>
                <a:latin typeface="Helvetica Neue"/>
                <a:ea typeface="Helvetica Neue"/>
                <a:cs typeface="Helvetica Neue"/>
                <a:sym typeface="Helvetica Neue"/>
              </a:rPr>
              <a:t>2</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after the write.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finishes it last statement, the log record &lt;</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1"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commi</a:t>
            </a:r>
            <a:r>
              <a:rPr b="0" i="0" lang="en-US" sz="1800" u="none">
                <a:solidFill>
                  <a:schemeClr val="dk1"/>
                </a:solidFill>
                <a:latin typeface="Helvetica Neue"/>
                <a:ea typeface="Helvetica Neue"/>
                <a:cs typeface="Helvetica Neue"/>
                <a:sym typeface="Helvetica Neue"/>
              </a:rPr>
              <a:t>t&gt; is written.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assume for now that log records are written directly  to stable storage (that is, they are not buffered)</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Two approaches using logs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Deferred database modification</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Immediate database modification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57" name="Shape 157"/>
        <p:cNvGrpSpPr/>
        <p:nvPr/>
      </p:nvGrpSpPr>
      <p:grpSpPr>
        <a:xfrm>
          <a:off x="0" y="0"/>
          <a:ext cx="0" cy="0"/>
          <a:chOff x="0" y="0"/>
          <a:chExt cx="0" cy="0"/>
        </a:xfrm>
      </p:grpSpPr>
      <p:sp>
        <p:nvSpPr>
          <p:cNvPr id="158" name="Google Shape;158;p1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Deferred Database Modification</a:t>
            </a:r>
            <a:endParaRPr/>
          </a:p>
        </p:txBody>
      </p:sp>
      <p:sp>
        <p:nvSpPr>
          <p:cNvPr id="159" name="Google Shape;159;p18"/>
          <p:cNvSpPr txBox="1"/>
          <p:nvPr>
            <p:ph idx="4294967295" type="body"/>
          </p:nvPr>
        </p:nvSpPr>
        <p:spPr>
          <a:xfrm>
            <a:off x="842962" y="11064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t>
            </a:r>
            <a:r>
              <a:rPr b="1" i="0" lang="en-US" sz="1800" u="none">
                <a:solidFill>
                  <a:schemeClr val="dk2"/>
                </a:solidFill>
                <a:latin typeface="Helvetica Neue"/>
                <a:ea typeface="Helvetica Neue"/>
                <a:cs typeface="Helvetica Neue"/>
                <a:sym typeface="Helvetica Neue"/>
              </a:rPr>
              <a:t>deferred database modification</a:t>
            </a:r>
            <a:r>
              <a:rPr b="0" i="0" lang="en-US" sz="1800" u="none">
                <a:solidFill>
                  <a:schemeClr val="dk1"/>
                </a:solidFill>
                <a:latin typeface="Helvetica Neue"/>
                <a:ea typeface="Helvetica Neue"/>
                <a:cs typeface="Helvetica Neue"/>
                <a:sym typeface="Helvetica Neue"/>
              </a:rPr>
              <a:t> scheme records all modifications to the log, but defers all the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s to after partial commit.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Assume that transactions execute serially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Transaction starts by writing </a:t>
            </a:r>
            <a:r>
              <a:rPr b="0" i="1" lang="en-US" sz="1800" u="none">
                <a:solidFill>
                  <a:schemeClr val="dk1"/>
                </a:solidFill>
                <a:latin typeface="Helvetica Neue"/>
                <a:ea typeface="Helvetica Neue"/>
                <a:cs typeface="Helvetica Neue"/>
                <a:sym typeface="Helvetica Neue"/>
              </a:rPr>
              <a:t>&lt;T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1" i="1" lang="en-US" sz="1800" u="none">
                <a:solidFill>
                  <a:schemeClr val="dk1"/>
                </a:solidFill>
                <a:latin typeface="Helvetica Neue"/>
                <a:ea typeface="Helvetica Neue"/>
                <a:cs typeface="Helvetica Neue"/>
                <a:sym typeface="Helvetica Neue"/>
              </a:rPr>
              <a:t>start</a:t>
            </a:r>
            <a:r>
              <a:rPr b="0" i="1" lang="en-US" sz="1800" u="none">
                <a:solidFill>
                  <a:schemeClr val="dk1"/>
                </a:solidFill>
                <a:latin typeface="Helvetica Neue"/>
                <a:ea typeface="Helvetica Neue"/>
                <a:cs typeface="Helvetica Neue"/>
                <a:sym typeface="Helvetica Neue"/>
              </a:rPr>
              <a:t>&gt; </a:t>
            </a:r>
            <a:r>
              <a:rPr b="0" i="0" lang="en-US" sz="1800" u="none">
                <a:solidFill>
                  <a:schemeClr val="dk1"/>
                </a:solidFill>
                <a:latin typeface="Helvetica Neue"/>
                <a:ea typeface="Helvetica Neue"/>
                <a:cs typeface="Helvetica Neue"/>
                <a:sym typeface="Helvetica Neue"/>
              </a:rPr>
              <a:t>record to log. </a:t>
            </a:r>
            <a:endParaRPr/>
          </a:p>
          <a:p>
            <a:pPr indent="-342900" lvl="0" marL="342900" marR="0" rtl="0" algn="l">
              <a:lnSpc>
                <a:spcPct val="100000"/>
              </a:lnSpc>
              <a:spcBef>
                <a:spcPts val="70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  </a:t>
            </a:r>
            <a:r>
              <a:rPr b="1" i="0" lang="en-US" sz="1800" u="none">
                <a:solidFill>
                  <a:schemeClr val="dk1"/>
                </a:solidFill>
                <a:latin typeface="Helvetica Neue"/>
                <a:ea typeface="Helvetica Neue"/>
                <a:cs typeface="Helvetica Neue"/>
                <a:sym typeface="Helvetica Neue"/>
              </a:rPr>
              <a:t>write</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X</a:t>
            </a:r>
            <a:r>
              <a:rPr b="0" i="0" lang="en-US" sz="1800" u="none">
                <a:solidFill>
                  <a:schemeClr val="dk1"/>
                </a:solidFill>
                <a:latin typeface="Helvetica Neue"/>
                <a:ea typeface="Helvetica Neue"/>
                <a:cs typeface="Helvetica Neue"/>
                <a:sym typeface="Helvetica Neue"/>
              </a:rPr>
              <a:t>) operation results in a log record  </a:t>
            </a:r>
            <a:r>
              <a:rPr b="0" i="1" lang="en-US" sz="1800" u="none">
                <a:solidFill>
                  <a:schemeClr val="dk1"/>
                </a:solidFill>
                <a:latin typeface="Helvetica Neue"/>
                <a:ea typeface="Helvetica Neue"/>
                <a:cs typeface="Helvetica Neue"/>
                <a:sym typeface="Helvetica Neue"/>
              </a:rPr>
              <a:t>&lt;T</a:t>
            </a:r>
            <a:r>
              <a:rPr b="0" baseline="-25000" i="1" lang="en-US" sz="20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X, V&gt; </a:t>
            </a:r>
            <a:r>
              <a:rPr b="0" i="0" lang="en-US" sz="1800" u="none">
                <a:solidFill>
                  <a:schemeClr val="dk1"/>
                </a:solidFill>
                <a:latin typeface="Helvetica Neue"/>
                <a:ea typeface="Helvetica Neue"/>
                <a:cs typeface="Helvetica Neue"/>
                <a:sym typeface="Helvetica Neue"/>
              </a:rPr>
              <a:t>being written, where </a:t>
            </a:r>
            <a:r>
              <a:rPr b="0" i="1" lang="en-US" sz="1800" u="none">
                <a:solidFill>
                  <a:schemeClr val="dk1"/>
                </a:solidFill>
                <a:latin typeface="Helvetica Neue"/>
                <a:ea typeface="Helvetica Neue"/>
                <a:cs typeface="Helvetica Neue"/>
                <a:sym typeface="Helvetica Neue"/>
              </a:rPr>
              <a:t>V </a:t>
            </a:r>
            <a:r>
              <a:rPr b="0" i="0" lang="en-US" sz="1800" u="none">
                <a:solidFill>
                  <a:schemeClr val="dk1"/>
                </a:solidFill>
                <a:latin typeface="Helvetica Neue"/>
                <a:ea typeface="Helvetica Neue"/>
                <a:cs typeface="Helvetica Neue"/>
                <a:sym typeface="Helvetica Neue"/>
              </a:rPr>
              <a:t>is the new value for </a:t>
            </a:r>
            <a:r>
              <a:rPr b="0" i="1" lang="en-US" sz="1800" u="none">
                <a:solidFill>
                  <a:schemeClr val="dk1"/>
                </a:solidFill>
                <a:latin typeface="Helvetica Neue"/>
                <a:ea typeface="Helvetica Neue"/>
                <a:cs typeface="Helvetica Neue"/>
                <a:sym typeface="Helvetica Neue"/>
              </a:rPr>
              <a:t>X</a:t>
            </a:r>
            <a:endParaRPr b="0" i="0" sz="1800" u="non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Note: old value is not needed for this scheme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write is not performed on </a:t>
            </a:r>
            <a:r>
              <a:rPr b="0" i="1" lang="en-US" sz="1800" u="none">
                <a:solidFill>
                  <a:schemeClr val="dk1"/>
                </a:solidFill>
                <a:latin typeface="Helvetica Neue"/>
                <a:ea typeface="Helvetica Neue"/>
                <a:cs typeface="Helvetica Neue"/>
                <a:sym typeface="Helvetica Neue"/>
              </a:rPr>
              <a:t>X </a:t>
            </a:r>
            <a:r>
              <a:rPr b="0" i="0" lang="en-US" sz="1800" u="none">
                <a:solidFill>
                  <a:schemeClr val="dk1"/>
                </a:solidFill>
                <a:latin typeface="Helvetica Neue"/>
                <a:ea typeface="Helvetica Neue"/>
                <a:cs typeface="Helvetica Neue"/>
                <a:sym typeface="Helvetica Neue"/>
              </a:rPr>
              <a:t>at this time, but is deferred.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partially commits, &lt;</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commit</a:t>
            </a:r>
            <a:r>
              <a:rPr b="0" i="0" lang="en-US" sz="1800" u="none">
                <a:solidFill>
                  <a:schemeClr val="dk1"/>
                </a:solidFill>
                <a:latin typeface="Helvetica Neue"/>
                <a:ea typeface="Helvetica Neue"/>
                <a:cs typeface="Helvetica Neue"/>
                <a:sym typeface="Helvetica Neue"/>
              </a:rPr>
              <a:t>&gt; is written to the log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Finally, the log records are read and used to actually execute the previously deferred writes.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63" name="Shape 163"/>
        <p:cNvGrpSpPr/>
        <p:nvPr/>
      </p:nvGrpSpPr>
      <p:grpSpPr>
        <a:xfrm>
          <a:off x="0" y="0"/>
          <a:ext cx="0" cy="0"/>
          <a:chOff x="0" y="0"/>
          <a:chExt cx="0" cy="0"/>
        </a:xfrm>
      </p:grpSpPr>
      <p:sp>
        <p:nvSpPr>
          <p:cNvPr id="164" name="Google Shape;164;p1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Deferred Database Modification (Cont.)</a:t>
            </a:r>
            <a:endParaRPr/>
          </a:p>
        </p:txBody>
      </p:sp>
      <p:sp>
        <p:nvSpPr>
          <p:cNvPr id="165" name="Google Shape;165;p19"/>
          <p:cNvSpPr txBox="1"/>
          <p:nvPr>
            <p:ph idx="4294967295" type="body"/>
          </p:nvPr>
        </p:nvSpPr>
        <p:spPr>
          <a:xfrm>
            <a:off x="842962" y="1106487"/>
            <a:ext cx="8001000" cy="5359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During recovery after a crash, a transaction needs to be redone if and only if both </a:t>
            </a:r>
            <a:r>
              <a:rPr b="0" i="1" lang="en-US" sz="1800" u="none">
                <a:solidFill>
                  <a:schemeClr val="dk1"/>
                </a:solidFill>
                <a:latin typeface="Helvetica Neue"/>
                <a:ea typeface="Helvetica Neue"/>
                <a:cs typeface="Helvetica Neue"/>
                <a:sym typeface="Helvetica Neue"/>
              </a:rPr>
              <a:t>&lt;T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1" i="1"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start</a:t>
            </a:r>
            <a:r>
              <a:rPr b="0" i="0" lang="en-US" sz="1800" u="none">
                <a:solidFill>
                  <a:schemeClr val="dk1"/>
                </a:solidFill>
                <a:latin typeface="Helvetica Neue"/>
                <a:ea typeface="Helvetica Neue"/>
                <a:cs typeface="Helvetica Neue"/>
                <a:sym typeface="Helvetica Neue"/>
              </a:rPr>
              <a:t>&gt; and&lt;</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 </a:t>
            </a:r>
            <a:r>
              <a:rPr b="1" i="0" lang="en-US" sz="1800" u="none">
                <a:solidFill>
                  <a:schemeClr val="dk1"/>
                </a:solidFill>
                <a:latin typeface="Helvetica Neue"/>
                <a:ea typeface="Helvetica Neue"/>
                <a:cs typeface="Helvetica Neue"/>
                <a:sym typeface="Helvetica Neue"/>
              </a:rPr>
              <a:t>commit</a:t>
            </a:r>
            <a:r>
              <a:rPr b="0" i="0" lang="en-US" sz="1800" u="none">
                <a:solidFill>
                  <a:schemeClr val="dk1"/>
                </a:solidFill>
                <a:latin typeface="Helvetica Neue"/>
                <a:ea typeface="Helvetica Neue"/>
                <a:cs typeface="Helvetica Neue"/>
                <a:sym typeface="Helvetica Neue"/>
              </a:rPr>
              <a:t>&gt; are there in the log.</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Redoing a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1" i="0" lang="en-US" sz="1800" u="none">
                <a:solidFill>
                  <a:schemeClr val="dk1"/>
                </a:solidFill>
                <a:latin typeface="Helvetica Neue"/>
                <a:ea typeface="Helvetica Neue"/>
                <a:cs typeface="Helvetica Neue"/>
                <a:sym typeface="Helvetica Neue"/>
              </a:rPr>
              <a:t> redo</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sets the value of all data items updated by the transaction to the new values.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Crashes can occur while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transaction is executing the original updates, or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while recovery action is being taken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transactions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0</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0</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executes before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T</a:t>
            </a:r>
            <a:r>
              <a:rPr b="0" baseline="-25000" i="1"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read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read</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A: - A - 50</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C:-	C- 100</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Write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a:t>
            </a:r>
            <a:r>
              <a:rPr b="1" i="0" lang="en-US" sz="1800" u="none">
                <a:solidFill>
                  <a:schemeClr val="dk1"/>
                </a:solidFill>
                <a:latin typeface="Helvetica Neue"/>
                <a:ea typeface="Helvetica Neue"/>
                <a:cs typeface="Helvetica Neue"/>
                <a:sym typeface="Helvetica Neue"/>
              </a:rPr>
              <a:t>write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read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None/>
            </a:pPr>
            <a:r>
              <a:rPr b="0" i="1" lang="en-US" sz="1800" u="none">
                <a:solidFill>
                  <a:schemeClr val="dk1"/>
                </a:solidFill>
                <a:latin typeface="Helvetica Neue"/>
                <a:ea typeface="Helvetica Neue"/>
                <a:cs typeface="Helvetica Neue"/>
                <a:sym typeface="Helvetica Neue"/>
              </a:rPr>
              <a:t>		B:-  B + 50</a:t>
            </a:r>
            <a:endParaRPr/>
          </a:p>
          <a:p>
            <a:pPr indent="-342900" lvl="0" marL="342900" marR="0" rtl="0" algn="l">
              <a:lnSpc>
                <a:spcPct val="100000"/>
              </a:lnSpc>
              <a:spcBef>
                <a:spcPts val="63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		write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69" name="Shape 169"/>
        <p:cNvGrpSpPr/>
        <p:nvPr/>
      </p:nvGrpSpPr>
      <p:grpSpPr>
        <a:xfrm>
          <a:off x="0" y="0"/>
          <a:ext cx="0" cy="0"/>
          <a:chOff x="0" y="0"/>
          <a:chExt cx="0" cy="0"/>
        </a:xfrm>
      </p:grpSpPr>
      <p:sp>
        <p:nvSpPr>
          <p:cNvPr id="170" name="Google Shape;170;p2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Deferred Database Modification (Cont.)</a:t>
            </a:r>
            <a:endParaRPr/>
          </a:p>
        </p:txBody>
      </p:sp>
      <p:sp>
        <p:nvSpPr>
          <p:cNvPr id="171" name="Google Shape;171;p20"/>
          <p:cNvSpPr txBox="1"/>
          <p:nvPr>
            <p:ph idx="4294967295" type="body"/>
          </p:nvPr>
        </p:nvSpPr>
        <p:spPr>
          <a:xfrm>
            <a:off x="842962" y="1106487"/>
            <a:ext cx="8229600" cy="510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Below we show the log as it appears at three instances of time.</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2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log on stable storage at time of crash is as in case:</a:t>
            </a:r>
            <a:endParaRPr/>
          </a:p>
          <a:p>
            <a:pPr indent="-342900" lvl="0" marL="342900" marR="0" rtl="0" algn="l">
              <a:lnSpc>
                <a:spcPct val="7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(a)  No redo actions need to be taken</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(b)  redo(</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must be performed since &lt;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 </a:t>
            </a:r>
            <a:r>
              <a:rPr b="1" i="0" lang="en-US" sz="1600" u="none">
                <a:solidFill>
                  <a:schemeClr val="dk1"/>
                </a:solidFill>
                <a:latin typeface="Helvetica Neue"/>
                <a:ea typeface="Helvetica Neue"/>
                <a:cs typeface="Helvetica Neue"/>
                <a:sym typeface="Helvetica Neue"/>
              </a:rPr>
              <a:t>commi</a:t>
            </a:r>
            <a:r>
              <a:rPr b="0" i="0" lang="en-US" sz="1600" u="none">
                <a:solidFill>
                  <a:schemeClr val="dk1"/>
                </a:solidFill>
                <a:latin typeface="Helvetica Neue"/>
                <a:ea typeface="Helvetica Neue"/>
                <a:cs typeface="Helvetica Neue"/>
                <a:sym typeface="Helvetica Neue"/>
              </a:rPr>
              <a:t>t&gt; is present </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(c)  </a:t>
            </a:r>
            <a:r>
              <a:rPr b="1" i="0" lang="en-US" sz="1600" u="none">
                <a:solidFill>
                  <a:schemeClr val="dk1"/>
                </a:solidFill>
                <a:latin typeface="Helvetica Neue"/>
                <a:ea typeface="Helvetica Neue"/>
                <a:cs typeface="Helvetica Neue"/>
                <a:sym typeface="Helvetica Neue"/>
              </a:rPr>
              <a:t>redo</a:t>
            </a:r>
            <a:r>
              <a:rPr b="0" i="0" lang="en-US" sz="1600" u="none">
                <a:solidFill>
                  <a:schemeClr val="dk1"/>
                </a:solidFill>
                <a:latin typeface="Helvetica Neue"/>
                <a:ea typeface="Helvetica Neue"/>
                <a:cs typeface="Helvetica Neue"/>
                <a:sym typeface="Helvetica Neue"/>
              </a:rPr>
              <a: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must be performed followed by redo(</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since</a:t>
            </a:r>
            <a:endParaRPr/>
          </a:p>
          <a:p>
            <a:pPr indent="-342900" lvl="0" marL="342900" marR="0" rtl="0" algn="l">
              <a:lnSpc>
                <a:spcPct val="7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commit</a:t>
            </a:r>
            <a:r>
              <a:rPr b="0" i="0" lang="en-US" sz="1600" u="none">
                <a:solidFill>
                  <a:schemeClr val="dk1"/>
                </a:solidFill>
                <a:latin typeface="Helvetica Neue"/>
                <a:ea typeface="Helvetica Neue"/>
                <a:cs typeface="Helvetica Neue"/>
                <a:sym typeface="Helvetica Neue"/>
              </a:rPr>
              <a:t>&gt; and &lt;</a:t>
            </a:r>
            <a:r>
              <a:rPr b="0" i="1" lang="en-US" sz="1600" u="none">
                <a:solidFill>
                  <a:schemeClr val="dk1"/>
                </a:solidFill>
                <a:latin typeface="Helvetica Neue"/>
                <a:ea typeface="Helvetica Neue"/>
                <a:cs typeface="Helvetica Neue"/>
                <a:sym typeface="Helvetica Neue"/>
              </a:rPr>
              <a:t>T</a:t>
            </a:r>
            <a:r>
              <a:rPr b="0" baseline="-25000" i="1" lang="en-US" sz="1600" u="none">
                <a:solidFill>
                  <a:schemeClr val="dk1"/>
                </a:solidFill>
                <a:latin typeface="Helvetica Neue"/>
                <a:ea typeface="Helvetica Neue"/>
                <a:cs typeface="Helvetica Neue"/>
                <a:sym typeface="Helvetica Neue"/>
              </a:rPr>
              <a:t>i</a:t>
            </a:r>
            <a:r>
              <a:rPr b="0" i="0" lang="en-US" sz="1600" u="none">
                <a:solidFill>
                  <a:schemeClr val="dk1"/>
                </a:solidFill>
                <a:latin typeface="Helvetica Neue"/>
                <a:ea typeface="Helvetica Neue"/>
                <a:cs typeface="Helvetica Neue"/>
                <a:sym typeface="Helvetica Neue"/>
              </a:rPr>
              <a:t> commit&gt; are present</a:t>
            </a:r>
            <a:endParaRPr/>
          </a:p>
        </p:txBody>
      </p:sp>
      <p:pic>
        <p:nvPicPr>
          <p:cNvPr id="172" name="Google Shape;172;p20"/>
          <p:cNvPicPr preferRelativeResize="0"/>
          <p:nvPr/>
        </p:nvPicPr>
        <p:blipFill rotWithShape="1">
          <a:blip r:embed="rId3">
            <a:alphaModFix/>
          </a:blip>
          <a:srcRect b="22221" l="1189" r="2380" t="22222"/>
          <a:stretch/>
        </p:blipFill>
        <p:spPr>
          <a:xfrm>
            <a:off x="1573212" y="1589087"/>
            <a:ext cx="5926137" cy="25606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76" name="Shape 176"/>
        <p:cNvGrpSpPr/>
        <p:nvPr/>
      </p:nvGrpSpPr>
      <p:grpSpPr>
        <a:xfrm>
          <a:off x="0" y="0"/>
          <a:ext cx="0" cy="0"/>
          <a:chOff x="0" y="0"/>
          <a:chExt cx="0" cy="0"/>
        </a:xfrm>
      </p:grpSpPr>
      <p:sp>
        <p:nvSpPr>
          <p:cNvPr id="177" name="Google Shape;177;p2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Immediate Database Modification</a:t>
            </a:r>
            <a:endParaRPr/>
          </a:p>
        </p:txBody>
      </p:sp>
      <p:sp>
        <p:nvSpPr>
          <p:cNvPr id="178" name="Google Shape;178;p21"/>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a:t>
            </a:r>
            <a:r>
              <a:rPr b="1" i="0" lang="en-US" sz="1800" u="none">
                <a:solidFill>
                  <a:schemeClr val="dk2"/>
                </a:solidFill>
                <a:latin typeface="Helvetica Neue"/>
                <a:ea typeface="Helvetica Neue"/>
                <a:cs typeface="Helvetica Neue"/>
                <a:sym typeface="Helvetica Neue"/>
              </a:rPr>
              <a:t>immediate database modification</a:t>
            </a:r>
            <a:r>
              <a:rPr b="0" i="0" lang="en-US" sz="1800" u="none">
                <a:solidFill>
                  <a:schemeClr val="dk1"/>
                </a:solidFill>
                <a:latin typeface="Helvetica Neue"/>
                <a:ea typeface="Helvetica Neue"/>
                <a:cs typeface="Helvetica Neue"/>
                <a:sym typeface="Helvetica Neue"/>
              </a:rPr>
              <a:t> scheme allows database updates of an uncommitted transaction to be made as the writes are issued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since undoing may be needed, update logs must have both old value and new value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Update log record must be written </a:t>
            </a:r>
            <a:r>
              <a:rPr b="0" i="1" lang="en-US" sz="1800" u="none">
                <a:solidFill>
                  <a:schemeClr val="dk1"/>
                </a:solidFill>
                <a:latin typeface="Helvetica Neue"/>
                <a:ea typeface="Helvetica Neue"/>
                <a:cs typeface="Helvetica Neue"/>
                <a:sym typeface="Helvetica Neue"/>
              </a:rPr>
              <a:t>before</a:t>
            </a:r>
            <a:r>
              <a:rPr b="0" i="0" lang="en-US" sz="1800" u="none">
                <a:solidFill>
                  <a:schemeClr val="dk1"/>
                </a:solidFill>
                <a:latin typeface="Helvetica Neue"/>
                <a:ea typeface="Helvetica Neue"/>
                <a:cs typeface="Helvetica Neue"/>
                <a:sym typeface="Helvetica Neue"/>
              </a:rPr>
              <a:t> database item is written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We assume that the log record is output directly to stable storage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be extended to postpone log record output, so long as prior to execution of an </a:t>
            </a:r>
            <a:r>
              <a:rPr b="1" i="0" lang="en-US" sz="1800" u="none" cap="none" strike="noStrike">
                <a:solidFill>
                  <a:schemeClr val="dk1"/>
                </a:solidFill>
                <a:latin typeface="Helvetica Neue"/>
                <a:ea typeface="Helvetica Neue"/>
                <a:cs typeface="Helvetica Neue"/>
                <a:sym typeface="Helvetica Neue"/>
              </a:rPr>
              <a:t>output</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operation for a data block B, all log records corresponding to items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must be flushed to stable storage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Output of updated blocks can take place at any time before or  after transaction commit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Order in which blocks are output can be different from the order in which they are written.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82" name="Shape 182"/>
        <p:cNvGrpSpPr/>
        <p:nvPr/>
      </p:nvGrpSpPr>
      <p:grpSpPr>
        <a:xfrm>
          <a:off x="0" y="0"/>
          <a:ext cx="0" cy="0"/>
          <a:chOff x="0" y="0"/>
          <a:chExt cx="0" cy="0"/>
        </a:xfrm>
      </p:grpSpPr>
      <p:sp>
        <p:nvSpPr>
          <p:cNvPr id="183" name="Google Shape;183;p22"/>
          <p:cNvSpPr txBox="1"/>
          <p:nvPr>
            <p:ph type="title"/>
          </p:nvPr>
        </p:nvSpPr>
        <p:spPr>
          <a:xfrm>
            <a:off x="838200" y="1524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000"/>
              <a:buFont typeface="Helvetica Neue"/>
              <a:buNone/>
            </a:pPr>
            <a:r>
              <a:rPr b="1" i="0" lang="en-US" sz="3000" u="none">
                <a:solidFill>
                  <a:schemeClr val="dk2"/>
                </a:solidFill>
                <a:latin typeface="Helvetica Neue"/>
                <a:ea typeface="Helvetica Neue"/>
                <a:cs typeface="Helvetica Neue"/>
                <a:sym typeface="Helvetica Neue"/>
              </a:rPr>
              <a:t>Immediate Database Modification Example</a:t>
            </a:r>
            <a:endParaRPr/>
          </a:p>
        </p:txBody>
      </p:sp>
      <p:sp>
        <p:nvSpPr>
          <p:cNvPr id="184" name="Google Shape;184;p22"/>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440"/>
              <a:buFont typeface="Arial"/>
              <a:buNone/>
            </a:pPr>
            <a:r>
              <a:rPr b="1" i="0" lang="en-US" sz="1600" u="none">
                <a:solidFill>
                  <a:schemeClr val="dk1"/>
                </a:solidFill>
                <a:latin typeface="Helvetica Neue"/>
                <a:ea typeface="Helvetica Neue"/>
                <a:cs typeface="Helvetica Neue"/>
                <a:sym typeface="Helvetica Neue"/>
              </a:rPr>
              <a:t>Log                                  Write                              Output</a:t>
            </a:r>
            <a:endParaRPr b="0" i="0" sz="1600" u="none">
              <a:solidFill>
                <a:schemeClr val="dk1"/>
              </a:solidFill>
              <a:latin typeface="Helvetica Neue"/>
              <a:ea typeface="Helvetica Neue"/>
              <a:cs typeface="Helvetica Neue"/>
              <a:sym typeface="Helvetica Neue"/>
            </a:endParaRPr>
          </a:p>
          <a:p>
            <a:pPr indent="-342900" lvl="0" marL="342900" marR="0" rtl="0" algn="l">
              <a:lnSpc>
                <a:spcPct val="8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6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1"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start</a:t>
            </a:r>
            <a:r>
              <a:rPr b="0" i="0" lang="en-US" sz="1600" u="none">
                <a:solidFill>
                  <a:schemeClr val="dk1"/>
                </a:solidFill>
                <a:latin typeface="Helvetica Neue"/>
                <a:ea typeface="Helvetica Neue"/>
                <a:cs typeface="Helvetica Neue"/>
                <a:sym typeface="Helvetica Neue"/>
              </a:rPr>
              <a:t>&gt;</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1" lang="en-US" sz="1600" u="none">
                <a:solidFill>
                  <a:schemeClr val="dk1"/>
                </a:solidFill>
                <a:latin typeface="Helvetica Neue"/>
                <a:ea typeface="Helvetica Neue"/>
                <a:cs typeface="Helvetica Neue"/>
                <a:sym typeface="Helvetica Neue"/>
              </a:rPr>
              <a:t>0</a:t>
            </a:r>
            <a:r>
              <a:rPr b="0" i="1" lang="en-US" sz="1600" u="none">
                <a:solidFill>
                  <a:schemeClr val="dk1"/>
                </a:solidFill>
                <a:latin typeface="Helvetica Neue"/>
                <a:ea typeface="Helvetica Neue"/>
                <a:cs typeface="Helvetica Neue"/>
                <a:sym typeface="Helvetica Neue"/>
              </a:rPr>
              <a:t>,</a:t>
            </a:r>
            <a:r>
              <a:rPr b="0" i="0" lang="en-US" sz="1600" u="none">
                <a:solidFill>
                  <a:schemeClr val="dk1"/>
                </a:solidFill>
                <a:latin typeface="Helvetica Neue"/>
                <a:ea typeface="Helvetica Neue"/>
                <a:cs typeface="Helvetica Neue"/>
                <a:sym typeface="Helvetica Neue"/>
              </a:rPr>
              <a:t> A, 1000, 950&gt;</a:t>
            </a:r>
            <a:endParaRPr/>
          </a:p>
          <a:p>
            <a:pPr indent="-342900" lvl="0" marL="342900" marR="0" rtl="0" algn="l">
              <a:lnSpc>
                <a:spcPct val="70000"/>
              </a:lnSpc>
              <a:spcBef>
                <a:spcPts val="560"/>
              </a:spcBef>
              <a:spcAft>
                <a:spcPts val="0"/>
              </a:spcAft>
              <a:buClr>
                <a:schemeClr val="dk2"/>
              </a:buClr>
              <a:buSzPts val="1440"/>
              <a:buFont typeface="Arial"/>
              <a:buNone/>
            </a:pP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o</a:t>
            </a:r>
            <a:r>
              <a:rPr b="0" i="1" lang="en-US" sz="1600" u="none">
                <a:solidFill>
                  <a:schemeClr val="dk1"/>
                </a:solidFill>
                <a:latin typeface="Helvetica Neue"/>
                <a:ea typeface="Helvetica Neue"/>
                <a:cs typeface="Helvetica Neue"/>
                <a:sym typeface="Helvetica Neue"/>
              </a:rPr>
              <a:t>,</a:t>
            </a:r>
            <a:r>
              <a:rPr b="0" i="0" lang="en-US" sz="1600" u="none">
                <a:solidFill>
                  <a:schemeClr val="dk1"/>
                </a:solidFill>
                <a:latin typeface="Helvetica Neue"/>
                <a:ea typeface="Helvetica Neue"/>
                <a:cs typeface="Helvetica Neue"/>
                <a:sym typeface="Helvetica Neue"/>
              </a:rPr>
              <a:t> B, 2000, 2050</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 950</a:t>
            </a:r>
            <a:endParaRPr/>
          </a:p>
          <a:p>
            <a:pPr indent="-342900" lvl="0" marL="342900" marR="0" rtl="0" algn="l">
              <a:lnSpc>
                <a:spcPct val="6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 = 2050</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commit</a:t>
            </a:r>
            <a:r>
              <a:rPr b="0" i="0" lang="en-US" sz="1600" u="none">
                <a:solidFill>
                  <a:schemeClr val="dk1"/>
                </a:solidFill>
                <a:latin typeface="Helvetica Neue"/>
                <a:ea typeface="Helvetica Neue"/>
                <a:cs typeface="Helvetica Neue"/>
                <a:sym typeface="Helvetica Neue"/>
              </a:rPr>
              <a:t>&gt;</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start</a:t>
            </a:r>
            <a:r>
              <a:rPr b="0" i="0" lang="en-US" sz="1600" u="none">
                <a:solidFill>
                  <a:schemeClr val="dk1"/>
                </a:solidFill>
                <a:latin typeface="Helvetica Neue"/>
                <a:ea typeface="Helvetica Neue"/>
                <a:cs typeface="Helvetica Neue"/>
                <a:sym typeface="Helvetica Neue"/>
              </a:rPr>
              <a:t>&gt;</a:t>
            </a:r>
            <a:endParaRPr/>
          </a:p>
          <a:p>
            <a:pPr indent="-342900" lvl="0" marL="342900" marR="0" rtl="0" algn="l">
              <a:lnSpc>
                <a:spcPct val="6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C, 700, 600&gt;</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C</a:t>
            </a:r>
            <a:r>
              <a:rPr b="0" i="0" lang="en-US" sz="1600" u="none">
                <a:solidFill>
                  <a:schemeClr val="dk1"/>
                </a:solidFill>
                <a:latin typeface="Helvetica Neue"/>
                <a:ea typeface="Helvetica Neue"/>
                <a:cs typeface="Helvetica Neue"/>
                <a:sym typeface="Helvetica Neue"/>
              </a:rPr>
              <a:t> = 600</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r>
              <a:rPr b="0" baseline="-2500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r>
              <a:rPr b="0" baseline="-25000" i="1" lang="en-US" sz="1600" u="none">
                <a:solidFill>
                  <a:schemeClr val="dk1"/>
                </a:solidFill>
                <a:latin typeface="Helvetica Neue"/>
                <a:ea typeface="Helvetica Neue"/>
                <a:cs typeface="Helvetica Neue"/>
                <a:sym typeface="Helvetica Neue"/>
              </a:rPr>
              <a:t>C</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&lt;</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a:t>
            </a:r>
            <a:r>
              <a:rPr b="1" i="0" lang="en-US" sz="1600" u="none">
                <a:solidFill>
                  <a:schemeClr val="dk1"/>
                </a:solidFill>
                <a:latin typeface="Helvetica Neue"/>
                <a:ea typeface="Helvetica Neue"/>
                <a:cs typeface="Helvetica Neue"/>
                <a:sym typeface="Helvetica Neue"/>
              </a:rPr>
              <a:t>commit</a:t>
            </a:r>
            <a:r>
              <a:rPr b="0" i="0" lang="en-US" sz="1600" u="none">
                <a:solidFill>
                  <a:schemeClr val="dk1"/>
                </a:solidFill>
                <a:latin typeface="Helvetica Neue"/>
                <a:ea typeface="Helvetica Neue"/>
                <a:cs typeface="Helvetica Neue"/>
                <a:sym typeface="Helvetica Neue"/>
              </a:rPr>
              <a:t>&gt;</a:t>
            </a:r>
            <a:endParaRPr/>
          </a:p>
          <a:p>
            <a:pPr indent="-342900" lvl="0" marL="342900" marR="0" rtl="0" algn="l">
              <a:lnSpc>
                <a:spcPct val="7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a:t>
            </a:r>
            <a:r>
              <a:rPr b="0" i="1" lang="en-US" sz="1600" u="none">
                <a:solidFill>
                  <a:schemeClr val="dk1"/>
                </a:solidFill>
                <a:latin typeface="Helvetica Neue"/>
                <a:ea typeface="Helvetica Neue"/>
                <a:cs typeface="Helvetica Neue"/>
                <a:sym typeface="Helvetica Neue"/>
              </a:rPr>
              <a:t>B</a:t>
            </a:r>
            <a:r>
              <a:rPr b="0" baseline="-25000" i="1" lang="en-US" sz="1600" u="none">
                <a:solidFill>
                  <a:schemeClr val="dk1"/>
                </a:solidFill>
                <a:latin typeface="Helvetica Neue"/>
                <a:ea typeface="Helvetica Neue"/>
                <a:cs typeface="Helvetica Neue"/>
                <a:sym typeface="Helvetica Neue"/>
              </a:rPr>
              <a:t>A</a:t>
            </a:r>
            <a:endParaRPr b="0" i="0" sz="16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560"/>
              </a:spcBef>
              <a:spcAft>
                <a:spcPts val="0"/>
              </a:spcAft>
              <a:buClr>
                <a:schemeClr val="dk2"/>
              </a:buClr>
              <a:buSzPts val="1440"/>
              <a:buFont typeface="Arial"/>
              <a:buChar char="●"/>
            </a:pPr>
            <a:r>
              <a:rPr b="0" i="0" lang="en-US" sz="1600" u="none">
                <a:solidFill>
                  <a:schemeClr val="dk1"/>
                </a:solidFill>
                <a:latin typeface="Helvetica Neue"/>
                <a:ea typeface="Helvetica Neue"/>
                <a:cs typeface="Helvetica Neue"/>
                <a:sym typeface="Helvetica Neue"/>
              </a:rPr>
              <a:t>Note: </a:t>
            </a:r>
            <a:r>
              <a:rPr b="0" i="1" lang="en-US" sz="1600" u="none">
                <a:solidFill>
                  <a:schemeClr val="dk1"/>
                </a:solidFill>
                <a:latin typeface="Helvetica Neue"/>
                <a:ea typeface="Helvetica Neue"/>
                <a:cs typeface="Helvetica Neue"/>
                <a:sym typeface="Helvetica Neue"/>
              </a:rPr>
              <a:t>B</a:t>
            </a:r>
            <a:r>
              <a:rPr b="0" baseline="-25000" i="1" lang="en-US" sz="1600" u="none">
                <a:solidFill>
                  <a:schemeClr val="dk1"/>
                </a:solidFill>
                <a:latin typeface="Helvetica Neue"/>
                <a:ea typeface="Helvetica Neue"/>
                <a:cs typeface="Helvetica Neue"/>
                <a:sym typeface="Helvetica Neue"/>
              </a:rPr>
              <a:t>X</a:t>
            </a:r>
            <a:r>
              <a:rPr b="0" i="1" lang="en-US" sz="1600" u="none">
                <a:solidFill>
                  <a:schemeClr val="dk1"/>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denotes block containing </a:t>
            </a:r>
            <a:r>
              <a:rPr b="0" i="1" lang="en-US" sz="1600" u="none">
                <a:solidFill>
                  <a:schemeClr val="dk1"/>
                </a:solidFill>
                <a:latin typeface="Helvetica Neue"/>
                <a:ea typeface="Helvetica Neue"/>
                <a:cs typeface="Helvetica Neue"/>
                <a:sym typeface="Helvetica Neue"/>
              </a:rPr>
              <a:t>X</a:t>
            </a:r>
            <a:r>
              <a:rPr b="0" i="0" lang="en-US" sz="1600" u="none">
                <a:solidFill>
                  <a:schemeClr val="dk1"/>
                </a:solidFill>
                <a:latin typeface="Helvetica Neue"/>
                <a:ea typeface="Helvetica Neue"/>
                <a:cs typeface="Helvetica Neue"/>
                <a:sym typeface="Helvetica Neue"/>
              </a:rPr>
              <a:t>.</a:t>
            </a:r>
            <a:endParaRPr/>
          </a:p>
          <a:p>
            <a:pPr indent="-251459" lvl="0" marL="342900" marR="0" rtl="0" algn="l">
              <a:lnSpc>
                <a:spcPct val="10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p:txBody>
      </p:sp>
      <p:cxnSp>
        <p:nvCxnSpPr>
          <p:cNvPr id="185" name="Google Shape;185;p22"/>
          <p:cNvCxnSpPr/>
          <p:nvPr/>
        </p:nvCxnSpPr>
        <p:spPr>
          <a:xfrm>
            <a:off x="914400" y="1592262"/>
            <a:ext cx="6629400" cy="0"/>
          </a:xfrm>
          <a:prstGeom prst="straightConnector1">
            <a:avLst/>
          </a:prstGeom>
          <a:noFill/>
          <a:ln cap="flat" cmpd="sng" w="9525">
            <a:solidFill>
              <a:schemeClr val="dk1"/>
            </a:solidFill>
            <a:prstDash val="solid"/>
            <a:miter lim="800000"/>
            <a:headEnd len="med" w="med" type="none"/>
            <a:tailEnd len="med" w="med" type="none"/>
          </a:ln>
        </p:spPr>
      </p:cxnSp>
      <p:sp>
        <p:nvSpPr>
          <p:cNvPr id="186" name="Google Shape;186;p22"/>
          <p:cNvSpPr txBox="1"/>
          <p:nvPr/>
        </p:nvSpPr>
        <p:spPr>
          <a:xfrm>
            <a:off x="1865312" y="3624262"/>
            <a:ext cx="3429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x</a:t>
            </a:r>
            <a:r>
              <a:rPr b="0" baseline="-25000" i="0" lang="en-US" sz="1400" u="none">
                <a:solidFill>
                  <a:schemeClr val="dk1"/>
                </a:solidFill>
                <a:latin typeface="Times New Roman"/>
                <a:ea typeface="Times New Roman"/>
                <a:cs typeface="Times New Roman"/>
                <a:sym typeface="Times New Roman"/>
              </a:rPr>
              <a:t>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90" name="Shape 190"/>
        <p:cNvGrpSpPr/>
        <p:nvPr/>
      </p:nvGrpSpPr>
      <p:grpSpPr>
        <a:xfrm>
          <a:off x="0" y="0"/>
          <a:ext cx="0" cy="0"/>
          <a:chOff x="0" y="0"/>
          <a:chExt cx="0" cy="0"/>
        </a:xfrm>
      </p:grpSpPr>
      <p:sp>
        <p:nvSpPr>
          <p:cNvPr id="191" name="Google Shape;191;p2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Immediate Database Modification (Cont.)</a:t>
            </a:r>
            <a:endParaRPr/>
          </a:p>
        </p:txBody>
      </p:sp>
      <p:sp>
        <p:nvSpPr>
          <p:cNvPr id="192" name="Google Shape;192;p23"/>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procedure has two operations instead of one:</a:t>
            </a:r>
            <a:endParaRPr/>
          </a:p>
          <a:p>
            <a:pPr indent="-285750" lvl="1" marL="742950" marR="0" rtl="0" algn="l">
              <a:lnSpc>
                <a:spcPct val="9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 undo</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restores the value of all data items updated by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to their old values, going backwards from the last log record for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endParaRPr b="0" i="1" sz="1800" u="none" cap="none" strike="noStrike">
              <a:solidFill>
                <a:schemeClr val="dk1"/>
              </a:solidFill>
              <a:latin typeface="Helvetica Neue"/>
              <a:ea typeface="Helvetica Neue"/>
              <a:cs typeface="Helvetica Neue"/>
              <a:sym typeface="Helvetica Neue"/>
            </a:endParaRPr>
          </a:p>
          <a:p>
            <a:pPr indent="-285750" lvl="1" marL="742950" marR="0" rtl="0" algn="l">
              <a:lnSpc>
                <a:spcPct val="90000"/>
              </a:lnSpc>
              <a:spcBef>
                <a:spcPts val="630"/>
              </a:spcBef>
              <a:spcAft>
                <a:spcPts val="0"/>
              </a:spcAft>
              <a:buClr>
                <a:schemeClr val="hlink"/>
              </a:buClr>
              <a:buSzPts val="1440"/>
              <a:buFont typeface="Arial"/>
              <a:buChar char="●"/>
            </a:pPr>
            <a:r>
              <a:rPr b="1" i="0" lang="en-US" sz="1800" u="none" cap="none" strike="noStrike">
                <a:solidFill>
                  <a:schemeClr val="dk1"/>
                </a:solidFill>
                <a:latin typeface="Helvetica Neue"/>
                <a:ea typeface="Helvetica Neue"/>
                <a:cs typeface="Helvetica Neue"/>
                <a:sym typeface="Helvetica Neue"/>
              </a:rPr>
              <a:t>redo</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sets the value of all data items updated by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to the new values, going forward from the first log record for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endParaRPr b="0" i="1" sz="1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Both operations must be </a:t>
            </a:r>
            <a:r>
              <a:rPr b="1" i="0" lang="en-US" sz="1800" u="none">
                <a:solidFill>
                  <a:schemeClr val="dk2"/>
                </a:solidFill>
                <a:latin typeface="Helvetica Neue"/>
                <a:ea typeface="Helvetica Neue"/>
                <a:cs typeface="Helvetica Neue"/>
                <a:sym typeface="Helvetica Neue"/>
              </a:rPr>
              <a:t>idempotent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That is, even if the operation is executed multiple times the effect is the same as if it is executed once</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Needed since operations may get re-executed during recovery </a:t>
            </a:r>
            <a:endParaRPr b="1" i="0" sz="1800" u="none" cap="none" strike="noStrike">
              <a:solidFill>
                <a:schemeClr val="dk2"/>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recovering after failure: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Transaction</a:t>
            </a:r>
            <a:r>
              <a:rPr b="0" i="1" lang="en-US" sz="1800" u="none" cap="none" strike="noStrike">
                <a:solidFill>
                  <a:schemeClr val="dk1"/>
                </a:solidFill>
                <a:latin typeface="Helvetica Neue"/>
                <a:ea typeface="Helvetica Neue"/>
                <a:cs typeface="Helvetica Neue"/>
                <a:sym typeface="Helvetica Neue"/>
              </a:rPr>
              <a:t> 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needs to be undone if the log contains the record </a:t>
            </a:r>
            <a:br>
              <a:rPr b="0" i="0"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 but does not contain the record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Transaction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needs to be redone if the log contains both the record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 and the record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 </a:t>
            </a:r>
            <a:r>
              <a:rPr b="1" i="0" lang="en-US" sz="1800" u="none" cap="none" strike="noStrike">
                <a:solidFill>
                  <a:schemeClr val="dk1"/>
                </a:solidFill>
                <a:latin typeface="Helvetica Neue"/>
                <a:ea typeface="Helvetica Neue"/>
                <a:cs typeface="Helvetica Neue"/>
                <a:sym typeface="Helvetica Neue"/>
              </a:rPr>
              <a:t>commit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Undo operations are performed first, then redo operations.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196" name="Shape 196"/>
        <p:cNvGrpSpPr/>
        <p:nvPr/>
      </p:nvGrpSpPr>
      <p:grpSpPr>
        <a:xfrm>
          <a:off x="0" y="0"/>
          <a:ext cx="0" cy="0"/>
          <a:chOff x="0" y="0"/>
          <a:chExt cx="0" cy="0"/>
        </a:xfrm>
      </p:grpSpPr>
      <p:sp>
        <p:nvSpPr>
          <p:cNvPr id="197" name="Google Shape;197;p24"/>
          <p:cNvSpPr txBox="1"/>
          <p:nvPr>
            <p:ph type="title"/>
          </p:nvPr>
        </p:nvSpPr>
        <p:spPr>
          <a:xfrm>
            <a:off x="552450" y="352425"/>
            <a:ext cx="8210550" cy="79057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000"/>
              <a:buFont typeface="Helvetica Neue"/>
              <a:buNone/>
            </a:pPr>
            <a:r>
              <a:rPr b="1" i="0" lang="en-US" sz="3000" u="none">
                <a:solidFill>
                  <a:schemeClr val="dk2"/>
                </a:solidFill>
                <a:latin typeface="Helvetica Neue"/>
                <a:ea typeface="Helvetica Neue"/>
                <a:cs typeface="Helvetica Neue"/>
                <a:sym typeface="Helvetica Neue"/>
              </a:rPr>
              <a:t>Immediate DB Modification Recovery Example</a:t>
            </a:r>
            <a:endParaRPr/>
          </a:p>
        </p:txBody>
      </p:sp>
      <p:sp>
        <p:nvSpPr>
          <p:cNvPr id="198" name="Google Shape;198;p24"/>
          <p:cNvSpPr txBox="1"/>
          <p:nvPr>
            <p:ph idx="4294967295" type="body"/>
          </p:nvPr>
        </p:nvSpPr>
        <p:spPr>
          <a:xfrm>
            <a:off x="838200" y="1289050"/>
            <a:ext cx="83058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Below we show the log as it appears at three instances of time.</a:t>
            </a:r>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3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7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Recovery actions in each case above are:</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(a)  undo (</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B is restored to 2000 and A to 1000.</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(b)  undo (</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and redo (</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C is restored to 700, and then </a:t>
            </a:r>
            <a:r>
              <a:rPr b="0" i="1" lang="en-US" sz="1600" u="none">
                <a:solidFill>
                  <a:schemeClr val="dk1"/>
                </a:solidFill>
                <a:latin typeface="Helvetica Neue"/>
                <a:ea typeface="Helvetica Neue"/>
                <a:cs typeface="Helvetica Neue"/>
                <a:sym typeface="Helvetica Neue"/>
              </a:rPr>
              <a:t>A</a:t>
            </a:r>
            <a:r>
              <a:rPr b="0" i="0" lang="en-US" sz="1600" u="none">
                <a:solidFill>
                  <a:schemeClr val="dk1"/>
                </a:solidFill>
                <a:latin typeface="Helvetica Neue"/>
                <a:ea typeface="Helvetica Neue"/>
                <a:cs typeface="Helvetica Neue"/>
                <a:sym typeface="Helvetica Neue"/>
              </a:rPr>
              <a:t> and </a:t>
            </a:r>
            <a:r>
              <a:rPr b="0" i="1" lang="en-US" sz="1600" u="none">
                <a:solidFill>
                  <a:schemeClr val="dk1"/>
                </a:solidFill>
                <a:latin typeface="Helvetica Neue"/>
                <a:ea typeface="Helvetica Neue"/>
                <a:cs typeface="Helvetica Neue"/>
                <a:sym typeface="Helvetica Neue"/>
              </a:rPr>
              <a:t>B</a:t>
            </a:r>
            <a:r>
              <a:rPr b="0" i="0" lang="en-US" sz="1600" u="none">
                <a:solidFill>
                  <a:schemeClr val="dk1"/>
                </a:solidFill>
                <a:latin typeface="Helvetica Neue"/>
                <a:ea typeface="Helvetica Neue"/>
                <a:cs typeface="Helvetica Neue"/>
                <a:sym typeface="Helvetica Neue"/>
              </a:rPr>
              <a:t> are  </a:t>
            </a:r>
            <a:endParaRPr/>
          </a:p>
          <a:p>
            <a:pPr indent="-342900" lvl="0" marL="342900" marR="0" rtl="0" algn="l">
              <a:lnSpc>
                <a:spcPct val="10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set to 950 and 2050 respectively.</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(c)  redo (</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0</a:t>
            </a:r>
            <a:r>
              <a:rPr b="0" i="0" lang="en-US" sz="1600" u="none">
                <a:solidFill>
                  <a:schemeClr val="dk1"/>
                </a:solidFill>
                <a:latin typeface="Helvetica Neue"/>
                <a:ea typeface="Helvetica Neue"/>
                <a:cs typeface="Helvetica Neue"/>
                <a:sym typeface="Helvetica Neue"/>
              </a:rPr>
              <a:t>) and redo (</a:t>
            </a:r>
            <a:r>
              <a:rPr b="0" i="1" lang="en-US" sz="1600" u="none">
                <a:solidFill>
                  <a:schemeClr val="dk1"/>
                </a:solidFill>
                <a:latin typeface="Helvetica Neue"/>
                <a:ea typeface="Helvetica Neue"/>
                <a:cs typeface="Helvetica Neue"/>
                <a:sym typeface="Helvetica Neue"/>
              </a:rPr>
              <a:t>T</a:t>
            </a:r>
            <a:r>
              <a:rPr b="0" baseline="-25000" i="0" lang="en-US" sz="1600" u="none">
                <a:solidFill>
                  <a:schemeClr val="dk1"/>
                </a:solidFill>
                <a:latin typeface="Helvetica Neue"/>
                <a:ea typeface="Helvetica Neue"/>
                <a:cs typeface="Helvetica Neue"/>
                <a:sym typeface="Helvetica Neue"/>
              </a:rPr>
              <a:t>1</a:t>
            </a:r>
            <a:r>
              <a:rPr b="0" i="0" lang="en-US" sz="1600" u="none">
                <a:solidFill>
                  <a:schemeClr val="dk1"/>
                </a:solidFill>
                <a:latin typeface="Helvetica Neue"/>
                <a:ea typeface="Helvetica Neue"/>
                <a:cs typeface="Helvetica Neue"/>
                <a:sym typeface="Helvetica Neue"/>
              </a:rPr>
              <a:t>): A and B are set to 950 and 2050 </a:t>
            </a:r>
            <a:endParaRPr/>
          </a:p>
          <a:p>
            <a:pPr indent="-342900" lvl="0" marL="342900" marR="0" rtl="0" algn="l">
              <a:lnSpc>
                <a:spcPct val="80000"/>
              </a:lnSpc>
              <a:spcBef>
                <a:spcPts val="560"/>
              </a:spcBef>
              <a:spcAft>
                <a:spcPts val="0"/>
              </a:spcAft>
              <a:buClr>
                <a:schemeClr val="dk2"/>
              </a:buClr>
              <a:buSzPts val="1440"/>
              <a:buFont typeface="Arial"/>
              <a:buNone/>
            </a:pPr>
            <a:r>
              <a:rPr b="0" i="0" lang="en-US" sz="1600" u="none">
                <a:solidFill>
                  <a:schemeClr val="dk1"/>
                </a:solidFill>
                <a:latin typeface="Helvetica Neue"/>
                <a:ea typeface="Helvetica Neue"/>
                <a:cs typeface="Helvetica Neue"/>
                <a:sym typeface="Helvetica Neue"/>
              </a:rPr>
              <a:t>       respectively. Then </a:t>
            </a:r>
            <a:r>
              <a:rPr b="0" i="1" lang="en-US" sz="1600" u="none">
                <a:solidFill>
                  <a:schemeClr val="dk1"/>
                </a:solidFill>
                <a:latin typeface="Helvetica Neue"/>
                <a:ea typeface="Helvetica Neue"/>
                <a:cs typeface="Helvetica Neue"/>
                <a:sym typeface="Helvetica Neue"/>
              </a:rPr>
              <a:t>C</a:t>
            </a:r>
            <a:r>
              <a:rPr b="0" i="0" lang="en-US" sz="1600" u="none">
                <a:solidFill>
                  <a:schemeClr val="dk1"/>
                </a:solidFill>
                <a:latin typeface="Helvetica Neue"/>
                <a:ea typeface="Helvetica Neue"/>
                <a:cs typeface="Helvetica Neue"/>
                <a:sym typeface="Helvetica Neue"/>
              </a:rPr>
              <a:t> is set to 600</a:t>
            </a:r>
            <a:endParaRPr/>
          </a:p>
        </p:txBody>
      </p:sp>
      <p:pic>
        <p:nvPicPr>
          <p:cNvPr id="199" name="Google Shape;199;p24"/>
          <p:cNvPicPr preferRelativeResize="0"/>
          <p:nvPr/>
        </p:nvPicPr>
        <p:blipFill rotWithShape="1">
          <a:blip r:embed="rId3">
            <a:alphaModFix/>
          </a:blip>
          <a:srcRect b="28570" l="892" r="1784" t="28571"/>
          <a:stretch/>
        </p:blipFill>
        <p:spPr>
          <a:xfrm>
            <a:off x="1295400" y="1757362"/>
            <a:ext cx="6265862" cy="20701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03" name="Shape 203"/>
        <p:cNvGrpSpPr/>
        <p:nvPr/>
      </p:nvGrpSpPr>
      <p:grpSpPr>
        <a:xfrm>
          <a:off x="0" y="0"/>
          <a:ext cx="0" cy="0"/>
          <a:chOff x="0" y="0"/>
          <a:chExt cx="0" cy="0"/>
        </a:xfrm>
      </p:grpSpPr>
      <p:sp>
        <p:nvSpPr>
          <p:cNvPr id="204" name="Google Shape;204;p2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Checkpoints</a:t>
            </a:r>
            <a:endParaRPr/>
          </a:p>
        </p:txBody>
      </p:sp>
      <p:sp>
        <p:nvSpPr>
          <p:cNvPr id="205" name="Google Shape;205;p25"/>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Problems in recovery procedure as discussed earlier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searching the entire log is time-consuming</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we might unnecessarily redo transactions which have already</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their updates to the database.</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Streamline recovery procedure by periodically performing </a:t>
            </a:r>
            <a:r>
              <a:rPr b="1" i="0" lang="en-US" sz="1800" u="none">
                <a:solidFill>
                  <a:schemeClr val="dk2"/>
                </a:solidFill>
                <a:latin typeface="Helvetica Neue"/>
                <a:ea typeface="Helvetica Neue"/>
                <a:cs typeface="Helvetica Neue"/>
                <a:sym typeface="Helvetica Neue"/>
              </a:rPr>
              <a:t>checkpointing</a:t>
            </a:r>
            <a:r>
              <a:rPr b="0" i="0" lang="en-US" sz="1800" u="none">
                <a:solidFill>
                  <a:schemeClr val="dk1"/>
                </a:solidFill>
                <a:latin typeface="Helvetica Neue"/>
                <a:ea typeface="Helvetica Neue"/>
                <a:cs typeface="Helvetica Neue"/>
                <a:sym typeface="Helvetica Neue"/>
              </a:rPr>
              <a:t>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all log records currently residing in main memory onto stable storage.</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all modified buffer blocks to the disk.</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Write a log record &lt;</a:t>
            </a:r>
            <a:r>
              <a:rPr b="1" i="0" lang="en-US" sz="1800" u="none" cap="none" strike="noStrike">
                <a:solidFill>
                  <a:schemeClr val="dk1"/>
                </a:solidFill>
                <a:latin typeface="Helvetica Neue"/>
                <a:ea typeface="Helvetica Neue"/>
                <a:cs typeface="Helvetica Neue"/>
                <a:sym typeface="Helvetica Neue"/>
              </a:rPr>
              <a:t> checkpoint</a:t>
            </a:r>
            <a:r>
              <a:rPr b="0" i="0" lang="en-US" sz="1800" u="none" cap="none" strike="noStrike">
                <a:solidFill>
                  <a:schemeClr val="dk1"/>
                </a:solidFill>
                <a:latin typeface="Helvetica Neue"/>
                <a:ea typeface="Helvetica Neue"/>
                <a:cs typeface="Helvetica Neue"/>
                <a:sym typeface="Helvetica Neue"/>
              </a:rPr>
              <a:t>&gt; onto stable storage.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09" name="Shape 209"/>
        <p:cNvGrpSpPr/>
        <p:nvPr/>
      </p:nvGrpSpPr>
      <p:grpSpPr>
        <a:xfrm>
          <a:off x="0" y="0"/>
          <a:ext cx="0" cy="0"/>
          <a:chOff x="0" y="0"/>
          <a:chExt cx="0" cy="0"/>
        </a:xfrm>
      </p:grpSpPr>
      <p:sp>
        <p:nvSpPr>
          <p:cNvPr id="210" name="Google Shape;210;p2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Checkpoints (Cont.)</a:t>
            </a:r>
            <a:endParaRPr/>
          </a:p>
        </p:txBody>
      </p:sp>
      <p:sp>
        <p:nvSpPr>
          <p:cNvPr id="211" name="Google Shape;211;p26"/>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During recovery we need to consider only the most recent transaction T</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that started before the checkpoint, and transactions that started after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Scan backwards from end of log to find the most recent &lt;</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&gt; record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Continue scanning backwards till a record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1" i="0" lang="en-US" sz="1800" u="none" cap="none" strike="noStrike">
                <a:solidFill>
                  <a:schemeClr val="dk1"/>
                </a:solidFill>
                <a:latin typeface="Helvetica Neue"/>
                <a:ea typeface="Helvetica Neue"/>
                <a:cs typeface="Helvetica Neue"/>
                <a:sym typeface="Helvetica Neue"/>
              </a:rPr>
              <a:t> start</a:t>
            </a:r>
            <a:r>
              <a:rPr b="0" i="0" lang="en-US" sz="1800" u="none" cap="none" strike="noStrike">
                <a:solidFill>
                  <a:schemeClr val="dk1"/>
                </a:solidFill>
                <a:latin typeface="Helvetica Neue"/>
                <a:ea typeface="Helvetica Neue"/>
                <a:cs typeface="Helvetica Neue"/>
                <a:sym typeface="Helvetica Neue"/>
              </a:rPr>
              <a:t>&gt; is found.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Need only consider the part of log following above </a:t>
            </a:r>
            <a:r>
              <a:rPr b="1" i="0" lang="en-US" sz="1800" u="none" cap="none" strike="noStrike">
                <a:solidFill>
                  <a:schemeClr val="dk1"/>
                </a:solidFill>
                <a:latin typeface="Helvetica Neue"/>
                <a:ea typeface="Helvetica Neue"/>
                <a:cs typeface="Helvetica Neue"/>
                <a:sym typeface="Helvetica Neue"/>
              </a:rPr>
              <a:t>star</a:t>
            </a:r>
            <a:r>
              <a:rPr b="0" i="0" lang="en-US" sz="1800" u="none" cap="none" strike="noStrike">
                <a:solidFill>
                  <a:schemeClr val="dk1"/>
                </a:solidFill>
                <a:latin typeface="Helvetica Neue"/>
                <a:ea typeface="Helvetica Neue"/>
                <a:cs typeface="Helvetica Neue"/>
                <a:sym typeface="Helvetica Neue"/>
              </a:rPr>
              <a:t>t record. Earlier part of log can be ignored during recovery, and can be erased whenever desired.</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For all transactions (starting from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or later) with no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 execute </a:t>
            </a:r>
            <a:r>
              <a:rPr b="1" i="0" lang="en-US" sz="1800" u="none" cap="none" strike="noStrike">
                <a:solidFill>
                  <a:schemeClr val="dk1"/>
                </a:solidFill>
                <a:latin typeface="Helvetica Neue"/>
                <a:ea typeface="Helvetica Neue"/>
                <a:cs typeface="Helvetica Neue"/>
                <a:sym typeface="Helvetica Neue"/>
              </a:rPr>
              <a:t>undo</a:t>
            </a:r>
            <a:r>
              <a:rPr b="1" i="1"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(Done only in case of immediate modification.)</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Scanning forward in the log, for all transactions starting 	from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or later with a </a:t>
            </a:r>
            <a:r>
              <a:rPr b="0" i="1" lang="en-US" sz="1800" u="none" cap="none" strike="noStrike">
                <a:solidFill>
                  <a:schemeClr val="dk1"/>
                </a:solidFill>
                <a:latin typeface="Helvetica Neue"/>
                <a:ea typeface="Helvetica Neue"/>
                <a:cs typeface="Helvetica Neue"/>
                <a:sym typeface="Helvetica Neue"/>
              </a:rPr>
              <a:t>&lt;T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1" lang="en-US" sz="1800" u="none" cap="none" strike="noStrike">
                <a:solidFill>
                  <a:schemeClr val="dk1"/>
                </a:solidFill>
                <a:latin typeface="Helvetica Neue"/>
                <a:ea typeface="Helvetica Neue"/>
                <a:cs typeface="Helvetica Neue"/>
                <a:sym typeface="Helvetica Neue"/>
              </a:rPr>
              <a:t>&gt;</a:t>
            </a:r>
            <a:r>
              <a:rPr b="0" i="0" lang="en-US" sz="1800" u="none" cap="none" strike="noStrike">
                <a:solidFill>
                  <a:schemeClr val="dk1"/>
                </a:solidFill>
                <a:latin typeface="Helvetica Neue"/>
                <a:ea typeface="Helvetica Neue"/>
                <a:cs typeface="Helvetica Neue"/>
                <a:sym typeface="Helvetica Neue"/>
              </a:rPr>
              <a:t>,  execute </a:t>
            </a:r>
            <a:r>
              <a:rPr b="1" i="0" lang="en-US" sz="1800" u="none" cap="none" strike="noStrike">
                <a:solidFill>
                  <a:schemeClr val="dk1"/>
                </a:solidFill>
                <a:latin typeface="Helvetica Neue"/>
                <a:ea typeface="Helvetica Neue"/>
                <a:cs typeface="Helvetica Neue"/>
                <a:sym typeface="Helvetica Neue"/>
              </a:rPr>
              <a:t>redo</a:t>
            </a:r>
            <a:r>
              <a:rPr b="1" i="1"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15" name="Shape 215"/>
        <p:cNvGrpSpPr/>
        <p:nvPr/>
      </p:nvGrpSpPr>
      <p:grpSpPr>
        <a:xfrm>
          <a:off x="0" y="0"/>
          <a:ext cx="0" cy="0"/>
          <a:chOff x="0" y="0"/>
          <a:chExt cx="0" cy="0"/>
        </a:xfrm>
      </p:grpSpPr>
      <p:sp>
        <p:nvSpPr>
          <p:cNvPr id="216" name="Google Shape;216;p2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Checkpoints</a:t>
            </a:r>
            <a:endParaRPr/>
          </a:p>
        </p:txBody>
      </p:sp>
      <p:sp>
        <p:nvSpPr>
          <p:cNvPr id="217" name="Google Shape;217;p27"/>
          <p:cNvSpPr txBox="1"/>
          <p:nvPr>
            <p:ph idx="4294967295" type="body"/>
          </p:nvPr>
        </p:nvSpPr>
        <p:spPr>
          <a:xfrm>
            <a:off x="876300" y="1263650"/>
            <a:ext cx="8267700" cy="5000625"/>
          </a:xfrm>
          <a:prstGeom prst="rect">
            <a:avLst/>
          </a:prstGeom>
          <a:noFill/>
          <a:ln>
            <a:noFill/>
          </a:ln>
        </p:spPr>
        <p:txBody>
          <a:bodyPr anchorCtr="0" anchor="t" bIns="45700" lIns="91425" spcFirstLastPara="1" rIns="91425" wrap="square" tIns="45700">
            <a:noAutofit/>
          </a:bodyPr>
          <a:lstStyle/>
          <a:p>
            <a:pPr indent="-240030" lvl="0" marL="342900" marR="0" rtl="0" algn="l">
              <a:lnSpc>
                <a:spcPct val="100000"/>
              </a:lnSpc>
              <a:spcBef>
                <a:spcPts val="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can be ignored (updates already output to disk due to checkpoint)</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redone.</a:t>
            </a:r>
            <a:endParaRPr/>
          </a:p>
          <a:p>
            <a:pPr indent="-342900" lvl="0" marL="342900" marR="0" rtl="0" algn="l">
              <a:lnSpc>
                <a:spcPct val="100000"/>
              </a:lnSpc>
              <a:spcBef>
                <a:spcPts val="630"/>
              </a:spcBef>
              <a:spcAft>
                <a:spcPts val="0"/>
              </a:spcAft>
              <a:buClr>
                <a:schemeClr val="dk2"/>
              </a:buClr>
              <a:buSzPts val="1620"/>
              <a:buFont typeface="Arial"/>
              <a:buChar char="●"/>
            </a:pP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undone</a:t>
            </a:r>
            <a:endParaRPr/>
          </a:p>
        </p:txBody>
      </p:sp>
      <p:cxnSp>
        <p:nvCxnSpPr>
          <p:cNvPr id="218" name="Google Shape;218;p27"/>
          <p:cNvCxnSpPr/>
          <p:nvPr/>
        </p:nvCxnSpPr>
        <p:spPr>
          <a:xfrm>
            <a:off x="1600200" y="1600200"/>
            <a:ext cx="56388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219" name="Google Shape;219;p27"/>
          <p:cNvCxnSpPr/>
          <p:nvPr/>
        </p:nvCxnSpPr>
        <p:spPr>
          <a:xfrm>
            <a:off x="2895600" y="1600200"/>
            <a:ext cx="0" cy="2209800"/>
          </a:xfrm>
          <a:prstGeom prst="straightConnector1">
            <a:avLst/>
          </a:prstGeom>
          <a:noFill/>
          <a:ln cap="flat" cmpd="sng" w="9525">
            <a:solidFill>
              <a:schemeClr val="dk1"/>
            </a:solidFill>
            <a:prstDash val="solid"/>
            <a:miter lim="800000"/>
            <a:headEnd len="med" w="med" type="none"/>
            <a:tailEnd len="med" w="med" type="none"/>
          </a:ln>
        </p:spPr>
      </p:cxnSp>
      <p:cxnSp>
        <p:nvCxnSpPr>
          <p:cNvPr id="220" name="Google Shape;220;p27"/>
          <p:cNvCxnSpPr/>
          <p:nvPr/>
        </p:nvCxnSpPr>
        <p:spPr>
          <a:xfrm>
            <a:off x="5867400" y="1600200"/>
            <a:ext cx="0" cy="2209800"/>
          </a:xfrm>
          <a:prstGeom prst="straightConnector1">
            <a:avLst/>
          </a:prstGeom>
          <a:noFill/>
          <a:ln cap="flat" cmpd="sng" w="9525">
            <a:solidFill>
              <a:schemeClr val="dk1"/>
            </a:solidFill>
            <a:prstDash val="solid"/>
            <a:miter lim="800000"/>
            <a:headEnd len="med" w="med" type="none"/>
            <a:tailEnd len="med" w="med" type="none"/>
          </a:ln>
        </p:spPr>
      </p:cxnSp>
      <p:sp>
        <p:nvSpPr>
          <p:cNvPr id="221" name="Google Shape;221;p27"/>
          <p:cNvSpPr txBox="1"/>
          <p:nvPr/>
        </p:nvSpPr>
        <p:spPr>
          <a:xfrm>
            <a:off x="2803525" y="1230312"/>
            <a:ext cx="4222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1" lang="en-US" sz="2000" u="none">
                <a:solidFill>
                  <a:schemeClr val="dk1"/>
                </a:solidFill>
                <a:latin typeface="Helvetica Neue"/>
                <a:ea typeface="Helvetica Neue"/>
                <a:cs typeface="Helvetica Neue"/>
                <a:sym typeface="Helvetica Neue"/>
              </a:rPr>
              <a:t>c</a:t>
            </a:r>
            <a:endParaRPr/>
          </a:p>
        </p:txBody>
      </p:sp>
      <p:sp>
        <p:nvSpPr>
          <p:cNvPr id="222" name="Google Shape;222;p27"/>
          <p:cNvSpPr txBox="1"/>
          <p:nvPr/>
        </p:nvSpPr>
        <p:spPr>
          <a:xfrm>
            <a:off x="5645150" y="1206500"/>
            <a:ext cx="3857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f</a:t>
            </a:r>
            <a:endParaRPr/>
          </a:p>
        </p:txBody>
      </p:sp>
      <p:cxnSp>
        <p:nvCxnSpPr>
          <p:cNvPr id="223" name="Google Shape;223;p27"/>
          <p:cNvCxnSpPr/>
          <p:nvPr/>
        </p:nvCxnSpPr>
        <p:spPr>
          <a:xfrm>
            <a:off x="1676400" y="1981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24" name="Google Shape;224;p27"/>
          <p:cNvCxnSpPr/>
          <p:nvPr/>
        </p:nvCxnSpPr>
        <p:spPr>
          <a:xfrm>
            <a:off x="1676400" y="2057400"/>
            <a:ext cx="762000" cy="0"/>
          </a:xfrm>
          <a:prstGeom prst="straightConnector1">
            <a:avLst/>
          </a:prstGeom>
          <a:noFill/>
          <a:ln cap="flat" cmpd="sng" w="9525">
            <a:solidFill>
              <a:schemeClr val="dk1"/>
            </a:solidFill>
            <a:prstDash val="solid"/>
            <a:miter lim="800000"/>
            <a:headEnd len="med" w="med" type="none"/>
            <a:tailEnd len="med" w="med" type="none"/>
          </a:ln>
        </p:spPr>
      </p:cxnSp>
      <p:cxnSp>
        <p:nvCxnSpPr>
          <p:cNvPr id="225" name="Google Shape;225;p27"/>
          <p:cNvCxnSpPr/>
          <p:nvPr/>
        </p:nvCxnSpPr>
        <p:spPr>
          <a:xfrm>
            <a:off x="2438400" y="1981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26" name="Google Shape;226;p27"/>
          <p:cNvCxnSpPr/>
          <p:nvPr/>
        </p:nvCxnSpPr>
        <p:spPr>
          <a:xfrm>
            <a:off x="2743200" y="2362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27" name="Google Shape;227;p27"/>
          <p:cNvCxnSpPr/>
          <p:nvPr/>
        </p:nvCxnSpPr>
        <p:spPr>
          <a:xfrm>
            <a:off x="2743200" y="2438400"/>
            <a:ext cx="762000" cy="0"/>
          </a:xfrm>
          <a:prstGeom prst="straightConnector1">
            <a:avLst/>
          </a:prstGeom>
          <a:noFill/>
          <a:ln cap="flat" cmpd="sng" w="9525">
            <a:solidFill>
              <a:schemeClr val="dk1"/>
            </a:solidFill>
            <a:prstDash val="solid"/>
            <a:miter lim="800000"/>
            <a:headEnd len="med" w="med" type="none"/>
            <a:tailEnd len="med" w="med" type="none"/>
          </a:ln>
        </p:spPr>
      </p:cxnSp>
      <p:cxnSp>
        <p:nvCxnSpPr>
          <p:cNvPr id="228" name="Google Shape;228;p27"/>
          <p:cNvCxnSpPr/>
          <p:nvPr/>
        </p:nvCxnSpPr>
        <p:spPr>
          <a:xfrm>
            <a:off x="3505200" y="2362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29" name="Google Shape;229;p27"/>
          <p:cNvCxnSpPr/>
          <p:nvPr/>
        </p:nvCxnSpPr>
        <p:spPr>
          <a:xfrm>
            <a:off x="3962400" y="2743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30" name="Google Shape;230;p27"/>
          <p:cNvCxnSpPr/>
          <p:nvPr/>
        </p:nvCxnSpPr>
        <p:spPr>
          <a:xfrm>
            <a:off x="3962400" y="2819400"/>
            <a:ext cx="762000" cy="0"/>
          </a:xfrm>
          <a:prstGeom prst="straightConnector1">
            <a:avLst/>
          </a:prstGeom>
          <a:noFill/>
          <a:ln cap="flat" cmpd="sng" w="9525">
            <a:solidFill>
              <a:schemeClr val="dk1"/>
            </a:solidFill>
            <a:prstDash val="solid"/>
            <a:miter lim="800000"/>
            <a:headEnd len="med" w="med" type="none"/>
            <a:tailEnd len="med" w="med" type="none"/>
          </a:ln>
        </p:spPr>
      </p:cxnSp>
      <p:cxnSp>
        <p:nvCxnSpPr>
          <p:cNvPr id="231" name="Google Shape;231;p27"/>
          <p:cNvCxnSpPr/>
          <p:nvPr/>
        </p:nvCxnSpPr>
        <p:spPr>
          <a:xfrm>
            <a:off x="4724400" y="27432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32" name="Google Shape;232;p27"/>
          <p:cNvCxnSpPr/>
          <p:nvPr/>
        </p:nvCxnSpPr>
        <p:spPr>
          <a:xfrm>
            <a:off x="5105400" y="3200400"/>
            <a:ext cx="0" cy="152400"/>
          </a:xfrm>
          <a:prstGeom prst="straightConnector1">
            <a:avLst/>
          </a:prstGeom>
          <a:noFill/>
          <a:ln cap="flat" cmpd="sng" w="9525">
            <a:solidFill>
              <a:schemeClr val="dk1"/>
            </a:solidFill>
            <a:prstDash val="solid"/>
            <a:miter lim="800000"/>
            <a:headEnd len="med" w="med" type="none"/>
            <a:tailEnd len="med" w="med" type="none"/>
          </a:ln>
        </p:spPr>
      </p:cxnSp>
      <p:cxnSp>
        <p:nvCxnSpPr>
          <p:cNvPr id="233" name="Google Shape;233;p27"/>
          <p:cNvCxnSpPr/>
          <p:nvPr/>
        </p:nvCxnSpPr>
        <p:spPr>
          <a:xfrm>
            <a:off x="5105400" y="3276600"/>
            <a:ext cx="762000" cy="0"/>
          </a:xfrm>
          <a:prstGeom prst="straightConnector1">
            <a:avLst/>
          </a:prstGeom>
          <a:noFill/>
          <a:ln cap="flat" cmpd="sng" w="9525">
            <a:solidFill>
              <a:schemeClr val="dk1"/>
            </a:solidFill>
            <a:prstDash val="solid"/>
            <a:miter lim="800000"/>
            <a:headEnd len="med" w="med" type="none"/>
            <a:tailEnd len="med" w="med" type="none"/>
          </a:ln>
        </p:spPr>
      </p:cxnSp>
      <p:cxnSp>
        <p:nvCxnSpPr>
          <p:cNvPr id="234" name="Google Shape;234;p27"/>
          <p:cNvCxnSpPr/>
          <p:nvPr/>
        </p:nvCxnSpPr>
        <p:spPr>
          <a:xfrm>
            <a:off x="5867400" y="3200400"/>
            <a:ext cx="0" cy="152400"/>
          </a:xfrm>
          <a:prstGeom prst="straightConnector1">
            <a:avLst/>
          </a:prstGeom>
          <a:noFill/>
          <a:ln cap="flat" cmpd="sng" w="9525">
            <a:solidFill>
              <a:schemeClr val="dk1"/>
            </a:solidFill>
            <a:prstDash val="solid"/>
            <a:miter lim="800000"/>
            <a:headEnd len="med" w="med" type="none"/>
            <a:tailEnd len="med" w="med" type="none"/>
          </a:ln>
        </p:spPr>
      </p:cxnSp>
      <p:sp>
        <p:nvSpPr>
          <p:cNvPr id="235" name="Google Shape;235;p27"/>
          <p:cNvSpPr txBox="1"/>
          <p:nvPr/>
        </p:nvSpPr>
        <p:spPr>
          <a:xfrm>
            <a:off x="1965325" y="1687512"/>
            <a:ext cx="431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1</a:t>
            </a:r>
            <a:endParaRPr/>
          </a:p>
        </p:txBody>
      </p:sp>
      <p:sp>
        <p:nvSpPr>
          <p:cNvPr id="236" name="Google Shape;236;p27"/>
          <p:cNvSpPr txBox="1"/>
          <p:nvPr/>
        </p:nvSpPr>
        <p:spPr>
          <a:xfrm>
            <a:off x="2898775" y="2051050"/>
            <a:ext cx="431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2</a:t>
            </a:r>
            <a:endParaRPr/>
          </a:p>
        </p:txBody>
      </p:sp>
      <p:sp>
        <p:nvSpPr>
          <p:cNvPr id="237" name="Google Shape;237;p27"/>
          <p:cNvSpPr txBox="1"/>
          <p:nvPr/>
        </p:nvSpPr>
        <p:spPr>
          <a:xfrm>
            <a:off x="4117975" y="2432050"/>
            <a:ext cx="431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3</a:t>
            </a:r>
            <a:endParaRPr/>
          </a:p>
        </p:txBody>
      </p:sp>
      <p:sp>
        <p:nvSpPr>
          <p:cNvPr id="238" name="Google Shape;238;p27"/>
          <p:cNvSpPr txBox="1"/>
          <p:nvPr/>
        </p:nvSpPr>
        <p:spPr>
          <a:xfrm>
            <a:off x="5337175" y="2889250"/>
            <a:ext cx="431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1" lang="en-US" sz="2000" u="none">
                <a:solidFill>
                  <a:schemeClr val="dk1"/>
                </a:solidFill>
                <a:latin typeface="Helvetica Neue"/>
                <a:ea typeface="Helvetica Neue"/>
                <a:cs typeface="Helvetica Neue"/>
                <a:sym typeface="Helvetica Neue"/>
              </a:rPr>
              <a:t>T</a:t>
            </a:r>
            <a:r>
              <a:rPr b="0" baseline="-25000" i="0" lang="en-US" sz="2000" u="none">
                <a:solidFill>
                  <a:schemeClr val="dk1"/>
                </a:solidFill>
                <a:latin typeface="Helvetica Neue"/>
                <a:ea typeface="Helvetica Neue"/>
                <a:cs typeface="Helvetica Neue"/>
                <a:sym typeface="Helvetica Neue"/>
              </a:rPr>
              <a:t>4</a:t>
            </a:r>
            <a:endParaRPr/>
          </a:p>
        </p:txBody>
      </p:sp>
      <p:sp>
        <p:nvSpPr>
          <p:cNvPr id="239" name="Google Shape;239;p27"/>
          <p:cNvSpPr txBox="1"/>
          <p:nvPr/>
        </p:nvSpPr>
        <p:spPr>
          <a:xfrm>
            <a:off x="2362200" y="3821112"/>
            <a:ext cx="1398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checkpoint</a:t>
            </a:r>
            <a:endParaRPr/>
          </a:p>
        </p:txBody>
      </p:sp>
      <p:sp>
        <p:nvSpPr>
          <p:cNvPr id="240" name="Google Shape;240;p27"/>
          <p:cNvSpPr txBox="1"/>
          <p:nvPr/>
        </p:nvSpPr>
        <p:spPr>
          <a:xfrm>
            <a:off x="5105400" y="3797300"/>
            <a:ext cx="17494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system failure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44" name="Shape 244"/>
        <p:cNvGrpSpPr/>
        <p:nvPr/>
      </p:nvGrpSpPr>
      <p:grpSpPr>
        <a:xfrm>
          <a:off x="0" y="0"/>
          <a:ext cx="0" cy="0"/>
          <a:chOff x="0" y="0"/>
          <a:chExt cx="0" cy="0"/>
        </a:xfrm>
      </p:grpSpPr>
      <p:sp>
        <p:nvSpPr>
          <p:cNvPr id="245" name="Google Shape;245;p28"/>
          <p:cNvSpPr txBox="1"/>
          <p:nvPr>
            <p:ph type="title"/>
          </p:nvPr>
        </p:nvSpPr>
        <p:spPr>
          <a:xfrm>
            <a:off x="901700" y="2413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Recovery With Concurrent Transactions</a:t>
            </a:r>
            <a:endParaRPr/>
          </a:p>
        </p:txBody>
      </p:sp>
      <p:sp>
        <p:nvSpPr>
          <p:cNvPr id="246" name="Google Shape;246;p28"/>
          <p:cNvSpPr txBox="1"/>
          <p:nvPr>
            <p:ph idx="4294967295" type="body"/>
          </p:nvPr>
        </p:nvSpPr>
        <p:spPr>
          <a:xfrm>
            <a:off x="842962" y="1106487"/>
            <a:ext cx="7924800" cy="4965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modify the log-based recovery schemes to allow multiple transactions to execute concurrently.</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 transactions share a single disk buffer and a single log</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buffer block can have data items updated by one or more transactions</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We assume concurrency control using strict two-phase locking;</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i.e. the updates of uncommitted transactions should not be visible to other transactions</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Otherwise how to perform undo if T1 updates A, then T2 updates A and commits, and finally T1 has to abort?</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Logging is done as described earlier.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of different transactions may be interspersed in the log.</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checkpointing technique and actions taken on recovery have to be changed</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since several transactions may be active when a checkpoint is performed.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50" name="Shape 250"/>
        <p:cNvGrpSpPr/>
        <p:nvPr/>
      </p:nvGrpSpPr>
      <p:grpSpPr>
        <a:xfrm>
          <a:off x="0" y="0"/>
          <a:ext cx="0" cy="0"/>
          <a:chOff x="0" y="0"/>
          <a:chExt cx="0" cy="0"/>
        </a:xfrm>
      </p:grpSpPr>
      <p:sp>
        <p:nvSpPr>
          <p:cNvPr id="251" name="Google Shape;251;p29"/>
          <p:cNvSpPr txBox="1"/>
          <p:nvPr>
            <p:ph type="title"/>
          </p:nvPr>
        </p:nvSpPr>
        <p:spPr>
          <a:xfrm>
            <a:off x="806450" y="257175"/>
            <a:ext cx="8286750" cy="5048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Recovery With Concurrent Transactions (Cont.)</a:t>
            </a:r>
            <a:endParaRPr/>
          </a:p>
        </p:txBody>
      </p:sp>
      <p:sp>
        <p:nvSpPr>
          <p:cNvPr id="252" name="Google Shape;252;p29"/>
          <p:cNvSpPr txBox="1"/>
          <p:nvPr>
            <p:ph idx="4294967295" type="body"/>
          </p:nvPr>
        </p:nvSpPr>
        <p:spPr>
          <a:xfrm>
            <a:off x="842962" y="1106487"/>
            <a:ext cx="8343900" cy="4876800"/>
          </a:xfrm>
          <a:prstGeom prst="rect">
            <a:avLst/>
          </a:prstGeom>
          <a:noFill/>
          <a:ln>
            <a:noFill/>
          </a:ln>
        </p:spPr>
        <p:txBody>
          <a:bodyPr anchorCtr="0" anchor="t" bIns="45700" lIns="91425" spcFirstLastPara="1" rIns="91425" wrap="square" tIns="45700">
            <a:noAutofit/>
          </a:bodyPr>
          <a:lstStyle/>
          <a:p>
            <a:pPr indent="-381000" lvl="0" marL="3810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Checkpoints are performed as before, except that the checkpoint log record is now of the form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&lt;</a:t>
            </a:r>
            <a:r>
              <a:rPr b="1" i="0" lang="en-US" sz="1800" u="none">
                <a:solidFill>
                  <a:schemeClr val="dk1"/>
                </a:solidFill>
                <a:latin typeface="Helvetica Neue"/>
                <a:ea typeface="Helvetica Neue"/>
                <a:cs typeface="Helvetica Neue"/>
                <a:sym typeface="Helvetica Neue"/>
              </a:rPr>
              <a:t> checkpoint</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L</a:t>
            </a:r>
            <a:r>
              <a:rPr b="0" i="0" lang="en-US" sz="1800" u="none">
                <a:solidFill>
                  <a:schemeClr val="dk1"/>
                </a:solidFill>
                <a:latin typeface="Helvetica Neue"/>
                <a:ea typeface="Helvetica Neue"/>
                <a:cs typeface="Helvetica Neue"/>
                <a:sym typeface="Helvetica Neue"/>
              </a:rPr>
              <a:t>&gt;</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where </a:t>
            </a:r>
            <a:r>
              <a:rPr b="0" i="1" lang="en-US" sz="1800" u="none">
                <a:solidFill>
                  <a:schemeClr val="dk1"/>
                </a:solidFill>
                <a:latin typeface="Helvetica Neue"/>
                <a:ea typeface="Helvetica Neue"/>
                <a:cs typeface="Helvetica Neue"/>
                <a:sym typeface="Helvetica Neue"/>
              </a:rPr>
              <a:t>L</a:t>
            </a:r>
            <a:r>
              <a:rPr b="0" i="0" lang="en-US" sz="1800" u="none">
                <a:solidFill>
                  <a:schemeClr val="dk1"/>
                </a:solidFill>
                <a:latin typeface="Helvetica Neue"/>
                <a:ea typeface="Helvetica Neue"/>
                <a:cs typeface="Helvetica Neue"/>
                <a:sym typeface="Helvetica Neue"/>
              </a:rPr>
              <a:t> is the list of transactions active at the time of the checkpoint</a:t>
            </a:r>
            <a:endParaRPr/>
          </a:p>
          <a:p>
            <a:pPr indent="-342900" lvl="1" marL="8001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We assume no updates are in progress while the checkpoint is carried out (will relax this later)</a:t>
            </a:r>
            <a:endParaRPr/>
          </a:p>
          <a:p>
            <a:pPr indent="-381000" lvl="0" marL="3810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the system recovers from a crash, it first does the following:</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Initialize </a:t>
            </a:r>
            <a:r>
              <a:rPr b="0" i="1" lang="en-US" sz="1800" u="none" cap="none" strike="noStrike">
                <a:solidFill>
                  <a:schemeClr val="dk1"/>
                </a:solidFill>
                <a:latin typeface="Helvetica Neue"/>
                <a:ea typeface="Helvetica Neue"/>
                <a:cs typeface="Helvetica Neue"/>
                <a:sym typeface="Helvetica Neue"/>
              </a:rPr>
              <a:t> undo-list</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 redo-list</a:t>
            </a:r>
            <a:r>
              <a:rPr b="0" i="0" lang="en-US" sz="1800" u="none" cap="none" strike="noStrike">
                <a:solidFill>
                  <a:schemeClr val="dk1"/>
                </a:solidFill>
                <a:latin typeface="Helvetica Neue"/>
                <a:ea typeface="Helvetica Neue"/>
                <a:cs typeface="Helvetica Neue"/>
                <a:sym typeface="Helvetica Neue"/>
              </a:rPr>
              <a:t> to empty</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Scan the log backwards from the end, stopping when the first &lt;</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&gt; record is found.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For each record found during the backward scan:</a:t>
            </a:r>
            <a:endParaRPr/>
          </a:p>
          <a:p>
            <a:pPr indent="-342900" lvl="2" marL="1200150" marR="0" rtl="0" algn="l">
              <a:lnSpc>
                <a:spcPct val="9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if the record is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baseline="-2500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0" lang="en-US" sz="1800" u="none" cap="none" strike="noStrike">
                <a:solidFill>
                  <a:schemeClr val="dk1"/>
                </a:solidFill>
                <a:latin typeface="Helvetica Neue"/>
                <a:ea typeface="Helvetica Neue"/>
                <a:cs typeface="Helvetica Neue"/>
                <a:sym typeface="Helvetica Neue"/>
              </a:rPr>
              <a:t>&gt;, add</a:t>
            </a:r>
            <a:r>
              <a:rPr b="0" i="1" lang="en-US" sz="1800" u="none" cap="none" strike="noStrike">
                <a:solidFill>
                  <a:schemeClr val="dk1"/>
                </a:solidFill>
                <a:latin typeface="Helvetica Neue"/>
                <a:ea typeface="Helvetica Neue"/>
                <a:cs typeface="Helvetica Neue"/>
                <a:sym typeface="Helvetica Neue"/>
              </a:rPr>
              <a:t> 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redo-list</a:t>
            </a:r>
            <a:endParaRPr/>
          </a:p>
          <a:p>
            <a:pPr indent="-342900" lvl="2" marL="1200150" marR="0" rtl="0" algn="l">
              <a:lnSpc>
                <a:spcPct val="9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if the record is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start</a:t>
            </a:r>
            <a:r>
              <a:rPr b="0" i="0" lang="en-US" sz="1800" u="none" cap="none" strike="noStrike">
                <a:solidFill>
                  <a:schemeClr val="dk1"/>
                </a:solidFill>
                <a:latin typeface="Helvetica Neue"/>
                <a:ea typeface="Helvetica Neue"/>
                <a:cs typeface="Helvetica Neue"/>
                <a:sym typeface="Helvetica Neue"/>
              </a:rPr>
              <a:t>&gt;, then if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is not in </a:t>
            </a:r>
            <a:r>
              <a:rPr b="0" i="1" lang="en-US" sz="1800" u="none" cap="none" strike="noStrike">
                <a:solidFill>
                  <a:schemeClr val="dk1"/>
                </a:solidFill>
                <a:latin typeface="Helvetica Neue"/>
                <a:ea typeface="Helvetica Neue"/>
                <a:cs typeface="Helvetica Neue"/>
                <a:sym typeface="Helvetica Neue"/>
              </a:rPr>
              <a:t> redo-list</a:t>
            </a:r>
            <a:r>
              <a:rPr b="0" i="0" lang="en-US" sz="1800" u="none" cap="none" strike="noStrike">
                <a:solidFill>
                  <a:schemeClr val="dk1"/>
                </a:solidFill>
                <a:latin typeface="Helvetica Neue"/>
                <a:ea typeface="Helvetica Neue"/>
                <a:cs typeface="Helvetica Neue"/>
                <a:sym typeface="Helvetica Neue"/>
              </a:rPr>
              <a:t>, add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undo-list</a:t>
            </a:r>
            <a:endParaRPr b="0" i="0" sz="1800" u="none" cap="none" strike="noStrike">
              <a:solidFill>
                <a:schemeClr val="dk1"/>
              </a:solidFill>
              <a:latin typeface="Helvetica Neue"/>
              <a:ea typeface="Helvetica Neue"/>
              <a:cs typeface="Helvetica Neue"/>
              <a:sym typeface="Helvetica Neue"/>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For every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in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 if </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is not in </a:t>
            </a:r>
            <a:r>
              <a:rPr b="0" i="1" lang="en-US" sz="1800" u="none" cap="none" strike="noStrike">
                <a:solidFill>
                  <a:schemeClr val="dk1"/>
                </a:solidFill>
                <a:latin typeface="Helvetica Neue"/>
                <a:ea typeface="Helvetica Neue"/>
                <a:cs typeface="Helvetica Neue"/>
                <a:sym typeface="Helvetica Neue"/>
              </a:rPr>
              <a:t> redo-list</a:t>
            </a:r>
            <a:r>
              <a:rPr b="0" i="0" lang="en-US" sz="1800" u="none" cap="none" strike="noStrike">
                <a:solidFill>
                  <a:schemeClr val="dk1"/>
                </a:solidFill>
                <a:latin typeface="Helvetica Neue"/>
                <a:ea typeface="Helvetica Neue"/>
                <a:cs typeface="Helvetica Neue"/>
                <a:sym typeface="Helvetica Neue"/>
              </a:rPr>
              <a:t>, add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to </a:t>
            </a:r>
            <a:r>
              <a:rPr b="0" i="1" lang="en-US" sz="1800" u="none" cap="none" strike="noStrike">
                <a:solidFill>
                  <a:schemeClr val="dk1"/>
                </a:solidFill>
                <a:latin typeface="Helvetica Neue"/>
                <a:ea typeface="Helvetica Neue"/>
                <a:cs typeface="Helvetica Neue"/>
                <a:sym typeface="Helvetica Neue"/>
              </a:rPr>
              <a:t>undo-list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56" name="Shape 256"/>
        <p:cNvGrpSpPr/>
        <p:nvPr/>
      </p:nvGrpSpPr>
      <p:grpSpPr>
        <a:xfrm>
          <a:off x="0" y="0"/>
          <a:ext cx="0" cy="0"/>
          <a:chOff x="0" y="0"/>
          <a:chExt cx="0" cy="0"/>
        </a:xfrm>
      </p:grpSpPr>
      <p:sp>
        <p:nvSpPr>
          <p:cNvPr id="257" name="Google Shape;257;p30"/>
          <p:cNvSpPr txBox="1"/>
          <p:nvPr>
            <p:ph type="title"/>
          </p:nvPr>
        </p:nvSpPr>
        <p:spPr>
          <a:xfrm>
            <a:off x="685800" y="76200"/>
            <a:ext cx="83820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Recovery With Concurrent Transactions (Cont.)</a:t>
            </a:r>
            <a:endParaRPr/>
          </a:p>
        </p:txBody>
      </p:sp>
      <p:sp>
        <p:nvSpPr>
          <p:cNvPr id="258" name="Google Shape;258;p30"/>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At this point </a:t>
            </a:r>
            <a:r>
              <a:rPr b="0" i="1" lang="en-US" sz="1800" u="none">
                <a:solidFill>
                  <a:schemeClr val="dk1"/>
                </a:solidFill>
                <a:latin typeface="Helvetica Neue"/>
                <a:ea typeface="Helvetica Neue"/>
                <a:cs typeface="Helvetica Neue"/>
                <a:sym typeface="Helvetica Neue"/>
              </a:rPr>
              <a:t>undo-list</a:t>
            </a:r>
            <a:r>
              <a:rPr b="0" i="0" lang="en-US" sz="1800" u="none">
                <a:solidFill>
                  <a:schemeClr val="dk1"/>
                </a:solidFill>
                <a:latin typeface="Helvetica Neue"/>
                <a:ea typeface="Helvetica Neue"/>
                <a:cs typeface="Helvetica Neue"/>
                <a:sym typeface="Helvetica Neue"/>
              </a:rPr>
              <a:t> consists of incomplete transactions which must be undone, and </a:t>
            </a:r>
            <a:r>
              <a:rPr b="0" i="1" lang="en-US" sz="1800" u="none">
                <a:solidFill>
                  <a:schemeClr val="dk1"/>
                </a:solidFill>
                <a:latin typeface="Helvetica Neue"/>
                <a:ea typeface="Helvetica Neue"/>
                <a:cs typeface="Helvetica Neue"/>
                <a:sym typeface="Helvetica Neue"/>
              </a:rPr>
              <a:t>redo-list</a:t>
            </a:r>
            <a:r>
              <a:rPr b="0" i="0" lang="en-US" sz="1800" u="none">
                <a:solidFill>
                  <a:schemeClr val="dk1"/>
                </a:solidFill>
                <a:latin typeface="Helvetica Neue"/>
                <a:ea typeface="Helvetica Neue"/>
                <a:cs typeface="Helvetica Neue"/>
                <a:sym typeface="Helvetica Neue"/>
              </a:rPr>
              <a:t> consists of finished transactions that must be redone.</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now continues as follows:</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Scan log backwards from most recent record, stopping when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 records have been encountered for every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undo-list</a:t>
            </a:r>
            <a:r>
              <a:rPr b="0" i="0" lang="en-US" sz="1800" u="none" cap="none" strike="noStrike">
                <a:solidFill>
                  <a:schemeClr val="dk1"/>
                </a:solidFill>
                <a:latin typeface="Helvetica Neue"/>
                <a:ea typeface="Helvetica Neue"/>
                <a:cs typeface="Helvetica Neue"/>
                <a:sym typeface="Helvetica Neue"/>
              </a:rPr>
              <a:t>.</a:t>
            </a:r>
            <a:endParaRPr/>
          </a:p>
          <a:p>
            <a:pPr indent="-342900" lvl="2" marL="1200150" marR="0" rtl="0" algn="l">
              <a:lnSpc>
                <a:spcPct val="10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During the scan, perform </a:t>
            </a:r>
            <a:r>
              <a:rPr b="1" i="0" lang="en-US" sz="1800" u="none" cap="none" strike="noStrike">
                <a:solidFill>
                  <a:schemeClr val="dk1"/>
                </a:solidFill>
                <a:latin typeface="Helvetica Neue"/>
                <a:ea typeface="Helvetica Neue"/>
                <a:cs typeface="Helvetica Neue"/>
                <a:sym typeface="Helvetica Neue"/>
              </a:rPr>
              <a:t>undo</a:t>
            </a:r>
            <a:r>
              <a:rPr b="0" i="0" lang="en-US" sz="1800" u="none" cap="none" strike="noStrike">
                <a:solidFill>
                  <a:schemeClr val="dk1"/>
                </a:solidFill>
                <a:latin typeface="Helvetica Neue"/>
                <a:ea typeface="Helvetica Neue"/>
                <a:cs typeface="Helvetica Neue"/>
                <a:sym typeface="Helvetica Neue"/>
              </a:rPr>
              <a:t> for each log record that belongs to a transaction in </a:t>
            </a:r>
            <a:r>
              <a:rPr b="0" i="1" lang="en-US" sz="1800" u="none" cap="none" strike="noStrike">
                <a:solidFill>
                  <a:schemeClr val="dk1"/>
                </a:solidFill>
                <a:latin typeface="Helvetica Neue"/>
                <a:ea typeface="Helvetica Neue"/>
                <a:cs typeface="Helvetica Neue"/>
                <a:sym typeface="Helvetica Neue"/>
              </a:rPr>
              <a:t> undo-list</a:t>
            </a:r>
            <a:r>
              <a:rPr b="0" i="0" lang="en-US" sz="1800" u="none" cap="none" strike="noStrike">
                <a:solidFill>
                  <a:schemeClr val="dk1"/>
                </a:solidFill>
                <a:latin typeface="Helvetica Neue"/>
                <a:ea typeface="Helvetica Neue"/>
                <a:cs typeface="Helvetica Neue"/>
                <a:sym typeface="Helvetica Neue"/>
              </a:rPr>
              <a:t>.</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Locate the most recent &lt;</a:t>
            </a:r>
            <a:r>
              <a:rPr b="1" i="0" lang="en-US" sz="1800" u="none" cap="none" strike="noStrike">
                <a:solidFill>
                  <a:schemeClr val="dk1"/>
                </a:solidFill>
                <a:latin typeface="Helvetica Neue"/>
                <a:ea typeface="Helvetica Neue"/>
                <a:cs typeface="Helvetica Neue"/>
                <a:sym typeface="Helvetica Neue"/>
              </a:rPr>
              <a:t>checkpoint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&gt; record.</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Scan log forwards from the &lt;</a:t>
            </a:r>
            <a:r>
              <a:rPr b="1" i="0" lang="en-US" sz="1800" u="none" cap="none" strike="noStrike">
                <a:solidFill>
                  <a:schemeClr val="dk1"/>
                </a:solidFill>
                <a:latin typeface="Helvetica Neue"/>
                <a:ea typeface="Helvetica Neue"/>
                <a:cs typeface="Helvetica Neue"/>
                <a:sym typeface="Helvetica Neue"/>
              </a:rPr>
              <a:t>checkpoint</a:t>
            </a:r>
            <a:r>
              <a:rPr b="0" i="1" lang="en-US" sz="1800" u="none" cap="none" strike="noStrike">
                <a:solidFill>
                  <a:schemeClr val="dk1"/>
                </a:solidFill>
                <a:latin typeface="Helvetica Neue"/>
                <a:ea typeface="Helvetica Neue"/>
                <a:cs typeface="Helvetica Neue"/>
                <a:sym typeface="Helvetica Neue"/>
              </a:rPr>
              <a:t> L</a:t>
            </a:r>
            <a:r>
              <a:rPr b="0" i="0" lang="en-US" sz="1800" u="none" cap="none" strike="noStrike">
                <a:solidFill>
                  <a:schemeClr val="dk1"/>
                </a:solidFill>
                <a:latin typeface="Helvetica Neue"/>
                <a:ea typeface="Helvetica Neue"/>
                <a:cs typeface="Helvetica Neue"/>
                <a:sym typeface="Helvetica Neue"/>
              </a:rPr>
              <a:t>&gt; record  till the end of the log.</a:t>
            </a:r>
            <a:endParaRPr/>
          </a:p>
          <a:p>
            <a:pPr indent="-342900" lvl="2" marL="1200150" marR="0" rtl="0" algn="l">
              <a:lnSpc>
                <a:spcPct val="10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During the scan, perform </a:t>
            </a:r>
            <a:r>
              <a:rPr b="1" i="0" lang="en-US" sz="1800" u="none" cap="none" strike="noStrike">
                <a:solidFill>
                  <a:schemeClr val="dk1"/>
                </a:solidFill>
                <a:latin typeface="Helvetica Neue"/>
                <a:ea typeface="Helvetica Neue"/>
                <a:cs typeface="Helvetica Neue"/>
                <a:sym typeface="Helvetica Neue"/>
              </a:rPr>
              <a:t>redo</a:t>
            </a:r>
            <a:r>
              <a:rPr b="0" i="0" lang="en-US" sz="1800" u="none" cap="none" strike="noStrike">
                <a:solidFill>
                  <a:schemeClr val="dk1"/>
                </a:solidFill>
                <a:latin typeface="Helvetica Neue"/>
                <a:ea typeface="Helvetica Neue"/>
                <a:cs typeface="Helvetica Neue"/>
                <a:sym typeface="Helvetica Neue"/>
              </a:rPr>
              <a:t> for each log record that belongs to a transaction on </a:t>
            </a:r>
            <a:r>
              <a:rPr b="0" i="1" lang="en-US" sz="1800" u="none" cap="none" strike="noStrike">
                <a:solidFill>
                  <a:schemeClr val="dk1"/>
                </a:solidFill>
                <a:latin typeface="Helvetica Neue"/>
                <a:ea typeface="Helvetica Neue"/>
                <a:cs typeface="Helvetica Neue"/>
                <a:sym typeface="Helvetica Neue"/>
              </a:rPr>
              <a:t> redo-list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62" name="Shape 262"/>
        <p:cNvGrpSpPr/>
        <p:nvPr/>
      </p:nvGrpSpPr>
      <p:grpSpPr>
        <a:xfrm>
          <a:off x="0" y="0"/>
          <a:ext cx="0" cy="0"/>
          <a:chOff x="0" y="0"/>
          <a:chExt cx="0" cy="0"/>
        </a:xfrm>
      </p:grpSpPr>
      <p:sp>
        <p:nvSpPr>
          <p:cNvPr id="263" name="Google Shape;263;p3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Recovery</a:t>
            </a:r>
            <a:endParaRPr/>
          </a:p>
        </p:txBody>
      </p:sp>
      <p:sp>
        <p:nvSpPr>
          <p:cNvPr id="264" name="Google Shape;264;p31"/>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Go over the steps of the recovery algorithm on the following log:</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0</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a:t>
            </a:r>
            <a:r>
              <a:rPr b="0" i="0" lang="en-US" sz="1800" u="none" cap="none" strike="noStrike">
                <a:solidFill>
                  <a:schemeClr val="dk1"/>
                </a:solidFill>
                <a:latin typeface="Helvetica Neue"/>
                <a:ea typeface="Helvetica Neue"/>
                <a:cs typeface="Helvetica Neue"/>
                <a:sym typeface="Helvetica Neue"/>
              </a:rPr>
              <a:t>t&gt;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0</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0, 10&gt;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0</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0" lang="en-US" sz="1800" u="none" cap="none" strike="noStrike">
                <a:solidFill>
                  <a:schemeClr val="dk1"/>
                </a:solidFill>
                <a:latin typeface="Helvetica Neue"/>
                <a:ea typeface="Helvetica Neue"/>
                <a:cs typeface="Helvetica Neue"/>
                <a:sym typeface="Helvetica Neue"/>
              </a:rPr>
              <a:t>&gt;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         </a:t>
            </a:r>
            <a:r>
              <a:rPr b="0" i="0" lang="en-US" sz="1800" u="none" cap="none" strike="noStrike">
                <a:solidFill>
                  <a:schemeClr val="dk2"/>
                </a:solidFill>
                <a:latin typeface="Helvetica Neue"/>
                <a:ea typeface="Helvetica Neue"/>
                <a:cs typeface="Helvetica Neue"/>
                <a:sym typeface="Helvetica Neue"/>
              </a:rPr>
              <a:t>/* Scan at step 1 comes up to here */</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B</a:t>
            </a:r>
            <a:r>
              <a:rPr b="0" i="0" lang="en-US" sz="1800" u="none" cap="none" strike="noStrike">
                <a:solidFill>
                  <a:schemeClr val="dk1"/>
                </a:solidFill>
                <a:latin typeface="Helvetica Neue"/>
                <a:ea typeface="Helvetica Neue"/>
                <a:cs typeface="Helvetica Neue"/>
                <a:sym typeface="Helvetica Neue"/>
              </a:rPr>
              <a:t>, 0, 10&gt;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                   </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0, 10&gt;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C</a:t>
            </a:r>
            <a:r>
              <a:rPr b="0" i="0" lang="en-US" sz="1800" u="none" cap="none" strike="noStrike">
                <a:solidFill>
                  <a:schemeClr val="dk1"/>
                </a:solidFill>
                <a:latin typeface="Helvetica Neue"/>
                <a:ea typeface="Helvetica Neue"/>
                <a:cs typeface="Helvetica Neue"/>
                <a:sym typeface="Helvetica Neue"/>
              </a:rPr>
              <a:t>, 10, 20&gt;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&lt;checkpoint {</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a:t>
            </a:r>
            <a:r>
              <a:rPr b="0" i="0" lang="en-US" sz="1800" u="none" cap="none" strike="noStrike">
                <a:solidFill>
                  <a:schemeClr val="dk1"/>
                </a:solidFill>
                <a:latin typeface="Helvetica Neue"/>
                <a:ea typeface="Helvetica Neue"/>
                <a:cs typeface="Helvetica Neue"/>
                <a:sym typeface="Helvetica Neue"/>
              </a:rPr>
              <a:t>, 10, 20&gt;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D</a:t>
            </a:r>
            <a:r>
              <a:rPr b="0" i="0" lang="en-US" sz="1800" u="none" cap="none" strike="noStrike">
                <a:solidFill>
                  <a:schemeClr val="dk1"/>
                </a:solidFill>
                <a:latin typeface="Helvetica Neue"/>
                <a:ea typeface="Helvetica Neue"/>
                <a:cs typeface="Helvetica Neue"/>
                <a:sym typeface="Helvetica Neue"/>
              </a:rPr>
              <a:t>, 0, 10&gt;</a:t>
            </a:r>
            <a:endParaRPr/>
          </a:p>
          <a:p>
            <a:pPr indent="-228600" lvl="4" marL="1771650" marR="0" rtl="0" algn="l">
              <a:lnSpc>
                <a:spcPct val="90000"/>
              </a:lnSpc>
              <a:spcBef>
                <a:spcPts val="630"/>
              </a:spcBef>
              <a:spcAft>
                <a:spcPts val="0"/>
              </a:spcAft>
              <a:buClr>
                <a:schemeClr val="dk2"/>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0" lang="en-US" sz="1800" u="none" cap="none" strike="noStrike">
                <a:solidFill>
                  <a:schemeClr val="dk1"/>
                </a:solidFill>
                <a:latin typeface="Helvetica Neue"/>
                <a:ea typeface="Helvetica Neue"/>
                <a:cs typeface="Helvetica Neue"/>
                <a:sym typeface="Helvetica Neue"/>
              </a:rPr>
              <a:t>&gt;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68" name="Shape 268"/>
        <p:cNvGrpSpPr/>
        <p:nvPr/>
      </p:nvGrpSpPr>
      <p:grpSpPr>
        <a:xfrm>
          <a:off x="0" y="0"/>
          <a:ext cx="0" cy="0"/>
          <a:chOff x="0" y="0"/>
          <a:chExt cx="0" cy="0"/>
        </a:xfrm>
      </p:grpSpPr>
      <p:sp>
        <p:nvSpPr>
          <p:cNvPr id="269" name="Google Shape;269;p3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Log Record Buffering</a:t>
            </a:r>
            <a:endParaRPr/>
          </a:p>
        </p:txBody>
      </p:sp>
      <p:sp>
        <p:nvSpPr>
          <p:cNvPr id="270" name="Google Shape;270;p32"/>
          <p:cNvSpPr txBox="1"/>
          <p:nvPr>
            <p:ph idx="4294967295" type="body"/>
          </p:nvPr>
        </p:nvSpPr>
        <p:spPr>
          <a:xfrm>
            <a:off x="842962" y="1106487"/>
            <a:ext cx="8039100" cy="5219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Log record buffering</a:t>
            </a:r>
            <a:r>
              <a:rPr b="0" i="0" lang="en-US" sz="1800" u="none">
                <a:solidFill>
                  <a:schemeClr val="dk1"/>
                </a:solidFill>
                <a:latin typeface="Helvetica Neue"/>
                <a:ea typeface="Helvetica Neue"/>
                <a:cs typeface="Helvetica Neue"/>
                <a:sym typeface="Helvetica Neue"/>
              </a:rPr>
              <a:t>: log records are buffered in main memory, instead of of being output directly to stable storage.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are output to stable storage when a block of log records in the buffer is full, or a </a:t>
            </a:r>
            <a:r>
              <a:rPr b="1" i="0" lang="en-US" sz="1800" u="none" cap="none" strike="noStrike">
                <a:solidFill>
                  <a:schemeClr val="dk2"/>
                </a:solidFill>
                <a:latin typeface="Helvetica Neue"/>
                <a:ea typeface="Helvetica Neue"/>
                <a:cs typeface="Helvetica Neue"/>
                <a:sym typeface="Helvetica Neue"/>
              </a:rPr>
              <a:t>log force</a:t>
            </a:r>
            <a:r>
              <a:rPr b="0" i="0" lang="en-US" sz="1800" u="none" cap="none" strike="noStrike">
                <a:solidFill>
                  <a:schemeClr val="dk1"/>
                </a:solidFill>
                <a:latin typeface="Helvetica Neue"/>
                <a:ea typeface="Helvetica Neue"/>
                <a:cs typeface="Helvetica Neue"/>
                <a:sym typeface="Helvetica Neue"/>
              </a:rPr>
              <a:t> operation is executed.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Log force is performed to commit a transaction by forcing all its log records (including the commit record) to stable storage.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Several log records can thus be output using a single output operation, reducing the I/O cost.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74" name="Shape 274"/>
        <p:cNvGrpSpPr/>
        <p:nvPr/>
      </p:nvGrpSpPr>
      <p:grpSpPr>
        <a:xfrm>
          <a:off x="0" y="0"/>
          <a:ext cx="0" cy="0"/>
          <a:chOff x="0" y="0"/>
          <a:chExt cx="0" cy="0"/>
        </a:xfrm>
      </p:grpSpPr>
      <p:sp>
        <p:nvSpPr>
          <p:cNvPr id="275" name="Google Shape;275;p3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Log Record Buffering (Cont.)</a:t>
            </a:r>
            <a:endParaRPr/>
          </a:p>
        </p:txBody>
      </p:sp>
      <p:sp>
        <p:nvSpPr>
          <p:cNvPr id="276" name="Google Shape;276;p33"/>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The rules below must be followed if log records are buffered: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are output to stable storage in the order in which they are created.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Transaction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enters the commit state only when the log record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0" lang="en-US" sz="1800" u="none" cap="none" strike="noStrike">
                <a:solidFill>
                  <a:schemeClr val="dk1"/>
                </a:solidFill>
                <a:latin typeface="Helvetica Neue"/>
                <a:ea typeface="Helvetica Neue"/>
                <a:cs typeface="Helvetica Neue"/>
                <a:sym typeface="Helvetica Neue"/>
              </a:rPr>
              <a:t>&gt; has been output to stable storage.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Before a block of data in main memory is output to the database, all log records pertaining to data in that block must have been output to stable storage.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This rule is called the </a:t>
            </a:r>
            <a:r>
              <a:rPr b="1" i="0" lang="en-US" sz="1800" u="none" cap="none" strike="noStrike">
                <a:solidFill>
                  <a:schemeClr val="dk2"/>
                </a:solidFill>
                <a:latin typeface="Helvetica Neue"/>
                <a:ea typeface="Helvetica Neue"/>
                <a:cs typeface="Helvetica Neue"/>
                <a:sym typeface="Helvetica Neue"/>
              </a:rPr>
              <a:t>write-ahead logging</a:t>
            </a:r>
            <a:r>
              <a:rPr b="0" i="0" lang="en-US" sz="1800" u="none" cap="none" strike="noStrike">
                <a:solidFill>
                  <a:schemeClr val="dk1"/>
                </a:solidFill>
                <a:latin typeface="Helvetica Neue"/>
                <a:ea typeface="Helvetica Neue"/>
                <a:cs typeface="Helvetica Neue"/>
                <a:sym typeface="Helvetica Neue"/>
              </a:rPr>
              <a:t> or </a:t>
            </a:r>
            <a:r>
              <a:rPr b="1" i="0" lang="en-US" sz="1800" u="none" cap="none" strike="noStrike">
                <a:solidFill>
                  <a:schemeClr val="dk2"/>
                </a:solidFill>
                <a:latin typeface="Helvetica Neue"/>
                <a:ea typeface="Helvetica Neue"/>
                <a:cs typeface="Helvetica Neue"/>
                <a:sym typeface="Helvetica Neue"/>
              </a:rPr>
              <a:t>WAL</a:t>
            </a:r>
            <a:r>
              <a:rPr b="1"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rule</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Strictly speaking WAL only requires undo information to be output</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80" name="Shape 280"/>
        <p:cNvGrpSpPr/>
        <p:nvPr/>
      </p:nvGrpSpPr>
      <p:grpSpPr>
        <a:xfrm>
          <a:off x="0" y="0"/>
          <a:ext cx="0" cy="0"/>
          <a:chOff x="0" y="0"/>
          <a:chExt cx="0" cy="0"/>
        </a:xfrm>
      </p:grpSpPr>
      <p:sp>
        <p:nvSpPr>
          <p:cNvPr id="281" name="Google Shape;281;p3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Database Buffering</a:t>
            </a:r>
            <a:endParaRPr/>
          </a:p>
        </p:txBody>
      </p:sp>
      <p:sp>
        <p:nvSpPr>
          <p:cNvPr id="282" name="Google Shape;282;p34"/>
          <p:cNvSpPr txBox="1"/>
          <p:nvPr>
            <p:ph idx="4294967295" type="body"/>
          </p:nvPr>
        </p:nvSpPr>
        <p:spPr>
          <a:xfrm>
            <a:off x="850900" y="1106487"/>
            <a:ext cx="8293100" cy="5283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Database maintains an in-memory buffer of data blocks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a new block is needed, if buffer is full an existing block needs to be removed from buffer</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the block chosen for removal has been updated, it must be output to disk</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a block with uncommitted updates is output to disk, log records with undo information for the updates are output to the log on stable storage first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(Write ahead logging)</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 updates should be in progress on a block when it is output to disk.  Can be ensured as follows.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Before writing a data item, transaction acquires exclusive lock on block containing the data item</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Lock can be released once the write is completed.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Such locks held for short duration are called </a:t>
            </a:r>
            <a:r>
              <a:rPr b="1" i="0" lang="en-US" sz="1800" u="none" cap="none" strike="noStrike">
                <a:solidFill>
                  <a:schemeClr val="dk2"/>
                </a:solidFill>
                <a:latin typeface="Helvetica Neue"/>
                <a:ea typeface="Helvetica Neue"/>
                <a:cs typeface="Helvetica Neue"/>
                <a:sym typeface="Helvetica Neue"/>
              </a:rPr>
              <a:t>latches</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Before a block is output to disk, the system acquires an exclusive latch on the block</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Ensures no update can be in progress on the block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86" name="Shape 286"/>
        <p:cNvGrpSpPr/>
        <p:nvPr/>
      </p:nvGrpSpPr>
      <p:grpSpPr>
        <a:xfrm>
          <a:off x="0" y="0"/>
          <a:ext cx="0" cy="0"/>
          <a:chOff x="0" y="0"/>
          <a:chExt cx="0" cy="0"/>
        </a:xfrm>
      </p:grpSpPr>
      <p:sp>
        <p:nvSpPr>
          <p:cNvPr id="287" name="Google Shape;287;p3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Buffer Management (Cont.)</a:t>
            </a:r>
            <a:endParaRPr/>
          </a:p>
        </p:txBody>
      </p:sp>
      <p:sp>
        <p:nvSpPr>
          <p:cNvPr id="288" name="Google Shape;288;p35"/>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Database buffer can be implemented either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 an area of real main-memory reserved for the database, or</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 virtual memory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Implementing buffer in reserved main-memory has drawbacks: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Memory is partitioned before-hand between database buffer and applications, limiting flexibility.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Needs may change, and although operating system knows best how memory should be divided up at any time, it cannot change the partitioning of memory.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92" name="Shape 292"/>
        <p:cNvGrpSpPr/>
        <p:nvPr/>
      </p:nvGrpSpPr>
      <p:grpSpPr>
        <a:xfrm>
          <a:off x="0" y="0"/>
          <a:ext cx="0" cy="0"/>
          <a:chOff x="0" y="0"/>
          <a:chExt cx="0" cy="0"/>
        </a:xfrm>
      </p:grpSpPr>
      <p:sp>
        <p:nvSpPr>
          <p:cNvPr id="293" name="Google Shape;293;p3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Buffer Management (Cont.)</a:t>
            </a:r>
            <a:endParaRPr/>
          </a:p>
        </p:txBody>
      </p:sp>
      <p:sp>
        <p:nvSpPr>
          <p:cNvPr id="294" name="Google Shape;294;p36"/>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Database buffers are generally implemented in virtual memory in spite of some drawbacks: </a:t>
            </a:r>
            <a:endParaRPr/>
          </a:p>
          <a:p>
            <a:pPr indent="-342900" lvl="1" marL="8001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operating system needs to evict a page that has been modified, the page is written to swap space on disk.</a:t>
            </a:r>
            <a:endParaRPr/>
          </a:p>
          <a:p>
            <a:pPr indent="-342900" lvl="1" marL="8001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database decides to write buffer page to disk, buffer page may be in swap space, and may have to be  read from swap space on disk and output to the database on disk, resulting in extra I/O! </a:t>
            </a:r>
            <a:endParaRPr/>
          </a:p>
          <a:p>
            <a:pPr indent="-342900" lvl="2" marL="12001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Known as </a:t>
            </a:r>
            <a:r>
              <a:rPr b="1" i="0" lang="en-US" sz="1800" u="none" cap="none" strike="noStrike">
                <a:solidFill>
                  <a:schemeClr val="dk2"/>
                </a:solidFill>
                <a:latin typeface="Helvetica Neue"/>
                <a:ea typeface="Helvetica Neue"/>
                <a:cs typeface="Helvetica Neue"/>
                <a:sym typeface="Helvetica Neue"/>
              </a:rPr>
              <a:t>dual paging</a:t>
            </a:r>
            <a:r>
              <a:rPr b="0" i="0" lang="en-US" sz="1800" u="none" cap="none" strike="noStrike">
                <a:solidFill>
                  <a:schemeClr val="dk1"/>
                </a:solidFill>
                <a:latin typeface="Helvetica Neue"/>
                <a:ea typeface="Helvetica Neue"/>
                <a:cs typeface="Helvetica Neue"/>
                <a:sym typeface="Helvetica Neue"/>
              </a:rPr>
              <a:t> problem.</a:t>
            </a:r>
            <a:endParaRPr/>
          </a:p>
          <a:p>
            <a:pPr indent="-342900" lvl="1" marL="80010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Ideally when OS needs to evict a page from the buffer, it should pass control to database, which in turn should</a:t>
            </a:r>
            <a:endParaRPr/>
          </a:p>
          <a:p>
            <a:pPr indent="-342900" lvl="2" marL="1200150" marR="0" rtl="0" algn="l">
              <a:lnSpc>
                <a:spcPct val="90000"/>
              </a:lnSpc>
              <a:spcBef>
                <a:spcPts val="630"/>
              </a:spcBef>
              <a:spcAft>
                <a:spcPts val="0"/>
              </a:spcAft>
              <a:buClr>
                <a:srgbClr val="33CC33"/>
              </a:buClr>
              <a:buSzPts val="1350"/>
              <a:buFont typeface="Arimo"/>
              <a:buAutoNum type="arabicPeriod"/>
            </a:pPr>
            <a:r>
              <a:rPr b="0" i="0" lang="en-US" sz="1800" u="none" cap="none" strike="noStrike">
                <a:solidFill>
                  <a:schemeClr val="dk1"/>
                </a:solidFill>
                <a:latin typeface="Helvetica Neue"/>
                <a:ea typeface="Helvetica Neue"/>
                <a:cs typeface="Helvetica Neue"/>
                <a:sym typeface="Helvetica Neue"/>
              </a:rPr>
              <a:t>Output the page to database instead of to swap space (making sure to output log records first), if it is modified</a:t>
            </a:r>
            <a:endParaRPr/>
          </a:p>
          <a:p>
            <a:pPr indent="-342900" lvl="2" marL="1200150" marR="0" rtl="0" algn="l">
              <a:lnSpc>
                <a:spcPct val="90000"/>
              </a:lnSpc>
              <a:spcBef>
                <a:spcPts val="630"/>
              </a:spcBef>
              <a:spcAft>
                <a:spcPts val="0"/>
              </a:spcAft>
              <a:buClr>
                <a:srgbClr val="33CC33"/>
              </a:buClr>
              <a:buSzPts val="1350"/>
              <a:buFont typeface="Arimo"/>
              <a:buAutoNum type="arabicPeriod"/>
            </a:pPr>
            <a:r>
              <a:rPr b="0" i="0" lang="en-US" sz="1800" u="none" cap="none" strike="noStrike">
                <a:solidFill>
                  <a:schemeClr val="dk1"/>
                </a:solidFill>
                <a:latin typeface="Helvetica Neue"/>
                <a:ea typeface="Helvetica Neue"/>
                <a:cs typeface="Helvetica Neue"/>
                <a:sym typeface="Helvetica Neue"/>
              </a:rPr>
              <a:t>Release the page from the buffer, for the OS to use</a:t>
            </a:r>
            <a:endParaRPr/>
          </a:p>
          <a:p>
            <a:pPr indent="-342900" lvl="2" marL="1200150" marR="0" rtl="0" algn="l">
              <a:lnSpc>
                <a:spcPct val="90000"/>
              </a:lnSpc>
              <a:spcBef>
                <a:spcPts val="63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Dual paging can thus be avoided, but common operating systems do not support such functionality.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298" name="Shape 298"/>
        <p:cNvGrpSpPr/>
        <p:nvPr/>
      </p:nvGrpSpPr>
      <p:grpSpPr>
        <a:xfrm>
          <a:off x="0" y="0"/>
          <a:ext cx="0" cy="0"/>
          <a:chOff x="0" y="0"/>
          <a:chExt cx="0" cy="0"/>
        </a:xfrm>
      </p:grpSpPr>
      <p:sp>
        <p:nvSpPr>
          <p:cNvPr id="299" name="Google Shape;299;p3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Failure with Loss of Nonvolatile Storage</a:t>
            </a:r>
            <a:endParaRPr/>
          </a:p>
        </p:txBody>
      </p:sp>
      <p:sp>
        <p:nvSpPr>
          <p:cNvPr id="300" name="Google Shape;300;p37"/>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710"/>
              <a:buFont typeface="Arial"/>
              <a:buChar char="●"/>
            </a:pPr>
            <a:r>
              <a:rPr b="0" i="0" lang="en-US" sz="1900" u="none">
                <a:solidFill>
                  <a:schemeClr val="dk1"/>
                </a:solidFill>
                <a:latin typeface="Helvetica Neue"/>
                <a:ea typeface="Helvetica Neue"/>
                <a:cs typeface="Helvetica Neue"/>
                <a:sym typeface="Helvetica Neue"/>
              </a:rPr>
              <a:t>So far we assumed no loss of non-volatile storage</a:t>
            </a:r>
            <a:endParaRPr/>
          </a:p>
          <a:p>
            <a:pPr indent="-342900" lvl="0" marL="342900" marR="0" rtl="0" algn="l">
              <a:lnSpc>
                <a:spcPct val="90000"/>
              </a:lnSpc>
              <a:spcBef>
                <a:spcPts val="665"/>
              </a:spcBef>
              <a:spcAft>
                <a:spcPts val="0"/>
              </a:spcAft>
              <a:buClr>
                <a:schemeClr val="dk2"/>
              </a:buClr>
              <a:buSzPts val="1710"/>
              <a:buFont typeface="Arial"/>
              <a:buChar char="●"/>
            </a:pPr>
            <a:r>
              <a:rPr b="0" i="0" lang="en-US" sz="1900" u="none">
                <a:solidFill>
                  <a:schemeClr val="dk1"/>
                </a:solidFill>
                <a:latin typeface="Helvetica Neue"/>
                <a:ea typeface="Helvetica Neue"/>
                <a:cs typeface="Helvetica Neue"/>
                <a:sym typeface="Helvetica Neue"/>
              </a:rPr>
              <a:t>Technique similar to checkpointing used to deal with loss of non-volatile storage</a:t>
            </a:r>
            <a:endParaRPr/>
          </a:p>
          <a:p>
            <a:pPr indent="-285750" lvl="1" marL="742950" marR="0" rtl="0" algn="l">
              <a:lnSpc>
                <a:spcPct val="90000"/>
              </a:lnSpc>
              <a:spcBef>
                <a:spcPts val="665"/>
              </a:spcBef>
              <a:spcAft>
                <a:spcPts val="0"/>
              </a:spcAft>
              <a:buClr>
                <a:schemeClr val="hlink"/>
              </a:buClr>
              <a:buSzPts val="1520"/>
              <a:buFont typeface="Arial"/>
              <a:buChar char="●"/>
            </a:pPr>
            <a:r>
              <a:rPr b="0" i="0" lang="en-US" sz="1900" u="none" cap="none" strike="noStrike">
                <a:solidFill>
                  <a:schemeClr val="dk1"/>
                </a:solidFill>
                <a:latin typeface="Helvetica Neue"/>
                <a:ea typeface="Helvetica Neue"/>
                <a:cs typeface="Helvetica Neue"/>
                <a:sym typeface="Helvetica Neue"/>
              </a:rPr>
              <a:t>Periodically </a:t>
            </a:r>
            <a:r>
              <a:rPr b="1" i="0" lang="en-US" sz="1900" u="none" cap="none" strike="noStrike">
                <a:solidFill>
                  <a:schemeClr val="dk2"/>
                </a:solidFill>
                <a:latin typeface="Helvetica Neue"/>
                <a:ea typeface="Helvetica Neue"/>
                <a:cs typeface="Helvetica Neue"/>
                <a:sym typeface="Helvetica Neue"/>
              </a:rPr>
              <a:t>dump</a:t>
            </a:r>
            <a:r>
              <a:rPr b="0" i="0" lang="en-US" sz="1900" u="none" cap="none" strike="noStrike">
                <a:solidFill>
                  <a:schemeClr val="dk1"/>
                </a:solidFill>
                <a:latin typeface="Helvetica Neue"/>
                <a:ea typeface="Helvetica Neue"/>
                <a:cs typeface="Helvetica Neue"/>
                <a:sym typeface="Helvetica Neue"/>
              </a:rPr>
              <a:t> the entire content of the database to stable storage</a:t>
            </a:r>
            <a:endParaRPr/>
          </a:p>
          <a:p>
            <a:pPr indent="-285750" lvl="1" marL="742950" marR="0" rtl="0" algn="l">
              <a:lnSpc>
                <a:spcPct val="90000"/>
              </a:lnSpc>
              <a:spcBef>
                <a:spcPts val="665"/>
              </a:spcBef>
              <a:spcAft>
                <a:spcPts val="0"/>
              </a:spcAft>
              <a:buClr>
                <a:schemeClr val="hlink"/>
              </a:buClr>
              <a:buSzPts val="1520"/>
              <a:buFont typeface="Arial"/>
              <a:buChar char="●"/>
            </a:pPr>
            <a:r>
              <a:rPr b="0" i="0" lang="en-US" sz="1900" u="none" cap="none" strike="noStrike">
                <a:solidFill>
                  <a:schemeClr val="dk1"/>
                </a:solidFill>
                <a:latin typeface="Helvetica Neue"/>
                <a:ea typeface="Helvetica Neue"/>
                <a:cs typeface="Helvetica Neue"/>
                <a:sym typeface="Helvetica Neue"/>
              </a:rPr>
              <a:t>No transaction may be active during the dump procedure; a procedure similar to checkpointing must take place</a:t>
            </a:r>
            <a:endParaRPr/>
          </a:p>
          <a:p>
            <a:pPr indent="-228600" lvl="2" marL="1085850" marR="0" rtl="0" algn="l">
              <a:lnSpc>
                <a:spcPct val="90000"/>
              </a:lnSpc>
              <a:spcBef>
                <a:spcPts val="665"/>
              </a:spcBef>
              <a:spcAft>
                <a:spcPts val="0"/>
              </a:spcAft>
              <a:buClr>
                <a:srgbClr val="33CC33"/>
              </a:buClr>
              <a:buSzPts val="1425"/>
              <a:buFont typeface="Arimo"/>
              <a:buChar char="4"/>
            </a:pPr>
            <a:r>
              <a:rPr b="0" i="0" lang="en-US" sz="1900" u="none" cap="none" strike="noStrike">
                <a:solidFill>
                  <a:schemeClr val="dk1"/>
                </a:solidFill>
                <a:latin typeface="Helvetica Neue"/>
                <a:ea typeface="Helvetica Neue"/>
                <a:cs typeface="Helvetica Neue"/>
                <a:sym typeface="Helvetica Neue"/>
              </a:rPr>
              <a:t>Output all log records currently residing in main memory onto stable storage.</a:t>
            </a:r>
            <a:endParaRPr/>
          </a:p>
          <a:p>
            <a:pPr indent="-228600" lvl="2" marL="1085850" marR="0" rtl="0" algn="l">
              <a:lnSpc>
                <a:spcPct val="90000"/>
              </a:lnSpc>
              <a:spcBef>
                <a:spcPts val="665"/>
              </a:spcBef>
              <a:spcAft>
                <a:spcPts val="0"/>
              </a:spcAft>
              <a:buClr>
                <a:srgbClr val="33CC33"/>
              </a:buClr>
              <a:buSzPts val="1425"/>
              <a:buFont typeface="Arimo"/>
              <a:buChar char="4"/>
            </a:pPr>
            <a:r>
              <a:rPr b="0" i="0" lang="en-US" sz="1900" u="none" cap="none" strike="noStrike">
                <a:solidFill>
                  <a:schemeClr val="dk1"/>
                </a:solidFill>
                <a:latin typeface="Helvetica Neue"/>
                <a:ea typeface="Helvetica Neue"/>
                <a:cs typeface="Helvetica Neue"/>
                <a:sym typeface="Helvetica Neue"/>
              </a:rPr>
              <a:t>Output all buffer blocks onto the disk.</a:t>
            </a:r>
            <a:endParaRPr/>
          </a:p>
          <a:p>
            <a:pPr indent="-228600" lvl="2" marL="1085850" marR="0" rtl="0" algn="l">
              <a:lnSpc>
                <a:spcPct val="90000"/>
              </a:lnSpc>
              <a:spcBef>
                <a:spcPts val="665"/>
              </a:spcBef>
              <a:spcAft>
                <a:spcPts val="0"/>
              </a:spcAft>
              <a:buClr>
                <a:srgbClr val="33CC33"/>
              </a:buClr>
              <a:buSzPts val="1425"/>
              <a:buFont typeface="Arimo"/>
              <a:buChar char="4"/>
            </a:pPr>
            <a:r>
              <a:rPr b="0" i="0" lang="en-US" sz="1900" u="none" cap="none" strike="noStrike">
                <a:solidFill>
                  <a:schemeClr val="dk1"/>
                </a:solidFill>
                <a:latin typeface="Helvetica Neue"/>
                <a:ea typeface="Helvetica Neue"/>
                <a:cs typeface="Helvetica Neue"/>
                <a:sym typeface="Helvetica Neue"/>
              </a:rPr>
              <a:t>Copy the contents of the database to stable storage.</a:t>
            </a:r>
            <a:endParaRPr/>
          </a:p>
          <a:p>
            <a:pPr indent="-228600" lvl="2" marL="1085850" marR="0" rtl="0" algn="l">
              <a:lnSpc>
                <a:spcPct val="90000"/>
              </a:lnSpc>
              <a:spcBef>
                <a:spcPts val="665"/>
              </a:spcBef>
              <a:spcAft>
                <a:spcPts val="0"/>
              </a:spcAft>
              <a:buClr>
                <a:srgbClr val="33CC33"/>
              </a:buClr>
              <a:buSzPts val="1425"/>
              <a:buFont typeface="Arimo"/>
              <a:buChar char="4"/>
            </a:pPr>
            <a:r>
              <a:rPr b="0" i="0" lang="en-US" sz="1900" u="none" cap="none" strike="noStrike">
                <a:solidFill>
                  <a:schemeClr val="dk1"/>
                </a:solidFill>
                <a:latin typeface="Helvetica Neue"/>
                <a:ea typeface="Helvetica Neue"/>
                <a:cs typeface="Helvetica Neue"/>
                <a:sym typeface="Helvetica Neue"/>
              </a:rPr>
              <a:t>Output a record &lt;</a:t>
            </a:r>
            <a:r>
              <a:rPr b="1" i="0" lang="en-US" sz="1900" u="none" cap="none" strike="noStrike">
                <a:solidFill>
                  <a:schemeClr val="dk1"/>
                </a:solidFill>
                <a:latin typeface="Helvetica Neue"/>
                <a:ea typeface="Helvetica Neue"/>
                <a:cs typeface="Helvetica Neue"/>
                <a:sym typeface="Helvetica Neue"/>
              </a:rPr>
              <a:t>dump</a:t>
            </a:r>
            <a:r>
              <a:rPr b="0" i="0" lang="en-US" sz="1900" u="none" cap="none" strike="noStrike">
                <a:solidFill>
                  <a:schemeClr val="dk1"/>
                </a:solidFill>
                <a:latin typeface="Helvetica Neue"/>
                <a:ea typeface="Helvetica Neue"/>
                <a:cs typeface="Helvetica Neue"/>
                <a:sym typeface="Helvetica Neue"/>
              </a:rPr>
              <a:t>&gt; to log on stable storage.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04" name="Shape 304"/>
        <p:cNvGrpSpPr/>
        <p:nvPr/>
      </p:nvGrpSpPr>
      <p:grpSpPr>
        <a:xfrm>
          <a:off x="0" y="0"/>
          <a:ext cx="0" cy="0"/>
          <a:chOff x="0" y="0"/>
          <a:chExt cx="0" cy="0"/>
        </a:xfrm>
      </p:grpSpPr>
      <p:sp>
        <p:nvSpPr>
          <p:cNvPr id="305" name="Google Shape;305;p38"/>
          <p:cNvSpPr txBox="1"/>
          <p:nvPr>
            <p:ph type="title"/>
          </p:nvPr>
        </p:nvSpPr>
        <p:spPr>
          <a:xfrm>
            <a:off x="768350" y="117475"/>
            <a:ext cx="8375650" cy="6699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Recovering from Failure of Non-Volatile Storage</a:t>
            </a:r>
            <a:endParaRPr/>
          </a:p>
        </p:txBody>
      </p:sp>
      <p:sp>
        <p:nvSpPr>
          <p:cNvPr id="306" name="Google Shape;306;p38"/>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710"/>
              <a:buFont typeface="Arial"/>
              <a:buChar char="●"/>
            </a:pPr>
            <a:r>
              <a:rPr b="0" i="0" lang="en-US" sz="1900" u="none">
                <a:solidFill>
                  <a:schemeClr val="dk1"/>
                </a:solidFill>
                <a:latin typeface="Helvetica Neue"/>
                <a:ea typeface="Helvetica Neue"/>
                <a:cs typeface="Helvetica Neue"/>
                <a:sym typeface="Helvetica Neue"/>
              </a:rPr>
              <a:t>To recover from disk failure</a:t>
            </a:r>
            <a:endParaRPr/>
          </a:p>
          <a:p>
            <a:pPr indent="-285750" lvl="1" marL="742950" marR="0" rtl="0" algn="l">
              <a:lnSpc>
                <a:spcPct val="100000"/>
              </a:lnSpc>
              <a:spcBef>
                <a:spcPts val="665"/>
              </a:spcBef>
              <a:spcAft>
                <a:spcPts val="0"/>
              </a:spcAft>
              <a:buClr>
                <a:schemeClr val="hlink"/>
              </a:buClr>
              <a:buSzPts val="1520"/>
              <a:buFont typeface="Arial"/>
              <a:buChar char="●"/>
            </a:pPr>
            <a:r>
              <a:rPr b="0" i="0" lang="en-US" sz="1900" u="none" cap="none" strike="noStrike">
                <a:solidFill>
                  <a:schemeClr val="dk1"/>
                </a:solidFill>
                <a:latin typeface="Helvetica Neue"/>
                <a:ea typeface="Helvetica Neue"/>
                <a:cs typeface="Helvetica Neue"/>
                <a:sym typeface="Helvetica Neue"/>
              </a:rPr>
              <a:t>restore database from  most recent dump. </a:t>
            </a:r>
            <a:endParaRPr/>
          </a:p>
          <a:p>
            <a:pPr indent="-285750" lvl="1" marL="742950" marR="0" rtl="0" algn="l">
              <a:lnSpc>
                <a:spcPct val="100000"/>
              </a:lnSpc>
              <a:spcBef>
                <a:spcPts val="665"/>
              </a:spcBef>
              <a:spcAft>
                <a:spcPts val="0"/>
              </a:spcAft>
              <a:buClr>
                <a:schemeClr val="hlink"/>
              </a:buClr>
              <a:buSzPts val="1520"/>
              <a:buFont typeface="Arial"/>
              <a:buChar char="●"/>
            </a:pPr>
            <a:r>
              <a:rPr b="0" i="0" lang="en-US" sz="1900" u="none" cap="none" strike="noStrike">
                <a:solidFill>
                  <a:schemeClr val="dk1"/>
                </a:solidFill>
                <a:latin typeface="Helvetica Neue"/>
                <a:ea typeface="Helvetica Neue"/>
                <a:cs typeface="Helvetica Neue"/>
                <a:sym typeface="Helvetica Neue"/>
              </a:rPr>
              <a:t>Consult the log and redo all transactions that committed after the dump</a:t>
            </a:r>
            <a:endParaRPr/>
          </a:p>
          <a:p>
            <a:pPr indent="-342900" lvl="0" marL="342900" marR="0" rtl="0" algn="l">
              <a:lnSpc>
                <a:spcPct val="100000"/>
              </a:lnSpc>
              <a:spcBef>
                <a:spcPts val="665"/>
              </a:spcBef>
              <a:spcAft>
                <a:spcPts val="0"/>
              </a:spcAft>
              <a:buClr>
                <a:schemeClr val="dk2"/>
              </a:buClr>
              <a:buSzPts val="1710"/>
              <a:buFont typeface="Arial"/>
              <a:buChar char="●"/>
            </a:pPr>
            <a:r>
              <a:rPr b="0" i="0" lang="en-US" sz="1900" u="none">
                <a:solidFill>
                  <a:schemeClr val="dk1"/>
                </a:solidFill>
                <a:latin typeface="Helvetica Neue"/>
                <a:ea typeface="Helvetica Neue"/>
                <a:cs typeface="Helvetica Neue"/>
                <a:sym typeface="Helvetica Neue"/>
              </a:rPr>
              <a:t>Can be extended to allow transactions to be active during dump; </a:t>
            </a:r>
            <a:br>
              <a:rPr b="0" i="0" lang="en-US" sz="1900" u="none">
                <a:solidFill>
                  <a:schemeClr val="dk1"/>
                </a:solidFill>
                <a:latin typeface="Helvetica Neue"/>
                <a:ea typeface="Helvetica Neue"/>
                <a:cs typeface="Helvetica Neue"/>
                <a:sym typeface="Helvetica Neue"/>
              </a:rPr>
            </a:br>
            <a:r>
              <a:rPr b="0" i="0" lang="en-US" sz="1900" u="none">
                <a:solidFill>
                  <a:schemeClr val="dk1"/>
                </a:solidFill>
                <a:latin typeface="Helvetica Neue"/>
                <a:ea typeface="Helvetica Neue"/>
                <a:cs typeface="Helvetica Neue"/>
                <a:sym typeface="Helvetica Neue"/>
              </a:rPr>
              <a:t>known as </a:t>
            </a:r>
            <a:r>
              <a:rPr b="1" i="0" lang="en-US" sz="1900" u="none">
                <a:solidFill>
                  <a:schemeClr val="dk2"/>
                </a:solidFill>
                <a:latin typeface="Helvetica Neue"/>
                <a:ea typeface="Helvetica Neue"/>
                <a:cs typeface="Helvetica Neue"/>
                <a:sym typeface="Helvetica Neue"/>
              </a:rPr>
              <a:t>fuzzy dump</a:t>
            </a:r>
            <a:r>
              <a:rPr b="0" i="0" lang="en-US" sz="1900" u="none">
                <a:solidFill>
                  <a:schemeClr val="dk1"/>
                </a:solidFill>
                <a:latin typeface="Helvetica Neue"/>
                <a:ea typeface="Helvetica Neue"/>
                <a:cs typeface="Helvetica Neue"/>
                <a:sym typeface="Helvetica Neue"/>
              </a:rPr>
              <a:t> or </a:t>
            </a:r>
            <a:r>
              <a:rPr b="1" i="0" lang="en-US" sz="1900" u="none">
                <a:solidFill>
                  <a:schemeClr val="dk2"/>
                </a:solidFill>
                <a:latin typeface="Helvetica Neue"/>
                <a:ea typeface="Helvetica Neue"/>
                <a:cs typeface="Helvetica Neue"/>
                <a:sym typeface="Helvetica Neue"/>
              </a:rPr>
              <a:t>online dump</a:t>
            </a:r>
            <a:endParaRPr/>
          </a:p>
          <a:p>
            <a:pPr indent="-285750" lvl="1" marL="742950" marR="0" rtl="0" algn="l">
              <a:lnSpc>
                <a:spcPct val="100000"/>
              </a:lnSpc>
              <a:spcBef>
                <a:spcPts val="665"/>
              </a:spcBef>
              <a:spcAft>
                <a:spcPts val="0"/>
              </a:spcAft>
              <a:buClr>
                <a:schemeClr val="hlink"/>
              </a:buClr>
              <a:buSzPts val="1520"/>
              <a:buFont typeface="Arial"/>
              <a:buChar char="●"/>
            </a:pPr>
            <a:r>
              <a:rPr b="0" i="0" lang="en-US" sz="1900" u="none" cap="none" strike="noStrike">
                <a:solidFill>
                  <a:schemeClr val="dk1"/>
                </a:solidFill>
                <a:latin typeface="Helvetica Neue"/>
                <a:ea typeface="Helvetica Neue"/>
                <a:cs typeface="Helvetica Neue"/>
                <a:sym typeface="Helvetica Neue"/>
              </a:rPr>
              <a:t>Will study fuzzy checkpointing later</a:t>
            </a:r>
            <a:endParaRPr/>
          </a:p>
          <a:p>
            <a:pPr indent="-234315" lvl="0" marL="342900" marR="0" rtl="0" algn="l">
              <a:lnSpc>
                <a:spcPct val="100000"/>
              </a:lnSpc>
              <a:spcBef>
                <a:spcPts val="665"/>
              </a:spcBef>
              <a:spcAft>
                <a:spcPts val="0"/>
              </a:spcAft>
              <a:buClr>
                <a:schemeClr val="dk2"/>
              </a:buClr>
              <a:buSzPts val="1710"/>
              <a:buFont typeface="Arial"/>
              <a:buNone/>
            </a:pPr>
            <a:r>
              <a:t/>
            </a:r>
            <a:endParaRPr b="0" i="0" sz="19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10" name="Shape 310"/>
        <p:cNvGrpSpPr/>
        <p:nvPr/>
      </p:nvGrpSpPr>
      <p:grpSpPr>
        <a:xfrm>
          <a:off x="0" y="0"/>
          <a:ext cx="0" cy="0"/>
          <a:chOff x="0" y="0"/>
          <a:chExt cx="0" cy="0"/>
        </a:xfrm>
      </p:grpSpPr>
      <p:sp>
        <p:nvSpPr>
          <p:cNvPr id="311" name="Google Shape;311;p39"/>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Algorithm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15" name="Shape 315"/>
        <p:cNvGrpSpPr/>
        <p:nvPr/>
      </p:nvGrpSpPr>
      <p:grpSpPr>
        <a:xfrm>
          <a:off x="0" y="0"/>
          <a:ext cx="0" cy="0"/>
          <a:chOff x="0" y="0"/>
          <a:chExt cx="0" cy="0"/>
        </a:xfrm>
      </p:grpSpPr>
      <p:sp>
        <p:nvSpPr>
          <p:cNvPr id="316" name="Google Shape;316;p4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Key Features</a:t>
            </a:r>
            <a:endParaRPr/>
          </a:p>
        </p:txBody>
      </p:sp>
      <p:sp>
        <p:nvSpPr>
          <p:cNvPr id="317" name="Google Shape;317;p40"/>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Support for high-concurrency locking techniques, such as those used for B</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-tree concurrency control, which release locks early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Supports “logical undo”</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based on “</a:t>
            </a:r>
            <a:r>
              <a:rPr b="0" i="0" lang="en-US" sz="1800" u="none">
                <a:solidFill>
                  <a:schemeClr val="dk2"/>
                </a:solidFill>
                <a:latin typeface="Helvetica Neue"/>
                <a:ea typeface="Helvetica Neue"/>
                <a:cs typeface="Helvetica Neue"/>
                <a:sym typeface="Helvetica Neue"/>
              </a:rPr>
              <a:t>repeating history</a:t>
            </a:r>
            <a:r>
              <a:rPr b="0" i="0" lang="en-US" sz="1800" u="none">
                <a:solidFill>
                  <a:schemeClr val="dk1"/>
                </a:solidFill>
                <a:latin typeface="Helvetica Neue"/>
                <a:ea typeface="Helvetica Neue"/>
                <a:cs typeface="Helvetica Neue"/>
                <a:sym typeface="Helvetica Neue"/>
              </a:rPr>
              <a:t>”, whereby recovery executes exactly the same actions as normal processing</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including redo of log records of incomplete transactions, followed by subsequent undo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Key benefits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supports logical undo</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easier to understand/show correctness</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21" name="Shape 321"/>
        <p:cNvGrpSpPr/>
        <p:nvPr/>
      </p:nvGrpSpPr>
      <p:grpSpPr>
        <a:xfrm>
          <a:off x="0" y="0"/>
          <a:ext cx="0" cy="0"/>
          <a:chOff x="0" y="0"/>
          <a:chExt cx="0" cy="0"/>
        </a:xfrm>
      </p:grpSpPr>
      <p:sp>
        <p:nvSpPr>
          <p:cNvPr id="322" name="Google Shape;322;p4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Logical Undo Logging</a:t>
            </a:r>
            <a:endParaRPr/>
          </a:p>
        </p:txBody>
      </p:sp>
      <p:sp>
        <p:nvSpPr>
          <p:cNvPr id="323" name="Google Shape;323;p41"/>
          <p:cNvSpPr txBox="1"/>
          <p:nvPr>
            <p:ph idx="4294967295" type="body"/>
          </p:nvPr>
        </p:nvSpPr>
        <p:spPr>
          <a:xfrm>
            <a:off x="842962" y="1106487"/>
            <a:ext cx="7962900" cy="5118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Operations like B</a:t>
            </a:r>
            <a:r>
              <a:rPr b="0" baseline="30000" i="0"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-tree insertions and deletions release locks early.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They cannot be undone by restoring old values (</a:t>
            </a:r>
            <a:r>
              <a:rPr b="1" i="0" lang="en-US" sz="1800" u="none" cap="none" strike="noStrike">
                <a:solidFill>
                  <a:schemeClr val="dk2"/>
                </a:solidFill>
                <a:latin typeface="Helvetica Neue"/>
                <a:ea typeface="Helvetica Neue"/>
                <a:cs typeface="Helvetica Neue"/>
                <a:sym typeface="Helvetica Neue"/>
              </a:rPr>
              <a:t>physical undo</a:t>
            </a:r>
            <a:r>
              <a:rPr b="0" i="0" lang="en-US" sz="1800" u="none" cap="none" strike="noStrike">
                <a:solidFill>
                  <a:schemeClr val="dk1"/>
                </a:solidFill>
                <a:latin typeface="Helvetica Neue"/>
                <a:ea typeface="Helvetica Neue"/>
                <a:cs typeface="Helvetica Neue"/>
                <a:sym typeface="Helvetica Neue"/>
              </a:rPr>
              <a:t>), since once a lock is released, other transactions may have updated  the B</a:t>
            </a:r>
            <a:r>
              <a:rPr b="0" baseline="30000" i="0"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-tree.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Instead, insertions (resp. deletions) are undone  by executing a deletion (resp. insertion) operation (known as </a:t>
            </a:r>
            <a:r>
              <a:rPr b="1" i="0" lang="en-US" sz="1800" u="none" cap="none" strike="noStrike">
                <a:solidFill>
                  <a:schemeClr val="dk2"/>
                </a:solidFill>
                <a:latin typeface="Helvetica Neue"/>
                <a:ea typeface="Helvetica Neue"/>
                <a:cs typeface="Helvetica Neue"/>
                <a:sym typeface="Helvetica Neue"/>
              </a:rPr>
              <a:t>logical undo</a:t>
            </a:r>
            <a:r>
              <a:rPr b="0" i="0" lang="en-US" sz="1800" u="none" cap="none" strike="noStrike">
                <a:solidFill>
                  <a:schemeClr val="dk1"/>
                </a:solidFill>
                <a:latin typeface="Helvetica Neue"/>
                <a:ea typeface="Helvetica Neue"/>
                <a:cs typeface="Helvetica Neue"/>
                <a:sym typeface="Helvetica Neue"/>
              </a:rPr>
              <a:t>).  </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For such operations, undo log records should contain the undo operation to be executed</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Such logging is called </a:t>
            </a:r>
            <a:r>
              <a:rPr b="1" i="0" lang="en-US" sz="1800" u="none" cap="none" strike="noStrike">
                <a:solidFill>
                  <a:schemeClr val="dk2"/>
                </a:solidFill>
                <a:latin typeface="Helvetica Neue"/>
                <a:ea typeface="Helvetica Neue"/>
                <a:cs typeface="Helvetica Neue"/>
                <a:sym typeface="Helvetica Neue"/>
              </a:rPr>
              <a:t>logical undo logging</a:t>
            </a:r>
            <a:r>
              <a:rPr b="0" i="0" lang="en-US" sz="1800" u="none" cap="none" strike="noStrike">
                <a:solidFill>
                  <a:schemeClr val="dk1"/>
                </a:solidFill>
                <a:latin typeface="Helvetica Neue"/>
                <a:ea typeface="Helvetica Neue"/>
                <a:cs typeface="Helvetica Neue"/>
                <a:sym typeface="Helvetica Neue"/>
              </a:rPr>
              <a:t>, in contrast to </a:t>
            </a:r>
            <a:r>
              <a:rPr b="1" i="0" lang="en-US" sz="1800" u="none" cap="none" strike="noStrike">
                <a:solidFill>
                  <a:schemeClr val="dk2"/>
                </a:solidFill>
                <a:latin typeface="Helvetica Neue"/>
                <a:ea typeface="Helvetica Neue"/>
                <a:cs typeface="Helvetica Neue"/>
                <a:sym typeface="Helvetica Neue"/>
              </a:rPr>
              <a:t>physical undo logging</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Operations are called </a:t>
            </a:r>
            <a:r>
              <a:rPr b="1" i="0" lang="en-US" sz="1800" u="none" cap="none" strike="noStrike">
                <a:solidFill>
                  <a:schemeClr val="dk2"/>
                </a:solidFill>
                <a:latin typeface="Helvetica Neue"/>
                <a:ea typeface="Helvetica Neue"/>
                <a:cs typeface="Helvetica Neue"/>
                <a:sym typeface="Helvetica Neue"/>
              </a:rPr>
              <a:t>logical operations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Other examples:</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delete of tuple, to undo insert of tuple </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allows early lock release on space allocation information</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subtract amount deposited, to undo deposit</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allows early lock release on bank balance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27" name="Shape 327"/>
        <p:cNvGrpSpPr/>
        <p:nvPr/>
      </p:nvGrpSpPr>
      <p:grpSpPr>
        <a:xfrm>
          <a:off x="0" y="0"/>
          <a:ext cx="0" cy="0"/>
          <a:chOff x="0" y="0"/>
          <a:chExt cx="0" cy="0"/>
        </a:xfrm>
      </p:grpSpPr>
      <p:sp>
        <p:nvSpPr>
          <p:cNvPr id="328" name="Google Shape;328;p4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Physical Redo</a:t>
            </a:r>
            <a:endParaRPr/>
          </a:p>
        </p:txBody>
      </p:sp>
      <p:sp>
        <p:nvSpPr>
          <p:cNvPr id="329" name="Google Shape;329;p42"/>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Redo information is logged </a:t>
            </a:r>
            <a:r>
              <a:rPr b="1" i="0" lang="en-US" sz="1800" u="none">
                <a:solidFill>
                  <a:schemeClr val="dk2"/>
                </a:solidFill>
                <a:latin typeface="Helvetica Neue"/>
                <a:ea typeface="Helvetica Neue"/>
                <a:cs typeface="Helvetica Neue"/>
                <a:sym typeface="Helvetica Neue"/>
              </a:rPr>
              <a:t>physically</a:t>
            </a:r>
            <a:r>
              <a:rPr b="0" i="0" lang="en-US" sz="1800" u="none">
                <a:solidFill>
                  <a:schemeClr val="dk1"/>
                </a:solidFill>
                <a:latin typeface="Helvetica Neue"/>
                <a:ea typeface="Helvetica Neue"/>
                <a:cs typeface="Helvetica Neue"/>
                <a:sym typeface="Helvetica Neue"/>
              </a:rPr>
              <a:t> (that is, new value for each write) even for operations with logical undo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Logical redo is very complicated since database state on disk may not be “operation consistent” when recovery starts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Physical redo logging does not conflict with early lock release</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33" name="Shape 333"/>
        <p:cNvGrpSpPr/>
        <p:nvPr/>
      </p:nvGrpSpPr>
      <p:grpSpPr>
        <a:xfrm>
          <a:off x="0" y="0"/>
          <a:ext cx="0" cy="0"/>
          <a:chOff x="0" y="0"/>
          <a:chExt cx="0" cy="0"/>
        </a:xfrm>
      </p:grpSpPr>
      <p:sp>
        <p:nvSpPr>
          <p:cNvPr id="334" name="Google Shape;334;p4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Operation Logging</a:t>
            </a:r>
            <a:endParaRPr/>
          </a:p>
        </p:txBody>
      </p:sp>
      <p:sp>
        <p:nvSpPr>
          <p:cNvPr id="335" name="Google Shape;335;p43"/>
          <p:cNvSpPr txBox="1"/>
          <p:nvPr>
            <p:ph idx="4294967295" type="body"/>
          </p:nvPr>
        </p:nvSpPr>
        <p:spPr>
          <a:xfrm>
            <a:off x="842962" y="1106487"/>
            <a:ext cx="7937500" cy="5588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Operation logging is done as follows:</a:t>
            </a:r>
            <a:endParaRPr/>
          </a:p>
          <a:p>
            <a:pPr indent="-304800" lvl="1" marL="7620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When operation starts, log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operation-begin</a:t>
            </a:r>
            <a:r>
              <a:rPr b="0" i="0" lang="en-US" sz="1800" u="none" cap="none" strike="noStrike">
                <a:solidFill>
                  <a:schemeClr val="dk1"/>
                </a:solidFill>
                <a:latin typeface="Helvetica Neue"/>
                <a:ea typeface="Helvetica Neue"/>
                <a:cs typeface="Helvetica Neue"/>
                <a:sym typeface="Helvetica Neue"/>
              </a:rPr>
              <a:t>&gt;. Here</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0" lang="en-US" sz="1800" u="none" cap="none" strike="noStrike">
                <a:solidFill>
                  <a:schemeClr val="dk1"/>
                </a:solidFill>
                <a:latin typeface="Helvetica Neue"/>
                <a:ea typeface="Helvetica Neue"/>
                <a:cs typeface="Helvetica Neue"/>
                <a:sym typeface="Helvetica Neue"/>
              </a:rPr>
              <a:t> is a unique identifier of the operation instance.</a:t>
            </a:r>
            <a:endParaRPr/>
          </a:p>
          <a:p>
            <a:pPr indent="-304800" lvl="1" marL="7620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While operation is executing, normal log records with physical redo and physical undo information are logged. </a:t>
            </a:r>
            <a:endParaRPr/>
          </a:p>
          <a:p>
            <a:pPr indent="-304800" lvl="1" marL="7620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When operation completes,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operation-end</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U&gt;</a:t>
            </a:r>
            <a:r>
              <a:rPr b="0" i="0" lang="en-US" sz="1800" u="none" cap="none" strike="noStrike">
                <a:solidFill>
                  <a:schemeClr val="dk1"/>
                </a:solidFill>
                <a:latin typeface="Helvetica Neue"/>
                <a:ea typeface="Helvetica Neue"/>
                <a:cs typeface="Helvetica Neue"/>
                <a:sym typeface="Helvetica Neue"/>
              </a:rPr>
              <a:t> is logged, where </a:t>
            </a:r>
            <a:r>
              <a:rPr b="0" i="1" lang="en-US" sz="1800" u="none" cap="none" strike="noStrike">
                <a:solidFill>
                  <a:schemeClr val="dk1"/>
                </a:solidFill>
                <a:latin typeface="Helvetica Neue"/>
                <a:ea typeface="Helvetica Neue"/>
                <a:cs typeface="Helvetica Neue"/>
                <a:sym typeface="Helvetica Neue"/>
              </a:rPr>
              <a:t>U</a:t>
            </a:r>
            <a:r>
              <a:rPr b="0" i="0" lang="en-US" sz="1800" u="none" cap="none" strike="noStrike">
                <a:solidFill>
                  <a:schemeClr val="dk1"/>
                </a:solidFill>
                <a:latin typeface="Helvetica Neue"/>
                <a:ea typeface="Helvetica Neue"/>
                <a:cs typeface="Helvetica Neue"/>
                <a:sym typeface="Helvetica Neue"/>
              </a:rPr>
              <a:t> contains information  needed to perform a logical undo information.</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Example: insert of (key, record-id) pair (K5, RID7) into index I9</a:t>
            </a:r>
            <a:endParaRPr/>
          </a:p>
        </p:txBody>
      </p:sp>
      <p:sp>
        <p:nvSpPr>
          <p:cNvPr id="336" name="Google Shape;336;p43"/>
          <p:cNvSpPr txBox="1"/>
          <p:nvPr/>
        </p:nvSpPr>
        <p:spPr>
          <a:xfrm>
            <a:off x="2206625" y="4179887"/>
            <a:ext cx="5008562" cy="18034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O1, operation-begin&gt;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X, 10, K5&gt;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Y, 45, RID7&gt;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O1, operation-end, (delete I9, K5, RID7)&gt;</a:t>
            </a:r>
            <a:endParaRPr/>
          </a:p>
        </p:txBody>
      </p:sp>
      <p:sp>
        <p:nvSpPr>
          <p:cNvPr id="337" name="Google Shape;337;p43"/>
          <p:cNvSpPr/>
          <p:nvPr/>
        </p:nvSpPr>
        <p:spPr>
          <a:xfrm>
            <a:off x="4106862" y="4614862"/>
            <a:ext cx="190500" cy="1003300"/>
          </a:xfrm>
          <a:prstGeom prst="rightBrace">
            <a:avLst>
              <a:gd fmla="val 8333" name="adj1"/>
              <a:gd fmla="val 50000" name="adj2"/>
            </a:avLst>
          </a:prstGeom>
          <a:no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8" name="Google Shape;338;p43"/>
          <p:cNvSpPr txBox="1"/>
          <p:nvPr/>
        </p:nvSpPr>
        <p:spPr>
          <a:xfrm>
            <a:off x="4335462" y="4924425"/>
            <a:ext cx="2935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Physical redo of steps in insert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42" name="Shape 342"/>
        <p:cNvGrpSpPr/>
        <p:nvPr/>
      </p:nvGrpSpPr>
      <p:grpSpPr>
        <a:xfrm>
          <a:off x="0" y="0"/>
          <a:ext cx="0" cy="0"/>
          <a:chOff x="0" y="0"/>
          <a:chExt cx="0" cy="0"/>
        </a:xfrm>
      </p:grpSpPr>
      <p:sp>
        <p:nvSpPr>
          <p:cNvPr id="343" name="Google Shape;343;p44"/>
          <p:cNvSpPr txBox="1"/>
          <p:nvPr>
            <p:ph type="title"/>
          </p:nvPr>
        </p:nvSpPr>
        <p:spPr>
          <a:xfrm>
            <a:off x="768350" y="117475"/>
            <a:ext cx="8375650" cy="6238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Operation Logging (Cont.)</a:t>
            </a:r>
            <a:endParaRPr/>
          </a:p>
        </p:txBody>
      </p:sp>
      <p:sp>
        <p:nvSpPr>
          <p:cNvPr id="344" name="Google Shape;344;p44"/>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crash/rollback occurs before operation completes: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a:t>
            </a:r>
            <a:r>
              <a:rPr b="1" i="0" lang="en-US" sz="1800" u="none" cap="none" strike="noStrike">
                <a:solidFill>
                  <a:schemeClr val="dk1"/>
                </a:solidFill>
                <a:latin typeface="Helvetica Neue"/>
                <a:ea typeface="Helvetica Neue"/>
                <a:cs typeface="Helvetica Neue"/>
                <a:sym typeface="Helvetica Neue"/>
              </a:rPr>
              <a:t>operation-end</a:t>
            </a:r>
            <a:r>
              <a:rPr b="0" i="0" lang="en-US" sz="1800" u="none" cap="none" strike="noStrike">
                <a:solidFill>
                  <a:schemeClr val="dk1"/>
                </a:solidFill>
                <a:latin typeface="Helvetica Neue"/>
                <a:ea typeface="Helvetica Neue"/>
                <a:cs typeface="Helvetica Neue"/>
                <a:sym typeface="Helvetica Neue"/>
              </a:rPr>
              <a:t> log record is not found, and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physical undo information is used to undo operation.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If crash/rollback occurs after the operation completes: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a:t>
            </a:r>
            <a:r>
              <a:rPr b="1" i="0" lang="en-US" sz="1800" u="none" cap="none" strike="noStrike">
                <a:solidFill>
                  <a:schemeClr val="dk1"/>
                </a:solidFill>
                <a:latin typeface="Helvetica Neue"/>
                <a:ea typeface="Helvetica Neue"/>
                <a:cs typeface="Helvetica Neue"/>
                <a:sym typeface="Helvetica Neue"/>
              </a:rPr>
              <a:t>operation-end</a:t>
            </a:r>
            <a:r>
              <a:rPr b="0" i="0" lang="en-US" sz="1800" u="none" cap="none" strike="noStrike">
                <a:solidFill>
                  <a:schemeClr val="dk1"/>
                </a:solidFill>
                <a:latin typeface="Helvetica Neue"/>
                <a:ea typeface="Helvetica Neue"/>
                <a:cs typeface="Helvetica Neue"/>
                <a:sym typeface="Helvetica Neue"/>
              </a:rPr>
              <a:t> log record is found, and in this case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logical undo is performed using </a:t>
            </a:r>
            <a:r>
              <a:rPr b="0" i="1" lang="en-US" sz="1800" u="none" cap="none" strike="noStrike">
                <a:solidFill>
                  <a:schemeClr val="dk1"/>
                </a:solidFill>
                <a:latin typeface="Helvetica Neue"/>
                <a:ea typeface="Helvetica Neue"/>
                <a:cs typeface="Helvetica Neue"/>
                <a:sym typeface="Helvetica Neue"/>
              </a:rPr>
              <a:t>U</a:t>
            </a:r>
            <a:r>
              <a:rPr b="0" i="0" lang="en-US" sz="1800" u="none" cap="none" strike="noStrike">
                <a:solidFill>
                  <a:schemeClr val="dk1"/>
                </a:solidFill>
                <a:latin typeface="Helvetica Neue"/>
                <a:ea typeface="Helvetica Neue"/>
                <a:cs typeface="Helvetica Neue"/>
                <a:sym typeface="Helvetica Neue"/>
              </a:rPr>
              <a:t>;  the physical undo information for the operation is ignored.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sng">
                <a:solidFill>
                  <a:schemeClr val="dk1"/>
                </a:solidFill>
                <a:latin typeface="Helvetica Neue"/>
                <a:ea typeface="Helvetica Neue"/>
                <a:cs typeface="Helvetica Neue"/>
                <a:sym typeface="Helvetica Neue"/>
              </a:rPr>
              <a:t>Redo of operation (after crash) still uses physical redo information</a:t>
            </a:r>
            <a:r>
              <a:rPr b="0" i="0" lang="en-US" sz="1800" u="none">
                <a:solidFill>
                  <a:schemeClr val="dk1"/>
                </a:solidFill>
                <a:latin typeface="Helvetica Neue"/>
                <a:ea typeface="Helvetica Neue"/>
                <a:cs typeface="Helvetica Neue"/>
                <a:sym typeface="Helvetica Neue"/>
              </a:rPr>
              <a:t>.</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48" name="Shape 348"/>
        <p:cNvGrpSpPr/>
        <p:nvPr/>
      </p:nvGrpSpPr>
      <p:grpSpPr>
        <a:xfrm>
          <a:off x="0" y="0"/>
          <a:ext cx="0" cy="0"/>
          <a:chOff x="0" y="0"/>
          <a:chExt cx="0" cy="0"/>
        </a:xfrm>
      </p:grpSpPr>
      <p:sp>
        <p:nvSpPr>
          <p:cNvPr id="349" name="Google Shape;349;p4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Txn Rollback</a:t>
            </a:r>
            <a:endParaRPr/>
          </a:p>
        </p:txBody>
      </p:sp>
      <p:sp>
        <p:nvSpPr>
          <p:cNvPr id="350" name="Google Shape;350;p45"/>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Rollback of transaction </a:t>
            </a:r>
            <a:r>
              <a:rPr b="0" i="1" lang="en-US" sz="1800" u="none">
                <a:solidFill>
                  <a:schemeClr val="dk1"/>
                </a:solidFill>
                <a:latin typeface="Helvetica Neue"/>
                <a:ea typeface="Helvetica Neue"/>
                <a:cs typeface="Helvetica Neue"/>
                <a:sym typeface="Helvetica Neue"/>
              </a:rPr>
              <a:t>T</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is done as follows: </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Scan the log backwards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If a log record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X, V</a:t>
            </a:r>
            <a:r>
              <a:rPr b="0" baseline="-25000" i="0"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 V</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&gt; is found, perform the undo and log a special </a:t>
            </a:r>
            <a:r>
              <a:rPr b="1" i="0" lang="en-US" sz="1800" u="none" cap="none" strike="noStrike">
                <a:solidFill>
                  <a:schemeClr val="dk2"/>
                </a:solidFill>
                <a:latin typeface="Helvetica Neue"/>
                <a:ea typeface="Helvetica Neue"/>
                <a:cs typeface="Helvetica Neue"/>
                <a:sym typeface="Helvetica Neue"/>
              </a:rPr>
              <a:t>redo-only log record</a:t>
            </a:r>
            <a:r>
              <a:rPr b="0" i="0" lang="en-US" sz="1800" u="none" cap="none" strike="noStrike">
                <a:solidFill>
                  <a:schemeClr val="dk1"/>
                </a:solidFill>
                <a:latin typeface="Helvetica Neue"/>
                <a:ea typeface="Helvetica Neue"/>
                <a:cs typeface="Helvetica Neue"/>
                <a:sym typeface="Helvetica Neue"/>
              </a:rPr>
              <a:t>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X, V</a:t>
            </a:r>
            <a:r>
              <a:rPr b="0" baseline="-25000" i="1"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&gt;.</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If a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operation-end</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U</a:t>
            </a:r>
            <a:r>
              <a:rPr b="0" i="0" lang="en-US" sz="1800" u="none" cap="none" strike="noStrike">
                <a:solidFill>
                  <a:schemeClr val="dk1"/>
                </a:solidFill>
                <a:latin typeface="Helvetica Neue"/>
                <a:ea typeface="Helvetica Neue"/>
                <a:cs typeface="Helvetica Neue"/>
                <a:sym typeface="Helvetica Neue"/>
              </a:rPr>
              <a:t>&gt; record is found</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Rollback the operation logically using  the undo information </a:t>
            </a:r>
            <a:r>
              <a:rPr b="0" i="1" lang="en-US" sz="1800" u="none" cap="none" strike="noStrike">
                <a:solidFill>
                  <a:schemeClr val="dk1"/>
                </a:solidFill>
                <a:latin typeface="Helvetica Neue"/>
                <a:ea typeface="Helvetica Neue"/>
                <a:cs typeface="Helvetica Neue"/>
                <a:sym typeface="Helvetica Neue"/>
              </a:rPr>
              <a:t>U</a:t>
            </a:r>
            <a:r>
              <a:rPr b="0" i="0" lang="en-US" sz="1800" u="none" cap="none" strike="noStrike">
                <a:solidFill>
                  <a:schemeClr val="dk1"/>
                </a:solidFill>
                <a:latin typeface="Helvetica Neue"/>
                <a:ea typeface="Helvetica Neue"/>
                <a:cs typeface="Helvetica Neue"/>
                <a:sym typeface="Helvetica Neue"/>
              </a:rPr>
              <a:t>. </a:t>
            </a:r>
            <a:endParaRPr/>
          </a:p>
          <a:p>
            <a:pPr indent="-342900" lvl="3" marL="15430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Updates performed during roll back are logged just like during normal operation execution.  </a:t>
            </a:r>
            <a:endParaRPr/>
          </a:p>
          <a:p>
            <a:pPr indent="-342900" lvl="3" marL="15430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At the end of the operation rollback, instead of logging an </a:t>
            </a:r>
            <a:r>
              <a:rPr b="1" i="0" lang="en-US" sz="1800" u="none" cap="none" strike="noStrike">
                <a:solidFill>
                  <a:schemeClr val="dk1"/>
                </a:solidFill>
                <a:latin typeface="Helvetica Neue"/>
                <a:ea typeface="Helvetica Neue"/>
                <a:cs typeface="Helvetica Neue"/>
                <a:sym typeface="Helvetica Neue"/>
              </a:rPr>
              <a:t> operation-end</a:t>
            </a:r>
            <a:r>
              <a:rPr b="0" i="0" lang="en-US" sz="1800" u="none" cap="none" strike="noStrike">
                <a:solidFill>
                  <a:schemeClr val="dk1"/>
                </a:solidFill>
                <a:latin typeface="Helvetica Neue"/>
                <a:ea typeface="Helvetica Neue"/>
                <a:cs typeface="Helvetica Neue"/>
                <a:sym typeface="Helvetica Neue"/>
              </a:rPr>
              <a:t> record, generate a record </a:t>
            </a:r>
            <a:endParaRPr/>
          </a:p>
          <a:p>
            <a:pPr indent="-342900" lvl="2" marL="1200150" marR="0" rtl="0" algn="l">
              <a:lnSpc>
                <a:spcPct val="100000"/>
              </a:lnSpc>
              <a:spcBef>
                <a:spcPts val="630"/>
              </a:spcBef>
              <a:spcAft>
                <a:spcPts val="0"/>
              </a:spcAft>
              <a:buClr>
                <a:srgbClr val="33CC33"/>
              </a:buClr>
              <a:buSzPts val="1350"/>
              <a:buFont typeface="Arimo"/>
              <a:buNone/>
            </a:pPr>
            <a:r>
              <a:rPr b="0" i="0" lang="en-US" sz="1800" u="none" cap="none" strike="noStrike">
                <a:solidFill>
                  <a:schemeClr val="dk1"/>
                </a:solidFill>
                <a:latin typeface="Helvetica Neue"/>
                <a:ea typeface="Helvetica Neue"/>
                <a:cs typeface="Helvetica Neue"/>
                <a:sym typeface="Helvetica Neue"/>
              </a:rPr>
              <a:t>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chemeClr val="dk1"/>
                </a:solidFill>
                <a:latin typeface="Helvetica Neue"/>
                <a:ea typeface="Helvetica Neue"/>
                <a:cs typeface="Helvetica Neue"/>
                <a:sym typeface="Helvetica Neue"/>
              </a:rPr>
              <a:t> operation-abort</a:t>
            </a:r>
            <a:r>
              <a:rPr b="0" i="0" lang="en-US" sz="1800" u="none" cap="none" strike="noStrike">
                <a:solidFill>
                  <a:schemeClr val="dk1"/>
                </a:solidFill>
                <a:latin typeface="Helvetica Neue"/>
                <a:ea typeface="Helvetica Neue"/>
                <a:cs typeface="Helvetica Neue"/>
                <a:sym typeface="Helvetica Neue"/>
              </a:rPr>
              <a:t>&gt;.</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Skip all preceding log records for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until the record</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operation-begin</a:t>
            </a:r>
            <a:r>
              <a:rPr b="0" i="0" lang="en-US" sz="1800" u="none" cap="none" strike="noStrike">
                <a:solidFill>
                  <a:schemeClr val="dk1"/>
                </a:solidFill>
                <a:latin typeface="Helvetica Neue"/>
                <a:ea typeface="Helvetica Neue"/>
                <a:cs typeface="Helvetica Neue"/>
                <a:sym typeface="Helvetica Neue"/>
              </a:rPr>
              <a:t>&gt;  is found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54" name="Shape 354"/>
        <p:cNvGrpSpPr/>
        <p:nvPr/>
      </p:nvGrpSpPr>
      <p:grpSpPr>
        <a:xfrm>
          <a:off x="0" y="0"/>
          <a:ext cx="0" cy="0"/>
          <a:chOff x="0" y="0"/>
          <a:chExt cx="0" cy="0"/>
        </a:xfrm>
      </p:grpSpPr>
      <p:sp>
        <p:nvSpPr>
          <p:cNvPr id="355" name="Google Shape;355;p4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Txn Rollback (Cont.)</a:t>
            </a:r>
            <a:endParaRPr/>
          </a:p>
        </p:txBody>
      </p:sp>
      <p:sp>
        <p:nvSpPr>
          <p:cNvPr id="356" name="Google Shape;356;p46"/>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Scan the log backwards (cont.):</a:t>
            </a:r>
            <a:endParaRPr/>
          </a:p>
          <a:p>
            <a:pPr indent="-342900" lvl="1" marL="800100" marR="0" rtl="0" algn="l">
              <a:lnSpc>
                <a:spcPct val="100000"/>
              </a:lnSpc>
              <a:spcBef>
                <a:spcPts val="630"/>
              </a:spcBef>
              <a:spcAft>
                <a:spcPts val="0"/>
              </a:spcAft>
              <a:buClr>
                <a:schemeClr val="hlink"/>
              </a:buClr>
              <a:buSzPts val="1440"/>
              <a:buFont typeface="Arial"/>
              <a:buAutoNum type="arabicPeriod" startAt="3"/>
            </a:pPr>
            <a:r>
              <a:rPr b="0" i="0" lang="en-US" sz="1800" u="none" cap="none" strike="noStrike">
                <a:solidFill>
                  <a:schemeClr val="dk1"/>
                </a:solidFill>
                <a:latin typeface="Helvetica Neue"/>
                <a:ea typeface="Helvetica Neue"/>
                <a:cs typeface="Helvetica Neue"/>
                <a:sym typeface="Helvetica Neue"/>
              </a:rPr>
              <a:t>If a redo-only record is found ignore it</a:t>
            </a:r>
            <a:endParaRPr/>
          </a:p>
          <a:p>
            <a:pPr indent="-342900" lvl="1" marL="800100" marR="0" rtl="0" algn="l">
              <a:lnSpc>
                <a:spcPct val="100000"/>
              </a:lnSpc>
              <a:spcBef>
                <a:spcPts val="630"/>
              </a:spcBef>
              <a:spcAft>
                <a:spcPts val="0"/>
              </a:spcAft>
              <a:buClr>
                <a:schemeClr val="hlink"/>
              </a:buClr>
              <a:buSzPts val="1440"/>
              <a:buFont typeface="Arial"/>
              <a:buAutoNum type="arabicPeriod" startAt="3"/>
            </a:pPr>
            <a:r>
              <a:rPr b="0" i="0" lang="en-US" sz="1800" u="none" cap="none" strike="noStrike">
                <a:solidFill>
                  <a:schemeClr val="dk1"/>
                </a:solidFill>
                <a:latin typeface="Helvetica Neue"/>
                <a:ea typeface="Helvetica Neue"/>
                <a:cs typeface="Helvetica Neue"/>
                <a:sym typeface="Helvetica Neue"/>
              </a:rPr>
              <a:t>If a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operation-abort</a:t>
            </a:r>
            <a:r>
              <a:rPr b="0" i="0" lang="en-US" sz="1800" u="none" cap="none" strike="noStrike">
                <a:solidFill>
                  <a:schemeClr val="dk1"/>
                </a:solidFill>
                <a:latin typeface="Helvetica Neue"/>
                <a:ea typeface="Helvetica Neue"/>
                <a:cs typeface="Helvetica Neue"/>
                <a:sym typeface="Helvetica Neue"/>
              </a:rPr>
              <a:t>&gt; record is found:</a:t>
            </a:r>
            <a:endParaRPr/>
          </a:p>
          <a:p>
            <a:pPr indent="-342900" lvl="2" marL="1200150" marR="0" rtl="0" algn="l">
              <a:lnSpc>
                <a:spcPct val="10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skip all preceding log records for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until the record </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O</a:t>
            </a:r>
            <a:r>
              <a:rPr b="0" baseline="-25000" i="1" lang="en-US" sz="1800" u="none" cap="none" strike="noStrike">
                <a:solidFill>
                  <a:schemeClr val="dk1"/>
                </a:solidFill>
                <a:latin typeface="Helvetica Neue"/>
                <a:ea typeface="Helvetica Neue"/>
                <a:cs typeface="Helvetica Neue"/>
                <a:sym typeface="Helvetica Neue"/>
              </a:rPr>
              <a:t>j</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chemeClr val="dk1"/>
                </a:solidFill>
                <a:latin typeface="Helvetica Neue"/>
                <a:ea typeface="Helvetica Neue"/>
                <a:cs typeface="Helvetica Neue"/>
                <a:sym typeface="Helvetica Neue"/>
              </a:rPr>
              <a:t> operation-begi</a:t>
            </a:r>
            <a:r>
              <a:rPr b="0" i="0" lang="en-US" sz="1800" u="none" cap="none" strike="noStrike">
                <a:solidFill>
                  <a:schemeClr val="dk1"/>
                </a:solidFill>
                <a:latin typeface="Helvetica Neue"/>
                <a:ea typeface="Helvetica Neue"/>
                <a:cs typeface="Helvetica Neue"/>
                <a:sym typeface="Helvetica Neue"/>
              </a:rPr>
              <a:t>n&gt; is found.</a:t>
            </a:r>
            <a:endParaRPr/>
          </a:p>
          <a:p>
            <a:pPr indent="-342900" lvl="1" marL="800100" marR="0" rtl="0" algn="l">
              <a:lnSpc>
                <a:spcPct val="100000"/>
              </a:lnSpc>
              <a:spcBef>
                <a:spcPts val="630"/>
              </a:spcBef>
              <a:spcAft>
                <a:spcPts val="0"/>
              </a:spcAft>
              <a:buClr>
                <a:schemeClr val="hlink"/>
              </a:buClr>
              <a:buSzPts val="1440"/>
              <a:buFont typeface="Arial"/>
              <a:buAutoNum type="arabicPeriod" startAt="3"/>
            </a:pPr>
            <a:r>
              <a:rPr b="0" i="0" lang="en-US" sz="1800" u="none" cap="none" strike="noStrike">
                <a:solidFill>
                  <a:schemeClr val="dk1"/>
                </a:solidFill>
                <a:latin typeface="Helvetica Neue"/>
                <a:ea typeface="Helvetica Neue"/>
                <a:cs typeface="Helvetica Neue"/>
                <a:sym typeface="Helvetica Neue"/>
              </a:rPr>
              <a:t>Stop the scan when the record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start&gt; is found</a:t>
            </a:r>
            <a:endParaRPr/>
          </a:p>
          <a:p>
            <a:pPr indent="-342900" lvl="1" marL="800100" marR="0" rtl="0" algn="l">
              <a:lnSpc>
                <a:spcPct val="100000"/>
              </a:lnSpc>
              <a:spcBef>
                <a:spcPts val="630"/>
              </a:spcBef>
              <a:spcAft>
                <a:spcPts val="0"/>
              </a:spcAft>
              <a:buClr>
                <a:schemeClr val="hlink"/>
              </a:buClr>
              <a:buSzPts val="1440"/>
              <a:buFont typeface="Arial"/>
              <a:buAutoNum type="arabicPeriod" startAt="3"/>
            </a:pPr>
            <a:r>
              <a:rPr b="0" i="0" lang="en-US" sz="1800" u="none" cap="none" strike="noStrike">
                <a:solidFill>
                  <a:schemeClr val="dk1"/>
                </a:solidFill>
                <a:latin typeface="Helvetica Neue"/>
                <a:ea typeface="Helvetica Neue"/>
                <a:cs typeface="Helvetica Neue"/>
                <a:sym typeface="Helvetica Neue"/>
              </a:rPr>
              <a:t>Add a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abort</a:t>
            </a:r>
            <a:r>
              <a:rPr b="0" i="0" lang="en-US" sz="1800" u="none" cap="none" strike="noStrike">
                <a:solidFill>
                  <a:schemeClr val="dk1"/>
                </a:solidFill>
                <a:latin typeface="Helvetica Neue"/>
                <a:ea typeface="Helvetica Neue"/>
                <a:cs typeface="Helvetica Neue"/>
                <a:sym typeface="Helvetica Neue"/>
              </a:rPr>
              <a:t>&gt; record to the log</a:t>
            </a:r>
            <a:endParaRPr/>
          </a:p>
          <a:p>
            <a:pPr indent="-381000" lvl="0" marL="3810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Some points to note:</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Cases 3 and 4 above can occur only if the database crashes while a  transaction is being rolled back.</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Skipping of log records as in case 4 is important to prevent multiple rollback of the same operation.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60" name="Shape 360"/>
        <p:cNvGrpSpPr/>
        <p:nvPr/>
      </p:nvGrpSpPr>
      <p:grpSpPr>
        <a:xfrm>
          <a:off x="0" y="0"/>
          <a:ext cx="0" cy="0"/>
          <a:chOff x="0" y="0"/>
          <a:chExt cx="0" cy="0"/>
        </a:xfrm>
      </p:grpSpPr>
      <p:sp>
        <p:nvSpPr>
          <p:cNvPr id="361" name="Google Shape;361;p4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Txn Rollback Example</a:t>
            </a:r>
            <a:endParaRPr/>
          </a:p>
        </p:txBody>
      </p:sp>
      <p:sp>
        <p:nvSpPr>
          <p:cNvPr id="362" name="Google Shape;362;p47"/>
          <p:cNvSpPr txBox="1"/>
          <p:nvPr>
            <p:ph idx="1" type="body"/>
          </p:nvPr>
        </p:nvSpPr>
        <p:spPr>
          <a:xfrm>
            <a:off x="814387" y="1093787"/>
            <a:ext cx="7661275" cy="5778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Example with a complete and an incomplete operation</a:t>
            </a:r>
            <a:endParaRPr/>
          </a:p>
        </p:txBody>
      </p:sp>
      <p:sp>
        <p:nvSpPr>
          <p:cNvPr id="363" name="Google Shape;363;p47"/>
          <p:cNvSpPr txBox="1"/>
          <p:nvPr/>
        </p:nvSpPr>
        <p:spPr>
          <a:xfrm>
            <a:off x="987425" y="1522412"/>
            <a:ext cx="7475537" cy="4981575"/>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start&gt;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O1, operation-begin&gt;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X, 10, K5&gt;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Y, 45, RID7&gt;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O1, operation-end, (delete I9, K5, RID7)&gt;</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O2, operation-begin&gt; </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Z, 45, 70&gt;   </a:t>
            </a:r>
            <a:br>
              <a:rPr b="0" i="0" lang="en-US" sz="1600" u="none">
                <a:solidFill>
                  <a:schemeClr val="dk1"/>
                </a:solidFill>
                <a:latin typeface="Helvetica Neue"/>
                <a:ea typeface="Helvetica Neue"/>
                <a:cs typeface="Helvetica Neue"/>
                <a:sym typeface="Helvetica Neue"/>
              </a:rPr>
            </a:br>
            <a:r>
              <a:rPr b="0" i="0" lang="en-US" sz="1600" u="none">
                <a:solidFill>
                  <a:schemeClr val="dk1"/>
                </a:solidFill>
                <a:latin typeface="Helvetica Neue"/>
                <a:ea typeface="Helvetica Neue"/>
                <a:cs typeface="Helvetica Neue"/>
                <a:sym typeface="Helvetica Neue"/>
              </a:rPr>
              <a:t>                       </a:t>
            </a:r>
            <a:r>
              <a:rPr b="0" i="0" lang="en-US" sz="1600" u="none">
                <a:solidFill>
                  <a:schemeClr val="dk2"/>
                </a:solidFill>
                <a:latin typeface="Helvetica Neue"/>
                <a:ea typeface="Helvetica Neue"/>
                <a:cs typeface="Helvetica Neue"/>
                <a:sym typeface="Helvetica Neue"/>
              </a:rPr>
              <a:t>🡨</a:t>
            </a:r>
            <a:r>
              <a:rPr b="0" i="0" lang="en-US" sz="1600" u="none">
                <a:solidFill>
                  <a:schemeClr val="dk1"/>
                </a:solidFill>
                <a:latin typeface="Helvetica Neue"/>
                <a:ea typeface="Helvetica Neue"/>
                <a:cs typeface="Helvetica Neue"/>
                <a:sym typeface="Helvetica Neue"/>
              </a:rPr>
              <a:t>  </a:t>
            </a:r>
            <a:r>
              <a:rPr b="0" i="0" lang="en-US" sz="1600" u="none">
                <a:solidFill>
                  <a:schemeClr val="dk2"/>
                </a:solidFill>
                <a:latin typeface="Helvetica Neue"/>
                <a:ea typeface="Helvetica Neue"/>
                <a:cs typeface="Helvetica Neue"/>
                <a:sym typeface="Helvetica Neue"/>
              </a:rPr>
              <a:t>T1 Rollback begins here</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Z, 45&gt;     </a:t>
            </a:r>
            <a:r>
              <a:rPr b="0" i="0" lang="en-US" sz="1600" u="none">
                <a:solidFill>
                  <a:schemeClr val="dk2"/>
                </a:solidFill>
                <a:latin typeface="Helvetica Neue"/>
                <a:ea typeface="Helvetica Neue"/>
                <a:cs typeface="Helvetica Neue"/>
                <a:sym typeface="Helvetica Neue"/>
              </a:rPr>
              <a:t>🡨</a:t>
            </a:r>
            <a:r>
              <a:rPr b="0" i="0" lang="en-US" sz="1600" u="none">
                <a:solidFill>
                  <a:schemeClr val="dk1"/>
                </a:solidFill>
                <a:latin typeface="Helvetica Neue"/>
                <a:ea typeface="Helvetica Neue"/>
                <a:cs typeface="Helvetica Neue"/>
                <a:sym typeface="Helvetica Neue"/>
              </a:rPr>
              <a:t> </a:t>
            </a:r>
            <a:r>
              <a:rPr b="0" i="0" lang="en-US" sz="1600" u="none">
                <a:solidFill>
                  <a:schemeClr val="dk2"/>
                </a:solidFill>
                <a:latin typeface="Helvetica Neue"/>
                <a:ea typeface="Helvetica Neue"/>
                <a:cs typeface="Helvetica Neue"/>
                <a:sym typeface="Helvetica Neue"/>
              </a:rPr>
              <a:t>redo-only log record during physical undo (of incomplete O2)</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Y, .., ..&gt;   </a:t>
            </a:r>
            <a:r>
              <a:rPr b="0" i="0" lang="en-US" sz="1600" u="none">
                <a:solidFill>
                  <a:schemeClr val="dk2"/>
                </a:solidFill>
                <a:latin typeface="Helvetica Neue"/>
                <a:ea typeface="Helvetica Neue"/>
                <a:cs typeface="Helvetica Neue"/>
                <a:sym typeface="Helvetica Neue"/>
              </a:rPr>
              <a:t>🡨</a:t>
            </a:r>
            <a:r>
              <a:rPr b="0" i="0" lang="en-US" sz="1600" u="none">
                <a:solidFill>
                  <a:schemeClr val="dk1"/>
                </a:solidFill>
                <a:latin typeface="Helvetica Neue"/>
                <a:ea typeface="Helvetica Neue"/>
                <a:cs typeface="Helvetica Neue"/>
                <a:sym typeface="Helvetica Neue"/>
              </a:rPr>
              <a:t> </a:t>
            </a:r>
            <a:r>
              <a:rPr b="0" i="0" lang="en-US" sz="1600" u="none">
                <a:solidFill>
                  <a:schemeClr val="dk2"/>
                </a:solidFill>
                <a:latin typeface="Helvetica Neue"/>
                <a:ea typeface="Helvetica Neue"/>
                <a:cs typeface="Helvetica Neue"/>
                <a:sym typeface="Helvetica Neue"/>
              </a:rPr>
              <a:t>Normal redo records for logical undo of O1</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     …</a:t>
            </a:r>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O1, operation-abort&gt;  </a:t>
            </a:r>
            <a:r>
              <a:rPr b="0" i="0" lang="en-US" sz="1600" u="none">
                <a:solidFill>
                  <a:schemeClr val="dk2"/>
                </a:solidFill>
                <a:latin typeface="Helvetica Neue"/>
                <a:ea typeface="Helvetica Neue"/>
                <a:cs typeface="Helvetica Neue"/>
                <a:sym typeface="Helvetica Neue"/>
              </a:rPr>
              <a:t>🡨 What if crash occurred immediately after this?</a:t>
            </a:r>
            <a:endParaRPr b="0" i="0" sz="1600" u="none">
              <a:solidFill>
                <a:schemeClr val="dk2"/>
              </a:solidFill>
              <a:latin typeface="Helvetica Neue"/>
              <a:ea typeface="Helvetica Neue"/>
              <a:cs typeface="Helvetica Neue"/>
              <a:sym typeface="Helvetica Neue"/>
            </a:endParaRPr>
          </a:p>
          <a:p>
            <a:pPr indent="0" lvl="0" marL="0" marR="0" rtl="0" algn="l">
              <a:lnSpc>
                <a:spcPct val="100000"/>
              </a:lnSpc>
              <a:spcBef>
                <a:spcPts val="80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&lt;T1, abort&gt;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67" name="Shape 367"/>
        <p:cNvGrpSpPr/>
        <p:nvPr/>
      </p:nvGrpSpPr>
      <p:grpSpPr>
        <a:xfrm>
          <a:off x="0" y="0"/>
          <a:ext cx="0" cy="0"/>
          <a:chOff x="0" y="0"/>
          <a:chExt cx="0" cy="0"/>
        </a:xfrm>
      </p:grpSpPr>
      <p:sp>
        <p:nvSpPr>
          <p:cNvPr id="368" name="Google Shape;368;p4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Crash Recovery</a:t>
            </a:r>
            <a:endParaRPr/>
          </a:p>
        </p:txBody>
      </p:sp>
      <p:sp>
        <p:nvSpPr>
          <p:cNvPr id="369" name="Google Shape;369;p48"/>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The following actions are taken when recovering from  system crash</a:t>
            </a:r>
            <a:endParaRPr/>
          </a:p>
          <a:p>
            <a:pPr indent="-381000" lvl="0" marL="381000" marR="0" rtl="0" algn="l">
              <a:lnSpc>
                <a:spcPct val="100000"/>
              </a:lnSpc>
              <a:spcBef>
                <a:spcPts val="630"/>
              </a:spcBef>
              <a:spcAft>
                <a:spcPts val="0"/>
              </a:spcAft>
              <a:buClr>
                <a:schemeClr val="dk2"/>
              </a:buClr>
              <a:buSzPts val="1620"/>
              <a:buFont typeface="Arial"/>
              <a:buAutoNum type="arabicPeriod"/>
            </a:pPr>
            <a:r>
              <a:rPr b="0" i="0" lang="en-US" sz="1800" u="none">
                <a:solidFill>
                  <a:schemeClr val="dk1"/>
                </a:solidFill>
                <a:latin typeface="Helvetica Neue"/>
                <a:ea typeface="Helvetica Neue"/>
                <a:cs typeface="Helvetica Neue"/>
                <a:sym typeface="Helvetica Neue"/>
              </a:rPr>
              <a:t>(</a:t>
            </a:r>
            <a:r>
              <a:rPr b="1" i="0" lang="en-US" sz="1800" u="none">
                <a:solidFill>
                  <a:schemeClr val="dk2"/>
                </a:solidFill>
                <a:latin typeface="Helvetica Neue"/>
                <a:ea typeface="Helvetica Neue"/>
                <a:cs typeface="Helvetica Neue"/>
                <a:sym typeface="Helvetica Neue"/>
              </a:rPr>
              <a:t>Redo phase</a:t>
            </a:r>
            <a:r>
              <a:rPr b="0" i="0" lang="en-US" sz="1800" u="none">
                <a:solidFill>
                  <a:schemeClr val="dk1"/>
                </a:solidFill>
                <a:latin typeface="Helvetica Neue"/>
                <a:ea typeface="Helvetica Neue"/>
                <a:cs typeface="Helvetica Neue"/>
                <a:sym typeface="Helvetica Neue"/>
              </a:rPr>
              <a:t>): Scan log forward from last &lt; </a:t>
            </a:r>
            <a:r>
              <a:rPr b="1" i="0" lang="en-US" sz="1800" u="none">
                <a:solidFill>
                  <a:schemeClr val="dk1"/>
                </a:solidFill>
                <a:latin typeface="Helvetica Neue"/>
                <a:ea typeface="Helvetica Neue"/>
                <a:cs typeface="Helvetica Neue"/>
                <a:sym typeface="Helvetica Neue"/>
              </a:rPr>
              <a:t>checkpoint</a:t>
            </a:r>
            <a:r>
              <a:rPr b="0" i="1" lang="en-US" sz="1800" u="none">
                <a:solidFill>
                  <a:schemeClr val="dk1"/>
                </a:solidFill>
                <a:latin typeface="Helvetica Neue"/>
                <a:ea typeface="Helvetica Neue"/>
                <a:cs typeface="Helvetica Neue"/>
                <a:sym typeface="Helvetica Neue"/>
              </a:rPr>
              <a:t> L</a:t>
            </a:r>
            <a:r>
              <a:rPr b="0" i="0" lang="en-US" sz="1800" u="none">
                <a:solidFill>
                  <a:schemeClr val="dk1"/>
                </a:solidFill>
                <a:latin typeface="Helvetica Neue"/>
                <a:ea typeface="Helvetica Neue"/>
                <a:cs typeface="Helvetica Neue"/>
                <a:sym typeface="Helvetica Neue"/>
              </a:rPr>
              <a:t>&gt; record till end of log</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1" i="0" lang="en-US" sz="1800" u="none" cap="none" strike="noStrike">
                <a:solidFill>
                  <a:schemeClr val="dk2"/>
                </a:solidFill>
                <a:latin typeface="Helvetica Neue"/>
                <a:ea typeface="Helvetica Neue"/>
                <a:cs typeface="Helvetica Neue"/>
                <a:sym typeface="Helvetica Neue"/>
              </a:rPr>
              <a:t>Repeat history</a:t>
            </a:r>
            <a:r>
              <a:rPr b="0" i="0" lang="en-US" sz="1800" u="none" cap="none" strike="noStrike">
                <a:solidFill>
                  <a:schemeClr val="dk1"/>
                </a:solidFill>
                <a:latin typeface="Helvetica Neue"/>
                <a:ea typeface="Helvetica Neue"/>
                <a:cs typeface="Helvetica Neue"/>
                <a:sym typeface="Helvetica Neue"/>
              </a:rPr>
              <a:t> by physically redoing all updates of  all transactions, </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Create an undo-list during the scan as follows</a:t>
            </a:r>
            <a:endParaRPr/>
          </a:p>
          <a:p>
            <a:pPr indent="-342900" lvl="2" marL="1200150" marR="0" rtl="0" algn="l">
              <a:lnSpc>
                <a:spcPct val="100000"/>
              </a:lnSpc>
              <a:spcBef>
                <a:spcPts val="630"/>
              </a:spcBef>
              <a:spcAft>
                <a:spcPts val="0"/>
              </a:spcAft>
              <a:buClr>
                <a:srgbClr val="33CC33"/>
              </a:buClr>
              <a:buSzPts val="1350"/>
              <a:buFont typeface="Arimo"/>
              <a:buChar char="4"/>
            </a:pPr>
            <a:r>
              <a:rPr b="0" i="1" lang="en-US" sz="1800" u="none" cap="none" strike="noStrike">
                <a:solidFill>
                  <a:schemeClr val="dk1"/>
                </a:solidFill>
                <a:latin typeface="Helvetica Neue"/>
                <a:ea typeface="Helvetica Neue"/>
                <a:cs typeface="Helvetica Neue"/>
                <a:sym typeface="Helvetica Neue"/>
              </a:rPr>
              <a:t>undo-list</a:t>
            </a:r>
            <a:r>
              <a:rPr b="0" i="0" lang="en-US" sz="1800" u="none" cap="none" strike="noStrike">
                <a:solidFill>
                  <a:schemeClr val="dk1"/>
                </a:solidFill>
                <a:latin typeface="Helvetica Neue"/>
                <a:ea typeface="Helvetica Neue"/>
                <a:cs typeface="Helvetica Neue"/>
                <a:sym typeface="Helvetica Neue"/>
              </a:rPr>
              <a:t> is set to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 initially</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Whenever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 is found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is added to </a:t>
            </a:r>
            <a:r>
              <a:rPr b="0" i="1" lang="en-US" sz="1800" u="none" cap="none" strike="noStrike">
                <a:solidFill>
                  <a:schemeClr val="dk1"/>
                </a:solidFill>
                <a:latin typeface="Helvetica Neue"/>
                <a:ea typeface="Helvetica Neue"/>
                <a:cs typeface="Helvetica Neue"/>
                <a:sym typeface="Helvetica Neue"/>
              </a:rPr>
              <a:t>undo-list</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Whenever &lt;</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commit</a:t>
            </a:r>
            <a:r>
              <a:rPr b="0" i="0" lang="en-US" sz="1800" u="none" cap="none" strike="noStrike">
                <a:solidFill>
                  <a:schemeClr val="dk1"/>
                </a:solidFill>
                <a:latin typeface="Helvetica Neue"/>
                <a:ea typeface="Helvetica Neue"/>
                <a:cs typeface="Helvetica Neue"/>
                <a:sym typeface="Helvetica Neue"/>
              </a:rPr>
              <a:t>&gt; or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abort</a:t>
            </a:r>
            <a:r>
              <a:rPr b="0" i="0" lang="en-US" sz="1800" u="none" cap="none" strike="noStrike">
                <a:solidFill>
                  <a:schemeClr val="dk1"/>
                </a:solidFill>
                <a:latin typeface="Helvetica Neue"/>
                <a:ea typeface="Helvetica Neue"/>
                <a:cs typeface="Helvetica Neue"/>
                <a:sym typeface="Helvetica Neue"/>
              </a:rPr>
              <a:t>&gt; is found,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is deleted from </a:t>
            </a:r>
            <a:r>
              <a:rPr b="0" i="1" lang="en-US" sz="1800" u="none" cap="none" strike="noStrike">
                <a:solidFill>
                  <a:schemeClr val="dk1"/>
                </a:solidFill>
                <a:latin typeface="Helvetica Neue"/>
                <a:ea typeface="Helvetica Neue"/>
                <a:cs typeface="Helvetica Neue"/>
                <a:sym typeface="Helvetica Neue"/>
              </a:rPr>
              <a:t>undo-list</a:t>
            </a:r>
            <a:endParaRPr b="0" i="0" sz="1800" u="none" cap="none" strike="noStrike">
              <a:solidFill>
                <a:schemeClr val="dk1"/>
              </a:solidFill>
              <a:latin typeface="Helvetica Neue"/>
              <a:ea typeface="Helvetica Neue"/>
              <a:cs typeface="Helvetica Neue"/>
              <a:sym typeface="Helvetica Neue"/>
            </a:endParaRPr>
          </a:p>
          <a:p>
            <a:pPr indent="-381000" lvl="0" marL="3810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This brings database to state as of crash, with committed as well as uncommitted transactions having been redone.</a:t>
            </a:r>
            <a:endParaRPr/>
          </a:p>
          <a:p>
            <a:pPr indent="-381000" lvl="0" marL="3810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Now </a:t>
            </a:r>
            <a:r>
              <a:rPr b="0" i="1" lang="en-US" sz="1800" u="none">
                <a:solidFill>
                  <a:schemeClr val="dk1"/>
                </a:solidFill>
                <a:latin typeface="Helvetica Neue"/>
                <a:ea typeface="Helvetica Neue"/>
                <a:cs typeface="Helvetica Neue"/>
                <a:sym typeface="Helvetica Neue"/>
              </a:rPr>
              <a:t> undo-list</a:t>
            </a:r>
            <a:r>
              <a:rPr b="0" i="0" lang="en-US" sz="1800" u="none">
                <a:solidFill>
                  <a:schemeClr val="dk1"/>
                </a:solidFill>
                <a:latin typeface="Helvetica Neue"/>
                <a:ea typeface="Helvetica Neue"/>
                <a:cs typeface="Helvetica Neue"/>
                <a:sym typeface="Helvetica Neue"/>
              </a:rPr>
              <a:t> contains transactions that are </a:t>
            </a:r>
            <a:r>
              <a:rPr b="1" i="0" lang="en-US" sz="1800" u="none">
                <a:solidFill>
                  <a:schemeClr val="dk2"/>
                </a:solidFill>
                <a:latin typeface="Helvetica Neue"/>
                <a:ea typeface="Helvetica Neue"/>
                <a:cs typeface="Helvetica Neue"/>
                <a:sym typeface="Helvetica Neue"/>
              </a:rPr>
              <a:t>incomplete</a:t>
            </a:r>
            <a:r>
              <a:rPr b="0" i="0" lang="en-US" sz="1800" u="none">
                <a:solidFill>
                  <a:schemeClr val="dk1"/>
                </a:solidFill>
                <a:latin typeface="Helvetica Neue"/>
                <a:ea typeface="Helvetica Neue"/>
                <a:cs typeface="Helvetica Neue"/>
                <a:sym typeface="Helvetica Neue"/>
              </a:rPr>
              <a:t>, that is, have neither committed nor been fully rolled back.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73" name="Shape 373"/>
        <p:cNvGrpSpPr/>
        <p:nvPr/>
      </p:nvGrpSpPr>
      <p:grpSpPr>
        <a:xfrm>
          <a:off x="0" y="0"/>
          <a:ext cx="0" cy="0"/>
          <a:chOff x="0" y="0"/>
          <a:chExt cx="0" cy="0"/>
        </a:xfrm>
      </p:grpSpPr>
      <p:sp>
        <p:nvSpPr>
          <p:cNvPr id="374" name="Google Shape;374;p4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Crash Recovery (Cont.)</a:t>
            </a:r>
            <a:endParaRPr/>
          </a:p>
        </p:txBody>
      </p:sp>
      <p:sp>
        <p:nvSpPr>
          <p:cNvPr id="375" name="Google Shape;375;p49"/>
          <p:cNvSpPr txBox="1"/>
          <p:nvPr>
            <p:ph idx="4294967295" type="body"/>
          </p:nvPr>
        </p:nvSpPr>
        <p:spPr>
          <a:xfrm>
            <a:off x="842962" y="11064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Recovery from system crash (cont.)</a:t>
            </a:r>
            <a:endParaRPr/>
          </a:p>
          <a:p>
            <a:pPr indent="-381000" lvl="0" marL="381000" marR="0" rtl="0" algn="l">
              <a:lnSpc>
                <a:spcPct val="100000"/>
              </a:lnSpc>
              <a:spcBef>
                <a:spcPts val="630"/>
              </a:spcBef>
              <a:spcAft>
                <a:spcPts val="0"/>
              </a:spcAft>
              <a:buClr>
                <a:schemeClr val="dk2"/>
              </a:buClr>
              <a:buSzPts val="1620"/>
              <a:buFont typeface="Arial"/>
              <a:buAutoNum type="arabicPeriod" startAt="2"/>
            </a:pPr>
            <a:r>
              <a:rPr b="0" i="0" lang="en-US" sz="1800" u="none">
                <a:solidFill>
                  <a:schemeClr val="dk1"/>
                </a:solidFill>
                <a:latin typeface="Helvetica Neue"/>
                <a:ea typeface="Helvetica Neue"/>
                <a:cs typeface="Helvetica Neue"/>
                <a:sym typeface="Helvetica Neue"/>
              </a:rPr>
              <a:t>(</a:t>
            </a:r>
            <a:r>
              <a:rPr b="1" i="0" lang="en-US" sz="1800" u="none">
                <a:solidFill>
                  <a:schemeClr val="dk2"/>
                </a:solidFill>
                <a:latin typeface="Helvetica Neue"/>
                <a:ea typeface="Helvetica Neue"/>
                <a:cs typeface="Helvetica Neue"/>
                <a:sym typeface="Helvetica Neue"/>
              </a:rPr>
              <a:t>Undo phase</a:t>
            </a:r>
            <a:r>
              <a:rPr b="0" i="0" lang="en-US" sz="1800" u="none">
                <a:solidFill>
                  <a:schemeClr val="dk1"/>
                </a:solidFill>
                <a:latin typeface="Helvetica Neue"/>
                <a:ea typeface="Helvetica Neue"/>
                <a:cs typeface="Helvetica Neue"/>
                <a:sym typeface="Helvetica Neue"/>
              </a:rPr>
              <a:t>): Scan log backwards, performing undo on log records of transactions found in</a:t>
            </a:r>
            <a:r>
              <a:rPr b="0" i="1" lang="en-US" sz="1800" u="none">
                <a:solidFill>
                  <a:schemeClr val="dk1"/>
                </a:solidFill>
                <a:latin typeface="Helvetica Neue"/>
                <a:ea typeface="Helvetica Neue"/>
                <a:cs typeface="Helvetica Neue"/>
                <a:sym typeface="Helvetica Neue"/>
              </a:rPr>
              <a:t> undo-list</a:t>
            </a:r>
            <a:r>
              <a:rPr b="0" i="0" lang="en-US" sz="1800" u="none">
                <a:solidFill>
                  <a:schemeClr val="dk1"/>
                </a:solidFill>
                <a:latin typeface="Helvetica Neue"/>
                <a:ea typeface="Helvetica Neue"/>
                <a:cs typeface="Helvetica Neue"/>
                <a:sym typeface="Helvetica Neue"/>
              </a:rPr>
              <a:t>.  </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of transactions being rolled back are processed as described earlier, as they are found</a:t>
            </a:r>
            <a:endParaRPr/>
          </a:p>
          <a:p>
            <a:pPr indent="-342900" lvl="2" marL="12001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Single shared scan for all transactions being undone</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 start</a:t>
            </a:r>
            <a:r>
              <a:rPr b="0" i="0" lang="en-US" sz="1800" u="none" cap="none" strike="noStrike">
                <a:solidFill>
                  <a:schemeClr val="dk1"/>
                </a:solidFill>
                <a:latin typeface="Helvetica Neue"/>
                <a:ea typeface="Helvetica Neue"/>
                <a:cs typeface="Helvetica Neue"/>
                <a:sym typeface="Helvetica Neue"/>
              </a:rPr>
              <a:t>&gt; is found for a transaction </a:t>
            </a:r>
            <a:r>
              <a:rPr b="0" i="1" lang="en-US" sz="1800" u="none" cap="none" strike="noStrike">
                <a:solidFill>
                  <a:schemeClr val="dk1"/>
                </a:solidFill>
                <a:latin typeface="Helvetica Neue"/>
                <a:ea typeface="Helvetica Neue"/>
                <a:cs typeface="Helvetica Neue"/>
                <a:sym typeface="Helvetica Neue"/>
              </a:rPr>
              <a:t>T</a:t>
            </a:r>
            <a:r>
              <a:rPr b="0" baseline="-25000" i="0"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 undo-list</a:t>
            </a:r>
            <a:r>
              <a:rPr b="0" i="0" lang="en-US" sz="1800" u="none" cap="none" strike="noStrike">
                <a:solidFill>
                  <a:schemeClr val="dk1"/>
                </a:solidFill>
                <a:latin typeface="Helvetica Neue"/>
                <a:ea typeface="Helvetica Neue"/>
                <a:cs typeface="Helvetica Neue"/>
                <a:sym typeface="Helvetica Neue"/>
              </a:rPr>
              <a:t>, write a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abort</a:t>
            </a:r>
            <a:r>
              <a:rPr b="0" i="0" lang="en-US" sz="1800" u="none" cap="none" strike="noStrike">
                <a:solidFill>
                  <a:schemeClr val="dk1"/>
                </a:solidFill>
                <a:latin typeface="Helvetica Neue"/>
                <a:ea typeface="Helvetica Neue"/>
                <a:cs typeface="Helvetica Neue"/>
                <a:sym typeface="Helvetica Neue"/>
              </a:rPr>
              <a:t>&gt; log record.</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Stop scan when &lt;</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chemeClr val="dk1"/>
                </a:solidFill>
                <a:latin typeface="Helvetica Neue"/>
                <a:ea typeface="Helvetica Neue"/>
                <a:cs typeface="Helvetica Neue"/>
                <a:sym typeface="Helvetica Neue"/>
              </a:rPr>
              <a:t>start</a:t>
            </a:r>
            <a:r>
              <a:rPr b="0" i="0" lang="en-US" sz="1800" u="none" cap="none" strike="noStrike">
                <a:solidFill>
                  <a:schemeClr val="dk1"/>
                </a:solidFill>
                <a:latin typeface="Helvetica Neue"/>
                <a:ea typeface="Helvetica Neue"/>
                <a:cs typeface="Helvetica Neue"/>
                <a:sym typeface="Helvetica Neue"/>
              </a:rPr>
              <a:t>&gt; records have been found for all </a:t>
            </a:r>
            <a:r>
              <a:rPr b="0" i="1" lang="en-US" sz="1800" u="none" cap="none" strike="noStrike">
                <a:solidFill>
                  <a:schemeClr val="dk1"/>
                </a:solidFill>
                <a:latin typeface="Helvetica Neue"/>
                <a:ea typeface="Helvetica Neue"/>
                <a:cs typeface="Helvetica Neue"/>
                <a:sym typeface="Helvetica Neue"/>
              </a:rPr>
              <a:t>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in </a:t>
            </a:r>
            <a:r>
              <a:rPr b="0" i="1" lang="en-US" sz="1800" u="none" cap="none" strike="noStrike">
                <a:solidFill>
                  <a:schemeClr val="dk1"/>
                </a:solidFill>
                <a:latin typeface="Helvetica Neue"/>
                <a:ea typeface="Helvetica Neue"/>
                <a:cs typeface="Helvetica Neue"/>
                <a:sym typeface="Helvetica Neue"/>
              </a:rPr>
              <a:t> undo-list</a:t>
            </a:r>
            <a:endParaRPr b="0" i="0" sz="1800" u="none" cap="none" strike="noStrike">
              <a:solidFill>
                <a:schemeClr val="dk1"/>
              </a:solidFill>
              <a:latin typeface="Helvetica Neue"/>
              <a:ea typeface="Helvetica Neue"/>
              <a:cs typeface="Helvetica Neue"/>
              <a:sym typeface="Helvetica Neue"/>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This undoes the effects of incomplete transactions (those with neither </a:t>
            </a:r>
            <a:r>
              <a:rPr b="1" i="0" lang="en-US" sz="1800" u="none">
                <a:solidFill>
                  <a:schemeClr val="dk1"/>
                </a:solidFill>
                <a:latin typeface="Helvetica Neue"/>
                <a:ea typeface="Helvetica Neue"/>
                <a:cs typeface="Helvetica Neue"/>
                <a:sym typeface="Helvetica Neue"/>
              </a:rPr>
              <a:t>commit</a:t>
            </a:r>
            <a:r>
              <a:rPr b="0" i="0" lang="en-US" sz="1800" u="none">
                <a:solidFill>
                  <a:schemeClr val="dk1"/>
                </a:solidFill>
                <a:latin typeface="Helvetica Neue"/>
                <a:ea typeface="Helvetica Neue"/>
                <a:cs typeface="Helvetica Neue"/>
                <a:sym typeface="Helvetica Neue"/>
              </a:rPr>
              <a:t> nor </a:t>
            </a:r>
            <a:r>
              <a:rPr b="1" i="0" lang="en-US" sz="1800" u="none">
                <a:solidFill>
                  <a:schemeClr val="dk1"/>
                </a:solidFill>
                <a:latin typeface="Helvetica Neue"/>
                <a:ea typeface="Helvetica Neue"/>
                <a:cs typeface="Helvetica Neue"/>
                <a:sym typeface="Helvetica Neue"/>
              </a:rPr>
              <a:t>abort</a:t>
            </a:r>
            <a:r>
              <a:rPr b="0" i="0" lang="en-US" sz="1800" u="none">
                <a:solidFill>
                  <a:schemeClr val="dk1"/>
                </a:solidFill>
                <a:latin typeface="Helvetica Neue"/>
                <a:ea typeface="Helvetica Neue"/>
                <a:cs typeface="Helvetica Neue"/>
                <a:sym typeface="Helvetica Neue"/>
              </a:rPr>
              <a:t> log records). Recovery is now complete.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79" name="Shape 379"/>
        <p:cNvGrpSpPr/>
        <p:nvPr/>
      </p:nvGrpSpPr>
      <p:grpSpPr>
        <a:xfrm>
          <a:off x="0" y="0"/>
          <a:ext cx="0" cy="0"/>
          <a:chOff x="0" y="0"/>
          <a:chExt cx="0" cy="0"/>
        </a:xfrm>
      </p:grpSpPr>
      <p:sp>
        <p:nvSpPr>
          <p:cNvPr id="380" name="Google Shape;380;p5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Advanced Recovery: Checkpointing</a:t>
            </a:r>
            <a:endParaRPr/>
          </a:p>
        </p:txBody>
      </p:sp>
      <p:sp>
        <p:nvSpPr>
          <p:cNvPr id="381" name="Google Shape;381;p50"/>
          <p:cNvSpPr txBox="1"/>
          <p:nvPr>
            <p:ph idx="4294967295"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81000" lvl="0" marL="3810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Checkpointing</a:t>
            </a:r>
            <a:r>
              <a:rPr b="0" i="0" lang="en-US" sz="1800" u="none">
                <a:solidFill>
                  <a:schemeClr val="dk1"/>
                </a:solidFill>
                <a:latin typeface="Helvetica Neue"/>
                <a:ea typeface="Helvetica Neue"/>
                <a:cs typeface="Helvetica Neue"/>
                <a:sym typeface="Helvetica Neue"/>
              </a:rPr>
              <a:t> is done as follows:</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all log records in memory to stable storage</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to disk all modified buffer blocks</a:t>
            </a:r>
            <a:endParaRPr/>
          </a:p>
          <a:p>
            <a:pPr indent="-342900" lvl="1" marL="80010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to log on stable storage a &lt;</a:t>
            </a:r>
            <a:r>
              <a:rPr b="1" i="0" lang="en-US" sz="1800" u="none" cap="none" strike="noStrike">
                <a:solidFill>
                  <a:schemeClr val="dk1"/>
                </a:solidFill>
                <a:latin typeface="Helvetica Neue"/>
                <a:ea typeface="Helvetica Neue"/>
                <a:cs typeface="Helvetica Neue"/>
                <a:sym typeface="Helvetica Neue"/>
              </a:rPr>
              <a:t> checkpoint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&gt; record.</a:t>
            </a:r>
            <a:endParaRPr/>
          </a:p>
          <a:p>
            <a:pPr indent="-381000" lvl="0" marL="3810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Transactions are not allowed to perform any actions while checkpointing is in progress.</a:t>
            </a:r>
            <a:endParaRPr/>
          </a:p>
          <a:p>
            <a:pPr indent="-381000" lvl="0" marL="3810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Fuzzy checkpointing allows transactions to progress while the most time consuming parts of checkpointing are in progress</a:t>
            </a:r>
            <a:endParaRPr/>
          </a:p>
          <a:p>
            <a:pPr indent="-342900" lvl="1" marL="80010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Performed as described on next slide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385" name="Shape 385"/>
        <p:cNvGrpSpPr/>
        <p:nvPr/>
      </p:nvGrpSpPr>
      <p:grpSpPr>
        <a:xfrm>
          <a:off x="0" y="0"/>
          <a:ext cx="0" cy="0"/>
          <a:chOff x="0" y="0"/>
          <a:chExt cx="0" cy="0"/>
        </a:xfrm>
      </p:grpSpPr>
      <p:sp>
        <p:nvSpPr>
          <p:cNvPr id="386" name="Google Shape;386;p5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Recovery: Fuzzy Checkpointing</a:t>
            </a:r>
            <a:endParaRPr/>
          </a:p>
        </p:txBody>
      </p:sp>
      <p:sp>
        <p:nvSpPr>
          <p:cNvPr id="387" name="Google Shape;387;p51"/>
          <p:cNvSpPr txBox="1"/>
          <p:nvPr>
            <p:ph idx="4294967295" type="body"/>
          </p:nvPr>
        </p:nvSpPr>
        <p:spPr>
          <a:xfrm>
            <a:off x="842962" y="1106487"/>
            <a:ext cx="7912100" cy="5410200"/>
          </a:xfrm>
          <a:prstGeom prst="rect">
            <a:avLst/>
          </a:prstGeom>
          <a:noFill/>
          <a:ln>
            <a:noFill/>
          </a:ln>
        </p:spPr>
        <p:txBody>
          <a:bodyPr anchorCtr="0" anchor="t" bIns="45700" lIns="91425" spcFirstLastPara="1" rIns="91425" wrap="square" tIns="45700">
            <a:noAutofit/>
          </a:bodyPr>
          <a:lstStyle/>
          <a:p>
            <a:pPr indent="-381000" lvl="0" marL="381000" marR="0" rtl="0" algn="l">
              <a:lnSpc>
                <a:spcPct val="9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Fuzzy checkpointing</a:t>
            </a:r>
            <a:r>
              <a:rPr b="0" i="0" lang="en-US" sz="1800" u="none">
                <a:solidFill>
                  <a:schemeClr val="dk1"/>
                </a:solidFill>
                <a:latin typeface="Helvetica Neue"/>
                <a:ea typeface="Helvetica Neue"/>
                <a:cs typeface="Helvetica Neue"/>
                <a:sym typeface="Helvetica Neue"/>
              </a:rPr>
              <a:t> is done as follows:</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Temporarily stop all updates by transactions</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Write a &lt;</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L</a:t>
            </a:r>
            <a:r>
              <a:rPr b="0" i="0" lang="en-US" sz="1800" u="none" cap="none" strike="noStrike">
                <a:solidFill>
                  <a:schemeClr val="dk1"/>
                </a:solidFill>
                <a:latin typeface="Helvetica Neue"/>
                <a:ea typeface="Helvetica Neue"/>
                <a:cs typeface="Helvetica Neue"/>
                <a:sym typeface="Helvetica Neue"/>
              </a:rPr>
              <a:t>&gt; log record and force log to stable storage</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Note list </a:t>
            </a:r>
            <a:r>
              <a:rPr b="0" i="1" lang="en-US" sz="1800" u="none" cap="none" strike="noStrike">
                <a:solidFill>
                  <a:schemeClr val="dk1"/>
                </a:solidFill>
                <a:latin typeface="Helvetica Neue"/>
                <a:ea typeface="Helvetica Neue"/>
                <a:cs typeface="Helvetica Neue"/>
                <a:sym typeface="Helvetica Neue"/>
              </a:rPr>
              <a:t>M</a:t>
            </a:r>
            <a:r>
              <a:rPr b="0" i="0" lang="en-US" sz="1800" u="none" cap="none" strike="noStrike">
                <a:solidFill>
                  <a:schemeClr val="dk1"/>
                </a:solidFill>
                <a:latin typeface="Helvetica Neue"/>
                <a:ea typeface="Helvetica Neue"/>
                <a:cs typeface="Helvetica Neue"/>
                <a:sym typeface="Helvetica Neue"/>
              </a:rPr>
              <a:t> of modified buffer blocks</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Now permit transactions to proceed with their actions</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Output to disk all modified buffer blocks in list </a:t>
            </a:r>
            <a:r>
              <a:rPr b="0" i="1" lang="en-US" sz="1800" u="none" cap="none" strike="noStrike">
                <a:solidFill>
                  <a:schemeClr val="dk1"/>
                </a:solidFill>
                <a:latin typeface="Helvetica Neue"/>
                <a:ea typeface="Helvetica Neue"/>
                <a:cs typeface="Helvetica Neue"/>
                <a:sym typeface="Helvetica Neue"/>
              </a:rPr>
              <a:t>M</a:t>
            </a:r>
            <a:endParaRPr b="0" i="0" sz="1800" u="none" cap="none" strike="noStrike">
              <a:solidFill>
                <a:schemeClr val="dk1"/>
              </a:solidFill>
              <a:latin typeface="Helvetica Neue"/>
              <a:ea typeface="Helvetica Neue"/>
              <a:cs typeface="Helvetica Neue"/>
              <a:sym typeface="Helvetica Neue"/>
            </a:endParaRPr>
          </a:p>
          <a:p>
            <a:pPr indent="-342900" lvl="2" marL="1200150" marR="0" rtl="0" algn="l">
              <a:lnSpc>
                <a:spcPct val="9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blocks should not be updated while being output</a:t>
            </a:r>
            <a:endParaRPr/>
          </a:p>
          <a:p>
            <a:pPr indent="-342900" lvl="2" marL="1200150" marR="0" rtl="0" algn="l">
              <a:lnSpc>
                <a:spcPct val="90000"/>
              </a:lnSpc>
              <a:spcBef>
                <a:spcPts val="630"/>
              </a:spcBef>
              <a:spcAft>
                <a:spcPts val="0"/>
              </a:spcAft>
              <a:buClr>
                <a:srgbClr val="33CC33"/>
              </a:buClr>
              <a:buSzPts val="1350"/>
              <a:buFont typeface="Arial"/>
              <a:buChar char="●"/>
            </a:pPr>
            <a:r>
              <a:rPr b="0" i="0" lang="en-US" sz="1800" u="none" cap="none" strike="noStrike">
                <a:solidFill>
                  <a:schemeClr val="dk1"/>
                </a:solidFill>
                <a:latin typeface="Helvetica Neue"/>
                <a:ea typeface="Helvetica Neue"/>
                <a:cs typeface="Helvetica Neue"/>
                <a:sym typeface="Helvetica Neue"/>
              </a:rPr>
              <a:t>Follow WAL: all log records pertaining to a block must be output before the block is output</a:t>
            </a:r>
            <a:endParaRPr/>
          </a:p>
          <a:p>
            <a:pPr indent="-342900" lvl="1" marL="80010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Store a pointer to the </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 record in a fixed position </a:t>
            </a:r>
            <a:r>
              <a:rPr b="1" i="0" lang="en-US" sz="1800" u="none" cap="none" strike="noStrike">
                <a:solidFill>
                  <a:schemeClr val="dk1"/>
                </a:solidFill>
                <a:latin typeface="Helvetica Neue"/>
                <a:ea typeface="Helvetica Neue"/>
                <a:cs typeface="Helvetica Neue"/>
                <a:sym typeface="Helvetica Neue"/>
              </a:rPr>
              <a:t>last</a:t>
            </a:r>
            <a:r>
              <a:rPr b="0" i="0" lang="en-US" sz="1800" u="none" cap="none" strike="noStrike">
                <a:solidFill>
                  <a:schemeClr val="dk1"/>
                </a:solidFill>
                <a:latin typeface="Helvetica Neue"/>
                <a:ea typeface="Helvetica Neue"/>
                <a:cs typeface="Helvetica Neue"/>
                <a:sym typeface="Helvetica Neue"/>
              </a:rPr>
              <a:t>_</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 on disk</a:t>
            </a:r>
            <a:endParaRPr/>
          </a:p>
        </p:txBody>
      </p:sp>
      <p:sp>
        <p:nvSpPr>
          <p:cNvPr id="388" name="Google Shape;388;p51"/>
          <p:cNvSpPr txBox="1"/>
          <p:nvPr/>
        </p:nvSpPr>
        <p:spPr>
          <a:xfrm>
            <a:off x="5254625" y="4789487"/>
            <a:ext cx="1495425" cy="13636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t>
            </a:r>
            <a:endParaRPr/>
          </a:p>
          <a:p>
            <a:pPr indent="0" lvl="0" marL="0" marR="0" rtl="0" algn="ctr">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&lt;checkpoint L&gt;</a:t>
            </a:r>
            <a:endParaRPr/>
          </a:p>
          <a:p>
            <a:pPr indent="0" lvl="0" marL="0" marR="0" rtl="0" algn="ctr">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t>
            </a:r>
            <a:endParaRPr/>
          </a:p>
          <a:p>
            <a:pPr indent="0" lvl="0" marL="0" marR="0" rtl="0" algn="ctr">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&lt;checkpoint L&gt;</a:t>
            </a:r>
            <a:endParaRPr/>
          </a:p>
          <a:p>
            <a:pPr indent="0" lvl="0" marL="0" marR="0" rtl="0" algn="ctr">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0"/>
              </a:spcBef>
              <a:spcAft>
                <a:spcPts val="0"/>
              </a:spcAft>
              <a:buNone/>
            </a:pPr>
            <a:r>
              <a:t/>
            </a:r>
            <a:endParaRPr b="0" i="0" sz="1600" u="none">
              <a:solidFill>
                <a:schemeClr val="dk1"/>
              </a:solidFill>
              <a:latin typeface="Helvetica Neue"/>
              <a:ea typeface="Helvetica Neue"/>
              <a:cs typeface="Helvetica Neue"/>
              <a:sym typeface="Helvetica Neue"/>
            </a:endParaRPr>
          </a:p>
        </p:txBody>
      </p:sp>
      <p:sp>
        <p:nvSpPr>
          <p:cNvPr id="389" name="Google Shape;389;p51"/>
          <p:cNvSpPr txBox="1"/>
          <p:nvPr/>
        </p:nvSpPr>
        <p:spPr>
          <a:xfrm>
            <a:off x="5538787" y="6202362"/>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Log</a:t>
            </a:r>
            <a:endParaRPr/>
          </a:p>
        </p:txBody>
      </p:sp>
      <p:sp>
        <p:nvSpPr>
          <p:cNvPr id="390" name="Google Shape;390;p51"/>
          <p:cNvSpPr/>
          <p:nvPr/>
        </p:nvSpPr>
        <p:spPr>
          <a:xfrm>
            <a:off x="2951162" y="5129212"/>
            <a:ext cx="1016000" cy="290512"/>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1" name="Google Shape;391;p51"/>
          <p:cNvSpPr/>
          <p:nvPr/>
        </p:nvSpPr>
        <p:spPr>
          <a:xfrm>
            <a:off x="2944812" y="6224587"/>
            <a:ext cx="1016000" cy="290512"/>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92" name="Google Shape;392;p51"/>
          <p:cNvCxnSpPr/>
          <p:nvPr/>
        </p:nvCxnSpPr>
        <p:spPr>
          <a:xfrm>
            <a:off x="2949575" y="5270500"/>
            <a:ext cx="0" cy="1117600"/>
          </a:xfrm>
          <a:prstGeom prst="straightConnector1">
            <a:avLst/>
          </a:prstGeom>
          <a:noFill/>
          <a:ln cap="flat" cmpd="sng" w="9525">
            <a:solidFill>
              <a:schemeClr val="dk1"/>
            </a:solidFill>
            <a:prstDash val="solid"/>
            <a:miter lim="800000"/>
            <a:headEnd len="med" w="med" type="none"/>
            <a:tailEnd len="med" w="med" type="none"/>
          </a:ln>
        </p:spPr>
      </p:cxnSp>
      <p:cxnSp>
        <p:nvCxnSpPr>
          <p:cNvPr id="393" name="Google Shape;393;p51"/>
          <p:cNvCxnSpPr/>
          <p:nvPr/>
        </p:nvCxnSpPr>
        <p:spPr>
          <a:xfrm>
            <a:off x="3959225" y="5235575"/>
            <a:ext cx="0" cy="1162050"/>
          </a:xfrm>
          <a:prstGeom prst="straightConnector1">
            <a:avLst/>
          </a:prstGeom>
          <a:noFill/>
          <a:ln cap="flat" cmpd="sng" w="9525">
            <a:solidFill>
              <a:schemeClr val="dk1"/>
            </a:solidFill>
            <a:prstDash val="solid"/>
            <a:miter lim="800000"/>
            <a:headEnd len="med" w="med" type="none"/>
            <a:tailEnd len="med" w="med" type="none"/>
          </a:ln>
        </p:spPr>
      </p:cxnSp>
      <p:cxnSp>
        <p:nvCxnSpPr>
          <p:cNvPr id="394" name="Google Shape;394;p51"/>
          <p:cNvCxnSpPr/>
          <p:nvPr/>
        </p:nvCxnSpPr>
        <p:spPr>
          <a:xfrm flipH="1" rot="10800000">
            <a:off x="3541712" y="5573712"/>
            <a:ext cx="1727200" cy="144462"/>
          </a:xfrm>
          <a:prstGeom prst="straightConnector1">
            <a:avLst/>
          </a:prstGeom>
          <a:noFill/>
          <a:ln cap="flat" cmpd="sng" w="9525">
            <a:solidFill>
              <a:schemeClr val="dk1"/>
            </a:solidFill>
            <a:prstDash val="solid"/>
            <a:miter lim="800000"/>
            <a:headEnd len="med" w="med" type="none"/>
            <a:tailEnd len="med" w="med" type="triangle"/>
          </a:ln>
        </p:spPr>
      </p:cxnSp>
      <p:sp>
        <p:nvSpPr>
          <p:cNvPr id="395" name="Google Shape;395;p51"/>
          <p:cNvSpPr txBox="1"/>
          <p:nvPr/>
        </p:nvSpPr>
        <p:spPr>
          <a:xfrm>
            <a:off x="1239837" y="5562600"/>
            <a:ext cx="158273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last_checkpoint</a:t>
            </a:r>
            <a:endParaRPr/>
          </a:p>
        </p:txBody>
      </p:sp>
      <p:sp>
        <p:nvSpPr>
          <p:cNvPr id="396" name="Google Shape;396;p51"/>
          <p:cNvSpPr/>
          <p:nvPr/>
        </p:nvSpPr>
        <p:spPr>
          <a:xfrm>
            <a:off x="3352800" y="5661025"/>
            <a:ext cx="203200" cy="13017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97" name="Google Shape;397;p51"/>
          <p:cNvCxnSpPr/>
          <p:nvPr/>
        </p:nvCxnSpPr>
        <p:spPr>
          <a:xfrm>
            <a:off x="2771775" y="5732462"/>
            <a:ext cx="595312" cy="0"/>
          </a:xfrm>
          <a:prstGeom prst="straightConnector1">
            <a:avLst/>
          </a:prstGeom>
          <a:noFill/>
          <a:ln cap="flat" cmpd="sng" w="9525">
            <a:solidFill>
              <a:schemeClr val="dk2"/>
            </a:solidFill>
            <a:prstDash val="solid"/>
            <a:miter lim="800000"/>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1" name="Shape 401"/>
        <p:cNvGrpSpPr/>
        <p:nvPr/>
      </p:nvGrpSpPr>
      <p:grpSpPr>
        <a:xfrm>
          <a:off x="0" y="0"/>
          <a:ext cx="0" cy="0"/>
          <a:chOff x="0" y="0"/>
          <a:chExt cx="0" cy="0"/>
        </a:xfrm>
      </p:grpSpPr>
      <p:sp>
        <p:nvSpPr>
          <p:cNvPr id="402" name="Google Shape;402;p52"/>
          <p:cNvSpPr txBox="1"/>
          <p:nvPr>
            <p:ph type="title"/>
          </p:nvPr>
        </p:nvSpPr>
        <p:spPr>
          <a:xfrm>
            <a:off x="768350" y="117475"/>
            <a:ext cx="8193087" cy="6238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Advanced Rec: Fuzzy Checkpointing (Cont.)</a:t>
            </a:r>
            <a:endParaRPr/>
          </a:p>
        </p:txBody>
      </p:sp>
      <p:sp>
        <p:nvSpPr>
          <p:cNvPr id="403" name="Google Shape;403;p52"/>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recovering using a fuzzy checkpoint, start scan from the </a:t>
            </a:r>
            <a:r>
              <a:rPr b="1" i="0" lang="en-US" sz="1800" u="none">
                <a:solidFill>
                  <a:schemeClr val="dk1"/>
                </a:solidFill>
                <a:latin typeface="Helvetica Neue"/>
                <a:ea typeface="Helvetica Neue"/>
                <a:cs typeface="Helvetica Neue"/>
                <a:sym typeface="Helvetica Neue"/>
              </a:rPr>
              <a:t>checkpoint</a:t>
            </a:r>
            <a:r>
              <a:rPr b="0" i="0" lang="en-US" sz="1800" u="none">
                <a:solidFill>
                  <a:schemeClr val="dk1"/>
                </a:solidFill>
                <a:latin typeface="Helvetica Neue"/>
                <a:ea typeface="Helvetica Neue"/>
                <a:cs typeface="Helvetica Neue"/>
                <a:sym typeface="Helvetica Neue"/>
              </a:rPr>
              <a:t> record pointed to by </a:t>
            </a:r>
            <a:r>
              <a:rPr b="1" i="0" lang="en-US" sz="1800" u="none">
                <a:solidFill>
                  <a:schemeClr val="dk1"/>
                </a:solidFill>
                <a:latin typeface="Helvetica Neue"/>
                <a:ea typeface="Helvetica Neue"/>
                <a:cs typeface="Helvetica Neue"/>
                <a:sym typeface="Helvetica Neue"/>
              </a:rPr>
              <a:t> last</a:t>
            </a:r>
            <a:r>
              <a:rPr b="0" i="0" lang="en-US" sz="1800" u="none">
                <a:solidFill>
                  <a:schemeClr val="dk1"/>
                </a:solidFill>
                <a:latin typeface="Helvetica Neue"/>
                <a:ea typeface="Helvetica Neue"/>
                <a:cs typeface="Helvetica Neue"/>
                <a:sym typeface="Helvetica Neue"/>
              </a:rPr>
              <a:t>_</a:t>
            </a:r>
            <a:r>
              <a:rPr b="1" i="0" lang="en-US" sz="1800" u="none">
                <a:solidFill>
                  <a:schemeClr val="dk1"/>
                </a:solidFill>
                <a:latin typeface="Helvetica Neue"/>
                <a:ea typeface="Helvetica Neue"/>
                <a:cs typeface="Helvetica Neue"/>
                <a:sym typeface="Helvetica Neue"/>
              </a:rPr>
              <a:t>checkpoint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before </a:t>
            </a:r>
            <a:r>
              <a:rPr b="1" i="0" lang="en-US" sz="1800" u="none" cap="none" strike="noStrike">
                <a:solidFill>
                  <a:schemeClr val="dk1"/>
                </a:solidFill>
                <a:latin typeface="Helvetica Neue"/>
                <a:ea typeface="Helvetica Neue"/>
                <a:cs typeface="Helvetica Neue"/>
                <a:sym typeface="Helvetica Neue"/>
              </a:rPr>
              <a:t> last</a:t>
            </a:r>
            <a:r>
              <a:rPr b="0" i="0" lang="en-US" sz="1800" u="none" cap="none" strike="noStrike">
                <a:solidFill>
                  <a:schemeClr val="dk1"/>
                </a:solidFill>
                <a:latin typeface="Helvetica Neue"/>
                <a:ea typeface="Helvetica Neue"/>
                <a:cs typeface="Helvetica Neue"/>
                <a:sym typeface="Helvetica Neue"/>
              </a:rPr>
              <a:t>_</a:t>
            </a:r>
            <a:r>
              <a:rPr b="1" i="0" lang="en-US" sz="1800" u="none" cap="none" strike="noStrike">
                <a:solidFill>
                  <a:schemeClr val="dk1"/>
                </a:solidFill>
                <a:latin typeface="Helvetica Neue"/>
                <a:ea typeface="Helvetica Neue"/>
                <a:cs typeface="Helvetica Neue"/>
                <a:sym typeface="Helvetica Neue"/>
              </a:rPr>
              <a:t>checkpoint</a:t>
            </a:r>
            <a:r>
              <a:rPr b="0" i="0" lang="en-US" sz="1800" u="none" cap="none" strike="noStrike">
                <a:solidFill>
                  <a:schemeClr val="dk1"/>
                </a:solidFill>
                <a:latin typeface="Helvetica Neue"/>
                <a:ea typeface="Helvetica Neue"/>
                <a:cs typeface="Helvetica Neue"/>
                <a:sym typeface="Helvetica Neue"/>
              </a:rPr>
              <a:t> have their updates reflected in database on disk, and need not be redone.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Incomplete checkpoints, where system had crashed while performing checkpoint, are handled safely</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07" name="Shape 407"/>
        <p:cNvGrpSpPr/>
        <p:nvPr/>
      </p:nvGrpSpPr>
      <p:grpSpPr>
        <a:xfrm>
          <a:off x="0" y="0"/>
          <a:ext cx="0" cy="0"/>
          <a:chOff x="0" y="0"/>
          <a:chExt cx="0" cy="0"/>
        </a:xfrm>
      </p:grpSpPr>
      <p:sp>
        <p:nvSpPr>
          <p:cNvPr id="408" name="Google Shape;408;p53"/>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Recovery Algorithm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12" name="Shape 412"/>
        <p:cNvGrpSpPr/>
        <p:nvPr/>
      </p:nvGrpSpPr>
      <p:grpSpPr>
        <a:xfrm>
          <a:off x="0" y="0"/>
          <a:ext cx="0" cy="0"/>
          <a:chOff x="0" y="0"/>
          <a:chExt cx="0" cy="0"/>
        </a:xfrm>
      </p:grpSpPr>
      <p:sp>
        <p:nvSpPr>
          <p:cNvPr id="413" name="Google Shape;413;p5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a:t>
            </a:r>
            <a:endParaRPr/>
          </a:p>
        </p:txBody>
      </p:sp>
      <p:sp>
        <p:nvSpPr>
          <p:cNvPr id="414" name="Google Shape;414;p54"/>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ARIES is a state of the art recovery method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Incorporates numerous optimizations to reduce overheads during normal processing and to speed up recovery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“advanced recovery algorithm” we studied earlier is modeled after ARIES, but greatly simplified by removing optimizations</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Unlike the advanced recovery algorithm, ARIES </a:t>
            </a:r>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Uses </a:t>
            </a:r>
            <a:r>
              <a:rPr b="1" i="0" lang="en-US" sz="1800" u="none" cap="none" strike="noStrike">
                <a:solidFill>
                  <a:schemeClr val="dk2"/>
                </a:solidFill>
                <a:latin typeface="Helvetica Neue"/>
                <a:ea typeface="Helvetica Neue"/>
                <a:cs typeface="Helvetica Neue"/>
                <a:sym typeface="Helvetica Neue"/>
              </a:rPr>
              <a:t>log sequence number (LSN)</a:t>
            </a:r>
            <a:r>
              <a:rPr b="0" i="0" lang="en-US" sz="1800" u="none" cap="none" strike="noStrike">
                <a:solidFill>
                  <a:schemeClr val="dk1"/>
                </a:solidFill>
                <a:latin typeface="Helvetica Neue"/>
                <a:ea typeface="Helvetica Neue"/>
                <a:cs typeface="Helvetica Neue"/>
                <a:sym typeface="Helvetica Neue"/>
              </a:rPr>
              <a:t> to identify log records</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Stores LSNs in pages to identify what updates have already been applied to a database page</a:t>
            </a:r>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Physiological redo</a:t>
            </a:r>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Dirty page table to avoid unnecessary redos during recovery</a:t>
            </a:r>
            <a:endParaRPr/>
          </a:p>
          <a:p>
            <a:pPr indent="-285750" lvl="1" marL="742950" marR="0" rtl="0" algn="l">
              <a:lnSpc>
                <a:spcPct val="9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Fuzzy checkpointing that only records information about dirty pages, and does not require dirty pages to be written out at checkpoint time</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More coming up on each of the above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18" name="Shape 418"/>
        <p:cNvGrpSpPr/>
        <p:nvPr/>
      </p:nvGrpSpPr>
      <p:grpSpPr>
        <a:xfrm>
          <a:off x="0" y="0"/>
          <a:ext cx="0" cy="0"/>
          <a:chOff x="0" y="0"/>
          <a:chExt cx="0" cy="0"/>
        </a:xfrm>
      </p:grpSpPr>
      <p:sp>
        <p:nvSpPr>
          <p:cNvPr id="419" name="Google Shape;419;p5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Optimizations</a:t>
            </a:r>
            <a:endParaRPr/>
          </a:p>
        </p:txBody>
      </p:sp>
      <p:sp>
        <p:nvSpPr>
          <p:cNvPr id="420" name="Google Shape;420;p55"/>
          <p:cNvSpPr txBox="1"/>
          <p:nvPr>
            <p:ph idx="1" type="body"/>
          </p:nvPr>
        </p:nvSpPr>
        <p:spPr>
          <a:xfrm>
            <a:off x="842962" y="1106487"/>
            <a:ext cx="8001000" cy="5219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Physiological redo</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Affected page is physically identified, action within page can be logical</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Used to reduce logging overheads</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 e.g. when a record is deleted and all other records have to be moved to fill hole</a:t>
            </a:r>
            <a:endParaRPr/>
          </a:p>
          <a:p>
            <a:pPr indent="-228600" lvl="4" marL="1771650" marR="0" rtl="0" algn="l">
              <a:lnSpc>
                <a:spcPct val="90000"/>
              </a:lnSpc>
              <a:spcBef>
                <a:spcPts val="630"/>
              </a:spcBef>
              <a:spcAft>
                <a:spcPts val="0"/>
              </a:spcAft>
              <a:buClr>
                <a:schemeClr val="dk2"/>
              </a:buClr>
              <a:buSzPts val="1350"/>
              <a:buFont typeface="Helvetica Neue"/>
              <a:buChar char="»"/>
            </a:pPr>
            <a:r>
              <a:rPr b="0" i="0" lang="en-US" sz="1800" u="none" cap="none" strike="noStrike">
                <a:solidFill>
                  <a:schemeClr val="dk1"/>
                </a:solidFill>
                <a:latin typeface="Helvetica Neue"/>
                <a:ea typeface="Helvetica Neue"/>
                <a:cs typeface="Helvetica Neue"/>
                <a:sym typeface="Helvetica Neue"/>
              </a:rPr>
              <a:t>Physiological redo can log just the record deletion </a:t>
            </a:r>
            <a:endParaRPr/>
          </a:p>
          <a:p>
            <a:pPr indent="-228600" lvl="4" marL="1771650" marR="0" rtl="0" algn="l">
              <a:lnSpc>
                <a:spcPct val="90000"/>
              </a:lnSpc>
              <a:spcBef>
                <a:spcPts val="630"/>
              </a:spcBef>
              <a:spcAft>
                <a:spcPts val="0"/>
              </a:spcAft>
              <a:buClr>
                <a:schemeClr val="dk2"/>
              </a:buClr>
              <a:buSzPts val="1350"/>
              <a:buFont typeface="Helvetica Neue"/>
              <a:buChar char="»"/>
            </a:pPr>
            <a:r>
              <a:rPr b="0" i="0" lang="en-US" sz="1800" u="none" cap="none" strike="noStrike">
                <a:solidFill>
                  <a:schemeClr val="dk1"/>
                </a:solidFill>
                <a:latin typeface="Helvetica Neue"/>
                <a:ea typeface="Helvetica Neue"/>
                <a:cs typeface="Helvetica Neue"/>
                <a:sym typeface="Helvetica Neue"/>
              </a:rPr>
              <a:t>Physical redo would require logging of old and new values for much of the page</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Requires page to be output to disk atomically</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Easy to achieve with hardware RAID, also supported by some disk systems</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Incomplete page output can be detected by checksum techniques, </a:t>
            </a:r>
            <a:endParaRPr/>
          </a:p>
          <a:p>
            <a:pPr indent="-228600" lvl="4" marL="1771650" marR="0" rtl="0" algn="l">
              <a:lnSpc>
                <a:spcPct val="90000"/>
              </a:lnSpc>
              <a:spcBef>
                <a:spcPts val="630"/>
              </a:spcBef>
              <a:spcAft>
                <a:spcPts val="0"/>
              </a:spcAft>
              <a:buClr>
                <a:schemeClr val="dk2"/>
              </a:buClr>
              <a:buSzPts val="1350"/>
              <a:buFont typeface="Helvetica Neue"/>
              <a:buChar char="»"/>
            </a:pPr>
            <a:r>
              <a:rPr b="0" i="0" lang="en-US" sz="1800" u="none" cap="none" strike="noStrike">
                <a:solidFill>
                  <a:schemeClr val="dk1"/>
                </a:solidFill>
                <a:latin typeface="Helvetica Neue"/>
                <a:ea typeface="Helvetica Neue"/>
                <a:cs typeface="Helvetica Neue"/>
                <a:sym typeface="Helvetica Neue"/>
              </a:rPr>
              <a:t>But extra actions are required for recovery </a:t>
            </a:r>
            <a:endParaRPr/>
          </a:p>
          <a:p>
            <a:pPr indent="-228600" lvl="4" marL="1771650" marR="0" rtl="0" algn="l">
              <a:lnSpc>
                <a:spcPct val="90000"/>
              </a:lnSpc>
              <a:spcBef>
                <a:spcPts val="630"/>
              </a:spcBef>
              <a:spcAft>
                <a:spcPts val="0"/>
              </a:spcAft>
              <a:buClr>
                <a:schemeClr val="dk2"/>
              </a:buClr>
              <a:buSzPts val="1350"/>
              <a:buFont typeface="Helvetica Neue"/>
              <a:buChar char="»"/>
            </a:pPr>
            <a:r>
              <a:rPr b="0" i="0" lang="en-US" sz="1800" u="none" cap="none" strike="noStrike">
                <a:solidFill>
                  <a:schemeClr val="dk1"/>
                </a:solidFill>
                <a:latin typeface="Helvetica Neue"/>
                <a:ea typeface="Helvetica Neue"/>
                <a:cs typeface="Helvetica Neue"/>
                <a:sym typeface="Helvetica Neue"/>
              </a:rPr>
              <a:t>Treated as a media failure</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24" name="Shape 424"/>
        <p:cNvGrpSpPr/>
        <p:nvPr/>
      </p:nvGrpSpPr>
      <p:grpSpPr>
        <a:xfrm>
          <a:off x="0" y="0"/>
          <a:ext cx="0" cy="0"/>
          <a:chOff x="0" y="0"/>
          <a:chExt cx="0" cy="0"/>
        </a:xfrm>
      </p:grpSpPr>
      <p:sp>
        <p:nvSpPr>
          <p:cNvPr id="425" name="Google Shape;425;p5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Data Structures</a:t>
            </a:r>
            <a:endParaRPr/>
          </a:p>
        </p:txBody>
      </p:sp>
      <p:sp>
        <p:nvSpPr>
          <p:cNvPr id="426" name="Google Shape;426;p56"/>
          <p:cNvSpPr txBox="1"/>
          <p:nvPr>
            <p:ph idx="1" type="body"/>
          </p:nvPr>
        </p:nvSpPr>
        <p:spPr>
          <a:xfrm>
            <a:off x="842962" y="1106487"/>
            <a:ext cx="8166100" cy="5575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ARIES uses several data structures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sequence number (LSN) identifies each log record</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Must be sequentially increasing</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Typically an offset from beginning of log file to allow fast access</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Easily extended to handle multiple log files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Page LSN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Log records of several different types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Dirty page table</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30" name="Shape 430"/>
        <p:cNvGrpSpPr/>
        <p:nvPr/>
      </p:nvGrpSpPr>
      <p:grpSpPr>
        <a:xfrm>
          <a:off x="0" y="0"/>
          <a:ext cx="0" cy="0"/>
          <a:chOff x="0" y="0"/>
          <a:chExt cx="0" cy="0"/>
        </a:xfrm>
      </p:grpSpPr>
      <p:sp>
        <p:nvSpPr>
          <p:cNvPr id="431" name="Google Shape;431;p5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Data Structures: Page LSN</a:t>
            </a:r>
            <a:endParaRPr/>
          </a:p>
        </p:txBody>
      </p:sp>
      <p:sp>
        <p:nvSpPr>
          <p:cNvPr id="432" name="Google Shape;432;p57"/>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Each page contains a </a:t>
            </a:r>
            <a:r>
              <a:rPr b="1" i="0" lang="en-US" sz="1800" u="none">
                <a:solidFill>
                  <a:schemeClr val="dk2"/>
                </a:solidFill>
                <a:latin typeface="Helvetica Neue"/>
                <a:ea typeface="Helvetica Neue"/>
                <a:cs typeface="Helvetica Neue"/>
                <a:sym typeface="Helvetica Neue"/>
              </a:rPr>
              <a:t>PageLSN</a:t>
            </a:r>
            <a:r>
              <a:rPr b="0" i="0" lang="en-US" sz="1800" u="none">
                <a:solidFill>
                  <a:schemeClr val="dk1"/>
                </a:solidFill>
                <a:latin typeface="Helvetica Neue"/>
                <a:ea typeface="Helvetica Neue"/>
                <a:cs typeface="Helvetica Neue"/>
                <a:sym typeface="Helvetica Neue"/>
              </a:rPr>
              <a:t> which is the LSN of the last log record whose effects are reflected on the page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update a page: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X-latch the page, and write the log record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Update the page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Record the LSN of the log record in PageLSN</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Unlock page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flush page to disk, must first S-latch page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Thus page state on disk is operation consistent</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Required to support physiological redo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PageLSN is used during recovery to prevent repeated redo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Thus ensuring idempotence</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36" name="Shape 436"/>
        <p:cNvGrpSpPr/>
        <p:nvPr/>
      </p:nvGrpSpPr>
      <p:grpSpPr>
        <a:xfrm>
          <a:off x="0" y="0"/>
          <a:ext cx="0" cy="0"/>
          <a:chOff x="0" y="0"/>
          <a:chExt cx="0" cy="0"/>
        </a:xfrm>
      </p:grpSpPr>
      <p:sp>
        <p:nvSpPr>
          <p:cNvPr id="437" name="Google Shape;437;p5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Data Structures: Log Record</a:t>
            </a:r>
            <a:endParaRPr/>
          </a:p>
        </p:txBody>
      </p:sp>
      <p:sp>
        <p:nvSpPr>
          <p:cNvPr id="438" name="Google Shape;438;p58"/>
          <p:cNvSpPr txBox="1"/>
          <p:nvPr>
            <p:ph idx="1" type="body"/>
          </p:nvPr>
        </p:nvSpPr>
        <p:spPr>
          <a:xfrm>
            <a:off x="385762" y="949325"/>
            <a:ext cx="8342312" cy="4902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Each log record contains LSN of previous log record of the same transaction</a:t>
            </a: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LSN in log record may be implicit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Special redo-only log record called </a:t>
            </a:r>
            <a:r>
              <a:rPr b="1" i="0" lang="en-US" sz="1800" u="none">
                <a:solidFill>
                  <a:schemeClr val="dk2"/>
                </a:solidFill>
                <a:latin typeface="Helvetica Neue"/>
                <a:ea typeface="Helvetica Neue"/>
                <a:cs typeface="Helvetica Neue"/>
                <a:sym typeface="Helvetica Neue"/>
              </a:rPr>
              <a:t>compensation log record (CLR) </a:t>
            </a:r>
            <a:r>
              <a:rPr b="0" i="0" lang="en-US" sz="1800" u="none">
                <a:solidFill>
                  <a:schemeClr val="dk1"/>
                </a:solidFill>
                <a:latin typeface="Helvetica Neue"/>
                <a:ea typeface="Helvetica Neue"/>
                <a:cs typeface="Helvetica Neue"/>
                <a:sym typeface="Helvetica Neue"/>
              </a:rPr>
              <a:t>used to log actions taken during recovery that never need to be undone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Serves the role of operation-abort log records used in advanced recovery algorithm</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Has a field UndoNextLSN to note next (earlier) record to be undone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Records in between would have already been undone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Required to avoid repeated undo of already undone actions</a:t>
            </a:r>
            <a:endParaRPr/>
          </a:p>
        </p:txBody>
      </p:sp>
      <p:grpSp>
        <p:nvGrpSpPr>
          <p:cNvPr id="439" name="Google Shape;439;p58"/>
          <p:cNvGrpSpPr/>
          <p:nvPr/>
        </p:nvGrpSpPr>
        <p:grpSpPr>
          <a:xfrm>
            <a:off x="1816100" y="1387475"/>
            <a:ext cx="5475287" cy="414337"/>
            <a:chOff x="1153" y="1117"/>
            <a:chExt cx="3449" cy="261"/>
          </a:xfrm>
        </p:grpSpPr>
        <p:sp>
          <p:nvSpPr>
            <p:cNvPr id="440" name="Google Shape;440;p58"/>
            <p:cNvSpPr txBox="1"/>
            <p:nvPr/>
          </p:nvSpPr>
          <p:spPr>
            <a:xfrm>
              <a:off x="1153" y="1122"/>
              <a:ext cx="3449" cy="256"/>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a:solidFill>
                    <a:schemeClr val="dk1"/>
                  </a:solidFill>
                  <a:latin typeface="Tahoma"/>
                  <a:ea typeface="Tahoma"/>
                  <a:cs typeface="Tahoma"/>
                  <a:sym typeface="Tahoma"/>
                </a:rPr>
                <a:t>LSN  TransID   PrevLSN   RedoInfo    UndoInfo</a:t>
              </a:r>
              <a:endParaRPr/>
            </a:p>
          </p:txBody>
        </p:sp>
        <p:cxnSp>
          <p:nvCxnSpPr>
            <p:cNvPr id="441" name="Google Shape;441;p58"/>
            <p:cNvCxnSpPr/>
            <p:nvPr/>
          </p:nvCxnSpPr>
          <p:spPr>
            <a:xfrm>
              <a:off x="1545" y="1130"/>
              <a:ext cx="0" cy="247"/>
            </a:xfrm>
            <a:prstGeom prst="straightConnector1">
              <a:avLst/>
            </a:prstGeom>
            <a:noFill/>
            <a:ln cap="flat" cmpd="sng" w="9525">
              <a:solidFill>
                <a:schemeClr val="dk1"/>
              </a:solidFill>
              <a:prstDash val="solid"/>
              <a:miter lim="800000"/>
              <a:headEnd len="med" w="med" type="none"/>
              <a:tailEnd len="med" w="med" type="none"/>
            </a:ln>
          </p:spPr>
        </p:cxnSp>
        <p:cxnSp>
          <p:nvCxnSpPr>
            <p:cNvPr id="442" name="Google Shape;442;p58"/>
            <p:cNvCxnSpPr/>
            <p:nvPr/>
          </p:nvCxnSpPr>
          <p:spPr>
            <a:xfrm>
              <a:off x="2208" y="1117"/>
              <a:ext cx="0" cy="247"/>
            </a:xfrm>
            <a:prstGeom prst="straightConnector1">
              <a:avLst/>
            </a:prstGeom>
            <a:noFill/>
            <a:ln cap="flat" cmpd="sng" w="9525">
              <a:solidFill>
                <a:schemeClr val="dk1"/>
              </a:solidFill>
              <a:prstDash val="solid"/>
              <a:miter lim="800000"/>
              <a:headEnd len="med" w="med" type="none"/>
              <a:tailEnd len="med" w="med" type="none"/>
            </a:ln>
          </p:spPr>
        </p:cxnSp>
        <p:cxnSp>
          <p:nvCxnSpPr>
            <p:cNvPr id="443" name="Google Shape;443;p58"/>
            <p:cNvCxnSpPr/>
            <p:nvPr/>
          </p:nvCxnSpPr>
          <p:spPr>
            <a:xfrm>
              <a:off x="2938" y="1126"/>
              <a:ext cx="0" cy="247"/>
            </a:xfrm>
            <a:prstGeom prst="straightConnector1">
              <a:avLst/>
            </a:prstGeom>
            <a:noFill/>
            <a:ln cap="flat" cmpd="sng" w="9525">
              <a:solidFill>
                <a:schemeClr val="dk1"/>
              </a:solidFill>
              <a:prstDash val="solid"/>
              <a:miter lim="800000"/>
              <a:headEnd len="med" w="med" type="none"/>
              <a:tailEnd len="med" w="med" type="none"/>
            </a:ln>
          </p:spPr>
        </p:cxnSp>
        <p:cxnSp>
          <p:nvCxnSpPr>
            <p:cNvPr id="444" name="Google Shape;444;p58"/>
            <p:cNvCxnSpPr/>
            <p:nvPr/>
          </p:nvCxnSpPr>
          <p:spPr>
            <a:xfrm>
              <a:off x="3751" y="1126"/>
              <a:ext cx="0" cy="247"/>
            </a:xfrm>
            <a:prstGeom prst="straightConnector1">
              <a:avLst/>
            </a:prstGeom>
            <a:noFill/>
            <a:ln cap="flat" cmpd="sng" w="9525">
              <a:solidFill>
                <a:schemeClr val="dk1"/>
              </a:solidFill>
              <a:prstDash val="solid"/>
              <a:miter lim="800000"/>
              <a:headEnd len="med" w="med" type="none"/>
              <a:tailEnd len="med" w="med" type="none"/>
            </a:ln>
          </p:spPr>
        </p:cxnSp>
      </p:grpSp>
      <p:grpSp>
        <p:nvGrpSpPr>
          <p:cNvPr id="445" name="Google Shape;445;p58"/>
          <p:cNvGrpSpPr/>
          <p:nvPr/>
        </p:nvGrpSpPr>
        <p:grpSpPr>
          <a:xfrm>
            <a:off x="2200275" y="4841875"/>
            <a:ext cx="4749800" cy="409575"/>
            <a:chOff x="1575" y="3311"/>
            <a:chExt cx="2992" cy="258"/>
          </a:xfrm>
        </p:grpSpPr>
        <p:sp>
          <p:nvSpPr>
            <p:cNvPr id="446" name="Google Shape;446;p58"/>
            <p:cNvSpPr txBox="1"/>
            <p:nvPr/>
          </p:nvSpPr>
          <p:spPr>
            <a:xfrm>
              <a:off x="1575" y="3313"/>
              <a:ext cx="2992" cy="256"/>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LSN  TransID  UndoNextLSN   RedoInfo</a:t>
              </a:r>
              <a:endParaRPr/>
            </a:p>
          </p:txBody>
        </p:sp>
        <p:cxnSp>
          <p:nvCxnSpPr>
            <p:cNvPr id="447" name="Google Shape;447;p58"/>
            <p:cNvCxnSpPr/>
            <p:nvPr/>
          </p:nvCxnSpPr>
          <p:spPr>
            <a:xfrm>
              <a:off x="2637" y="3319"/>
              <a:ext cx="0" cy="247"/>
            </a:xfrm>
            <a:prstGeom prst="straightConnector1">
              <a:avLst/>
            </a:prstGeom>
            <a:noFill/>
            <a:ln cap="flat" cmpd="sng" w="9525">
              <a:solidFill>
                <a:schemeClr val="dk1"/>
              </a:solidFill>
              <a:prstDash val="solid"/>
              <a:miter lim="800000"/>
              <a:headEnd len="med" w="med" type="none"/>
              <a:tailEnd len="med" w="med" type="none"/>
            </a:ln>
          </p:spPr>
        </p:cxnSp>
        <p:cxnSp>
          <p:nvCxnSpPr>
            <p:cNvPr id="448" name="Google Shape;448;p58"/>
            <p:cNvCxnSpPr/>
            <p:nvPr/>
          </p:nvCxnSpPr>
          <p:spPr>
            <a:xfrm>
              <a:off x="3789" y="3320"/>
              <a:ext cx="0" cy="247"/>
            </a:xfrm>
            <a:prstGeom prst="straightConnector1">
              <a:avLst/>
            </a:prstGeom>
            <a:noFill/>
            <a:ln cap="flat" cmpd="sng" w="9525">
              <a:solidFill>
                <a:schemeClr val="dk1"/>
              </a:solidFill>
              <a:prstDash val="solid"/>
              <a:miter lim="800000"/>
              <a:headEnd len="med" w="med" type="none"/>
              <a:tailEnd len="med" w="med" type="none"/>
            </a:ln>
          </p:spPr>
        </p:cxnSp>
        <p:cxnSp>
          <p:nvCxnSpPr>
            <p:cNvPr id="449" name="Google Shape;449;p58"/>
            <p:cNvCxnSpPr/>
            <p:nvPr/>
          </p:nvCxnSpPr>
          <p:spPr>
            <a:xfrm>
              <a:off x="1997" y="3311"/>
              <a:ext cx="0" cy="247"/>
            </a:xfrm>
            <a:prstGeom prst="straightConnector1">
              <a:avLst/>
            </a:prstGeom>
            <a:noFill/>
            <a:ln cap="flat" cmpd="sng" w="9525">
              <a:solidFill>
                <a:schemeClr val="dk1"/>
              </a:solidFill>
              <a:prstDash val="solid"/>
              <a:miter lim="800000"/>
              <a:headEnd len="med" w="med" type="none"/>
              <a:tailEnd len="med" w="med" type="none"/>
            </a:ln>
          </p:spPr>
        </p:cxnSp>
      </p:grpSp>
      <p:grpSp>
        <p:nvGrpSpPr>
          <p:cNvPr id="450" name="Google Shape;450;p58"/>
          <p:cNvGrpSpPr/>
          <p:nvPr/>
        </p:nvGrpSpPr>
        <p:grpSpPr>
          <a:xfrm>
            <a:off x="1817687" y="5437187"/>
            <a:ext cx="5870575" cy="682625"/>
            <a:chOff x="1145" y="3425"/>
            <a:chExt cx="3698" cy="430"/>
          </a:xfrm>
        </p:grpSpPr>
        <p:cxnSp>
          <p:nvCxnSpPr>
            <p:cNvPr id="451" name="Google Shape;451;p58"/>
            <p:cNvCxnSpPr/>
            <p:nvPr/>
          </p:nvCxnSpPr>
          <p:spPr>
            <a:xfrm>
              <a:off x="1147" y="3740"/>
              <a:ext cx="3696" cy="1"/>
            </a:xfrm>
            <a:prstGeom prst="straightConnector1">
              <a:avLst/>
            </a:prstGeom>
            <a:noFill/>
            <a:ln cap="flat" cmpd="sng" w="9525">
              <a:solidFill>
                <a:srgbClr val="000000"/>
              </a:solidFill>
              <a:prstDash val="solid"/>
              <a:miter lim="800000"/>
              <a:headEnd len="med" w="med" type="none"/>
              <a:tailEnd len="lg" w="lg" type="triangle"/>
            </a:ln>
          </p:spPr>
        </p:cxnSp>
        <p:sp>
          <p:nvSpPr>
            <p:cNvPr id="452" name="Google Shape;452;p58"/>
            <p:cNvSpPr/>
            <p:nvPr/>
          </p:nvSpPr>
          <p:spPr>
            <a:xfrm>
              <a:off x="1145" y="364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3" name="Google Shape;453;p58"/>
            <p:cNvSpPr/>
            <p:nvPr/>
          </p:nvSpPr>
          <p:spPr>
            <a:xfrm>
              <a:off x="1607" y="363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4" name="Google Shape;454;p58"/>
            <p:cNvSpPr/>
            <p:nvPr/>
          </p:nvSpPr>
          <p:spPr>
            <a:xfrm>
              <a:off x="2045" y="364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5" name="Google Shape;455;p58"/>
            <p:cNvSpPr/>
            <p:nvPr/>
          </p:nvSpPr>
          <p:spPr>
            <a:xfrm>
              <a:off x="2553" y="363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6" name="Google Shape;456;p58"/>
            <p:cNvSpPr/>
            <p:nvPr/>
          </p:nvSpPr>
          <p:spPr>
            <a:xfrm>
              <a:off x="3072" y="3622"/>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7" name="Google Shape;457;p58"/>
            <p:cNvSpPr/>
            <p:nvPr/>
          </p:nvSpPr>
          <p:spPr>
            <a:xfrm>
              <a:off x="3556" y="363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8" name="Google Shape;458;p58"/>
            <p:cNvSpPr/>
            <p:nvPr/>
          </p:nvSpPr>
          <p:spPr>
            <a:xfrm>
              <a:off x="3949" y="363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9" name="Google Shape;459;p58"/>
            <p:cNvSpPr txBox="1"/>
            <p:nvPr/>
          </p:nvSpPr>
          <p:spPr>
            <a:xfrm>
              <a:off x="1152" y="346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a:t>
              </a:r>
              <a:endParaRPr/>
            </a:p>
          </p:txBody>
        </p:sp>
        <p:sp>
          <p:nvSpPr>
            <p:cNvPr id="460" name="Google Shape;460;p58"/>
            <p:cNvSpPr txBox="1"/>
            <p:nvPr/>
          </p:nvSpPr>
          <p:spPr>
            <a:xfrm>
              <a:off x="1579" y="348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sp>
          <p:nvSpPr>
            <p:cNvPr id="461" name="Google Shape;461;p58"/>
            <p:cNvSpPr txBox="1"/>
            <p:nvPr/>
          </p:nvSpPr>
          <p:spPr>
            <a:xfrm>
              <a:off x="2006" y="348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sp>
          <p:nvSpPr>
            <p:cNvPr id="462" name="Google Shape;462;p58"/>
            <p:cNvSpPr txBox="1"/>
            <p:nvPr/>
          </p:nvSpPr>
          <p:spPr>
            <a:xfrm>
              <a:off x="2502" y="346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sp>
          <p:nvSpPr>
            <p:cNvPr id="463" name="Google Shape;463;p58"/>
            <p:cNvSpPr txBox="1"/>
            <p:nvPr/>
          </p:nvSpPr>
          <p:spPr>
            <a:xfrm>
              <a:off x="2921" y="348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sp>
          <p:nvSpPr>
            <p:cNvPr id="464" name="Google Shape;464;p58"/>
            <p:cNvSpPr txBox="1"/>
            <p:nvPr/>
          </p:nvSpPr>
          <p:spPr>
            <a:xfrm>
              <a:off x="3441" y="3425"/>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sp>
          <p:nvSpPr>
            <p:cNvPr id="465" name="Google Shape;465;p58"/>
            <p:cNvSpPr txBox="1"/>
            <p:nvPr/>
          </p:nvSpPr>
          <p:spPr>
            <a:xfrm>
              <a:off x="4092" y="3531"/>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sp>
          <p:nvSpPr>
            <p:cNvPr id="466" name="Google Shape;466;p58"/>
            <p:cNvSpPr/>
            <p:nvPr/>
          </p:nvSpPr>
          <p:spPr>
            <a:xfrm>
              <a:off x="4307" y="362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67" name="Google Shape;467;p58"/>
            <p:cNvCxnSpPr/>
            <p:nvPr/>
          </p:nvCxnSpPr>
          <p:spPr>
            <a:xfrm rot="5400000">
              <a:off x="2647" y="2869"/>
              <a:ext cx="1" cy="1949"/>
            </a:xfrm>
            <a:prstGeom prst="curvedConnector3">
              <a:avLst>
                <a:gd fmla="val -384054937" name="adj1"/>
              </a:avLst>
            </a:prstGeom>
            <a:noFill/>
            <a:ln cap="flat" cmpd="sng" w="9525">
              <a:solidFill>
                <a:schemeClr val="dk1"/>
              </a:solidFill>
              <a:prstDash val="solid"/>
              <a:miter lim="800000"/>
              <a:headEnd len="med" w="med" type="none"/>
              <a:tailEnd len="med" w="med" type="triangle"/>
            </a:ln>
          </p:spPr>
        </p:cxnSp>
        <p:cxnSp>
          <p:nvCxnSpPr>
            <p:cNvPr id="468" name="Google Shape;468;p58"/>
            <p:cNvCxnSpPr/>
            <p:nvPr/>
          </p:nvCxnSpPr>
          <p:spPr>
            <a:xfrm rot="5400000">
              <a:off x="2621" y="3329"/>
              <a:ext cx="24" cy="1027"/>
            </a:xfrm>
            <a:prstGeom prst="curvedConnector3">
              <a:avLst>
                <a:gd fmla="val -15950267" name="adj1"/>
              </a:avLst>
            </a:prstGeom>
            <a:noFill/>
            <a:ln cap="flat" cmpd="sng" w="9525">
              <a:solidFill>
                <a:schemeClr val="dk1"/>
              </a:solidFill>
              <a:prstDash val="solid"/>
              <a:miter lim="800000"/>
              <a:headEnd len="med" w="med" type="none"/>
              <a:tailEnd len="med" w="med" type="triangle"/>
            </a:ln>
          </p:spPr>
        </p:cxnSp>
        <p:sp>
          <p:nvSpPr>
            <p:cNvPr id="469" name="Google Shape;469;p58"/>
            <p:cNvSpPr txBox="1"/>
            <p:nvPr/>
          </p:nvSpPr>
          <p:spPr>
            <a:xfrm>
              <a:off x="4462" y="3545"/>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a:t>
              </a:r>
              <a:endParaRPr/>
            </a:p>
          </p:txBody>
        </p:sp>
        <p:cxnSp>
          <p:nvCxnSpPr>
            <p:cNvPr id="470" name="Google Shape;470;p58"/>
            <p:cNvCxnSpPr/>
            <p:nvPr/>
          </p:nvCxnSpPr>
          <p:spPr>
            <a:xfrm rot="5400000">
              <a:off x="2616" y="2469"/>
              <a:ext cx="12" cy="2698"/>
            </a:xfrm>
            <a:prstGeom prst="curvedConnector3">
              <a:avLst>
                <a:gd fmla="val -31746329" name="adj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474" name="Shape 474"/>
        <p:cNvGrpSpPr/>
        <p:nvPr/>
      </p:nvGrpSpPr>
      <p:grpSpPr>
        <a:xfrm>
          <a:off x="0" y="0"/>
          <a:ext cx="0" cy="0"/>
          <a:chOff x="0" y="0"/>
          <a:chExt cx="0" cy="0"/>
        </a:xfrm>
      </p:grpSpPr>
      <p:sp>
        <p:nvSpPr>
          <p:cNvPr id="475" name="Google Shape;475;p5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Data Structures: DirtyPage Table</a:t>
            </a:r>
            <a:endParaRPr/>
          </a:p>
        </p:txBody>
      </p:sp>
      <p:sp>
        <p:nvSpPr>
          <p:cNvPr id="476" name="Google Shape;476;p59"/>
          <p:cNvSpPr txBox="1"/>
          <p:nvPr>
            <p:ph idx="1" type="body"/>
          </p:nvPr>
        </p:nvSpPr>
        <p:spPr>
          <a:xfrm>
            <a:off x="842962" y="1106487"/>
            <a:ext cx="7962900" cy="32591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DirtyPageTable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List of pages in the buffer that have been updated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Contains, for each such page</a:t>
            </a:r>
            <a:endParaRPr/>
          </a:p>
          <a:p>
            <a:pPr indent="-228600" lvl="2" marL="1085850" marR="0" rtl="0" algn="l">
              <a:lnSpc>
                <a:spcPct val="100000"/>
              </a:lnSpc>
              <a:spcBef>
                <a:spcPts val="630"/>
              </a:spcBef>
              <a:spcAft>
                <a:spcPts val="0"/>
              </a:spcAft>
              <a:buClr>
                <a:srgbClr val="33CC33"/>
              </a:buClr>
              <a:buSzPts val="1350"/>
              <a:buFont typeface="Arimo"/>
              <a:buChar char="4"/>
            </a:pPr>
            <a:r>
              <a:rPr b="1" i="0" lang="en-US" sz="1800" u="none" cap="none" strike="noStrike">
                <a:solidFill>
                  <a:schemeClr val="dk2"/>
                </a:solidFill>
                <a:latin typeface="Helvetica Neue"/>
                <a:ea typeface="Helvetica Neue"/>
                <a:cs typeface="Helvetica Neue"/>
                <a:sym typeface="Helvetica Neue"/>
              </a:rPr>
              <a:t>PageLSN</a:t>
            </a:r>
            <a:r>
              <a:rPr b="0" i="0" lang="en-US" sz="1800" u="none" cap="none" strike="noStrike">
                <a:solidFill>
                  <a:schemeClr val="dk1"/>
                </a:solidFill>
                <a:latin typeface="Helvetica Neue"/>
                <a:ea typeface="Helvetica Neue"/>
                <a:cs typeface="Helvetica Neue"/>
                <a:sym typeface="Helvetica Neue"/>
              </a:rPr>
              <a:t> of the page</a:t>
            </a:r>
            <a:endParaRPr/>
          </a:p>
          <a:p>
            <a:pPr indent="-228600" lvl="2" marL="1085850" marR="0" rtl="0" algn="l">
              <a:lnSpc>
                <a:spcPct val="100000"/>
              </a:lnSpc>
              <a:spcBef>
                <a:spcPts val="630"/>
              </a:spcBef>
              <a:spcAft>
                <a:spcPts val="0"/>
              </a:spcAft>
              <a:buClr>
                <a:srgbClr val="33CC33"/>
              </a:buClr>
              <a:buSzPts val="1350"/>
              <a:buFont typeface="Arimo"/>
              <a:buChar char="4"/>
            </a:pPr>
            <a:r>
              <a:rPr b="1" i="0" lang="en-US" sz="1800" u="none" cap="none" strike="noStrike">
                <a:solidFill>
                  <a:schemeClr val="dk2"/>
                </a:solidFill>
                <a:latin typeface="Helvetica Neue"/>
                <a:ea typeface="Helvetica Neue"/>
                <a:cs typeface="Helvetica Neue"/>
                <a:sym typeface="Helvetica Neue"/>
              </a:rPr>
              <a:t>RecLSN </a:t>
            </a:r>
            <a:r>
              <a:rPr b="0" i="0" lang="en-US" sz="1800" u="none" cap="none" strike="noStrike">
                <a:solidFill>
                  <a:schemeClr val="dk1"/>
                </a:solidFill>
                <a:latin typeface="Helvetica Neue"/>
                <a:ea typeface="Helvetica Neue"/>
                <a:cs typeface="Helvetica Neue"/>
                <a:sym typeface="Helvetica Neue"/>
              </a:rPr>
              <a:t>is an LSN such that log records before this LSN have already been applied to the page version on disk</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Set to current end of log when a page is inserted into dirty page table (just before being updated)</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Recorded in checkpoints, helps to minimize redo work</a:t>
            </a:r>
            <a:endParaRPr/>
          </a:p>
        </p:txBody>
      </p:sp>
      <p:sp>
        <p:nvSpPr>
          <p:cNvPr id="477" name="Google Shape;477;p59"/>
          <p:cNvSpPr txBox="1"/>
          <p:nvPr/>
        </p:nvSpPr>
        <p:spPr>
          <a:xfrm>
            <a:off x="6777037" y="4673600"/>
            <a:ext cx="1727200" cy="13081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Page PLSN RLSN</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P1       25     17</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P6       16     15</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P23     19     18</a:t>
            </a:r>
            <a:endParaRPr/>
          </a:p>
          <a:p>
            <a:pPr indent="0" lvl="0" marL="0" marR="0" rtl="0" algn="l">
              <a:lnSpc>
                <a:spcPct val="100000"/>
              </a:lnSpc>
              <a:spcBef>
                <a:spcPts val="0"/>
              </a:spcBef>
              <a:spcAft>
                <a:spcPts val="0"/>
              </a:spcAft>
              <a:buNone/>
            </a:pPr>
            <a:r>
              <a:t/>
            </a:r>
            <a:endParaRPr b="0" i="0" sz="1600" u="none">
              <a:solidFill>
                <a:schemeClr val="dk1"/>
              </a:solidFill>
              <a:latin typeface="Helvetica Neue"/>
              <a:ea typeface="Helvetica Neue"/>
              <a:cs typeface="Helvetica Neue"/>
              <a:sym typeface="Helvetica Neue"/>
            </a:endParaRPr>
          </a:p>
        </p:txBody>
      </p:sp>
      <p:sp>
        <p:nvSpPr>
          <p:cNvPr id="478" name="Google Shape;478;p59"/>
          <p:cNvSpPr/>
          <p:nvPr/>
        </p:nvSpPr>
        <p:spPr>
          <a:xfrm>
            <a:off x="2089150" y="4443412"/>
            <a:ext cx="3716337" cy="2176462"/>
          </a:xfrm>
          <a:prstGeom prst="roundRect">
            <a:avLst>
              <a:gd fmla="val 16667"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479" name="Google Shape;479;p59"/>
          <p:cNvGrpSpPr/>
          <p:nvPr/>
        </p:nvGrpSpPr>
        <p:grpSpPr>
          <a:xfrm>
            <a:off x="2287587" y="4562475"/>
            <a:ext cx="917575" cy="996950"/>
            <a:chOff x="1341" y="2874"/>
            <a:chExt cx="578" cy="628"/>
          </a:xfrm>
        </p:grpSpPr>
        <p:sp>
          <p:nvSpPr>
            <p:cNvPr id="480" name="Google Shape;480;p59"/>
            <p:cNvSpPr/>
            <p:nvPr/>
          </p:nvSpPr>
          <p:spPr>
            <a:xfrm>
              <a:off x="1380" y="3054"/>
              <a:ext cx="539" cy="448"/>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 name="Google Shape;481;p59"/>
            <p:cNvSpPr txBox="1"/>
            <p:nvPr/>
          </p:nvSpPr>
          <p:spPr>
            <a:xfrm>
              <a:off x="1354" y="3037"/>
              <a:ext cx="312"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25</a:t>
              </a:r>
              <a:endParaRPr/>
            </a:p>
          </p:txBody>
        </p:sp>
        <p:sp>
          <p:nvSpPr>
            <p:cNvPr id="482" name="Google Shape;482;p59"/>
            <p:cNvSpPr txBox="1"/>
            <p:nvPr/>
          </p:nvSpPr>
          <p:spPr>
            <a:xfrm>
              <a:off x="1341" y="2874"/>
              <a:ext cx="272"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P1</a:t>
              </a:r>
              <a:endParaRPr/>
            </a:p>
          </p:txBody>
        </p:sp>
      </p:grpSp>
      <p:sp>
        <p:nvSpPr>
          <p:cNvPr id="483" name="Google Shape;483;p59"/>
          <p:cNvSpPr/>
          <p:nvPr/>
        </p:nvSpPr>
        <p:spPr>
          <a:xfrm>
            <a:off x="3519487" y="4841875"/>
            <a:ext cx="855662" cy="7112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4" name="Google Shape;484;p59"/>
          <p:cNvSpPr txBox="1"/>
          <p:nvPr/>
        </p:nvSpPr>
        <p:spPr>
          <a:xfrm>
            <a:off x="3463925" y="4800600"/>
            <a:ext cx="4953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16</a:t>
            </a:r>
            <a:endParaRPr/>
          </a:p>
        </p:txBody>
      </p:sp>
      <p:sp>
        <p:nvSpPr>
          <p:cNvPr id="485" name="Google Shape;485;p59"/>
          <p:cNvSpPr txBox="1"/>
          <p:nvPr/>
        </p:nvSpPr>
        <p:spPr>
          <a:xfrm>
            <a:off x="3424237" y="4541837"/>
            <a:ext cx="4318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P6</a:t>
            </a:r>
            <a:endParaRPr/>
          </a:p>
        </p:txBody>
      </p:sp>
      <p:sp>
        <p:nvSpPr>
          <p:cNvPr id="486" name="Google Shape;486;p59"/>
          <p:cNvSpPr/>
          <p:nvPr/>
        </p:nvSpPr>
        <p:spPr>
          <a:xfrm>
            <a:off x="4811712" y="4841875"/>
            <a:ext cx="855662" cy="7112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 name="Google Shape;487;p59"/>
          <p:cNvSpPr txBox="1"/>
          <p:nvPr/>
        </p:nvSpPr>
        <p:spPr>
          <a:xfrm>
            <a:off x="4756150" y="4800600"/>
            <a:ext cx="4953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19</a:t>
            </a:r>
            <a:endParaRPr/>
          </a:p>
        </p:txBody>
      </p:sp>
      <p:sp>
        <p:nvSpPr>
          <p:cNvPr id="488" name="Google Shape;488;p59"/>
          <p:cNvSpPr txBox="1"/>
          <p:nvPr/>
        </p:nvSpPr>
        <p:spPr>
          <a:xfrm>
            <a:off x="4745037" y="4556125"/>
            <a:ext cx="5445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P23</a:t>
            </a:r>
            <a:endParaRPr/>
          </a:p>
        </p:txBody>
      </p:sp>
      <p:sp>
        <p:nvSpPr>
          <p:cNvPr id="489" name="Google Shape;489;p59"/>
          <p:cNvSpPr txBox="1"/>
          <p:nvPr/>
        </p:nvSpPr>
        <p:spPr>
          <a:xfrm>
            <a:off x="6829425" y="6056312"/>
            <a:ext cx="163353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DirtyPage Table</a:t>
            </a:r>
            <a:endParaRPr/>
          </a:p>
        </p:txBody>
      </p:sp>
      <p:grpSp>
        <p:nvGrpSpPr>
          <p:cNvPr id="490" name="Google Shape;490;p59"/>
          <p:cNvGrpSpPr/>
          <p:nvPr/>
        </p:nvGrpSpPr>
        <p:grpSpPr>
          <a:xfrm>
            <a:off x="2266950" y="5561012"/>
            <a:ext cx="917575" cy="996950"/>
            <a:chOff x="1341" y="2874"/>
            <a:chExt cx="578" cy="628"/>
          </a:xfrm>
        </p:grpSpPr>
        <p:sp>
          <p:nvSpPr>
            <p:cNvPr id="491" name="Google Shape;491;p59"/>
            <p:cNvSpPr/>
            <p:nvPr/>
          </p:nvSpPr>
          <p:spPr>
            <a:xfrm>
              <a:off x="1380" y="3054"/>
              <a:ext cx="539" cy="448"/>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2" name="Google Shape;492;p59"/>
            <p:cNvSpPr txBox="1"/>
            <p:nvPr/>
          </p:nvSpPr>
          <p:spPr>
            <a:xfrm>
              <a:off x="1354" y="3037"/>
              <a:ext cx="312"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Helvetica Neue"/>
                <a:buNone/>
              </a:pPr>
              <a:r>
                <a:rPr b="0" i="0" lang="en-US" sz="1600" u="none">
                  <a:solidFill>
                    <a:schemeClr val="dk2"/>
                  </a:solidFill>
                  <a:latin typeface="Helvetica Neue"/>
                  <a:ea typeface="Helvetica Neue"/>
                  <a:cs typeface="Helvetica Neue"/>
                  <a:sym typeface="Helvetica Neue"/>
                </a:rPr>
                <a:t>9</a:t>
              </a:r>
              <a:endParaRPr/>
            </a:p>
          </p:txBody>
        </p:sp>
        <p:sp>
          <p:nvSpPr>
            <p:cNvPr id="493" name="Google Shape;493;p59"/>
            <p:cNvSpPr txBox="1"/>
            <p:nvPr/>
          </p:nvSpPr>
          <p:spPr>
            <a:xfrm>
              <a:off x="1341" y="2874"/>
              <a:ext cx="343"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P15</a:t>
              </a:r>
              <a:endParaRPr/>
            </a:p>
          </p:txBody>
        </p:sp>
      </p:grpSp>
      <p:cxnSp>
        <p:nvCxnSpPr>
          <p:cNvPr id="494" name="Google Shape;494;p59"/>
          <p:cNvCxnSpPr/>
          <p:nvPr/>
        </p:nvCxnSpPr>
        <p:spPr>
          <a:xfrm>
            <a:off x="6778625" y="4978400"/>
            <a:ext cx="1698625" cy="0"/>
          </a:xfrm>
          <a:prstGeom prst="straightConnector1">
            <a:avLst/>
          </a:prstGeom>
          <a:noFill/>
          <a:ln cap="flat" cmpd="sng" w="9525">
            <a:solidFill>
              <a:schemeClr val="dk1"/>
            </a:solidFill>
            <a:prstDash val="solid"/>
            <a:miter lim="800000"/>
            <a:headEnd len="med" w="med" type="none"/>
            <a:tailEnd len="med" w="med" type="none"/>
          </a:ln>
        </p:spPr>
      </p:cxnSp>
      <p:sp>
        <p:nvSpPr>
          <p:cNvPr id="495" name="Google Shape;495;p59"/>
          <p:cNvSpPr txBox="1"/>
          <p:nvPr/>
        </p:nvSpPr>
        <p:spPr>
          <a:xfrm>
            <a:off x="4089400" y="5983287"/>
            <a:ext cx="118903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Buffer Pool</a:t>
            </a:r>
            <a:endParaRPr/>
          </a:p>
        </p:txBody>
      </p:sp>
      <p:sp>
        <p:nvSpPr>
          <p:cNvPr id="496" name="Google Shape;496;p59"/>
          <p:cNvSpPr/>
          <p:nvPr/>
        </p:nvSpPr>
        <p:spPr>
          <a:xfrm>
            <a:off x="463550" y="4519612"/>
            <a:ext cx="1016000" cy="290512"/>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 name="Google Shape;497;p59"/>
          <p:cNvSpPr/>
          <p:nvPr/>
        </p:nvSpPr>
        <p:spPr>
          <a:xfrm>
            <a:off x="458787" y="6224587"/>
            <a:ext cx="1016000" cy="290512"/>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498" name="Google Shape;498;p59"/>
          <p:cNvCxnSpPr/>
          <p:nvPr/>
        </p:nvCxnSpPr>
        <p:spPr>
          <a:xfrm>
            <a:off x="463550" y="4675187"/>
            <a:ext cx="0" cy="1712912"/>
          </a:xfrm>
          <a:prstGeom prst="straightConnector1">
            <a:avLst/>
          </a:prstGeom>
          <a:noFill/>
          <a:ln cap="flat" cmpd="sng" w="9525">
            <a:solidFill>
              <a:schemeClr val="dk1"/>
            </a:solidFill>
            <a:prstDash val="solid"/>
            <a:miter lim="800000"/>
            <a:headEnd len="med" w="med" type="none"/>
            <a:tailEnd len="med" w="med" type="none"/>
          </a:ln>
        </p:spPr>
      </p:cxnSp>
      <p:cxnSp>
        <p:nvCxnSpPr>
          <p:cNvPr id="499" name="Google Shape;499;p59"/>
          <p:cNvCxnSpPr/>
          <p:nvPr/>
        </p:nvCxnSpPr>
        <p:spPr>
          <a:xfrm>
            <a:off x="1473200" y="4668837"/>
            <a:ext cx="0" cy="1728787"/>
          </a:xfrm>
          <a:prstGeom prst="straightConnector1">
            <a:avLst/>
          </a:prstGeom>
          <a:noFill/>
          <a:ln cap="flat" cmpd="sng" w="9525">
            <a:solidFill>
              <a:schemeClr val="dk1"/>
            </a:solidFill>
            <a:prstDash val="solid"/>
            <a:miter lim="800000"/>
            <a:headEnd len="med" w="med" type="none"/>
            <a:tailEnd len="med" w="med" type="none"/>
          </a:ln>
        </p:spPr>
      </p:cxnSp>
      <p:sp>
        <p:nvSpPr>
          <p:cNvPr id="500" name="Google Shape;500;p59"/>
          <p:cNvSpPr txBox="1"/>
          <p:nvPr/>
        </p:nvSpPr>
        <p:spPr>
          <a:xfrm>
            <a:off x="565150" y="4770437"/>
            <a:ext cx="828675" cy="1511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P1   16</a:t>
            </a:r>
            <a:endParaRPr/>
          </a:p>
          <a:p>
            <a:pPr indent="0" lvl="0" marL="0" marR="0" rtl="0" algn="l">
              <a:lnSpc>
                <a:spcPct val="100000"/>
              </a:lnSpc>
              <a:spcBef>
                <a:spcPts val="0"/>
              </a:spcBef>
              <a:spcAft>
                <a:spcPts val="0"/>
              </a:spcAft>
              <a:buClr>
                <a:schemeClr val="dk1"/>
              </a:buClr>
              <a:buSzPts val="900"/>
              <a:buFont typeface="Helvetica Neue"/>
              <a:buNone/>
            </a:pPr>
            <a:r>
              <a:rPr b="0" i="0" lang="en-US" sz="9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P6   12</a:t>
            </a:r>
            <a:endParaRPr/>
          </a:p>
          <a:p>
            <a:pPr indent="0" lvl="0" marL="0" marR="0" rtl="0" algn="l">
              <a:lnSpc>
                <a:spcPct val="100000"/>
              </a:lnSpc>
              <a:spcBef>
                <a:spcPts val="0"/>
              </a:spcBef>
              <a:spcAft>
                <a:spcPts val="0"/>
              </a:spcAft>
              <a:buClr>
                <a:schemeClr val="dk1"/>
              </a:buClr>
              <a:buSzPts val="1000"/>
              <a:buFont typeface="Helvetica Neue"/>
              <a:buNone/>
            </a:pPr>
            <a:r>
              <a:rPr b="0" i="0" lang="en-US" sz="10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P15   9</a:t>
            </a:r>
            <a:endParaRPr/>
          </a:p>
          <a:p>
            <a:pPr indent="0" lvl="0" marL="0" marR="0" rtl="0" algn="l">
              <a:lnSpc>
                <a:spcPct val="100000"/>
              </a:lnSpc>
              <a:spcBef>
                <a:spcPts val="0"/>
              </a:spcBef>
              <a:spcAft>
                <a:spcPts val="0"/>
              </a:spcAft>
              <a:buClr>
                <a:schemeClr val="dk1"/>
              </a:buClr>
              <a:buSzPts val="1000"/>
              <a:buFont typeface="Helvetica Neue"/>
              <a:buNone/>
            </a:pPr>
            <a:r>
              <a:rPr b="0" i="0" lang="en-US" sz="1000" u="none">
                <a:solidFill>
                  <a:schemeClr val="dk1"/>
                </a:solidFill>
                <a:latin typeface="Helvetica Neue"/>
                <a:ea typeface="Helvetica Neue"/>
                <a:cs typeface="Helvetica Neue"/>
                <a:sym typeface="Helvetica Neue"/>
              </a:rPr>
              <a:t>..</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P23 11</a:t>
            </a:r>
            <a:endParaRPr/>
          </a:p>
        </p:txBody>
      </p:sp>
      <p:sp>
        <p:nvSpPr>
          <p:cNvPr id="501" name="Google Shape;501;p59"/>
          <p:cNvSpPr txBox="1"/>
          <p:nvPr/>
        </p:nvSpPr>
        <p:spPr>
          <a:xfrm>
            <a:off x="328612" y="3749675"/>
            <a:ext cx="1266825"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Page LSNs </a:t>
            </a:r>
            <a:endParaRPr/>
          </a:p>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on disk</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05" name="Shape 505"/>
        <p:cNvGrpSpPr/>
        <p:nvPr/>
      </p:nvGrpSpPr>
      <p:grpSpPr>
        <a:xfrm>
          <a:off x="0" y="0"/>
          <a:ext cx="0" cy="0"/>
          <a:chOff x="0" y="0"/>
          <a:chExt cx="0" cy="0"/>
        </a:xfrm>
      </p:grpSpPr>
      <p:sp>
        <p:nvSpPr>
          <p:cNvPr id="506" name="Google Shape;506;p6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Data Structures: Checkpoint Log</a:t>
            </a:r>
            <a:endParaRPr/>
          </a:p>
        </p:txBody>
      </p:sp>
      <p:sp>
        <p:nvSpPr>
          <p:cNvPr id="507" name="Google Shape;507;p60"/>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Checkpoint log record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Contains: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DirtyPageTable and list of active transactions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For each active transaction, LastLSN, the LSN of the last log record written by the transaction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Fixed position on disk notes LSN of last completed</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checkpoint log record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Dirty pages are not written out at checkpoint time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Instead, they are flushed out continuously, in the background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Checkpoint is thus very low overhead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be done frequently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11" name="Shape 511"/>
        <p:cNvGrpSpPr/>
        <p:nvPr/>
      </p:nvGrpSpPr>
      <p:grpSpPr>
        <a:xfrm>
          <a:off x="0" y="0"/>
          <a:ext cx="0" cy="0"/>
          <a:chOff x="0" y="0"/>
          <a:chExt cx="0" cy="0"/>
        </a:xfrm>
      </p:grpSpPr>
      <p:sp>
        <p:nvSpPr>
          <p:cNvPr id="512" name="Google Shape;512;p6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Recovery Algorithm</a:t>
            </a:r>
            <a:endParaRPr/>
          </a:p>
        </p:txBody>
      </p:sp>
      <p:sp>
        <p:nvSpPr>
          <p:cNvPr id="513" name="Google Shape;513;p61"/>
          <p:cNvSpPr txBox="1"/>
          <p:nvPr>
            <p:ph idx="1" type="body"/>
          </p:nvPr>
        </p:nvSpPr>
        <p:spPr>
          <a:xfrm>
            <a:off x="842962" y="1106487"/>
            <a:ext cx="7950200" cy="546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ARIES recovery involves three passes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2"/>
                </a:solidFill>
                <a:latin typeface="Helvetica Neue"/>
                <a:ea typeface="Helvetica Neue"/>
                <a:cs typeface="Helvetica Neue"/>
                <a:sym typeface="Helvetica Neue"/>
              </a:rPr>
              <a:t>Analysis pass</a:t>
            </a:r>
            <a:r>
              <a:rPr b="0" i="0" lang="en-US" sz="1800" u="none">
                <a:solidFill>
                  <a:schemeClr val="dk1"/>
                </a:solidFill>
                <a:latin typeface="Helvetica Neue"/>
                <a:ea typeface="Helvetica Neue"/>
                <a:cs typeface="Helvetica Neue"/>
                <a:sym typeface="Helvetica Neue"/>
              </a:rPr>
              <a:t>: Determines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Which transactions to undo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Which pages were dirty (disk version not up to date) at time of crash</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2"/>
                </a:solidFill>
                <a:latin typeface="Helvetica Neue"/>
                <a:ea typeface="Helvetica Neue"/>
                <a:cs typeface="Helvetica Neue"/>
                <a:sym typeface="Helvetica Neue"/>
              </a:rPr>
              <a:t>RedoLSN</a:t>
            </a:r>
            <a:r>
              <a:rPr b="0" i="0" lang="en-US" sz="1800" u="none" cap="none" strike="noStrike">
                <a:solidFill>
                  <a:schemeClr val="dk1"/>
                </a:solidFill>
                <a:latin typeface="Helvetica Neue"/>
                <a:ea typeface="Helvetica Neue"/>
                <a:cs typeface="Helvetica Neue"/>
                <a:sym typeface="Helvetica Neue"/>
              </a:rPr>
              <a:t>: LSN from which redo should start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2"/>
                </a:solidFill>
                <a:latin typeface="Helvetica Neue"/>
                <a:ea typeface="Helvetica Neue"/>
                <a:cs typeface="Helvetica Neue"/>
                <a:sym typeface="Helvetica Neue"/>
              </a:rPr>
              <a:t>Redo pass</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Repeats history, redoing all actions from RedoLSN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RecLSN and PageLSNs are used to avoid redoing actions already reflected on page </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2"/>
                </a:solidFill>
                <a:latin typeface="Helvetica Neue"/>
                <a:ea typeface="Helvetica Neue"/>
                <a:cs typeface="Helvetica Neue"/>
                <a:sym typeface="Helvetica Neue"/>
              </a:rPr>
              <a:t>Undo pass</a:t>
            </a:r>
            <a:r>
              <a:rPr b="0" i="0" lang="en-US" sz="1800" u="non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Rolls back all incomplete transactions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Transactions whose abort was complete earlier are not undone</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Key idea: no need to undo these transactions: earlier undo actions were logged, and are redone as required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17" name="Shape 517"/>
        <p:cNvGrpSpPr/>
        <p:nvPr/>
      </p:nvGrpSpPr>
      <p:grpSpPr>
        <a:xfrm>
          <a:off x="0" y="0"/>
          <a:ext cx="0" cy="0"/>
          <a:chOff x="0" y="0"/>
          <a:chExt cx="0" cy="0"/>
        </a:xfrm>
      </p:grpSpPr>
      <p:sp>
        <p:nvSpPr>
          <p:cNvPr id="518" name="Google Shape;518;p6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Recovery: 3 Passes</a:t>
            </a:r>
            <a:endParaRPr/>
          </a:p>
        </p:txBody>
      </p:sp>
      <p:sp>
        <p:nvSpPr>
          <p:cNvPr id="519" name="Google Shape;519;p62"/>
          <p:cNvSpPr txBox="1"/>
          <p:nvPr>
            <p:ph idx="1" type="body"/>
          </p:nvPr>
        </p:nvSpPr>
        <p:spPr>
          <a:xfrm>
            <a:off x="814387" y="1093787"/>
            <a:ext cx="7661275" cy="17684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Analysis, redo and undo passes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Analysis determines where redo should start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Undo has to go back till start of earliest incomplete transaction</a:t>
            </a:r>
            <a:endParaRPr/>
          </a:p>
        </p:txBody>
      </p:sp>
      <p:grpSp>
        <p:nvGrpSpPr>
          <p:cNvPr id="520" name="Google Shape;520;p62"/>
          <p:cNvGrpSpPr/>
          <p:nvPr/>
        </p:nvGrpSpPr>
        <p:grpSpPr>
          <a:xfrm>
            <a:off x="549275" y="2949575"/>
            <a:ext cx="8262937" cy="1933575"/>
            <a:chOff x="430" y="2791"/>
            <a:chExt cx="5205" cy="1218"/>
          </a:xfrm>
        </p:grpSpPr>
        <p:cxnSp>
          <p:nvCxnSpPr>
            <p:cNvPr id="521" name="Google Shape;521;p62"/>
            <p:cNvCxnSpPr/>
            <p:nvPr/>
          </p:nvCxnSpPr>
          <p:spPr>
            <a:xfrm>
              <a:off x="430" y="3355"/>
              <a:ext cx="4717" cy="0"/>
            </a:xfrm>
            <a:prstGeom prst="straightConnector1">
              <a:avLst/>
            </a:prstGeom>
            <a:noFill/>
            <a:ln cap="flat" cmpd="sng" w="63500">
              <a:solidFill>
                <a:schemeClr val="dk1"/>
              </a:solidFill>
              <a:prstDash val="solid"/>
              <a:miter lim="800000"/>
              <a:headEnd len="med" w="med" type="none"/>
              <a:tailEnd len="med" w="med" type="triangle"/>
            </a:ln>
          </p:spPr>
        </p:cxnSp>
        <p:sp>
          <p:nvSpPr>
            <p:cNvPr id="522" name="Google Shape;522;p62"/>
            <p:cNvSpPr txBox="1"/>
            <p:nvPr/>
          </p:nvSpPr>
          <p:spPr>
            <a:xfrm>
              <a:off x="3133" y="2836"/>
              <a:ext cx="1005"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Last checkpoint</a:t>
              </a:r>
              <a:endParaRPr/>
            </a:p>
          </p:txBody>
        </p:sp>
        <p:sp>
          <p:nvSpPr>
            <p:cNvPr id="523" name="Google Shape;523;p62"/>
            <p:cNvSpPr txBox="1"/>
            <p:nvPr/>
          </p:nvSpPr>
          <p:spPr>
            <a:xfrm>
              <a:off x="445" y="3440"/>
              <a:ext cx="329"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Log</a:t>
              </a:r>
              <a:endParaRPr/>
            </a:p>
          </p:txBody>
        </p:sp>
        <p:cxnSp>
          <p:nvCxnSpPr>
            <p:cNvPr id="524" name="Google Shape;524;p62"/>
            <p:cNvCxnSpPr/>
            <p:nvPr/>
          </p:nvCxnSpPr>
          <p:spPr>
            <a:xfrm>
              <a:off x="5211" y="3273"/>
              <a:ext cx="421" cy="0"/>
            </a:xfrm>
            <a:prstGeom prst="straightConnector1">
              <a:avLst/>
            </a:prstGeom>
            <a:noFill/>
            <a:ln cap="flat" cmpd="sng" w="9525">
              <a:solidFill>
                <a:schemeClr val="dk1"/>
              </a:solidFill>
              <a:prstDash val="solid"/>
              <a:miter lim="800000"/>
              <a:headEnd len="med" w="med" type="none"/>
              <a:tailEnd len="med" w="med" type="triangle"/>
            </a:ln>
          </p:spPr>
        </p:cxnSp>
        <p:sp>
          <p:nvSpPr>
            <p:cNvPr id="525" name="Google Shape;525;p62"/>
            <p:cNvSpPr txBox="1"/>
            <p:nvPr/>
          </p:nvSpPr>
          <p:spPr>
            <a:xfrm>
              <a:off x="5235" y="3002"/>
              <a:ext cx="40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Time</a:t>
              </a:r>
              <a:endParaRPr/>
            </a:p>
          </p:txBody>
        </p:sp>
        <p:cxnSp>
          <p:nvCxnSpPr>
            <p:cNvPr id="526" name="Google Shape;526;p62"/>
            <p:cNvCxnSpPr/>
            <p:nvPr/>
          </p:nvCxnSpPr>
          <p:spPr>
            <a:xfrm>
              <a:off x="3612" y="3080"/>
              <a:ext cx="0" cy="192"/>
            </a:xfrm>
            <a:prstGeom prst="straightConnector1">
              <a:avLst/>
            </a:prstGeom>
            <a:noFill/>
            <a:ln cap="flat" cmpd="sng" w="9525">
              <a:solidFill>
                <a:schemeClr val="dk1"/>
              </a:solidFill>
              <a:prstDash val="solid"/>
              <a:miter lim="800000"/>
              <a:headEnd len="med" w="med" type="none"/>
              <a:tailEnd len="med" w="med" type="triangle"/>
            </a:ln>
          </p:spPr>
        </p:cxnSp>
        <p:cxnSp>
          <p:nvCxnSpPr>
            <p:cNvPr id="527" name="Google Shape;527;p62"/>
            <p:cNvCxnSpPr/>
            <p:nvPr/>
          </p:nvCxnSpPr>
          <p:spPr>
            <a:xfrm>
              <a:off x="3620" y="3592"/>
              <a:ext cx="1518" cy="0"/>
            </a:xfrm>
            <a:prstGeom prst="straightConnector1">
              <a:avLst/>
            </a:prstGeom>
            <a:noFill/>
            <a:ln cap="flat" cmpd="sng" w="9525">
              <a:solidFill>
                <a:schemeClr val="dk1"/>
              </a:solidFill>
              <a:prstDash val="solid"/>
              <a:miter lim="800000"/>
              <a:headEnd len="med" w="med" type="none"/>
              <a:tailEnd len="lg" w="lg" type="triangle"/>
            </a:ln>
          </p:spPr>
        </p:cxnSp>
        <p:cxnSp>
          <p:nvCxnSpPr>
            <p:cNvPr id="528" name="Google Shape;528;p62"/>
            <p:cNvCxnSpPr/>
            <p:nvPr/>
          </p:nvCxnSpPr>
          <p:spPr>
            <a:xfrm>
              <a:off x="5083" y="3054"/>
              <a:ext cx="0" cy="237"/>
            </a:xfrm>
            <a:prstGeom prst="straightConnector1">
              <a:avLst/>
            </a:prstGeom>
            <a:noFill/>
            <a:ln cap="flat" cmpd="sng" w="9525">
              <a:solidFill>
                <a:schemeClr val="dk1"/>
              </a:solidFill>
              <a:prstDash val="solid"/>
              <a:miter lim="800000"/>
              <a:headEnd len="med" w="med" type="none"/>
              <a:tailEnd len="med" w="med" type="triangle"/>
            </a:ln>
          </p:spPr>
        </p:cxnSp>
        <p:sp>
          <p:nvSpPr>
            <p:cNvPr id="529" name="Google Shape;529;p62"/>
            <p:cNvSpPr txBox="1"/>
            <p:nvPr/>
          </p:nvSpPr>
          <p:spPr>
            <a:xfrm>
              <a:off x="4660" y="2791"/>
              <a:ext cx="735"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End of Log</a:t>
              </a:r>
              <a:endParaRPr/>
            </a:p>
          </p:txBody>
        </p:sp>
        <p:sp>
          <p:nvSpPr>
            <p:cNvPr id="530" name="Google Shape;530;p62"/>
            <p:cNvSpPr txBox="1"/>
            <p:nvPr/>
          </p:nvSpPr>
          <p:spPr>
            <a:xfrm>
              <a:off x="4001" y="3403"/>
              <a:ext cx="894"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Analysis pass</a:t>
              </a:r>
              <a:endParaRPr/>
            </a:p>
          </p:txBody>
        </p:sp>
        <p:cxnSp>
          <p:nvCxnSpPr>
            <p:cNvPr id="531" name="Google Shape;531;p62"/>
            <p:cNvCxnSpPr/>
            <p:nvPr/>
          </p:nvCxnSpPr>
          <p:spPr>
            <a:xfrm>
              <a:off x="2542" y="3758"/>
              <a:ext cx="2605" cy="0"/>
            </a:xfrm>
            <a:prstGeom prst="straightConnector1">
              <a:avLst/>
            </a:prstGeom>
            <a:noFill/>
            <a:ln cap="flat" cmpd="sng" w="9525">
              <a:solidFill>
                <a:schemeClr val="dk1"/>
              </a:solidFill>
              <a:prstDash val="solid"/>
              <a:miter lim="800000"/>
              <a:headEnd len="med" w="med" type="none"/>
              <a:tailEnd len="lg" w="lg" type="triangle"/>
            </a:ln>
          </p:spPr>
        </p:cxnSp>
        <p:sp>
          <p:nvSpPr>
            <p:cNvPr id="532" name="Google Shape;532;p62"/>
            <p:cNvSpPr txBox="1"/>
            <p:nvPr/>
          </p:nvSpPr>
          <p:spPr>
            <a:xfrm>
              <a:off x="2639" y="3513"/>
              <a:ext cx="72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Redo pass</a:t>
              </a:r>
              <a:endParaRPr/>
            </a:p>
          </p:txBody>
        </p:sp>
        <p:cxnSp>
          <p:nvCxnSpPr>
            <p:cNvPr id="533" name="Google Shape;533;p62"/>
            <p:cNvCxnSpPr/>
            <p:nvPr/>
          </p:nvCxnSpPr>
          <p:spPr>
            <a:xfrm rot="10800000">
              <a:off x="2999" y="3977"/>
              <a:ext cx="2112" cy="0"/>
            </a:xfrm>
            <a:prstGeom prst="straightConnector1">
              <a:avLst/>
            </a:prstGeom>
            <a:noFill/>
            <a:ln cap="flat" cmpd="sng" w="9525">
              <a:solidFill>
                <a:schemeClr val="dk1"/>
              </a:solidFill>
              <a:prstDash val="solid"/>
              <a:miter lim="800000"/>
              <a:headEnd len="med" w="med" type="none"/>
              <a:tailEnd len="lg" w="lg" type="triangle"/>
            </a:ln>
          </p:spPr>
        </p:cxnSp>
        <p:sp>
          <p:nvSpPr>
            <p:cNvPr id="534" name="Google Shape;534;p62"/>
            <p:cNvSpPr txBox="1"/>
            <p:nvPr/>
          </p:nvSpPr>
          <p:spPr>
            <a:xfrm>
              <a:off x="3599" y="3797"/>
              <a:ext cx="72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Helvetica Neue"/>
                <a:buNone/>
              </a:pPr>
              <a:r>
                <a:rPr b="0" i="0" lang="en-US" sz="1600" u="none">
                  <a:solidFill>
                    <a:schemeClr val="dk1"/>
                  </a:solidFill>
                  <a:latin typeface="Helvetica Neue"/>
                  <a:ea typeface="Helvetica Neue"/>
                  <a:cs typeface="Helvetica Neue"/>
                  <a:sym typeface="Helvetica Neue"/>
                </a:rPr>
                <a:t>Undo pass</a:t>
              </a:r>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38" name="Shape 538"/>
        <p:cNvGrpSpPr/>
        <p:nvPr/>
      </p:nvGrpSpPr>
      <p:grpSpPr>
        <a:xfrm>
          <a:off x="0" y="0"/>
          <a:ext cx="0" cy="0"/>
          <a:chOff x="0" y="0"/>
          <a:chExt cx="0" cy="0"/>
        </a:xfrm>
      </p:grpSpPr>
      <p:sp>
        <p:nvSpPr>
          <p:cNvPr id="539" name="Google Shape;539;p6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Recovery: Analysis</a:t>
            </a:r>
            <a:endParaRPr/>
          </a:p>
        </p:txBody>
      </p:sp>
      <p:sp>
        <p:nvSpPr>
          <p:cNvPr id="540" name="Google Shape;540;p63"/>
          <p:cNvSpPr txBox="1"/>
          <p:nvPr>
            <p:ph idx="1" type="body"/>
          </p:nvPr>
        </p:nvSpPr>
        <p:spPr>
          <a:xfrm>
            <a:off x="682625" y="1195387"/>
            <a:ext cx="7661275" cy="4629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Analysis pass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Starts from last complete checkpoint log record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Reads DirtyPageTable from log record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Sets RedoLSN = min of RecLSNs of all pages in DirtyPageTable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In case no pages are dirty, RedoLSN = checkpoint record’s LSN</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Sets undo-list = list of transactions in checkpoint log record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Reads LSN of last log record for each transaction in undo-list from checkpoint log record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Scans forward from checkpoint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 Cont. on next page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44" name="Shape 544"/>
        <p:cNvGrpSpPr/>
        <p:nvPr/>
      </p:nvGrpSpPr>
      <p:grpSpPr>
        <a:xfrm>
          <a:off x="0" y="0"/>
          <a:ext cx="0" cy="0"/>
          <a:chOff x="0" y="0"/>
          <a:chExt cx="0" cy="0"/>
        </a:xfrm>
      </p:grpSpPr>
      <p:sp>
        <p:nvSpPr>
          <p:cNvPr id="545" name="Google Shape;545;p6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Recovery: Analysis (Cont.)</a:t>
            </a:r>
            <a:endParaRPr/>
          </a:p>
        </p:txBody>
      </p:sp>
      <p:sp>
        <p:nvSpPr>
          <p:cNvPr id="546" name="Google Shape;546;p64"/>
          <p:cNvSpPr txBox="1"/>
          <p:nvPr>
            <p:ph idx="1" type="body"/>
          </p:nvPr>
        </p:nvSpPr>
        <p:spPr>
          <a:xfrm>
            <a:off x="842962" y="1106487"/>
            <a:ext cx="8032750" cy="5351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Analysis pass (cont.)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Scans forward from checkpoint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any log record found for transaction not in undo-list, adds transaction to undo-list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Whenever an update log record is found</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If page is not in DirtyPageTable, it is added with RecLSN set to LSN of the update log record</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transaction end log record found, delete transaction from undo-list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Keeps track of last log record for each transaction in undo-list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May be needed for later undo</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At end of analysis pass: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RedoLSN determines where to start redo pass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RecLSN for each page in DirtyPageTable used to minimize redo work</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 transactions in undo-list need to be rolled back</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50" name="Shape 550"/>
        <p:cNvGrpSpPr/>
        <p:nvPr/>
      </p:nvGrpSpPr>
      <p:grpSpPr>
        <a:xfrm>
          <a:off x="0" y="0"/>
          <a:ext cx="0" cy="0"/>
          <a:chOff x="0" y="0"/>
          <a:chExt cx="0" cy="0"/>
        </a:xfrm>
      </p:grpSpPr>
      <p:sp>
        <p:nvSpPr>
          <p:cNvPr id="551" name="Google Shape;551;p6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Redo Pass</a:t>
            </a:r>
            <a:endParaRPr/>
          </a:p>
        </p:txBody>
      </p:sp>
      <p:sp>
        <p:nvSpPr>
          <p:cNvPr id="552" name="Google Shape;552;p65"/>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Redo Pass</a:t>
            </a:r>
            <a:r>
              <a:rPr b="0" i="0" lang="en-US" sz="1800" u="none">
                <a:solidFill>
                  <a:schemeClr val="dk1"/>
                </a:solidFill>
                <a:latin typeface="Helvetica Neue"/>
                <a:ea typeface="Helvetica Neue"/>
                <a:cs typeface="Helvetica Neue"/>
                <a:sym typeface="Helvetica Neue"/>
              </a:rPr>
              <a:t>: Repeats history by replaying every action not already reflected in the page on disk, as follows: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Scans forward from RedoLSN.  Whenever an update log record is found:</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If the page is not in DirtyPageTable or the LSN of the log record is less than the RecLSN of the page in DirtyPageTable, then skip the log record</a:t>
            </a:r>
            <a:endParaRPr/>
          </a:p>
          <a:p>
            <a:pPr indent="-285750" lvl="1" marL="742950" marR="0" rtl="0" algn="l">
              <a:lnSpc>
                <a:spcPct val="100000"/>
              </a:lnSpc>
              <a:spcBef>
                <a:spcPts val="630"/>
              </a:spcBef>
              <a:spcAft>
                <a:spcPts val="0"/>
              </a:spcAft>
              <a:buClr>
                <a:schemeClr val="hlink"/>
              </a:buClr>
              <a:buSzPts val="1440"/>
              <a:buFont typeface="Arial"/>
              <a:buAutoNum type="arabicPeriod"/>
            </a:pPr>
            <a:r>
              <a:rPr b="0" i="0" lang="en-US" sz="1800" u="none" cap="none" strike="noStrike">
                <a:solidFill>
                  <a:schemeClr val="dk1"/>
                </a:solidFill>
                <a:latin typeface="Helvetica Neue"/>
                <a:ea typeface="Helvetica Neue"/>
                <a:cs typeface="Helvetica Neue"/>
                <a:sym typeface="Helvetica Neue"/>
              </a:rPr>
              <a:t>Otherwise fetch the page from disk.  If the PageLSN of the page fetched from disk is less than the LSN of the log record, redo the log record</a:t>
            </a:r>
            <a:endParaRPr/>
          </a:p>
          <a:p>
            <a:pPr indent="-285750" lvl="1" marL="742950" marR="0" rtl="0" algn="l">
              <a:lnSpc>
                <a:spcPct val="100000"/>
              </a:lnSpc>
              <a:spcBef>
                <a:spcPts val="630"/>
              </a:spcBef>
              <a:spcAft>
                <a:spcPts val="0"/>
              </a:spcAft>
              <a:buClr>
                <a:schemeClr val="hlink"/>
              </a:buClr>
              <a:buSzPts val="1440"/>
              <a:buFont typeface="Arial"/>
              <a:buNone/>
            </a:pPr>
            <a:r>
              <a:rPr b="0" i="0" lang="en-US" sz="1800" u="none" cap="none" strike="noStrike">
                <a:solidFill>
                  <a:schemeClr val="dk1"/>
                </a:solidFill>
                <a:latin typeface="Helvetica Neue"/>
                <a:ea typeface="Helvetica Neue"/>
                <a:cs typeface="Helvetica Neue"/>
                <a:sym typeface="Helvetica Neue"/>
              </a:rPr>
              <a:t>NOTE: if either test is negative the effects of the log record have already appeared on the page.  First test avoids even fetching the page from disk!</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56" name="Shape 556"/>
        <p:cNvGrpSpPr/>
        <p:nvPr/>
      </p:nvGrpSpPr>
      <p:grpSpPr>
        <a:xfrm>
          <a:off x="0" y="0"/>
          <a:ext cx="0" cy="0"/>
          <a:chOff x="0" y="0"/>
          <a:chExt cx="0" cy="0"/>
        </a:xfrm>
      </p:grpSpPr>
      <p:sp>
        <p:nvSpPr>
          <p:cNvPr id="557" name="Google Shape;557;p6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Undo Actions</a:t>
            </a:r>
            <a:endParaRPr/>
          </a:p>
        </p:txBody>
      </p:sp>
      <p:sp>
        <p:nvSpPr>
          <p:cNvPr id="558" name="Google Shape;558;p66"/>
          <p:cNvSpPr txBox="1"/>
          <p:nvPr>
            <p:ph idx="1" type="body"/>
          </p:nvPr>
        </p:nvSpPr>
        <p:spPr>
          <a:xfrm>
            <a:off x="842962" y="1106487"/>
            <a:ext cx="8301037" cy="3000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 an undo is performed for an update log record</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Generate a CLR containing the undo action performed (actions performed during undo are logged physicaly or physiologically).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CLR for   record </a:t>
            </a:r>
            <a:r>
              <a:rPr b="0" i="1" lang="en-US" sz="1800" u="none" cap="none" strike="noStrike">
                <a:solidFill>
                  <a:schemeClr val="dk1"/>
                </a:solidFill>
                <a:latin typeface="Helvetica Neue"/>
                <a:ea typeface="Helvetica Neue"/>
                <a:cs typeface="Helvetica Neue"/>
                <a:sym typeface="Helvetica Neue"/>
              </a:rPr>
              <a:t>n</a:t>
            </a:r>
            <a:r>
              <a:rPr b="0" i="0" lang="en-US" sz="1800" u="none" cap="none" strike="noStrike">
                <a:solidFill>
                  <a:schemeClr val="dk1"/>
                </a:solidFill>
                <a:latin typeface="Helvetica Neue"/>
                <a:ea typeface="Helvetica Neue"/>
                <a:cs typeface="Helvetica Neue"/>
                <a:sym typeface="Helvetica Neue"/>
              </a:rPr>
              <a:t> noted as </a:t>
            </a:r>
            <a:r>
              <a:rPr b="0" i="1" lang="en-US" sz="1800" u="none" cap="none" strike="noStrike">
                <a:solidFill>
                  <a:schemeClr val="dk1"/>
                </a:solidFill>
                <a:latin typeface="Helvetica Neue"/>
                <a:ea typeface="Helvetica Neue"/>
                <a:cs typeface="Helvetica Neue"/>
                <a:sym typeface="Helvetica Neue"/>
              </a:rPr>
              <a:t>n</a:t>
            </a:r>
            <a:r>
              <a:rPr b="0" i="0" lang="en-US" sz="1800" u="none" cap="none" strike="noStrike">
                <a:solidFill>
                  <a:schemeClr val="dk1"/>
                </a:solidFill>
                <a:latin typeface="Helvetica Neue"/>
                <a:ea typeface="Helvetica Neue"/>
                <a:cs typeface="Helvetica Neue"/>
                <a:sym typeface="Helvetica Neue"/>
              </a:rPr>
              <a:t>’ in figure below</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 UndoNextLSN of the CLR to the PrevLSN value of the update log record</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Arrows indicate UndoNextLSN value</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ARIES supports partial rollback</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Used e.g. to handle deadlocks by rolling back just enough to release reqd. locks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Figure indicates forward actions after partial rollbacks </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records 3 and 4 initially, later 5 and 6, then full rollback</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grpSp>
        <p:nvGrpSpPr>
          <p:cNvPr id="559" name="Google Shape;559;p66"/>
          <p:cNvGrpSpPr/>
          <p:nvPr/>
        </p:nvGrpSpPr>
        <p:grpSpPr>
          <a:xfrm>
            <a:off x="588962" y="4933950"/>
            <a:ext cx="8555037" cy="685800"/>
            <a:chOff x="182" y="2263"/>
            <a:chExt cx="5389" cy="432"/>
          </a:xfrm>
        </p:grpSpPr>
        <p:cxnSp>
          <p:nvCxnSpPr>
            <p:cNvPr id="560" name="Google Shape;560;p66"/>
            <p:cNvCxnSpPr/>
            <p:nvPr/>
          </p:nvCxnSpPr>
          <p:spPr>
            <a:xfrm>
              <a:off x="184" y="2580"/>
              <a:ext cx="5387" cy="1"/>
            </a:xfrm>
            <a:prstGeom prst="straightConnector1">
              <a:avLst/>
            </a:prstGeom>
            <a:noFill/>
            <a:ln cap="flat" cmpd="sng" w="9525">
              <a:solidFill>
                <a:srgbClr val="000000"/>
              </a:solidFill>
              <a:prstDash val="solid"/>
              <a:miter lim="800000"/>
              <a:headEnd len="med" w="med" type="none"/>
              <a:tailEnd len="lg" w="lg" type="triangle"/>
            </a:ln>
          </p:spPr>
        </p:cxnSp>
        <p:sp>
          <p:nvSpPr>
            <p:cNvPr id="561" name="Google Shape;561;p66"/>
            <p:cNvSpPr/>
            <p:nvPr/>
          </p:nvSpPr>
          <p:spPr>
            <a:xfrm>
              <a:off x="182" y="248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 name="Google Shape;562;p66"/>
            <p:cNvSpPr/>
            <p:nvPr/>
          </p:nvSpPr>
          <p:spPr>
            <a:xfrm>
              <a:off x="644" y="247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 name="Google Shape;563;p66"/>
            <p:cNvSpPr/>
            <p:nvPr/>
          </p:nvSpPr>
          <p:spPr>
            <a:xfrm>
              <a:off x="1082" y="248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 name="Google Shape;564;p66"/>
            <p:cNvSpPr/>
            <p:nvPr/>
          </p:nvSpPr>
          <p:spPr>
            <a:xfrm>
              <a:off x="1590" y="247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 name="Google Shape;565;p66"/>
            <p:cNvSpPr/>
            <p:nvPr/>
          </p:nvSpPr>
          <p:spPr>
            <a:xfrm>
              <a:off x="2109" y="2462"/>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 name="Google Shape;566;p66"/>
            <p:cNvSpPr/>
            <p:nvPr/>
          </p:nvSpPr>
          <p:spPr>
            <a:xfrm>
              <a:off x="2593" y="247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 name="Google Shape;567;p66"/>
            <p:cNvSpPr/>
            <p:nvPr/>
          </p:nvSpPr>
          <p:spPr>
            <a:xfrm>
              <a:off x="2986" y="2474"/>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 name="Google Shape;568;p66"/>
            <p:cNvSpPr txBox="1"/>
            <p:nvPr/>
          </p:nvSpPr>
          <p:spPr>
            <a:xfrm>
              <a:off x="189"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a:t>
              </a:r>
              <a:endParaRPr/>
            </a:p>
          </p:txBody>
        </p:sp>
        <p:sp>
          <p:nvSpPr>
            <p:cNvPr id="569" name="Google Shape;569;p66"/>
            <p:cNvSpPr txBox="1"/>
            <p:nvPr/>
          </p:nvSpPr>
          <p:spPr>
            <a:xfrm>
              <a:off x="616"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sp>
          <p:nvSpPr>
            <p:cNvPr id="570" name="Google Shape;570;p66"/>
            <p:cNvSpPr txBox="1"/>
            <p:nvPr/>
          </p:nvSpPr>
          <p:spPr>
            <a:xfrm>
              <a:off x="1043"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sp>
          <p:nvSpPr>
            <p:cNvPr id="571" name="Google Shape;571;p66"/>
            <p:cNvSpPr txBox="1"/>
            <p:nvPr/>
          </p:nvSpPr>
          <p:spPr>
            <a:xfrm>
              <a:off x="1539"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sp>
          <p:nvSpPr>
            <p:cNvPr id="572" name="Google Shape;572;p66"/>
            <p:cNvSpPr txBox="1"/>
            <p:nvPr/>
          </p:nvSpPr>
          <p:spPr>
            <a:xfrm>
              <a:off x="1958" y="232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sp>
          <p:nvSpPr>
            <p:cNvPr id="573" name="Google Shape;573;p66"/>
            <p:cNvSpPr txBox="1"/>
            <p:nvPr/>
          </p:nvSpPr>
          <p:spPr>
            <a:xfrm>
              <a:off x="2478" y="2265"/>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sp>
          <p:nvSpPr>
            <p:cNvPr id="574" name="Google Shape;574;p66"/>
            <p:cNvSpPr txBox="1"/>
            <p:nvPr/>
          </p:nvSpPr>
          <p:spPr>
            <a:xfrm>
              <a:off x="2993" y="2300"/>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sp>
          <p:nvSpPr>
            <p:cNvPr id="575" name="Google Shape;575;p66"/>
            <p:cNvSpPr txBox="1"/>
            <p:nvPr/>
          </p:nvSpPr>
          <p:spPr>
            <a:xfrm>
              <a:off x="3397" y="2323"/>
              <a:ext cx="90"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6</a:t>
              </a:r>
              <a:endParaRPr/>
            </a:p>
          </p:txBody>
        </p:sp>
        <p:sp>
          <p:nvSpPr>
            <p:cNvPr id="576" name="Google Shape;576;p66"/>
            <p:cNvSpPr txBox="1"/>
            <p:nvPr/>
          </p:nvSpPr>
          <p:spPr>
            <a:xfrm>
              <a:off x="4324" y="232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sp>
          <p:nvSpPr>
            <p:cNvPr id="577" name="Google Shape;577;p66"/>
            <p:cNvSpPr txBox="1"/>
            <p:nvPr/>
          </p:nvSpPr>
          <p:spPr>
            <a:xfrm>
              <a:off x="4589" y="2369"/>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sp>
          <p:nvSpPr>
            <p:cNvPr id="578" name="Google Shape;578;p66"/>
            <p:cNvSpPr txBox="1"/>
            <p:nvPr/>
          </p:nvSpPr>
          <p:spPr>
            <a:xfrm>
              <a:off x="5085" y="2334"/>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a:t>
              </a:r>
              <a:endParaRPr/>
            </a:p>
          </p:txBody>
        </p:sp>
        <p:sp>
          <p:nvSpPr>
            <p:cNvPr id="579" name="Google Shape;579;p66"/>
            <p:cNvSpPr/>
            <p:nvPr/>
          </p:nvSpPr>
          <p:spPr>
            <a:xfrm>
              <a:off x="3424" y="248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0" name="Google Shape;580;p66"/>
            <p:cNvSpPr/>
            <p:nvPr/>
          </p:nvSpPr>
          <p:spPr>
            <a:xfrm>
              <a:off x="3926" y="2486"/>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1" name="Google Shape;581;p66"/>
            <p:cNvSpPr/>
            <p:nvPr/>
          </p:nvSpPr>
          <p:spPr>
            <a:xfrm>
              <a:off x="4293" y="2473"/>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 name="Google Shape;582;p66"/>
            <p:cNvSpPr/>
            <p:nvPr/>
          </p:nvSpPr>
          <p:spPr>
            <a:xfrm>
              <a:off x="4685" y="2473"/>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 name="Google Shape;583;p66"/>
            <p:cNvSpPr/>
            <p:nvPr/>
          </p:nvSpPr>
          <p:spPr>
            <a:xfrm>
              <a:off x="5163" y="2473"/>
              <a:ext cx="150" cy="209"/>
            </a:xfrm>
            <a:prstGeom prst="ellipse">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66"/>
            <p:cNvSpPr txBox="1"/>
            <p:nvPr/>
          </p:nvSpPr>
          <p:spPr>
            <a:xfrm>
              <a:off x="3827" y="2263"/>
              <a:ext cx="149" cy="231"/>
            </a:xfrm>
            <a:prstGeom prst="rect">
              <a:avLst/>
            </a:prstGeom>
            <a:noFill/>
            <a:ln>
              <a:noFill/>
            </a:ln>
          </p:spPr>
          <p:txBody>
            <a:bodyPr anchorCtr="1" anchor="t" bIns="0" lIns="0" spcFirstLastPara="1" rIns="0" wrap="square" tIns="0">
              <a:noAutofit/>
            </a:bodyPr>
            <a:lstStyle/>
            <a:p>
              <a:pPr indent="0" lvl="0" marL="0" marR="0" rtl="0" algn="l">
                <a:lnSpc>
                  <a:spcPct val="85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6'</a:t>
              </a:r>
              <a:endParaRPr/>
            </a:p>
          </p:txBody>
        </p:sp>
        <p:cxnSp>
          <p:nvCxnSpPr>
            <p:cNvPr id="585" name="Google Shape;585;p66"/>
            <p:cNvCxnSpPr/>
            <p:nvPr/>
          </p:nvCxnSpPr>
          <p:spPr>
            <a:xfrm rot="5400000">
              <a:off x="2502" y="437"/>
              <a:ext cx="13" cy="4503"/>
            </a:xfrm>
            <a:prstGeom prst="curvedConnector3">
              <a:avLst>
                <a:gd fmla="val -27117151" name="adj1"/>
              </a:avLst>
            </a:prstGeom>
            <a:noFill/>
            <a:ln cap="flat" cmpd="sng" w="9525">
              <a:solidFill>
                <a:schemeClr val="dk1"/>
              </a:solidFill>
              <a:prstDash val="solid"/>
              <a:miter lim="800000"/>
              <a:headEnd len="med" w="med" type="none"/>
              <a:tailEnd len="med" w="med" type="triangle"/>
            </a:ln>
          </p:spPr>
        </p:cxnSp>
        <p:cxnSp>
          <p:nvCxnSpPr>
            <p:cNvPr id="586" name="Google Shape;586;p66"/>
            <p:cNvCxnSpPr/>
            <p:nvPr/>
          </p:nvCxnSpPr>
          <p:spPr>
            <a:xfrm flipH="1" rot="5400000">
              <a:off x="3536" y="2230"/>
              <a:ext cx="43" cy="887"/>
            </a:xfrm>
            <a:prstGeom prst="curvedConnector3">
              <a:avLst>
                <a:gd fmla="val 8228565" name="adj1"/>
              </a:avLst>
            </a:prstGeom>
            <a:noFill/>
            <a:ln cap="flat" cmpd="sng" w="9525">
              <a:solidFill>
                <a:schemeClr val="dk1"/>
              </a:solidFill>
              <a:prstDash val="solid"/>
              <a:miter lim="800000"/>
              <a:headEnd len="med" w="med" type="none"/>
              <a:tailEnd len="med" w="med" type="triangle"/>
            </a:ln>
          </p:spPr>
        </p:cxnSp>
        <p:cxnSp>
          <p:nvCxnSpPr>
            <p:cNvPr id="587" name="Google Shape;587;p66"/>
            <p:cNvCxnSpPr/>
            <p:nvPr/>
          </p:nvCxnSpPr>
          <p:spPr>
            <a:xfrm flipH="1" rot="5400000">
              <a:off x="3529" y="1843"/>
              <a:ext cx="30" cy="1647"/>
            </a:xfrm>
            <a:prstGeom prst="curvedConnector3">
              <a:avLst>
                <a:gd fmla="val 11749221" name="adj1"/>
              </a:avLst>
            </a:prstGeom>
            <a:noFill/>
            <a:ln cap="flat" cmpd="sng" w="9525">
              <a:solidFill>
                <a:schemeClr val="dk1"/>
              </a:solidFill>
              <a:prstDash val="solid"/>
              <a:miter lim="800000"/>
              <a:headEnd len="med" w="med" type="none"/>
              <a:tailEnd len="med" w="med" type="triangle"/>
            </a:ln>
          </p:spPr>
        </p:cxnSp>
        <p:cxnSp>
          <p:nvCxnSpPr>
            <p:cNvPr id="588" name="Google Shape;588;p66"/>
            <p:cNvCxnSpPr/>
            <p:nvPr/>
          </p:nvCxnSpPr>
          <p:spPr>
            <a:xfrm rot="5400000">
              <a:off x="1693" y="1709"/>
              <a:ext cx="1" cy="1949"/>
            </a:xfrm>
            <a:prstGeom prst="curvedConnector3">
              <a:avLst>
                <a:gd fmla="val -352626352" name="adj1"/>
              </a:avLst>
            </a:prstGeom>
            <a:noFill/>
            <a:ln cap="flat" cmpd="sng" w="9525">
              <a:solidFill>
                <a:schemeClr val="dk1"/>
              </a:solidFill>
              <a:prstDash val="solid"/>
              <a:miter lim="800000"/>
              <a:headEnd len="med" w="med" type="none"/>
              <a:tailEnd len="med" w="med" type="triangle"/>
            </a:ln>
          </p:spPr>
        </p:cxnSp>
        <p:cxnSp>
          <p:nvCxnSpPr>
            <p:cNvPr id="589" name="Google Shape;589;p66"/>
            <p:cNvCxnSpPr/>
            <p:nvPr/>
          </p:nvCxnSpPr>
          <p:spPr>
            <a:xfrm rot="5400000">
              <a:off x="1658" y="2169"/>
              <a:ext cx="24" cy="1027"/>
            </a:xfrm>
            <a:prstGeom prst="curvedConnector3">
              <a:avLst>
                <a:gd fmla="val -14640812" name="adj1"/>
              </a:avLst>
            </a:prstGeom>
            <a:noFill/>
            <a:ln cap="flat" cmpd="sng" w="9525">
              <a:solidFill>
                <a:schemeClr val="dk1"/>
              </a:solidFill>
              <a:prstDash val="solid"/>
              <a:miter lim="800000"/>
              <a:headEnd len="med" w="med" type="none"/>
              <a:tailEnd len="med" w="med" type="triangle"/>
            </a:ln>
          </p:spPr>
        </p:cxn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93" name="Shape 593"/>
        <p:cNvGrpSpPr/>
        <p:nvPr/>
      </p:nvGrpSpPr>
      <p:grpSpPr>
        <a:xfrm>
          <a:off x="0" y="0"/>
          <a:ext cx="0" cy="0"/>
          <a:chOff x="0" y="0"/>
          <a:chExt cx="0" cy="0"/>
        </a:xfrm>
      </p:grpSpPr>
      <p:sp>
        <p:nvSpPr>
          <p:cNvPr id="594" name="Google Shape;594;p6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ARIES: Undo Pass</a:t>
            </a:r>
            <a:endParaRPr/>
          </a:p>
        </p:txBody>
      </p:sp>
      <p:sp>
        <p:nvSpPr>
          <p:cNvPr id="595" name="Google Shape;595;p67"/>
          <p:cNvSpPr txBox="1"/>
          <p:nvPr>
            <p:ph idx="1" type="body"/>
          </p:nvPr>
        </p:nvSpPr>
        <p:spPr>
          <a:xfrm>
            <a:off x="842962" y="1106487"/>
            <a:ext cx="8185150" cy="52689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None/>
            </a:pPr>
            <a:r>
              <a:rPr b="1" i="0" lang="en-US" sz="1800" u="none">
                <a:solidFill>
                  <a:schemeClr val="dk1"/>
                </a:solidFill>
                <a:latin typeface="Helvetica Neue"/>
                <a:ea typeface="Helvetica Neue"/>
                <a:cs typeface="Helvetica Neue"/>
                <a:sym typeface="Helvetica Neue"/>
              </a:rPr>
              <a:t>Undo pass</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Performs backward scan on log undoing all transaction in undo-list</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Backward scan optimized by skipping unneeded log records as follows: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Next LSN to be undone for each transaction set to LSN of last log record for transaction found by analysis pass.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At each step pick largest of these LSNs to undo, skip back to it and undo it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After undoing a log record</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For ordinary log records, set next LSN to be undone for transaction to PrevLSN noted in the log record</a:t>
            </a:r>
            <a:endParaRPr/>
          </a:p>
          <a:p>
            <a:pPr indent="-228600" lvl="3" marL="1428750" marR="0" rtl="0" algn="l">
              <a:lnSpc>
                <a:spcPct val="10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For compensation log records (CLRs) set next LSN to be undo to UndoNextLSN noted in the log record</a:t>
            </a:r>
            <a:endParaRPr/>
          </a:p>
          <a:p>
            <a:pPr indent="-228600" lvl="4" marL="1771650" marR="0" rtl="0" algn="l">
              <a:lnSpc>
                <a:spcPct val="100000"/>
              </a:lnSpc>
              <a:spcBef>
                <a:spcPts val="630"/>
              </a:spcBef>
              <a:spcAft>
                <a:spcPts val="0"/>
              </a:spcAft>
              <a:buClr>
                <a:schemeClr val="dk2"/>
              </a:buClr>
              <a:buSzPts val="1350"/>
              <a:buFont typeface="Helvetica Neue"/>
              <a:buChar char="»"/>
            </a:pPr>
            <a:r>
              <a:rPr b="0" i="0" lang="en-US" sz="1800" u="none" cap="none" strike="noStrike">
                <a:solidFill>
                  <a:schemeClr val="dk1"/>
                </a:solidFill>
                <a:latin typeface="Helvetica Neue"/>
                <a:ea typeface="Helvetica Neue"/>
                <a:cs typeface="Helvetica Neue"/>
                <a:sym typeface="Helvetica Neue"/>
              </a:rPr>
              <a:t>All intervening records are skipped since they would have been undone already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Undos performed as described earlier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599" name="Shape 599"/>
        <p:cNvGrpSpPr/>
        <p:nvPr/>
      </p:nvGrpSpPr>
      <p:grpSpPr>
        <a:xfrm>
          <a:off x="0" y="0"/>
          <a:ext cx="0" cy="0"/>
          <a:chOff x="0" y="0"/>
          <a:chExt cx="0" cy="0"/>
        </a:xfrm>
      </p:grpSpPr>
      <p:sp>
        <p:nvSpPr>
          <p:cNvPr id="600" name="Google Shape;600;p6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Other ARIES Features</a:t>
            </a:r>
            <a:endParaRPr/>
          </a:p>
        </p:txBody>
      </p:sp>
      <p:sp>
        <p:nvSpPr>
          <p:cNvPr id="601" name="Google Shape;601;p68"/>
          <p:cNvSpPr txBox="1"/>
          <p:nvPr>
            <p:ph idx="1" type="body"/>
          </p:nvPr>
        </p:nvSpPr>
        <p:spPr>
          <a:xfrm>
            <a:off x="820737" y="1106487"/>
            <a:ext cx="8323262" cy="54546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Independence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Pages can be recovered independently of others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E.g. if some disk pages fail they can be recovered from a backup while other pages are being used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Savepoints: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Transactions can record savepoints and roll back to a savepoint</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Useful for complex transactions</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Also used to rollback just enough to release locks on deadlock</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05" name="Shape 605"/>
        <p:cNvGrpSpPr/>
        <p:nvPr/>
      </p:nvGrpSpPr>
      <p:grpSpPr>
        <a:xfrm>
          <a:off x="0" y="0"/>
          <a:ext cx="0" cy="0"/>
          <a:chOff x="0" y="0"/>
          <a:chExt cx="0" cy="0"/>
        </a:xfrm>
      </p:grpSpPr>
      <p:sp>
        <p:nvSpPr>
          <p:cNvPr id="606" name="Google Shape;606;p6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Other ARIES Features (Cont.)</a:t>
            </a:r>
            <a:endParaRPr/>
          </a:p>
        </p:txBody>
      </p:sp>
      <p:sp>
        <p:nvSpPr>
          <p:cNvPr id="607" name="Google Shape;607;p69"/>
          <p:cNvSpPr txBox="1"/>
          <p:nvPr>
            <p:ph idx="1" type="body"/>
          </p:nvPr>
        </p:nvSpPr>
        <p:spPr>
          <a:xfrm>
            <a:off x="814387" y="1093787"/>
            <a:ext cx="7661275" cy="4903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Fine-grained locking:</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Index concurrency algorithms that permit tuple level locking on indices can be used</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These require logical undo, rather than physical undo, as in advanced recovery algorithm</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Recovery optimizations:  For example: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Dirty page table can be used to </a:t>
            </a:r>
            <a:r>
              <a:rPr b="0" i="0" lang="en-US" sz="1800" u="none" cap="none" strike="noStrike">
                <a:solidFill>
                  <a:schemeClr val="dk2"/>
                </a:solidFill>
                <a:latin typeface="Helvetica Neue"/>
                <a:ea typeface="Helvetica Neue"/>
                <a:cs typeface="Helvetica Neue"/>
                <a:sym typeface="Helvetica Neue"/>
              </a:rPr>
              <a:t>prefetch</a:t>
            </a:r>
            <a:r>
              <a:rPr b="0" i="0" lang="en-US" sz="1800" u="none" cap="none" strike="noStrike">
                <a:solidFill>
                  <a:schemeClr val="dk1"/>
                </a:solidFill>
                <a:latin typeface="Helvetica Neue"/>
                <a:ea typeface="Helvetica Neue"/>
                <a:cs typeface="Helvetica Neue"/>
                <a:sym typeface="Helvetica Neue"/>
              </a:rPr>
              <a:t> pages during redo</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Out of order redo is possible:</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redo can be postponed on a page being fetched from disk, and</a:t>
            </a:r>
            <a:br>
              <a:rPr b="0" i="0" lang="en-US" sz="1800" u="none" cap="none" strike="noStrike">
                <a:solidFill>
                  <a:schemeClr val="dk1"/>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 performed when page is fetched.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Meanwhile other log records can continue to be processed</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11" name="Shape 611"/>
        <p:cNvGrpSpPr/>
        <p:nvPr/>
      </p:nvGrpSpPr>
      <p:grpSpPr>
        <a:xfrm>
          <a:off x="0" y="0"/>
          <a:ext cx="0" cy="0"/>
          <a:chOff x="0" y="0"/>
          <a:chExt cx="0" cy="0"/>
        </a:xfrm>
      </p:grpSpPr>
      <p:sp>
        <p:nvSpPr>
          <p:cNvPr id="612" name="Google Shape;612;p70"/>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Remote Backup Systems</a:t>
            </a:r>
            <a:endParaRPr/>
          </a:p>
        </p:txBody>
      </p:sp>
      <p:sp>
        <p:nvSpPr>
          <p:cNvPr id="613" name="Google Shape;613;p7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240030" lvl="0" marL="342900" rtl="0" algn="l">
              <a:lnSpc>
                <a:spcPct val="100000"/>
              </a:lnSpc>
              <a:spcBef>
                <a:spcPts val="0"/>
              </a:spcBef>
              <a:spcAft>
                <a:spcPts val="0"/>
              </a:spcAft>
              <a:buSzPts val="1620"/>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17" name="Shape 617"/>
        <p:cNvGrpSpPr/>
        <p:nvPr/>
      </p:nvGrpSpPr>
      <p:grpSpPr>
        <a:xfrm>
          <a:off x="0" y="0"/>
          <a:ext cx="0" cy="0"/>
          <a:chOff x="0" y="0"/>
          <a:chExt cx="0" cy="0"/>
        </a:xfrm>
      </p:grpSpPr>
      <p:sp>
        <p:nvSpPr>
          <p:cNvPr id="618" name="Google Shape;618;p71"/>
          <p:cNvSpPr txBox="1"/>
          <p:nvPr>
            <p:ph type="title"/>
          </p:nvPr>
        </p:nvSpPr>
        <p:spPr>
          <a:xfrm>
            <a:off x="685800" y="152400"/>
            <a:ext cx="7772400" cy="5334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Remote Backup Systems</a:t>
            </a:r>
            <a:endParaRPr/>
          </a:p>
        </p:txBody>
      </p:sp>
      <p:sp>
        <p:nvSpPr>
          <p:cNvPr id="619" name="Google Shape;619;p71"/>
          <p:cNvSpPr txBox="1"/>
          <p:nvPr>
            <p:ph idx="4294967295" type="body"/>
          </p:nvPr>
        </p:nvSpPr>
        <p:spPr>
          <a:xfrm>
            <a:off x="842962" y="1106487"/>
            <a:ext cx="8534400" cy="114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Remote backup systems provide high availability by allowing transaction processing to continue even if the primary site is destroyed.</a:t>
            </a:r>
            <a:endParaRPr/>
          </a:p>
        </p:txBody>
      </p:sp>
      <p:pic>
        <p:nvPicPr>
          <p:cNvPr id="620" name="Google Shape;620;p71"/>
          <p:cNvPicPr preferRelativeResize="0"/>
          <p:nvPr/>
        </p:nvPicPr>
        <p:blipFill rotWithShape="1">
          <a:blip r:embed="rId3">
            <a:alphaModFix/>
          </a:blip>
          <a:srcRect b="29829" l="1277" r="1064" t="30112"/>
          <a:stretch/>
        </p:blipFill>
        <p:spPr>
          <a:xfrm>
            <a:off x="852487" y="2235200"/>
            <a:ext cx="7967662" cy="24511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24" name="Shape 624"/>
        <p:cNvGrpSpPr/>
        <p:nvPr/>
      </p:nvGrpSpPr>
      <p:grpSpPr>
        <a:xfrm>
          <a:off x="0" y="0"/>
          <a:ext cx="0" cy="0"/>
          <a:chOff x="0" y="0"/>
          <a:chExt cx="0" cy="0"/>
        </a:xfrm>
      </p:grpSpPr>
      <p:sp>
        <p:nvSpPr>
          <p:cNvPr id="625" name="Google Shape;625;p72"/>
          <p:cNvSpPr txBox="1"/>
          <p:nvPr>
            <p:ph type="title"/>
          </p:nvPr>
        </p:nvSpPr>
        <p:spPr>
          <a:xfrm>
            <a:off x="0" y="76200"/>
            <a:ext cx="9144000" cy="762000"/>
          </a:xfrm>
          <a:prstGeom prst="rect">
            <a:avLst/>
          </a:prstGeom>
          <a:noFill/>
          <a:ln>
            <a:noFill/>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Remote Backup Systems (Cont.)</a:t>
            </a:r>
            <a:endParaRPr/>
          </a:p>
        </p:txBody>
      </p:sp>
      <p:sp>
        <p:nvSpPr>
          <p:cNvPr id="626" name="Google Shape;626;p72"/>
          <p:cNvSpPr txBox="1"/>
          <p:nvPr>
            <p:ph idx="4294967295" type="body"/>
          </p:nvPr>
        </p:nvSpPr>
        <p:spPr>
          <a:xfrm>
            <a:off x="842962" y="1106487"/>
            <a:ext cx="7848600" cy="53705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Detection of failure</a:t>
            </a:r>
            <a:r>
              <a:rPr b="0" i="0" lang="en-US" sz="1800" u="none">
                <a:solidFill>
                  <a:schemeClr val="dk1"/>
                </a:solidFill>
                <a:latin typeface="Helvetica Neue"/>
                <a:ea typeface="Helvetica Neue"/>
                <a:cs typeface="Helvetica Neue"/>
                <a:sym typeface="Helvetica Neue"/>
              </a:rPr>
              <a:t>: Backup site must detect when primary site has failed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distinguish primary site failure from link failure maintain several communication links between the primary and the remote backup.</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Heart-beat messages</a:t>
            </a:r>
            <a:endParaRPr/>
          </a:p>
          <a:p>
            <a:pPr indent="-342900" lvl="0" marL="342900" marR="0" rtl="0" algn="l">
              <a:lnSpc>
                <a:spcPct val="100000"/>
              </a:lnSpc>
              <a:spcBef>
                <a:spcPts val="630"/>
              </a:spcBef>
              <a:spcAft>
                <a:spcPts val="0"/>
              </a:spcAft>
              <a:buClr>
                <a:schemeClr val="dk2"/>
              </a:buClr>
              <a:buSzPts val="1620"/>
              <a:buFont typeface="Arial"/>
              <a:buChar char="●"/>
            </a:pPr>
            <a:r>
              <a:rPr b="1" i="0" lang="en-US" sz="1800" u="none">
                <a:solidFill>
                  <a:schemeClr val="dk1"/>
                </a:solidFill>
                <a:latin typeface="Helvetica Neue"/>
                <a:ea typeface="Helvetica Neue"/>
                <a:cs typeface="Helvetica Neue"/>
                <a:sym typeface="Helvetica Neue"/>
              </a:rPr>
              <a:t>Transfer of control</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take over control backup site first perform recovery using its copy of the database and all the long records it has received from the primary.</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 Thus, completed transactions are redone and incomplete transactions are rolled back.</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the backup site takes over processing it becomes the new primary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transfer control back to old primary when it recovers, old primary must receive redo logs from the old backup and apply all updates locally.</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30" name="Shape 630"/>
        <p:cNvGrpSpPr/>
        <p:nvPr/>
      </p:nvGrpSpPr>
      <p:grpSpPr>
        <a:xfrm>
          <a:off x="0" y="0"/>
          <a:ext cx="0" cy="0"/>
          <a:chOff x="0" y="0"/>
          <a:chExt cx="0" cy="0"/>
        </a:xfrm>
      </p:grpSpPr>
      <p:sp>
        <p:nvSpPr>
          <p:cNvPr id="631" name="Google Shape;631;p73"/>
          <p:cNvSpPr txBox="1"/>
          <p:nvPr>
            <p:ph type="title"/>
          </p:nvPr>
        </p:nvSpPr>
        <p:spPr>
          <a:xfrm>
            <a:off x="0" y="76200"/>
            <a:ext cx="9144000" cy="5334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Remote Backup Systems (Cont.)</a:t>
            </a:r>
            <a:endParaRPr/>
          </a:p>
        </p:txBody>
      </p:sp>
      <p:sp>
        <p:nvSpPr>
          <p:cNvPr id="632" name="Google Shape;632;p73"/>
          <p:cNvSpPr txBox="1"/>
          <p:nvPr>
            <p:ph idx="4294967295" type="body"/>
          </p:nvPr>
        </p:nvSpPr>
        <p:spPr>
          <a:xfrm>
            <a:off x="842962" y="1106487"/>
            <a:ext cx="78486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CC3300"/>
              </a:buClr>
              <a:buSzPts val="1620"/>
              <a:buFont typeface="Arial"/>
              <a:buChar char="●"/>
            </a:pPr>
            <a:r>
              <a:rPr b="1" i="0" lang="en-US" sz="1800" u="none">
                <a:solidFill>
                  <a:schemeClr val="dk1"/>
                </a:solidFill>
                <a:latin typeface="Helvetica Neue"/>
                <a:ea typeface="Helvetica Neue"/>
                <a:cs typeface="Helvetica Neue"/>
                <a:sym typeface="Helvetica Neue"/>
              </a:rPr>
              <a:t>Time to recover</a:t>
            </a:r>
            <a:r>
              <a:rPr b="0" i="0" lang="en-US" sz="1800" u="none">
                <a:solidFill>
                  <a:schemeClr val="dk1"/>
                </a:solidFill>
                <a:latin typeface="Helvetica Neue"/>
                <a:ea typeface="Helvetica Neue"/>
                <a:cs typeface="Helvetica Neue"/>
                <a:sym typeface="Helvetica Neue"/>
              </a:rPr>
              <a:t>: To reduce delay in takeover, backup site periodically proceses the redo log records (in effect, performing recovery from previous database state), performs a checkpoint, and can then delete earlier parts of the log. </a:t>
            </a:r>
            <a:endParaRPr/>
          </a:p>
          <a:p>
            <a:pPr indent="-342900" lvl="0" marL="342900" marR="0" rtl="0" algn="l">
              <a:lnSpc>
                <a:spcPct val="100000"/>
              </a:lnSpc>
              <a:spcBef>
                <a:spcPts val="630"/>
              </a:spcBef>
              <a:spcAft>
                <a:spcPts val="0"/>
              </a:spcAft>
              <a:buClr>
                <a:srgbClr val="CC3300"/>
              </a:buClr>
              <a:buSzPts val="1620"/>
              <a:buFont typeface="Arial"/>
              <a:buChar char="●"/>
            </a:pPr>
            <a:r>
              <a:rPr b="1" i="0" lang="en-US" sz="1800" u="none">
                <a:solidFill>
                  <a:schemeClr val="dk2"/>
                </a:solidFill>
                <a:latin typeface="Helvetica Neue"/>
                <a:ea typeface="Helvetica Neue"/>
                <a:cs typeface="Helvetica Neue"/>
                <a:sym typeface="Helvetica Neue"/>
              </a:rPr>
              <a:t>Hot-Spare</a:t>
            </a:r>
            <a:r>
              <a:rPr b="0" i="0" lang="en-US" sz="1800" u="none">
                <a:solidFill>
                  <a:schemeClr val="dk1"/>
                </a:solidFill>
                <a:latin typeface="Helvetica Neue"/>
                <a:ea typeface="Helvetica Neue"/>
                <a:cs typeface="Helvetica Neue"/>
                <a:sym typeface="Helvetica Neue"/>
              </a:rPr>
              <a:t> configuration permits very fast takeover:</a:t>
            </a:r>
            <a:endParaRPr/>
          </a:p>
          <a:p>
            <a:pPr indent="-285750" lvl="1" marL="742950" marR="0" rtl="0" algn="l">
              <a:lnSpc>
                <a:spcPct val="100000"/>
              </a:lnSpc>
              <a:spcBef>
                <a:spcPts val="630"/>
              </a:spcBef>
              <a:spcAft>
                <a:spcPts val="0"/>
              </a:spcAft>
              <a:buClr>
                <a:schemeClr val="hlink"/>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Backup continually processes redo log record as they arrive, applying the updates locally.</a:t>
            </a:r>
            <a:endParaRPr/>
          </a:p>
          <a:p>
            <a:pPr indent="-285750" lvl="1" marL="742950" marR="0" rtl="0" algn="l">
              <a:lnSpc>
                <a:spcPct val="100000"/>
              </a:lnSpc>
              <a:spcBef>
                <a:spcPts val="630"/>
              </a:spcBef>
              <a:spcAft>
                <a:spcPts val="0"/>
              </a:spcAft>
              <a:buClr>
                <a:schemeClr val="hlink"/>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When failure of the primary is detected the backup rolls back incomplete transactions, and is ready to  process new transactions.</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Alternative to remote backup: distributed database with replicated data</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Remote backup is faster and cheaper, but less tolerant to failure </a:t>
            </a:r>
            <a:endParaRPr/>
          </a:p>
          <a:p>
            <a:pPr indent="-228600" lvl="2" marL="1085850" marR="0" rtl="0" algn="l">
              <a:lnSpc>
                <a:spcPct val="10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more on this in Chapter 19</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36" name="Shape 636"/>
        <p:cNvGrpSpPr/>
        <p:nvPr/>
      </p:nvGrpSpPr>
      <p:grpSpPr>
        <a:xfrm>
          <a:off x="0" y="0"/>
          <a:ext cx="0" cy="0"/>
          <a:chOff x="0" y="0"/>
          <a:chExt cx="0" cy="0"/>
        </a:xfrm>
      </p:grpSpPr>
      <p:sp>
        <p:nvSpPr>
          <p:cNvPr id="637" name="Google Shape;637;p74"/>
          <p:cNvSpPr txBox="1"/>
          <p:nvPr>
            <p:ph type="title"/>
          </p:nvPr>
        </p:nvSpPr>
        <p:spPr>
          <a:xfrm>
            <a:off x="0" y="0"/>
            <a:ext cx="9144000" cy="6858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Remote Backup Systems (Cont.)</a:t>
            </a:r>
            <a:endParaRPr/>
          </a:p>
        </p:txBody>
      </p:sp>
      <p:sp>
        <p:nvSpPr>
          <p:cNvPr id="638" name="Google Shape;638;p74"/>
          <p:cNvSpPr txBox="1"/>
          <p:nvPr>
            <p:ph idx="4294967295" type="body"/>
          </p:nvPr>
        </p:nvSpPr>
        <p:spPr>
          <a:xfrm>
            <a:off x="842962" y="1284287"/>
            <a:ext cx="81534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CC3300"/>
              </a:buClr>
              <a:buSzPts val="1620"/>
              <a:buFont typeface="Arial"/>
              <a:buChar char="●"/>
            </a:pPr>
            <a:r>
              <a:rPr b="0" i="0" lang="en-US" sz="1800" u="none">
                <a:solidFill>
                  <a:schemeClr val="dk1"/>
                </a:solidFill>
                <a:latin typeface="Helvetica Neue"/>
                <a:ea typeface="Helvetica Neue"/>
                <a:cs typeface="Helvetica Neue"/>
                <a:sym typeface="Helvetica Neue"/>
              </a:rPr>
              <a:t>Ensure durability of updates by delaying transaction commit until update is logged at backup; avoid this delay by permitting lower degrees of durability.</a:t>
            </a:r>
            <a:endParaRPr/>
          </a:p>
          <a:p>
            <a:pPr indent="-342900" lvl="0" marL="342900" marR="0" rtl="0" algn="l">
              <a:lnSpc>
                <a:spcPct val="90000"/>
              </a:lnSpc>
              <a:spcBef>
                <a:spcPts val="630"/>
              </a:spcBef>
              <a:spcAft>
                <a:spcPts val="0"/>
              </a:spcAft>
              <a:buClr>
                <a:srgbClr val="CC3300"/>
              </a:buClr>
              <a:buSzPts val="1620"/>
              <a:buFont typeface="Arial"/>
              <a:buChar char="●"/>
            </a:pPr>
            <a:r>
              <a:rPr b="1" i="0" lang="en-US" sz="1800" u="none">
                <a:solidFill>
                  <a:schemeClr val="dk2"/>
                </a:solidFill>
                <a:latin typeface="Helvetica Neue"/>
                <a:ea typeface="Helvetica Neue"/>
                <a:cs typeface="Helvetica Neue"/>
                <a:sym typeface="Helvetica Neue"/>
              </a:rPr>
              <a:t>One-safe:</a:t>
            </a:r>
            <a:r>
              <a:rPr b="1"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commit as soon as transaction’s commit log record is written at primary</a:t>
            </a:r>
            <a:endParaRPr/>
          </a:p>
          <a:p>
            <a:pPr indent="-285750" lvl="1" marL="742950" marR="0" rtl="0" algn="l">
              <a:lnSpc>
                <a:spcPct val="90000"/>
              </a:lnSpc>
              <a:spcBef>
                <a:spcPts val="630"/>
              </a:spcBef>
              <a:spcAft>
                <a:spcPts val="0"/>
              </a:spcAft>
              <a:buClr>
                <a:srgbClr val="CC33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Problem: updates may not arrive at backup before it takes over.</a:t>
            </a:r>
            <a:endParaRPr/>
          </a:p>
          <a:p>
            <a:pPr indent="-342900" lvl="0" marL="342900" marR="0" rtl="0" algn="l">
              <a:lnSpc>
                <a:spcPct val="90000"/>
              </a:lnSpc>
              <a:spcBef>
                <a:spcPts val="630"/>
              </a:spcBef>
              <a:spcAft>
                <a:spcPts val="0"/>
              </a:spcAft>
              <a:buClr>
                <a:srgbClr val="CC3300"/>
              </a:buClr>
              <a:buSzPts val="1620"/>
              <a:buFont typeface="Arial"/>
              <a:buChar char="●"/>
            </a:pPr>
            <a:r>
              <a:rPr b="1" i="0" lang="en-US" sz="1800" u="none">
                <a:solidFill>
                  <a:schemeClr val="dk2"/>
                </a:solidFill>
                <a:latin typeface="Helvetica Neue"/>
                <a:ea typeface="Helvetica Neue"/>
                <a:cs typeface="Helvetica Neue"/>
                <a:sym typeface="Helvetica Neue"/>
              </a:rPr>
              <a:t>Two-very-safe:</a:t>
            </a:r>
            <a:r>
              <a:rPr b="0" i="0" lang="en-US" sz="1800" u="none">
                <a:solidFill>
                  <a:schemeClr val="dk1"/>
                </a:solidFill>
                <a:latin typeface="Helvetica Neue"/>
                <a:ea typeface="Helvetica Neue"/>
                <a:cs typeface="Helvetica Neue"/>
                <a:sym typeface="Helvetica Neue"/>
              </a:rPr>
              <a:t> commit when transaction’s commit log record is written at primary and backup</a:t>
            </a:r>
            <a:endParaRPr/>
          </a:p>
          <a:p>
            <a:pPr indent="-285750" lvl="1" marL="742950" marR="0" rtl="0" algn="l">
              <a:lnSpc>
                <a:spcPct val="90000"/>
              </a:lnSpc>
              <a:spcBef>
                <a:spcPts val="630"/>
              </a:spcBef>
              <a:spcAft>
                <a:spcPts val="0"/>
              </a:spcAft>
              <a:buClr>
                <a:srgbClr val="CC33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Reduces availability since transactions cannot commit if either site fails.</a:t>
            </a:r>
            <a:endParaRPr/>
          </a:p>
          <a:p>
            <a:pPr indent="-342900" lvl="0" marL="342900" marR="0" rtl="0" algn="l">
              <a:lnSpc>
                <a:spcPct val="90000"/>
              </a:lnSpc>
              <a:spcBef>
                <a:spcPts val="630"/>
              </a:spcBef>
              <a:spcAft>
                <a:spcPts val="0"/>
              </a:spcAft>
              <a:buClr>
                <a:srgbClr val="CC3300"/>
              </a:buClr>
              <a:buSzPts val="1620"/>
              <a:buFont typeface="Arial"/>
              <a:buChar char="●"/>
            </a:pPr>
            <a:r>
              <a:rPr b="1" i="0" lang="en-US" sz="1800" u="none">
                <a:solidFill>
                  <a:schemeClr val="dk2"/>
                </a:solidFill>
                <a:latin typeface="Helvetica Neue"/>
                <a:ea typeface="Helvetica Neue"/>
                <a:cs typeface="Helvetica Neue"/>
                <a:sym typeface="Helvetica Neue"/>
              </a:rPr>
              <a:t>Two-safe:</a:t>
            </a:r>
            <a:r>
              <a:rPr b="0" i="0" lang="en-US" sz="1800" u="none">
                <a:solidFill>
                  <a:schemeClr val="dk1"/>
                </a:solidFill>
                <a:latin typeface="Helvetica Neue"/>
                <a:ea typeface="Helvetica Neue"/>
                <a:cs typeface="Helvetica Neue"/>
                <a:sym typeface="Helvetica Neue"/>
              </a:rPr>
              <a:t> proceed as in two-very-safe if both primary and backup are active. If only the primary is active, the transaction commits as soon as is commit log record is written at the primary. </a:t>
            </a:r>
            <a:endParaRPr/>
          </a:p>
          <a:p>
            <a:pPr indent="-285750" lvl="1" marL="742950" marR="0" rtl="0" algn="l">
              <a:lnSpc>
                <a:spcPct val="90000"/>
              </a:lnSpc>
              <a:spcBef>
                <a:spcPts val="630"/>
              </a:spcBef>
              <a:spcAft>
                <a:spcPts val="0"/>
              </a:spcAft>
              <a:buClr>
                <a:srgbClr val="CC33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Better availability than two-very-safe; avoids problem of lost transactions in one-safe.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42" name="Shape 642"/>
        <p:cNvGrpSpPr/>
        <p:nvPr/>
      </p:nvGrpSpPr>
      <p:grpSpPr>
        <a:xfrm>
          <a:off x="0" y="0"/>
          <a:ext cx="0" cy="0"/>
          <a:chOff x="0" y="0"/>
          <a:chExt cx="0" cy="0"/>
        </a:xfrm>
      </p:grpSpPr>
      <p:sp>
        <p:nvSpPr>
          <p:cNvPr id="643" name="Google Shape;643;p75"/>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End of Chapter</a:t>
            </a:r>
            <a:endParaRPr/>
          </a:p>
        </p:txBody>
      </p:sp>
      <p:sp>
        <p:nvSpPr>
          <p:cNvPr id="644" name="Google Shape;644;p7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240030" lvl="0" marL="342900" rtl="0" algn="l">
              <a:lnSpc>
                <a:spcPct val="100000"/>
              </a:lnSpc>
              <a:spcBef>
                <a:spcPts val="0"/>
              </a:spcBef>
              <a:spcAft>
                <a:spcPts val="0"/>
              </a:spcAft>
              <a:buSzPts val="1620"/>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48" name="Shape 648"/>
        <p:cNvGrpSpPr/>
        <p:nvPr/>
      </p:nvGrpSpPr>
      <p:grpSpPr>
        <a:xfrm>
          <a:off x="0" y="0"/>
          <a:ext cx="0" cy="0"/>
          <a:chOff x="0" y="0"/>
          <a:chExt cx="0" cy="0"/>
        </a:xfrm>
      </p:grpSpPr>
      <p:sp>
        <p:nvSpPr>
          <p:cNvPr id="649" name="Google Shape;649;p7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Shadow Paging</a:t>
            </a:r>
            <a:endParaRPr/>
          </a:p>
        </p:txBody>
      </p:sp>
      <p:sp>
        <p:nvSpPr>
          <p:cNvPr id="650" name="Google Shape;650;p76"/>
          <p:cNvSpPr txBox="1"/>
          <p:nvPr>
            <p:ph idx="4294967295" type="body"/>
          </p:nvPr>
        </p:nvSpPr>
        <p:spPr>
          <a:xfrm>
            <a:off x="842962" y="1106487"/>
            <a:ext cx="8153400" cy="4914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1" i="0" lang="en-US" sz="1800" u="none">
                <a:solidFill>
                  <a:schemeClr val="dk2"/>
                </a:solidFill>
                <a:latin typeface="Helvetica Neue"/>
                <a:ea typeface="Helvetica Neue"/>
                <a:cs typeface="Helvetica Neue"/>
                <a:sym typeface="Helvetica Neue"/>
              </a:rPr>
              <a:t>Shadow paging</a:t>
            </a:r>
            <a:r>
              <a:rPr b="0" i="0" lang="en-US" sz="1800" u="none">
                <a:solidFill>
                  <a:schemeClr val="dk1"/>
                </a:solidFill>
                <a:latin typeface="Helvetica Neue"/>
                <a:ea typeface="Helvetica Neue"/>
                <a:cs typeface="Helvetica Neue"/>
                <a:sym typeface="Helvetica Neue"/>
              </a:rPr>
              <a:t> is an alternative to log-based recovery; this scheme is useful if  transactions execute serially</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Idea: maintain</a:t>
            </a:r>
            <a:r>
              <a:rPr b="0" i="1" lang="en-US" sz="1800" u="none">
                <a:solidFill>
                  <a:schemeClr val="dk1"/>
                </a:solidFill>
                <a:latin typeface="Helvetica Neue"/>
                <a:ea typeface="Helvetica Neue"/>
                <a:cs typeface="Helvetica Neue"/>
                <a:sym typeface="Helvetica Neue"/>
              </a:rPr>
              <a:t> two</a:t>
            </a:r>
            <a:r>
              <a:rPr b="0" i="0" lang="en-US" sz="1800" u="none">
                <a:solidFill>
                  <a:schemeClr val="dk1"/>
                </a:solidFill>
                <a:latin typeface="Helvetica Neue"/>
                <a:ea typeface="Helvetica Neue"/>
                <a:cs typeface="Helvetica Neue"/>
                <a:sym typeface="Helvetica Neue"/>
              </a:rPr>
              <a:t> page tables during the lifetime of a transaction –the </a:t>
            </a:r>
            <a:r>
              <a:rPr b="1" i="0" lang="en-US" sz="1800" u="none">
                <a:solidFill>
                  <a:schemeClr val="dk2"/>
                </a:solidFill>
                <a:latin typeface="Helvetica Neue"/>
                <a:ea typeface="Helvetica Neue"/>
                <a:cs typeface="Helvetica Neue"/>
                <a:sym typeface="Helvetica Neue"/>
              </a:rPr>
              <a:t>current page table</a:t>
            </a:r>
            <a:r>
              <a:rPr b="0" i="0" lang="en-US" sz="1800" u="none">
                <a:solidFill>
                  <a:schemeClr val="dk1"/>
                </a:solidFill>
                <a:latin typeface="Helvetica Neue"/>
                <a:ea typeface="Helvetica Neue"/>
                <a:cs typeface="Helvetica Neue"/>
                <a:sym typeface="Helvetica Neue"/>
              </a:rPr>
              <a:t>, and the </a:t>
            </a:r>
            <a:r>
              <a:rPr b="1" i="0" lang="en-US" sz="1800" u="none">
                <a:solidFill>
                  <a:schemeClr val="dk2"/>
                </a:solidFill>
                <a:latin typeface="Helvetica Neue"/>
                <a:ea typeface="Helvetica Neue"/>
                <a:cs typeface="Helvetica Neue"/>
                <a:sym typeface="Helvetica Neue"/>
              </a:rPr>
              <a:t>shadow page table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Store the shadow page table in nonvolatile storage, such that state of the database prior to transaction execution may be recovered.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Shadow page table is never modified during execution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start with, both the page tables are identical. Only current page table is used for data item accesses during execution of the transaction.</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Whenever any page is about to be written for the first time</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copy of this page is made onto an unused page. </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current page table is then made to point to the copy</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 update is performed on the copy</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54" name="Shape 654"/>
        <p:cNvGrpSpPr/>
        <p:nvPr/>
      </p:nvGrpSpPr>
      <p:grpSpPr>
        <a:xfrm>
          <a:off x="0" y="0"/>
          <a:ext cx="0" cy="0"/>
          <a:chOff x="0" y="0"/>
          <a:chExt cx="0" cy="0"/>
        </a:xfrm>
      </p:grpSpPr>
      <p:sp>
        <p:nvSpPr>
          <p:cNvPr id="655" name="Google Shape;655;p7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Sample Page Table</a:t>
            </a:r>
            <a:endParaRPr/>
          </a:p>
        </p:txBody>
      </p:sp>
      <p:pic>
        <p:nvPicPr>
          <p:cNvPr id="656" name="Google Shape;656;p77"/>
          <p:cNvPicPr preferRelativeResize="0"/>
          <p:nvPr/>
        </p:nvPicPr>
        <p:blipFill rotWithShape="1">
          <a:blip r:embed="rId3">
            <a:alphaModFix/>
          </a:blip>
          <a:srcRect b="2929" l="23626" r="23625" t="1098"/>
          <a:stretch/>
        </p:blipFill>
        <p:spPr>
          <a:xfrm>
            <a:off x="2662237" y="1106487"/>
            <a:ext cx="3624262" cy="4948237"/>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60" name="Shape 660"/>
        <p:cNvGrpSpPr/>
        <p:nvPr/>
      </p:nvGrpSpPr>
      <p:grpSpPr>
        <a:xfrm>
          <a:off x="0" y="0"/>
          <a:ext cx="0" cy="0"/>
          <a:chOff x="0" y="0"/>
          <a:chExt cx="0" cy="0"/>
        </a:xfrm>
      </p:grpSpPr>
      <p:sp>
        <p:nvSpPr>
          <p:cNvPr id="661" name="Google Shape;661;p7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Example of Shadow Paging</a:t>
            </a:r>
            <a:endParaRPr/>
          </a:p>
        </p:txBody>
      </p:sp>
      <p:sp>
        <p:nvSpPr>
          <p:cNvPr id="662" name="Google Shape;662;p78"/>
          <p:cNvSpPr txBox="1"/>
          <p:nvPr/>
        </p:nvSpPr>
        <p:spPr>
          <a:xfrm>
            <a:off x="1627187" y="735012"/>
            <a:ext cx="56165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Shadow and current page tables after write to page 4 </a:t>
            </a:r>
            <a:endParaRPr/>
          </a:p>
        </p:txBody>
      </p:sp>
      <p:pic>
        <p:nvPicPr>
          <p:cNvPr id="663" name="Google Shape;663;p78"/>
          <p:cNvPicPr preferRelativeResize="0"/>
          <p:nvPr/>
        </p:nvPicPr>
        <p:blipFill rotWithShape="1">
          <a:blip r:embed="rId3">
            <a:alphaModFix/>
          </a:blip>
          <a:srcRect b="616" l="9027" r="9721" t="1542"/>
          <a:stretch/>
        </p:blipFill>
        <p:spPr>
          <a:xfrm>
            <a:off x="1617662" y="1231900"/>
            <a:ext cx="5638800" cy="5091112"/>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67" name="Shape 667"/>
        <p:cNvGrpSpPr/>
        <p:nvPr/>
      </p:nvGrpSpPr>
      <p:grpSpPr>
        <a:xfrm>
          <a:off x="0" y="0"/>
          <a:ext cx="0" cy="0"/>
          <a:chOff x="0" y="0"/>
          <a:chExt cx="0" cy="0"/>
        </a:xfrm>
      </p:grpSpPr>
      <p:sp>
        <p:nvSpPr>
          <p:cNvPr id="668" name="Google Shape;668;p7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Shadow Paging (Cont.)</a:t>
            </a:r>
            <a:endParaRPr/>
          </a:p>
        </p:txBody>
      </p:sp>
      <p:sp>
        <p:nvSpPr>
          <p:cNvPr id="669" name="Google Shape;669;p79"/>
          <p:cNvSpPr txBox="1"/>
          <p:nvPr>
            <p:ph idx="4294967295" type="body"/>
          </p:nvPr>
        </p:nvSpPr>
        <p:spPr>
          <a:xfrm>
            <a:off x="842962" y="1106487"/>
            <a:ext cx="7848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To commit a transaction :</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1.  Flush all modified pages in main memory to disk</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2.  Output current page table to disk</a:t>
            </a:r>
            <a:endParaRPr/>
          </a:p>
          <a:p>
            <a:pPr indent="-342900" lvl="0" marL="342900" marR="0" rtl="0" algn="l">
              <a:lnSpc>
                <a:spcPct val="100000"/>
              </a:lnSpc>
              <a:spcBef>
                <a:spcPts val="630"/>
              </a:spcBef>
              <a:spcAft>
                <a:spcPts val="0"/>
              </a:spcAft>
              <a:buClr>
                <a:schemeClr val="dk2"/>
              </a:buClr>
              <a:buSzPts val="1620"/>
              <a:buFont typeface="Arial"/>
              <a:buNone/>
            </a:pPr>
            <a:r>
              <a:rPr b="0" i="0" lang="en-US" sz="1800" u="none">
                <a:solidFill>
                  <a:schemeClr val="dk1"/>
                </a:solidFill>
                <a:latin typeface="Helvetica Neue"/>
                <a:ea typeface="Helvetica Neue"/>
                <a:cs typeface="Helvetica Neue"/>
                <a:sym typeface="Helvetica Neue"/>
              </a:rPr>
              <a:t>  3.  Make the current page table the new shadow page table, as follows:</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keep a pointer to the shadow page table at a fixed (known) location on disk.</a:t>
            </a:r>
            <a:endParaRPr/>
          </a:p>
          <a:p>
            <a:pPr indent="-285750" lvl="1" marL="742950" marR="0" rtl="0" algn="l">
              <a:lnSpc>
                <a:spcPct val="10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to make the current page table the new shadow page table, simply update the pointer to point to current page table on disk</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Once pointer to shadow page table has been written, transaction is committed.</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No recovery is needed after a crash — new transactions can start right away, using the shadow page table.</a:t>
            </a:r>
            <a:endParaRPr/>
          </a:p>
          <a:p>
            <a:pPr indent="-342900" lvl="0" marL="342900" marR="0" rtl="0" algn="l">
              <a:lnSpc>
                <a:spcPct val="10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Pages not pointed to from current/shadow page table should be freed (garbage collected).</a:t>
            </a:r>
            <a:endParaRPr/>
          </a:p>
          <a:p>
            <a:pPr indent="-240030" lvl="0" marL="342900" marR="0" rtl="0" algn="l">
              <a:lnSpc>
                <a:spcPct val="100000"/>
              </a:lnSpc>
              <a:spcBef>
                <a:spcPts val="630"/>
              </a:spcBef>
              <a:spcAft>
                <a:spcPts val="0"/>
              </a:spcAft>
              <a:buClr>
                <a:schemeClr val="dk2"/>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73" name="Shape 673"/>
        <p:cNvGrpSpPr/>
        <p:nvPr/>
      </p:nvGrpSpPr>
      <p:grpSpPr>
        <a:xfrm>
          <a:off x="0" y="0"/>
          <a:ext cx="0" cy="0"/>
          <a:chOff x="0" y="0"/>
          <a:chExt cx="0" cy="0"/>
        </a:xfrm>
      </p:grpSpPr>
      <p:sp>
        <p:nvSpPr>
          <p:cNvPr id="674" name="Google Shape;674;p8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Show Paging (Cont.)</a:t>
            </a:r>
            <a:endParaRPr/>
          </a:p>
        </p:txBody>
      </p:sp>
      <p:sp>
        <p:nvSpPr>
          <p:cNvPr id="675" name="Google Shape;675;p80"/>
          <p:cNvSpPr txBox="1"/>
          <p:nvPr>
            <p:ph idx="4294967295" type="body"/>
          </p:nvPr>
        </p:nvSpPr>
        <p:spPr>
          <a:xfrm>
            <a:off x="842962" y="1106487"/>
            <a:ext cx="8051800" cy="5118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Advantages of shadow-paging over log-based schemes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 overhead of writing log records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recovery is trivial</a:t>
            </a:r>
            <a:endParaRPr/>
          </a:p>
          <a:p>
            <a:pPr indent="-342900" lvl="0" marL="342900" marR="0" rtl="0" algn="l">
              <a:lnSpc>
                <a:spcPct val="90000"/>
              </a:lnSpc>
              <a:spcBef>
                <a:spcPts val="630"/>
              </a:spcBef>
              <a:spcAft>
                <a:spcPts val="0"/>
              </a:spcAft>
              <a:buClr>
                <a:schemeClr val="dk2"/>
              </a:buClr>
              <a:buSzPts val="1620"/>
              <a:buFont typeface="Arial"/>
              <a:buChar char="●"/>
            </a:pPr>
            <a:r>
              <a:rPr b="0" i="0" lang="en-US" sz="1800" u="none">
                <a:solidFill>
                  <a:schemeClr val="dk1"/>
                </a:solidFill>
                <a:latin typeface="Helvetica Neue"/>
                <a:ea typeface="Helvetica Neue"/>
                <a:cs typeface="Helvetica Neue"/>
                <a:sym typeface="Helvetica Neue"/>
              </a:rPr>
              <a:t>Disadvantages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Copying the entire page table is very expensive</a:t>
            </a:r>
            <a:endParaRPr/>
          </a:p>
          <a:p>
            <a:pPr indent="-228600" lvl="2" marL="1085850" marR="0" rtl="0" algn="l">
              <a:lnSpc>
                <a:spcPct val="90000"/>
              </a:lnSpc>
              <a:spcBef>
                <a:spcPts val="70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Can be reduced by using a page table structured like a B</a:t>
            </a:r>
            <a:r>
              <a:rPr b="0" baseline="30000" i="0" lang="en-US" sz="2000" u="none" cap="none" strike="noStrike">
                <a:solidFill>
                  <a:schemeClr val="dk1"/>
                </a:solidFill>
                <a:latin typeface="Helvetica Neue"/>
                <a:ea typeface="Helvetica Neue"/>
                <a:cs typeface="Helvetica Neue"/>
                <a:sym typeface="Helvetica Neue"/>
              </a:rPr>
              <a:t>+</a:t>
            </a:r>
            <a:r>
              <a:rPr b="0" i="0" lang="en-US" sz="1800" u="none" cap="none" strike="noStrike">
                <a:solidFill>
                  <a:schemeClr val="dk1"/>
                </a:solidFill>
                <a:latin typeface="Helvetica Neue"/>
                <a:ea typeface="Helvetica Neue"/>
                <a:cs typeface="Helvetica Neue"/>
                <a:sym typeface="Helvetica Neue"/>
              </a:rPr>
              <a:t>-tree</a:t>
            </a:r>
            <a:endParaRPr/>
          </a:p>
          <a:p>
            <a:pPr indent="-228600" lvl="3" marL="1428750" marR="0" rtl="0" algn="l">
              <a:lnSpc>
                <a:spcPct val="90000"/>
              </a:lnSpc>
              <a:spcBef>
                <a:spcPts val="630"/>
              </a:spcBef>
              <a:spcAft>
                <a:spcPts val="0"/>
              </a:spcAft>
              <a:buClr>
                <a:schemeClr val="hlink"/>
              </a:buClr>
              <a:buSzPts val="1800"/>
              <a:buFont typeface="Helvetica Neue"/>
              <a:buChar char="–"/>
            </a:pPr>
            <a:r>
              <a:rPr b="0" i="0" lang="en-US" sz="1800" u="none" cap="none" strike="noStrike">
                <a:solidFill>
                  <a:schemeClr val="dk1"/>
                </a:solidFill>
                <a:latin typeface="Helvetica Neue"/>
                <a:ea typeface="Helvetica Neue"/>
                <a:cs typeface="Helvetica Neue"/>
                <a:sym typeface="Helvetica Neue"/>
              </a:rPr>
              <a:t>No need to copy entire tree, only need to copy paths in the tree that lead to updated leaf nodes</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Commit overhead is high even with above extension</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Need to flush every updated page, and page table</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Data gets fragmented (related pages get separated on disk)</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After every transaction completion, the database pages containing old versions of modified data need to be garbage collected </a:t>
            </a:r>
            <a:endParaRPr/>
          </a:p>
          <a:p>
            <a:pPr indent="-285750" lvl="1" marL="742950" marR="0" rtl="0" algn="l">
              <a:lnSpc>
                <a:spcPct val="90000"/>
              </a:lnSpc>
              <a:spcBef>
                <a:spcPts val="630"/>
              </a:spcBef>
              <a:spcAft>
                <a:spcPts val="0"/>
              </a:spcAft>
              <a:buClr>
                <a:schemeClr val="hlink"/>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Hard to extend algorithm to allow transactions to run concurrently</a:t>
            </a:r>
            <a:endParaRPr/>
          </a:p>
          <a:p>
            <a:pPr indent="-228600" lvl="2" marL="1085850" marR="0" rtl="0" algn="l">
              <a:lnSpc>
                <a:spcPct val="90000"/>
              </a:lnSpc>
              <a:spcBef>
                <a:spcPts val="630"/>
              </a:spcBef>
              <a:spcAft>
                <a:spcPts val="0"/>
              </a:spcAft>
              <a:buClr>
                <a:srgbClr val="33CC33"/>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Easier to extend log based schemes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79" name="Shape 679"/>
        <p:cNvGrpSpPr/>
        <p:nvPr/>
      </p:nvGrpSpPr>
      <p:grpSpPr>
        <a:xfrm>
          <a:off x="0" y="0"/>
          <a:ext cx="0" cy="0"/>
          <a:chOff x="0" y="0"/>
          <a:chExt cx="0" cy="0"/>
        </a:xfrm>
      </p:grpSpPr>
      <p:sp>
        <p:nvSpPr>
          <p:cNvPr id="680" name="Google Shape;680;p8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Helvetica Neue"/>
              <a:buNone/>
            </a:pPr>
            <a:r>
              <a:rPr b="1" i="0" lang="en-US" sz="3200" u="none">
                <a:solidFill>
                  <a:schemeClr val="dk2"/>
                </a:solidFill>
                <a:latin typeface="Helvetica Neue"/>
                <a:ea typeface="Helvetica Neue"/>
                <a:cs typeface="Helvetica Neue"/>
                <a:sym typeface="Helvetica Neue"/>
              </a:rPr>
              <a:t>Block Storage Operations</a:t>
            </a:r>
            <a:endParaRPr/>
          </a:p>
        </p:txBody>
      </p:sp>
      <p:pic>
        <p:nvPicPr>
          <p:cNvPr id="681" name="Google Shape;681;p81"/>
          <p:cNvPicPr preferRelativeResize="0"/>
          <p:nvPr/>
        </p:nvPicPr>
        <p:blipFill rotWithShape="1">
          <a:blip r:embed="rId3">
            <a:alphaModFix/>
          </a:blip>
          <a:srcRect b="5023" l="1370" r="1369" t="5479"/>
          <a:stretch/>
        </p:blipFill>
        <p:spPr>
          <a:xfrm>
            <a:off x="1905000" y="1295400"/>
            <a:ext cx="5410200" cy="37338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85" name="Shape 685"/>
        <p:cNvGrpSpPr/>
        <p:nvPr/>
      </p:nvGrpSpPr>
      <p:grpSpPr>
        <a:xfrm>
          <a:off x="0" y="0"/>
          <a:ext cx="0" cy="0"/>
          <a:chOff x="0" y="0"/>
          <a:chExt cx="0" cy="0"/>
        </a:xfrm>
      </p:grpSpPr>
      <p:sp>
        <p:nvSpPr>
          <p:cNvPr id="686" name="Google Shape;686;p82"/>
          <p:cNvSpPr txBox="1"/>
          <p:nvPr>
            <p:ph type="title"/>
          </p:nvPr>
        </p:nvSpPr>
        <p:spPr>
          <a:xfrm>
            <a:off x="685800" y="3048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Portion of the Database Log Corresponding to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0</a:t>
            </a:r>
            <a:r>
              <a:rPr b="1" i="0" lang="en-US" sz="2800" u="none">
                <a:solidFill>
                  <a:schemeClr val="dk2"/>
                </a:solidFill>
                <a:latin typeface="Helvetica Neue"/>
                <a:ea typeface="Helvetica Neue"/>
                <a:cs typeface="Helvetica Neue"/>
                <a:sym typeface="Helvetica Neue"/>
              </a:rPr>
              <a:t> and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1</a:t>
            </a:r>
            <a:endParaRPr/>
          </a:p>
        </p:txBody>
      </p:sp>
      <p:pic>
        <p:nvPicPr>
          <p:cNvPr id="687" name="Google Shape;687;p82"/>
          <p:cNvPicPr preferRelativeResize="0"/>
          <p:nvPr/>
        </p:nvPicPr>
        <p:blipFill rotWithShape="1">
          <a:blip r:embed="rId3">
            <a:alphaModFix/>
          </a:blip>
          <a:srcRect b="3380" l="21739" r="23188" t="3865"/>
          <a:stretch/>
        </p:blipFill>
        <p:spPr>
          <a:xfrm>
            <a:off x="3124200" y="1447800"/>
            <a:ext cx="2895600" cy="36576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91" name="Shape 691"/>
        <p:cNvGrpSpPr/>
        <p:nvPr/>
      </p:nvGrpSpPr>
      <p:grpSpPr>
        <a:xfrm>
          <a:off x="0" y="0"/>
          <a:ext cx="0" cy="0"/>
          <a:chOff x="0" y="0"/>
          <a:chExt cx="0" cy="0"/>
        </a:xfrm>
      </p:grpSpPr>
      <p:sp>
        <p:nvSpPr>
          <p:cNvPr id="692" name="Google Shape;692;p83"/>
          <p:cNvSpPr txBox="1"/>
          <p:nvPr>
            <p:ph type="title"/>
          </p:nvPr>
        </p:nvSpPr>
        <p:spPr>
          <a:xfrm>
            <a:off x="457200" y="496887"/>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State of the Log and Database Corresponding to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0 </a:t>
            </a:r>
            <a:r>
              <a:rPr b="1" i="0" lang="en-US" sz="2800" u="none">
                <a:solidFill>
                  <a:schemeClr val="dk2"/>
                </a:solidFill>
                <a:latin typeface="Helvetica Neue"/>
                <a:ea typeface="Helvetica Neue"/>
                <a:cs typeface="Helvetica Neue"/>
                <a:sym typeface="Helvetica Neue"/>
              </a:rPr>
              <a:t>and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1</a:t>
            </a:r>
            <a:endParaRPr/>
          </a:p>
        </p:txBody>
      </p:sp>
      <p:pic>
        <p:nvPicPr>
          <p:cNvPr id="693" name="Google Shape;693;p83"/>
          <p:cNvPicPr preferRelativeResize="0"/>
          <p:nvPr/>
        </p:nvPicPr>
        <p:blipFill rotWithShape="1">
          <a:blip r:embed="rId3">
            <a:alphaModFix/>
          </a:blip>
          <a:srcRect b="2701" l="10810" r="13512" t="1802"/>
          <a:stretch/>
        </p:blipFill>
        <p:spPr>
          <a:xfrm>
            <a:off x="2362200" y="1219200"/>
            <a:ext cx="4267200" cy="40386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697" name="Shape 697"/>
        <p:cNvGrpSpPr/>
        <p:nvPr/>
      </p:nvGrpSpPr>
      <p:grpSpPr>
        <a:xfrm>
          <a:off x="0" y="0"/>
          <a:ext cx="0" cy="0"/>
          <a:chOff x="0" y="0"/>
          <a:chExt cx="0" cy="0"/>
        </a:xfrm>
      </p:grpSpPr>
      <p:sp>
        <p:nvSpPr>
          <p:cNvPr id="698" name="Google Shape;698;p84"/>
          <p:cNvSpPr txBox="1"/>
          <p:nvPr>
            <p:ph type="title"/>
          </p:nvPr>
        </p:nvSpPr>
        <p:spPr>
          <a:xfrm>
            <a:off x="561975" y="496887"/>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Portion of the System Log Corresponding to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0</a:t>
            </a:r>
            <a:r>
              <a:rPr b="1" i="0" lang="en-US" sz="2800" u="none">
                <a:solidFill>
                  <a:schemeClr val="dk2"/>
                </a:solidFill>
                <a:latin typeface="Helvetica Neue"/>
                <a:ea typeface="Helvetica Neue"/>
                <a:cs typeface="Helvetica Neue"/>
                <a:sym typeface="Helvetica Neue"/>
              </a:rPr>
              <a:t> and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1</a:t>
            </a:r>
            <a:endParaRPr/>
          </a:p>
        </p:txBody>
      </p:sp>
      <p:pic>
        <p:nvPicPr>
          <p:cNvPr id="699" name="Google Shape;699;p84"/>
          <p:cNvPicPr preferRelativeResize="0"/>
          <p:nvPr/>
        </p:nvPicPr>
        <p:blipFill rotWithShape="1">
          <a:blip r:embed="rId3">
            <a:alphaModFix/>
          </a:blip>
          <a:srcRect b="1959" l="7353" r="11763" t="3921"/>
          <a:stretch/>
        </p:blipFill>
        <p:spPr>
          <a:xfrm>
            <a:off x="2286000" y="1524000"/>
            <a:ext cx="4191000" cy="36576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DDDDD"/>
            </a:gs>
            <a:gs pos="100000">
              <a:srgbClr val="F8F8F8"/>
            </a:gs>
          </a:gsLst>
          <a:lin ang="5400000" scaled="0"/>
        </a:gradFill>
      </p:bgPr>
    </p:bg>
    <p:spTree>
      <p:nvGrpSpPr>
        <p:cNvPr id="703" name="Shape 703"/>
        <p:cNvGrpSpPr/>
        <p:nvPr/>
      </p:nvGrpSpPr>
      <p:grpSpPr>
        <a:xfrm>
          <a:off x="0" y="0"/>
          <a:ext cx="0" cy="0"/>
          <a:chOff x="0" y="0"/>
          <a:chExt cx="0" cy="0"/>
        </a:xfrm>
      </p:grpSpPr>
      <p:sp>
        <p:nvSpPr>
          <p:cNvPr id="704" name="Google Shape;704;p85"/>
          <p:cNvSpPr txBox="1"/>
          <p:nvPr>
            <p:ph type="title"/>
          </p:nvPr>
        </p:nvSpPr>
        <p:spPr>
          <a:xfrm>
            <a:off x="606425" y="496887"/>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Helvetica Neue"/>
              <a:buNone/>
            </a:pPr>
            <a:r>
              <a:rPr b="1" i="0" lang="en-US" sz="2800" u="none">
                <a:solidFill>
                  <a:schemeClr val="dk2"/>
                </a:solidFill>
                <a:latin typeface="Helvetica Neue"/>
                <a:ea typeface="Helvetica Neue"/>
                <a:cs typeface="Helvetica Neue"/>
                <a:sym typeface="Helvetica Neue"/>
              </a:rPr>
              <a:t>State of System Log and Database Corresponding to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0</a:t>
            </a:r>
            <a:r>
              <a:rPr b="1" i="0" lang="en-US" sz="2800" u="none">
                <a:solidFill>
                  <a:schemeClr val="dk2"/>
                </a:solidFill>
                <a:latin typeface="Helvetica Neue"/>
                <a:ea typeface="Helvetica Neue"/>
                <a:cs typeface="Helvetica Neue"/>
                <a:sym typeface="Helvetica Neue"/>
              </a:rPr>
              <a:t> and </a:t>
            </a:r>
            <a:r>
              <a:rPr b="1" i="1" lang="en-US" sz="2800" u="none">
                <a:solidFill>
                  <a:schemeClr val="dk2"/>
                </a:solidFill>
                <a:latin typeface="Helvetica Neue"/>
                <a:ea typeface="Helvetica Neue"/>
                <a:cs typeface="Helvetica Neue"/>
                <a:sym typeface="Helvetica Neue"/>
              </a:rPr>
              <a:t>T</a:t>
            </a:r>
            <a:r>
              <a:rPr b="1" baseline="-25000" i="0" lang="en-US" sz="2800" u="none">
                <a:solidFill>
                  <a:schemeClr val="dk2"/>
                </a:solidFill>
                <a:latin typeface="Helvetica Neue"/>
                <a:ea typeface="Helvetica Neue"/>
                <a:cs typeface="Helvetica Neue"/>
                <a:sym typeface="Helvetica Neue"/>
              </a:rPr>
              <a:t>1</a:t>
            </a:r>
            <a:endParaRPr/>
          </a:p>
        </p:txBody>
      </p:sp>
      <p:pic>
        <p:nvPicPr>
          <p:cNvPr id="705" name="Google Shape;705;p85"/>
          <p:cNvPicPr preferRelativeResize="0"/>
          <p:nvPr/>
        </p:nvPicPr>
        <p:blipFill rotWithShape="1">
          <a:blip r:embed="rId3">
            <a:alphaModFix/>
          </a:blip>
          <a:srcRect b="3509" l="11842" r="11842" t="1754"/>
          <a:stretch/>
        </p:blipFill>
        <p:spPr>
          <a:xfrm>
            <a:off x="2209800" y="1371600"/>
            <a:ext cx="4419600" cy="4114800"/>
          </a:xfrm>
          <a:prstGeom prst="rect">
            <a:avLst/>
          </a:prstGeom>
          <a:noFill/>
          <a:ln cap="flat" cmpd="dbl" w="38100">
            <a:solidFill>
              <a:schemeClr val="dk2"/>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b-5-grey">
  <a:themeElements>
    <a:clrScheme name="default">
      <a:dk1>
        <a:srgbClr val="000000"/>
      </a:dk1>
      <a:lt1>
        <a:srgbClr val="CCECFF"/>
      </a:lt1>
      <a:dk2>
        <a:srgbClr val="CC3300"/>
      </a:dk2>
      <a:lt2>
        <a:srgbClr val="666699"/>
      </a:lt2>
      <a:accent1>
        <a:srgbClr val="FFFFFF"/>
      </a:accent1>
      <a:accent2>
        <a:srgbClr val="CCCC00"/>
      </a:accent2>
      <a:accent3>
        <a:srgbClr val="CCECFF"/>
      </a:accent3>
      <a:accent4>
        <a:srgbClr val="FFFFFF"/>
      </a:accent4>
      <a:accent5>
        <a:srgbClr val="CCCC00"/>
      </a:accent5>
      <a:accent6>
        <a:srgbClr val="CCECFF"/>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