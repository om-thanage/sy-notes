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y="6858000" cx="9144000"/>
  <p:notesSz cx="7315200" cy="9601200"/>
  <p:embeddedFontLst>
    <p:embeddedFont>
      <p:font typeface="Helvetica Neue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4">
          <p15:clr>
            <a:srgbClr val="000000"/>
          </p15:clr>
        </p15:guide>
        <p15:guide id="2" pos="54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4" orient="horz"/>
        <p:guide pos="54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HelveticaNeue-bold.fntdata"/><Relationship Id="rId90" Type="http://schemas.openxmlformats.org/officeDocument/2006/relationships/font" Target="fonts/HelveticaNeue-regular.fntdata"/><Relationship Id="rId93" Type="http://schemas.openxmlformats.org/officeDocument/2006/relationships/font" Target="fonts/HelveticaNeue-boldItalic.fntdata"/><Relationship Id="rId92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7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7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7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7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7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7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8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8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8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db-book.com/" TargetMode="Externa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2673350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/>
              </a:rPr>
              <a:t>www.db-book.com</a:t>
            </a:r>
            <a:r>
              <a:rPr b="1" i="0" lang="en-US" sz="1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4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4491037" y="6613525"/>
            <a:ext cx="4254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</a:t>
            </a:r>
            <a:fld id="{00000000-1234-1234-1234-123412341234}" type="slidenum"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5" name="Google Shape;15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/>
        </p:nvSpPr>
        <p:spPr>
          <a:xfrm>
            <a:off x="0" y="6613525"/>
            <a:ext cx="29654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 , 5</a:t>
            </a:r>
            <a:r>
              <a:rPr b="1" baseline="30000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Ed., Aug 2005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Relationship Id="rId4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6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5: Other Relational Languages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647700" y="42862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5:  Other Relational Languages</a:t>
            </a:r>
            <a:endParaRPr/>
          </a:p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Relational Calculus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Relational Calculus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Query-by-Example (QBE)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Relational Calculus</a:t>
            </a:r>
            <a:endParaRPr/>
          </a:p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71537" y="1165225"/>
            <a:ext cx="8137525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nonprocedural query language, where each query is of the form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{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the set of all tuples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predicate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true 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variable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denotes the value of tuple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attribute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denotes that tuple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formula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to that of the predicate calculus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Predicate Calculus Formula</a:t>
            </a:r>
            <a:endParaRPr/>
          </a:p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Set of attributes and constants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Set of comparison operators:  (e.g., &lt;, ≤, =, ≠, &gt;, ≥)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Set of connectives:  and (∧), or (v)‚ not (¬)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	Implication (⇒): x ⇒ y, if x if true, then y is true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¬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	Set of quantifiers: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”there exists” a tuple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such that predicate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true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 ≡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true “for all” tuples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Banking Example</a:t>
            </a:r>
            <a:endParaRPr/>
          </a:p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branch_city, assets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customer_street, customer_city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branch_name, balance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amount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1" i="1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loan_number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876300" y="1165225"/>
            <a:ext cx="759301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amount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loans of over $1200</a:t>
            </a:r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871537" y="2755900"/>
            <a:ext cx="8677275" cy="333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the loan number for each loan of an amount greater than $1200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 ∈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&gt; 1200)}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Notice that a relation on schema 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is implicitly defined by     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the query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0"/>
          <p:cNvSpPr txBox="1"/>
          <p:nvPr/>
        </p:nvSpPr>
        <p:spPr>
          <a:xfrm>
            <a:off x="2714625" y="2030412"/>
            <a:ext cx="38449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[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&gt; 1200}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71537" y="1165225"/>
            <a:ext cx="78486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having a loan, an account, or both at the bank</a:t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1566862" y="4198937"/>
            <a:ext cx="70310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 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)</a:t>
            </a:r>
            <a:endParaRPr/>
          </a:p>
        </p:txBody>
      </p:sp>
      <p:sp>
        <p:nvSpPr>
          <p:cNvPr id="85" name="Google Shape;85;p11"/>
          <p:cNvSpPr txBox="1"/>
          <p:nvPr/>
        </p:nvSpPr>
        <p:spPr>
          <a:xfrm>
            <a:off x="866775" y="3302000"/>
            <a:ext cx="79422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names of all customers who have a loan and an account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at the bank</a:t>
            </a:r>
            <a:endParaRPr/>
          </a:p>
        </p:txBody>
      </p:sp>
      <p:sp>
        <p:nvSpPr>
          <p:cNvPr id="86" name="Google Shape;86;p11"/>
          <p:cNvSpPr txBox="1"/>
          <p:nvPr/>
        </p:nvSpPr>
        <p:spPr>
          <a:xfrm>
            <a:off x="1719262" y="2090737"/>
            <a:ext cx="6807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( 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∨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871537" y="1165225"/>
            <a:ext cx="78486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having a loan at the Perryridge branch</a:t>
            </a:r>
            <a:endParaRPr/>
          </a:p>
        </p:txBody>
      </p:sp>
      <p:sp>
        <p:nvSpPr>
          <p:cNvPr id="93" name="Google Shape;93;p12"/>
          <p:cNvSpPr txBox="1"/>
          <p:nvPr/>
        </p:nvSpPr>
        <p:spPr>
          <a:xfrm>
            <a:off x="1414462" y="4160837"/>
            <a:ext cx="7134225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[customer_name ]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“Perryridge”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∧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[loan_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∧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])}</a:t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868362" y="3238500"/>
            <a:ext cx="8102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the names of all customers who have a loan at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Perryridge branch, but no account at any branch of the bank</a:t>
            </a:r>
            <a:endParaRPr/>
          </a:p>
        </p:txBody>
      </p:sp>
      <p:sp>
        <p:nvSpPr>
          <p:cNvPr id="95" name="Google Shape;95;p12"/>
          <p:cNvSpPr txBox="1"/>
          <p:nvPr/>
        </p:nvSpPr>
        <p:spPr>
          <a:xfrm>
            <a:off x="1554162" y="2090737"/>
            <a:ext cx="6662737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“Perryridge”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∧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]))}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871537" y="1165225"/>
            <a:ext cx="784860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having a loan from the Perryridge branch, and the cities in which they live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198562" y="2154237"/>
            <a:ext cx="7531100" cy="1836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“Perryridge”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∧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     ∧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customer_city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customer_city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])))}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871537" y="1165225"/>
            <a:ext cx="7661275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an account at all branches located in Brooklyn: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87450" y="2092325"/>
            <a:ext cx="7807325" cy="185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 r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 ∧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∀ u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“Brooklyn” ⇒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∃ s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∧ ∃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w[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s 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∧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]))))}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 of Expressions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to write tuple calculus expressions that generate infinite relations.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{ t | ¬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 results in an infinite relation if the domain of any attribute of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infinite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guard against the problem, we restrict the set of allowable expressions to safe expressions.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expression {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tuple relational calculus is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every component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appears in one of the relations, tuples, or constants that appear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this is more than just a syntax condition.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{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5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∨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} is not safe --- it defines an infinite set with attribute values that do not appear in any relation or tuples or constants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Relational Calculus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nonprocedural query language equivalent in power to the tuple relational calculus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query is an expression of the form: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{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x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x</a:t>
            </a:r>
            <a:r>
              <a:rPr b="0" baseline="-25000" i="1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x</a:t>
            </a:r>
            <a:r>
              <a:rPr b="0" baseline="-25000" i="1" lang="en-US" sz="1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x</a:t>
            </a:r>
            <a:r>
              <a:rPr b="0" baseline="-25000" i="1" lang="en-US" sz="2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domain variables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represents a formula similar to that of the predicate calculus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885825" y="1165225"/>
            <a:ext cx="806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loans of over $1200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28625" y="4483100"/>
            <a:ext cx="1101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71537" y="3698875"/>
            <a:ext cx="86010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from the Perryridge branch and the loan amount: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∃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∃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l, b, 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               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“Perryridge”))}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∃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&lt;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l, “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150937" y="3148012"/>
            <a:ext cx="71167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{&lt;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l, b, 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l, b, 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1200)}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71537" y="2593975"/>
            <a:ext cx="69056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292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of over $1200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116137" y="1966912"/>
            <a:ext cx="4343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{&lt;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 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|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 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1200}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871537" y="1165225"/>
            <a:ext cx="7848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having a loan, an account, or both at the Perryridge branch: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1185862" y="4452937"/>
            <a:ext cx="630555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∃ s,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s, 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customer) ∧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∀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x,y,z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y, z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“Brooklyn”) ⇒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y, z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 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71537" y="3606800"/>
            <a:ext cx="77565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the names of all customers who have an account at all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branches located in Brooklyn: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414462" y="2065337"/>
            <a:ext cx="63023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l, b, 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“Perryridge”))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∨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c, 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∧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b, 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∧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“Perryridge”))}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 of Expressions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expression: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{ &lt;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x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x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|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x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safe if all of the following hold: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values that appear in tuples of the expression are values 	from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(that is, the values appear either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in a tuple of a 	relation mentioned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every “there exists” subformula of the form ∃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)), the 	subformula is true if and only if there is a value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such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true.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every “for all” subformula of the form ∀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)), the subformula is true if and only 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true for all values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Query-by-Example (QBE)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Structure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One Relation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Several Relations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Condition Box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Relation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Ordering the Display of Tuples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Operations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QBE — Basic Structure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graphical query language which is based (roughly) on the domain relational calculus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dimensional syntax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system creates templates of relations that are requested by users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are expressed “by example”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903287" y="36512"/>
            <a:ext cx="8223250" cy="630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QBE Skeleton Tables for the Bank Example</a:t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40171" l="1645" r="2341" t="38284"/>
          <a:stretch/>
        </p:blipFill>
        <p:spPr>
          <a:xfrm>
            <a:off x="1476375" y="1573212"/>
            <a:ext cx="6611937" cy="11128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4">
            <a:alphaModFix/>
          </a:blip>
          <a:srcRect b="41496" l="1750" r="952" t="41528"/>
          <a:stretch/>
        </p:blipFill>
        <p:spPr>
          <a:xfrm>
            <a:off x="1057275" y="3019425"/>
            <a:ext cx="7450137" cy="10477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5">
            <a:alphaModFix/>
          </a:blip>
          <a:srcRect b="39152" l="480" r="3184" t="37614"/>
          <a:stretch/>
        </p:blipFill>
        <p:spPr>
          <a:xfrm>
            <a:off x="1616075" y="4410075"/>
            <a:ext cx="6332537" cy="10620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QBE Skeleton Tables (Cont.)</a:t>
            </a:r>
            <a:endParaRPr/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 b="868" l="10652" r="10868" t="579"/>
          <a:stretch/>
        </p:blipFill>
        <p:spPr>
          <a:xfrm>
            <a:off x="1966912" y="1165225"/>
            <a:ext cx="5157787" cy="48577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One Relation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871537" y="1165225"/>
            <a:ext cx="7029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loan numbers at the Perryridge branch.</a:t>
            </a:r>
            <a:endParaRPr/>
          </a:p>
        </p:txBody>
      </p:sp>
      <p:cxnSp>
        <p:nvCxnSpPr>
          <p:cNvPr id="180" name="Google Shape;180;p24"/>
          <p:cNvCxnSpPr/>
          <p:nvPr/>
        </p:nvCxnSpPr>
        <p:spPr>
          <a:xfrm>
            <a:off x="2895600" y="1857375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1" name="Google Shape;181;p24"/>
          <p:cNvSpPr txBox="1"/>
          <p:nvPr/>
        </p:nvSpPr>
        <p:spPr>
          <a:xfrm>
            <a:off x="1104900" y="2886075"/>
            <a:ext cx="74485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0858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_x is a variable (optional; can be omitted in above query)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P. means print (display)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duplicates are removed by default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To retain duplicates use P.ALL </a:t>
            </a:r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3">
            <a:alphaModFix/>
          </a:blip>
          <a:srcRect b="43026" l="667" r="222" t="43026"/>
          <a:stretch/>
        </p:blipFill>
        <p:spPr>
          <a:xfrm>
            <a:off x="1222375" y="1655762"/>
            <a:ext cx="7596187" cy="8016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83" name="Google Shape;183;p24"/>
          <p:cNvPicPr preferRelativeResize="0"/>
          <p:nvPr/>
        </p:nvPicPr>
        <p:blipFill rotWithShape="1">
          <a:blip r:embed="rId4">
            <a:alphaModFix/>
          </a:blip>
          <a:srcRect b="43101" l="384" r="191" t="42332"/>
          <a:stretch/>
        </p:blipFill>
        <p:spPr>
          <a:xfrm>
            <a:off x="1222375" y="4614862"/>
            <a:ext cx="7381875" cy="8112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One Relation (Cont.)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871537" y="1165225"/>
            <a:ext cx="6861175" cy="7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Display full details of all loans</a:t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b="52144" l="18598" r="18861" t="34957"/>
          <a:stretch/>
        </p:blipFill>
        <p:spPr>
          <a:xfrm>
            <a:off x="1092200" y="2452687"/>
            <a:ext cx="7526337" cy="9144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1" name="Google Shape;191;p25"/>
          <p:cNvSpPr txBox="1"/>
          <p:nvPr/>
        </p:nvSpPr>
        <p:spPr>
          <a:xfrm>
            <a:off x="3221037" y="2971800"/>
            <a:ext cx="641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P._x</a:t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5334000" y="2949575"/>
            <a:ext cx="641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P._y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7162800" y="2951162"/>
            <a:ext cx="6413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P._z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776287" y="1851025"/>
            <a:ext cx="2398712" cy="436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1: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790575" y="3709987"/>
            <a:ext cx="43481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2: Shorthand notation</a:t>
            </a: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4">
            <a:alphaModFix/>
          </a:blip>
          <a:srcRect b="42897" l="418" r="835" t="42340"/>
          <a:stretch/>
        </p:blipFill>
        <p:spPr>
          <a:xfrm>
            <a:off x="1198562" y="4752975"/>
            <a:ext cx="7518400" cy="8429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One Relation (Cont.)</a:t>
            </a:r>
            <a:endParaRPr/>
          </a:p>
        </p:txBody>
      </p:sp>
      <p:sp>
        <p:nvSpPr>
          <p:cNvPr id="202" name="Google Shape;202;p26"/>
          <p:cNvSpPr txBox="1"/>
          <p:nvPr>
            <p:ph idx="1" type="body"/>
          </p:nvPr>
        </p:nvSpPr>
        <p:spPr>
          <a:xfrm>
            <a:off x="871537" y="2881312"/>
            <a:ext cx="7848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names of all branches that are not located in Brooklyn</a:t>
            </a:r>
            <a:endParaRPr/>
          </a:p>
        </p:txBody>
      </p:sp>
      <p:sp>
        <p:nvSpPr>
          <p:cNvPr id="203" name="Google Shape;203;p26"/>
          <p:cNvSpPr txBox="1"/>
          <p:nvPr/>
        </p:nvSpPr>
        <p:spPr>
          <a:xfrm>
            <a:off x="892175" y="1165225"/>
            <a:ext cx="78374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 the loan number of all loans with a loan amount of more than $700</a:t>
            </a:r>
            <a:endParaRPr/>
          </a:p>
        </p:txBody>
      </p:sp>
      <p:pic>
        <p:nvPicPr>
          <p:cNvPr id="204" name="Google Shape;204;p26"/>
          <p:cNvPicPr preferRelativeResize="0"/>
          <p:nvPr/>
        </p:nvPicPr>
        <p:blipFill rotWithShape="1">
          <a:blip r:embed="rId3">
            <a:alphaModFix/>
          </a:blip>
          <a:srcRect b="42973" l="405" r="607" t="42973"/>
          <a:stretch/>
        </p:blipFill>
        <p:spPr>
          <a:xfrm>
            <a:off x="1336675" y="1866900"/>
            <a:ext cx="7462837" cy="7953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05" name="Google Shape;205;p26"/>
          <p:cNvPicPr preferRelativeResize="0"/>
          <p:nvPr/>
        </p:nvPicPr>
        <p:blipFill rotWithShape="1">
          <a:blip r:embed="rId4">
            <a:alphaModFix/>
          </a:blip>
          <a:srcRect b="43298" l="374" r="563" t="42546"/>
          <a:stretch/>
        </p:blipFill>
        <p:spPr>
          <a:xfrm>
            <a:off x="1336675" y="3806825"/>
            <a:ext cx="7550150" cy="8096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One Relation (Cont.)</a:t>
            </a:r>
            <a:endParaRPr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871537" y="1165225"/>
            <a:ext cx="68611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loan numbers of all loans made jointly to Smith and Jones.</a:t>
            </a:r>
            <a:endParaRPr/>
          </a:p>
        </p:txBody>
      </p:sp>
      <p:sp>
        <p:nvSpPr>
          <p:cNvPr id="212" name="Google Shape;212;p27"/>
          <p:cNvSpPr txBox="1"/>
          <p:nvPr/>
        </p:nvSpPr>
        <p:spPr>
          <a:xfrm>
            <a:off x="871537" y="3484562"/>
            <a:ext cx="70294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live in the same city as Jones</a:t>
            </a:r>
            <a:endParaRPr/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38867" l="393" r="392" t="38604"/>
          <a:stretch/>
        </p:blipFill>
        <p:spPr>
          <a:xfrm>
            <a:off x="1298575" y="2087562"/>
            <a:ext cx="7196137" cy="12255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41775" l="587" r="586" t="41513"/>
          <a:stretch/>
        </p:blipFill>
        <p:spPr>
          <a:xfrm>
            <a:off x="1298575" y="4311650"/>
            <a:ext cx="7527925" cy="9540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Several Relations</a:t>
            </a:r>
            <a:endParaRPr/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871537" y="1165225"/>
            <a:ext cx="6861175" cy="87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 loan from the Perryridge branch.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 rotWithShape="1">
          <a:blip r:embed="rId3">
            <a:alphaModFix/>
          </a:blip>
          <a:srcRect b="42737" l="209" r="418" t="42457"/>
          <a:stretch/>
        </p:blipFill>
        <p:spPr>
          <a:xfrm>
            <a:off x="1343025" y="2014537"/>
            <a:ext cx="7161212" cy="8001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22" name="Google Shape;222;p28"/>
          <p:cNvPicPr preferRelativeResize="0"/>
          <p:nvPr/>
        </p:nvPicPr>
        <p:blipFill rotWithShape="1">
          <a:blip r:embed="rId4">
            <a:alphaModFix/>
          </a:blip>
          <a:srcRect b="42007" l="411" r="616" t="41731"/>
          <a:stretch/>
        </p:blipFill>
        <p:spPr>
          <a:xfrm>
            <a:off x="1343025" y="3717925"/>
            <a:ext cx="7446962" cy="9175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838200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Queries on Several Relations (Cont.)</a:t>
            </a:r>
            <a:endParaRPr/>
          </a:p>
        </p:txBody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871537" y="1165225"/>
            <a:ext cx="7661275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both an account and a loan at the bank.</a:t>
            </a:r>
            <a:endParaRPr/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3">
            <a:alphaModFix/>
          </a:blip>
          <a:srcRect b="32265" l="399" r="398" t="32000"/>
          <a:stretch/>
        </p:blipFill>
        <p:spPr>
          <a:xfrm>
            <a:off x="1233487" y="2246312"/>
            <a:ext cx="7086600" cy="19145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Negation in QBE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871537" y="1165225"/>
            <a:ext cx="751998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 have an account at the bank, but do not have a loan from the bank.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1447800" y="4933950"/>
            <a:ext cx="3276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¬ means “there does not exist”</a:t>
            </a:r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32203" l="544" r="907" t="31960"/>
          <a:stretch/>
        </p:blipFill>
        <p:spPr>
          <a:xfrm>
            <a:off x="1292225" y="2190750"/>
            <a:ext cx="7332662" cy="20002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Negation in QBE (Cont.)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871537" y="1165225"/>
            <a:ext cx="686117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at least two accounts.</a:t>
            </a:r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1371600" y="4267200"/>
            <a:ext cx="24765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¬ means “not equal to”</a:t>
            </a:r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3">
            <a:alphaModFix/>
          </a:blip>
          <a:srcRect b="39230" l="384" r="576" t="38974"/>
          <a:stretch/>
        </p:blipFill>
        <p:spPr>
          <a:xfrm>
            <a:off x="1182687" y="2071687"/>
            <a:ext cx="7358062" cy="1214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Condition Box</a:t>
            </a:r>
            <a:endParaRPr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871537" y="1165225"/>
            <a:ext cx="7319962" cy="206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the expression of constraints on domain variables that are either inconvenient or impossible to express within the skeleton tables.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conditions can be used in condition boxes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the loan numbers of all loans made to Smith, to Jones, or to both jointly</a:t>
            </a:r>
            <a:endParaRPr/>
          </a:p>
        </p:txBody>
      </p:sp>
      <p:pic>
        <p:nvPicPr>
          <p:cNvPr id="252" name="Google Shape;252;p32"/>
          <p:cNvPicPr preferRelativeResize="0"/>
          <p:nvPr/>
        </p:nvPicPr>
        <p:blipFill rotWithShape="1">
          <a:blip r:embed="rId3">
            <a:alphaModFix/>
          </a:blip>
          <a:srcRect b="30126" l="379" r="569" t="30380"/>
          <a:stretch/>
        </p:blipFill>
        <p:spPr>
          <a:xfrm>
            <a:off x="1101725" y="3308350"/>
            <a:ext cx="7453312" cy="22288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 Box (Cont.)</a:t>
            </a:r>
            <a:endParaRPr/>
          </a:p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QBE supports an interesting syntax for expressing alternative values</a:t>
            </a:r>
            <a:endParaRPr/>
          </a:p>
        </p:txBody>
      </p:sp>
      <p:pic>
        <p:nvPicPr>
          <p:cNvPr id="259" name="Google Shape;259;p33"/>
          <p:cNvPicPr preferRelativeResize="0"/>
          <p:nvPr/>
        </p:nvPicPr>
        <p:blipFill rotWithShape="1">
          <a:blip r:embed="rId3">
            <a:alphaModFix/>
          </a:blip>
          <a:srcRect b="33656" l="366" r="0" t="33415"/>
          <a:stretch/>
        </p:blipFill>
        <p:spPr>
          <a:xfrm>
            <a:off x="1162050" y="1857375"/>
            <a:ext cx="7781925" cy="19288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 Box (Cont.)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779462" y="895350"/>
            <a:ext cx="8180387" cy="68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account numbers with a balance greater than $1,300 and less than $1,500 </a:t>
            </a:r>
            <a:endParaRPr/>
          </a:p>
        </p:txBody>
      </p:sp>
      <p:sp>
        <p:nvSpPr>
          <p:cNvPr id="266" name="Google Shape;266;p34"/>
          <p:cNvSpPr txBox="1"/>
          <p:nvPr/>
        </p:nvSpPr>
        <p:spPr>
          <a:xfrm>
            <a:off x="779462" y="3724275"/>
            <a:ext cx="814546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0" marL="346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account numbers with a balance greater than $1,300 and  less than $2,000 but not exactly $1,500.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 rotWithShape="1">
          <a:blip r:embed="rId3">
            <a:alphaModFix/>
          </a:blip>
          <a:srcRect b="31182" l="604" r="603" t="31450"/>
          <a:stretch/>
        </p:blipFill>
        <p:spPr>
          <a:xfrm>
            <a:off x="1220787" y="1689100"/>
            <a:ext cx="7000875" cy="19859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68" name="Google Shape;268;p34"/>
          <p:cNvPicPr preferRelativeResize="0"/>
          <p:nvPr/>
        </p:nvPicPr>
        <p:blipFill rotWithShape="1">
          <a:blip r:embed="rId4">
            <a:alphaModFix/>
          </a:blip>
          <a:srcRect b="35247" l="392" r="587" t="34725"/>
          <a:stretch/>
        </p:blipFill>
        <p:spPr>
          <a:xfrm>
            <a:off x="1220787" y="4675187"/>
            <a:ext cx="7224712" cy="16430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 Box (Cont.)</a:t>
            </a:r>
            <a:endParaRPr/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branches that have assets greater than those of at least one branch located in Brooklyn</a:t>
            </a:r>
            <a:endParaRPr/>
          </a:p>
        </p:txBody>
      </p:sp>
      <p:pic>
        <p:nvPicPr>
          <p:cNvPr id="275" name="Google Shape;275;p35"/>
          <p:cNvPicPr preferRelativeResize="0"/>
          <p:nvPr/>
        </p:nvPicPr>
        <p:blipFill rotWithShape="1">
          <a:blip r:embed="rId3">
            <a:alphaModFix/>
          </a:blip>
          <a:srcRect b="30725" l="576" r="384" t="29956"/>
          <a:stretch/>
        </p:blipFill>
        <p:spPr>
          <a:xfrm>
            <a:off x="1365250" y="2606675"/>
            <a:ext cx="7367587" cy="21939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Relation</a:t>
            </a:r>
            <a:endParaRPr/>
          </a:p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871537" y="1165225"/>
            <a:ext cx="7442200" cy="4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all customers who have an account at the Perryridge branch.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need to: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accomplish this we: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skeleton table, called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attributes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the query.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Relation (Cont.)</a:t>
            </a:r>
            <a:endParaRPr/>
          </a:p>
        </p:txBody>
      </p:sp>
      <p:sp>
        <p:nvSpPr>
          <p:cNvPr id="287" name="Google Shape;287;p37"/>
          <p:cNvSpPr txBox="1"/>
          <p:nvPr>
            <p:ph idx="1" type="body"/>
          </p:nvPr>
        </p:nvSpPr>
        <p:spPr>
          <a:xfrm>
            <a:off x="871537" y="1165225"/>
            <a:ext cx="6861175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resulting query is: </a:t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25439" l="219" r="656" t="24853"/>
          <a:stretch/>
        </p:blipFill>
        <p:spPr>
          <a:xfrm>
            <a:off x="1509712" y="2343150"/>
            <a:ext cx="6457950" cy="24288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Ordering the Display of Tuples</a:t>
            </a:r>
            <a:endParaRPr/>
          </a:p>
        </p:txBody>
      </p:sp>
      <p:sp>
        <p:nvSpPr>
          <p:cNvPr id="294" name="Google Shape;294;p38"/>
          <p:cNvSpPr txBox="1"/>
          <p:nvPr>
            <p:ph idx="1" type="body"/>
          </p:nvPr>
        </p:nvSpPr>
        <p:spPr>
          <a:xfrm>
            <a:off x="871537" y="1165225"/>
            <a:ext cx="8240712" cy="433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AO = ascending order; DO = descending order.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list in ascending alphabetical order all customers who have an account at the bank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sorting on multiple attributes, the sorting order is specified by including with each sort operator (AO or DO) an integer surrounded by parentheses.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List all account numbers at the Perryridge branch in ascending alphabetic order with their respective account balances in descending order.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3">
            <a:alphaModFix/>
          </a:blip>
          <a:srcRect b="42282" l="411" r="410" t="42006"/>
          <a:stretch/>
        </p:blipFill>
        <p:spPr>
          <a:xfrm>
            <a:off x="1282700" y="2417762"/>
            <a:ext cx="7583487" cy="901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96" name="Google Shape;296;p38"/>
          <p:cNvPicPr preferRelativeResize="0"/>
          <p:nvPr/>
        </p:nvPicPr>
        <p:blipFill rotWithShape="1">
          <a:blip r:embed="rId4">
            <a:alphaModFix/>
          </a:blip>
          <a:srcRect b="43850" l="601" r="401" t="43314"/>
          <a:stretch/>
        </p:blipFill>
        <p:spPr>
          <a:xfrm>
            <a:off x="1282700" y="5246687"/>
            <a:ext cx="7469187" cy="7270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Operations</a:t>
            </a:r>
            <a:endParaRPr/>
          </a:p>
        </p:txBody>
      </p:sp>
      <p:sp>
        <p:nvSpPr>
          <p:cNvPr id="302" name="Google Shape;302;p39"/>
          <p:cNvSpPr txBox="1"/>
          <p:nvPr>
            <p:ph idx="1" type="body"/>
          </p:nvPr>
        </p:nvSpPr>
        <p:spPr>
          <a:xfrm>
            <a:off x="871537" y="1165225"/>
            <a:ext cx="7370762" cy="25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aggregate operators are AVG, MAX, MIN, SUM, and CNT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above operators must be postfixed with “ALL” (e.g., SUM.ALL. or AVG.ALL._x) to ensure that duplicates are not eliminated.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the total balance of all the accounts maintained at the Perryridge branch.</a:t>
            </a:r>
            <a:endParaRPr/>
          </a:p>
        </p:txBody>
      </p:sp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 b="43948" l="592" r="0" t="43946"/>
          <a:stretch/>
        </p:blipFill>
        <p:spPr>
          <a:xfrm>
            <a:off x="1273175" y="3343275"/>
            <a:ext cx="7196137" cy="6572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Operations (Cont.)</a:t>
            </a:r>
            <a:endParaRPr/>
          </a:p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871537" y="1165225"/>
            <a:ext cx="8137525" cy="135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UNQ is used to specify that we want to eliminate duplicates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total number of customers having an account at the bank.</a:t>
            </a:r>
            <a:endParaRPr/>
          </a:p>
        </p:txBody>
      </p:sp>
      <p:pic>
        <p:nvPicPr>
          <p:cNvPr id="310" name="Google Shape;310;p40"/>
          <p:cNvPicPr preferRelativeResize="0"/>
          <p:nvPr/>
        </p:nvPicPr>
        <p:blipFill rotWithShape="1">
          <a:blip r:embed="rId3">
            <a:alphaModFix/>
          </a:blip>
          <a:srcRect b="42399" l="433" r="433" t="42095"/>
          <a:stretch/>
        </p:blipFill>
        <p:spPr>
          <a:xfrm>
            <a:off x="1357312" y="3011487"/>
            <a:ext cx="6888162" cy="8080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Examples</a:t>
            </a:r>
            <a:endParaRPr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871537" y="1165225"/>
            <a:ext cx="7029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average balance at each branch.</a:t>
            </a:r>
            <a:endParaRPr/>
          </a:p>
        </p:txBody>
      </p:sp>
      <p:sp>
        <p:nvSpPr>
          <p:cNvPr id="317" name="Google Shape;317;p41"/>
          <p:cNvSpPr txBox="1"/>
          <p:nvPr/>
        </p:nvSpPr>
        <p:spPr>
          <a:xfrm>
            <a:off x="685800" y="2124075"/>
            <a:ext cx="7721600" cy="3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893762" y="2825750"/>
            <a:ext cx="7827962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“G” in “P.G” is analogous to SQL’s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“ALL” in the “P.AVG.ALL” entry in the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 ensures that all balances are considered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find the average account balance at only those branches where the average account balance is more than  $1,200, we simply add the condition box:</a:t>
            </a:r>
            <a:endParaRPr/>
          </a:p>
        </p:txBody>
      </p:sp>
      <p:pic>
        <p:nvPicPr>
          <p:cNvPr id="319" name="Google Shape;319;p41"/>
          <p:cNvPicPr preferRelativeResize="0"/>
          <p:nvPr/>
        </p:nvPicPr>
        <p:blipFill rotWithShape="1">
          <a:blip r:embed="rId3">
            <a:alphaModFix/>
          </a:blip>
          <a:srcRect b="43927" l="193" r="387" t="44024"/>
          <a:stretch/>
        </p:blipFill>
        <p:spPr>
          <a:xfrm>
            <a:off x="1236662" y="1808162"/>
            <a:ext cx="7493000" cy="6810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20" name="Google Shape;320;p41"/>
          <p:cNvPicPr preferRelativeResize="0"/>
          <p:nvPr/>
        </p:nvPicPr>
        <p:blipFill rotWithShape="1">
          <a:blip r:embed="rId4">
            <a:alphaModFix/>
          </a:blip>
          <a:srcRect b="34192" l="688" r="687" t="34193"/>
          <a:stretch/>
        </p:blipFill>
        <p:spPr>
          <a:xfrm>
            <a:off x="2514600" y="4972050"/>
            <a:ext cx="4591050" cy="11033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Example</a:t>
            </a:r>
            <a:endParaRPr/>
          </a:p>
        </p:txBody>
      </p:sp>
      <p:sp>
        <p:nvSpPr>
          <p:cNvPr id="326" name="Google Shape;326;p42"/>
          <p:cNvSpPr txBox="1"/>
          <p:nvPr>
            <p:ph idx="1" type="body"/>
          </p:nvPr>
        </p:nvSpPr>
        <p:spPr>
          <a:xfrm>
            <a:off x="871537" y="1165225"/>
            <a:ext cx="7812087" cy="301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an account at all branches located in Brooklyn.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Approach:  for each customer, find the number of branches in Brooklyn at which they have accounts, and compare with total number of branches in Brooklyn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QBE does not provide subquery functionality, so both above tasks have to be combined in a single query. 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done for this query, but there are queries that require subqueries and cannot always be expressed in QBE.</a:t>
            </a:r>
            <a:endParaRPr/>
          </a:p>
        </p:txBody>
      </p:sp>
      <p:sp>
        <p:nvSpPr>
          <p:cNvPr id="327" name="Google Shape;327;p42"/>
          <p:cNvSpPr txBox="1"/>
          <p:nvPr/>
        </p:nvSpPr>
        <p:spPr>
          <a:xfrm>
            <a:off x="871537" y="4264025"/>
            <a:ext cx="7848600" cy="211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query on the next page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CNT.UNQ.ALL._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specifies the number of distinct branches in Brooklyn.  Note: The variable _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not connected to other variables in the query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CNT.UNQ.ALL._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specifies the number of distinct branches in Brooklyn at which customer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 an account.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Example (Cont.)</a:t>
            </a:r>
            <a:endParaRPr/>
          </a:p>
        </p:txBody>
      </p:sp>
      <p:pic>
        <p:nvPicPr>
          <p:cNvPr id="333" name="Google Shape;333;p43"/>
          <p:cNvPicPr preferRelativeResize="0"/>
          <p:nvPr/>
        </p:nvPicPr>
        <p:blipFill rotWithShape="1">
          <a:blip r:embed="rId3">
            <a:alphaModFix/>
          </a:blip>
          <a:srcRect b="23041" l="502" r="335" t="23266"/>
          <a:stretch/>
        </p:blipFill>
        <p:spPr>
          <a:xfrm>
            <a:off x="901700" y="1231900"/>
            <a:ext cx="7505700" cy="30480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4" name="Google Shape;334;p43"/>
          <p:cNvPicPr preferRelativeResize="0"/>
          <p:nvPr/>
        </p:nvPicPr>
        <p:blipFill rotWithShape="1">
          <a:blip r:embed="rId4">
            <a:alphaModFix/>
          </a:blip>
          <a:srcRect b="22530" l="595" r="398" t="21736"/>
          <a:stretch/>
        </p:blipFill>
        <p:spPr>
          <a:xfrm>
            <a:off x="3254375" y="4833937"/>
            <a:ext cx="2927350" cy="12350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type="title"/>
          </p:nvPr>
        </p:nvSpPr>
        <p:spPr>
          <a:xfrm>
            <a:off x="8191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Deletion</a:t>
            </a:r>
            <a:endParaRPr/>
          </a:p>
        </p:txBody>
      </p:sp>
      <p:sp>
        <p:nvSpPr>
          <p:cNvPr id="340" name="Google Shape;340;p44"/>
          <p:cNvSpPr txBox="1"/>
          <p:nvPr>
            <p:ph idx="1" type="body"/>
          </p:nvPr>
        </p:nvSpPr>
        <p:spPr>
          <a:xfrm>
            <a:off x="871537" y="1165225"/>
            <a:ext cx="7848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 of tuples from a relation is expressed by use of a D. command.  In the case where we delete information in only some of the columns, null values, specified by –, are inserted.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customer Smith</a:t>
            </a:r>
            <a:endParaRPr/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value of the branch whose name is “Perryridge”.</a:t>
            </a:r>
            <a:endParaRPr/>
          </a:p>
        </p:txBody>
      </p:sp>
      <p:sp>
        <p:nvSpPr>
          <p:cNvPr id="341" name="Google Shape;341;p44"/>
          <p:cNvSpPr txBox="1"/>
          <p:nvPr/>
        </p:nvSpPr>
        <p:spPr>
          <a:xfrm>
            <a:off x="762000" y="4038600"/>
            <a:ext cx="7029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44"/>
          <p:cNvPicPr preferRelativeResize="0"/>
          <p:nvPr/>
        </p:nvPicPr>
        <p:blipFill rotWithShape="1">
          <a:blip r:embed="rId3">
            <a:alphaModFix/>
          </a:blip>
          <a:srcRect b="44116" l="367" r="549" t="43872"/>
          <a:stretch/>
        </p:blipFill>
        <p:spPr>
          <a:xfrm>
            <a:off x="1279525" y="2747962"/>
            <a:ext cx="7264400" cy="6604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43" name="Google Shape;343;p44"/>
          <p:cNvPicPr preferRelativeResize="0"/>
          <p:nvPr/>
        </p:nvPicPr>
        <p:blipFill rotWithShape="1">
          <a:blip r:embed="rId4">
            <a:alphaModFix/>
          </a:blip>
          <a:srcRect b="43020" l="343" r="513" t="43020"/>
          <a:stretch/>
        </p:blipFill>
        <p:spPr>
          <a:xfrm>
            <a:off x="1279525" y="4673600"/>
            <a:ext cx="7335837" cy="774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 Query Examples</a:t>
            </a:r>
            <a:endParaRPr/>
          </a:p>
        </p:txBody>
      </p:sp>
      <p:sp>
        <p:nvSpPr>
          <p:cNvPr id="349" name="Google Shape;349;p45"/>
          <p:cNvSpPr txBox="1"/>
          <p:nvPr>
            <p:ph idx="1" type="body"/>
          </p:nvPr>
        </p:nvSpPr>
        <p:spPr>
          <a:xfrm>
            <a:off x="871537" y="1165225"/>
            <a:ext cx="8037512" cy="127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loans with a loan amount greater than $1300 and  less than $1500.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consistency, we have to delete information from loan and borrower tables</a:t>
            </a:r>
            <a:endParaRPr/>
          </a:p>
        </p:txBody>
      </p:sp>
      <p:pic>
        <p:nvPicPr>
          <p:cNvPr id="350" name="Google Shape;350;p45"/>
          <p:cNvPicPr preferRelativeResize="0"/>
          <p:nvPr/>
        </p:nvPicPr>
        <p:blipFill rotWithShape="1">
          <a:blip r:embed="rId3">
            <a:alphaModFix/>
          </a:blip>
          <a:srcRect b="42510" l="331" r="827" t="42510"/>
          <a:stretch/>
        </p:blipFill>
        <p:spPr>
          <a:xfrm>
            <a:off x="1149350" y="2478087"/>
            <a:ext cx="7599362" cy="8636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51" name="Google Shape;351;p45"/>
          <p:cNvPicPr preferRelativeResize="0"/>
          <p:nvPr/>
        </p:nvPicPr>
        <p:blipFill rotWithShape="1">
          <a:blip r:embed="rId4">
            <a:alphaModFix/>
          </a:blip>
          <a:srcRect b="31735" l="532" r="354" t="31260"/>
          <a:stretch/>
        </p:blipFill>
        <p:spPr>
          <a:xfrm>
            <a:off x="1149350" y="3795712"/>
            <a:ext cx="7086600" cy="19843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Deletion Query Examples (Cont.)</a:t>
            </a:r>
            <a:endParaRPr/>
          </a:p>
        </p:txBody>
      </p:sp>
      <p:sp>
        <p:nvSpPr>
          <p:cNvPr id="357" name="Google Shape;357;p46"/>
          <p:cNvSpPr txBox="1"/>
          <p:nvPr>
            <p:ph idx="1" type="body"/>
          </p:nvPr>
        </p:nvSpPr>
        <p:spPr>
          <a:xfrm>
            <a:off x="871537" y="1165225"/>
            <a:ext cx="7029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accounts at branches located in Brooklyn.</a:t>
            </a:r>
            <a:endParaRPr/>
          </a:p>
        </p:txBody>
      </p:sp>
      <p:pic>
        <p:nvPicPr>
          <p:cNvPr id="358" name="Google Shape;358;p46"/>
          <p:cNvPicPr preferRelativeResize="0"/>
          <p:nvPr/>
        </p:nvPicPr>
        <p:blipFill rotWithShape="1">
          <a:blip r:embed="rId3">
            <a:alphaModFix/>
          </a:blip>
          <a:srcRect b="26730" l="358" r="357" t="26730"/>
          <a:stretch/>
        </p:blipFill>
        <p:spPr>
          <a:xfrm>
            <a:off x="1196975" y="2111375"/>
            <a:ext cx="7043737" cy="24765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914400" y="6667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</a:t>
            </a:r>
            <a:endParaRPr/>
          </a:p>
        </p:txBody>
      </p:sp>
      <p:sp>
        <p:nvSpPr>
          <p:cNvPr id="364" name="Google Shape;364;p47"/>
          <p:cNvSpPr txBox="1"/>
          <p:nvPr>
            <p:ph idx="1" type="body"/>
          </p:nvPr>
        </p:nvSpPr>
        <p:spPr>
          <a:xfrm>
            <a:off x="871537" y="1165225"/>
            <a:ext cx="70294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is done by placing the I. operator in the query expression.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the fact that account A-9732 at the Perryridge branch has a balance of $700.</a:t>
            </a:r>
            <a:endParaRPr/>
          </a:p>
        </p:txBody>
      </p:sp>
      <p:sp>
        <p:nvSpPr>
          <p:cNvPr id="365" name="Google Shape;365;p47"/>
          <p:cNvSpPr txBox="1"/>
          <p:nvPr/>
        </p:nvSpPr>
        <p:spPr>
          <a:xfrm>
            <a:off x="733425" y="4286250"/>
            <a:ext cx="75485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47"/>
          <p:cNvPicPr preferRelativeResize="0"/>
          <p:nvPr/>
        </p:nvPicPr>
        <p:blipFill rotWithShape="1">
          <a:blip r:embed="rId3">
            <a:alphaModFix/>
          </a:blip>
          <a:srcRect b="43469" l="355" r="533" t="43229"/>
          <a:stretch/>
        </p:blipFill>
        <p:spPr>
          <a:xfrm>
            <a:off x="1136650" y="2752725"/>
            <a:ext cx="7696200" cy="774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type="title"/>
          </p:nvPr>
        </p:nvSpPr>
        <p:spPr>
          <a:xfrm>
            <a:off x="457200" y="119062"/>
            <a:ext cx="8905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 (Cont.)</a:t>
            </a:r>
            <a:endParaRPr/>
          </a:p>
        </p:txBody>
      </p:sp>
      <p:sp>
        <p:nvSpPr>
          <p:cNvPr id="372" name="Google Shape;372;p48"/>
          <p:cNvSpPr txBox="1"/>
          <p:nvPr/>
        </p:nvSpPr>
        <p:spPr>
          <a:xfrm>
            <a:off x="871537" y="1165225"/>
            <a:ext cx="803116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as a gift for all loan customers of the Perryridge branch, a new $200 savings account for every loan account they have, with the loan number serving as the account number for the new savings account.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3" name="Google Shape;373;p48"/>
          <p:cNvPicPr preferRelativeResize="0"/>
          <p:nvPr/>
        </p:nvPicPr>
        <p:blipFill rotWithShape="1">
          <a:blip r:embed="rId3">
            <a:alphaModFix/>
          </a:blip>
          <a:srcRect b="18373" l="787" r="392" t="18373"/>
          <a:stretch/>
        </p:blipFill>
        <p:spPr>
          <a:xfrm>
            <a:off x="1530350" y="2413000"/>
            <a:ext cx="6375400" cy="3060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/>
          <p:nvPr>
            <p:ph type="title"/>
          </p:nvPr>
        </p:nvSpPr>
        <p:spPr>
          <a:xfrm>
            <a:off x="835025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Updates</a:t>
            </a:r>
            <a:endParaRPr/>
          </a:p>
        </p:txBody>
      </p:sp>
      <p:sp>
        <p:nvSpPr>
          <p:cNvPr id="379" name="Google Shape;379;p49"/>
          <p:cNvSpPr txBox="1"/>
          <p:nvPr>
            <p:ph idx="1" type="body"/>
          </p:nvPr>
        </p:nvSpPr>
        <p:spPr>
          <a:xfrm>
            <a:off x="871537" y="1165225"/>
            <a:ext cx="7915275" cy="3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U. operator to change a value in a tuple without changing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values in the tuple. QBE does not allow users to update the primary key fields.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the asset value of the Perryridge branch to $10,000,000. 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all balances by 5 percent.</a:t>
            </a:r>
            <a:endParaRPr/>
          </a:p>
        </p:txBody>
      </p:sp>
      <p:sp>
        <p:nvSpPr>
          <p:cNvPr id="380" name="Google Shape;380;p49"/>
          <p:cNvSpPr txBox="1"/>
          <p:nvPr/>
        </p:nvSpPr>
        <p:spPr>
          <a:xfrm>
            <a:off x="990600" y="3838575"/>
            <a:ext cx="7029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1" name="Google Shape;381;p49"/>
          <p:cNvPicPr preferRelativeResize="0"/>
          <p:nvPr/>
        </p:nvPicPr>
        <p:blipFill rotWithShape="1">
          <a:blip r:embed="rId3">
            <a:alphaModFix/>
          </a:blip>
          <a:srcRect b="43321" l="389" r="584" t="43579"/>
          <a:stretch/>
        </p:blipFill>
        <p:spPr>
          <a:xfrm>
            <a:off x="1258887" y="2747962"/>
            <a:ext cx="7359650" cy="7302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82" name="Google Shape;382;p49"/>
          <p:cNvPicPr preferRelativeResize="0"/>
          <p:nvPr/>
        </p:nvPicPr>
        <p:blipFill rotWithShape="1">
          <a:blip r:embed="rId4">
            <a:alphaModFix/>
          </a:blip>
          <a:srcRect b="43835" l="341" r="684" t="43835"/>
          <a:stretch/>
        </p:blipFill>
        <p:spPr>
          <a:xfrm>
            <a:off x="1258887" y="4792662"/>
            <a:ext cx="7578725" cy="7080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Microsoft Access QBE</a:t>
            </a:r>
            <a:endParaRPr/>
          </a:p>
        </p:txBody>
      </p:sp>
      <p:sp>
        <p:nvSpPr>
          <p:cNvPr id="388" name="Google Shape;388;p50"/>
          <p:cNvSpPr txBox="1"/>
          <p:nvPr>
            <p:ph idx="1" type="body"/>
          </p:nvPr>
        </p:nvSpPr>
        <p:spPr>
          <a:xfrm>
            <a:off x="871537" y="1165225"/>
            <a:ext cx="7904162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Microsoft Access supports a variant of QBE called Graphical Query By Example (GQBE)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GQBE differs from QBE in the following ways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 of relations are listed vertically, one below the other, instead of horizontally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 of using variables, lines (links) between attributes are used to specify that their values should be the same.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Links are added automatically on the basis of attribute name,  and the user can then add or delete links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default, a link specifies an inner join, but can be modified to specify outer joins.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Conditions, values to be printed, as well as group by attributes are all specified together in a box called the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grid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/>
          <p:nvPr/>
        </p:nvSpPr>
        <p:spPr>
          <a:xfrm>
            <a:off x="757237" y="2857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"/>
              <a:buNone/>
            </a:pPr>
            <a:r>
              <a:rPr b="1" i="0" lang="en-US" sz="3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Example Query in Microsoft Access QBE</a:t>
            </a:r>
            <a:endParaRPr/>
          </a:p>
        </p:txBody>
      </p:sp>
      <p:sp>
        <p:nvSpPr>
          <p:cNvPr id="394" name="Google Shape;394;p51"/>
          <p:cNvSpPr txBox="1"/>
          <p:nvPr/>
        </p:nvSpPr>
        <p:spPr>
          <a:xfrm>
            <a:off x="871537" y="1165225"/>
            <a:ext cx="7848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query: Find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all accounts at the Perryridge branch</a:t>
            </a:r>
            <a:endParaRPr/>
          </a:p>
        </p:txBody>
      </p:sp>
      <p:pic>
        <p:nvPicPr>
          <p:cNvPr id="395" name="Google Shape;395;p51"/>
          <p:cNvPicPr preferRelativeResize="0"/>
          <p:nvPr/>
        </p:nvPicPr>
        <p:blipFill rotWithShape="1">
          <a:blip r:embed="rId3">
            <a:alphaModFix/>
          </a:blip>
          <a:srcRect b="11717" l="613" r="407" t="11443"/>
          <a:stretch/>
        </p:blipFill>
        <p:spPr>
          <a:xfrm>
            <a:off x="1379537" y="1922462"/>
            <a:ext cx="6919912" cy="40290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/>
          <p:nvPr/>
        </p:nvSpPr>
        <p:spPr>
          <a:xfrm>
            <a:off x="550862" y="103187"/>
            <a:ext cx="83581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Helvetica Neue"/>
              <a:buNone/>
            </a:pPr>
            <a:r>
              <a:rPr b="1" i="0" lang="en-US" sz="3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Aggregation Query in Access QBE</a:t>
            </a:r>
            <a:endParaRPr/>
          </a:p>
        </p:txBody>
      </p:sp>
      <p:sp>
        <p:nvSpPr>
          <p:cNvPr id="401" name="Google Shape;401;p52"/>
          <p:cNvSpPr txBox="1"/>
          <p:nvPr/>
        </p:nvSpPr>
        <p:spPr>
          <a:xfrm>
            <a:off x="871537" y="1165225"/>
            <a:ext cx="78486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name, street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city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all customers who have more than one account at the bank</a:t>
            </a:r>
            <a:endParaRPr/>
          </a:p>
        </p:txBody>
      </p:sp>
      <p:pic>
        <p:nvPicPr>
          <p:cNvPr id="402" name="Google Shape;402;p52"/>
          <p:cNvPicPr preferRelativeResize="0"/>
          <p:nvPr/>
        </p:nvPicPr>
        <p:blipFill rotWithShape="1">
          <a:blip r:embed="rId3">
            <a:alphaModFix/>
          </a:blip>
          <a:srcRect b="10459" l="765" r="573" t="9948"/>
          <a:stretch/>
        </p:blipFill>
        <p:spPr>
          <a:xfrm>
            <a:off x="1150937" y="1827212"/>
            <a:ext cx="7367587" cy="4457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 in Access QBE</a:t>
            </a:r>
            <a:endParaRPr/>
          </a:p>
        </p:txBody>
      </p:sp>
      <p:sp>
        <p:nvSpPr>
          <p:cNvPr id="408" name="Google Shape;408;p53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row labeled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specifies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attributes are group by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attributes are to be aggregated upon (and the aggregate function).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attributes that are neither group by nor aggregated, we can still specify conditions by selecting </a:t>
            </a:r>
            <a:r>
              <a:rPr b="1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the Total row and listing the conditions below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in SQL, if group by is used, only group by attributes and aggregate results can be output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</a:t>
            </a:r>
            <a:endParaRPr/>
          </a:p>
        </p:txBody>
      </p:sp>
      <p:sp>
        <p:nvSpPr>
          <p:cNvPr id="414" name="Google Shape;414;p54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Structure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of Datalog Rules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Semantics of Nonrecursive Datalog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Operations in Datalog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 in Datalog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Power of Recursion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Structure</a:t>
            </a:r>
            <a:endParaRPr/>
          </a:p>
        </p:txBody>
      </p:sp>
      <p:sp>
        <p:nvSpPr>
          <p:cNvPr id="420" name="Google Shape;420;p55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Prolog-like logic-based language that allows recursive queries; based on first-order logic.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Datalog program consists of a set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define views.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define 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account numbers and balances for accounts at the Perryridge branch with a balance of over $700.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:– 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Perryridge”,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700.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Retrieve the balance of account number “A-217” in the view relation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v1.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? v1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A-217”,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find account number and balance of all accounts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have a balance greater than 800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?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800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426" name="Google Shape;426;p56"/>
          <p:cNvSpPr txBox="1"/>
          <p:nvPr>
            <p:ph idx="1" type="body"/>
          </p:nvPr>
        </p:nvSpPr>
        <p:spPr>
          <a:xfrm>
            <a:off x="871537" y="1165225"/>
            <a:ext cx="7907337" cy="5197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rule defines a set of tuples that a view relation must contain.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:– account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Perryridge”,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700    is read as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all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“Perryridge”,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∈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700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∈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endParaRPr b="0" i="1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of tuples in a view relation is then defined as the union of all the sets of tuples defined by the rules for the view relation.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interest_rate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N,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10000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interest_rate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N,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&gt;= 10000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Negation in Datalog</a:t>
            </a:r>
            <a:endParaRPr/>
          </a:p>
        </p:txBody>
      </p:sp>
      <p:sp>
        <p:nvSpPr>
          <p:cNvPr id="432" name="Google Shape;432;p57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contains the names of all customers who have a deposit but no loan at the bank: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N, 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is_borrower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is_borrower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N,L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N, 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in the first rule results in a different meaning, namely there is some loan L for which N is not a borrower.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prevent such confusion, we require all variables in negated “predicate” to also be present in non-negated predicates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Named Attribute Notation</a:t>
            </a:r>
            <a:endParaRPr/>
          </a:p>
        </p:txBody>
      </p:sp>
      <p:sp>
        <p:nvSpPr>
          <p:cNvPr id="438" name="Google Shape;438;p58"/>
          <p:cNvSpPr txBox="1"/>
          <p:nvPr>
            <p:ph idx="1" type="body"/>
          </p:nvPr>
        </p:nvSpPr>
        <p:spPr>
          <a:xfrm>
            <a:off x="438150" y="1165225"/>
            <a:ext cx="8513762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 rules use a positional notation that is convenient for relations with a small number of attributes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easy to extend Datalog to support named attributes. 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defined using named attributes as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balance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:– 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account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 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“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Perryridge”, balance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700.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9"/>
          <p:cNvSpPr txBox="1"/>
          <p:nvPr>
            <p:ph type="title"/>
          </p:nvPr>
        </p:nvSpPr>
        <p:spPr>
          <a:xfrm>
            <a:off x="990600" y="873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Formal Syntax and Semantics of Datalog</a:t>
            </a:r>
            <a:endParaRPr/>
          </a:p>
        </p:txBody>
      </p:sp>
      <p:sp>
        <p:nvSpPr>
          <p:cNvPr id="444" name="Google Shape;444;p59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formally define the syntax and semantics (meaning) of Datalog programs, in the following steps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define the syntax of predicates, and then the syntax of rules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define the semantics of individual rules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define the semantics of non-recursive programs, based on a layering of rules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to write rules that can generate an infinite number of tuples in the view relation. To prevent this, we define what rules are “safe”.  Non-recursive programs containing only safe rules can only generate a finite number of answers.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to write recursive programs whose meaning is unclear.  We define what recursive programs are acceptable, and define their meaning.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of Datalog Rules</a:t>
            </a:r>
            <a:endParaRPr/>
          </a:p>
        </p:txBody>
      </p:sp>
      <p:sp>
        <p:nvSpPr>
          <p:cNvPr id="450" name="Google Shape;450;p60"/>
          <p:cNvSpPr txBox="1"/>
          <p:nvPr>
            <p:ph idx="1" type="body"/>
          </p:nvPr>
        </p:nvSpPr>
        <p:spPr>
          <a:xfrm>
            <a:off x="871537" y="1165225"/>
            <a:ext cx="7848600" cy="5138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positive literal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has the form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..., 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a relation with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either a constant or variable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negative literal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 the form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..., 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Comparison operations are treated as positive predicates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 &gt; Y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treated as a predicate &gt;(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“&gt;” is conceptually an (infinite) relation that contains all pairs of values such that the first value is greater than the second value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Arithmetic operations are also treated as predicates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A = B + C  is treated as +(B, C, A), where the relation “+” contains all triples such that the third value is 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of the first two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of Datalog Rules (Cont.)</a:t>
            </a:r>
            <a:endParaRPr/>
          </a:p>
        </p:txBody>
      </p:sp>
      <p:sp>
        <p:nvSpPr>
          <p:cNvPr id="456" name="Google Shape;456;p61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Rules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built out of literals and have the form: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	     head                   body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literal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– the literal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body – the rest of the literals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rule with an empty body, written in the form: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indicates tuple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in relation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 program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rules</a:t>
            </a:r>
            <a:endParaRPr/>
          </a:p>
        </p:txBody>
      </p:sp>
      <p:sp>
        <p:nvSpPr>
          <p:cNvPr id="457" name="Google Shape;457;p61"/>
          <p:cNvSpPr/>
          <p:nvPr/>
        </p:nvSpPr>
        <p:spPr>
          <a:xfrm rot="-5400000">
            <a:off x="5233987" y="1479550"/>
            <a:ext cx="165100" cy="126047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61"/>
          <p:cNvSpPr/>
          <p:nvPr/>
        </p:nvSpPr>
        <p:spPr>
          <a:xfrm rot="-5400000">
            <a:off x="3457575" y="1516062"/>
            <a:ext cx="152400" cy="114617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Semantics of a Rule</a:t>
            </a:r>
            <a:endParaRPr/>
          </a:p>
        </p:txBody>
      </p:sp>
      <p:sp>
        <p:nvSpPr>
          <p:cNvPr id="464" name="Google Shape;464;p62"/>
          <p:cNvSpPr txBox="1"/>
          <p:nvPr>
            <p:ph idx="1" type="body"/>
          </p:nvPr>
        </p:nvSpPr>
        <p:spPr>
          <a:xfrm>
            <a:off x="871537" y="1165225"/>
            <a:ext cx="7654925" cy="470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ground instantiation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 rule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 simply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instantiation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the result of replacing each variable in the rule by some constant.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Eg. Rule defining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A,B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“Perryridge”,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 &gt;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700.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instantiation above rule: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v1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A-217”, 750) :–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(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“A-217”, “Perryridge”, 750),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750 &gt; 700.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body of rule instantiation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satisfied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set of facts (database instance)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each positive literal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i,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i,ni</a:t>
            </a:r>
            <a:r>
              <a:rPr b="0" baseline="-2500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in the body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R’, 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contains the fact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i,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i,ni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negative literal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j,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j,nj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in the body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R’, 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contain the fact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j,1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j,nj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Semantics of a Rule (Cont.)</a:t>
            </a:r>
            <a:endParaRPr/>
          </a:p>
        </p:txBody>
      </p:sp>
      <p:sp>
        <p:nvSpPr>
          <p:cNvPr id="470" name="Google Shape;470;p63"/>
          <p:cNvSpPr txBox="1"/>
          <p:nvPr>
            <p:ph idx="1" type="body"/>
          </p:nvPr>
        </p:nvSpPr>
        <p:spPr>
          <a:xfrm>
            <a:off x="871537" y="1165225"/>
            <a:ext cx="819785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define the set of facts that can be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inferred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a given set of facts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using rule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infer(R, l)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| there is a ground instantiation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head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the body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R’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satisfied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an set of rules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}, we define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l) = 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∪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∪ ... ∪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Layering of Rules</a:t>
            </a:r>
            <a:endParaRPr/>
          </a:p>
        </p:txBody>
      </p:sp>
      <p:sp>
        <p:nvSpPr>
          <p:cNvPr id="476" name="Google Shape;476;p64"/>
          <p:cNvSpPr txBox="1"/>
          <p:nvPr>
            <p:ph idx="1" type="body"/>
          </p:nvPr>
        </p:nvSpPr>
        <p:spPr>
          <a:xfrm>
            <a:off x="871537" y="1165225"/>
            <a:ext cx="6861175" cy="232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the interest on each account in Perryridge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interest(A, l)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perryridge_account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A,B),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interest_rate(A,R), l = B * R/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perryridge_account(A,B)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“Perryridge”,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B).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interest_rate (A,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 :– account 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N, A, B), B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10000.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interest_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rate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 :– account 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A, B),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&gt;= 10000.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Layering of the view relations</a:t>
            </a:r>
            <a:endParaRPr/>
          </a:p>
        </p:txBody>
      </p:sp>
      <p:pic>
        <p:nvPicPr>
          <p:cNvPr id="477" name="Google Shape;477;p64"/>
          <p:cNvPicPr preferRelativeResize="0"/>
          <p:nvPr/>
        </p:nvPicPr>
        <p:blipFill rotWithShape="1">
          <a:blip r:embed="rId3">
            <a:alphaModFix/>
          </a:blip>
          <a:srcRect b="810" l="7713" r="8118" t="811"/>
          <a:stretch/>
        </p:blipFill>
        <p:spPr>
          <a:xfrm>
            <a:off x="3055937" y="3729037"/>
            <a:ext cx="3067050" cy="26892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Layering Rules (Cont.)</a:t>
            </a:r>
            <a:endParaRPr/>
          </a:p>
        </p:txBody>
      </p:sp>
      <p:sp>
        <p:nvSpPr>
          <p:cNvPr id="483" name="Google Shape;483;p65"/>
          <p:cNvSpPr txBox="1"/>
          <p:nvPr>
            <p:ph idx="1" type="body"/>
          </p:nvPr>
        </p:nvSpPr>
        <p:spPr>
          <a:xfrm>
            <a:off x="819150" y="1565275"/>
            <a:ext cx="7661275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relation is a layer 1 if all relations used in the bodies of rules defining it are stored in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relation is a layer 2 if all relations used in the bodies of rules defining it are either stored in the database, or are in layer 1.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 layer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 if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not in layers 1, 2,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relations used in the bodies of rules defining a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either stored in the database, or are in layers 1, 2, ...,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484" name="Google Shape;484;p65"/>
          <p:cNvSpPr txBox="1"/>
          <p:nvPr/>
        </p:nvSpPr>
        <p:spPr>
          <a:xfrm>
            <a:off x="871537" y="1165225"/>
            <a:ext cx="11191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Formally: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Semantics of a Program</a:t>
            </a:r>
            <a:endParaRPr/>
          </a:p>
        </p:txBody>
      </p:sp>
      <p:sp>
        <p:nvSpPr>
          <p:cNvPr id="490" name="Google Shape;490;p66"/>
          <p:cNvSpPr txBox="1"/>
          <p:nvPr>
            <p:ph idx="1" type="body"/>
          </p:nvPr>
        </p:nvSpPr>
        <p:spPr>
          <a:xfrm>
            <a:off x="1514475" y="1982787"/>
            <a:ext cx="6861175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set of facts stored in the database.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Recursively define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i+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l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∪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of facts in the view relations defined by the program (also called the semantics of the program) is given by the set of facts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corresponding to the highest layer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endParaRPr/>
          </a:p>
        </p:txBody>
      </p:sp>
      <p:sp>
        <p:nvSpPr>
          <p:cNvPr id="491" name="Google Shape;491;p66"/>
          <p:cNvSpPr txBox="1"/>
          <p:nvPr/>
        </p:nvSpPr>
        <p:spPr>
          <a:xfrm>
            <a:off x="871537" y="1165225"/>
            <a:ext cx="67738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the layers in a given program be 1, 2,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Let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 the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of all rules defining view relations in layer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i.</a:t>
            </a:r>
            <a:endParaRPr/>
          </a:p>
        </p:txBody>
      </p:sp>
      <p:sp>
        <p:nvSpPr>
          <p:cNvPr id="492" name="Google Shape;492;p66"/>
          <p:cNvSpPr txBox="1"/>
          <p:nvPr/>
        </p:nvSpPr>
        <p:spPr>
          <a:xfrm>
            <a:off x="938212" y="3735387"/>
            <a:ext cx="64960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Can instead define semantics using view expansion like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relational algebra, but above definition is better for handling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extensions such as recursion.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Safety</a:t>
            </a:r>
            <a:endParaRPr/>
          </a:p>
        </p:txBody>
      </p:sp>
      <p:sp>
        <p:nvSpPr>
          <p:cNvPr id="498" name="Google Shape;498;p67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to write rules that generate an infinite number of answers.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gt(X, Y)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not_in_loan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 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B, 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this possibility Datalog rules must satisfy the following conditions.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variable that appears in the head of the rule also appears in a non-arithmetic positive literal in the body of the rule.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condition can be weakened in special cases based on the semantics of arithmetic predicates, for example to permit the rule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:-  q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 = B +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variable appearing in a negative literal in the body of the rule also appears in some positive literal in the body of the rule.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Operations in Datalog</a:t>
            </a:r>
            <a:endParaRPr/>
          </a:p>
        </p:txBody>
      </p:sp>
      <p:sp>
        <p:nvSpPr>
          <p:cNvPr id="504" name="Google Shape;504;p68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out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account.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N,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Cartesian product of relations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Y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of relations 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query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:–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:–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difference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:–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 in Datalog</a:t>
            </a:r>
            <a:endParaRPr/>
          </a:p>
        </p:txBody>
      </p:sp>
      <p:sp>
        <p:nvSpPr>
          <p:cNvPr id="510" name="Google Shape;510;p69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we are given a relation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containing pairs of names X, Y such that Y is a manager of X (or equivalently, X is a direct employee of Y).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Each manager may have direct employees, as well as indirect employees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Indirect employees of a manager, say Jones, are employees of people who are direct employees of Jones, or recursively, employees of people who are indirect employees of Jones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we wish to find all (direct and indirect) employees of manager Jones.  We can write a recursive Datalog program.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empl_jones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:-  manager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Jones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empl_jones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:-  manager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empl_jones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Semantics of Recursion in Datalog</a:t>
            </a:r>
            <a:endParaRPr/>
          </a:p>
        </p:txBody>
      </p:sp>
      <p:sp>
        <p:nvSpPr>
          <p:cNvPr id="516" name="Google Shape;516;p70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Assumption (for now): program contains no negative literals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view relations of a recursive program containing a set of rules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are defined to contain exactly the set of facts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computed by the iterative procedure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Datalog-Fixpoint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procedure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Datalog-Fixpoint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set of facts in the database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Old_l = l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l = l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∪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until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 = Old_l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end of the procedure,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⊆  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ℜ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l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consider the database to be a set of facts that are part of the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called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point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program.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"/>
          <p:cNvSpPr txBox="1"/>
          <p:nvPr>
            <p:ph type="title"/>
          </p:nvPr>
        </p:nvSpPr>
        <p:spPr>
          <a:xfrm>
            <a:off x="962025" y="73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Datalog-FixPoint Iteration</a:t>
            </a:r>
            <a:endParaRPr/>
          </a:p>
        </p:txBody>
      </p:sp>
      <p:pic>
        <p:nvPicPr>
          <p:cNvPr id="522" name="Google Shape;522;p71"/>
          <p:cNvPicPr preferRelativeResize="0"/>
          <p:nvPr/>
        </p:nvPicPr>
        <p:blipFill rotWithShape="1">
          <a:blip r:embed="rId3">
            <a:alphaModFix/>
          </a:blip>
          <a:srcRect b="4022" l="463" r="697" t="3715"/>
          <a:stretch/>
        </p:blipFill>
        <p:spPr>
          <a:xfrm>
            <a:off x="2938462" y="1165225"/>
            <a:ext cx="3222625" cy="22558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23" name="Google Shape;523;p71"/>
          <p:cNvPicPr preferRelativeResize="0"/>
          <p:nvPr/>
        </p:nvPicPr>
        <p:blipFill rotWithShape="1">
          <a:blip r:embed="rId4">
            <a:alphaModFix/>
          </a:blip>
          <a:srcRect b="35293" l="221" r="440" t="34706"/>
          <a:stretch/>
        </p:blipFill>
        <p:spPr>
          <a:xfrm>
            <a:off x="1055687" y="3921125"/>
            <a:ext cx="7527925" cy="17049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More General View</a:t>
            </a:r>
            <a:endParaRPr/>
          </a:p>
        </p:txBody>
      </p:sp>
      <p:sp>
        <p:nvSpPr>
          <p:cNvPr id="529" name="Google Shape;529;p72"/>
          <p:cNvSpPr txBox="1"/>
          <p:nvPr>
            <p:ph idx="1" type="body"/>
          </p:nvPr>
        </p:nvSpPr>
        <p:spPr>
          <a:xfrm>
            <a:off x="871537" y="1165225"/>
            <a:ext cx="7391400" cy="436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contains every tuple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such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directly or indirectly managed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Z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direct and indirect employees of Jones.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? empl (X,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“Jones”).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define the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another way too: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empl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:– empl (X, Z ),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Z, 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Power of Recursion</a:t>
            </a:r>
            <a:endParaRPr/>
          </a:p>
        </p:txBody>
      </p:sp>
      <p:sp>
        <p:nvSpPr>
          <p:cNvPr id="535" name="Google Shape;535;p73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views make it possible to write queries, such as transitive closure queries, that cannot be written without recursion or iteration.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Intuition:  Without recursion, a non-recursive non-iterative program can perform only a fixed number of joins of manager with itself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give only a fixed number of levels of managers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program we can construct a database with a greater number of levels of managers on which the program will not work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 in SQL</a:t>
            </a:r>
            <a:endParaRPr/>
          </a:p>
        </p:txBody>
      </p:sp>
      <p:sp>
        <p:nvSpPr>
          <p:cNvPr id="541" name="Google Shape;541;p74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Starting with SQL:1999, SQL permits recursive view definition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query to find all employee-manager pairs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recursive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mgr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mgr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manager.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mgr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mgr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Monotonicity </a:t>
            </a:r>
            <a:endParaRPr/>
          </a:p>
        </p:txBody>
      </p:sp>
      <p:sp>
        <p:nvSpPr>
          <p:cNvPr id="547" name="Google Shape;547;p75"/>
          <p:cNvSpPr txBox="1"/>
          <p:nvPr>
            <p:ph idx="1" type="body"/>
          </p:nvPr>
        </p:nvSpPr>
        <p:spPr>
          <a:xfrm>
            <a:off x="871537" y="11652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be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monotonic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given any two sets of facts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such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⊆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⊆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expression used to define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set of rules R is said to be monotonic if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⊆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implies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⊆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infer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algebra views defined using only the operations:  ∏,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×, ∪, |X|, ∩,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ρ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(as well as operations like natural join defined in terms of these operations) are monotonic.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Relational algebra views defined using set difference (–) may not be monotonic.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Similarly, Datalog programs without negation are monotonic, but Datalog programs with negation may not be monotonic.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Non-Monotonicity</a:t>
            </a:r>
            <a:endParaRPr/>
          </a:p>
        </p:txBody>
      </p:sp>
      <p:sp>
        <p:nvSpPr>
          <p:cNvPr id="553" name="Google Shape;553;p76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Procedure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Datalog-Fixpoint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sound provided the rules in the program are monotonic.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Otherwise, it may make some inferences in an iteration that cannot be made in a later iteration.   E.g. given the rules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:-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b.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b :-  c.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c.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Then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inferred initially, before b is inferred, but not later.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extend the procedure to handle negation so long as the program is “stratified”:  intuitively, so long as negation is not mixed with recursion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Non-Monotonicity (Cont.)</a:t>
            </a:r>
            <a:endParaRPr/>
          </a:p>
        </p:txBody>
      </p:sp>
      <p:sp>
        <p:nvSpPr>
          <p:cNvPr id="559" name="Google Shape;559;p77"/>
          <p:cNvSpPr txBox="1"/>
          <p:nvPr>
            <p:ph idx="1" type="body"/>
          </p:nvPr>
        </p:nvSpPr>
        <p:spPr>
          <a:xfrm>
            <a:off x="871537" y="116522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useful queries that cannot be expressed by a stratified program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given information about the number of each subpart in each part, in a part-subpart hierarchy, find the total number of subparts of each part.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program to compute the above query would have to mix aggregation with recursion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so long as the underlying data (part-subpart) has no cycles, it is possible to write a program that mixes aggregation with recursion, yet has a clear meaning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are ways to evaluate some such classes of non-stratified programs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8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5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5.1</a:t>
            </a:r>
            <a:endParaRPr/>
          </a:p>
        </p:txBody>
      </p:sp>
      <p:pic>
        <p:nvPicPr>
          <p:cNvPr id="570" name="Google Shape;570;p79"/>
          <p:cNvPicPr preferRelativeResize="0"/>
          <p:nvPr/>
        </p:nvPicPr>
        <p:blipFill rotWithShape="1">
          <a:blip r:embed="rId3">
            <a:alphaModFix/>
          </a:blip>
          <a:srcRect b="12539" l="414" r="621" t="12539"/>
          <a:stretch/>
        </p:blipFill>
        <p:spPr>
          <a:xfrm>
            <a:off x="1692275" y="1716087"/>
            <a:ext cx="5973762" cy="298926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5.2</a:t>
            </a:r>
            <a:endParaRPr/>
          </a:p>
        </p:txBody>
      </p:sp>
      <p:pic>
        <p:nvPicPr>
          <p:cNvPr id="576" name="Google Shape;576;p80"/>
          <p:cNvPicPr preferRelativeResize="0"/>
          <p:nvPr/>
        </p:nvPicPr>
        <p:blipFill rotWithShape="1">
          <a:blip r:embed="rId3">
            <a:alphaModFix/>
          </a:blip>
          <a:srcRect b="868" l="10652" r="10868" t="579"/>
          <a:stretch/>
        </p:blipFill>
        <p:spPr>
          <a:xfrm>
            <a:off x="1995487" y="1042987"/>
            <a:ext cx="5157787" cy="48577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5.5</a:t>
            </a:r>
            <a:endParaRPr/>
          </a:p>
        </p:txBody>
      </p:sp>
      <p:pic>
        <p:nvPicPr>
          <p:cNvPr id="582" name="Google Shape;582;p81"/>
          <p:cNvPicPr preferRelativeResize="0"/>
          <p:nvPr/>
        </p:nvPicPr>
        <p:blipFill rotWithShape="1">
          <a:blip r:embed="rId3">
            <a:alphaModFix/>
          </a:blip>
          <a:srcRect b="21606" l="564" r="564" t="21105"/>
          <a:stretch/>
        </p:blipFill>
        <p:spPr>
          <a:xfrm>
            <a:off x="823912" y="1571625"/>
            <a:ext cx="7496175" cy="32575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5.6</a:t>
            </a:r>
            <a:endParaRPr/>
          </a:p>
        </p:txBody>
      </p:sp>
      <p:pic>
        <p:nvPicPr>
          <p:cNvPr id="588" name="Google Shape;588;p82"/>
          <p:cNvPicPr preferRelativeResize="0"/>
          <p:nvPr/>
        </p:nvPicPr>
        <p:blipFill rotWithShape="1">
          <a:blip r:embed="rId3">
            <a:alphaModFix/>
          </a:blip>
          <a:srcRect b="26880" l="373" r="745" t="26879"/>
          <a:stretch/>
        </p:blipFill>
        <p:spPr>
          <a:xfrm>
            <a:off x="881062" y="1903412"/>
            <a:ext cx="7567612" cy="26543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5.9</a:t>
            </a:r>
            <a:endParaRPr/>
          </a:p>
        </p:txBody>
      </p:sp>
      <p:pic>
        <p:nvPicPr>
          <p:cNvPr id="594" name="Google Shape;594;p83"/>
          <p:cNvPicPr preferRelativeResize="0"/>
          <p:nvPr/>
        </p:nvPicPr>
        <p:blipFill rotWithShape="1">
          <a:blip r:embed="rId3">
            <a:alphaModFix/>
          </a:blip>
          <a:srcRect b="26996" l="413" r="413" t="26721"/>
          <a:stretch/>
        </p:blipFill>
        <p:spPr>
          <a:xfrm>
            <a:off x="1209675" y="1771650"/>
            <a:ext cx="6858000" cy="24003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in-5.2</a:t>
            </a:r>
            <a:endParaRPr/>
          </a:p>
        </p:txBody>
      </p:sp>
      <p:pic>
        <p:nvPicPr>
          <p:cNvPr id="600" name="Google Shape;600;p84"/>
          <p:cNvPicPr preferRelativeResize="0"/>
          <p:nvPr/>
        </p:nvPicPr>
        <p:blipFill rotWithShape="1">
          <a:blip r:embed="rId3">
            <a:alphaModFix/>
          </a:blip>
          <a:srcRect b="42907" l="390" r="778" t="42906"/>
          <a:stretch/>
        </p:blipFill>
        <p:spPr>
          <a:xfrm>
            <a:off x="755650" y="2549525"/>
            <a:ext cx="7902575" cy="8509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in-5.15</a:t>
            </a:r>
            <a:endParaRPr/>
          </a:p>
        </p:txBody>
      </p:sp>
      <p:pic>
        <p:nvPicPr>
          <p:cNvPr id="606" name="Google Shape;606;p85"/>
          <p:cNvPicPr preferRelativeResize="0"/>
          <p:nvPr/>
        </p:nvPicPr>
        <p:blipFill rotWithShape="1">
          <a:blip r:embed="rId3">
            <a:alphaModFix/>
          </a:blip>
          <a:srcRect b="27532" l="444" r="666" t="26644"/>
          <a:stretch/>
        </p:blipFill>
        <p:spPr>
          <a:xfrm>
            <a:off x="1390650" y="2322512"/>
            <a:ext cx="6362700" cy="22113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in-5.18</a:t>
            </a:r>
            <a:endParaRPr/>
          </a:p>
        </p:txBody>
      </p:sp>
      <p:pic>
        <p:nvPicPr>
          <p:cNvPr id="612" name="Google Shape;612;p86"/>
          <p:cNvPicPr preferRelativeResize="0"/>
          <p:nvPr/>
        </p:nvPicPr>
        <p:blipFill rotWithShape="1">
          <a:blip r:embed="rId3">
            <a:alphaModFix/>
          </a:blip>
          <a:srcRect b="26345" l="637" r="637" t="24645"/>
          <a:stretch/>
        </p:blipFill>
        <p:spPr>
          <a:xfrm>
            <a:off x="1247775" y="1885950"/>
            <a:ext cx="6638925" cy="24717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in-5-31</a:t>
            </a:r>
            <a:endParaRPr/>
          </a:p>
        </p:txBody>
      </p:sp>
      <p:pic>
        <p:nvPicPr>
          <p:cNvPr id="618" name="Google Shape;618;p87"/>
          <p:cNvPicPr preferRelativeResize="0"/>
          <p:nvPr/>
        </p:nvPicPr>
        <p:blipFill rotWithShape="1">
          <a:blip r:embed="rId3">
            <a:alphaModFix/>
          </a:blip>
          <a:srcRect b="43020" l="343" r="513" t="43020"/>
          <a:stretch/>
        </p:blipFill>
        <p:spPr>
          <a:xfrm>
            <a:off x="1003300" y="2133600"/>
            <a:ext cx="7335837" cy="774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in-5.36</a:t>
            </a:r>
            <a:endParaRPr/>
          </a:p>
        </p:txBody>
      </p:sp>
      <p:pic>
        <p:nvPicPr>
          <p:cNvPr id="624" name="Google Shape;624;p88"/>
          <p:cNvPicPr preferRelativeResize="0"/>
          <p:nvPr/>
        </p:nvPicPr>
        <p:blipFill rotWithShape="1">
          <a:blip r:embed="rId3">
            <a:alphaModFix/>
          </a:blip>
          <a:srcRect b="42785" l="373" r="559" t="42785"/>
          <a:stretch/>
        </p:blipFill>
        <p:spPr>
          <a:xfrm>
            <a:off x="1212850" y="2413000"/>
            <a:ext cx="7092950" cy="77470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5-grey">
  <a:themeElements>
    <a:clrScheme name="default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CCECFF"/>
      </a:accent3>
      <a:accent4>
        <a:srgbClr val="FFFFFF"/>
      </a:accent4>
      <a:accent5>
        <a:srgbClr val="CCCC00"/>
      </a:accent5>
      <a:accent6>
        <a:srgbClr val="CCECFF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