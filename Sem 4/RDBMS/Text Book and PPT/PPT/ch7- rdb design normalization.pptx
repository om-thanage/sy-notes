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Lst>
  <p:sldSz cy="6858000" cx="9144000"/>
  <p:notesSz cx="7315200" cy="9601200"/>
  <p:embeddedFontLst>
    <p:embeddedFont>
      <p:font typeface="Helvetica Neue"/>
      <p:regular r:id="rId93"/>
      <p:bold r:id="rId94"/>
      <p:italic r:id="rId95"/>
      <p:boldItalic r:id="rId96"/>
    </p:embeddedFont>
    <p:embeddedFont>
      <p:font typeface="Noto Sans Symbols"/>
      <p:regular r:id="rId97"/>
      <p:bold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3">
          <p15:clr>
            <a:srgbClr val="000000"/>
          </p15:clr>
        </p15:guide>
        <p15:guide id="2" pos="584">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3" orient="horz"/>
        <p:guide pos="58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HelveticaNeue-italic.fntdata"/><Relationship Id="rId94" Type="http://schemas.openxmlformats.org/officeDocument/2006/relationships/font" Target="fonts/HelveticaNeue-bold.fntdata"/><Relationship Id="rId97" Type="http://schemas.openxmlformats.org/officeDocument/2006/relationships/font" Target="fonts/NotoSansSymbols-regular.fntdata"/><Relationship Id="rId96"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98" Type="http://schemas.openxmlformats.org/officeDocument/2006/relationships/font" Target="fonts/NotoSansSymbols-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font" Target="fonts/HelveticaNeue-regular.fntdata"/><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144962" y="9120187"/>
            <a:ext cx="3170237" cy="481012"/>
          </a:xfrm>
          <a:prstGeom prst="rect">
            <a:avLst/>
          </a:prstGeom>
          <a:noFill/>
          <a:ln>
            <a:noFill/>
          </a:ln>
        </p:spPr>
        <p:txBody>
          <a:bodyPr anchorCtr="0" anchor="b" bIns="49750" lIns="99500" spcFirstLastPara="1" rIns="99500" wrap="square" tIns="49750">
            <a:noAutofit/>
          </a:bodyPr>
          <a:lstStyle/>
          <a:p>
            <a:pPr indent="0" lvl="0" marL="0" marR="0" rtl="0" algn="l">
              <a:lnSpc>
                <a:spcPct val="100000"/>
              </a:lnSpc>
              <a:spcBef>
                <a:spcPts val="0"/>
              </a:spcBef>
              <a:spcAft>
                <a:spcPts val="0"/>
              </a:spcAft>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a:p>
        </p:txBody>
      </p:sp>
      <p:sp>
        <p:nvSpPr>
          <p:cNvPr id="4" name="Google Shape;4;n"/>
          <p:cNvSpPr txBox="1"/>
          <p:nvPr>
            <p:ph idx="2" type="hdr"/>
          </p:nvPr>
        </p:nvSpPr>
        <p:spPr>
          <a:xfrm>
            <a:off x="0" y="0"/>
            <a:ext cx="3170237" cy="481012"/>
          </a:xfrm>
          <a:prstGeom prst="rect">
            <a:avLst/>
          </a:prstGeom>
          <a:noFill/>
          <a:ln>
            <a:noFill/>
          </a:ln>
        </p:spPr>
        <p:txBody>
          <a:bodyPr anchorCtr="0" anchor="ctr" bIns="49750" lIns="99500" spcFirstLastPara="1" rIns="99500" wrap="square" tIns="49750">
            <a:noAutofit/>
          </a:bodyPr>
          <a:lstStyle>
            <a:lvl1pPr lvl="0" marR="0" rtl="0" algn="l">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txBox="1"/>
          <p:nvPr>
            <p:ph idx="10" type="dt"/>
          </p:nvPr>
        </p:nvSpPr>
        <p:spPr>
          <a:xfrm>
            <a:off x="4144962" y="0"/>
            <a:ext cx="3170237" cy="481012"/>
          </a:xfrm>
          <a:prstGeom prst="rect">
            <a:avLst/>
          </a:prstGeom>
          <a:noFill/>
          <a:ln>
            <a:noFill/>
          </a:ln>
        </p:spPr>
        <p:txBody>
          <a:bodyPr anchorCtr="0" anchor="ctr" bIns="49750" lIns="99500" spcFirstLastPara="1" rIns="99500" wrap="square" tIns="49750">
            <a:noAutofit/>
          </a:bodyPr>
          <a:lstStyle>
            <a:lvl1pPr lvl="0" marR="0" rtl="0" algn="r">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6" name="Google Shape;6;n"/>
          <p:cNvSpPr/>
          <p:nvPr>
            <p:ph idx="3"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 name="Google Shape;7;n"/>
          <p:cNvSpPr txBox="1"/>
          <p:nvPr>
            <p:ph idx="1" type="body"/>
          </p:nvPr>
        </p:nvSpPr>
        <p:spPr>
          <a:xfrm>
            <a:off x="974725" y="4560887"/>
            <a:ext cx="5365750" cy="4321175"/>
          </a:xfrm>
          <a:prstGeom prst="rect">
            <a:avLst/>
          </a:prstGeom>
          <a:noFill/>
          <a:ln>
            <a:noFill/>
          </a:ln>
        </p:spPr>
        <p:txBody>
          <a:bodyPr anchorCtr="0" anchor="ctr" bIns="49750" lIns="99500" spcFirstLastPara="1" rIns="99500" wrap="square" tIns="497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 name="Google Shape;8;n"/>
          <p:cNvSpPr txBox="1"/>
          <p:nvPr>
            <p:ph idx="11" type="ftr"/>
          </p:nvPr>
        </p:nvSpPr>
        <p:spPr>
          <a:xfrm>
            <a:off x="0" y="9120187"/>
            <a:ext cx="3170237" cy="481012"/>
          </a:xfrm>
          <a:prstGeom prst="rect">
            <a:avLst/>
          </a:prstGeom>
          <a:noFill/>
          <a:ln>
            <a:noFill/>
          </a:ln>
        </p:spPr>
        <p:txBody>
          <a:bodyPr anchorCtr="0" anchor="b" bIns="49750" lIns="99500" spcFirstLastPara="1" rIns="99500" wrap="square" tIns="49750">
            <a:noAutofit/>
          </a:bodyPr>
          <a:lstStyle>
            <a:lvl1pPr lvl="0" marR="0" rtl="0" algn="l">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9" name="Google Shape;9;n"/>
          <p:cNvSpPr txBox="1"/>
          <p:nvPr>
            <p:ph idx="4" type="sldNum"/>
          </p:nvPr>
        </p:nvSpPr>
        <p:spPr>
          <a:xfrm>
            <a:off x="4144962" y="9120187"/>
            <a:ext cx="3170237" cy="481012"/>
          </a:xfrm>
          <a:prstGeom prst="rect">
            <a:avLst/>
          </a:prstGeom>
          <a:noFill/>
          <a:ln>
            <a:noFill/>
          </a:ln>
        </p:spPr>
        <p:txBody>
          <a:bodyPr anchorCtr="0" anchor="b" bIns="49750" lIns="99500" spcFirstLastPara="1" rIns="99500" wrap="square" tIns="49750">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2" type="sldNum"/>
          </p:nvPr>
        </p:nvSpPr>
        <p:spPr>
          <a:xfrm>
            <a:off x="4144962" y="9120187"/>
            <a:ext cx="3170237" cy="481012"/>
          </a:xfrm>
          <a:prstGeom prst="rect">
            <a:avLst/>
          </a:prstGeom>
          <a:noFill/>
          <a:ln>
            <a:noFill/>
          </a:ln>
        </p:spPr>
        <p:txBody>
          <a:bodyPr anchorCtr="0" anchor="b" bIns="49750" lIns="99500" spcFirstLastPara="1" rIns="99500" wrap="square" tIns="4975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2" name="Google Shape;42;p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3" name="Google Shape;43;p1:notes"/>
          <p:cNvSpPr txBox="1"/>
          <p:nvPr>
            <p:ph idx="1" type="body"/>
          </p:nvPr>
        </p:nvSpPr>
        <p:spPr>
          <a:xfrm>
            <a:off x="974725" y="4560887"/>
            <a:ext cx="5365750" cy="4321175"/>
          </a:xfrm>
          <a:prstGeom prst="rect">
            <a:avLst/>
          </a:prstGeom>
          <a:noFill/>
          <a:ln>
            <a:noFill/>
          </a:ln>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8" name="Google Shape;48;p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4" name="Google Shape;54;p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60" name="Google Shape;60;p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67" name="Google Shape;67;p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74" name="Google Shape;74;p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80" name="Google Shape;80;p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86" name="Google Shape;86;p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92" name="Google Shape;92;p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98" name="Google Shape;98;p1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04" name="Google Shape;104;p1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10" name="Google Shape;110;p1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17" name="Google Shape;117;p1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23" name="Google Shape;123;p1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29" name="Google Shape;129;p1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35" name="Google Shape;135;p1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41" name="Google Shape;141;p1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49" name="Google Shape;149;p1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55" name="Google Shape;155;p1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61" name="Google Shape;161;p2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67" name="Google Shape;167;p2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73" name="Google Shape;173;p2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79" name="Google Shape;179;p2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192" name="Google Shape;192;p2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09" name="Google Shape;209;p2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15" name="Google Shape;215;p2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21" name="Google Shape;221;p2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27" name="Google Shape;227;p2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33" name="Google Shape;233;p2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39" name="Google Shape;239;p3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45" name="Google Shape;245;p3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51" name="Google Shape;251;p3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57" name="Google Shape;257;p3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63" name="Google Shape;263;p3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69" name="Google Shape;269;p3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75" name="Google Shape;275;p3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81" name="Google Shape;281;p3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87" name="Google Shape;287;p3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294" name="Google Shape;294;p3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01" name="Google Shape;301;p4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07" name="Google Shape;307;p4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13" name="Google Shape;313;p4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19" name="Google Shape;319;p4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25" name="Google Shape;325;p4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31" name="Google Shape;331;p4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37" name="Google Shape;337;p4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43" name="Google Shape;343;p4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49" name="Google Shape;349;p4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56" name="Google Shape;356;p4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5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62" name="Google Shape;362;p5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68" name="Google Shape;368;p5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81" name="Google Shape;381;p5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5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87" name="Google Shape;387;p5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5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93" name="Google Shape;393;p5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399" name="Google Shape;399;p5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05" name="Google Shape;405;p5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11" name="Google Shape;411;p5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18" name="Google Shape;418;p5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5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24" name="Google Shape;424;p5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6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33" name="Google Shape;433;p6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6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40" name="Google Shape;440;p6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6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46" name="Google Shape;446;p6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6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52" name="Google Shape;452;p6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58" name="Google Shape;458;p6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6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67" name="Google Shape;467;p6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6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76" name="Google Shape;476;p6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82" name="Google Shape;482;p6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91" name="Google Shape;491;p6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6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497" name="Google Shape;497;p6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7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03" name="Google Shape;503;p7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7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09" name="Google Shape;509;p7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7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15" name="Google Shape;515;p7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7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22" name="Google Shape;522;p7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7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28" name="Google Shape;528;p7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7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35" name="Google Shape;535;p7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7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41" name="Google Shape;541;p7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7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46" name="Google Shape;546;p7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78: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51" name="Google Shape;551;p7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79: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57" name="Google Shape;557;p7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80: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63" name="Google Shape;563;p8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81: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69" name="Google Shape;569;p8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82: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75" name="Google Shape;575;p8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83: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81" name="Google Shape;581;p8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84: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87" name="Google Shape;587;p8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85: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93" name="Google Shape;593;p8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86: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599" name="Google Shape;599;p8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87:notes"/>
          <p:cNvSpPr txBox="1"/>
          <p:nvPr>
            <p:ph idx="1" type="body"/>
          </p:nvPr>
        </p:nvSpPr>
        <p:spPr>
          <a:xfrm>
            <a:off x="974725" y="4560887"/>
            <a:ext cx="5365750" cy="4321175"/>
          </a:xfrm>
          <a:prstGeom prst="rect">
            <a:avLst/>
          </a:prstGeom>
        </p:spPr>
        <p:txBody>
          <a:bodyPr anchorCtr="0" anchor="ctr" bIns="49750" lIns="99500" spcFirstLastPara="1" rIns="99500" wrap="square" tIns="49750">
            <a:noAutofit/>
          </a:bodyPr>
          <a:lstStyle/>
          <a:p>
            <a:pPr indent="0" lvl="0" marL="0" rtl="0" algn="l">
              <a:spcBef>
                <a:spcPts val="0"/>
              </a:spcBef>
              <a:spcAft>
                <a:spcPts val="0"/>
              </a:spcAft>
              <a:buNone/>
            </a:pPr>
            <a:r>
              <a:t/>
            </a:r>
            <a:endParaRPr/>
          </a:p>
        </p:txBody>
      </p:sp>
      <p:sp>
        <p:nvSpPr>
          <p:cNvPr id="605" name="Google Shape;605;p8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db-book.com/" TargetMode="External"/><Relationship Id="rId3" Type="http://schemas.openxmlformats.org/officeDocument/2006/relationships/image" Target="../media/image2.jpg"/><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DDDDDD"/>
            </a:gs>
            <a:gs pos="100000">
              <a:srgbClr val="F8F8F8"/>
            </a:gs>
          </a:gsLst>
          <a:lin ang="5400000" scaled="0"/>
        </a:gradFill>
      </p:bgPr>
    </p:bg>
    <p:spTree>
      <p:nvGrpSpPr>
        <p:cNvPr id="20" name="Shape 20"/>
        <p:cNvGrpSpPr/>
        <p:nvPr/>
      </p:nvGrpSpPr>
      <p:grpSpPr>
        <a:xfrm>
          <a:off x="0" y="0"/>
          <a:ext cx="0" cy="0"/>
          <a:chOff x="0" y="0"/>
          <a:chExt cx="0" cy="0"/>
        </a:xfrm>
      </p:grpSpPr>
      <p:sp>
        <p:nvSpPr>
          <p:cNvPr id="21" name="Google Shape;21;p2"/>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 name="Google Shape;22;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630"/>
              </a:spcBef>
              <a:spcAft>
                <a:spcPts val="0"/>
              </a:spcAft>
              <a:buSzPts val="1620"/>
              <a:buChar char="●"/>
              <a:defRPr/>
            </a:lvl1pPr>
            <a:lvl2pPr lvl="1" algn="l">
              <a:lnSpc>
                <a:spcPct val="100000"/>
              </a:lnSpc>
              <a:spcBef>
                <a:spcPts val="630"/>
              </a:spcBef>
              <a:spcAft>
                <a:spcPts val="0"/>
              </a:spcAft>
              <a:buSzPts val="1440"/>
              <a:buChar char="●"/>
              <a:defRPr/>
            </a:lvl2pPr>
            <a:lvl3pPr lvl="2" algn="l">
              <a:lnSpc>
                <a:spcPct val="100000"/>
              </a:lnSpc>
              <a:spcBef>
                <a:spcPts val="630"/>
              </a:spcBef>
              <a:spcAft>
                <a:spcPts val="0"/>
              </a:spcAft>
              <a:buSzPts val="1350"/>
              <a:buChar char="4"/>
              <a:defRPr/>
            </a:lvl3pPr>
            <a:lvl4pPr lvl="3" algn="l">
              <a:lnSpc>
                <a:spcPct val="100000"/>
              </a:lnSpc>
              <a:spcBef>
                <a:spcPts val="630"/>
              </a:spcBef>
              <a:spcAft>
                <a:spcPts val="0"/>
              </a:spcAft>
              <a:buSzPts val="1800"/>
              <a:buChar char="–"/>
              <a:defRPr/>
            </a:lvl4pPr>
            <a:lvl5pPr lvl="4" algn="l">
              <a:lnSpc>
                <a:spcPct val="100000"/>
              </a:lnSpc>
              <a:spcBef>
                <a:spcPts val="630"/>
              </a:spcBef>
              <a:spcAft>
                <a:spcPts val="0"/>
              </a:spcAft>
              <a:buSzPts val="1350"/>
              <a:buChar char="»"/>
              <a:defRPr/>
            </a:lvl5pPr>
            <a:lvl6pPr lvl="5" algn="l">
              <a:lnSpc>
                <a:spcPct val="100000"/>
              </a:lnSpc>
              <a:spcBef>
                <a:spcPts val="630"/>
              </a:spcBef>
              <a:spcAft>
                <a:spcPts val="0"/>
              </a:spcAft>
              <a:buSzPts val="1350"/>
              <a:buChar char="»"/>
              <a:defRPr/>
            </a:lvl6pPr>
            <a:lvl7pPr lvl="6" algn="l">
              <a:lnSpc>
                <a:spcPct val="100000"/>
              </a:lnSpc>
              <a:spcBef>
                <a:spcPts val="630"/>
              </a:spcBef>
              <a:spcAft>
                <a:spcPts val="0"/>
              </a:spcAft>
              <a:buSzPts val="1350"/>
              <a:buChar char="»"/>
              <a:defRPr/>
            </a:lvl7pPr>
            <a:lvl8pPr lvl="7" algn="l">
              <a:lnSpc>
                <a:spcPct val="100000"/>
              </a:lnSpc>
              <a:spcBef>
                <a:spcPts val="630"/>
              </a:spcBef>
              <a:spcAft>
                <a:spcPts val="0"/>
              </a:spcAft>
              <a:buSzPts val="1350"/>
              <a:buChar char="»"/>
              <a:defRPr/>
            </a:lvl8pPr>
            <a:lvl9pPr lvl="8" algn="l">
              <a:lnSpc>
                <a:spcPct val="100000"/>
              </a:lnSpc>
              <a:spcBef>
                <a:spcPts val="630"/>
              </a:spcBef>
              <a:spcAft>
                <a:spcPts val="0"/>
              </a:spcAft>
              <a:buSzPts val="1350"/>
              <a:buChar char="»"/>
              <a:defRPr/>
            </a:lvl9pPr>
          </a:lstStyle>
          <a:p/>
        </p:txBody>
      </p:sp>
      <p:sp>
        <p:nvSpPr>
          <p:cNvPr id="23" name="Google Shape;23;p2"/>
          <p:cNvSpPr txBox="1"/>
          <p:nvPr>
            <p:ph idx="11" type="ftr"/>
          </p:nvPr>
        </p:nvSpPr>
        <p:spPr>
          <a:xfrm>
            <a:off x="2862262" y="5780087"/>
            <a:ext cx="344805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4" name="Google Shape;24;p2"/>
          <p:cNvSpPr txBox="1"/>
          <p:nvPr>
            <p:ph idx="12" type="sldNum"/>
          </p:nvPr>
        </p:nvSpPr>
        <p:spPr>
          <a:xfrm>
            <a:off x="6596062" y="6218237"/>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chemeClr val="lt2"/>
              </a:solidFill>
            </a:endParaRPr>
          </a:p>
        </p:txBody>
      </p:sp>
      <p:sp>
        <p:nvSpPr>
          <p:cNvPr id="25" name="Google Shape;25;p2"/>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 name="Google Shape;26;p2"/>
          <p:cNvSpPr txBox="1"/>
          <p:nvPr/>
        </p:nvSpPr>
        <p:spPr>
          <a:xfrm>
            <a:off x="2673350" y="5726112"/>
            <a:ext cx="3694112" cy="793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600"/>
              <a:buFont typeface="Helvetica Neue"/>
              <a:buNone/>
            </a:pPr>
            <a:r>
              <a:rPr b="1" i="0" lang="en-US" sz="1600" u="none">
                <a:solidFill>
                  <a:schemeClr val="dk2"/>
                </a:solidFill>
                <a:latin typeface="Helvetica Neue"/>
                <a:ea typeface="Helvetica Neue"/>
                <a:cs typeface="Helvetica Neue"/>
                <a:sym typeface="Helvetica Neue"/>
              </a:rPr>
              <a:t>Database System Concepts, 5th Ed</a:t>
            </a:r>
            <a:r>
              <a:rPr b="0" i="0" lang="en-US" sz="1600" u="none">
                <a:solidFill>
                  <a:schemeClr val="dk1"/>
                </a:solidFill>
                <a:latin typeface="Helvetica Neue"/>
                <a:ea typeface="Helvetica Neue"/>
                <a:cs typeface="Helvetica Neue"/>
                <a:sym typeface="Helvetica Neue"/>
              </a:rPr>
              <a:t>.</a:t>
            </a:r>
            <a:endParaRPr/>
          </a:p>
          <a:p>
            <a:pPr indent="0" lvl="0" marL="0" marR="0" rtl="0" algn="ctr">
              <a:lnSpc>
                <a:spcPct val="100000"/>
              </a:lnSpc>
              <a:spcBef>
                <a:spcPts val="600"/>
              </a:spcBef>
              <a:spcAft>
                <a:spcPts val="0"/>
              </a:spcAft>
              <a:buClr>
                <a:schemeClr val="dk2"/>
              </a:buClr>
              <a:buSzPts val="1200"/>
              <a:buFont typeface="Helvetica Neue"/>
              <a:buNone/>
            </a:pPr>
            <a:r>
              <a:rPr b="1" i="0" lang="en-US" sz="1200" u="none">
                <a:solidFill>
                  <a:schemeClr val="dk2"/>
                </a:solidFill>
                <a:latin typeface="Helvetica Neue"/>
                <a:ea typeface="Helvetica Neue"/>
                <a:cs typeface="Helvetica Neue"/>
                <a:sym typeface="Helvetica Neue"/>
              </a:rPr>
              <a:t>©Silberschatz, Korth and Sudarshan</a:t>
            </a:r>
            <a:br>
              <a:rPr b="1" i="0" lang="en-US" sz="1200" u="none">
                <a:solidFill>
                  <a:schemeClr val="dk2"/>
                </a:solidFill>
                <a:latin typeface="Helvetica Neue"/>
                <a:ea typeface="Helvetica Neue"/>
                <a:cs typeface="Helvetica Neue"/>
                <a:sym typeface="Helvetica Neue"/>
              </a:rPr>
            </a:br>
            <a:r>
              <a:rPr b="1" i="0" lang="en-US" sz="1200" u="none">
                <a:solidFill>
                  <a:schemeClr val="dk2"/>
                </a:solidFill>
                <a:latin typeface="Helvetica Neue"/>
                <a:ea typeface="Helvetica Neue"/>
                <a:cs typeface="Helvetica Neue"/>
                <a:sym typeface="Helvetica Neue"/>
              </a:rPr>
              <a:t>See </a:t>
            </a:r>
            <a:r>
              <a:rPr b="1" i="0" lang="en-US" sz="1200" u="sng">
                <a:solidFill>
                  <a:schemeClr val="hlink"/>
                </a:solidFill>
                <a:latin typeface="Times New Roman"/>
                <a:ea typeface="Times New Roman"/>
                <a:cs typeface="Times New Roman"/>
                <a:sym typeface="Times New Roman"/>
                <a:hlinkClick r:id="rId2"/>
              </a:rPr>
              <a:t>www.db-book.com</a:t>
            </a:r>
            <a:r>
              <a:rPr b="1" i="0" lang="en-US" sz="1200" u="none">
                <a:solidFill>
                  <a:schemeClr val="dk2"/>
                </a:solidFill>
                <a:latin typeface="Helvetica Neue"/>
                <a:ea typeface="Helvetica Neue"/>
                <a:cs typeface="Helvetica Neue"/>
                <a:sym typeface="Helvetica Neue"/>
              </a:rPr>
              <a:t> for conditions on re-use </a:t>
            </a:r>
            <a:endParaRPr/>
          </a:p>
        </p:txBody>
      </p:sp>
      <p:pic>
        <p:nvPicPr>
          <p:cNvPr id="27" name="Google Shape;27;p2"/>
          <p:cNvPicPr preferRelativeResize="0"/>
          <p:nvPr/>
        </p:nvPicPr>
        <p:blipFill rotWithShape="1">
          <a:blip r:embed="rId3">
            <a:alphaModFix/>
          </a:blip>
          <a:srcRect b="0" l="0" r="0" t="0"/>
          <a:stretch/>
        </p:blipFill>
        <p:spPr>
          <a:xfrm>
            <a:off x="0" y="0"/>
            <a:ext cx="558800" cy="742950"/>
          </a:xfrm>
          <a:prstGeom prst="rect">
            <a:avLst/>
          </a:prstGeom>
          <a:noFill/>
          <a:ln>
            <a:noFill/>
          </a:ln>
        </p:spPr>
      </p:pic>
      <p:pic>
        <p:nvPicPr>
          <p:cNvPr id="28" name="Google Shape;28;p2"/>
          <p:cNvPicPr preferRelativeResize="0"/>
          <p:nvPr/>
        </p:nvPicPr>
        <p:blipFill rotWithShape="1">
          <a:blip r:embed="rId4">
            <a:alphaModFix/>
          </a:blip>
          <a:srcRect b="26144" l="0" r="0" t="0"/>
          <a:stretch/>
        </p:blipFill>
        <p:spPr>
          <a:xfrm>
            <a:off x="8528050" y="6053137"/>
            <a:ext cx="615950" cy="6143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9" name="Shape 29"/>
        <p:cNvGrpSpPr/>
        <p:nvPr/>
      </p:nvGrpSpPr>
      <p:grpSpPr>
        <a:xfrm>
          <a:off x="0" y="0"/>
          <a:ext cx="0" cy="0"/>
          <a:chOff x="0" y="0"/>
          <a:chExt cx="0" cy="0"/>
        </a:xfrm>
      </p:grpSpPr>
      <p:sp>
        <p:nvSpPr>
          <p:cNvPr id="30" name="Google Shape;30;p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 name="Google Shape;31;p3"/>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42900" lvl="3" marL="1828800" algn="l">
              <a:lnSpc>
                <a:spcPct val="100000"/>
              </a:lnSpc>
              <a:spcBef>
                <a:spcPts val="630"/>
              </a:spcBef>
              <a:spcAft>
                <a:spcPts val="0"/>
              </a:spcAft>
              <a:buSzPts val="180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2" name="Google Shape;32;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3" name="Google Shape;33;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4" name="Google Shape;34;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solidFill>
                  <a:schemeClr val="lt2"/>
                </a:solidFill>
              </a:defRPr>
            </a:lvl1pPr>
            <a:lvl2pPr indent="0" lvl="1" marL="0" algn="r">
              <a:lnSpc>
                <a:spcPct val="100000"/>
              </a:lnSpc>
              <a:spcBef>
                <a:spcPts val="0"/>
              </a:spcBef>
              <a:spcAft>
                <a:spcPts val="0"/>
              </a:spcAft>
              <a:buNone/>
              <a:defRPr sz="1400">
                <a:solidFill>
                  <a:schemeClr val="lt2"/>
                </a:solidFill>
              </a:defRPr>
            </a:lvl2pPr>
            <a:lvl3pPr indent="0" lvl="2" marL="0" algn="r">
              <a:lnSpc>
                <a:spcPct val="100000"/>
              </a:lnSpc>
              <a:spcBef>
                <a:spcPts val="0"/>
              </a:spcBef>
              <a:spcAft>
                <a:spcPts val="0"/>
              </a:spcAft>
              <a:buNone/>
              <a:defRPr sz="1400">
                <a:solidFill>
                  <a:schemeClr val="lt2"/>
                </a:solidFill>
              </a:defRPr>
            </a:lvl3pPr>
            <a:lvl4pPr indent="0" lvl="3" marL="0" algn="r">
              <a:lnSpc>
                <a:spcPct val="100000"/>
              </a:lnSpc>
              <a:spcBef>
                <a:spcPts val="0"/>
              </a:spcBef>
              <a:spcAft>
                <a:spcPts val="0"/>
              </a:spcAft>
              <a:buNone/>
              <a:defRPr sz="1400">
                <a:solidFill>
                  <a:schemeClr val="lt2"/>
                </a:solidFill>
              </a:defRPr>
            </a:lvl4pPr>
            <a:lvl5pPr indent="0" lvl="4" marL="0" algn="r">
              <a:lnSpc>
                <a:spcPct val="100000"/>
              </a:lnSpc>
              <a:spcBef>
                <a:spcPts val="0"/>
              </a:spcBef>
              <a:spcAft>
                <a:spcPts val="0"/>
              </a:spcAft>
              <a:buNone/>
              <a:defRPr sz="1400">
                <a:solidFill>
                  <a:schemeClr val="lt2"/>
                </a:solidFill>
              </a:defRPr>
            </a:lvl5pPr>
            <a:lvl6pPr indent="0" lvl="5" marL="0" algn="r">
              <a:lnSpc>
                <a:spcPct val="100000"/>
              </a:lnSpc>
              <a:spcBef>
                <a:spcPts val="0"/>
              </a:spcBef>
              <a:spcAft>
                <a:spcPts val="0"/>
              </a:spcAft>
              <a:buNone/>
              <a:defRPr sz="1400">
                <a:solidFill>
                  <a:schemeClr val="lt2"/>
                </a:solidFill>
              </a:defRPr>
            </a:lvl6pPr>
            <a:lvl7pPr indent="0" lvl="6" marL="0" algn="r">
              <a:lnSpc>
                <a:spcPct val="100000"/>
              </a:lnSpc>
              <a:spcBef>
                <a:spcPts val="0"/>
              </a:spcBef>
              <a:spcAft>
                <a:spcPts val="0"/>
              </a:spcAft>
              <a:buNone/>
              <a:defRPr sz="1400">
                <a:solidFill>
                  <a:schemeClr val="lt2"/>
                </a:solidFill>
              </a:defRPr>
            </a:lvl7pPr>
            <a:lvl8pPr indent="0" lvl="7" marL="0" algn="r">
              <a:lnSpc>
                <a:spcPct val="100000"/>
              </a:lnSpc>
              <a:spcBef>
                <a:spcPts val="0"/>
              </a:spcBef>
              <a:spcAft>
                <a:spcPts val="0"/>
              </a:spcAft>
              <a:buNone/>
              <a:defRPr sz="1400">
                <a:solidFill>
                  <a:schemeClr val="lt2"/>
                </a:solidFill>
              </a:defRPr>
            </a:lvl8pPr>
            <a:lvl9pPr indent="0" lvl="8" marL="0" algn="r">
              <a:lnSpc>
                <a:spcPct val="100000"/>
              </a:lnSpc>
              <a:spcBef>
                <a:spcPts val="0"/>
              </a:spcBef>
              <a:spcAft>
                <a:spcPts val="0"/>
              </a:spcAft>
              <a:buNone/>
              <a:defRPr sz="14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8" name="Google Shape;38;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9" name="Google Shape;39;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solidFill>
                  <a:schemeClr val="lt2"/>
                </a:solidFill>
              </a:defRPr>
            </a:lvl1pPr>
            <a:lvl2pPr indent="0" lvl="1" marL="0" algn="r">
              <a:lnSpc>
                <a:spcPct val="100000"/>
              </a:lnSpc>
              <a:spcBef>
                <a:spcPts val="0"/>
              </a:spcBef>
              <a:spcAft>
                <a:spcPts val="0"/>
              </a:spcAft>
              <a:buNone/>
              <a:defRPr sz="1400">
                <a:solidFill>
                  <a:schemeClr val="lt2"/>
                </a:solidFill>
              </a:defRPr>
            </a:lvl2pPr>
            <a:lvl3pPr indent="0" lvl="2" marL="0" algn="r">
              <a:lnSpc>
                <a:spcPct val="100000"/>
              </a:lnSpc>
              <a:spcBef>
                <a:spcPts val="0"/>
              </a:spcBef>
              <a:spcAft>
                <a:spcPts val="0"/>
              </a:spcAft>
              <a:buNone/>
              <a:defRPr sz="1400">
                <a:solidFill>
                  <a:schemeClr val="lt2"/>
                </a:solidFill>
              </a:defRPr>
            </a:lvl3pPr>
            <a:lvl4pPr indent="0" lvl="3" marL="0" algn="r">
              <a:lnSpc>
                <a:spcPct val="100000"/>
              </a:lnSpc>
              <a:spcBef>
                <a:spcPts val="0"/>
              </a:spcBef>
              <a:spcAft>
                <a:spcPts val="0"/>
              </a:spcAft>
              <a:buNone/>
              <a:defRPr sz="1400">
                <a:solidFill>
                  <a:schemeClr val="lt2"/>
                </a:solidFill>
              </a:defRPr>
            </a:lvl4pPr>
            <a:lvl5pPr indent="0" lvl="4" marL="0" algn="r">
              <a:lnSpc>
                <a:spcPct val="100000"/>
              </a:lnSpc>
              <a:spcBef>
                <a:spcPts val="0"/>
              </a:spcBef>
              <a:spcAft>
                <a:spcPts val="0"/>
              </a:spcAft>
              <a:buNone/>
              <a:defRPr sz="1400">
                <a:solidFill>
                  <a:schemeClr val="lt2"/>
                </a:solidFill>
              </a:defRPr>
            </a:lvl5pPr>
            <a:lvl6pPr indent="0" lvl="5" marL="0" algn="r">
              <a:lnSpc>
                <a:spcPct val="100000"/>
              </a:lnSpc>
              <a:spcBef>
                <a:spcPts val="0"/>
              </a:spcBef>
              <a:spcAft>
                <a:spcPts val="0"/>
              </a:spcAft>
              <a:buNone/>
              <a:defRPr sz="1400">
                <a:solidFill>
                  <a:schemeClr val="lt2"/>
                </a:solidFill>
              </a:defRPr>
            </a:lvl6pPr>
            <a:lvl7pPr indent="0" lvl="6" marL="0" algn="r">
              <a:lnSpc>
                <a:spcPct val="100000"/>
              </a:lnSpc>
              <a:spcBef>
                <a:spcPts val="0"/>
              </a:spcBef>
              <a:spcAft>
                <a:spcPts val="0"/>
              </a:spcAft>
              <a:buNone/>
              <a:defRPr sz="1400">
                <a:solidFill>
                  <a:schemeClr val="lt2"/>
                </a:solidFill>
              </a:defRPr>
            </a:lvl7pPr>
            <a:lvl8pPr indent="0" lvl="7" marL="0" algn="r">
              <a:lnSpc>
                <a:spcPct val="100000"/>
              </a:lnSpc>
              <a:spcBef>
                <a:spcPts val="0"/>
              </a:spcBef>
              <a:spcAft>
                <a:spcPts val="0"/>
              </a:spcAft>
              <a:buNone/>
              <a:defRPr sz="1400">
                <a:solidFill>
                  <a:schemeClr val="lt2"/>
                </a:solidFill>
              </a:defRPr>
            </a:lvl8pPr>
            <a:lvl9pPr indent="0" lvl="8" marL="0" algn="r">
              <a:lnSpc>
                <a:spcPct val="100000"/>
              </a:lnSpc>
              <a:spcBef>
                <a:spcPts val="0"/>
              </a:spcBef>
              <a:spcAft>
                <a:spcPts val="0"/>
              </a:spcAft>
              <a:buNone/>
              <a:defRPr sz="14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0" name="Shape 10"/>
        <p:cNvGrpSpPr/>
        <p:nvPr/>
      </p:nvGrpSpPr>
      <p:grpSpPr>
        <a:xfrm>
          <a:off x="0" y="0"/>
          <a:ext cx="0" cy="0"/>
          <a:chOff x="0" y="0"/>
          <a:chExt cx="0" cy="0"/>
        </a:xfrm>
      </p:grpSpPr>
      <p:sp>
        <p:nvSpPr>
          <p:cNvPr id="11" name="Google Shape;11;p1"/>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chemeClr va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rtl="0" algn="l">
              <a:lnSpc>
                <a:spcPct val="100000"/>
              </a:lnSpc>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2"/>
              </a:buClr>
              <a:buSzPts val="1400"/>
              <a:buFont typeface="Times New Roman"/>
              <a:buNone/>
              <a:defRPr b="0" i="0" sz="1400" u="non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13" name="Google Shape;13;p1"/>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©Silberschatz, Korth and Sudarshan</a:t>
            </a:r>
            <a:endParaRPr/>
          </a:p>
        </p:txBody>
      </p:sp>
      <p:sp>
        <p:nvSpPr>
          <p:cNvPr id="14" name="Google Shape;14;p1"/>
          <p:cNvSpPr txBox="1"/>
          <p:nvPr/>
        </p:nvSpPr>
        <p:spPr>
          <a:xfrm>
            <a:off x="4481512"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7.</a:t>
            </a:r>
            <a:fld id="{00000000-1234-1234-1234-123412341234}" type="slidenum">
              <a:rPr b="1" i="0" lang="en-US" sz="1000" u="none">
                <a:solidFill>
                  <a:schemeClr val="dk2"/>
                </a:solidFill>
                <a:latin typeface="Helvetica Neue"/>
                <a:ea typeface="Helvetica Neue"/>
                <a:cs typeface="Helvetica Neue"/>
                <a:sym typeface="Helvetica Neue"/>
              </a:rPr>
              <a:t>‹#›</a:t>
            </a:fld>
            <a:endParaRPr/>
          </a:p>
        </p:txBody>
      </p:sp>
      <p:sp>
        <p:nvSpPr>
          <p:cNvPr id="15" name="Google Shape;15;p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1pPr>
            <a:lvl2pPr lvl="1"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2pPr>
            <a:lvl3pPr lvl="2"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3pPr>
            <a:lvl4pPr lvl="3"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4pPr>
            <a:lvl5pPr lvl="4"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5pPr>
            <a:lvl6pPr lvl="5"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6pPr>
            <a:lvl7pPr lvl="6"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7pPr>
            <a:lvl8pPr lvl="7"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8pPr>
            <a:lvl9pPr lvl="8"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9pPr>
          </a:lstStyle>
          <a:p/>
        </p:txBody>
      </p:sp>
      <p:sp>
        <p:nvSpPr>
          <p:cNvPr id="16" name="Google Shape;16;p1"/>
          <p:cNvSpPr txBox="1"/>
          <p:nvPr/>
        </p:nvSpPr>
        <p:spPr>
          <a:xfrm>
            <a:off x="0" y="6613525"/>
            <a:ext cx="3490912"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Database System Concepts - 5</a:t>
            </a:r>
            <a:r>
              <a:rPr b="1" baseline="30000" i="0" lang="en-US" sz="1000" u="none">
                <a:solidFill>
                  <a:schemeClr val="dk2"/>
                </a:solidFill>
                <a:latin typeface="Helvetica Neue"/>
                <a:ea typeface="Helvetica Neue"/>
                <a:cs typeface="Helvetica Neue"/>
                <a:sym typeface="Helvetica Neue"/>
              </a:rPr>
              <a:t>th</a:t>
            </a:r>
            <a:r>
              <a:rPr b="1" i="0" lang="en-US" sz="1000" u="none">
                <a:solidFill>
                  <a:schemeClr val="dk2"/>
                </a:solidFill>
                <a:latin typeface="Helvetica Neue"/>
                <a:ea typeface="Helvetica Neue"/>
                <a:cs typeface="Helvetica Neue"/>
                <a:sym typeface="Helvetica Neue"/>
              </a:rPr>
              <a:t> Edition, July 28,  2005.</a:t>
            </a:r>
            <a:endParaRPr/>
          </a:p>
        </p:txBody>
      </p:sp>
      <p:sp>
        <p:nvSpPr>
          <p:cNvPr id="17" name="Google Shape;17;p1"/>
          <p:cNvSpPr/>
          <p:nvPr/>
        </p:nvSpPr>
        <p:spPr>
          <a:xfrm>
            <a:off x="8916987" y="5445125"/>
            <a:ext cx="227012" cy="47625"/>
          </a:xfrm>
          <a:custGeom>
            <a:rect b="b" l="l" r="r" t="t"/>
            <a:pathLst>
              <a:path extrusionOk="0" h="61" w="285">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lnTo>
                  <a:pt x="2" y="6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8" name="Google Shape;18;p1"/>
          <p:cNvPicPr preferRelativeResize="0"/>
          <p:nvPr/>
        </p:nvPicPr>
        <p:blipFill rotWithShape="1">
          <a:blip r:embed="rId1">
            <a:alphaModFix/>
          </a:blip>
          <a:srcRect b="0" l="0" r="0" t="0"/>
          <a:stretch/>
        </p:blipFill>
        <p:spPr>
          <a:xfrm>
            <a:off x="0" y="0"/>
            <a:ext cx="660400" cy="877887"/>
          </a:xfrm>
          <a:prstGeom prst="rect">
            <a:avLst/>
          </a:prstGeom>
          <a:noFill/>
          <a:ln>
            <a:noFill/>
          </a:ln>
        </p:spPr>
      </p:pic>
      <p:pic>
        <p:nvPicPr>
          <p:cNvPr id="19" name="Google Shape;19;p1"/>
          <p:cNvPicPr preferRelativeResize="0"/>
          <p:nvPr/>
        </p:nvPicPr>
        <p:blipFill rotWithShape="1">
          <a:blip r:embed="rId2">
            <a:alphaModFix/>
          </a:blip>
          <a:srcRect b="26144" l="0" r="0" t="0"/>
          <a:stretch/>
        </p:blipFill>
        <p:spPr>
          <a:xfrm>
            <a:off x="8528050" y="6053137"/>
            <a:ext cx="615950" cy="6143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lide.x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4" name="Shape 44"/>
        <p:cNvGrpSpPr/>
        <p:nvPr/>
      </p:nvGrpSpPr>
      <p:grpSpPr>
        <a:xfrm>
          <a:off x="0" y="0"/>
          <a:ext cx="0" cy="0"/>
          <a:chOff x="0" y="0"/>
          <a:chExt cx="0" cy="0"/>
        </a:xfrm>
      </p:grpSpPr>
      <p:sp>
        <p:nvSpPr>
          <p:cNvPr id="45" name="Google Shape;45;p5"/>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Chapter 7:  Relational Database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9" name="Shape 49"/>
        <p:cNvGrpSpPr/>
        <p:nvPr/>
      </p:nvGrpSpPr>
      <p:grpSpPr>
        <a:xfrm>
          <a:off x="0" y="0"/>
          <a:ext cx="0" cy="0"/>
          <a:chOff x="0" y="0"/>
          <a:chExt cx="0" cy="0"/>
        </a:xfrm>
      </p:grpSpPr>
      <p:sp>
        <p:nvSpPr>
          <p:cNvPr id="50" name="Google Shape;50;p6"/>
          <p:cNvSpPr txBox="1"/>
          <p:nvPr>
            <p:ph type="title"/>
          </p:nvPr>
        </p:nvSpPr>
        <p:spPr>
          <a:xfrm>
            <a:off x="1066800" y="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Chapter 7:  Relational Database Design</a:t>
            </a:r>
            <a:endParaRPr/>
          </a:p>
        </p:txBody>
      </p:sp>
      <p:sp>
        <p:nvSpPr>
          <p:cNvPr id="51" name="Google Shape;51;p6"/>
          <p:cNvSpPr txBox="1"/>
          <p:nvPr>
            <p:ph idx="1" type="body"/>
          </p:nvPr>
        </p:nvSpPr>
        <p:spPr>
          <a:xfrm>
            <a:off x="927100" y="116363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Features of Good Relational Design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Atomic Domains and First Normal Form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Decomposition Using Functional Dependencies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Functional Dependency Theory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Algorithms for Functional Dependencies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Decomposition Using Multivalued Dependencies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More Normal Form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Database-Design Process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Modeling Temporal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5" name="Shape 55"/>
        <p:cNvGrpSpPr/>
        <p:nvPr/>
      </p:nvGrpSpPr>
      <p:grpSpPr>
        <a:xfrm>
          <a:off x="0" y="0"/>
          <a:ext cx="0" cy="0"/>
          <a:chOff x="0" y="0"/>
          <a:chExt cx="0" cy="0"/>
        </a:xfrm>
      </p:grpSpPr>
      <p:sp>
        <p:nvSpPr>
          <p:cNvPr id="56" name="Google Shape;56;p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The Banking Schema</a:t>
            </a:r>
            <a:endParaRPr/>
          </a:p>
        </p:txBody>
      </p:sp>
      <p:sp>
        <p:nvSpPr>
          <p:cNvPr id="57" name="Google Shape;57;p7"/>
          <p:cNvSpPr txBox="1"/>
          <p:nvPr>
            <p:ph idx="1" type="body"/>
          </p:nvPr>
        </p:nvSpPr>
        <p:spPr>
          <a:xfrm>
            <a:off x="654050" y="819150"/>
            <a:ext cx="8231187" cy="5664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branch</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branch_name</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branch_city</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assets</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customer</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customer_id</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customer_name</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customer_street</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customer_city</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loan</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loan_number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amount</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account</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account_number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balance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employee</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employee_id</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employee_name</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telephone_number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start_date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dependent_name</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employee_id</a:t>
            </a:r>
            <a:r>
              <a:rPr b="0" i="0" lang="en-US" sz="1600" u="sng" cap="none" strike="noStrike">
                <a:solidFill>
                  <a:schemeClr val="dk1"/>
                </a:solidFill>
                <a:latin typeface="Helvetica Neue"/>
                <a:ea typeface="Helvetica Neue"/>
                <a:cs typeface="Helvetica Neue"/>
                <a:sym typeface="Helvetica Neue"/>
              </a:rPr>
              <a:t>, </a:t>
            </a:r>
            <a:r>
              <a:rPr b="0" i="1" lang="en-US" sz="1600" u="sng" cap="none" strike="noStrike">
                <a:solidFill>
                  <a:schemeClr val="dk1"/>
                </a:solidFill>
                <a:latin typeface="Helvetica Neue"/>
                <a:ea typeface="Helvetica Neue"/>
                <a:cs typeface="Helvetica Neue"/>
                <a:sym typeface="Helvetica Neue"/>
              </a:rPr>
              <a:t>dname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account_branch</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account_number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branch_name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loan_branch</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loan_number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branch_name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borrower</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customer_id</a:t>
            </a:r>
            <a:r>
              <a:rPr b="0" i="0" lang="en-US" sz="1600" u="sng" cap="none" strike="noStrike">
                <a:solidFill>
                  <a:schemeClr val="dk1"/>
                </a:solidFill>
                <a:latin typeface="Helvetica Neue"/>
                <a:ea typeface="Helvetica Neue"/>
                <a:cs typeface="Helvetica Neue"/>
                <a:sym typeface="Helvetica Neue"/>
              </a:rPr>
              <a:t>, </a:t>
            </a:r>
            <a:r>
              <a:rPr b="0" i="1" lang="en-US" sz="1600" u="sng" cap="none" strike="noStrike">
                <a:solidFill>
                  <a:schemeClr val="dk1"/>
                </a:solidFill>
                <a:latin typeface="Helvetica Neue"/>
                <a:ea typeface="Helvetica Neue"/>
                <a:cs typeface="Helvetica Neue"/>
                <a:sym typeface="Helvetica Neue"/>
              </a:rPr>
              <a:t>loan_number</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depositor</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customer_id</a:t>
            </a:r>
            <a:r>
              <a:rPr b="0" i="0" lang="en-US" sz="1600" u="sng" cap="none" strike="noStrike">
                <a:solidFill>
                  <a:schemeClr val="dk1"/>
                </a:solidFill>
                <a:latin typeface="Helvetica Neue"/>
                <a:ea typeface="Helvetica Neue"/>
                <a:cs typeface="Helvetica Neue"/>
                <a:sym typeface="Helvetica Neue"/>
              </a:rPr>
              <a:t>, </a:t>
            </a:r>
            <a:r>
              <a:rPr b="0" i="1" lang="en-US" sz="1600" u="sng" cap="none" strike="noStrike">
                <a:solidFill>
                  <a:schemeClr val="dk1"/>
                </a:solidFill>
                <a:latin typeface="Helvetica Neue"/>
                <a:ea typeface="Helvetica Neue"/>
                <a:cs typeface="Helvetica Neue"/>
                <a:sym typeface="Helvetica Neue"/>
              </a:rPr>
              <a:t>account_number</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cust_banker</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customer_id</a:t>
            </a:r>
            <a:r>
              <a:rPr b="0" i="0" lang="en-US" sz="1600" u="sng" cap="none" strike="noStrike">
                <a:solidFill>
                  <a:schemeClr val="dk1"/>
                </a:solidFill>
                <a:latin typeface="Helvetica Neue"/>
                <a:ea typeface="Helvetica Neue"/>
                <a:cs typeface="Helvetica Neue"/>
                <a:sym typeface="Helvetica Neue"/>
              </a:rPr>
              <a:t>, </a:t>
            </a:r>
            <a:r>
              <a:rPr b="0" i="1" lang="en-US" sz="1600" u="sng" cap="none" strike="noStrike">
                <a:solidFill>
                  <a:schemeClr val="dk1"/>
                </a:solidFill>
                <a:latin typeface="Helvetica Neue"/>
                <a:ea typeface="Helvetica Neue"/>
                <a:cs typeface="Helvetica Neue"/>
                <a:sym typeface="Helvetica Neue"/>
              </a:rPr>
              <a:t>employee_id</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type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works_for</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worker_employee_id</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manager_employee_id</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payment</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loan_number</a:t>
            </a:r>
            <a:r>
              <a:rPr b="0" i="0" lang="en-US" sz="1600" u="sng" cap="none" strike="noStrike">
                <a:solidFill>
                  <a:schemeClr val="dk1"/>
                </a:solidFill>
                <a:latin typeface="Helvetica Neue"/>
                <a:ea typeface="Helvetica Neue"/>
                <a:cs typeface="Helvetica Neue"/>
                <a:sym typeface="Helvetica Neue"/>
              </a:rPr>
              <a:t>, </a:t>
            </a:r>
            <a:r>
              <a:rPr b="0" i="1" lang="en-US" sz="1600" u="sng" cap="none" strike="noStrike">
                <a:solidFill>
                  <a:schemeClr val="dk1"/>
                </a:solidFill>
                <a:latin typeface="Helvetica Neue"/>
                <a:ea typeface="Helvetica Neue"/>
                <a:cs typeface="Helvetica Neue"/>
                <a:sym typeface="Helvetica Neue"/>
              </a:rPr>
              <a:t>payment_number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payment_date</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payment_amount</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savings_account</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account_number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interest_rate</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cap="none" strike="noStrike">
                <a:solidFill>
                  <a:schemeClr val="dk1"/>
                </a:solidFill>
                <a:latin typeface="Helvetica Neue"/>
                <a:ea typeface="Helvetica Neue"/>
                <a:cs typeface="Helvetica Neue"/>
                <a:sym typeface="Helvetica Neue"/>
              </a:rPr>
              <a:t>checking_account</a:t>
            </a:r>
            <a:r>
              <a:rPr b="0" i="0" lang="en-US" sz="1600" u="none" cap="none" strike="noStrike">
                <a:solidFill>
                  <a:schemeClr val="dk1"/>
                </a:solidFill>
                <a:latin typeface="Helvetica Neue"/>
                <a:ea typeface="Helvetica Neue"/>
                <a:cs typeface="Helvetica Neue"/>
                <a:sym typeface="Helvetica Neue"/>
              </a:rPr>
              <a:t> = (</a:t>
            </a:r>
            <a:r>
              <a:rPr b="0" i="1" lang="en-US" sz="1600" u="sng" cap="none" strike="noStrike">
                <a:solidFill>
                  <a:schemeClr val="dk1"/>
                </a:solidFill>
                <a:latin typeface="Helvetica Neue"/>
                <a:ea typeface="Helvetica Neue"/>
                <a:cs typeface="Helvetica Neue"/>
                <a:sym typeface="Helvetica Neue"/>
              </a:rPr>
              <a:t>account_number</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overdraft_amount</a:t>
            </a:r>
            <a:r>
              <a:rPr b="0" i="0" lang="en-US" sz="1600" u="none" cap="none" strike="noStrike">
                <a:solidFill>
                  <a:schemeClr val="dk1"/>
                </a:solidFill>
                <a:latin typeface="Helvetica Neue"/>
                <a:ea typeface="Helvetica Neue"/>
                <a:cs typeface="Helvetica Neue"/>
                <a:sym typeface="Helvetica Neue"/>
              </a:rPr>
              <a:t>)</a:t>
            </a:r>
            <a:endParaRPr b="0" i="0" sz="1600" u="none" cap="none" strike="noStrike">
              <a:solidFill>
                <a:schemeClr val="dk1"/>
              </a:solidFill>
              <a:latin typeface="Helvetica Neue"/>
              <a:ea typeface="Helvetica Neue"/>
              <a:cs typeface="Helvetica Neue"/>
              <a:sym typeface="Helvetica Neue"/>
            </a:endParaRPr>
          </a:p>
          <a:p>
            <a:pPr indent="-251459" lvl="0" marL="342900" marR="0" rtl="0" algn="l">
              <a:lnSpc>
                <a:spcPct val="10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1" name="Shape 61"/>
        <p:cNvGrpSpPr/>
        <p:nvPr/>
      </p:nvGrpSpPr>
      <p:grpSpPr>
        <a:xfrm>
          <a:off x="0" y="0"/>
          <a:ext cx="0" cy="0"/>
          <a:chOff x="0" y="0"/>
          <a:chExt cx="0" cy="0"/>
        </a:xfrm>
      </p:grpSpPr>
      <p:sp>
        <p:nvSpPr>
          <p:cNvPr id="62" name="Google Shape;62;p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Combine Schemas?</a:t>
            </a:r>
            <a:endParaRPr/>
          </a:p>
        </p:txBody>
      </p:sp>
      <p:sp>
        <p:nvSpPr>
          <p:cNvPr id="63" name="Google Shape;63;p8"/>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Suppose we combine </a:t>
            </a:r>
            <a:r>
              <a:rPr b="0" i="1" lang="en-US" sz="1800" u="none">
                <a:solidFill>
                  <a:schemeClr val="dk1"/>
                </a:solidFill>
                <a:latin typeface="Helvetica Neue"/>
                <a:ea typeface="Helvetica Neue"/>
                <a:cs typeface="Helvetica Neue"/>
                <a:sym typeface="Helvetica Neue"/>
              </a:rPr>
              <a:t>borrower</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loan</a:t>
            </a:r>
            <a:r>
              <a:rPr b="0" i="0" lang="en-US" sz="1800" u="none">
                <a:solidFill>
                  <a:schemeClr val="dk1"/>
                </a:solidFill>
                <a:latin typeface="Helvetica Neue"/>
                <a:ea typeface="Helvetica Neue"/>
                <a:cs typeface="Helvetica Neue"/>
                <a:sym typeface="Helvetica Neue"/>
              </a:rPr>
              <a:t> to get </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bor_loan</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customer_id</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loan_number</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amount </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Result is possible repetition of information (L-100 in example below)</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pic>
        <p:nvPicPr>
          <p:cNvPr id="64" name="Google Shape;64;p8"/>
          <p:cNvPicPr preferRelativeResize="0"/>
          <p:nvPr/>
        </p:nvPicPr>
        <p:blipFill rotWithShape="1">
          <a:blip r:embed="rId3">
            <a:alphaModFix/>
          </a:blip>
          <a:srcRect b="0" l="0" r="0" t="0"/>
          <a:stretch/>
        </p:blipFill>
        <p:spPr>
          <a:xfrm>
            <a:off x="1235075" y="2308225"/>
            <a:ext cx="6042025" cy="39290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8" name="Shape 68"/>
        <p:cNvGrpSpPr/>
        <p:nvPr/>
      </p:nvGrpSpPr>
      <p:grpSpPr>
        <a:xfrm>
          <a:off x="0" y="0"/>
          <a:ext cx="0" cy="0"/>
          <a:chOff x="0" y="0"/>
          <a:chExt cx="0" cy="0"/>
        </a:xfrm>
      </p:grpSpPr>
      <p:sp>
        <p:nvSpPr>
          <p:cNvPr id="69" name="Google Shape;69;p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 Combined Schema Without Repetition</a:t>
            </a:r>
            <a:endParaRPr/>
          </a:p>
        </p:txBody>
      </p:sp>
      <p:sp>
        <p:nvSpPr>
          <p:cNvPr id="70" name="Google Shape;70;p9"/>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Consider combining </a:t>
            </a:r>
            <a:r>
              <a:rPr b="0" i="1" lang="en-US" sz="1800" u="none">
                <a:solidFill>
                  <a:schemeClr val="dk1"/>
                </a:solidFill>
                <a:latin typeface="Helvetica Neue"/>
                <a:ea typeface="Helvetica Neue"/>
                <a:cs typeface="Helvetica Neue"/>
                <a:sym typeface="Helvetica Neue"/>
              </a:rPr>
              <a:t>loan_branch</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loan</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loan_amt_br</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loan_number</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amount</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branch_name</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 repetition (as suggested by example below)</a:t>
            </a:r>
            <a:endParaRPr/>
          </a:p>
        </p:txBody>
      </p:sp>
      <p:pic>
        <p:nvPicPr>
          <p:cNvPr id="71" name="Google Shape;71;p9"/>
          <p:cNvPicPr preferRelativeResize="0"/>
          <p:nvPr/>
        </p:nvPicPr>
        <p:blipFill rotWithShape="1">
          <a:blip r:embed="rId3">
            <a:alphaModFix/>
          </a:blip>
          <a:srcRect b="0" l="0" r="0" t="0"/>
          <a:stretch/>
        </p:blipFill>
        <p:spPr>
          <a:xfrm>
            <a:off x="1425575" y="2493962"/>
            <a:ext cx="5703887" cy="3263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75" name="Shape 75"/>
        <p:cNvGrpSpPr/>
        <p:nvPr/>
      </p:nvGrpSpPr>
      <p:grpSpPr>
        <a:xfrm>
          <a:off x="0" y="0"/>
          <a:ext cx="0" cy="0"/>
          <a:chOff x="0" y="0"/>
          <a:chExt cx="0" cy="0"/>
        </a:xfrm>
      </p:grpSpPr>
      <p:sp>
        <p:nvSpPr>
          <p:cNvPr id="76" name="Google Shape;76;p1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What About Smaller Schemas?</a:t>
            </a:r>
            <a:endParaRPr/>
          </a:p>
        </p:txBody>
      </p:sp>
      <p:sp>
        <p:nvSpPr>
          <p:cNvPr id="77" name="Google Shape;77;p10"/>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Suppose we had started with </a:t>
            </a:r>
            <a:r>
              <a:rPr b="0" i="1" lang="en-US" sz="1600" u="none">
                <a:solidFill>
                  <a:schemeClr val="dk1"/>
                </a:solidFill>
                <a:latin typeface="Helvetica Neue"/>
                <a:ea typeface="Helvetica Neue"/>
                <a:cs typeface="Helvetica Neue"/>
                <a:sym typeface="Helvetica Neue"/>
              </a:rPr>
              <a:t>bor_loan.  </a:t>
            </a:r>
            <a:r>
              <a:rPr b="0" i="0" lang="en-US" sz="1600" u="none">
                <a:solidFill>
                  <a:schemeClr val="dk1"/>
                </a:solidFill>
                <a:latin typeface="Helvetica Neue"/>
                <a:ea typeface="Helvetica Neue"/>
                <a:cs typeface="Helvetica Neue"/>
                <a:sym typeface="Helvetica Neue"/>
              </a:rPr>
              <a:t>How would we know to split up (</a:t>
            </a:r>
            <a:r>
              <a:rPr b="1" i="0" lang="en-US" sz="1600" u="none">
                <a:solidFill>
                  <a:schemeClr val="dk2"/>
                </a:solidFill>
                <a:latin typeface="Helvetica Neue"/>
                <a:ea typeface="Helvetica Neue"/>
                <a:cs typeface="Helvetica Neue"/>
                <a:sym typeface="Helvetica Neue"/>
              </a:rPr>
              <a:t>decompose</a:t>
            </a:r>
            <a:r>
              <a:rPr b="0" i="0" lang="en-US" sz="1600" u="none">
                <a:solidFill>
                  <a:schemeClr val="dk1"/>
                </a:solidFill>
                <a:latin typeface="Helvetica Neue"/>
                <a:ea typeface="Helvetica Neue"/>
                <a:cs typeface="Helvetica Neue"/>
                <a:sym typeface="Helvetica Neue"/>
              </a:rPr>
              <a:t>) it into </a:t>
            </a:r>
            <a:r>
              <a:rPr b="0" i="1" lang="en-US" sz="1600" u="none">
                <a:solidFill>
                  <a:schemeClr val="dk1"/>
                </a:solidFill>
                <a:latin typeface="Helvetica Neue"/>
                <a:ea typeface="Helvetica Neue"/>
                <a:cs typeface="Helvetica Neue"/>
                <a:sym typeface="Helvetica Neue"/>
              </a:rPr>
              <a:t>borrower </a:t>
            </a:r>
            <a:r>
              <a:rPr b="0" i="0" lang="en-US" sz="1600" u="none">
                <a:solidFill>
                  <a:schemeClr val="dk1"/>
                </a:solidFill>
                <a:latin typeface="Helvetica Neue"/>
                <a:ea typeface="Helvetica Neue"/>
                <a:cs typeface="Helvetica Neue"/>
                <a:sym typeface="Helvetica Neue"/>
              </a:rPr>
              <a:t> and </a:t>
            </a:r>
            <a:r>
              <a:rPr b="0" i="1" lang="en-US" sz="1600" u="none">
                <a:solidFill>
                  <a:schemeClr val="dk1"/>
                </a:solidFill>
                <a:latin typeface="Helvetica Neue"/>
                <a:ea typeface="Helvetica Neue"/>
                <a:cs typeface="Helvetica Neue"/>
                <a:sym typeface="Helvetica Neue"/>
              </a:rPr>
              <a:t>loan</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Write a rule “if there were a schema (</a:t>
            </a:r>
            <a:r>
              <a:rPr b="0" i="1" lang="en-US" sz="1600" u="none">
                <a:solidFill>
                  <a:schemeClr val="dk1"/>
                </a:solidFill>
                <a:latin typeface="Helvetica Neue"/>
                <a:ea typeface="Helvetica Neue"/>
                <a:cs typeface="Helvetica Neue"/>
                <a:sym typeface="Helvetica Neue"/>
              </a:rPr>
              <a:t>loan_number, amount</a:t>
            </a:r>
            <a:r>
              <a:rPr b="0" i="0" lang="en-US" sz="1600" u="none">
                <a:solidFill>
                  <a:schemeClr val="dk1"/>
                </a:solidFill>
                <a:latin typeface="Helvetica Neue"/>
                <a:ea typeface="Helvetica Neue"/>
                <a:cs typeface="Helvetica Neue"/>
                <a:sym typeface="Helvetica Neue"/>
              </a:rPr>
              <a:t>), then </a:t>
            </a:r>
            <a:r>
              <a:rPr b="0" i="1" lang="en-US" sz="1600" u="none">
                <a:solidFill>
                  <a:schemeClr val="dk1"/>
                </a:solidFill>
                <a:latin typeface="Helvetica Neue"/>
                <a:ea typeface="Helvetica Neue"/>
                <a:cs typeface="Helvetica Neue"/>
                <a:sym typeface="Helvetica Neue"/>
              </a:rPr>
              <a:t>loan_number </a:t>
            </a:r>
            <a:r>
              <a:rPr b="0" i="0" lang="en-US" sz="1600" u="none">
                <a:solidFill>
                  <a:schemeClr val="dk1"/>
                </a:solidFill>
                <a:latin typeface="Helvetica Neue"/>
                <a:ea typeface="Helvetica Neue"/>
                <a:cs typeface="Helvetica Neue"/>
                <a:sym typeface="Helvetica Neue"/>
              </a:rPr>
              <a:t>would be a candidate key”</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Denote as a </a:t>
            </a:r>
            <a:r>
              <a:rPr b="1" i="0" lang="en-US" sz="1600" u="none">
                <a:solidFill>
                  <a:schemeClr val="dk2"/>
                </a:solidFill>
                <a:latin typeface="Helvetica Neue"/>
                <a:ea typeface="Helvetica Neue"/>
                <a:cs typeface="Helvetica Neue"/>
                <a:sym typeface="Helvetica Neue"/>
              </a:rPr>
              <a:t>functional dependency</a:t>
            </a:r>
            <a:r>
              <a:rPr b="0" i="0" lang="en-US" sz="1600" u="non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560"/>
              </a:spcBef>
              <a:spcAft>
                <a:spcPts val="0"/>
              </a:spcAft>
              <a:buClr>
                <a:schemeClr val="dk2"/>
              </a:buClr>
              <a:buSzPts val="1440"/>
              <a:buFont typeface="Arial"/>
              <a:buNone/>
            </a:pPr>
            <a:r>
              <a:rPr b="0" i="1" lang="en-US" sz="1600" u="none">
                <a:solidFill>
                  <a:schemeClr val="dk1"/>
                </a:solidFill>
                <a:latin typeface="Helvetica Neue"/>
                <a:ea typeface="Helvetica Neue"/>
                <a:cs typeface="Helvetica Neue"/>
                <a:sym typeface="Helvetica Neue"/>
              </a:rPr>
              <a:t>		loan_number</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amount</a:t>
            </a:r>
            <a:endParaRPr b="0" i="0" sz="16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In </a:t>
            </a:r>
            <a:r>
              <a:rPr b="0" i="1" lang="en-US" sz="1600" u="none">
                <a:solidFill>
                  <a:schemeClr val="dk1"/>
                </a:solidFill>
                <a:latin typeface="Helvetica Neue"/>
                <a:ea typeface="Helvetica Neue"/>
                <a:cs typeface="Helvetica Neue"/>
                <a:sym typeface="Helvetica Neue"/>
              </a:rPr>
              <a:t>bor_loan</a:t>
            </a:r>
            <a:r>
              <a:rPr b="0" i="0" lang="en-US" sz="1600" u="none">
                <a:solidFill>
                  <a:schemeClr val="dk1"/>
                </a:solidFill>
                <a:latin typeface="Helvetica Neue"/>
                <a:ea typeface="Helvetica Neue"/>
                <a:cs typeface="Helvetica Neue"/>
                <a:sym typeface="Helvetica Neue"/>
              </a:rPr>
              <a:t>, because </a:t>
            </a:r>
            <a:r>
              <a:rPr b="0" i="1" lang="en-US" sz="1600" u="none">
                <a:solidFill>
                  <a:schemeClr val="dk1"/>
                </a:solidFill>
                <a:latin typeface="Helvetica Neue"/>
                <a:ea typeface="Helvetica Neue"/>
                <a:cs typeface="Helvetica Neue"/>
                <a:sym typeface="Helvetica Neue"/>
              </a:rPr>
              <a:t>loan_number</a:t>
            </a:r>
            <a:r>
              <a:rPr b="0" i="0" lang="en-US" sz="1600" u="none">
                <a:solidFill>
                  <a:schemeClr val="dk1"/>
                </a:solidFill>
                <a:latin typeface="Helvetica Neue"/>
                <a:ea typeface="Helvetica Neue"/>
                <a:cs typeface="Helvetica Neue"/>
                <a:sym typeface="Helvetica Neue"/>
              </a:rPr>
              <a:t> is not a candidate key, the amount of a loan may have to be repeated.  This indicates the need to decompose </a:t>
            </a:r>
            <a:r>
              <a:rPr b="0" i="1" lang="en-US" sz="1600" u="none">
                <a:solidFill>
                  <a:schemeClr val="dk1"/>
                </a:solidFill>
                <a:latin typeface="Helvetica Neue"/>
                <a:ea typeface="Helvetica Neue"/>
                <a:cs typeface="Helvetica Neue"/>
                <a:sym typeface="Helvetica Neue"/>
              </a:rPr>
              <a:t>bor_loan</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Not all decompositions are good.  Suppose we decompose </a:t>
            </a:r>
            <a:r>
              <a:rPr b="0" i="1" lang="en-US" sz="1600" u="none">
                <a:solidFill>
                  <a:schemeClr val="dk1"/>
                </a:solidFill>
                <a:latin typeface="Helvetica Neue"/>
                <a:ea typeface="Helvetica Neue"/>
                <a:cs typeface="Helvetica Neue"/>
                <a:sym typeface="Helvetica Neue"/>
              </a:rPr>
              <a:t>employee</a:t>
            </a:r>
            <a:r>
              <a:rPr b="0" i="0" lang="en-US" sz="1600" u="none">
                <a:solidFill>
                  <a:schemeClr val="dk1"/>
                </a:solidFill>
                <a:latin typeface="Helvetica Neue"/>
                <a:ea typeface="Helvetica Neue"/>
                <a:cs typeface="Helvetica Neue"/>
                <a:sym typeface="Helvetica Neue"/>
              </a:rPr>
              <a:t> into</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employee1</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employee_id</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employee_name</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employee2</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employee_name</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telephone_number</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start_date</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The next slide shows how we lose information -- we cannot reconstruct the original </a:t>
            </a:r>
            <a:r>
              <a:rPr b="0" i="1" lang="en-US" sz="1600" u="none">
                <a:solidFill>
                  <a:schemeClr val="dk1"/>
                </a:solidFill>
                <a:latin typeface="Helvetica Neue"/>
                <a:ea typeface="Helvetica Neue"/>
                <a:cs typeface="Helvetica Neue"/>
                <a:sym typeface="Helvetica Neue"/>
              </a:rPr>
              <a:t>employee</a:t>
            </a:r>
            <a:r>
              <a:rPr b="0" i="0" lang="en-US" sz="1600" u="none">
                <a:solidFill>
                  <a:schemeClr val="dk1"/>
                </a:solidFill>
                <a:latin typeface="Helvetica Neue"/>
                <a:ea typeface="Helvetica Neue"/>
                <a:cs typeface="Helvetica Neue"/>
                <a:sym typeface="Helvetica Neue"/>
              </a:rPr>
              <a:t> relation -- and so, this is a lossy decomposition.</a:t>
            </a:r>
            <a:endParaRPr b="0" i="0" sz="1600" u="none">
              <a:solidFill>
                <a:schemeClr val="dk1"/>
              </a:solidFill>
              <a:latin typeface="Helvetica Neue"/>
              <a:ea typeface="Helvetica Neue"/>
              <a:cs typeface="Helvetica Neue"/>
              <a:sym typeface="Helvetica Neue"/>
            </a:endParaRPr>
          </a:p>
          <a:p>
            <a:pPr indent="-285750" lvl="1" marL="742950" marR="0" rtl="0" algn="l">
              <a:lnSpc>
                <a:spcPct val="100000"/>
              </a:lnSpc>
              <a:spcBef>
                <a:spcPts val="560"/>
              </a:spcBef>
              <a:spcAft>
                <a:spcPts val="0"/>
              </a:spcAft>
              <a:buClr>
                <a:schemeClr val="hlink"/>
              </a:buClr>
              <a:buSzPts val="1280"/>
              <a:buFont typeface="Arial"/>
              <a:buNone/>
            </a:pPr>
            <a:r>
              <a:t/>
            </a:r>
            <a:endParaRPr b="0" i="1" sz="1600" u="none" cap="none" strike="noStrike">
              <a:solidFill>
                <a:schemeClr val="dk1"/>
              </a:solidFill>
              <a:latin typeface="Helvetica Neue"/>
              <a:ea typeface="Helvetica Neue"/>
              <a:cs typeface="Helvetica Neue"/>
              <a:sym typeface="Helvetica Neue"/>
            </a:endParaRPr>
          </a:p>
          <a:p>
            <a:pPr indent="-251459" lvl="0" marL="342900" marR="0" rtl="0" algn="l">
              <a:lnSpc>
                <a:spcPct val="100000"/>
              </a:lnSpc>
              <a:spcBef>
                <a:spcPts val="560"/>
              </a:spcBef>
              <a:spcAft>
                <a:spcPts val="0"/>
              </a:spcAft>
              <a:buClr>
                <a:schemeClr val="dk2"/>
              </a:buClr>
              <a:buSzPts val="1440"/>
              <a:buFont typeface="Arial"/>
              <a:buNone/>
            </a:pPr>
            <a:r>
              <a:t/>
            </a:r>
            <a:endParaRPr b="0" i="1" sz="16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81" name="Shape 81"/>
        <p:cNvGrpSpPr/>
        <p:nvPr/>
      </p:nvGrpSpPr>
      <p:grpSpPr>
        <a:xfrm>
          <a:off x="0" y="0"/>
          <a:ext cx="0" cy="0"/>
          <a:chOff x="0" y="0"/>
          <a:chExt cx="0" cy="0"/>
        </a:xfrm>
      </p:grpSpPr>
      <p:sp>
        <p:nvSpPr>
          <p:cNvPr id="82" name="Google Shape;82;p1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 Lossy Decomposition</a:t>
            </a:r>
            <a:endParaRPr/>
          </a:p>
        </p:txBody>
      </p:sp>
      <p:pic>
        <p:nvPicPr>
          <p:cNvPr id="83" name="Google Shape;83;p11"/>
          <p:cNvPicPr preferRelativeResize="0"/>
          <p:nvPr/>
        </p:nvPicPr>
        <p:blipFill rotWithShape="1">
          <a:blip r:embed="rId3">
            <a:alphaModFix/>
          </a:blip>
          <a:srcRect b="0" l="0" r="0" t="0"/>
          <a:stretch/>
        </p:blipFill>
        <p:spPr>
          <a:xfrm>
            <a:off x="2244725" y="758825"/>
            <a:ext cx="5265737" cy="5803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87" name="Shape 87"/>
        <p:cNvGrpSpPr/>
        <p:nvPr/>
      </p:nvGrpSpPr>
      <p:grpSpPr>
        <a:xfrm>
          <a:off x="0" y="0"/>
          <a:ext cx="0" cy="0"/>
          <a:chOff x="0" y="0"/>
          <a:chExt cx="0" cy="0"/>
        </a:xfrm>
      </p:grpSpPr>
      <p:sp>
        <p:nvSpPr>
          <p:cNvPr id="88" name="Google Shape;88;p1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First Normal Form</a:t>
            </a:r>
            <a:endParaRPr/>
          </a:p>
        </p:txBody>
      </p:sp>
      <p:sp>
        <p:nvSpPr>
          <p:cNvPr id="89" name="Google Shape;89;p12"/>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Domain is </a:t>
            </a:r>
            <a:r>
              <a:rPr b="0" i="0" lang="en-US" sz="1800" u="none">
                <a:solidFill>
                  <a:schemeClr val="dk2"/>
                </a:solidFill>
                <a:latin typeface="Helvetica Neue"/>
                <a:ea typeface="Helvetica Neue"/>
                <a:cs typeface="Helvetica Neue"/>
                <a:sym typeface="Helvetica Neue"/>
              </a:rPr>
              <a:t>atomic</a:t>
            </a:r>
            <a:r>
              <a:rPr b="0" i="0" lang="en-US" sz="1800" u="none">
                <a:solidFill>
                  <a:schemeClr val="dk1"/>
                </a:solidFill>
                <a:latin typeface="Helvetica Neue"/>
                <a:ea typeface="Helvetica Neue"/>
                <a:cs typeface="Helvetica Neue"/>
                <a:sym typeface="Helvetica Neue"/>
              </a:rPr>
              <a:t> if its elements are considered to be indivisible units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Examples of non-atomic domains: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Set of names,  composite attributes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Identification numbers like CS101  that can be broken up into parts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relational schema R is in </a:t>
            </a:r>
            <a:r>
              <a:rPr b="0" i="0" lang="en-US" sz="1800" u="none">
                <a:solidFill>
                  <a:schemeClr val="dk2"/>
                </a:solidFill>
                <a:latin typeface="Helvetica Neue"/>
                <a:ea typeface="Helvetica Neue"/>
                <a:cs typeface="Helvetica Neue"/>
                <a:sym typeface="Helvetica Neue"/>
              </a:rPr>
              <a:t>first normal form</a:t>
            </a:r>
            <a:r>
              <a:rPr b="0" i="0" lang="en-US" sz="1800" u="none">
                <a:solidFill>
                  <a:schemeClr val="dk1"/>
                </a:solidFill>
                <a:latin typeface="Helvetica Neue"/>
                <a:ea typeface="Helvetica Neue"/>
                <a:cs typeface="Helvetica Neue"/>
                <a:sym typeface="Helvetica Neue"/>
              </a:rPr>
              <a:t> if the domains of all attributes of R are atomic</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Non-atomic values complicate storage and encourage redundant (repeated) storage of data</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  Set of accounts stored with each customer, and set of owners stored with each account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We assume all relations are in first normal form (and revisit this in Chapter 9)</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3" name="Shape 93"/>
        <p:cNvGrpSpPr/>
        <p:nvPr/>
      </p:nvGrpSpPr>
      <p:grpSpPr>
        <a:xfrm>
          <a:off x="0" y="0"/>
          <a:ext cx="0" cy="0"/>
          <a:chOff x="0" y="0"/>
          <a:chExt cx="0" cy="0"/>
        </a:xfrm>
      </p:grpSpPr>
      <p:sp>
        <p:nvSpPr>
          <p:cNvPr id="94" name="Google Shape;94;p13"/>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First Normal Form (Cont’d)</a:t>
            </a:r>
            <a:endParaRPr/>
          </a:p>
        </p:txBody>
      </p:sp>
      <p:sp>
        <p:nvSpPr>
          <p:cNvPr id="95" name="Google Shape;95;p13"/>
          <p:cNvSpPr txBox="1"/>
          <p:nvPr>
            <p:ph idx="1" type="body"/>
          </p:nvPr>
        </p:nvSpPr>
        <p:spPr>
          <a:xfrm>
            <a:off x="927100" y="1139825"/>
            <a:ext cx="7661275" cy="37068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Atomicity is actually a property of how the elements of the domain are used.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 Strings would normally be considered indivisible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Suppose that students are given roll numbers which are strings of the form </a:t>
            </a:r>
            <a:r>
              <a:rPr b="0" i="1" lang="en-US" sz="1800" u="none" cap="none" strike="noStrike">
                <a:solidFill>
                  <a:schemeClr val="dk1"/>
                </a:solidFill>
                <a:latin typeface="Helvetica Neue"/>
                <a:ea typeface="Helvetica Neue"/>
                <a:cs typeface="Helvetica Neue"/>
                <a:sym typeface="Helvetica Neue"/>
              </a:rPr>
              <a:t>CS0012 </a:t>
            </a:r>
            <a:r>
              <a:rPr b="0" i="0" lang="en-US" sz="1800" u="none" cap="none" strike="noStrike">
                <a:solidFill>
                  <a:schemeClr val="dk1"/>
                </a:solidFill>
                <a:latin typeface="Helvetica Neue"/>
                <a:ea typeface="Helvetica Neue"/>
                <a:cs typeface="Helvetica Neue"/>
                <a:sym typeface="Helvetica Neue"/>
              </a:rPr>
              <a:t>or </a:t>
            </a:r>
            <a:r>
              <a:rPr b="0" i="1" lang="en-US" sz="1800" u="none" cap="none" strike="noStrike">
                <a:solidFill>
                  <a:schemeClr val="dk1"/>
                </a:solidFill>
                <a:latin typeface="Helvetica Neue"/>
                <a:ea typeface="Helvetica Neue"/>
                <a:cs typeface="Helvetica Neue"/>
                <a:sym typeface="Helvetica Neue"/>
              </a:rPr>
              <a:t>EE1127</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the first two characters are extracted to find the department, the domain of roll numbers is not atomic.</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Doing so is a bad idea: leads to encoding of information in application program rather than in the database.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9" name="Shape 99"/>
        <p:cNvGrpSpPr/>
        <p:nvPr/>
      </p:nvGrpSpPr>
      <p:grpSpPr>
        <a:xfrm>
          <a:off x="0" y="0"/>
          <a:ext cx="0" cy="0"/>
          <a:chOff x="0" y="0"/>
          <a:chExt cx="0" cy="0"/>
        </a:xfrm>
      </p:grpSpPr>
      <p:sp>
        <p:nvSpPr>
          <p:cNvPr id="100" name="Google Shape;100;p14"/>
          <p:cNvSpPr txBox="1"/>
          <p:nvPr>
            <p:ph type="title"/>
          </p:nvPr>
        </p:nvSpPr>
        <p:spPr>
          <a:xfrm>
            <a:off x="933450" y="223837"/>
            <a:ext cx="82296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Goal — Devise a Theory for the Following</a:t>
            </a:r>
            <a:endParaRPr/>
          </a:p>
        </p:txBody>
      </p:sp>
      <p:sp>
        <p:nvSpPr>
          <p:cNvPr id="101" name="Google Shape;101;p14"/>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Decide whether a particular relation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“good” form.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the case that a relation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not in “good” form, decompose it into a set of relations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R</a:t>
            </a:r>
            <a:r>
              <a:rPr b="0" baseline="-25000" i="0"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 ..., R</a:t>
            </a:r>
            <a:r>
              <a:rPr b="0" baseline="-2500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such that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relation is in good form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decomposition is a lossless-join decomposition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Our theory is based 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functional dependencies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multivalued dependencies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05" name="Shape 105"/>
        <p:cNvGrpSpPr/>
        <p:nvPr/>
      </p:nvGrpSpPr>
      <p:grpSpPr>
        <a:xfrm>
          <a:off x="0" y="0"/>
          <a:ext cx="0" cy="0"/>
          <a:chOff x="0" y="0"/>
          <a:chExt cx="0" cy="0"/>
        </a:xfrm>
      </p:grpSpPr>
      <p:sp>
        <p:nvSpPr>
          <p:cNvPr id="106" name="Google Shape;106;p1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Functional Dependencies</a:t>
            </a:r>
            <a:endParaRPr/>
          </a:p>
        </p:txBody>
      </p:sp>
      <p:sp>
        <p:nvSpPr>
          <p:cNvPr id="107" name="Google Shape;107;p15"/>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Constraints on the set of legal relations.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Require that the value for a certain set of attributes determines uniquely the value for another set of attributes.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functional dependency is a generalization of the notion of a </a:t>
            </a:r>
            <a:r>
              <a:rPr b="0" i="1" lang="en-US" sz="1800" u="none">
                <a:solidFill>
                  <a:schemeClr val="dk1"/>
                </a:solidFill>
                <a:latin typeface="Helvetica Neue"/>
                <a:ea typeface="Helvetica Neue"/>
                <a:cs typeface="Helvetica Neue"/>
                <a:sym typeface="Helvetica Neue"/>
              </a:rPr>
              <a:t>key.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11" name="Shape 111"/>
        <p:cNvGrpSpPr/>
        <p:nvPr/>
      </p:nvGrpSpPr>
      <p:grpSpPr>
        <a:xfrm>
          <a:off x="0" y="0"/>
          <a:ext cx="0" cy="0"/>
          <a:chOff x="0" y="0"/>
          <a:chExt cx="0" cy="0"/>
        </a:xfrm>
      </p:grpSpPr>
      <p:sp>
        <p:nvSpPr>
          <p:cNvPr id="112" name="Google Shape;112;p1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Functional Dependencies (Cont.)</a:t>
            </a:r>
            <a:endParaRPr/>
          </a:p>
        </p:txBody>
      </p:sp>
      <p:sp>
        <p:nvSpPr>
          <p:cNvPr id="113" name="Google Shape;113;p16"/>
          <p:cNvSpPr txBox="1"/>
          <p:nvPr>
            <p:ph idx="1" type="body"/>
          </p:nvPr>
        </p:nvSpPr>
        <p:spPr>
          <a:xfrm>
            <a:off x="927100" y="1139825"/>
            <a:ext cx="7245350" cy="4787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be a relation schema</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α ⊆ </a:t>
            </a:r>
            <a:r>
              <a:rPr b="0" i="1" lang="en-US" sz="1800" u="none">
                <a:solidFill>
                  <a:schemeClr val="dk1"/>
                </a:solidFill>
                <a:latin typeface="Helvetica Neue"/>
                <a:ea typeface="Helvetica Neue"/>
                <a:cs typeface="Helvetica Neue"/>
                <a:sym typeface="Helvetica Neue"/>
              </a:rPr>
              <a:t>R  and  β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functional dependency</a:t>
            </a:r>
            <a:endParaRPr/>
          </a:p>
          <a:p>
            <a:pPr indent="-342900" lvl="0" marL="342900" marR="0" rtl="0" algn="l">
              <a:lnSpc>
                <a:spcPct val="9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β</a:t>
            </a:r>
            <a:br>
              <a:rPr b="0" i="1" lang="en-US" sz="1800" u="none">
                <a:solidFill>
                  <a:schemeClr val="dk1"/>
                </a:solidFill>
                <a:latin typeface="Helvetica Neue"/>
                <a:ea typeface="Helvetica Neue"/>
                <a:cs typeface="Helvetica Neue"/>
                <a:sym typeface="Helvetica Neue"/>
              </a:rPr>
            </a:br>
            <a:r>
              <a:rPr b="0" i="0" lang="en-US" sz="1800" u="none">
                <a:solidFill>
                  <a:schemeClr val="dk2"/>
                </a:solidFill>
                <a:latin typeface="Helvetica Neue"/>
                <a:ea typeface="Helvetica Neue"/>
                <a:cs typeface="Helvetica Neue"/>
                <a:sym typeface="Helvetica Neue"/>
              </a:rPr>
              <a:t>holds on</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if and only if for any legal relations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(R), whenever any two tuples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of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agree on the attributes α, they also agree on the attributes </a:t>
            </a:r>
            <a:r>
              <a:rPr b="0" i="1" lang="en-US" sz="1800" u="none">
                <a:solidFill>
                  <a:schemeClr val="dk1"/>
                </a:solidFill>
                <a:latin typeface="Helvetica Neue"/>
                <a:ea typeface="Helvetica Neue"/>
                <a:cs typeface="Helvetica Neue"/>
                <a:sym typeface="Helvetica Neue"/>
              </a:rPr>
              <a:t>β. </a:t>
            </a:r>
            <a:r>
              <a:rPr b="0" i="0" lang="en-US" sz="1800" u="none">
                <a:solidFill>
                  <a:schemeClr val="dk1"/>
                </a:solidFill>
                <a:latin typeface="Helvetica Neue"/>
                <a:ea typeface="Helvetica Neue"/>
                <a:cs typeface="Helvetica Neue"/>
                <a:sym typeface="Helvetica Neue"/>
              </a:rPr>
              <a:t> That is, </a:t>
            </a:r>
            <a:endParaRPr/>
          </a:p>
          <a:p>
            <a:pPr indent="-342900" lvl="0" marL="342900" marR="0" rtl="0" algn="l">
              <a:lnSpc>
                <a:spcPct val="9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 </a:t>
            </a: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β </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β </a:t>
            </a:r>
            <a:r>
              <a:rPr b="0" i="0" lang="en-US" sz="1800" u="none">
                <a:solidFill>
                  <a:schemeClr val="dk1"/>
                </a:solidFill>
                <a:latin typeface="Helvetica Neue"/>
                <a:ea typeface="Helvetica Neue"/>
                <a:cs typeface="Helvetica Neue"/>
                <a:sym typeface="Helvetica Neue"/>
              </a:rPr>
              <a:t>] </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Consider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(A</a:t>
            </a:r>
            <a:r>
              <a:rPr b="0" i="1" lang="en-US" sz="1800" u="none">
                <a:solidFill>
                  <a:schemeClr val="dk1"/>
                </a:solidFill>
                <a:latin typeface="Helvetica Neue"/>
                <a:ea typeface="Helvetica Neue"/>
                <a:cs typeface="Helvetica Neue"/>
                <a:sym typeface="Helvetica Neue"/>
              </a:rPr>
              <a:t>,B </a:t>
            </a:r>
            <a:r>
              <a:rPr b="0" i="0" lang="en-US" sz="1800" u="none">
                <a:solidFill>
                  <a:schemeClr val="dk1"/>
                </a:solidFill>
                <a:latin typeface="Helvetica Neue"/>
                <a:ea typeface="Helvetica Neue"/>
                <a:cs typeface="Helvetica Neue"/>
                <a:sym typeface="Helvetica Neue"/>
              </a:rPr>
              <a:t>) with the following instance of </a:t>
            </a:r>
            <a:r>
              <a:rPr b="0" i="1" lang="en-US" sz="1800" u="none">
                <a:solidFill>
                  <a:schemeClr val="dk1"/>
                </a:solidFill>
                <a:latin typeface="Helvetica Neue"/>
                <a:ea typeface="Helvetica Neue"/>
                <a:cs typeface="Helvetica Neue"/>
                <a:sym typeface="Helvetica Neue"/>
              </a:rPr>
              <a:t>r.</a:t>
            </a:r>
            <a:endParaRPr/>
          </a:p>
          <a:p>
            <a:pPr indent="-240030" lvl="0" marL="342900" marR="0" rtl="0" algn="l">
              <a:lnSpc>
                <a:spcPct val="9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9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9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On this instance,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does </a:t>
            </a:r>
            <a:r>
              <a:rPr b="1" i="0" lang="en-US" sz="1800" u="none">
                <a:solidFill>
                  <a:schemeClr val="dk1"/>
                </a:solidFill>
                <a:latin typeface="Helvetica Neue"/>
                <a:ea typeface="Helvetica Neue"/>
                <a:cs typeface="Helvetica Neue"/>
                <a:sym typeface="Helvetica Neue"/>
              </a:rPr>
              <a:t>NOT</a:t>
            </a:r>
            <a:r>
              <a:rPr b="0" i="0" lang="en-US" sz="1800" u="none">
                <a:solidFill>
                  <a:schemeClr val="dk1"/>
                </a:solidFill>
                <a:latin typeface="Helvetica Neue"/>
                <a:ea typeface="Helvetica Neue"/>
                <a:cs typeface="Helvetica Neue"/>
                <a:sym typeface="Helvetica Neue"/>
              </a:rPr>
              <a:t> hold, but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does hold. </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
        <p:nvSpPr>
          <p:cNvPr id="114" name="Google Shape;114;p16"/>
          <p:cNvSpPr txBox="1"/>
          <p:nvPr/>
        </p:nvSpPr>
        <p:spPr>
          <a:xfrm>
            <a:off x="3668712" y="3898900"/>
            <a:ext cx="777875" cy="9255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1800"/>
              <a:buFont typeface="Helvetica Neue"/>
              <a:buAutoNum type="arabicPlain"/>
            </a:pPr>
            <a:r>
              <a:rPr b="0" i="0" lang="en-US" sz="1800" u="none">
                <a:solidFill>
                  <a:schemeClr val="dk1"/>
                </a:solidFill>
                <a:latin typeface="Helvetica Neue"/>
                <a:ea typeface="Helvetica Neue"/>
                <a:cs typeface="Helvetica Neue"/>
                <a:sym typeface="Helvetica Neue"/>
              </a:rPr>
              <a:t>4</a:t>
            </a:r>
            <a:endParaRPr/>
          </a:p>
          <a:p>
            <a:pPr indent="-457200" lvl="0" marL="45720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1     5</a:t>
            </a:r>
            <a:endParaRPr/>
          </a:p>
          <a:p>
            <a:pPr indent="-457200" lvl="0" marL="45720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3	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18" name="Shape 118"/>
        <p:cNvGrpSpPr/>
        <p:nvPr/>
      </p:nvGrpSpPr>
      <p:grpSpPr>
        <a:xfrm>
          <a:off x="0" y="0"/>
          <a:ext cx="0" cy="0"/>
          <a:chOff x="0" y="0"/>
          <a:chExt cx="0" cy="0"/>
        </a:xfrm>
      </p:grpSpPr>
      <p:sp>
        <p:nvSpPr>
          <p:cNvPr id="119" name="Google Shape;119;p1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Functional Dependencies (Cont.)</a:t>
            </a:r>
            <a:endParaRPr/>
          </a:p>
        </p:txBody>
      </p:sp>
      <p:sp>
        <p:nvSpPr>
          <p:cNvPr id="120" name="Google Shape;120;p17"/>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is a superkey for relation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if and only if </a:t>
            </a:r>
            <a:r>
              <a:rPr b="0" i="1" lang="en-US" sz="1800" u="none">
                <a:solidFill>
                  <a:schemeClr val="dk1"/>
                </a:solidFill>
                <a:latin typeface="Helvetica Neue"/>
                <a:ea typeface="Helvetica Neue"/>
                <a:cs typeface="Helvetica Neue"/>
                <a:sym typeface="Helvetica Neue"/>
              </a:rPr>
              <a:t>K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is a candidate key for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if and only if </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K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and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no α ⊂ </a:t>
            </a:r>
            <a:r>
              <a:rPr b="0" i="1" lang="en-US" sz="1800" u="none" cap="none" strike="noStrike">
                <a:solidFill>
                  <a:schemeClr val="dk1"/>
                </a:solidFill>
                <a:latin typeface="Helvetica Neue"/>
                <a:ea typeface="Helvetica Neue"/>
                <a:cs typeface="Helvetica Neue"/>
                <a:sym typeface="Helvetica Neue"/>
              </a:rPr>
              <a:t>K, </a:t>
            </a:r>
            <a:r>
              <a:rPr b="0" i="0" lang="en-US" sz="1800" u="none" cap="none" strike="noStrike">
                <a:solidFill>
                  <a:schemeClr val="dk1"/>
                </a:solidFill>
                <a:latin typeface="Helvetica Neue"/>
                <a:ea typeface="Helvetica Neue"/>
                <a:cs typeface="Helvetica Neue"/>
                <a:sym typeface="Helvetica Neue"/>
              </a:rPr>
              <a:t>α → </a:t>
            </a:r>
            <a:r>
              <a:rPr b="0" i="1" lang="en-US" sz="1800" u="none" cap="none" strike="noStrike">
                <a:solidFill>
                  <a:schemeClr val="dk1"/>
                </a:solidFill>
                <a:latin typeface="Helvetica Neue"/>
                <a:ea typeface="Helvetica Neue"/>
                <a:cs typeface="Helvetica Neue"/>
                <a:sym typeface="Helvetica Neue"/>
              </a:rPr>
              <a:t>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Functional dependencies allow us to express constraints that cannot be expressed using superkeys.  Consider the schema:</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bor_loan </a:t>
            </a:r>
            <a:r>
              <a:rPr b="0" i="0"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customer_id, loan_number</a:t>
            </a:r>
            <a:r>
              <a:rPr b="0" i="1" lang="en-US" sz="1800" u="none">
                <a:solidFill>
                  <a:schemeClr val="dk1"/>
                </a:solidFill>
                <a:latin typeface="Helvetica Neue"/>
                <a:ea typeface="Helvetica Neue"/>
                <a:cs typeface="Helvetica Neue"/>
                <a:sym typeface="Helvetica Neue"/>
              </a:rPr>
              <a:t>, amount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We expect this functional dependency to hold:</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loan_number</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amount</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but would not expect the following to hold: </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amount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customer_name</a:t>
            </a:r>
            <a:endParaRPr/>
          </a:p>
          <a:p>
            <a:pPr indent="-240030" lvl="0" marL="342900" marR="0" rtl="0" algn="l">
              <a:lnSpc>
                <a:spcPct val="100000"/>
              </a:lnSpc>
              <a:spcBef>
                <a:spcPts val="630"/>
              </a:spcBef>
              <a:spcAft>
                <a:spcPts val="0"/>
              </a:spcAft>
              <a:buClr>
                <a:schemeClr val="dk2"/>
              </a:buClr>
              <a:buSzPts val="1620"/>
              <a:buFont typeface="Arial"/>
              <a:buNone/>
            </a:pPr>
            <a:r>
              <a:t/>
            </a:r>
            <a:endParaRPr b="0" i="1"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24" name="Shape 124"/>
        <p:cNvGrpSpPr/>
        <p:nvPr/>
      </p:nvGrpSpPr>
      <p:grpSpPr>
        <a:xfrm>
          <a:off x="0" y="0"/>
          <a:ext cx="0" cy="0"/>
          <a:chOff x="0" y="0"/>
          <a:chExt cx="0" cy="0"/>
        </a:xfrm>
      </p:grpSpPr>
      <p:sp>
        <p:nvSpPr>
          <p:cNvPr id="125" name="Google Shape;125;p1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Use of Functional Dependencies</a:t>
            </a:r>
            <a:endParaRPr/>
          </a:p>
        </p:txBody>
      </p:sp>
      <p:sp>
        <p:nvSpPr>
          <p:cNvPr id="126" name="Google Shape;126;p18"/>
          <p:cNvSpPr txBox="1"/>
          <p:nvPr>
            <p:ph idx="1" type="body"/>
          </p:nvPr>
        </p:nvSpPr>
        <p:spPr>
          <a:xfrm>
            <a:off x="927100" y="1163637"/>
            <a:ext cx="8051800" cy="5245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use functional dependencies to: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test relations to see if they are legal under a given set of functional dependencies.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If a relation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is legal under a set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of functional dependencies, we say that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2"/>
                </a:solidFill>
                <a:latin typeface="Helvetica Neue"/>
                <a:ea typeface="Helvetica Neue"/>
                <a:cs typeface="Helvetica Neue"/>
                <a:sym typeface="Helvetica Neue"/>
              </a:rPr>
              <a:t>satisfies </a:t>
            </a:r>
            <a:r>
              <a:rPr b="0" i="1" lang="en-US" sz="1800" u="none" cap="none" strike="noStrike">
                <a:solidFill>
                  <a:schemeClr val="dk1"/>
                </a:solidFill>
                <a:latin typeface="Helvetica Neue"/>
                <a:ea typeface="Helvetica Neue"/>
                <a:cs typeface="Helvetica Neue"/>
                <a:sym typeface="Helvetica Neue"/>
              </a:rPr>
              <a:t>F.</a:t>
            </a:r>
            <a:endParaRPr b="0" i="0"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specify constraints on the set of legal relations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We say that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2"/>
                </a:solidFill>
                <a:latin typeface="Helvetica Neue"/>
                <a:ea typeface="Helvetica Neue"/>
                <a:cs typeface="Helvetica Neue"/>
                <a:sym typeface="Helvetica Neue"/>
              </a:rPr>
              <a:t>holds on</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if all legal relations on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satisfy the set of functional dependencies </a:t>
            </a:r>
            <a:r>
              <a:rPr b="0" i="1" lang="en-US" sz="1800" u="none" cap="none" strike="noStrike">
                <a:solidFill>
                  <a:schemeClr val="dk1"/>
                </a:solidFill>
                <a:latin typeface="Helvetica Neue"/>
                <a:ea typeface="Helvetica Neue"/>
                <a:cs typeface="Helvetica Neue"/>
                <a:sym typeface="Helvetica Neue"/>
              </a:rPr>
              <a:t>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Note:  A specific instance of a relation schema may satisfy a functional dependency even if the functional dependency does not hold on all legal instances.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example, a specific instance of </a:t>
            </a:r>
            <a:r>
              <a:rPr b="0" i="1" lang="en-US" sz="1800" u="none" cap="none" strike="noStrike">
                <a:solidFill>
                  <a:schemeClr val="dk1"/>
                </a:solidFill>
                <a:latin typeface="Helvetica Neue"/>
                <a:ea typeface="Helvetica Neue"/>
                <a:cs typeface="Helvetica Neue"/>
                <a:sym typeface="Helvetica Neue"/>
              </a:rPr>
              <a:t>loan</a:t>
            </a:r>
            <a:r>
              <a:rPr b="0" i="0" lang="en-US" sz="1800" u="none" cap="none" strike="noStrike">
                <a:solidFill>
                  <a:schemeClr val="dk1"/>
                </a:solidFill>
                <a:latin typeface="Helvetica Neue"/>
                <a:ea typeface="Helvetica Neue"/>
                <a:cs typeface="Helvetica Neue"/>
                <a:sym typeface="Helvetica Neue"/>
              </a:rPr>
              <a:t> may, by chance, satisfy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amount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customer_name.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Functional Dependencies (Cont.)</a:t>
            </a:r>
            <a:endParaRPr/>
          </a:p>
        </p:txBody>
      </p:sp>
      <p:sp>
        <p:nvSpPr>
          <p:cNvPr id="132" name="Google Shape;132;p19"/>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A </a:t>
            </a:r>
            <a:r>
              <a:rPr b="0" i="0" lang="en-US" sz="1800" u="none">
                <a:solidFill>
                  <a:schemeClr val="dk1"/>
                </a:solidFill>
                <a:latin typeface="Helvetica Neue"/>
                <a:ea typeface="Helvetica Neue"/>
                <a:cs typeface="Helvetica Neue"/>
                <a:sym typeface="Helvetica Neue"/>
              </a:rPr>
              <a:t>functional dependency is </a:t>
            </a:r>
            <a:r>
              <a:rPr b="0" i="0" lang="en-US" sz="1800" u="none">
                <a:solidFill>
                  <a:schemeClr val="dk2"/>
                </a:solidFill>
                <a:latin typeface="Helvetica Neue"/>
                <a:ea typeface="Helvetica Neue"/>
                <a:cs typeface="Helvetica Neue"/>
                <a:sym typeface="Helvetica Neue"/>
              </a:rPr>
              <a:t>trivial</a:t>
            </a:r>
            <a:r>
              <a:rPr b="0" i="0" lang="en-US" sz="1800" u="none">
                <a:solidFill>
                  <a:schemeClr val="dk1"/>
                </a:solidFill>
                <a:latin typeface="Helvetica Neue"/>
                <a:ea typeface="Helvetica Neue"/>
                <a:cs typeface="Helvetica Neue"/>
                <a:sym typeface="Helvetica Neue"/>
              </a:rPr>
              <a:t> if it is satisfied by all instances of a relation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a:t>
            </a:r>
            <a:r>
              <a:rPr b="0" i="1"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100000"/>
              </a:lnSpc>
              <a:spcBef>
                <a:spcPts val="630"/>
              </a:spcBef>
              <a:spcAft>
                <a:spcPts val="0"/>
              </a:spcAft>
              <a:buClr>
                <a:srgbClr val="33CC33"/>
              </a:buClr>
              <a:buSzPts val="1350"/>
              <a:buFont typeface="Arimo"/>
              <a:buChar char="4"/>
            </a:pPr>
            <a:r>
              <a:rPr b="0" i="1" lang="en-US" sz="1800" u="none" cap="none" strike="noStrike">
                <a:solidFill>
                  <a:schemeClr val="dk1"/>
                </a:solidFill>
                <a:latin typeface="Helvetica Neue"/>
                <a:ea typeface="Helvetica Neue"/>
                <a:cs typeface="Helvetica Neue"/>
                <a:sym typeface="Helvetica Neue"/>
              </a:rPr>
              <a:t> customer_name, loan_number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customer_name</a:t>
            </a:r>
            <a:endParaRPr/>
          </a:p>
          <a:p>
            <a:pPr indent="-228600" lvl="2" marL="1085850" marR="0" rtl="0" algn="l">
              <a:lnSpc>
                <a:spcPct val="100000"/>
              </a:lnSpc>
              <a:spcBef>
                <a:spcPts val="630"/>
              </a:spcBef>
              <a:spcAft>
                <a:spcPts val="0"/>
              </a:spcAft>
              <a:buClr>
                <a:srgbClr val="33CC33"/>
              </a:buClr>
              <a:buSzPts val="1350"/>
              <a:buFont typeface="Arimo"/>
              <a:buChar char="4"/>
            </a:pPr>
            <a:r>
              <a:rPr b="0" i="1" lang="en-US" sz="1800" u="none" cap="none" strike="noStrike">
                <a:solidFill>
                  <a:schemeClr val="dk1"/>
                </a:solidFill>
                <a:latin typeface="Helvetica Neue"/>
                <a:ea typeface="Helvetica Neue"/>
                <a:cs typeface="Helvetica Neue"/>
                <a:sym typeface="Helvetica Neue"/>
              </a:rPr>
              <a:t> customer_name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customer_name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 general,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is trivial if</a:t>
            </a:r>
            <a:r>
              <a:rPr b="0" i="1" lang="en-US" sz="1800" u="none" cap="none" strike="noStrike">
                <a:solidFill>
                  <a:schemeClr val="dk1"/>
                </a:solidFill>
                <a:latin typeface="Helvetica Neue"/>
                <a:ea typeface="Helvetica Neue"/>
                <a:cs typeface="Helvetica Neue"/>
                <a:sym typeface="Helvetica Neue"/>
              </a:rPr>
              <a:t> β</a:t>
            </a:r>
            <a:r>
              <a:rPr b="0" i="0" lang="en-US" sz="1800" u="none" cap="none" strike="noStrike">
                <a:solidFill>
                  <a:schemeClr val="dk1"/>
                </a:solidFill>
                <a:latin typeface="Helvetica Neue"/>
                <a:ea typeface="Helvetica Neue"/>
                <a:cs typeface="Helvetica Neue"/>
                <a:sym typeface="Helvetica Neue"/>
              </a:rPr>
              <a:t> ⊆ α </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 </a:t>
            </a:r>
            <a:endParaRPr/>
          </a:p>
          <a:p>
            <a:pPr indent="-240030" lvl="0" marL="342900" marR="0" rtl="0" algn="l">
              <a:lnSpc>
                <a:spcPct val="100000"/>
              </a:lnSpc>
              <a:spcBef>
                <a:spcPts val="630"/>
              </a:spcBef>
              <a:spcAft>
                <a:spcPts val="0"/>
              </a:spcAft>
              <a:buClr>
                <a:schemeClr val="dk2"/>
              </a:buClr>
              <a:buSzPts val="1620"/>
              <a:buFont typeface="Arial"/>
              <a:buNone/>
            </a:pPr>
            <a:r>
              <a:t/>
            </a:r>
            <a:endParaRPr b="0" i="1"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36" name="Shape 136"/>
        <p:cNvGrpSpPr/>
        <p:nvPr/>
      </p:nvGrpSpPr>
      <p:grpSpPr>
        <a:xfrm>
          <a:off x="0" y="0"/>
          <a:ext cx="0" cy="0"/>
          <a:chOff x="0" y="0"/>
          <a:chExt cx="0" cy="0"/>
        </a:xfrm>
      </p:grpSpPr>
      <p:sp>
        <p:nvSpPr>
          <p:cNvPr id="137" name="Google Shape;137;p20"/>
          <p:cNvSpPr txBox="1"/>
          <p:nvPr>
            <p:ph type="title"/>
          </p:nvPr>
        </p:nvSpPr>
        <p:spPr>
          <a:xfrm>
            <a:off x="609600" y="495300"/>
            <a:ext cx="79248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Closure of a Set of Functional Dependencies</a:t>
            </a:r>
            <a:endParaRPr/>
          </a:p>
        </p:txBody>
      </p:sp>
      <p:sp>
        <p:nvSpPr>
          <p:cNvPr id="138" name="Google Shape;138;p20"/>
          <p:cNvSpPr txBox="1"/>
          <p:nvPr>
            <p:ph idx="1" type="body"/>
          </p:nvPr>
        </p:nvSpPr>
        <p:spPr>
          <a:xfrm>
            <a:off x="927100" y="1163637"/>
            <a:ext cx="80772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Given a set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of functional dependencies, there are certain other functional dependencies that are logically implied by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example:  If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then we can infer that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set of </a:t>
            </a:r>
            <a:r>
              <a:rPr b="0" i="0" lang="en-US" sz="1600" u="none">
                <a:solidFill>
                  <a:schemeClr val="dk2"/>
                </a:solidFill>
                <a:latin typeface="Helvetica Neue"/>
                <a:ea typeface="Helvetica Neue"/>
                <a:cs typeface="Helvetica Neue"/>
                <a:sym typeface="Helvetica Neue"/>
              </a:rPr>
              <a:t>all</a:t>
            </a:r>
            <a:r>
              <a:rPr b="0" i="0" lang="en-US" sz="1800" u="none">
                <a:solidFill>
                  <a:schemeClr val="dk1"/>
                </a:solidFill>
                <a:latin typeface="Helvetica Neue"/>
                <a:ea typeface="Helvetica Neue"/>
                <a:cs typeface="Helvetica Neue"/>
                <a:sym typeface="Helvetica Neue"/>
              </a:rPr>
              <a:t> functional dependencies logically implied by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is the </a:t>
            </a:r>
            <a:r>
              <a:rPr b="0" i="1" lang="en-US" sz="1800" u="none">
                <a:solidFill>
                  <a:schemeClr val="dk2"/>
                </a:solidFill>
                <a:latin typeface="Helvetica Neue"/>
                <a:ea typeface="Helvetica Neue"/>
                <a:cs typeface="Helvetica Neue"/>
                <a:sym typeface="Helvetica Neue"/>
              </a:rPr>
              <a:t>closure</a:t>
            </a:r>
            <a:r>
              <a:rPr b="0" i="0" lang="en-US" sz="1800" u="none">
                <a:solidFill>
                  <a:schemeClr val="dk1"/>
                </a:solidFill>
                <a:latin typeface="Helvetica Neue"/>
                <a:ea typeface="Helvetica Neue"/>
                <a:cs typeface="Helvetica Neue"/>
                <a:sym typeface="Helvetica Neue"/>
              </a:rPr>
              <a:t> of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denote the </a:t>
            </a:r>
            <a:r>
              <a:rPr b="0" i="1" lang="en-US" sz="1800" u="none">
                <a:solidFill>
                  <a:schemeClr val="dk1"/>
                </a:solidFill>
                <a:latin typeface="Helvetica Neue"/>
                <a:ea typeface="Helvetica Neue"/>
                <a:cs typeface="Helvetica Neue"/>
                <a:sym typeface="Helvetica Neue"/>
              </a:rPr>
              <a:t>closure </a:t>
            </a:r>
            <a:r>
              <a:rPr b="0" i="0" lang="en-US" sz="1800" u="none">
                <a:solidFill>
                  <a:schemeClr val="dk1"/>
                </a:solidFill>
                <a:latin typeface="Helvetica Neue"/>
                <a:ea typeface="Helvetica Neue"/>
                <a:cs typeface="Helvetica Neue"/>
                <a:sym typeface="Helvetica Neue"/>
              </a:rPr>
              <a:t>of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by </a:t>
            </a:r>
            <a:r>
              <a:rPr b="0" i="0" lang="en-US" sz="1800" u="none">
                <a:solidFill>
                  <a:schemeClr val="dk2"/>
                </a:solidFill>
                <a:latin typeface="Helvetica Neue"/>
                <a:ea typeface="Helvetica Neue"/>
                <a:cs typeface="Helvetica Neue"/>
                <a:sym typeface="Helvetica Neue"/>
              </a:rPr>
              <a:t>F</a:t>
            </a:r>
            <a:r>
              <a:rPr b="0" baseline="30000" i="1" lang="en-US" sz="1800" u="none">
                <a:solidFill>
                  <a:schemeClr val="dk2"/>
                </a:solidFill>
                <a:latin typeface="Helvetica Neue"/>
                <a:ea typeface="Helvetica Neue"/>
                <a:cs typeface="Helvetica Neue"/>
                <a:sym typeface="Helvetica Neue"/>
              </a:rPr>
              <a:t>+</a:t>
            </a:r>
            <a:r>
              <a:rPr b="0" i="1" lang="en-US" sz="1800" u="none">
                <a:solidFill>
                  <a:schemeClr val="dk2"/>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is a superset of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42" name="Shape 142"/>
        <p:cNvGrpSpPr/>
        <p:nvPr/>
      </p:nvGrpSpPr>
      <p:grpSpPr>
        <a:xfrm>
          <a:off x="0" y="0"/>
          <a:ext cx="0" cy="0"/>
          <a:chOff x="0" y="0"/>
          <a:chExt cx="0" cy="0"/>
        </a:xfrm>
      </p:grpSpPr>
      <p:sp>
        <p:nvSpPr>
          <p:cNvPr id="143" name="Google Shape;143;p2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Boyce-Codd Normal Form</a:t>
            </a:r>
            <a:endParaRPr/>
          </a:p>
        </p:txBody>
      </p:sp>
      <p:sp>
        <p:nvSpPr>
          <p:cNvPr id="144" name="Google Shape;144;p21"/>
          <p:cNvSpPr txBox="1"/>
          <p:nvPr>
            <p:ph idx="1" type="body"/>
          </p:nvPr>
        </p:nvSpPr>
        <p:spPr>
          <a:xfrm>
            <a:off x="903287" y="3217862"/>
            <a:ext cx="6562725" cy="836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β  </a:t>
            </a:r>
            <a:r>
              <a:rPr b="0" i="0" lang="en-US" sz="1800" u="none">
                <a:solidFill>
                  <a:schemeClr val="dk1"/>
                </a:solidFill>
                <a:latin typeface="Helvetica Neue"/>
                <a:ea typeface="Helvetica Neue"/>
                <a:cs typeface="Helvetica Neue"/>
                <a:sym typeface="Helvetica Neue"/>
              </a:rPr>
              <a:t>is trivial (i.e., </a:t>
            </a:r>
            <a:r>
              <a:rPr b="0" i="1" lang="en-US" sz="1800" u="none">
                <a:solidFill>
                  <a:schemeClr val="dk1"/>
                </a:solidFill>
                <a:latin typeface="Helvetica Neue"/>
                <a:ea typeface="Helvetica Neue"/>
                <a:cs typeface="Helvetica Neue"/>
                <a:sym typeface="Helvetica Neue"/>
              </a:rPr>
              <a:t>β</a:t>
            </a:r>
            <a:r>
              <a:rPr b="0" i="0" lang="en-US" sz="1800" u="none">
                <a:solidFill>
                  <a:schemeClr val="dk1"/>
                </a:solidFill>
                <a:latin typeface="Helvetica Neue"/>
                <a:ea typeface="Helvetica Neue"/>
                <a:cs typeface="Helvetica Neue"/>
                <a:sym typeface="Helvetica Neue"/>
              </a:rPr>
              <a:t> ⊆ α)</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α is a superkey for </a:t>
            </a:r>
            <a:r>
              <a:rPr b="0" i="1" lang="en-US" sz="1800" u="none">
                <a:solidFill>
                  <a:schemeClr val="dk1"/>
                </a:solidFill>
                <a:latin typeface="Helvetica Neue"/>
                <a:ea typeface="Helvetica Neue"/>
                <a:cs typeface="Helvetica Neue"/>
                <a:sym typeface="Helvetica Neue"/>
              </a:rPr>
              <a:t>R</a:t>
            </a:r>
            <a:endParaRPr/>
          </a:p>
        </p:txBody>
      </p:sp>
      <p:sp>
        <p:nvSpPr>
          <p:cNvPr id="145" name="Google Shape;145;p21"/>
          <p:cNvSpPr txBox="1"/>
          <p:nvPr/>
        </p:nvSpPr>
        <p:spPr>
          <a:xfrm>
            <a:off x="903287" y="1101725"/>
            <a:ext cx="6851650" cy="20256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 relation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BCNF with respect to a set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of functional  dependencies if for all functional dependencies in </a:t>
            </a:r>
            <a:r>
              <a:rPr b="0" i="1" lang="en-US" sz="1800" u="none">
                <a:solidFill>
                  <a:schemeClr val="dk1"/>
                </a:solidFill>
                <a:latin typeface="Helvetica Neue"/>
                <a:ea typeface="Helvetica Neue"/>
                <a:cs typeface="Helvetica Neue"/>
                <a:sym typeface="Helvetica Neue"/>
              </a:rPr>
              <a:t>F</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of the form </a:t>
            </a:r>
            <a:endParaRPr/>
          </a:p>
          <a:p>
            <a:pPr indent="0" lvl="0" marL="0" marR="0" rtl="0" algn="l">
              <a:lnSpc>
                <a:spcPct val="100000"/>
              </a:lnSpc>
              <a:spcBef>
                <a:spcPts val="0"/>
              </a:spcBef>
              <a:spcAft>
                <a:spcPts val="0"/>
              </a:spcAft>
              <a:buClr>
                <a:schemeClr val="dk1"/>
              </a:buClr>
              <a:buSzPts val="1800"/>
              <a:buFont typeface="Times New Roman"/>
              <a:buNone/>
            </a:pPr>
            <a:r>
              <a:t/>
            </a:r>
            <a:endParaRPr b="0" i="0" sz="1800" u="non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               α→ </a:t>
            </a:r>
            <a:r>
              <a:rPr b="0" i="1" lang="en-US" sz="1800" u="none">
                <a:solidFill>
                  <a:schemeClr val="dk1"/>
                </a:solidFill>
                <a:latin typeface="Helvetica Neue"/>
                <a:ea typeface="Helvetica Neue"/>
                <a:cs typeface="Helvetica Neue"/>
                <a:sym typeface="Helvetica Neue"/>
              </a:rPr>
              <a:t>β</a:t>
            </a:r>
            <a:endParaRPr/>
          </a:p>
          <a:p>
            <a:pPr indent="0" lvl="0" marL="0" marR="0" rtl="0" algn="l">
              <a:lnSpc>
                <a:spcPct val="100000"/>
              </a:lnSpc>
              <a:spcBef>
                <a:spcPts val="0"/>
              </a:spcBef>
              <a:spcAft>
                <a:spcPts val="0"/>
              </a:spcAft>
              <a:buClr>
                <a:schemeClr val="dk1"/>
              </a:buClr>
              <a:buSzPts val="1800"/>
              <a:buFont typeface="Times New Roman"/>
              <a:buNone/>
            </a:pPr>
            <a:r>
              <a:t/>
            </a:r>
            <a:endParaRPr b="0" i="1" sz="1800" u="non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where α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β</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least one of the following holds:</a:t>
            </a:r>
            <a:endParaRPr/>
          </a:p>
        </p:txBody>
      </p:sp>
      <p:sp>
        <p:nvSpPr>
          <p:cNvPr id="146" name="Google Shape;146;p21"/>
          <p:cNvSpPr txBox="1"/>
          <p:nvPr/>
        </p:nvSpPr>
        <p:spPr>
          <a:xfrm>
            <a:off x="855662" y="4056062"/>
            <a:ext cx="7623175" cy="1619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Example schema </a:t>
            </a:r>
            <a:r>
              <a:rPr b="0" i="1" lang="en-US" sz="1600" u="none">
                <a:solidFill>
                  <a:schemeClr val="dk1"/>
                </a:solidFill>
                <a:latin typeface="Helvetica Neue"/>
                <a:ea typeface="Helvetica Neue"/>
                <a:cs typeface="Helvetica Neue"/>
                <a:sym typeface="Helvetica Neue"/>
              </a:rPr>
              <a:t>not</a:t>
            </a:r>
            <a:r>
              <a:rPr b="0" i="0" lang="en-US" sz="1600" u="none">
                <a:solidFill>
                  <a:schemeClr val="dk1"/>
                </a:solidFill>
                <a:latin typeface="Helvetica Neue"/>
                <a:ea typeface="Helvetica Neue"/>
                <a:cs typeface="Helvetica Neue"/>
                <a:sym typeface="Helvetica Neue"/>
              </a:rPr>
              <a:t> in BCNF:</a:t>
            </a:r>
            <a:endParaRPr/>
          </a:p>
          <a:p>
            <a:pPr indent="0" lvl="0" marL="0" marR="0" rtl="0" algn="l">
              <a:lnSpc>
                <a:spcPct val="100000"/>
              </a:lnSpc>
              <a:spcBef>
                <a:spcPts val="0"/>
              </a:spcBef>
              <a:spcAft>
                <a:spcPts val="0"/>
              </a:spcAft>
              <a:buClr>
                <a:schemeClr val="dk1"/>
              </a:buClr>
              <a:buSzPts val="1600"/>
              <a:buFont typeface="Times New Roman"/>
              <a:buNone/>
            </a:pPr>
            <a:r>
              <a:t/>
            </a:r>
            <a:endParaRPr b="0" i="0" sz="1600" u="non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bor_loan</a:t>
            </a:r>
            <a:r>
              <a:rPr b="0" i="0" lang="en-US" sz="1600" u="none">
                <a:solidFill>
                  <a:schemeClr val="dk1"/>
                </a:solidFill>
                <a:latin typeface="Helvetica Neue"/>
                <a:ea typeface="Helvetica Neue"/>
                <a:cs typeface="Helvetica Neue"/>
                <a:sym typeface="Helvetica Neue"/>
              </a:rPr>
              <a:t> = ( </a:t>
            </a:r>
            <a:r>
              <a:rPr b="0" i="1" lang="en-US" sz="1600" u="none">
                <a:solidFill>
                  <a:schemeClr val="dk1"/>
                </a:solidFill>
                <a:latin typeface="Helvetica Neue"/>
                <a:ea typeface="Helvetica Neue"/>
                <a:cs typeface="Helvetica Neue"/>
                <a:sym typeface="Helvetica Neue"/>
              </a:rPr>
              <a:t>customer_id, loan_number, amount</a:t>
            </a:r>
            <a:r>
              <a:rPr b="0" i="0" lang="en-US" sz="1600" u="none">
                <a:solidFill>
                  <a:schemeClr val="dk1"/>
                </a:solidFill>
                <a:latin typeface="Helvetica Neue"/>
                <a:ea typeface="Helvetica Neue"/>
                <a:cs typeface="Helvetica Neue"/>
                <a:sym typeface="Helvetica Neue"/>
              </a:rPr>
              <a:t> )</a:t>
            </a:r>
            <a:endParaRPr/>
          </a:p>
          <a:p>
            <a:pPr indent="0" lvl="0" marL="0" marR="0" rtl="0" algn="l">
              <a:lnSpc>
                <a:spcPct val="100000"/>
              </a:lnSpc>
              <a:spcBef>
                <a:spcPts val="0"/>
              </a:spcBef>
              <a:spcAft>
                <a:spcPts val="0"/>
              </a:spcAft>
              <a:buClr>
                <a:schemeClr val="dk1"/>
              </a:buClr>
              <a:buSzPts val="1600"/>
              <a:buFont typeface="Times New Roman"/>
              <a:buNone/>
            </a:pPr>
            <a:r>
              <a:t/>
            </a:r>
            <a:endParaRPr b="0" i="0" sz="1600" u="non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because </a:t>
            </a:r>
            <a:r>
              <a:rPr b="0" i="1" lang="en-US" sz="1600" u="none">
                <a:solidFill>
                  <a:schemeClr val="dk1"/>
                </a:solidFill>
                <a:latin typeface="Helvetica Neue"/>
                <a:ea typeface="Helvetica Neue"/>
                <a:cs typeface="Helvetica Neue"/>
                <a:sym typeface="Helvetica Neue"/>
              </a:rPr>
              <a:t>loan_number</a:t>
            </a:r>
            <a:r>
              <a:rPr b="0" i="0" lang="en-US" sz="16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amount</a:t>
            </a:r>
            <a:r>
              <a:rPr b="0" i="0" lang="en-US" sz="1800" u="none">
                <a:solidFill>
                  <a:schemeClr val="dk1"/>
                </a:solidFill>
                <a:latin typeface="Helvetica Neue"/>
                <a:ea typeface="Helvetica Neue"/>
                <a:cs typeface="Helvetica Neue"/>
                <a:sym typeface="Helvetica Neue"/>
              </a:rPr>
              <a:t> holds on </a:t>
            </a:r>
            <a:r>
              <a:rPr b="0" i="1" lang="en-US" sz="1800" u="none">
                <a:solidFill>
                  <a:schemeClr val="dk1"/>
                </a:solidFill>
                <a:latin typeface="Helvetica Neue"/>
                <a:ea typeface="Helvetica Neue"/>
                <a:cs typeface="Helvetica Neue"/>
                <a:sym typeface="Helvetica Neue"/>
              </a:rPr>
              <a:t>bor_loan</a:t>
            </a:r>
            <a:r>
              <a:rPr b="0" i="0" lang="en-US" sz="1800" u="none">
                <a:solidFill>
                  <a:schemeClr val="dk1"/>
                </a:solidFill>
                <a:latin typeface="Helvetica Neue"/>
                <a:ea typeface="Helvetica Neue"/>
                <a:cs typeface="Helvetica Neue"/>
                <a:sym typeface="Helvetica Neue"/>
              </a:rPr>
              <a:t> but </a:t>
            </a:r>
            <a:r>
              <a:rPr b="0" i="1" lang="en-US" sz="1800" u="none">
                <a:solidFill>
                  <a:schemeClr val="dk1"/>
                </a:solidFill>
                <a:latin typeface="Helvetica Neue"/>
                <a:ea typeface="Helvetica Neue"/>
                <a:cs typeface="Helvetica Neue"/>
                <a:sym typeface="Helvetica Neue"/>
              </a:rPr>
              <a:t>loan_number</a:t>
            </a:r>
            <a:r>
              <a:rPr b="0" i="0" lang="en-US" sz="1800" u="none">
                <a:solidFill>
                  <a:schemeClr val="dk1"/>
                </a:solidFill>
                <a:latin typeface="Helvetica Neue"/>
                <a:ea typeface="Helvetica Neue"/>
                <a:cs typeface="Helvetica Neue"/>
                <a:sym typeface="Helvetica Neue"/>
              </a:rPr>
              <a:t> is 		not a superkey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50" name="Shape 150"/>
        <p:cNvGrpSpPr/>
        <p:nvPr/>
      </p:nvGrpSpPr>
      <p:grpSpPr>
        <a:xfrm>
          <a:off x="0" y="0"/>
          <a:ext cx="0" cy="0"/>
          <a:chOff x="0" y="0"/>
          <a:chExt cx="0" cy="0"/>
        </a:xfrm>
      </p:grpSpPr>
      <p:sp>
        <p:nvSpPr>
          <p:cNvPr id="151" name="Google Shape;151;p2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Decomposing a Schema into BCNF</a:t>
            </a:r>
            <a:endParaRPr/>
          </a:p>
        </p:txBody>
      </p:sp>
      <p:sp>
        <p:nvSpPr>
          <p:cNvPr id="152" name="Google Shape;152;p22"/>
          <p:cNvSpPr txBox="1"/>
          <p:nvPr>
            <p:ph idx="1" type="body"/>
          </p:nvPr>
        </p:nvSpPr>
        <p:spPr>
          <a:xfrm>
            <a:off x="927100" y="1163637"/>
            <a:ext cx="8026400" cy="5341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Suppose we have a schema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and a non-trivial dependency </a:t>
            </a:r>
            <a:r>
              <a:rPr b="0" i="0" lang="en-US" sz="1600" u="none">
                <a:solidFill>
                  <a:schemeClr val="dk1"/>
                </a:solidFill>
                <a:latin typeface="Helvetica Neue"/>
                <a:ea typeface="Helvetica Neue"/>
                <a:cs typeface="Helvetica Neue"/>
                <a:sym typeface="Helvetica Neue"/>
              </a:rPr>
              <a:t>α</a:t>
            </a:r>
            <a:r>
              <a:rPr b="0" i="0" lang="en-US" sz="18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β</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causes a violation of BCNF.</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We decompose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into:</a:t>
            </a:r>
            <a:endParaRPr/>
          </a:p>
          <a:p>
            <a:pPr indent="-285750" lvl="1" marL="742950" marR="0" rtl="0" algn="l">
              <a:lnSpc>
                <a:spcPct val="90000"/>
              </a:lnSpc>
              <a:spcBef>
                <a:spcPts val="630"/>
              </a:spcBef>
              <a:spcAft>
                <a:spcPts val="0"/>
              </a:spcAft>
              <a:buClr>
                <a:schemeClr val="hlink"/>
              </a:buClr>
              <a:buSzPts val="3600"/>
              <a:buFont typeface="Times"/>
              <a:buChar char="•"/>
            </a:pPr>
            <a:r>
              <a:rPr b="0" i="0" lang="en-US" sz="1800" u="none" cap="none" strike="noStrike">
                <a:solidFill>
                  <a:schemeClr val="dk1"/>
                </a:solidFill>
                <a:latin typeface="Helvetica Neue"/>
                <a:ea typeface="Helvetica Neue"/>
                <a:cs typeface="Helvetica Neue"/>
                <a:sym typeface="Helvetica Neue"/>
              </a:rPr>
              <a:t>(</a:t>
            </a:r>
            <a:r>
              <a:rPr b="0" i="0" lang="en-US" sz="1600" u="none" cap="none" strike="noStrike">
                <a:solidFill>
                  <a:schemeClr val="dk1"/>
                </a:solidFill>
                <a:latin typeface="Helvetica Neue"/>
                <a:ea typeface="Helvetica Neue"/>
                <a:cs typeface="Helvetica Neue"/>
                <a:sym typeface="Helvetica Neue"/>
              </a:rPr>
              <a:t>α</a:t>
            </a:r>
            <a:r>
              <a:rPr b="0" i="0" lang="en-US" sz="1800" u="none" cap="none" strike="noStrike">
                <a:solidFill>
                  <a:schemeClr val="dk1"/>
                </a:solidFill>
                <a:latin typeface="Helvetica Neue"/>
                <a:ea typeface="Helvetica Neue"/>
                <a:cs typeface="Helvetica Neue"/>
                <a:sym typeface="Helvetica Neue"/>
              </a:rPr>
              <a:t>U </a:t>
            </a:r>
            <a:r>
              <a:rPr b="0" i="0" lang="en-US" sz="1600" u="none" cap="none" strike="noStrike">
                <a:solidFill>
                  <a:schemeClr val="dk1"/>
                </a:solidFill>
                <a:latin typeface="Helvetica Neue"/>
                <a:ea typeface="Helvetica Neue"/>
                <a:cs typeface="Helvetica Neue"/>
                <a:sym typeface="Helvetica Neue"/>
              </a:rPr>
              <a:t>β</a:t>
            </a:r>
            <a:r>
              <a:rPr b="0" i="1" lang="en-US" sz="1600" u="none" cap="none" strike="noStrike">
                <a:solidFill>
                  <a:schemeClr val="dk1"/>
                </a:solidFill>
                <a:latin typeface="Helvetica Neue"/>
                <a:ea typeface="Helvetica Neue"/>
                <a:cs typeface="Helvetica Neue"/>
                <a:sym typeface="Helvetica Neue"/>
              </a:rPr>
              <a:t> </a:t>
            </a:r>
            <a:r>
              <a:rPr b="0" i="0" lang="en-US" sz="16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90000"/>
              </a:lnSpc>
              <a:spcBef>
                <a:spcPts val="630"/>
              </a:spcBef>
              <a:spcAft>
                <a:spcPts val="0"/>
              </a:spcAft>
              <a:buClr>
                <a:schemeClr val="hlink"/>
              </a:buClr>
              <a:buSzPts val="3600"/>
              <a:buFont typeface="Times"/>
              <a:buChar char="•"/>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 ( </a:t>
            </a:r>
            <a:r>
              <a:rPr b="0" i="1" lang="en-US" sz="1600" u="none" cap="none" strike="noStrike">
                <a:solidFill>
                  <a:schemeClr val="dk1"/>
                </a:solidFill>
                <a:latin typeface="Helvetica Neue"/>
                <a:ea typeface="Helvetica Neue"/>
                <a:cs typeface="Helvetica Neue"/>
                <a:sym typeface="Helvetica Neue"/>
              </a:rPr>
              <a:t>β - </a:t>
            </a:r>
            <a:r>
              <a:rPr b="0" i="0" lang="en-US" sz="1600" u="none" cap="none" strike="noStrike">
                <a:solidFill>
                  <a:schemeClr val="dk1"/>
                </a:solidFill>
                <a:latin typeface="Helvetica Neue"/>
                <a:ea typeface="Helvetica Neue"/>
                <a:cs typeface="Helvetica Neue"/>
                <a:sym typeface="Helvetica Neue"/>
              </a:rPr>
              <a:t>α ) )</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our example, </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α = </a:t>
            </a:r>
            <a:r>
              <a:rPr b="0" i="1" lang="en-US" sz="1600" u="none" cap="none" strike="noStrike">
                <a:solidFill>
                  <a:schemeClr val="dk1"/>
                </a:solidFill>
                <a:latin typeface="Helvetica Neue"/>
                <a:ea typeface="Helvetica Neue"/>
                <a:cs typeface="Helvetica Neue"/>
                <a:sym typeface="Helvetica Neue"/>
              </a:rPr>
              <a:t>loan_number</a:t>
            </a:r>
            <a:endParaRPr b="0" i="0" sz="1600" u="none" cap="none" strike="noStrike">
              <a:solidFill>
                <a:schemeClr val="dk1"/>
              </a:solidFill>
              <a:latin typeface="Helvetica Neue"/>
              <a:ea typeface="Helvetica Neue"/>
              <a:cs typeface="Helvetica Neue"/>
              <a:sym typeface="Helvetica Neue"/>
            </a:endParaRPr>
          </a:p>
          <a:p>
            <a:pPr indent="-285750" lvl="1" marL="742950" marR="0" rtl="0" algn="l">
              <a:lnSpc>
                <a:spcPct val="90000"/>
              </a:lnSpc>
              <a:spcBef>
                <a:spcPts val="560"/>
              </a:spcBef>
              <a:spcAft>
                <a:spcPts val="0"/>
              </a:spcAft>
              <a:buClr>
                <a:schemeClr val="hlink"/>
              </a:buClr>
              <a:buSzPts val="1280"/>
              <a:buFont typeface="Arial"/>
              <a:buChar char="●"/>
            </a:pPr>
            <a:r>
              <a:rPr b="0" i="1" lang="en-US" sz="1600" u="none" cap="none" strike="noStrike">
                <a:solidFill>
                  <a:schemeClr val="dk1"/>
                </a:solidFill>
                <a:latin typeface="Helvetica Neue"/>
                <a:ea typeface="Helvetica Neue"/>
                <a:cs typeface="Helvetica Neue"/>
                <a:sym typeface="Helvetica Neue"/>
              </a:rPr>
              <a:t>β </a:t>
            </a:r>
            <a:r>
              <a:rPr b="0" i="0" lang="en-US" sz="1600" u="none" cap="none" strike="noStrike">
                <a:solidFill>
                  <a:schemeClr val="dk1"/>
                </a:solidFill>
                <a:latin typeface="Helvetica Neue"/>
                <a:ea typeface="Helvetica Neue"/>
                <a:cs typeface="Helvetica Neue"/>
                <a:sym typeface="Helvetica Neue"/>
              </a:rPr>
              <a:t>=</a:t>
            </a:r>
            <a:r>
              <a:rPr b="0" i="1" lang="en-US" sz="1600" u="none" cap="none" strike="noStrike">
                <a:solidFill>
                  <a:schemeClr val="dk1"/>
                </a:solidFill>
                <a:latin typeface="Helvetica Neue"/>
                <a:ea typeface="Helvetica Neue"/>
                <a:cs typeface="Helvetica Neue"/>
                <a:sym typeface="Helvetica Neue"/>
              </a:rPr>
              <a:t> amount</a:t>
            </a:r>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bor_loan</a:t>
            </a:r>
            <a:r>
              <a:rPr b="0" i="0" lang="en-US" sz="1800" u="none" cap="none" strike="noStrike">
                <a:solidFill>
                  <a:schemeClr val="dk1"/>
                </a:solidFill>
                <a:latin typeface="Helvetica Neue"/>
                <a:ea typeface="Helvetica Neue"/>
                <a:cs typeface="Helvetica Neue"/>
                <a:sym typeface="Helvetica Neue"/>
              </a:rPr>
              <a:t> is replaced by</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 (</a:t>
            </a:r>
            <a:r>
              <a:rPr b="0" i="0" lang="en-US" sz="1600" u="none" cap="none" strike="noStrike">
                <a:solidFill>
                  <a:schemeClr val="dk1"/>
                </a:solidFill>
                <a:latin typeface="Helvetica Neue"/>
                <a:ea typeface="Helvetica Neue"/>
                <a:cs typeface="Helvetica Neue"/>
                <a:sym typeface="Helvetica Neue"/>
              </a:rPr>
              <a:t>α</a:t>
            </a:r>
            <a:r>
              <a:rPr b="0" i="0" lang="en-US" sz="1800" u="none" cap="none" strike="noStrike">
                <a:solidFill>
                  <a:schemeClr val="dk1"/>
                </a:solidFill>
                <a:latin typeface="Helvetica Neue"/>
                <a:ea typeface="Helvetica Neue"/>
                <a:cs typeface="Helvetica Neue"/>
                <a:sym typeface="Helvetica Neue"/>
              </a:rPr>
              <a:t>U </a:t>
            </a:r>
            <a:r>
              <a:rPr b="0" i="0" lang="en-US" sz="1600" u="none" cap="none" strike="noStrike">
                <a:solidFill>
                  <a:schemeClr val="dk1"/>
                </a:solidFill>
                <a:latin typeface="Helvetica Neue"/>
                <a:ea typeface="Helvetica Neue"/>
                <a:cs typeface="Helvetica Neue"/>
                <a:sym typeface="Helvetica Neue"/>
              </a:rPr>
              <a:t>β</a:t>
            </a:r>
            <a:r>
              <a:rPr b="0" i="1" lang="en-US" sz="1600" u="none" cap="none" strike="noStrike">
                <a:solidFill>
                  <a:schemeClr val="dk1"/>
                </a:solidFill>
                <a:latin typeface="Helvetica Neue"/>
                <a:ea typeface="Helvetica Neue"/>
                <a:cs typeface="Helvetica Neue"/>
                <a:sym typeface="Helvetica Neue"/>
              </a:rPr>
              <a:t> </a:t>
            </a:r>
            <a:r>
              <a:rPr b="0" i="0" lang="en-US" sz="1600" u="none" cap="none" strike="noStrike">
                <a:solidFill>
                  <a:schemeClr val="dk1"/>
                </a:solidFill>
                <a:latin typeface="Helvetica Neue"/>
                <a:ea typeface="Helvetica Neue"/>
                <a:cs typeface="Helvetica Neue"/>
                <a:sym typeface="Helvetica Neue"/>
              </a:rPr>
              <a:t>) = ( </a:t>
            </a:r>
            <a:r>
              <a:rPr b="0" i="1" lang="en-US" sz="1600" u="none" cap="none" strike="noStrike">
                <a:solidFill>
                  <a:schemeClr val="dk1"/>
                </a:solidFill>
                <a:latin typeface="Helvetica Neue"/>
                <a:ea typeface="Helvetica Neue"/>
                <a:cs typeface="Helvetica Neue"/>
                <a:sym typeface="Helvetica Neue"/>
              </a:rPr>
              <a:t>loan_number, amount</a:t>
            </a:r>
            <a:r>
              <a:rPr b="0" i="0" lang="en-US" sz="1600" u="none" cap="none" strike="noStrike">
                <a:solidFill>
                  <a:schemeClr val="dk1"/>
                </a:solidFill>
                <a:latin typeface="Helvetica Neue"/>
                <a:ea typeface="Helvetica Neue"/>
                <a:cs typeface="Helvetica Neue"/>
                <a:sym typeface="Helvetica Neue"/>
              </a:rPr>
              <a:t>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 ( </a:t>
            </a:r>
            <a:r>
              <a:rPr b="0" i="1" lang="en-US" sz="1600" u="none" cap="none" strike="noStrike">
                <a:solidFill>
                  <a:schemeClr val="dk1"/>
                </a:solidFill>
                <a:latin typeface="Helvetica Neue"/>
                <a:ea typeface="Helvetica Neue"/>
                <a:cs typeface="Helvetica Neue"/>
                <a:sym typeface="Helvetica Neue"/>
              </a:rPr>
              <a:t>β - </a:t>
            </a:r>
            <a:r>
              <a:rPr b="0" i="0" lang="en-US" sz="1600" u="none" cap="none" strike="noStrike">
                <a:solidFill>
                  <a:schemeClr val="dk1"/>
                </a:solidFill>
                <a:latin typeface="Helvetica Neue"/>
                <a:ea typeface="Helvetica Neue"/>
                <a:cs typeface="Helvetica Neue"/>
                <a:sym typeface="Helvetica Neue"/>
              </a:rPr>
              <a:t>α ) ) = ( </a:t>
            </a:r>
            <a:r>
              <a:rPr b="0" i="1" lang="en-US" sz="1600" u="none" cap="none" strike="noStrike">
                <a:solidFill>
                  <a:schemeClr val="dk1"/>
                </a:solidFill>
                <a:latin typeface="Helvetica Neue"/>
                <a:ea typeface="Helvetica Neue"/>
                <a:cs typeface="Helvetica Neue"/>
                <a:sym typeface="Helvetica Neue"/>
              </a:rPr>
              <a:t>customer_id, loan_number</a:t>
            </a:r>
            <a:r>
              <a:rPr b="0" i="0" lang="en-US" sz="1600" u="none" cap="none" strike="noStrike">
                <a:solidFill>
                  <a:schemeClr val="dk1"/>
                </a:solidFill>
                <a:latin typeface="Helvetica Neue"/>
                <a:ea typeface="Helvetica Neue"/>
                <a:cs typeface="Helvetica Neue"/>
                <a:sym typeface="Helvetica Neue"/>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56" name="Shape 156"/>
        <p:cNvGrpSpPr/>
        <p:nvPr/>
      </p:nvGrpSpPr>
      <p:grpSpPr>
        <a:xfrm>
          <a:off x="0" y="0"/>
          <a:ext cx="0" cy="0"/>
          <a:chOff x="0" y="0"/>
          <a:chExt cx="0" cy="0"/>
        </a:xfrm>
      </p:grpSpPr>
      <p:sp>
        <p:nvSpPr>
          <p:cNvPr id="157" name="Google Shape;157;p2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BCNF and Dependency Preservation</a:t>
            </a:r>
            <a:endParaRPr/>
          </a:p>
        </p:txBody>
      </p:sp>
      <p:sp>
        <p:nvSpPr>
          <p:cNvPr id="158" name="Google Shape;158;p23"/>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Constraints, including functional dependencies, are costly to check in practice unless they pertain to only one relation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it is sufficient to test only those dependencies on each individual relation of a decomposition in order to ensure that </a:t>
            </a:r>
            <a:r>
              <a:rPr b="0" i="1" lang="en-US" sz="1800" u="none">
                <a:solidFill>
                  <a:schemeClr val="dk1"/>
                </a:solidFill>
                <a:latin typeface="Helvetica Neue"/>
                <a:ea typeface="Helvetica Neue"/>
                <a:cs typeface="Helvetica Neue"/>
                <a:sym typeface="Helvetica Neue"/>
              </a:rPr>
              <a:t>all</a:t>
            </a:r>
            <a:r>
              <a:rPr b="0" i="0" lang="en-US" sz="1800" u="none">
                <a:solidFill>
                  <a:schemeClr val="dk1"/>
                </a:solidFill>
                <a:latin typeface="Helvetica Neue"/>
                <a:ea typeface="Helvetica Neue"/>
                <a:cs typeface="Helvetica Neue"/>
                <a:sym typeface="Helvetica Neue"/>
              </a:rPr>
              <a:t> functional dependencies hold, then that decomposition is </a:t>
            </a:r>
            <a:r>
              <a:rPr b="0" i="1" lang="en-US" sz="1800" u="none">
                <a:solidFill>
                  <a:schemeClr val="dk1"/>
                </a:solidFill>
                <a:latin typeface="Helvetica Neue"/>
                <a:ea typeface="Helvetica Neue"/>
                <a:cs typeface="Helvetica Neue"/>
                <a:sym typeface="Helvetica Neue"/>
              </a:rPr>
              <a:t>dependency preserving.</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Because it is not always possible to achieve both BCNF and dependency preservation, we consider a weaker normal form, known as </a:t>
            </a:r>
            <a:r>
              <a:rPr b="0" i="1" lang="en-US" sz="1800" u="none">
                <a:solidFill>
                  <a:schemeClr val="dk1"/>
                </a:solidFill>
                <a:latin typeface="Helvetica Neue"/>
                <a:ea typeface="Helvetica Neue"/>
                <a:cs typeface="Helvetica Neue"/>
                <a:sym typeface="Helvetica Neue"/>
              </a:rPr>
              <a:t>third normal form.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62" name="Shape 162"/>
        <p:cNvGrpSpPr/>
        <p:nvPr/>
      </p:nvGrpSpPr>
      <p:grpSpPr>
        <a:xfrm>
          <a:off x="0" y="0"/>
          <a:ext cx="0" cy="0"/>
          <a:chOff x="0" y="0"/>
          <a:chExt cx="0" cy="0"/>
        </a:xfrm>
      </p:grpSpPr>
      <p:sp>
        <p:nvSpPr>
          <p:cNvPr id="163" name="Google Shape;163;p2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Third Normal Form</a:t>
            </a:r>
            <a:endParaRPr/>
          </a:p>
        </p:txBody>
      </p:sp>
      <p:sp>
        <p:nvSpPr>
          <p:cNvPr id="164" name="Google Shape;164;p24"/>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relation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third normal form (3NF) if for all:</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α → </a:t>
            </a:r>
            <a:r>
              <a:rPr b="0" i="1" lang="en-US" sz="1800" u="none">
                <a:solidFill>
                  <a:schemeClr val="dk1"/>
                </a:solidFill>
                <a:latin typeface="Helvetica Neue"/>
                <a:ea typeface="Helvetica Neue"/>
                <a:cs typeface="Helvetica Neue"/>
                <a:sym typeface="Helvetica Neue"/>
              </a:rPr>
              <a:t>β</a:t>
            </a:r>
            <a:r>
              <a:rPr b="0" i="0" lang="en-US" sz="1800" u="none">
                <a:solidFill>
                  <a:schemeClr val="dk1"/>
                </a:solidFill>
                <a:latin typeface="Helvetica Neue"/>
                <a:ea typeface="Helvetica Neue"/>
                <a:cs typeface="Helvetica Neue"/>
                <a:sym typeface="Helvetica Neue"/>
              </a:rPr>
              <a:t> in </a:t>
            </a:r>
            <a:r>
              <a:rPr b="0" i="1" lang="en-US" sz="1800" u="none">
                <a:solidFill>
                  <a:schemeClr val="dk1"/>
                </a:solidFill>
                <a:latin typeface="Helvetica Neue"/>
                <a:ea typeface="Helvetica Neue"/>
                <a:cs typeface="Helvetica Neue"/>
                <a:sym typeface="Helvetica Neue"/>
              </a:rPr>
              <a:t>F</a:t>
            </a:r>
            <a:r>
              <a:rPr b="0" baseline="3000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at least one of the following holds: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is trivial (i.e.,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 α)</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α is a superkey for </a:t>
            </a:r>
            <a:r>
              <a:rPr b="0" i="1" lang="en-US" sz="1800" u="none" cap="none" strike="noStrike">
                <a:solidFill>
                  <a:schemeClr val="dk1"/>
                </a:solidFill>
                <a:latin typeface="Helvetica Neue"/>
                <a:ea typeface="Helvetica Neue"/>
                <a:cs typeface="Helvetica Neue"/>
                <a:sym typeface="Helvetica Neue"/>
              </a:rPr>
              <a:t>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attribute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in </a:t>
            </a:r>
            <a:r>
              <a:rPr b="0" i="1" lang="en-US" sz="1800" u="none" cap="none" strike="noStrike">
                <a:solidFill>
                  <a:schemeClr val="dk1"/>
                </a:solidFill>
                <a:latin typeface="Helvetica Neue"/>
                <a:ea typeface="Helvetica Neue"/>
                <a:cs typeface="Helvetica Neue"/>
                <a:sym typeface="Helvetica Neue"/>
              </a:rPr>
              <a:t>β</a:t>
            </a:r>
            <a:r>
              <a:rPr b="0" i="0" lang="en-US" sz="1800" u="none" cap="none" strike="noStrike">
                <a:solidFill>
                  <a:schemeClr val="dk1"/>
                </a:solidFill>
                <a:latin typeface="Helvetica Neue"/>
                <a:ea typeface="Helvetica Neue"/>
                <a:cs typeface="Helvetica Neue"/>
                <a:sym typeface="Helvetica Neue"/>
              </a:rPr>
              <a:t> – α is contained in a candidate key for </a:t>
            </a:r>
            <a:r>
              <a:rPr b="0" i="1" lang="en-US" sz="1800" u="none" cap="none" strike="noStrike">
                <a:solidFill>
                  <a:schemeClr val="dk1"/>
                </a:solidFill>
                <a:latin typeface="Helvetica Neue"/>
                <a:ea typeface="Helvetica Neue"/>
                <a:cs typeface="Helvetica Neue"/>
                <a:sym typeface="Helvetica Neue"/>
              </a:rPr>
              <a:t>R.</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chemeClr val="dk1"/>
                </a:solidFill>
                <a:latin typeface="Helvetica Neue"/>
                <a:ea typeface="Helvetica Neue"/>
                <a:cs typeface="Helvetica Neue"/>
                <a:sym typeface="Helvetica Neue"/>
              </a:rPr>
              <a:t>NOTE</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each attribute may be in a different candidate key)</a:t>
            </a:r>
            <a:endParaRPr b="0" i="1"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a relation is in BCNF it is in 3NF (since in BCNF one of the first two conditions above must hold).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Third condition is a minimal relaxation of BCNF to ensure dependency preservation (will see why later).</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68" name="Shape 168"/>
        <p:cNvGrpSpPr/>
        <p:nvPr/>
      </p:nvGrpSpPr>
      <p:grpSpPr>
        <a:xfrm>
          <a:off x="0" y="0"/>
          <a:ext cx="0" cy="0"/>
          <a:chOff x="0" y="0"/>
          <a:chExt cx="0" cy="0"/>
        </a:xfrm>
      </p:grpSpPr>
      <p:sp>
        <p:nvSpPr>
          <p:cNvPr id="169" name="Google Shape;169;p25"/>
          <p:cNvSpPr txBox="1"/>
          <p:nvPr>
            <p:ph type="title"/>
          </p:nvPr>
        </p:nvSpPr>
        <p:spPr>
          <a:xfrm>
            <a:off x="1317625" y="184150"/>
            <a:ext cx="6969125" cy="5000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Goals of Normalization</a:t>
            </a:r>
            <a:endParaRPr/>
          </a:p>
        </p:txBody>
      </p:sp>
      <p:sp>
        <p:nvSpPr>
          <p:cNvPr id="170" name="Google Shape;170;p25"/>
          <p:cNvSpPr txBox="1"/>
          <p:nvPr>
            <p:ph idx="1" type="body"/>
          </p:nvPr>
        </p:nvSpPr>
        <p:spPr>
          <a:xfrm>
            <a:off x="927100" y="1139825"/>
            <a:ext cx="7150100" cy="37877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be a relation scheme with a set</a:t>
            </a:r>
            <a:r>
              <a:rPr b="0" i="1" lang="en-US" sz="1800" u="none">
                <a:solidFill>
                  <a:schemeClr val="dk1"/>
                </a:solidFill>
                <a:latin typeface="Helvetica Neue"/>
                <a:ea typeface="Helvetica Neue"/>
                <a:cs typeface="Helvetica Neue"/>
                <a:sym typeface="Helvetica Neue"/>
              </a:rPr>
              <a:t> F</a:t>
            </a:r>
            <a:r>
              <a:rPr b="0" i="0" lang="en-US" sz="1800" u="none">
                <a:solidFill>
                  <a:schemeClr val="dk1"/>
                </a:solidFill>
                <a:latin typeface="Helvetica Neue"/>
                <a:ea typeface="Helvetica Neue"/>
                <a:cs typeface="Helvetica Neue"/>
                <a:sym typeface="Helvetica Neue"/>
              </a:rPr>
              <a:t> of functional dependencies.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Decide whether a relation scheme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“good” form.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the case that a relation scheme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not in “good” form, decompose it into a set of relation scheme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R</a:t>
            </a:r>
            <a:r>
              <a:rPr b="0" baseline="-25000" i="0"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 ..., R</a:t>
            </a:r>
            <a:r>
              <a:rPr b="0" baseline="-2500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such that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relation scheme is in good form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decomposition is a lossless-join decomposition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Preferably, the decomposition should be dependency preserving.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74" name="Shape 174"/>
        <p:cNvGrpSpPr/>
        <p:nvPr/>
      </p:nvGrpSpPr>
      <p:grpSpPr>
        <a:xfrm>
          <a:off x="0" y="0"/>
          <a:ext cx="0" cy="0"/>
          <a:chOff x="0" y="0"/>
          <a:chExt cx="0" cy="0"/>
        </a:xfrm>
      </p:grpSpPr>
      <p:sp>
        <p:nvSpPr>
          <p:cNvPr id="175" name="Google Shape;175;p26"/>
          <p:cNvSpPr txBox="1"/>
          <p:nvPr>
            <p:ph type="title"/>
          </p:nvPr>
        </p:nvSpPr>
        <p:spPr>
          <a:xfrm>
            <a:off x="1422400" y="152400"/>
            <a:ext cx="7124700" cy="635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How good is BCNF?</a:t>
            </a:r>
            <a:endParaRPr/>
          </a:p>
        </p:txBody>
      </p:sp>
      <p:sp>
        <p:nvSpPr>
          <p:cNvPr id="176" name="Google Shape;176;p26"/>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There are database schemas in BCNF that do not seem to be sufficiently normalized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Consider a database </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classes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course, teacher, book </a:t>
            </a:r>
            <a:r>
              <a:rPr b="0" i="0" lang="en-US" sz="1800" u="none">
                <a:solidFill>
                  <a:schemeClr val="dk1"/>
                </a:solidFill>
                <a:latin typeface="Helvetica Neue"/>
                <a:ea typeface="Helvetica Neue"/>
                <a:cs typeface="Helvetica Neue"/>
                <a:sym typeface="Helvetica Neue"/>
              </a:rPr>
              <a:t>)</a:t>
            </a:r>
            <a:br>
              <a:rPr b="0" i="1"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such that (</a:t>
            </a:r>
            <a:r>
              <a:rPr b="0" i="1" lang="en-US" sz="1800" u="none">
                <a:solidFill>
                  <a:schemeClr val="dk1"/>
                </a:solidFill>
                <a:latin typeface="Helvetica Neue"/>
                <a:ea typeface="Helvetica Neue"/>
                <a:cs typeface="Helvetica Neue"/>
                <a:sym typeface="Helvetica Neue"/>
              </a:rPr>
              <a:t>c, t, b</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classes</a:t>
            </a:r>
            <a:r>
              <a:rPr b="0" i="0" lang="en-US" sz="1800" u="none">
                <a:solidFill>
                  <a:schemeClr val="dk1"/>
                </a:solidFill>
                <a:latin typeface="Helvetica Neue"/>
                <a:ea typeface="Helvetica Neue"/>
                <a:cs typeface="Helvetica Neue"/>
                <a:sym typeface="Helvetica Neue"/>
              </a:rPr>
              <a:t> means that </a:t>
            </a:r>
            <a:r>
              <a:rPr b="0" i="1" lang="en-US" sz="1800" u="none">
                <a:solidFill>
                  <a:schemeClr val="dk1"/>
                </a:solidFill>
                <a:latin typeface="Helvetica Neue"/>
                <a:ea typeface="Helvetica Neue"/>
                <a:cs typeface="Helvetica Neue"/>
                <a:sym typeface="Helvetica Neue"/>
              </a:rPr>
              <a:t>t</a:t>
            </a:r>
            <a:r>
              <a:rPr b="0" i="0" lang="en-US" sz="1800" u="none">
                <a:solidFill>
                  <a:schemeClr val="dk1"/>
                </a:solidFill>
                <a:latin typeface="Helvetica Neue"/>
                <a:ea typeface="Helvetica Neue"/>
                <a:cs typeface="Helvetica Neue"/>
                <a:sym typeface="Helvetica Neue"/>
              </a:rPr>
              <a:t> is qualified to teach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is a required textbook for </a:t>
            </a:r>
            <a:r>
              <a:rPr b="0" i="1" lang="en-US" sz="1800" u="none">
                <a:solidFill>
                  <a:schemeClr val="dk1"/>
                </a:solidFill>
                <a:latin typeface="Helvetica Neue"/>
                <a:ea typeface="Helvetica Neue"/>
                <a:cs typeface="Helvetica Neue"/>
                <a:sym typeface="Helvetica Neue"/>
              </a:rPr>
              <a:t>c</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database is supposed to list for each course the set of teachers any one of which can be the course’s instructor, and the set of books, all of which are required for the course (no matter who teaches it).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80" name="Shape 180"/>
        <p:cNvGrpSpPr/>
        <p:nvPr/>
      </p:nvGrpSpPr>
      <p:grpSpPr>
        <a:xfrm>
          <a:off x="0" y="0"/>
          <a:ext cx="0" cy="0"/>
          <a:chOff x="0" y="0"/>
          <a:chExt cx="0" cy="0"/>
        </a:xfrm>
      </p:grpSpPr>
      <p:sp>
        <p:nvSpPr>
          <p:cNvPr id="181" name="Google Shape;181;p27"/>
          <p:cNvSpPr txBox="1"/>
          <p:nvPr>
            <p:ph idx="1" type="body"/>
          </p:nvPr>
        </p:nvSpPr>
        <p:spPr>
          <a:xfrm>
            <a:off x="927100" y="4543425"/>
            <a:ext cx="7848600" cy="2314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There are no non-trivial functional dependencies and therefore the relation is in BCNF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Insertion anomalies – i.e., if Marilyn is a new teacher that can teach database, two tuples need to be inserted</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(database, Marilyn, DB Concepts)</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(database, Marilyn, Ullman)</a:t>
            </a:r>
            <a:endParaRPr/>
          </a:p>
        </p:txBody>
      </p:sp>
      <p:sp>
        <p:nvSpPr>
          <p:cNvPr id="182" name="Google Shape;182;p27"/>
          <p:cNvSpPr txBox="1"/>
          <p:nvPr/>
        </p:nvSpPr>
        <p:spPr>
          <a:xfrm>
            <a:off x="1371600" y="858837"/>
            <a:ext cx="21336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course</a:t>
            </a:r>
            <a:endParaRPr/>
          </a:p>
        </p:txBody>
      </p:sp>
      <p:sp>
        <p:nvSpPr>
          <p:cNvPr id="183" name="Google Shape;183;p27"/>
          <p:cNvSpPr txBox="1"/>
          <p:nvPr/>
        </p:nvSpPr>
        <p:spPr>
          <a:xfrm>
            <a:off x="3505200" y="858837"/>
            <a:ext cx="21336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teacher</a:t>
            </a:r>
            <a:endParaRPr/>
          </a:p>
        </p:txBody>
      </p:sp>
      <p:sp>
        <p:nvSpPr>
          <p:cNvPr id="184" name="Google Shape;184;p27"/>
          <p:cNvSpPr txBox="1"/>
          <p:nvPr/>
        </p:nvSpPr>
        <p:spPr>
          <a:xfrm>
            <a:off x="5638800" y="858837"/>
            <a:ext cx="21336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book</a:t>
            </a:r>
            <a:endParaRPr/>
          </a:p>
        </p:txBody>
      </p:sp>
      <p:sp>
        <p:nvSpPr>
          <p:cNvPr id="185" name="Google Shape;185;p27"/>
          <p:cNvSpPr txBox="1"/>
          <p:nvPr/>
        </p:nvSpPr>
        <p:spPr>
          <a:xfrm>
            <a:off x="1371600" y="1239837"/>
            <a:ext cx="2133600" cy="2819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p:txBody>
      </p:sp>
      <p:sp>
        <p:nvSpPr>
          <p:cNvPr id="186" name="Google Shape;186;p27"/>
          <p:cNvSpPr txBox="1"/>
          <p:nvPr/>
        </p:nvSpPr>
        <p:spPr>
          <a:xfrm>
            <a:off x="3505200" y="1239837"/>
            <a:ext cx="2133600" cy="2819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Avi</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Avi</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Hank</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Hank</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Sudarshan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Sudarshan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Avi</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Avi </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Pete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Pete</a:t>
            </a:r>
            <a:endParaRPr/>
          </a:p>
        </p:txBody>
      </p:sp>
      <p:sp>
        <p:nvSpPr>
          <p:cNvPr id="187" name="Google Shape;187;p27"/>
          <p:cNvSpPr txBox="1"/>
          <p:nvPr/>
        </p:nvSpPr>
        <p:spPr>
          <a:xfrm>
            <a:off x="5638800" y="1239837"/>
            <a:ext cx="2133600" cy="2819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DB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Ullman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DB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Ullman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DB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Ullman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OS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Stallings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OS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Stallings</a:t>
            </a:r>
            <a:endParaRPr/>
          </a:p>
        </p:txBody>
      </p:sp>
      <p:sp>
        <p:nvSpPr>
          <p:cNvPr id="188" name="Google Shape;188;p27"/>
          <p:cNvSpPr txBox="1"/>
          <p:nvPr/>
        </p:nvSpPr>
        <p:spPr>
          <a:xfrm>
            <a:off x="4175125" y="4054475"/>
            <a:ext cx="946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classes</a:t>
            </a:r>
            <a:endParaRPr/>
          </a:p>
        </p:txBody>
      </p:sp>
      <p:sp>
        <p:nvSpPr>
          <p:cNvPr id="189" name="Google Shape;189;p27"/>
          <p:cNvSpPr txBox="1"/>
          <p:nvPr>
            <p:ph type="title"/>
          </p:nvPr>
        </p:nvSpPr>
        <p:spPr>
          <a:xfrm>
            <a:off x="996950" y="117475"/>
            <a:ext cx="71628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How good is BCNF? (Cont.)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93" name="Shape 193"/>
        <p:cNvGrpSpPr/>
        <p:nvPr/>
      </p:nvGrpSpPr>
      <p:grpSpPr>
        <a:xfrm>
          <a:off x="0" y="0"/>
          <a:ext cx="0" cy="0"/>
          <a:chOff x="0" y="0"/>
          <a:chExt cx="0" cy="0"/>
        </a:xfrm>
      </p:grpSpPr>
      <p:sp>
        <p:nvSpPr>
          <p:cNvPr id="194" name="Google Shape;194;p28"/>
          <p:cNvSpPr txBox="1"/>
          <p:nvPr>
            <p:ph idx="1" type="body"/>
          </p:nvPr>
        </p:nvSpPr>
        <p:spPr>
          <a:xfrm>
            <a:off x="927100" y="1139825"/>
            <a:ext cx="6724650" cy="533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Therefore, it is better to decompose </a:t>
            </a:r>
            <a:r>
              <a:rPr b="0" i="1" lang="en-US" sz="1800" u="none">
                <a:solidFill>
                  <a:schemeClr val="dk1"/>
                </a:solidFill>
                <a:latin typeface="Helvetica Neue"/>
                <a:ea typeface="Helvetica Neue"/>
                <a:cs typeface="Helvetica Neue"/>
                <a:sym typeface="Helvetica Neue"/>
              </a:rPr>
              <a:t>classes </a:t>
            </a:r>
            <a:r>
              <a:rPr b="0" i="0" lang="en-US" sz="1800" u="none">
                <a:solidFill>
                  <a:schemeClr val="dk1"/>
                </a:solidFill>
                <a:latin typeface="Helvetica Neue"/>
                <a:ea typeface="Helvetica Neue"/>
                <a:cs typeface="Helvetica Neue"/>
                <a:sym typeface="Helvetica Neue"/>
              </a:rPr>
              <a:t>into:</a:t>
            </a:r>
            <a:endParaRPr/>
          </a:p>
        </p:txBody>
      </p:sp>
      <p:sp>
        <p:nvSpPr>
          <p:cNvPr id="195" name="Google Shape;195;p28"/>
          <p:cNvSpPr txBox="1"/>
          <p:nvPr/>
        </p:nvSpPr>
        <p:spPr>
          <a:xfrm>
            <a:off x="1693862" y="1577975"/>
            <a:ext cx="23622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course</a:t>
            </a:r>
            <a:endParaRPr/>
          </a:p>
        </p:txBody>
      </p:sp>
      <p:sp>
        <p:nvSpPr>
          <p:cNvPr id="196" name="Google Shape;196;p28"/>
          <p:cNvSpPr txBox="1"/>
          <p:nvPr/>
        </p:nvSpPr>
        <p:spPr>
          <a:xfrm>
            <a:off x="4056062" y="1577975"/>
            <a:ext cx="17526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teacher</a:t>
            </a:r>
            <a:endParaRPr/>
          </a:p>
        </p:txBody>
      </p:sp>
      <p:sp>
        <p:nvSpPr>
          <p:cNvPr id="197" name="Google Shape;197;p28"/>
          <p:cNvSpPr txBox="1"/>
          <p:nvPr/>
        </p:nvSpPr>
        <p:spPr>
          <a:xfrm>
            <a:off x="1693862" y="1958975"/>
            <a:ext cx="2362200" cy="1447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p:txBody>
      </p:sp>
      <p:sp>
        <p:nvSpPr>
          <p:cNvPr id="198" name="Google Shape;198;p28"/>
          <p:cNvSpPr txBox="1"/>
          <p:nvPr/>
        </p:nvSpPr>
        <p:spPr>
          <a:xfrm>
            <a:off x="4056062" y="1958975"/>
            <a:ext cx="1752600" cy="1447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Avi</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Hank</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Sudarshan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Avi </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Jim</a:t>
            </a:r>
            <a:endParaRPr/>
          </a:p>
        </p:txBody>
      </p:sp>
      <p:sp>
        <p:nvSpPr>
          <p:cNvPr id="199" name="Google Shape;199;p28"/>
          <p:cNvSpPr txBox="1"/>
          <p:nvPr/>
        </p:nvSpPr>
        <p:spPr>
          <a:xfrm>
            <a:off x="3452812" y="3435350"/>
            <a:ext cx="984250" cy="3667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teaches</a:t>
            </a:r>
            <a:endParaRPr/>
          </a:p>
        </p:txBody>
      </p:sp>
      <p:sp>
        <p:nvSpPr>
          <p:cNvPr id="200" name="Google Shape;200;p28"/>
          <p:cNvSpPr txBox="1"/>
          <p:nvPr/>
        </p:nvSpPr>
        <p:spPr>
          <a:xfrm>
            <a:off x="1770062" y="3863975"/>
            <a:ext cx="23622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course</a:t>
            </a:r>
            <a:endParaRPr/>
          </a:p>
        </p:txBody>
      </p:sp>
      <p:sp>
        <p:nvSpPr>
          <p:cNvPr id="201" name="Google Shape;201;p28"/>
          <p:cNvSpPr txBox="1"/>
          <p:nvPr/>
        </p:nvSpPr>
        <p:spPr>
          <a:xfrm>
            <a:off x="4132262" y="3863975"/>
            <a:ext cx="17526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book</a:t>
            </a:r>
            <a:endParaRPr/>
          </a:p>
        </p:txBody>
      </p:sp>
      <p:sp>
        <p:nvSpPr>
          <p:cNvPr id="202" name="Google Shape;202;p28"/>
          <p:cNvSpPr txBox="1"/>
          <p:nvPr/>
        </p:nvSpPr>
        <p:spPr>
          <a:xfrm>
            <a:off x="1770062" y="4244975"/>
            <a:ext cx="2362200" cy="1143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database</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operating systems</a:t>
            </a:r>
            <a:endParaRPr/>
          </a:p>
        </p:txBody>
      </p:sp>
      <p:sp>
        <p:nvSpPr>
          <p:cNvPr id="203" name="Google Shape;203;p28"/>
          <p:cNvSpPr txBox="1"/>
          <p:nvPr/>
        </p:nvSpPr>
        <p:spPr>
          <a:xfrm>
            <a:off x="4132262" y="4244975"/>
            <a:ext cx="1752600" cy="1143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DB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Ullman</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OS Concepts</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Shaw</a:t>
            </a:r>
            <a:endParaRPr/>
          </a:p>
        </p:txBody>
      </p:sp>
      <p:sp>
        <p:nvSpPr>
          <p:cNvPr id="204" name="Google Shape;204;p28"/>
          <p:cNvSpPr txBox="1"/>
          <p:nvPr/>
        </p:nvSpPr>
        <p:spPr>
          <a:xfrm>
            <a:off x="3738562" y="5387975"/>
            <a:ext cx="552450" cy="3667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text</a:t>
            </a:r>
            <a:endParaRPr/>
          </a:p>
        </p:txBody>
      </p:sp>
      <p:sp>
        <p:nvSpPr>
          <p:cNvPr id="205" name="Google Shape;205;p28"/>
          <p:cNvSpPr txBox="1"/>
          <p:nvPr/>
        </p:nvSpPr>
        <p:spPr>
          <a:xfrm>
            <a:off x="1008062" y="5768975"/>
            <a:ext cx="672465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This suggests the need for higher normal forms, such as Fourth Normal Form (4NF), which we shall see later.</a:t>
            </a:r>
            <a:endParaRPr/>
          </a:p>
        </p:txBody>
      </p:sp>
      <p:sp>
        <p:nvSpPr>
          <p:cNvPr id="206" name="Google Shape;206;p28"/>
          <p:cNvSpPr txBox="1"/>
          <p:nvPr>
            <p:ph type="title"/>
          </p:nvPr>
        </p:nvSpPr>
        <p:spPr>
          <a:xfrm>
            <a:off x="1638300" y="119062"/>
            <a:ext cx="71247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How good is BCNF? (Cont.)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10" name="Shape 210"/>
        <p:cNvGrpSpPr/>
        <p:nvPr/>
      </p:nvGrpSpPr>
      <p:grpSpPr>
        <a:xfrm>
          <a:off x="0" y="0"/>
          <a:ext cx="0" cy="0"/>
          <a:chOff x="0" y="0"/>
          <a:chExt cx="0" cy="0"/>
        </a:xfrm>
      </p:grpSpPr>
      <p:sp>
        <p:nvSpPr>
          <p:cNvPr id="211" name="Google Shape;211;p2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Functional-Dependency Theory</a:t>
            </a:r>
            <a:endParaRPr/>
          </a:p>
        </p:txBody>
      </p:sp>
      <p:sp>
        <p:nvSpPr>
          <p:cNvPr id="212" name="Google Shape;212;p29"/>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now consider the formal theory that tells us which functional dependencies are implied logically by a given set of functional dependencies.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then develop algorithms to generate lossless decompositions into BCNF and 3NF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then develop algorithms to test if a decomposition is dependency-preserving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16" name="Shape 216"/>
        <p:cNvGrpSpPr/>
        <p:nvPr/>
      </p:nvGrpSpPr>
      <p:grpSpPr>
        <a:xfrm>
          <a:off x="0" y="0"/>
          <a:ext cx="0" cy="0"/>
          <a:chOff x="0" y="0"/>
          <a:chExt cx="0" cy="0"/>
        </a:xfrm>
      </p:grpSpPr>
      <p:sp>
        <p:nvSpPr>
          <p:cNvPr id="217" name="Google Shape;217;p30"/>
          <p:cNvSpPr txBox="1"/>
          <p:nvPr>
            <p:ph type="title"/>
          </p:nvPr>
        </p:nvSpPr>
        <p:spPr>
          <a:xfrm>
            <a:off x="609600" y="495300"/>
            <a:ext cx="79248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Closure of a Set of Functional Dependencies</a:t>
            </a:r>
            <a:endParaRPr/>
          </a:p>
        </p:txBody>
      </p:sp>
      <p:sp>
        <p:nvSpPr>
          <p:cNvPr id="218" name="Google Shape;218;p30"/>
          <p:cNvSpPr txBox="1"/>
          <p:nvPr>
            <p:ph idx="1" type="body"/>
          </p:nvPr>
        </p:nvSpPr>
        <p:spPr>
          <a:xfrm>
            <a:off x="927100" y="1163637"/>
            <a:ext cx="80772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Given a set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set of functional dependencies, there are certain other functional dependencies that are logically implied by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example:  If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then we can infer that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C</a:t>
            </a:r>
            <a:endParaRPr b="0" i="1"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set of </a:t>
            </a:r>
            <a:r>
              <a:rPr b="0" i="0" lang="en-US" sz="1600" u="none">
                <a:solidFill>
                  <a:schemeClr val="dk2"/>
                </a:solidFill>
                <a:latin typeface="Helvetica Neue"/>
                <a:ea typeface="Helvetica Neue"/>
                <a:cs typeface="Helvetica Neue"/>
                <a:sym typeface="Helvetica Neue"/>
              </a:rPr>
              <a:t>all</a:t>
            </a:r>
            <a:r>
              <a:rPr b="0" i="0" lang="en-US" sz="1800" u="none">
                <a:solidFill>
                  <a:schemeClr val="dk1"/>
                </a:solidFill>
                <a:latin typeface="Helvetica Neue"/>
                <a:ea typeface="Helvetica Neue"/>
                <a:cs typeface="Helvetica Neue"/>
                <a:sym typeface="Helvetica Neue"/>
              </a:rPr>
              <a:t> functional dependencies logically implied by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is the </a:t>
            </a:r>
            <a:r>
              <a:rPr b="0" i="1" lang="en-US" sz="1800" u="none">
                <a:solidFill>
                  <a:schemeClr val="dk2"/>
                </a:solidFill>
                <a:latin typeface="Helvetica Neue"/>
                <a:ea typeface="Helvetica Neue"/>
                <a:cs typeface="Helvetica Neue"/>
                <a:sym typeface="Helvetica Neue"/>
              </a:rPr>
              <a:t>closure</a:t>
            </a:r>
            <a:r>
              <a:rPr b="0" i="0" lang="en-US" sz="1800" u="none">
                <a:solidFill>
                  <a:schemeClr val="dk1"/>
                </a:solidFill>
                <a:latin typeface="Helvetica Neue"/>
                <a:ea typeface="Helvetica Neue"/>
                <a:cs typeface="Helvetica Neue"/>
                <a:sym typeface="Helvetica Neue"/>
              </a:rPr>
              <a:t> of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denote the </a:t>
            </a:r>
            <a:r>
              <a:rPr b="0" i="1" lang="en-US" sz="1800" u="none">
                <a:solidFill>
                  <a:schemeClr val="dk1"/>
                </a:solidFill>
                <a:latin typeface="Helvetica Neue"/>
                <a:ea typeface="Helvetica Neue"/>
                <a:cs typeface="Helvetica Neue"/>
                <a:sym typeface="Helvetica Neue"/>
              </a:rPr>
              <a:t>closure </a:t>
            </a:r>
            <a:r>
              <a:rPr b="0" i="0" lang="en-US" sz="1800" u="none">
                <a:solidFill>
                  <a:schemeClr val="dk1"/>
                </a:solidFill>
                <a:latin typeface="Helvetica Neue"/>
                <a:ea typeface="Helvetica Neue"/>
                <a:cs typeface="Helvetica Neue"/>
                <a:sym typeface="Helvetica Neue"/>
              </a:rPr>
              <a:t>of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by </a:t>
            </a:r>
            <a:r>
              <a:rPr b="0" i="1" lang="en-US" sz="1800" u="none">
                <a:solidFill>
                  <a:schemeClr val="dk2"/>
                </a:solidFill>
                <a:latin typeface="Helvetica Neue"/>
                <a:ea typeface="Helvetica Neue"/>
                <a:cs typeface="Helvetica Neue"/>
                <a:sym typeface="Helvetica Neue"/>
              </a:rPr>
              <a:t>F</a:t>
            </a:r>
            <a:r>
              <a:rPr b="0" baseline="30000" i="1" lang="en-US" sz="1800" u="none">
                <a:solidFill>
                  <a:schemeClr val="dk2"/>
                </a:solidFill>
                <a:latin typeface="Helvetica Neue"/>
                <a:ea typeface="Helvetica Neue"/>
                <a:cs typeface="Helvetica Neue"/>
                <a:sym typeface="Helvetica Neue"/>
              </a:rPr>
              <a:t>+</a:t>
            </a:r>
            <a:r>
              <a:rPr b="0" i="1" lang="en-US" sz="1800" u="none">
                <a:solidFill>
                  <a:schemeClr val="dk2"/>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can find all of</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F</a:t>
            </a:r>
            <a:r>
              <a:rPr b="0" baseline="30000" i="1"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by applying Armstrong’s Axioms: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a:t>
            </a:r>
            <a:r>
              <a:rPr b="0" i="1" lang="en-US" sz="1800" u="none" cap="none" strike="noStrike">
                <a:solidFill>
                  <a:schemeClr val="dk1"/>
                </a:solidFill>
                <a:latin typeface="Helvetica Neue"/>
                <a:ea typeface="Helvetica Neue"/>
                <a:cs typeface="Helvetica Neue"/>
                <a:sym typeface="Helvetica Neue"/>
              </a:rPr>
              <a:t>β</a:t>
            </a:r>
            <a:r>
              <a:rPr b="0" i="0" lang="en-US" sz="1800" u="none" cap="none" strike="noStrike">
                <a:solidFill>
                  <a:schemeClr val="dk1"/>
                </a:solidFill>
                <a:latin typeface="Helvetica Neue"/>
                <a:ea typeface="Helvetica Neue"/>
                <a:cs typeface="Helvetica Neue"/>
                <a:sym typeface="Helvetica Neue"/>
              </a:rPr>
              <a:t> ⊆ α, then α → </a:t>
            </a:r>
            <a:r>
              <a:rPr b="0" i="1" lang="en-US" sz="1800" u="none" cap="none" strike="noStrike">
                <a:solidFill>
                  <a:schemeClr val="dk1"/>
                </a:solidFill>
                <a:latin typeface="Helvetica Neue"/>
                <a:ea typeface="Helvetica Neue"/>
                <a:cs typeface="Helvetica Neue"/>
                <a:sym typeface="Helvetica Neue"/>
              </a:rPr>
              <a:t>β                      </a:t>
            </a:r>
            <a:r>
              <a:rPr b="1" i="0" lang="en-US" sz="1800" u="none" cap="none" strike="noStrike">
                <a:solidFill>
                  <a:schemeClr val="dk1"/>
                </a:solidFill>
                <a:latin typeface="Helvetica Neue"/>
                <a:ea typeface="Helvetica Neue"/>
                <a:cs typeface="Helvetica Neue"/>
                <a:sym typeface="Helvetica Neue"/>
              </a:rPr>
              <a:t>(reflexivity)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then γ α →  γ </a:t>
            </a:r>
            <a:r>
              <a:rPr b="0" i="1" lang="en-US" sz="1800" u="none" cap="none" strike="noStrike">
                <a:solidFill>
                  <a:schemeClr val="dk1"/>
                </a:solidFill>
                <a:latin typeface="Helvetica Neue"/>
                <a:ea typeface="Helvetica Neue"/>
                <a:cs typeface="Helvetica Neue"/>
                <a:sym typeface="Helvetica Neue"/>
              </a:rPr>
              <a:t>β               </a:t>
            </a:r>
            <a:r>
              <a:rPr b="1" i="0" lang="en-US" sz="1800" u="none" cap="none" strike="noStrike">
                <a:solidFill>
                  <a:schemeClr val="dk1"/>
                </a:solidFill>
                <a:latin typeface="Helvetica Neue"/>
                <a:ea typeface="Helvetica Neue"/>
                <a:cs typeface="Helvetica Neue"/>
                <a:sym typeface="Helvetica Neue"/>
              </a:rPr>
              <a:t>(augmentation)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 γ, then α →  γ   </a:t>
            </a:r>
            <a:r>
              <a:rPr b="1" i="0" lang="en-US" sz="1800" u="none" cap="none" strike="noStrike">
                <a:solidFill>
                  <a:schemeClr val="dk1"/>
                </a:solidFill>
                <a:latin typeface="Helvetica Neue"/>
                <a:ea typeface="Helvetica Neue"/>
                <a:cs typeface="Helvetica Neue"/>
                <a:sym typeface="Helvetica Neue"/>
              </a:rPr>
              <a:t>(transitivity)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These rules are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2"/>
                </a:solidFill>
                <a:latin typeface="Helvetica Neue"/>
                <a:ea typeface="Helvetica Neue"/>
                <a:cs typeface="Helvetica Neue"/>
                <a:sym typeface="Helvetica Neue"/>
              </a:rPr>
              <a:t>sound</a:t>
            </a:r>
            <a:r>
              <a:rPr b="0" i="0" lang="en-US" sz="1800" u="none" cap="none" strike="noStrike">
                <a:solidFill>
                  <a:schemeClr val="dk1"/>
                </a:solidFill>
                <a:latin typeface="Helvetica Neue"/>
                <a:ea typeface="Helvetica Neue"/>
                <a:cs typeface="Helvetica Neue"/>
                <a:sym typeface="Helvetica Neue"/>
              </a:rPr>
              <a:t> (generate only functional dependencies that actually hold) and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2"/>
                </a:solidFill>
                <a:latin typeface="Helvetica Neue"/>
                <a:ea typeface="Helvetica Neue"/>
                <a:cs typeface="Helvetica Neue"/>
                <a:sym typeface="Helvetica Neue"/>
              </a:rPr>
              <a:t>complete</a:t>
            </a:r>
            <a:r>
              <a:rPr b="0" i="0" lang="en-US" sz="1800" u="none" cap="none" strike="noStrike">
                <a:solidFill>
                  <a:schemeClr val="dk1"/>
                </a:solidFill>
                <a:latin typeface="Helvetica Neue"/>
                <a:ea typeface="Helvetica Neue"/>
                <a:cs typeface="Helvetica Neue"/>
                <a:sym typeface="Helvetica Neue"/>
              </a:rPr>
              <a:t> (generate all functional dependencies that hold).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22" name="Shape 222"/>
        <p:cNvGrpSpPr/>
        <p:nvPr/>
      </p:nvGrpSpPr>
      <p:grpSpPr>
        <a:xfrm>
          <a:off x="0" y="0"/>
          <a:ext cx="0" cy="0"/>
          <a:chOff x="0" y="0"/>
          <a:chExt cx="0" cy="0"/>
        </a:xfrm>
      </p:grpSpPr>
      <p:sp>
        <p:nvSpPr>
          <p:cNvPr id="223" name="Google Shape;223;p3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a:t>
            </a:r>
            <a:endParaRPr/>
          </a:p>
        </p:txBody>
      </p:sp>
      <p:sp>
        <p:nvSpPr>
          <p:cNvPr id="224" name="Google Shape;224;p31"/>
          <p:cNvSpPr txBox="1"/>
          <p:nvPr>
            <p:ph idx="1" type="body"/>
          </p:nvPr>
        </p:nvSpPr>
        <p:spPr>
          <a:xfrm>
            <a:off x="895350" y="1163637"/>
            <a:ext cx="8248650" cy="5600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 (A, B, C, G, H, I)</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 =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CG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CG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B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a:t>
            </a:r>
            <a:r>
              <a:rPr b="0" i="0" lang="en-US" sz="1800" u="none">
                <a:solidFill>
                  <a:schemeClr val="dk1"/>
                </a:solidFill>
                <a:latin typeface="Helvetica Neue"/>
                <a:ea typeface="Helvetica Neue"/>
                <a:cs typeface="Helvetica Neue"/>
                <a:sym typeface="Helvetica Neue"/>
              </a:rPr>
              <a:t>}</a:t>
            </a:r>
            <a:endParaRPr b="0" i="0" sz="24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some members of </a:t>
            </a:r>
            <a:r>
              <a:rPr b="0" i="1" lang="en-US" sz="1800" u="none">
                <a:solidFill>
                  <a:schemeClr val="dk1"/>
                </a:solidFill>
                <a:latin typeface="Helvetica Neue"/>
                <a:ea typeface="Helvetica Neue"/>
                <a:cs typeface="Helvetica Neue"/>
                <a:sym typeface="Helvetica Neue"/>
              </a:rPr>
              <a:t>F</a:t>
            </a:r>
            <a:r>
              <a:rPr b="0" baseline="30000" i="0" lang="en-US" sz="1800" u="none">
                <a:solidFill>
                  <a:schemeClr val="dk1"/>
                </a:solidFill>
                <a:latin typeface="Helvetica Neue"/>
                <a:ea typeface="Helvetica Neue"/>
                <a:cs typeface="Helvetica Neue"/>
                <a:sym typeface="Helvetica Neue"/>
              </a:rPr>
              <a:t>+</a:t>
            </a:r>
            <a:endParaRPr b="0" i="0" sz="1800" u="non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H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by transitivity from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 and B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H</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AG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       </a:t>
            </a:r>
            <a:endParaRPr b="0" i="0" sz="1800" u="none" cap="none" strike="noStrike">
              <a:solidFill>
                <a:schemeClr val="dk1"/>
              </a:solidFill>
              <a:latin typeface="Helvetica Neue"/>
              <a:ea typeface="Helvetica Neue"/>
              <a:cs typeface="Helvetica Neue"/>
              <a:sym typeface="Helvetica Neue"/>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by augmenting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 </a:t>
            </a:r>
            <a:r>
              <a:rPr b="0" i="0" lang="en-US" sz="1800" u="none" cap="none" strike="noStrike">
                <a:solidFill>
                  <a:schemeClr val="dk1"/>
                </a:solidFill>
                <a:latin typeface="Helvetica Neue"/>
                <a:ea typeface="Helvetica Neue"/>
                <a:cs typeface="Helvetica Neue"/>
                <a:sym typeface="Helvetica Neue"/>
              </a:rPr>
              <a:t>with G, to get </a:t>
            </a:r>
            <a:r>
              <a:rPr b="0" i="1" lang="en-US" sz="1800" u="none" cap="none" strike="noStrike">
                <a:solidFill>
                  <a:schemeClr val="dk1"/>
                </a:solidFill>
                <a:latin typeface="Helvetica Neue"/>
                <a:ea typeface="Helvetica Neue"/>
                <a:cs typeface="Helvetica Neue"/>
                <a:sym typeface="Helvetica Neue"/>
              </a:rPr>
              <a:t>AG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CG </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and then transitivity with </a:t>
            </a: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 </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HI     </a:t>
            </a:r>
            <a:endParaRPr b="0" i="0" sz="1800" u="none" cap="none" strike="noStrike">
              <a:solidFill>
                <a:schemeClr val="dk1"/>
              </a:solidFill>
              <a:latin typeface="Helvetica Neue"/>
              <a:ea typeface="Helvetica Neue"/>
              <a:cs typeface="Helvetica Neue"/>
              <a:sym typeface="Helvetica Neue"/>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by augmenting </a:t>
            </a: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to infer </a:t>
            </a: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CG</a:t>
            </a:r>
            <a:r>
              <a:rPr b="0" i="1" lang="en-US" sz="1800" u="none" cap="none" strike="noStrike">
                <a:solidFill>
                  <a:schemeClr val="dk1"/>
                </a:solidFill>
                <a:latin typeface="Helvetica Neue"/>
                <a:ea typeface="Helvetica Neue"/>
                <a:cs typeface="Helvetica Neue"/>
                <a:sym typeface="Helvetica Neue"/>
              </a:rPr>
              <a:t>I, </a:t>
            </a:r>
            <a:endParaRPr/>
          </a:p>
          <a:p>
            <a:pPr indent="-228600" lvl="2" marL="1085850" marR="0" rtl="0" algn="l">
              <a:lnSpc>
                <a:spcPct val="100000"/>
              </a:lnSpc>
              <a:spcBef>
                <a:spcPts val="63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    and augmenting of </a:t>
            </a: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H </a:t>
            </a:r>
            <a:r>
              <a:rPr b="0" i="0" lang="en-US" sz="1800" u="none" cap="none" strike="noStrike">
                <a:solidFill>
                  <a:schemeClr val="dk1"/>
                </a:solidFill>
                <a:latin typeface="Helvetica Neue"/>
                <a:ea typeface="Helvetica Neue"/>
                <a:cs typeface="Helvetica Neue"/>
                <a:sym typeface="Helvetica Neue"/>
              </a:rPr>
              <a:t>to infer</a:t>
            </a:r>
            <a:r>
              <a:rPr b="0" i="1" lang="en-US" sz="1800" u="none" cap="none" strike="noStrike">
                <a:solidFill>
                  <a:schemeClr val="dk1"/>
                </a:solidFill>
                <a:latin typeface="Helvetica Neue"/>
                <a:ea typeface="Helvetica Neue"/>
                <a:cs typeface="Helvetica Neue"/>
                <a:sym typeface="Helvetica Neue"/>
              </a:rPr>
              <a:t> CGI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HI, </a:t>
            </a:r>
            <a:endParaRPr/>
          </a:p>
          <a:p>
            <a:pPr indent="-228600" lvl="2" marL="1085850" marR="0" rtl="0" algn="l">
              <a:lnSpc>
                <a:spcPct val="100000"/>
              </a:lnSpc>
              <a:spcBef>
                <a:spcPts val="630"/>
              </a:spcBef>
              <a:spcAft>
                <a:spcPts val="0"/>
              </a:spcAft>
              <a:buClr>
                <a:srgbClr val="33CC33"/>
              </a:buClr>
              <a:buSzPts val="1350"/>
              <a:buFont typeface="Arimo"/>
              <a:buNone/>
            </a:pP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and then transitivity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28" name="Shape 228"/>
        <p:cNvGrpSpPr/>
        <p:nvPr/>
      </p:nvGrpSpPr>
      <p:grpSpPr>
        <a:xfrm>
          <a:off x="0" y="0"/>
          <a:ext cx="0" cy="0"/>
          <a:chOff x="0" y="0"/>
          <a:chExt cx="0" cy="0"/>
        </a:xfrm>
      </p:grpSpPr>
      <p:sp>
        <p:nvSpPr>
          <p:cNvPr id="229" name="Google Shape;229;p3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Procedure for Computing F</a:t>
            </a:r>
            <a:r>
              <a:rPr b="1" baseline="30000" i="0" lang="en-US" sz="3200" u="none">
                <a:solidFill>
                  <a:schemeClr val="dk2"/>
                </a:solidFill>
                <a:latin typeface="Helvetica Neue"/>
                <a:ea typeface="Helvetica Neue"/>
                <a:cs typeface="Helvetica Neue"/>
                <a:sym typeface="Helvetica Neue"/>
              </a:rPr>
              <a:t>+</a:t>
            </a:r>
            <a:endParaRPr/>
          </a:p>
        </p:txBody>
      </p:sp>
      <p:sp>
        <p:nvSpPr>
          <p:cNvPr id="230" name="Google Shape;230;p32"/>
          <p:cNvSpPr txBox="1"/>
          <p:nvPr>
            <p:ph idx="4294967295"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compute the closure of a set of functional dependencies F:</a:t>
            </a:r>
            <a:br>
              <a:rPr b="0" i="0" lang="en-US" sz="1800" u="none">
                <a:solidFill>
                  <a:schemeClr val="dk1"/>
                </a:solidFill>
                <a:latin typeface="Helvetica Neue"/>
                <a:ea typeface="Helvetica Neue"/>
                <a:cs typeface="Helvetica Neue"/>
                <a:sym typeface="Helvetica Neue"/>
              </a:rPr>
            </a:br>
            <a:endParaRPr b="0" i="1"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70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F </a:t>
            </a:r>
            <a:r>
              <a:rPr b="0" baseline="30000" i="0" lang="en-US" sz="20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F</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repeat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for each</a:t>
            </a:r>
            <a:r>
              <a:rPr b="0" i="0" lang="en-US" sz="1800" u="none">
                <a:solidFill>
                  <a:schemeClr val="dk1"/>
                </a:solidFill>
                <a:latin typeface="Helvetica Neue"/>
                <a:ea typeface="Helvetica Neue"/>
                <a:cs typeface="Helvetica Neue"/>
                <a:sym typeface="Helvetica Neue"/>
              </a:rPr>
              <a:t> functional dependency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in </a:t>
            </a:r>
            <a:r>
              <a:rPr b="0" i="1" lang="en-US" sz="1800" u="none">
                <a:solidFill>
                  <a:schemeClr val="dk1"/>
                </a:solidFill>
                <a:latin typeface="Helvetica Neue"/>
                <a:ea typeface="Helvetica Neue"/>
                <a:cs typeface="Helvetica Neue"/>
                <a:sym typeface="Helvetica Neue"/>
              </a:rPr>
              <a:t>F</a:t>
            </a:r>
            <a:r>
              <a:rPr b="0" baseline="30000" i="0" lang="en-US" sz="2000" u="none">
                <a:solidFill>
                  <a:schemeClr val="dk1"/>
                </a:solidFill>
                <a:latin typeface="Helvetica Neue"/>
                <a:ea typeface="Helvetica Neue"/>
                <a:cs typeface="Helvetica Neue"/>
                <a:sym typeface="Helvetica Neue"/>
              </a:rPr>
              <a:t>+</a:t>
            </a:r>
            <a:br>
              <a:rPr b="0" baseline="30000" i="0" lang="en-US" sz="1800" u="none">
                <a:solidFill>
                  <a:schemeClr val="dk1"/>
                </a:solidFill>
                <a:latin typeface="Helvetica Neue"/>
                <a:ea typeface="Helvetica Neue"/>
                <a:cs typeface="Helvetica Neue"/>
                <a:sym typeface="Helvetica Neue"/>
              </a:rPr>
            </a:br>
            <a:r>
              <a:rPr b="0" baseline="30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apply reflexivity and augmentation rules on </a:t>
            </a:r>
            <a:r>
              <a:rPr b="0" i="1" lang="en-US" sz="1800" u="none">
                <a:solidFill>
                  <a:schemeClr val="dk1"/>
                </a:solidFill>
                <a:latin typeface="Helvetica Neue"/>
                <a:ea typeface="Helvetica Neue"/>
                <a:cs typeface="Helvetica Neue"/>
                <a:sym typeface="Helvetica Neue"/>
              </a:rPr>
              <a:t>f</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add the resulting functional dependencies to </a:t>
            </a:r>
            <a:r>
              <a:rPr b="0" i="1" lang="en-US" sz="1800" u="none">
                <a:solidFill>
                  <a:schemeClr val="dk1"/>
                </a:solidFill>
                <a:latin typeface="Helvetica Neue"/>
                <a:ea typeface="Helvetica Neue"/>
                <a:cs typeface="Helvetica Neue"/>
                <a:sym typeface="Helvetica Neue"/>
              </a:rPr>
              <a:t>F </a:t>
            </a:r>
            <a:r>
              <a:rPr b="0" baseline="30000" i="0" lang="en-US" sz="2000" u="none">
                <a:solidFill>
                  <a:schemeClr val="dk1"/>
                </a:solidFill>
                <a:latin typeface="Helvetica Neue"/>
                <a:ea typeface="Helvetica Neue"/>
                <a:cs typeface="Helvetica Neue"/>
                <a:sym typeface="Helvetica Neue"/>
              </a:rPr>
              <a:t>+</a:t>
            </a:r>
            <a:br>
              <a:rPr b="0" baseline="30000" i="0" lang="en-US" sz="2000" u="none">
                <a:solidFill>
                  <a:schemeClr val="dk1"/>
                </a:solidFill>
                <a:latin typeface="Helvetica Neue"/>
                <a:ea typeface="Helvetica Neue"/>
                <a:cs typeface="Helvetica Neue"/>
                <a:sym typeface="Helvetica Neue"/>
              </a:rPr>
            </a:br>
            <a:r>
              <a:rPr b="0" baseline="3000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for each </a:t>
            </a:r>
            <a:r>
              <a:rPr b="0" i="0" lang="en-US" sz="1800" u="none">
                <a:solidFill>
                  <a:schemeClr val="dk1"/>
                </a:solidFill>
                <a:latin typeface="Helvetica Neue"/>
                <a:ea typeface="Helvetica Neue"/>
                <a:cs typeface="Helvetica Neue"/>
                <a:sym typeface="Helvetica Neue"/>
              </a:rPr>
              <a:t>pair of functional dependencies </a:t>
            </a:r>
            <a:r>
              <a:rPr b="0" i="1" lang="en-US" sz="1800" u="none">
                <a:solidFill>
                  <a:schemeClr val="dk1"/>
                </a:solidFill>
                <a:latin typeface="Helvetica Neue"/>
                <a:ea typeface="Helvetica Neue"/>
                <a:cs typeface="Helvetica Neue"/>
                <a:sym typeface="Helvetica Neue"/>
              </a:rPr>
              <a:t>f</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f</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in </a:t>
            </a:r>
            <a:r>
              <a:rPr b="0" i="1" lang="en-US" sz="1800" u="none">
                <a:solidFill>
                  <a:schemeClr val="dk1"/>
                </a:solidFill>
                <a:latin typeface="Helvetica Neue"/>
                <a:ea typeface="Helvetica Neue"/>
                <a:cs typeface="Helvetica Neue"/>
                <a:sym typeface="Helvetica Neue"/>
              </a:rPr>
              <a:t>F </a:t>
            </a:r>
            <a:r>
              <a:rPr b="0" baseline="30000" i="0" lang="en-US" sz="2000" u="none">
                <a:solidFill>
                  <a:schemeClr val="dk1"/>
                </a:solidFill>
                <a:latin typeface="Helvetica Neue"/>
                <a:ea typeface="Helvetica Neue"/>
                <a:cs typeface="Helvetica Neue"/>
                <a:sym typeface="Helvetica Neue"/>
              </a:rPr>
              <a:t>+</a:t>
            </a:r>
            <a:br>
              <a:rPr b="0" baseline="30000" i="0" lang="en-US" sz="1800" u="none">
                <a:solidFill>
                  <a:schemeClr val="dk1"/>
                </a:solidFill>
                <a:latin typeface="Helvetica Neue"/>
                <a:ea typeface="Helvetica Neue"/>
                <a:cs typeface="Helvetica Neue"/>
                <a:sym typeface="Helvetica Neue"/>
              </a:rPr>
            </a:br>
            <a:r>
              <a:rPr b="0" baseline="30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if</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f</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f</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can be combined using transitivity</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then</a:t>
            </a:r>
            <a:r>
              <a:rPr b="0" i="0" lang="en-US" sz="1800" u="none">
                <a:solidFill>
                  <a:schemeClr val="dk1"/>
                </a:solidFill>
                <a:latin typeface="Helvetica Neue"/>
                <a:ea typeface="Helvetica Neue"/>
                <a:cs typeface="Helvetica Neue"/>
                <a:sym typeface="Helvetica Neue"/>
              </a:rPr>
              <a:t> add the resulting functional dependency to </a:t>
            </a:r>
            <a:r>
              <a:rPr b="0" i="1" lang="en-US" sz="1800" u="none">
                <a:solidFill>
                  <a:schemeClr val="dk1"/>
                </a:solidFill>
                <a:latin typeface="Helvetica Neue"/>
                <a:ea typeface="Helvetica Neue"/>
                <a:cs typeface="Helvetica Neue"/>
                <a:sym typeface="Helvetica Neue"/>
              </a:rPr>
              <a:t>F </a:t>
            </a:r>
            <a:r>
              <a:rPr b="0" baseline="30000" i="0" lang="en-US" sz="2000" u="none">
                <a:solidFill>
                  <a:schemeClr val="dk1"/>
                </a:solidFill>
                <a:latin typeface="Helvetica Neue"/>
                <a:ea typeface="Helvetica Neue"/>
                <a:cs typeface="Helvetica Neue"/>
                <a:sym typeface="Helvetica Neue"/>
              </a:rPr>
              <a:t>+</a:t>
            </a:r>
            <a:br>
              <a:rPr b="0" baseline="3000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until </a:t>
            </a:r>
            <a:r>
              <a:rPr b="0" i="1" lang="en-US" sz="1800" u="none">
                <a:solidFill>
                  <a:schemeClr val="dk1"/>
                </a:solidFill>
                <a:latin typeface="Helvetica Neue"/>
                <a:ea typeface="Helvetica Neue"/>
                <a:cs typeface="Helvetica Neue"/>
                <a:sym typeface="Helvetica Neue"/>
              </a:rPr>
              <a:t>F </a:t>
            </a:r>
            <a:r>
              <a:rPr b="0" baseline="30000" i="0" lang="en-US" sz="20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does not change any further</a:t>
            </a:r>
            <a:endParaRPr/>
          </a:p>
          <a:p>
            <a:pPr indent="-34290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NOTE</a:t>
            </a:r>
            <a:r>
              <a:rPr b="0" i="0" lang="en-US" sz="1800" u="none">
                <a:solidFill>
                  <a:schemeClr val="dk1"/>
                </a:solidFill>
                <a:latin typeface="Helvetica Neue"/>
                <a:ea typeface="Helvetica Neue"/>
                <a:cs typeface="Helvetica Neue"/>
                <a:sym typeface="Helvetica Neue"/>
              </a:rPr>
              <a:t>:  We shall see an alternative procedure for this task later</a:t>
            </a:r>
            <a:endParaRPr b="0" baseline="-25000" i="1"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baseline="-25000" i="1"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34" name="Shape 234"/>
        <p:cNvGrpSpPr/>
        <p:nvPr/>
      </p:nvGrpSpPr>
      <p:grpSpPr>
        <a:xfrm>
          <a:off x="0" y="0"/>
          <a:ext cx="0" cy="0"/>
          <a:chOff x="0" y="0"/>
          <a:chExt cx="0" cy="0"/>
        </a:xfrm>
      </p:grpSpPr>
      <p:sp>
        <p:nvSpPr>
          <p:cNvPr id="235" name="Google Shape;235;p33"/>
          <p:cNvSpPr txBox="1"/>
          <p:nvPr>
            <p:ph type="title"/>
          </p:nvPr>
        </p:nvSpPr>
        <p:spPr>
          <a:xfrm>
            <a:off x="863600" y="3810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Closure of Functional Dependencies (Cont.)</a:t>
            </a:r>
            <a:endParaRPr/>
          </a:p>
        </p:txBody>
      </p:sp>
      <p:sp>
        <p:nvSpPr>
          <p:cNvPr id="236" name="Google Shape;236;p33"/>
          <p:cNvSpPr txBox="1"/>
          <p:nvPr>
            <p:ph idx="1" type="body"/>
          </p:nvPr>
        </p:nvSpPr>
        <p:spPr>
          <a:xfrm>
            <a:off x="927100" y="1139825"/>
            <a:ext cx="7359650" cy="452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can further simplify manual computation of </a:t>
            </a:r>
            <a:r>
              <a:rPr b="0" i="1" lang="en-US" sz="1800" u="none">
                <a:solidFill>
                  <a:schemeClr val="dk1"/>
                </a:solidFill>
                <a:latin typeface="Helvetica Neue"/>
                <a:ea typeface="Helvetica Neue"/>
                <a:cs typeface="Helvetica Neue"/>
                <a:sym typeface="Helvetica Neue"/>
              </a:rPr>
              <a:t>F</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by using the following additional rules.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holds</a:t>
            </a:r>
            <a:r>
              <a:rPr b="0" i="1" lang="en-US" sz="1800" u="none" cap="none" strike="noStrike">
                <a:solidFill>
                  <a:schemeClr val="dk1"/>
                </a:solidFill>
                <a:latin typeface="Helvetica Neue"/>
                <a:ea typeface="Helvetica Neue"/>
                <a:cs typeface="Helvetica Neue"/>
                <a:sym typeface="Helvetica Neue"/>
              </a:rPr>
              <a:t> a</a:t>
            </a:r>
            <a:r>
              <a:rPr b="0" i="0" lang="en-US" sz="1800" u="none" cap="none" strike="noStrike">
                <a:solidFill>
                  <a:schemeClr val="dk1"/>
                </a:solidFill>
                <a:latin typeface="Helvetica Neue"/>
                <a:ea typeface="Helvetica Neue"/>
                <a:cs typeface="Helvetica Neue"/>
                <a:sym typeface="Helvetica Neue"/>
              </a:rPr>
              <a:t>nd α</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γ holds,  then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γ holds </a:t>
            </a:r>
            <a:r>
              <a:rPr b="1" i="0" lang="en-US" sz="1800" u="none" cap="none" strike="noStrike">
                <a:solidFill>
                  <a:schemeClr val="dk1"/>
                </a:solidFill>
                <a:latin typeface="Helvetica Neue"/>
                <a:ea typeface="Helvetica Neue"/>
                <a:cs typeface="Helvetica Neue"/>
                <a:sym typeface="Helvetica Neue"/>
              </a:rPr>
              <a:t>(union)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γ holds, then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holds and α</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γ holds </a:t>
            </a:r>
            <a:r>
              <a:rPr b="1" i="0" lang="en-US" sz="1800" u="none" cap="none" strike="noStrike">
                <a:solidFill>
                  <a:schemeClr val="dk1"/>
                </a:solidFill>
                <a:latin typeface="Helvetica Neue"/>
                <a:ea typeface="Helvetica Neue"/>
                <a:cs typeface="Helvetica Neue"/>
                <a:sym typeface="Helvetica Neue"/>
              </a:rPr>
              <a:t>(decomposition)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α →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holds</a:t>
            </a:r>
            <a:r>
              <a:rPr b="0" i="1" lang="en-US" sz="1800" u="none" cap="none" strike="noStrike">
                <a:solidFill>
                  <a:schemeClr val="dk1"/>
                </a:solidFill>
                <a:latin typeface="Helvetica Neue"/>
                <a:ea typeface="Helvetica Neue"/>
                <a:cs typeface="Helvetica Neue"/>
                <a:sym typeface="Helvetica Neue"/>
              </a:rPr>
              <a:t> a</a:t>
            </a:r>
            <a:r>
              <a:rPr b="0" i="0" lang="en-US" sz="1800" u="none" cap="none" strike="noStrike">
                <a:solidFill>
                  <a:schemeClr val="dk1"/>
                </a:solidFill>
                <a:latin typeface="Helvetica Neue"/>
                <a:ea typeface="Helvetica Neue"/>
                <a:cs typeface="Helvetica Neue"/>
                <a:sym typeface="Helvetica Neue"/>
              </a:rPr>
              <a:t>nd γ </a:t>
            </a:r>
            <a:r>
              <a:rPr b="0" i="1" lang="en-US" sz="1800" u="none" cap="none" strike="noStrike">
                <a:solidFill>
                  <a:schemeClr val="dk1"/>
                </a:solidFill>
                <a:latin typeface="Helvetica Neue"/>
                <a:ea typeface="Helvetica Neue"/>
                <a:cs typeface="Helvetica Neue"/>
                <a:sym typeface="Helvetica Neue"/>
              </a:rPr>
              <a:t>β </a:t>
            </a:r>
            <a:r>
              <a:rPr b="0" i="0" lang="en-US" sz="1800" u="none" cap="none" strike="noStrike">
                <a:solidFill>
                  <a:schemeClr val="dk1"/>
                </a:solidFill>
                <a:latin typeface="Helvetica Neue"/>
                <a:ea typeface="Helvetica Neue"/>
                <a:cs typeface="Helvetica Neue"/>
                <a:sym typeface="Helvetica Neue"/>
              </a:rPr>
              <a:t>→ δ holds, then α γ → δ holds</a:t>
            </a:r>
            <a:r>
              <a:rPr b="1" i="0" lang="en-US" sz="1800" u="none" cap="none" strike="noStrike">
                <a:solidFill>
                  <a:schemeClr val="dk1"/>
                </a:solidFill>
                <a:latin typeface="Helvetica Neue"/>
                <a:ea typeface="Helvetica Neue"/>
                <a:cs typeface="Helvetica Neue"/>
                <a:sym typeface="Helvetica Neue"/>
              </a:rPr>
              <a:t> (pseudotransitivity)</a:t>
            </a:r>
            <a:endParaRPr b="0" i="0"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The above rules can be inferred from Armstrong’s axioms.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40" name="Shape 240"/>
        <p:cNvGrpSpPr/>
        <p:nvPr/>
      </p:nvGrpSpPr>
      <p:grpSpPr>
        <a:xfrm>
          <a:off x="0" y="0"/>
          <a:ext cx="0" cy="0"/>
          <a:chOff x="0" y="0"/>
          <a:chExt cx="0" cy="0"/>
        </a:xfrm>
      </p:grpSpPr>
      <p:sp>
        <p:nvSpPr>
          <p:cNvPr id="241" name="Google Shape;241;p3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Closure of Attribute Sets</a:t>
            </a:r>
            <a:endParaRPr/>
          </a:p>
        </p:txBody>
      </p:sp>
      <p:sp>
        <p:nvSpPr>
          <p:cNvPr id="242" name="Google Shape;242;p34"/>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Given a set of attributes </a:t>
            </a:r>
            <a:r>
              <a:rPr b="0" i="0" lang="en-US" sz="1800" u="none">
                <a:solidFill>
                  <a:schemeClr val="dk1"/>
                </a:solidFill>
                <a:latin typeface="Noto Sans Symbols"/>
                <a:ea typeface="Noto Sans Symbols"/>
                <a:cs typeface="Noto Sans Symbols"/>
                <a:sym typeface="Noto Sans Symbols"/>
              </a:rPr>
              <a:t>α,</a:t>
            </a:r>
            <a:r>
              <a:rPr b="0" i="0" lang="en-US" sz="1800" u="none">
                <a:solidFill>
                  <a:schemeClr val="dk1"/>
                </a:solidFill>
                <a:latin typeface="Helvetica Neue"/>
                <a:ea typeface="Helvetica Neue"/>
                <a:cs typeface="Helvetica Neue"/>
                <a:sym typeface="Helvetica Neue"/>
              </a:rPr>
              <a:t> define the </a:t>
            </a:r>
            <a:r>
              <a:rPr b="0" i="1" lang="en-US" sz="1800" u="none">
                <a:solidFill>
                  <a:schemeClr val="dk2"/>
                </a:solidFill>
                <a:latin typeface="Helvetica Neue"/>
                <a:ea typeface="Helvetica Neue"/>
                <a:cs typeface="Helvetica Neue"/>
                <a:sym typeface="Helvetica Neue"/>
              </a:rPr>
              <a:t>closure</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of </a:t>
            </a:r>
            <a:r>
              <a:rPr b="0" i="0" lang="en-US" sz="1800" u="none">
                <a:solidFill>
                  <a:schemeClr val="dk1"/>
                </a:solidFill>
                <a:latin typeface="Noto Sans Symbols"/>
                <a:ea typeface="Noto Sans Symbols"/>
                <a:cs typeface="Noto Sans Symbols"/>
                <a:sym typeface="Noto Sans Symbols"/>
              </a:rPr>
              <a:t>α</a:t>
            </a:r>
            <a:r>
              <a:rPr b="0" i="0" lang="en-US" sz="1800" u="none">
                <a:solidFill>
                  <a:schemeClr val="dk1"/>
                </a:solidFill>
                <a:latin typeface="Helvetica Neue"/>
                <a:ea typeface="Helvetica Neue"/>
                <a:cs typeface="Helvetica Neue"/>
                <a:sym typeface="Helvetica Neue"/>
              </a:rPr>
              <a:t> </a:t>
            </a:r>
            <a:r>
              <a:rPr b="0" i="0" lang="en-US" sz="1800" u="none">
                <a:solidFill>
                  <a:schemeClr val="dk2"/>
                </a:solidFill>
                <a:latin typeface="Helvetica Neue"/>
                <a:ea typeface="Helvetica Neue"/>
                <a:cs typeface="Helvetica Neue"/>
                <a:sym typeface="Helvetica Neue"/>
              </a:rPr>
              <a:t>under</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(denoted by </a:t>
            </a:r>
            <a:r>
              <a:rPr b="0" i="0" lang="en-US" sz="1800" u="none">
                <a:solidFill>
                  <a:schemeClr val="dk1"/>
                </a:solidFill>
                <a:latin typeface="Noto Sans Symbols"/>
                <a:ea typeface="Noto Sans Symbols"/>
                <a:cs typeface="Noto Sans Symbols"/>
                <a:sym typeface="Noto Sans Symbols"/>
              </a:rPr>
              <a:t>α</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as the set of attributes that are functionally determined by </a:t>
            </a:r>
            <a:r>
              <a:rPr b="0" i="0" lang="en-US" sz="1800" u="none">
                <a:solidFill>
                  <a:schemeClr val="dk1"/>
                </a:solidFill>
                <a:latin typeface="Noto Sans Symbols"/>
                <a:ea typeface="Noto Sans Symbols"/>
                <a:cs typeface="Noto Sans Symbols"/>
                <a:sym typeface="Noto Sans Symbols"/>
              </a:rPr>
              <a:t>α</a:t>
            </a:r>
            <a:r>
              <a:rPr b="0" i="0" lang="en-US" sz="1800" u="none">
                <a:solidFill>
                  <a:schemeClr val="dk1"/>
                </a:solidFill>
                <a:latin typeface="Helvetica Neue"/>
                <a:ea typeface="Helvetica Neue"/>
                <a:cs typeface="Helvetica Neue"/>
                <a:sym typeface="Helvetica Neue"/>
              </a:rPr>
              <a:t> under </a:t>
            </a:r>
            <a:r>
              <a:rPr b="0" i="1" lang="en-US" sz="1800" u="none">
                <a:solidFill>
                  <a:schemeClr val="dk1"/>
                </a:solidFill>
                <a:latin typeface="Helvetica Neue"/>
                <a:ea typeface="Helvetica Neue"/>
                <a:cs typeface="Helvetica Neue"/>
                <a:sym typeface="Helvetica Neue"/>
              </a:rPr>
              <a:t>F</a:t>
            </a:r>
            <a:endParaRPr/>
          </a:p>
          <a:p>
            <a:pPr indent="-240030" lvl="0" marL="342900" marR="0" rtl="0" algn="l">
              <a:lnSpc>
                <a:spcPct val="100000"/>
              </a:lnSpc>
              <a:spcBef>
                <a:spcPts val="630"/>
              </a:spcBef>
              <a:spcAft>
                <a:spcPts val="0"/>
              </a:spcAft>
              <a:buClr>
                <a:schemeClr val="dk2"/>
              </a:buClr>
              <a:buSzPts val="1620"/>
              <a:buFont typeface="Arial"/>
              <a:buNone/>
            </a:pPr>
            <a:r>
              <a:t/>
            </a:r>
            <a:endParaRPr b="0" i="1"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 Algorithm to compute </a:t>
            </a:r>
            <a:r>
              <a:rPr b="0" i="0" lang="en-US" sz="1800" u="none">
                <a:solidFill>
                  <a:schemeClr val="dk1"/>
                </a:solidFill>
                <a:latin typeface="Noto Sans Symbols"/>
                <a:ea typeface="Noto Sans Symbols"/>
                <a:cs typeface="Noto Sans Symbols"/>
                <a:sym typeface="Noto Sans Symbols"/>
              </a:rPr>
              <a:t>α</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the closure of </a:t>
            </a:r>
            <a:r>
              <a:rPr b="0" i="0" lang="en-US" sz="1800" u="none">
                <a:solidFill>
                  <a:schemeClr val="dk1"/>
                </a:solidFill>
                <a:latin typeface="Noto Sans Symbols"/>
                <a:ea typeface="Noto Sans Symbols"/>
                <a:cs typeface="Noto Sans Symbols"/>
                <a:sym typeface="Noto Sans Symbols"/>
              </a:rPr>
              <a:t>α</a:t>
            </a:r>
            <a:r>
              <a:rPr b="0" i="0" lang="en-US" sz="1800" u="none">
                <a:solidFill>
                  <a:schemeClr val="dk1"/>
                </a:solidFill>
                <a:latin typeface="Helvetica Neue"/>
                <a:ea typeface="Helvetica Neue"/>
                <a:cs typeface="Helvetica Neue"/>
                <a:sym typeface="Helvetica Neue"/>
              </a:rPr>
              <a:t> under </a:t>
            </a:r>
            <a:r>
              <a:rPr b="0" i="1" lang="en-US" sz="1800" u="none">
                <a:solidFill>
                  <a:schemeClr val="dk1"/>
                </a:solidFill>
                <a:latin typeface="Helvetica Neue"/>
                <a:ea typeface="Helvetica Neue"/>
                <a:cs typeface="Helvetica Neue"/>
                <a:sym typeface="Helvetica Neue"/>
              </a:rPr>
              <a:t>F</a:t>
            </a:r>
            <a:br>
              <a:rPr b="0" i="1"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result </a:t>
            </a:r>
            <a:r>
              <a:rPr b="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Noto Sans Symbols"/>
                <a:ea typeface="Noto Sans Symbols"/>
                <a:cs typeface="Noto Sans Symbols"/>
                <a:sym typeface="Noto Sans Symbols"/>
              </a:rPr>
              <a:t>α</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while</a:t>
            </a:r>
            <a:r>
              <a:rPr b="0" i="0" lang="en-US" sz="1800" u="none">
                <a:solidFill>
                  <a:schemeClr val="dk1"/>
                </a:solidFill>
                <a:latin typeface="Helvetica Neue"/>
                <a:ea typeface="Helvetica Neue"/>
                <a:cs typeface="Helvetica Neue"/>
                <a:sym typeface="Helvetica Neue"/>
              </a:rPr>
              <a:t> (changes to </a:t>
            </a:r>
            <a:r>
              <a:rPr b="0" i="1" lang="en-US" sz="1800" u="none">
                <a:solidFill>
                  <a:schemeClr val="dk1"/>
                </a:solidFill>
                <a:latin typeface="Helvetica Neue"/>
                <a:ea typeface="Helvetica Neue"/>
                <a:cs typeface="Helvetica Neue"/>
                <a:sym typeface="Helvetica Neue"/>
              </a:rPr>
              <a:t>result</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do</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for each </a:t>
            </a:r>
            <a:r>
              <a:rPr b="0" i="0" lang="en-US" sz="1800" u="none">
                <a:solidFill>
                  <a:schemeClr val="dk1"/>
                </a:solidFill>
                <a:latin typeface="Helvetica Neue"/>
                <a:ea typeface="Helvetica Neue"/>
                <a:cs typeface="Helvetica Neue"/>
                <a:sym typeface="Helvetica Neue"/>
              </a:rPr>
              <a:t>β</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γ </a:t>
            </a:r>
            <a:r>
              <a:rPr b="1" i="0" lang="en-US" sz="1800" u="none">
                <a:solidFill>
                  <a:schemeClr val="dk1"/>
                </a:solidFill>
                <a:latin typeface="Helvetica Neue"/>
                <a:ea typeface="Helvetica Neue"/>
                <a:cs typeface="Helvetica Neue"/>
                <a:sym typeface="Helvetica Neue"/>
              </a:rPr>
              <a:t>in</a:t>
            </a:r>
            <a:r>
              <a:rPr b="0" i="1" lang="en-US" sz="1800" u="none">
                <a:solidFill>
                  <a:schemeClr val="dk1"/>
                </a:solidFill>
                <a:latin typeface="Helvetica Neue"/>
                <a:ea typeface="Helvetica Neue"/>
                <a:cs typeface="Helvetica Neue"/>
                <a:sym typeface="Helvetica Neue"/>
              </a:rPr>
              <a:t> F</a:t>
            </a:r>
            <a:r>
              <a:rPr b="1" i="0" lang="en-US" sz="1800" u="none">
                <a:solidFill>
                  <a:schemeClr val="dk1"/>
                </a:solidFill>
                <a:latin typeface="Helvetica Neue"/>
                <a:ea typeface="Helvetica Neue"/>
                <a:cs typeface="Helvetica Neue"/>
                <a:sym typeface="Helvetica Neue"/>
              </a:rPr>
              <a:t> do</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begin</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if </a:t>
            </a:r>
            <a:r>
              <a:rPr b="0" i="0" lang="en-US" sz="1800" u="none">
                <a:solidFill>
                  <a:schemeClr val="dk1"/>
                </a:solidFill>
                <a:latin typeface="Helvetica Neue"/>
                <a:ea typeface="Helvetica Neue"/>
                <a:cs typeface="Helvetica Neue"/>
                <a:sym typeface="Helvetica Neue"/>
              </a:rPr>
              <a:t>β</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result</a:t>
            </a:r>
            <a:r>
              <a:rPr b="1" i="0" lang="en-US" sz="1800" u="none">
                <a:solidFill>
                  <a:schemeClr val="dk1"/>
                </a:solidFill>
                <a:latin typeface="Helvetica Neue"/>
                <a:ea typeface="Helvetica Neue"/>
                <a:cs typeface="Helvetica Neue"/>
                <a:sym typeface="Helvetica Neue"/>
              </a:rPr>
              <a:t> then </a:t>
            </a:r>
            <a:r>
              <a:rPr b="0" i="1" lang="en-US" sz="1800" u="none">
                <a:solidFill>
                  <a:schemeClr val="dk1"/>
                </a:solidFill>
                <a:latin typeface="Helvetica Neue"/>
                <a:ea typeface="Helvetica Neue"/>
                <a:cs typeface="Helvetica Neue"/>
                <a:sym typeface="Helvetica Neue"/>
              </a:rPr>
              <a:t> result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result </a:t>
            </a:r>
            <a:r>
              <a:rPr b="0" i="0" lang="en-US" sz="1800" u="none">
                <a:solidFill>
                  <a:schemeClr val="dk1"/>
                </a:solidFill>
                <a:latin typeface="Helvetica Neue"/>
                <a:ea typeface="Helvetica Neue"/>
                <a:cs typeface="Helvetica Neue"/>
                <a:sym typeface="Helvetica Neue"/>
              </a:rPr>
              <a:t>∪ γ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end</a:t>
            </a:r>
            <a:endParaRPr/>
          </a:p>
          <a:p>
            <a:pPr indent="-342900" lvl="0" marL="342900" marR="0" rtl="0" algn="l">
              <a:lnSpc>
                <a:spcPct val="100000"/>
              </a:lnSpc>
              <a:spcBef>
                <a:spcPts val="630"/>
              </a:spcBef>
              <a:spcAft>
                <a:spcPts val="0"/>
              </a:spcAft>
              <a:buClr>
                <a:schemeClr val="dk2"/>
              </a:buClr>
              <a:buSzPts val="1620"/>
              <a:buFont typeface="Arial"/>
              <a:buNone/>
            </a:pPr>
            <a:r>
              <a:t/>
            </a:r>
            <a:endParaRPr b="1"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1" i="0" sz="1800" u="none">
              <a:solidFill>
                <a:schemeClr val="dk1"/>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46" name="Shape 246"/>
        <p:cNvGrpSpPr/>
        <p:nvPr/>
      </p:nvGrpSpPr>
      <p:grpSpPr>
        <a:xfrm>
          <a:off x="0" y="0"/>
          <a:ext cx="0" cy="0"/>
          <a:chOff x="0" y="0"/>
          <a:chExt cx="0" cy="0"/>
        </a:xfrm>
      </p:grpSpPr>
      <p:sp>
        <p:nvSpPr>
          <p:cNvPr id="247" name="Google Shape;247;p3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Attribute Set Closure</a:t>
            </a:r>
            <a:endParaRPr/>
          </a:p>
        </p:txBody>
      </p:sp>
      <p:sp>
        <p:nvSpPr>
          <p:cNvPr id="248" name="Google Shape;248;p35"/>
          <p:cNvSpPr txBox="1"/>
          <p:nvPr>
            <p:ph idx="1" type="body"/>
          </p:nvPr>
        </p:nvSpPr>
        <p:spPr>
          <a:xfrm>
            <a:off x="927100" y="1163637"/>
            <a:ext cx="7131050" cy="52911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 (A, B, C, G, H, I)</a:t>
            </a:r>
            <a:endParaRPr/>
          </a:p>
          <a:p>
            <a:pPr indent="-342900" lvl="0" marL="342900" marR="0" rtl="0" algn="l">
              <a:lnSpc>
                <a:spcPct val="9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F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 </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CG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CG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B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AG)</a:t>
            </a:r>
            <a:r>
              <a:rPr b="0" baseline="30000" i="0" lang="en-US" sz="1800" u="none">
                <a:solidFill>
                  <a:schemeClr val="dk1"/>
                </a:solidFill>
                <a:latin typeface="Helvetica Neue"/>
                <a:ea typeface="Helvetica Neue"/>
                <a:cs typeface="Helvetica Neue"/>
                <a:sym typeface="Helvetica Neue"/>
              </a:rPr>
              <a:t>+</a:t>
            </a:r>
            <a:endParaRPr b="0" i="0" sz="1800" u="none">
              <a:solidFill>
                <a:schemeClr val="dk1"/>
              </a:solidFill>
              <a:latin typeface="Helvetica Neue"/>
              <a:ea typeface="Helvetica Neue"/>
              <a:cs typeface="Helvetica Neue"/>
              <a:sym typeface="Helvetica Neue"/>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1.	</a:t>
            </a:r>
            <a:r>
              <a:rPr b="0" i="1" lang="en-US" sz="1800" u="none" cap="none" strike="noStrike">
                <a:solidFill>
                  <a:schemeClr val="dk1"/>
                </a:solidFill>
                <a:latin typeface="Helvetica Neue"/>
                <a:ea typeface="Helvetica Neue"/>
                <a:cs typeface="Helvetica Neue"/>
                <a:sym typeface="Helvetica Neue"/>
              </a:rPr>
              <a:t>result = AG</a:t>
            </a:r>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2.	</a:t>
            </a:r>
            <a:r>
              <a:rPr b="0" i="1" lang="en-US" sz="1800" u="none" cap="none" strike="noStrike">
                <a:solidFill>
                  <a:schemeClr val="dk1"/>
                </a:solidFill>
                <a:latin typeface="Helvetica Neue"/>
                <a:ea typeface="Helvetica Neue"/>
                <a:cs typeface="Helvetica Neue"/>
                <a:sym typeface="Helvetica Neue"/>
              </a:rPr>
              <a:t>result = ABCG	(A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B)</a:t>
            </a:r>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3.	</a:t>
            </a:r>
            <a:r>
              <a:rPr b="0" i="1" lang="en-US" sz="1800" u="none" cap="none" strike="noStrike">
                <a:solidFill>
                  <a:schemeClr val="dk1"/>
                </a:solidFill>
                <a:latin typeface="Helvetica Neue"/>
                <a:ea typeface="Helvetica Neue"/>
                <a:cs typeface="Helvetica Neue"/>
                <a:sym typeface="Helvetica Neue"/>
              </a:rPr>
              <a:t>result = ABCGH	(CG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H</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AGBC)</a:t>
            </a:r>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4.	</a:t>
            </a:r>
            <a:r>
              <a:rPr b="0" i="1" lang="en-US" sz="1800" u="none" cap="none" strike="noStrike">
                <a:solidFill>
                  <a:schemeClr val="dk1"/>
                </a:solidFill>
                <a:latin typeface="Helvetica Neue"/>
                <a:ea typeface="Helvetica Neue"/>
                <a:cs typeface="Helvetica Neue"/>
                <a:sym typeface="Helvetica Neue"/>
              </a:rPr>
              <a:t>result = ABCGHI	(CG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CG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AGBCH)</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Is </a:t>
            </a:r>
            <a:r>
              <a:rPr b="0" i="1" lang="en-US" sz="1800" u="none">
                <a:solidFill>
                  <a:schemeClr val="dk1"/>
                </a:solidFill>
                <a:latin typeface="Helvetica Neue"/>
                <a:ea typeface="Helvetica Neue"/>
                <a:cs typeface="Helvetica Neue"/>
                <a:sym typeface="Helvetica Neue"/>
              </a:rPr>
              <a:t>AG</a:t>
            </a:r>
            <a:r>
              <a:rPr b="0" i="0" lang="en-US" sz="1800" u="none">
                <a:solidFill>
                  <a:schemeClr val="dk1"/>
                </a:solidFill>
                <a:latin typeface="Helvetica Neue"/>
                <a:ea typeface="Helvetica Neue"/>
                <a:cs typeface="Helvetica Neue"/>
                <a:sym typeface="Helvetica Neue"/>
              </a:rPr>
              <a:t> a candidate key?  </a:t>
            </a:r>
            <a:endParaRPr/>
          </a:p>
          <a:p>
            <a:pPr indent="-285750" lvl="1" marL="74295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Is AG a super key?</a:t>
            </a:r>
            <a:endParaRPr/>
          </a:p>
          <a:p>
            <a:pPr indent="-228600" lvl="2" marL="1085850" marR="0" rtl="0" algn="l">
              <a:lnSpc>
                <a:spcPct val="90000"/>
              </a:lnSpc>
              <a:spcBef>
                <a:spcPts val="630"/>
              </a:spcBef>
              <a:spcAft>
                <a:spcPts val="0"/>
              </a:spcAft>
              <a:buClr>
                <a:srgbClr val="33CC33"/>
              </a:buClr>
              <a:buSzPts val="1350"/>
              <a:buFont typeface="Arial"/>
              <a:buAutoNum type="arabicPeriod"/>
            </a:pPr>
            <a:r>
              <a:rPr b="0" i="0" lang="en-US" sz="1800" u="none" cap="none" strike="noStrike">
                <a:solidFill>
                  <a:schemeClr val="dk1"/>
                </a:solidFill>
                <a:latin typeface="Helvetica Neue"/>
                <a:ea typeface="Helvetica Neue"/>
                <a:cs typeface="Helvetica Neue"/>
                <a:sym typeface="Helvetica Neue"/>
              </a:rPr>
              <a:t>Does </a:t>
            </a:r>
            <a:r>
              <a:rPr b="0" i="1" lang="en-US" sz="1800" u="none" cap="none" strike="noStrike">
                <a:solidFill>
                  <a:schemeClr val="dk1"/>
                </a:solidFill>
                <a:latin typeface="Helvetica Neue"/>
                <a:ea typeface="Helvetica Neue"/>
                <a:cs typeface="Helvetica Neue"/>
                <a:sym typeface="Helvetica Neue"/>
              </a:rPr>
              <a:t>AG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 == </a:t>
            </a:r>
            <a:r>
              <a:rPr b="0" i="0" lang="en-US" sz="1800" u="none" cap="none" strike="noStrike">
                <a:solidFill>
                  <a:schemeClr val="dk1"/>
                </a:solidFill>
                <a:latin typeface="Helvetica Neue"/>
                <a:ea typeface="Helvetica Neue"/>
                <a:cs typeface="Helvetica Neue"/>
                <a:sym typeface="Helvetica Neue"/>
              </a:rPr>
              <a:t>Is (AG)</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R</a:t>
            </a:r>
            <a:endParaRPr b="0" i="1" sz="1800" u="none" cap="none" strike="noStrike">
              <a:solidFill>
                <a:schemeClr val="dk1"/>
              </a:solidFill>
              <a:latin typeface="Helvetica Neue"/>
              <a:ea typeface="Helvetica Neue"/>
              <a:cs typeface="Helvetica Neue"/>
              <a:sym typeface="Helvetica Neue"/>
            </a:endParaRPr>
          </a:p>
          <a:p>
            <a:pPr indent="-285750" lvl="1" marL="74295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Is any subset of AG a superkey?</a:t>
            </a:r>
            <a:endParaRPr/>
          </a:p>
          <a:p>
            <a:pPr indent="-228600" lvl="2" marL="1085850" marR="0" rtl="0" algn="l">
              <a:lnSpc>
                <a:spcPct val="90000"/>
              </a:lnSpc>
              <a:spcBef>
                <a:spcPts val="630"/>
              </a:spcBef>
              <a:spcAft>
                <a:spcPts val="0"/>
              </a:spcAft>
              <a:buClr>
                <a:srgbClr val="33CC33"/>
              </a:buClr>
              <a:buSzPts val="1350"/>
              <a:buFont typeface="Arial"/>
              <a:buAutoNum type="arabicPeriod"/>
            </a:pPr>
            <a:r>
              <a:rPr b="0" i="0" lang="en-US" sz="1800" u="none" cap="none" strike="noStrike">
                <a:solidFill>
                  <a:schemeClr val="dk1"/>
                </a:solidFill>
                <a:latin typeface="Helvetica Neue"/>
                <a:ea typeface="Helvetica Neue"/>
                <a:cs typeface="Helvetica Neue"/>
                <a:sym typeface="Helvetica Neue"/>
              </a:rPr>
              <a:t>Does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Is (A)</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R</a:t>
            </a:r>
            <a:endParaRPr/>
          </a:p>
          <a:p>
            <a:pPr indent="-228600" lvl="2" marL="1085850" marR="0" rtl="0" algn="l">
              <a:lnSpc>
                <a:spcPct val="90000"/>
              </a:lnSpc>
              <a:spcBef>
                <a:spcPts val="630"/>
              </a:spcBef>
              <a:spcAft>
                <a:spcPts val="0"/>
              </a:spcAft>
              <a:buClr>
                <a:srgbClr val="33CC33"/>
              </a:buClr>
              <a:buSzPts val="1350"/>
              <a:buFont typeface="Arial"/>
              <a:buAutoNum type="arabicPeriod"/>
            </a:pPr>
            <a:r>
              <a:rPr b="0" i="0" lang="en-US" sz="1800" u="none" cap="none" strike="noStrike">
                <a:solidFill>
                  <a:schemeClr val="dk1"/>
                </a:solidFill>
                <a:latin typeface="Helvetica Neue"/>
                <a:ea typeface="Helvetica Neue"/>
                <a:cs typeface="Helvetica Neue"/>
                <a:sym typeface="Helvetica Neue"/>
              </a:rPr>
              <a:t>Does </a:t>
            </a:r>
            <a:r>
              <a:rPr b="0" i="1" lang="en-US" sz="1800" u="none" cap="none" strike="noStrike">
                <a:solidFill>
                  <a:schemeClr val="dk1"/>
                </a:solidFill>
                <a:latin typeface="Helvetica Neue"/>
                <a:ea typeface="Helvetica Neue"/>
                <a:cs typeface="Helvetica Neue"/>
                <a:sym typeface="Helvetica Neue"/>
              </a:rPr>
              <a:t>G</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 Is (G)</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52" name="Shape 252"/>
        <p:cNvGrpSpPr/>
        <p:nvPr/>
      </p:nvGrpSpPr>
      <p:grpSpPr>
        <a:xfrm>
          <a:off x="0" y="0"/>
          <a:ext cx="0" cy="0"/>
          <a:chOff x="0" y="0"/>
          <a:chExt cx="0" cy="0"/>
        </a:xfrm>
      </p:grpSpPr>
      <p:sp>
        <p:nvSpPr>
          <p:cNvPr id="253" name="Google Shape;253;p36"/>
          <p:cNvSpPr txBox="1"/>
          <p:nvPr>
            <p:ph type="title"/>
          </p:nvPr>
        </p:nvSpPr>
        <p:spPr>
          <a:xfrm>
            <a:off x="952500" y="201612"/>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Uses of Attribute Closure</a:t>
            </a:r>
            <a:endParaRPr/>
          </a:p>
        </p:txBody>
      </p:sp>
      <p:sp>
        <p:nvSpPr>
          <p:cNvPr id="254" name="Google Shape;254;p36"/>
          <p:cNvSpPr txBox="1"/>
          <p:nvPr>
            <p:ph idx="4294967295"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There are several uses of the attribute closure algorithm: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Testing for superkey:</a:t>
            </a:r>
            <a:endParaRPr/>
          </a:p>
          <a:p>
            <a:pPr indent="-285750" lvl="1" marL="742950" marR="0" rtl="0" algn="l">
              <a:lnSpc>
                <a:spcPct val="10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test if α is a superkey, we compute α</a:t>
            </a:r>
            <a:r>
              <a:rPr b="0" baseline="30000" i="0" lang="en-US" sz="2000" u="none" cap="none" strike="noStrike">
                <a:solidFill>
                  <a:schemeClr val="dk1"/>
                </a:solidFill>
                <a:latin typeface="Helvetica Neue"/>
                <a:ea typeface="Helvetica Neue"/>
                <a:cs typeface="Helvetica Neue"/>
                <a:sym typeface="Helvetica Neue"/>
              </a:rPr>
              <a:t>+</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and check if α</a:t>
            </a:r>
            <a:r>
              <a:rPr b="0" baseline="30000" i="0" lang="en-US" sz="2000" u="none" cap="none" strike="noStrike">
                <a:solidFill>
                  <a:schemeClr val="dk1"/>
                </a:solidFill>
                <a:latin typeface="Helvetica Neue"/>
                <a:ea typeface="Helvetica Neue"/>
                <a:cs typeface="Helvetica Neue"/>
                <a:sym typeface="Helvetica Neue"/>
              </a:rPr>
              <a:t>+</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contains all attributes of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Testing functional dependencies</a:t>
            </a:r>
            <a:endParaRPr/>
          </a:p>
          <a:p>
            <a:pPr indent="-285750" lvl="1" marL="742950" marR="0" rtl="0" algn="l">
              <a:lnSpc>
                <a:spcPct val="100000"/>
              </a:lnSpc>
              <a:spcBef>
                <a:spcPts val="84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check if a functional dependency α → β holds (or, in other words, is in </a:t>
            </a:r>
            <a:r>
              <a:rPr b="0" i="1" lang="en-US" sz="1800" u="none" cap="none" strike="noStrike">
                <a:solidFill>
                  <a:schemeClr val="dk1"/>
                </a:solidFill>
                <a:latin typeface="Helvetica Neue"/>
                <a:ea typeface="Helvetica Neue"/>
                <a:cs typeface="Helvetica Neue"/>
                <a:sym typeface="Helvetica Neue"/>
              </a:rPr>
              <a:t>F</a:t>
            </a:r>
            <a:r>
              <a:rPr b="0" baseline="30000" i="0" lang="en-US" sz="24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just check if β ⊆ α</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That is, we compute α</a:t>
            </a:r>
            <a:r>
              <a:rPr b="0" baseline="30000" i="0" lang="en-US" sz="2000" u="none" cap="none" strike="noStrike">
                <a:solidFill>
                  <a:schemeClr val="dk1"/>
                </a:solidFill>
                <a:latin typeface="Helvetica Neue"/>
                <a:ea typeface="Helvetica Neue"/>
                <a:cs typeface="Helvetica Neue"/>
                <a:sym typeface="Helvetica Neue"/>
              </a:rPr>
              <a:t>+</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by using attribute closure, and then check if it contains β.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Is a simple and cheap test, and very useful</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Computing closure of F</a:t>
            </a:r>
            <a:endParaRPr/>
          </a:p>
          <a:p>
            <a:pPr indent="-285750" lvl="1" marL="742950" marR="0" rtl="0" algn="l">
              <a:lnSpc>
                <a:spcPct val="10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each γ ⊆ </a:t>
            </a:r>
            <a:r>
              <a:rPr b="0" i="1" lang="en-US" sz="1800" u="none" cap="none" strike="noStrike">
                <a:solidFill>
                  <a:schemeClr val="dk1"/>
                </a:solidFill>
                <a:latin typeface="Helvetica Neue"/>
                <a:ea typeface="Helvetica Neue"/>
                <a:cs typeface="Helvetica Neue"/>
                <a:sym typeface="Helvetica Neue"/>
              </a:rPr>
              <a:t>R, </a:t>
            </a:r>
            <a:r>
              <a:rPr b="0" i="0" lang="en-US" sz="1800" u="none" cap="none" strike="noStrike">
                <a:solidFill>
                  <a:schemeClr val="dk1"/>
                </a:solidFill>
                <a:latin typeface="Helvetica Neue"/>
                <a:ea typeface="Helvetica Neue"/>
                <a:cs typeface="Helvetica Neue"/>
                <a:sym typeface="Helvetica Neue"/>
              </a:rPr>
              <a:t>we find the closure γ</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and for each </a:t>
            </a:r>
            <a:r>
              <a:rPr b="0" i="1" lang="en-US" sz="1800" u="none" cap="none" strike="noStrike">
                <a:solidFill>
                  <a:schemeClr val="dk1"/>
                </a:solidFill>
                <a:latin typeface="Helvetica Neue"/>
                <a:ea typeface="Helvetica Neue"/>
                <a:cs typeface="Helvetica Neue"/>
                <a:sym typeface="Helvetica Neue"/>
              </a:rPr>
              <a:t>S</a:t>
            </a:r>
            <a:r>
              <a:rPr b="0" i="0" lang="en-US" sz="1800" u="none" cap="none" strike="noStrike">
                <a:solidFill>
                  <a:schemeClr val="dk1"/>
                </a:solidFill>
                <a:latin typeface="Helvetica Neue"/>
                <a:ea typeface="Helvetica Neue"/>
                <a:cs typeface="Helvetica Neue"/>
                <a:sym typeface="Helvetica Neue"/>
              </a:rPr>
              <a:t> ⊆ γ</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we output a functional dependency γ → </a:t>
            </a:r>
            <a:r>
              <a:rPr b="0" i="1" lang="en-US" sz="1800" u="none" cap="none" strike="noStrike">
                <a:solidFill>
                  <a:schemeClr val="dk1"/>
                </a:solidFill>
                <a:latin typeface="Helvetica Neue"/>
                <a:ea typeface="Helvetica Neue"/>
                <a:cs typeface="Helvetica Neue"/>
                <a:sym typeface="Helvetica Neue"/>
              </a:rPr>
              <a: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58" name="Shape 258"/>
        <p:cNvGrpSpPr/>
        <p:nvPr/>
      </p:nvGrpSpPr>
      <p:grpSpPr>
        <a:xfrm>
          <a:off x="0" y="0"/>
          <a:ext cx="0" cy="0"/>
          <a:chOff x="0" y="0"/>
          <a:chExt cx="0" cy="0"/>
        </a:xfrm>
      </p:grpSpPr>
      <p:sp>
        <p:nvSpPr>
          <p:cNvPr id="259" name="Google Shape;259;p3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Canonical Cover</a:t>
            </a:r>
            <a:endParaRPr/>
          </a:p>
        </p:txBody>
      </p:sp>
      <p:sp>
        <p:nvSpPr>
          <p:cNvPr id="260" name="Google Shape;260;p37"/>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Sets of functional dependencies may have redundant dependencies that can be inferred from the others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example: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C</a:t>
            </a:r>
            <a:r>
              <a:rPr b="0" i="0" lang="en-US" sz="1800" u="none" cap="none" strike="noStrike">
                <a:solidFill>
                  <a:schemeClr val="dk1"/>
                </a:solidFill>
                <a:latin typeface="Helvetica Neue"/>
                <a:ea typeface="Helvetica Neue"/>
                <a:cs typeface="Helvetica Neue"/>
                <a:sym typeface="Helvetica Neue"/>
              </a:rPr>
              <a:t> is redundant in: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Parts of a functional dependency may be redundant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E.g.: on RHS: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CD</a:t>
            </a:r>
            <a:r>
              <a:rPr b="0" i="0" lang="en-US" sz="1800" u="none" cap="none" strike="noStrike">
                <a:solidFill>
                  <a:schemeClr val="dk1"/>
                </a:solidFill>
                <a:latin typeface="Helvetica Neue"/>
                <a:ea typeface="Helvetica Neue"/>
                <a:cs typeface="Helvetica Neue"/>
                <a:sym typeface="Helvetica Neue"/>
              </a:rPr>
              <a:t>}  can be simplified to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D</a:t>
            </a:r>
            <a:r>
              <a:rPr b="0" i="0" lang="en-US" sz="1800" u="none" cap="none" strike="noStrike">
                <a:solidFill>
                  <a:schemeClr val="dk1"/>
                </a:solidFill>
                <a:latin typeface="Helvetica Neue"/>
                <a:ea typeface="Helvetica Neue"/>
                <a:cs typeface="Helvetica Neue"/>
                <a:sym typeface="Helvetica Neue"/>
              </a:rPr>
              <a:t>}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E.g.: on LHS:    {A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AC</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D</a:t>
            </a:r>
            <a:r>
              <a:rPr b="0" i="0" lang="en-US" sz="1800" u="none" cap="none" strike="noStrike">
                <a:solidFill>
                  <a:schemeClr val="dk1"/>
                </a:solidFill>
                <a:latin typeface="Helvetica Neue"/>
                <a:ea typeface="Helvetica Neue"/>
                <a:cs typeface="Helvetica Neue"/>
                <a:sym typeface="Helvetica Neue"/>
              </a:rPr>
              <a:t>}  can be simplified to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D</a:t>
            </a:r>
            <a:r>
              <a:rPr b="0" i="0" lang="en-US" sz="1800" u="none" cap="none" strike="noStrik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Intuitively, a canonical cover of F is a “minimal” set of functional dependencies equivalent to F, having no redundant dependencies or redundant parts of dependencies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64" name="Shape 264"/>
        <p:cNvGrpSpPr/>
        <p:nvPr/>
      </p:nvGrpSpPr>
      <p:grpSpPr>
        <a:xfrm>
          <a:off x="0" y="0"/>
          <a:ext cx="0" cy="0"/>
          <a:chOff x="0" y="0"/>
          <a:chExt cx="0" cy="0"/>
        </a:xfrm>
      </p:grpSpPr>
      <p:sp>
        <p:nvSpPr>
          <p:cNvPr id="265" name="Google Shape;265;p3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Extraneous Attributes</a:t>
            </a:r>
            <a:endParaRPr/>
          </a:p>
        </p:txBody>
      </p:sp>
      <p:sp>
        <p:nvSpPr>
          <p:cNvPr id="266" name="Google Shape;266;p38"/>
          <p:cNvSpPr txBox="1"/>
          <p:nvPr>
            <p:ph idx="1" type="body"/>
          </p:nvPr>
        </p:nvSpPr>
        <p:spPr>
          <a:xfrm>
            <a:off x="927100" y="1163637"/>
            <a:ext cx="7588250" cy="525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Consider a set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of functional dependencies and the functional dependency α → β in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Attribute A is </a:t>
            </a:r>
            <a:r>
              <a:rPr b="0" i="0" lang="en-US" sz="1800" u="none" cap="none" strike="noStrike">
                <a:solidFill>
                  <a:schemeClr val="dk2"/>
                </a:solidFill>
                <a:latin typeface="Helvetica Neue"/>
                <a:ea typeface="Helvetica Neue"/>
                <a:cs typeface="Helvetica Neue"/>
                <a:sym typeface="Helvetica Neue"/>
              </a:rPr>
              <a:t>extraneous </a:t>
            </a:r>
            <a:r>
              <a:rPr b="0" i="0" lang="en-US" sz="1800" u="none" cap="none" strike="noStrike">
                <a:solidFill>
                  <a:schemeClr val="dk1"/>
                </a:solidFill>
                <a:latin typeface="Helvetica Neue"/>
                <a:ea typeface="Helvetica Neue"/>
                <a:cs typeface="Helvetica Neue"/>
                <a:sym typeface="Helvetica Neue"/>
              </a:rPr>
              <a:t>in α if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 α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logically implies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 {α → β}) ∪ {(α  –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β}.</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Attribute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is </a:t>
            </a:r>
            <a:r>
              <a:rPr b="0" i="0" lang="en-US" sz="1800" u="none" cap="none" strike="noStrike">
                <a:solidFill>
                  <a:schemeClr val="dk2"/>
                </a:solidFill>
                <a:latin typeface="Helvetica Neue"/>
                <a:ea typeface="Helvetica Neue"/>
                <a:cs typeface="Helvetica Neue"/>
                <a:sym typeface="Helvetica Neue"/>
              </a:rPr>
              <a:t>extraneous</a:t>
            </a:r>
            <a:r>
              <a:rPr b="0" i="0" lang="en-US" sz="1800" u="none" cap="none" strike="noStrike">
                <a:solidFill>
                  <a:schemeClr val="dk1"/>
                </a:solidFill>
                <a:latin typeface="Helvetica Neue"/>
                <a:ea typeface="Helvetica Neue"/>
                <a:cs typeface="Helvetica Neue"/>
                <a:sym typeface="Helvetica Neue"/>
              </a:rPr>
              <a:t> in β if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β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and the set of functional dependencies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 {α → β}) ∪ {α →</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β</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logically implies </a:t>
            </a:r>
            <a:r>
              <a:rPr b="0" i="1" lang="en-US" sz="1800" u="none" cap="none" strike="noStrike">
                <a:solidFill>
                  <a:schemeClr val="dk1"/>
                </a:solidFill>
                <a:latin typeface="Helvetica Neue"/>
                <a:ea typeface="Helvetica Neue"/>
                <a:cs typeface="Helvetica Neue"/>
                <a:sym typeface="Helvetica Neue"/>
              </a:rPr>
              <a:t>F.</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Note: </a:t>
            </a:r>
            <a:r>
              <a:rPr b="0" i="0" lang="en-US" sz="1800" u="none">
                <a:solidFill>
                  <a:schemeClr val="dk1"/>
                </a:solidFill>
                <a:latin typeface="Helvetica Neue"/>
                <a:ea typeface="Helvetica Neue"/>
                <a:cs typeface="Helvetica Neue"/>
                <a:sym typeface="Helvetica Neue"/>
              </a:rPr>
              <a:t>implication in the opposite direction is trivial in each of the cases above, since a “stronger” functional dependency always implies a weaker one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Given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AB</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is extraneous in </a:t>
            </a:r>
            <a:r>
              <a:rPr b="0" i="1" lang="en-US" sz="1800" u="none" cap="none" strike="noStrike">
                <a:solidFill>
                  <a:schemeClr val="dk1"/>
                </a:solidFill>
                <a:latin typeface="Helvetica Neue"/>
                <a:ea typeface="Helvetica Neue"/>
                <a:cs typeface="Helvetica Neue"/>
                <a:sym typeface="Helvetica Neue"/>
              </a:rPr>
              <a:t>AB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C</a:t>
            </a:r>
            <a:r>
              <a:rPr b="0" i="0" lang="en-US" sz="1800" u="none" cap="none" strike="noStrike">
                <a:solidFill>
                  <a:schemeClr val="dk1"/>
                </a:solidFill>
                <a:latin typeface="Helvetica Neue"/>
                <a:ea typeface="Helvetica Neue"/>
                <a:cs typeface="Helvetica Neue"/>
                <a:sym typeface="Helvetica Neue"/>
              </a:rPr>
              <a:t> because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 AB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C</a:t>
            </a:r>
            <a:r>
              <a:rPr b="0" i="0" lang="en-US" sz="1800" u="none" cap="none" strike="noStrike">
                <a:solidFill>
                  <a:schemeClr val="dk1"/>
                </a:solidFill>
                <a:latin typeface="Helvetica Neue"/>
                <a:ea typeface="Helvetica Neue"/>
                <a:cs typeface="Helvetica Neue"/>
                <a:sym typeface="Helvetica Neue"/>
              </a:rPr>
              <a:t>} logically implies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 </a:t>
            </a:r>
            <a:r>
              <a:rPr b="0" i="0" lang="en-US" sz="1800" u="none" cap="none" strike="noStrike">
                <a:solidFill>
                  <a:schemeClr val="dk1"/>
                </a:solidFill>
                <a:latin typeface="Helvetica Neue"/>
                <a:ea typeface="Helvetica Neue"/>
                <a:cs typeface="Helvetica Neue"/>
                <a:sym typeface="Helvetica Neue"/>
              </a:rPr>
              <a:t>(I.e. the result of dropping </a:t>
            </a:r>
            <a:r>
              <a:rPr b="0" i="1" lang="en-US" sz="1800" u="none" cap="none" strike="noStrike">
                <a:solidFill>
                  <a:schemeClr val="dk1"/>
                </a:solidFill>
                <a:latin typeface="Helvetica Neue"/>
                <a:ea typeface="Helvetica Neue"/>
                <a:cs typeface="Helvetica Neue"/>
                <a:sym typeface="Helvetica Neue"/>
              </a:rPr>
              <a:t>B </a:t>
            </a:r>
            <a:r>
              <a:rPr b="0" i="0" lang="en-US" sz="1800" u="none" cap="none" strike="noStrike">
                <a:solidFill>
                  <a:schemeClr val="dk1"/>
                </a:solidFill>
                <a:latin typeface="Helvetica Neue"/>
                <a:ea typeface="Helvetica Neue"/>
                <a:cs typeface="Helvetica Neue"/>
                <a:sym typeface="Helvetica Neue"/>
              </a:rPr>
              <a:t>from </a:t>
            </a:r>
            <a:r>
              <a:rPr b="0" i="1" lang="en-US" sz="1800" u="none" cap="none" strike="noStrike">
                <a:solidFill>
                  <a:schemeClr val="dk1"/>
                </a:solidFill>
                <a:latin typeface="Helvetica Neue"/>
                <a:ea typeface="Helvetica Neue"/>
                <a:cs typeface="Helvetica Neue"/>
                <a:sym typeface="Helvetica Neue"/>
              </a:rPr>
              <a:t>AB</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C</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Given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AB</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CD}</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is extraneous in </a:t>
            </a:r>
            <a:r>
              <a:rPr b="0" i="1" lang="en-US" sz="1800" u="none" cap="none" strike="noStrike">
                <a:solidFill>
                  <a:schemeClr val="dk1"/>
                </a:solidFill>
                <a:latin typeface="Helvetica Neue"/>
                <a:ea typeface="Helvetica Neue"/>
                <a:cs typeface="Helvetica Neue"/>
                <a:sym typeface="Helvetica Neue"/>
              </a:rPr>
              <a:t>AB</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CD</a:t>
            </a:r>
            <a:r>
              <a:rPr b="0" i="0" lang="en-US" sz="1800" u="none" cap="none" strike="noStrike">
                <a:solidFill>
                  <a:schemeClr val="dk1"/>
                </a:solidFill>
                <a:latin typeface="Helvetica Neue"/>
                <a:ea typeface="Helvetica Neue"/>
                <a:cs typeface="Helvetica Neue"/>
                <a:sym typeface="Helvetica Neue"/>
              </a:rPr>
              <a:t> since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B →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can be inferred even after deleting </a:t>
            </a:r>
            <a:r>
              <a:rPr b="0" i="1" lang="en-US" sz="1800" u="none" cap="none" strike="noStrike">
                <a:solidFill>
                  <a:schemeClr val="dk1"/>
                </a:solidFill>
                <a:latin typeface="Helvetica Neue"/>
                <a:ea typeface="Helvetica Neue"/>
                <a:cs typeface="Helvetica Neue"/>
                <a:sym typeface="Helvetica Neue"/>
              </a:rPr>
              <a:t>C</a:t>
            </a:r>
            <a:endParaRPr/>
          </a:p>
          <a:p>
            <a:pPr indent="-240030" lvl="0" marL="342900" marR="0" rtl="0" algn="l">
              <a:lnSpc>
                <a:spcPct val="100000"/>
              </a:lnSpc>
              <a:spcBef>
                <a:spcPts val="630"/>
              </a:spcBef>
              <a:spcAft>
                <a:spcPts val="0"/>
              </a:spcAft>
              <a:buClr>
                <a:schemeClr val="dk2"/>
              </a:buClr>
              <a:buSzPts val="1620"/>
              <a:buFont typeface="Arial"/>
              <a:buNone/>
            </a:pPr>
            <a:r>
              <a:t/>
            </a:r>
            <a:endParaRPr b="0" i="1"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70" name="Shape 270"/>
        <p:cNvGrpSpPr/>
        <p:nvPr/>
      </p:nvGrpSpPr>
      <p:grpSpPr>
        <a:xfrm>
          <a:off x="0" y="0"/>
          <a:ext cx="0" cy="0"/>
          <a:chOff x="0" y="0"/>
          <a:chExt cx="0" cy="0"/>
        </a:xfrm>
      </p:grpSpPr>
      <p:sp>
        <p:nvSpPr>
          <p:cNvPr id="271" name="Google Shape;271;p39"/>
          <p:cNvSpPr txBox="1"/>
          <p:nvPr>
            <p:ph type="title"/>
          </p:nvPr>
        </p:nvSpPr>
        <p:spPr>
          <a:xfrm>
            <a:off x="1123950" y="66675"/>
            <a:ext cx="7685087"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Testing if an Attribute is Extraneous</a:t>
            </a:r>
            <a:endParaRPr/>
          </a:p>
        </p:txBody>
      </p:sp>
      <p:sp>
        <p:nvSpPr>
          <p:cNvPr id="272" name="Google Shape;272;p39"/>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Consider a set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of functional dependencies and the functional dependency α → β in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test if attribute A ∈ α is extraneous</a:t>
            </a:r>
            <a:r>
              <a:rPr b="0" i="0" lang="en-US" sz="1800" u="none">
                <a:solidFill>
                  <a:schemeClr val="dk2"/>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in</a:t>
            </a:r>
            <a:r>
              <a:rPr b="0" i="0" lang="en-US" sz="1800" u="none">
                <a:solidFill>
                  <a:schemeClr val="dk2"/>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α</a:t>
            </a:r>
            <a:r>
              <a:rPr b="0" i="0" lang="en-US" sz="1800" u="none">
                <a:solidFill>
                  <a:schemeClr val="dk2"/>
                </a:solidFill>
                <a:latin typeface="Helvetica Neue"/>
                <a:ea typeface="Helvetica Neue"/>
                <a:cs typeface="Helvetica Neue"/>
                <a:sym typeface="Helvetica Neue"/>
              </a:rPr>
              <a:t> </a:t>
            </a:r>
            <a:endParaRPr/>
          </a:p>
          <a:p>
            <a:pPr indent="-285750" lvl="1" marL="742950" marR="0" rtl="0" algn="l">
              <a:lnSpc>
                <a:spcPct val="100000"/>
              </a:lnSpc>
              <a:spcBef>
                <a:spcPts val="70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compute ({α} – A)</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using the dependencies in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70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 check that ({α} – A)</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contains β; if it does,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is extraneous in</a:t>
            </a:r>
            <a:r>
              <a:rPr b="0" i="0" lang="en-US" sz="1800" u="none" cap="none" strike="noStrike">
                <a:solidFill>
                  <a:schemeClr val="dk2"/>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α</a:t>
            </a:r>
            <a:r>
              <a:rPr b="0" i="0" lang="en-US" sz="1800" u="none" cap="none" strike="noStrike">
                <a:solidFill>
                  <a:schemeClr val="dk2"/>
                </a:solidFill>
                <a:latin typeface="Helvetica Neue"/>
                <a:ea typeface="Helvetica Neue"/>
                <a:cs typeface="Helvetica Neue"/>
                <a:sym typeface="Helvetica Neue"/>
              </a:rPr>
              <a:t> </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test if attribute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 β  is extraneous in β </a:t>
            </a:r>
            <a:endParaRPr/>
          </a:p>
          <a:p>
            <a:pPr indent="-285750" lvl="1" marL="742950" marR="0" rtl="0" algn="l">
              <a:lnSpc>
                <a:spcPct val="100000"/>
              </a:lnSpc>
              <a:spcBef>
                <a:spcPts val="70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compute α</a:t>
            </a:r>
            <a:r>
              <a:rPr b="0" baseline="30000" i="0" lang="en-US" sz="20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using only the dependencies in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F’ =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 {α → β}) ∪ {α →</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β</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70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 check that α</a:t>
            </a:r>
            <a:r>
              <a:rPr b="0" baseline="30000" i="0" lang="en-US" sz="20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contains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if it does</a:t>
            </a:r>
            <a:r>
              <a:rPr b="0" i="1" lang="en-US" sz="1800" u="none" cap="none" strike="noStrike">
                <a:solidFill>
                  <a:schemeClr val="dk1"/>
                </a:solidFill>
                <a:latin typeface="Helvetica Neue"/>
                <a:ea typeface="Helvetica Neue"/>
                <a:cs typeface="Helvetica Neue"/>
                <a:sym typeface="Helvetica Neue"/>
              </a:rPr>
              <a:t>, A </a:t>
            </a:r>
            <a:r>
              <a:rPr b="0" i="0" lang="en-US" sz="1800" u="none" cap="none" strike="noStrike">
                <a:solidFill>
                  <a:schemeClr val="dk1"/>
                </a:solidFill>
                <a:latin typeface="Helvetica Neue"/>
                <a:ea typeface="Helvetica Neue"/>
                <a:cs typeface="Helvetica Neue"/>
                <a:sym typeface="Helvetica Neue"/>
              </a:rPr>
              <a:t>is extraneous in β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76" name="Shape 276"/>
        <p:cNvGrpSpPr/>
        <p:nvPr/>
      </p:nvGrpSpPr>
      <p:grpSpPr>
        <a:xfrm>
          <a:off x="0" y="0"/>
          <a:ext cx="0" cy="0"/>
          <a:chOff x="0" y="0"/>
          <a:chExt cx="0" cy="0"/>
        </a:xfrm>
      </p:grpSpPr>
      <p:sp>
        <p:nvSpPr>
          <p:cNvPr id="277" name="Google Shape;277;p4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Canonical Cover</a:t>
            </a:r>
            <a:endParaRPr/>
          </a:p>
        </p:txBody>
      </p:sp>
      <p:sp>
        <p:nvSpPr>
          <p:cNvPr id="278" name="Google Shape;278;p40"/>
          <p:cNvSpPr txBox="1"/>
          <p:nvPr>
            <p:ph idx="1" type="body"/>
          </p:nvPr>
        </p:nvSpPr>
        <p:spPr>
          <a:xfrm>
            <a:off x="927100" y="1163637"/>
            <a:ext cx="8223250" cy="5210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0" i="1" lang="en-US" sz="1800" u="none">
                <a:solidFill>
                  <a:schemeClr val="dk2"/>
                </a:solidFill>
                <a:latin typeface="Helvetica Neue"/>
                <a:ea typeface="Helvetica Neue"/>
                <a:cs typeface="Helvetica Neue"/>
                <a:sym typeface="Helvetica Neue"/>
              </a:rPr>
              <a:t>canonical cover</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for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is a set of dependencies </a:t>
            </a:r>
            <a:r>
              <a:rPr b="0" i="1" lang="en-US" sz="1800" u="none">
                <a:solidFill>
                  <a:schemeClr val="dk1"/>
                </a:solidFill>
                <a:latin typeface="Helvetica Neue"/>
                <a:ea typeface="Helvetica Neue"/>
                <a:cs typeface="Helvetica Neue"/>
                <a:sym typeface="Helvetica Neue"/>
              </a:rPr>
              <a:t>F</a:t>
            </a:r>
            <a:r>
              <a:rPr b="0" baseline="-25000" i="1" lang="en-US" sz="1800" u="none">
                <a:solidFill>
                  <a:schemeClr val="dk1"/>
                </a:solidFill>
                <a:latin typeface="Helvetica Neue"/>
                <a:ea typeface="Helvetica Neue"/>
                <a:cs typeface="Helvetica Neue"/>
                <a:sym typeface="Helvetica Neue"/>
              </a:rPr>
              <a:t>c </a:t>
            </a:r>
            <a:r>
              <a:rPr b="0" i="0" lang="en-US" sz="1800" u="none">
                <a:solidFill>
                  <a:schemeClr val="dk1"/>
                </a:solidFill>
                <a:latin typeface="Helvetica Neue"/>
                <a:ea typeface="Helvetica Neue"/>
                <a:cs typeface="Helvetica Neue"/>
                <a:sym typeface="Helvetica Neue"/>
              </a:rPr>
              <a:t>such that </a:t>
            </a:r>
            <a:endParaRPr/>
          </a:p>
          <a:p>
            <a:pPr indent="-285750" lvl="1" marL="742950" marR="0" rtl="0" algn="l">
              <a:lnSpc>
                <a:spcPct val="9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logically implies all dependencies in </a:t>
            </a:r>
            <a:r>
              <a:rPr b="0" i="1" lang="en-US" sz="1800" u="none" cap="none" strike="noStrike">
                <a:solidFill>
                  <a:schemeClr val="dk1"/>
                </a:solidFill>
                <a:latin typeface="Helvetica Neue"/>
                <a:ea typeface="Helvetica Neue"/>
                <a:cs typeface="Helvetica Neue"/>
                <a:sym typeface="Helvetica Neue"/>
              </a:rPr>
              <a:t>F</a:t>
            </a:r>
            <a:r>
              <a:rPr b="0" baseline="-2500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and </a:t>
            </a:r>
            <a:endParaRPr/>
          </a:p>
          <a:p>
            <a:pPr indent="-285750" lvl="1" marL="742950" marR="0" rtl="0" algn="l">
              <a:lnSpc>
                <a:spcPct val="9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F</a:t>
            </a:r>
            <a:r>
              <a:rPr b="0" baseline="-25000" i="1" lang="en-US" sz="1800" u="none" cap="none" strike="noStrike">
                <a:solidFill>
                  <a:schemeClr val="dk1"/>
                </a:solidFill>
                <a:latin typeface="Helvetica Neue"/>
                <a:ea typeface="Helvetica Neue"/>
                <a:cs typeface="Helvetica Neue"/>
                <a:sym typeface="Helvetica Neue"/>
              </a:rPr>
              <a:t>c</a:t>
            </a:r>
            <a:r>
              <a:rPr b="0" baseline="-25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logically implies all dependencies in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and</a:t>
            </a:r>
            <a:endParaRPr/>
          </a:p>
          <a:p>
            <a:pPr indent="-285750" lvl="1" marL="742950" marR="0" rtl="0" algn="l">
              <a:lnSpc>
                <a:spcPct val="9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 functional dependency in </a:t>
            </a:r>
            <a:r>
              <a:rPr b="0" i="1" lang="en-US" sz="1800" u="none" cap="none" strike="noStrike">
                <a:solidFill>
                  <a:schemeClr val="dk1"/>
                </a:solidFill>
                <a:latin typeface="Helvetica Neue"/>
                <a:ea typeface="Helvetica Neue"/>
                <a:cs typeface="Helvetica Neue"/>
                <a:sym typeface="Helvetica Neue"/>
              </a:rPr>
              <a:t>F</a:t>
            </a:r>
            <a:r>
              <a:rPr b="0" baseline="-25000" i="1" lang="en-US" sz="2000" u="none" cap="none" strike="noStrike">
                <a:solidFill>
                  <a:schemeClr val="dk1"/>
                </a:solidFill>
                <a:latin typeface="Helvetica Neue"/>
                <a:ea typeface="Helvetica Neue"/>
                <a:cs typeface="Helvetica Neue"/>
                <a:sym typeface="Helvetica Neue"/>
              </a:rPr>
              <a:t>c</a:t>
            </a:r>
            <a:r>
              <a:rPr b="0" i="0" lang="en-US" sz="20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contains an extraneous attribute, and</a:t>
            </a:r>
            <a:endParaRPr/>
          </a:p>
          <a:p>
            <a:pPr indent="-285750" lvl="1" marL="742950" marR="0" rtl="0" algn="l">
              <a:lnSpc>
                <a:spcPct val="9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left side of functional dependency in </a:t>
            </a:r>
            <a:r>
              <a:rPr b="0" i="1" lang="en-US" sz="1800" u="none" cap="none" strike="noStrike">
                <a:solidFill>
                  <a:schemeClr val="dk1"/>
                </a:solidFill>
                <a:latin typeface="Helvetica Neue"/>
                <a:ea typeface="Helvetica Neue"/>
                <a:cs typeface="Helvetica Neue"/>
                <a:sym typeface="Helvetica Neue"/>
              </a:rPr>
              <a:t>F</a:t>
            </a:r>
            <a:r>
              <a:rPr b="0" baseline="-25000" i="1" lang="en-US" sz="2000" u="none" cap="none" strike="noStrike">
                <a:solidFill>
                  <a:schemeClr val="dk1"/>
                </a:solidFill>
                <a:latin typeface="Helvetica Neue"/>
                <a:ea typeface="Helvetica Neue"/>
                <a:cs typeface="Helvetica Neue"/>
                <a:sym typeface="Helvetica Neue"/>
              </a:rPr>
              <a:t>c</a:t>
            </a:r>
            <a:r>
              <a:rPr b="0" i="1" lang="en-US" sz="20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is unique.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compute a canonical cover for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repeat</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Use the union rule to replace any dependencies in </a:t>
            </a:r>
            <a:r>
              <a:rPr b="0" i="1" lang="en-US" sz="1800" u="none">
                <a:solidFill>
                  <a:schemeClr val="dk1"/>
                </a:solidFill>
                <a:latin typeface="Helvetica Neue"/>
                <a:ea typeface="Helvetica Neue"/>
                <a:cs typeface="Helvetica Neue"/>
                <a:sym typeface="Helvetica Neue"/>
              </a:rPr>
              <a:t>F</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α</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 β</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and α</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 β</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with α</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 β</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β</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Find a functional dependency α → β with an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extraneous attribute either in α or in β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If an extraneous attribute is found, delete it from α → β</a:t>
            </a:r>
            <a:r>
              <a:rPr b="0" i="1"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until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does not change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Note: Union rule may become applicable after some extraneous attributes have been deleted, so it has to be re-applied</a:t>
            </a:r>
            <a:endParaRPr/>
          </a:p>
          <a:p>
            <a:pPr indent="-240030" lvl="0" marL="342900" marR="0" rtl="0" algn="l">
              <a:lnSpc>
                <a:spcPct val="9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82" name="Shape 282"/>
        <p:cNvGrpSpPr/>
        <p:nvPr/>
      </p:nvGrpSpPr>
      <p:grpSpPr>
        <a:xfrm>
          <a:off x="0" y="0"/>
          <a:ext cx="0" cy="0"/>
          <a:chOff x="0" y="0"/>
          <a:chExt cx="0" cy="0"/>
        </a:xfrm>
      </p:grpSpPr>
      <p:sp>
        <p:nvSpPr>
          <p:cNvPr id="283" name="Google Shape;283;p41"/>
          <p:cNvSpPr txBox="1"/>
          <p:nvPr>
            <p:ph type="title"/>
          </p:nvPr>
        </p:nvSpPr>
        <p:spPr>
          <a:xfrm>
            <a:off x="919162" y="223837"/>
            <a:ext cx="8277225"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Computing a Canonical Cover</a:t>
            </a:r>
            <a:endParaRPr/>
          </a:p>
        </p:txBody>
      </p:sp>
      <p:sp>
        <p:nvSpPr>
          <p:cNvPr id="284" name="Google Shape;284;p41"/>
          <p:cNvSpPr txBox="1"/>
          <p:nvPr>
            <p:ph idx="1" type="body"/>
          </p:nvPr>
        </p:nvSpPr>
        <p:spPr>
          <a:xfrm>
            <a:off x="927100" y="1163637"/>
            <a:ext cx="8220075" cy="5464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40"/>
              <a:buFont typeface="Arial"/>
              <a:buChar char="●"/>
            </a:pPr>
            <a:r>
              <a:rPr b="0" i="1" lang="en-US" sz="1600" u="none">
                <a:solidFill>
                  <a:schemeClr val="dk1"/>
                </a:solidFill>
                <a:latin typeface="Helvetica Neue"/>
                <a:ea typeface="Helvetica Neue"/>
                <a:cs typeface="Helvetica Neue"/>
                <a:sym typeface="Helvetica Neue"/>
              </a:rPr>
              <a:t>R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A, B, C)</a:t>
            </a:r>
            <a:br>
              <a:rPr b="0" i="1" lang="en-US" sz="1600" u="none">
                <a:solidFill>
                  <a:schemeClr val="dk1"/>
                </a:solidFill>
                <a:latin typeface="Helvetica Neue"/>
                <a:ea typeface="Helvetica Neue"/>
                <a:cs typeface="Helvetica Neue"/>
                <a:sym typeface="Helvetica Neue"/>
              </a:rPr>
            </a:br>
            <a:r>
              <a:rPr b="0" i="1" lang="en-US" sz="1600" u="none">
                <a:solidFill>
                  <a:schemeClr val="dk1"/>
                </a:solidFill>
                <a:latin typeface="Helvetica Neue"/>
                <a:ea typeface="Helvetica Neue"/>
                <a:cs typeface="Helvetica Neue"/>
                <a:sym typeface="Helvetica Neue"/>
              </a:rPr>
              <a:t>F = {A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BC</a:t>
            </a:r>
            <a:br>
              <a:rPr b="0" i="1" lang="en-US" sz="1600" u="none">
                <a:solidFill>
                  <a:schemeClr val="dk1"/>
                </a:solidFill>
                <a:latin typeface="Helvetica Neue"/>
                <a:ea typeface="Helvetica Neue"/>
                <a:cs typeface="Helvetica Neue"/>
                <a:sym typeface="Helvetica Neue"/>
              </a:rPr>
            </a:br>
            <a:r>
              <a:rPr b="0" i="1" lang="en-US" sz="1600" u="none">
                <a:solidFill>
                  <a:schemeClr val="dk1"/>
                </a:solidFill>
                <a:latin typeface="Helvetica Neue"/>
                <a:ea typeface="Helvetica Neue"/>
                <a:cs typeface="Helvetica Neue"/>
                <a:sym typeface="Helvetica Neue"/>
              </a:rPr>
              <a:t>	  B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C</a:t>
            </a:r>
            <a:br>
              <a:rPr b="0" i="1" lang="en-US" sz="1600" u="none">
                <a:solidFill>
                  <a:schemeClr val="dk1"/>
                </a:solidFill>
                <a:latin typeface="Helvetica Neue"/>
                <a:ea typeface="Helvetica Neue"/>
                <a:cs typeface="Helvetica Neue"/>
                <a:sym typeface="Helvetica Neue"/>
              </a:rPr>
            </a:br>
            <a:r>
              <a:rPr b="0" i="1" lang="en-US" sz="1600" u="none">
                <a:solidFill>
                  <a:schemeClr val="dk1"/>
                </a:solidFill>
                <a:latin typeface="Helvetica Neue"/>
                <a:ea typeface="Helvetica Neue"/>
                <a:cs typeface="Helvetica Neue"/>
                <a:sym typeface="Helvetica Neue"/>
              </a:rPr>
              <a:t>	  A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a:t>
            </a:r>
            <a:br>
              <a:rPr b="0" i="0" lang="en-US" sz="1600" u="none">
                <a:solidFill>
                  <a:schemeClr val="dk1"/>
                </a:solidFill>
                <a:latin typeface="Helvetica Neue"/>
                <a:ea typeface="Helvetica Neue"/>
                <a:cs typeface="Helvetica Neue"/>
                <a:sym typeface="Helvetica Neue"/>
              </a:rPr>
            </a:b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AB</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C</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Combine </a:t>
            </a:r>
            <a:r>
              <a:rPr b="0" i="1" lang="en-US" sz="1600" u="none">
                <a:solidFill>
                  <a:schemeClr val="dk1"/>
                </a:solidFill>
                <a:latin typeface="Helvetica Neue"/>
                <a:ea typeface="Helvetica Neue"/>
                <a:cs typeface="Helvetica Neue"/>
                <a:sym typeface="Helvetica Neue"/>
              </a:rPr>
              <a:t>A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BC </a:t>
            </a:r>
            <a:r>
              <a:rPr b="0" i="0" lang="en-US" sz="1600" u="none">
                <a:solidFill>
                  <a:schemeClr val="dk1"/>
                </a:solidFill>
                <a:latin typeface="Helvetica Neue"/>
                <a:ea typeface="Helvetica Neue"/>
                <a:cs typeface="Helvetica Neue"/>
                <a:sym typeface="Helvetica Neue"/>
              </a:rPr>
              <a:t>and </a:t>
            </a:r>
            <a:r>
              <a:rPr b="0" i="1" lang="en-US" sz="1600" u="none">
                <a:solidFill>
                  <a:schemeClr val="dk1"/>
                </a:solidFill>
                <a:latin typeface="Helvetica Neue"/>
                <a:ea typeface="Helvetica Neue"/>
                <a:cs typeface="Helvetica Neue"/>
                <a:sym typeface="Helvetica Neue"/>
              </a:rPr>
              <a:t>A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 </a:t>
            </a:r>
            <a:r>
              <a:rPr b="0" i="0" lang="en-US" sz="1600" u="none">
                <a:solidFill>
                  <a:schemeClr val="dk1"/>
                </a:solidFill>
                <a:latin typeface="Helvetica Neue"/>
                <a:ea typeface="Helvetica Neue"/>
                <a:cs typeface="Helvetica Neue"/>
                <a:sym typeface="Helvetica Neue"/>
              </a:rPr>
              <a:t>into </a:t>
            </a:r>
            <a:r>
              <a:rPr b="0" i="1" lang="en-US" sz="1600" u="none">
                <a:solidFill>
                  <a:schemeClr val="dk1"/>
                </a:solidFill>
                <a:latin typeface="Helvetica Neue"/>
                <a:ea typeface="Helvetica Neue"/>
                <a:cs typeface="Helvetica Neue"/>
                <a:sym typeface="Helvetica Neue"/>
              </a:rPr>
              <a:t>A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BC</a:t>
            </a:r>
            <a:endParaRPr/>
          </a:p>
          <a:p>
            <a:pPr indent="-285750" lvl="1" marL="742950" marR="0" rtl="0" algn="l">
              <a:lnSpc>
                <a:spcPct val="10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Set is now </a:t>
            </a:r>
            <a:r>
              <a:rPr b="0" i="1" lang="en-US" sz="1600" u="none" cap="none" strike="noStrike">
                <a:solidFill>
                  <a:schemeClr val="dk1"/>
                </a:solidFill>
                <a:latin typeface="Helvetica Neue"/>
                <a:ea typeface="Helvetica Neue"/>
                <a:cs typeface="Helvetica Neue"/>
                <a:sym typeface="Helvetica Neue"/>
              </a:rPr>
              <a:t>{A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BC, B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C, AB</a:t>
            </a:r>
            <a:r>
              <a:rPr b="0" i="0" lang="en-US" sz="1600" u="none" cap="none" strike="noStrike">
                <a:solidFill>
                  <a:schemeClr val="dk1"/>
                </a:solidFill>
                <a:latin typeface="Helvetica Neue"/>
                <a:ea typeface="Helvetica Neue"/>
                <a:cs typeface="Helvetica Neue"/>
                <a:sym typeface="Helvetica Neue"/>
              </a:rPr>
              <a:t> → </a:t>
            </a:r>
            <a:r>
              <a:rPr b="0" i="1" lang="en-US" sz="1600" u="none" cap="none" strike="noStrike">
                <a:solidFill>
                  <a:schemeClr val="dk1"/>
                </a:solidFill>
                <a:latin typeface="Helvetica Neue"/>
                <a:ea typeface="Helvetica Neue"/>
                <a:cs typeface="Helvetica Neue"/>
                <a:sym typeface="Helvetica Neue"/>
              </a:rPr>
              <a:t>C</a:t>
            </a:r>
            <a:r>
              <a:rPr b="0" i="0" lang="en-US" sz="16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 is extraneous in </a:t>
            </a:r>
            <a:r>
              <a:rPr b="0" i="1" lang="en-US" sz="1600" u="none">
                <a:solidFill>
                  <a:schemeClr val="dk1"/>
                </a:solidFill>
                <a:latin typeface="Helvetica Neue"/>
                <a:ea typeface="Helvetica Neue"/>
                <a:cs typeface="Helvetica Neue"/>
                <a:sym typeface="Helvetica Neue"/>
              </a:rPr>
              <a:t>AB</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C</a:t>
            </a:r>
            <a:endParaRPr/>
          </a:p>
          <a:p>
            <a:pPr indent="-285750" lvl="1" marL="742950" marR="0" rtl="0" algn="l">
              <a:lnSpc>
                <a:spcPct val="10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Check if the result of deleting A from  </a:t>
            </a:r>
            <a:r>
              <a:rPr b="0" i="1" lang="en-US" sz="1600" u="none" cap="none" strike="noStrike">
                <a:solidFill>
                  <a:schemeClr val="dk1"/>
                </a:solidFill>
                <a:latin typeface="Helvetica Neue"/>
                <a:ea typeface="Helvetica Neue"/>
                <a:cs typeface="Helvetica Neue"/>
                <a:sym typeface="Helvetica Neue"/>
              </a:rPr>
              <a:t>AB</a:t>
            </a:r>
            <a:r>
              <a:rPr b="0" i="0" lang="en-US" sz="1600" u="none" cap="none" strike="noStrike">
                <a:solidFill>
                  <a:schemeClr val="dk1"/>
                </a:solidFill>
                <a:latin typeface="Helvetica Neue"/>
                <a:ea typeface="Helvetica Neue"/>
                <a:cs typeface="Helvetica Neue"/>
                <a:sym typeface="Helvetica Neue"/>
              </a:rPr>
              <a:t> → </a:t>
            </a:r>
            <a:r>
              <a:rPr b="0" i="1" lang="en-US" sz="1600" u="none" cap="none" strike="noStrike">
                <a:solidFill>
                  <a:schemeClr val="dk1"/>
                </a:solidFill>
                <a:latin typeface="Helvetica Neue"/>
                <a:ea typeface="Helvetica Neue"/>
                <a:cs typeface="Helvetica Neue"/>
                <a:sym typeface="Helvetica Neue"/>
              </a:rPr>
              <a:t>C  </a:t>
            </a:r>
            <a:r>
              <a:rPr b="0" i="0" lang="en-US" sz="1600" u="none" cap="none" strike="noStrike">
                <a:solidFill>
                  <a:schemeClr val="dk1"/>
                </a:solidFill>
                <a:latin typeface="Helvetica Neue"/>
                <a:ea typeface="Helvetica Neue"/>
                <a:cs typeface="Helvetica Neue"/>
                <a:sym typeface="Helvetica Neue"/>
              </a:rPr>
              <a:t>is implied by the other dependencies</a:t>
            </a:r>
            <a:endParaRPr/>
          </a:p>
          <a:p>
            <a:pPr indent="-228600" lvl="2" marL="1085850" marR="0" rtl="0" algn="l">
              <a:lnSpc>
                <a:spcPct val="100000"/>
              </a:lnSpc>
              <a:spcBef>
                <a:spcPts val="560"/>
              </a:spcBef>
              <a:spcAft>
                <a:spcPts val="0"/>
              </a:spcAft>
              <a:buClr>
                <a:srgbClr val="33CC33"/>
              </a:buClr>
              <a:buSzPts val="1200"/>
              <a:buFont typeface="Arimo"/>
              <a:buChar char="4"/>
            </a:pPr>
            <a:r>
              <a:rPr b="0" i="0" lang="en-US" sz="1600" u="none" cap="none" strike="noStrike">
                <a:solidFill>
                  <a:schemeClr val="dk1"/>
                </a:solidFill>
                <a:latin typeface="Helvetica Neue"/>
                <a:ea typeface="Helvetica Neue"/>
                <a:cs typeface="Helvetica Neue"/>
                <a:sym typeface="Helvetica Neue"/>
              </a:rPr>
              <a:t>Yes: in fact,  </a:t>
            </a:r>
            <a:r>
              <a:rPr b="0" i="1" lang="en-US" sz="1600" u="none" cap="none" strike="noStrike">
                <a:solidFill>
                  <a:schemeClr val="dk1"/>
                </a:solidFill>
                <a:latin typeface="Helvetica Neue"/>
                <a:ea typeface="Helvetica Neue"/>
                <a:cs typeface="Helvetica Neue"/>
                <a:sym typeface="Helvetica Neue"/>
              </a:rPr>
              <a:t>B</a:t>
            </a:r>
            <a:r>
              <a:rPr b="0" i="0" lang="en-US" sz="1600" u="none" cap="none" strike="noStrike">
                <a:solidFill>
                  <a:schemeClr val="dk1"/>
                </a:solidFill>
                <a:latin typeface="Helvetica Neue"/>
                <a:ea typeface="Helvetica Neue"/>
                <a:cs typeface="Helvetica Neue"/>
                <a:sym typeface="Helvetica Neue"/>
              </a:rPr>
              <a:t> → </a:t>
            </a:r>
            <a:r>
              <a:rPr b="0" i="1" lang="en-US" sz="1600" u="none" cap="none" strike="noStrike">
                <a:solidFill>
                  <a:schemeClr val="dk1"/>
                </a:solidFill>
                <a:latin typeface="Helvetica Neue"/>
                <a:ea typeface="Helvetica Neue"/>
                <a:cs typeface="Helvetica Neue"/>
                <a:sym typeface="Helvetica Neue"/>
              </a:rPr>
              <a:t>C </a:t>
            </a:r>
            <a:r>
              <a:rPr b="0" i="0" lang="en-US" sz="1600" u="none" cap="none" strike="noStrike">
                <a:solidFill>
                  <a:schemeClr val="dk1"/>
                </a:solidFill>
                <a:latin typeface="Helvetica Neue"/>
                <a:ea typeface="Helvetica Neue"/>
                <a:cs typeface="Helvetica Neue"/>
                <a:sym typeface="Helvetica Neue"/>
              </a:rPr>
              <a:t>is already present!</a:t>
            </a:r>
            <a:endParaRPr/>
          </a:p>
          <a:p>
            <a:pPr indent="-285750" lvl="1" marL="742950" marR="0" rtl="0" algn="l">
              <a:lnSpc>
                <a:spcPct val="10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Set is now </a:t>
            </a:r>
            <a:r>
              <a:rPr b="0" i="1" lang="en-US" sz="1600" u="none" cap="none" strike="noStrike">
                <a:solidFill>
                  <a:schemeClr val="dk1"/>
                </a:solidFill>
                <a:latin typeface="Helvetica Neue"/>
                <a:ea typeface="Helvetica Neue"/>
                <a:cs typeface="Helvetica Neue"/>
                <a:sym typeface="Helvetica Neue"/>
              </a:rPr>
              <a:t>{A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BC, B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C</a:t>
            </a:r>
            <a:r>
              <a:rPr b="0" i="0" lang="en-US" sz="1600" u="none" cap="none" strike="noStrike">
                <a:solidFill>
                  <a:schemeClr val="dk1"/>
                </a:solidFill>
                <a:latin typeface="Helvetica Neue"/>
                <a:ea typeface="Helvetica Neue"/>
                <a:cs typeface="Helvetica Neue"/>
                <a:sym typeface="Helvetica Neue"/>
              </a:rPr>
              <a:t>}</a:t>
            </a:r>
            <a:endParaRPr b="0" i="1" sz="16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560"/>
              </a:spcBef>
              <a:spcAft>
                <a:spcPts val="0"/>
              </a:spcAft>
              <a:buClr>
                <a:schemeClr val="dk2"/>
              </a:buClr>
              <a:buSzPts val="1440"/>
              <a:buFont typeface="Arial"/>
              <a:buChar char="●"/>
            </a:pPr>
            <a:r>
              <a:rPr b="0" i="1" lang="en-US" sz="1600" u="none">
                <a:solidFill>
                  <a:schemeClr val="dk1"/>
                </a:solidFill>
                <a:latin typeface="Helvetica Neue"/>
                <a:ea typeface="Helvetica Neue"/>
                <a:cs typeface="Helvetica Neue"/>
                <a:sym typeface="Helvetica Neue"/>
              </a:rPr>
              <a:t>C</a:t>
            </a:r>
            <a:r>
              <a:rPr b="0" i="0" lang="en-US" sz="1600" u="none">
                <a:solidFill>
                  <a:schemeClr val="dk1"/>
                </a:solidFill>
                <a:latin typeface="Helvetica Neue"/>
                <a:ea typeface="Helvetica Neue"/>
                <a:cs typeface="Helvetica Neue"/>
                <a:sym typeface="Helvetica Neue"/>
              </a:rPr>
              <a:t> is extraneous in </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BC</a:t>
            </a:r>
            <a:r>
              <a:rPr b="0" i="0" lang="en-US" sz="1600" u="non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Check if </a:t>
            </a:r>
            <a:r>
              <a:rPr b="0" i="1" lang="en-US" sz="1600" u="none" cap="none" strike="noStrike">
                <a:solidFill>
                  <a:schemeClr val="dk1"/>
                </a:solidFill>
                <a:latin typeface="Helvetica Neue"/>
                <a:ea typeface="Helvetica Neue"/>
                <a:cs typeface="Helvetica Neue"/>
                <a:sym typeface="Helvetica Neue"/>
              </a:rPr>
              <a:t>A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C</a:t>
            </a:r>
            <a:r>
              <a:rPr b="0" i="0" lang="en-US" sz="1600" u="none" cap="none" strike="noStrike">
                <a:solidFill>
                  <a:schemeClr val="dk1"/>
                </a:solidFill>
                <a:latin typeface="Helvetica Neue"/>
                <a:ea typeface="Helvetica Neue"/>
                <a:cs typeface="Helvetica Neue"/>
                <a:sym typeface="Helvetica Neue"/>
              </a:rPr>
              <a:t> is logically implied by </a:t>
            </a:r>
            <a:r>
              <a:rPr b="0" i="1" lang="en-US" sz="1600" u="none" cap="none" strike="noStrike">
                <a:solidFill>
                  <a:schemeClr val="dk1"/>
                </a:solidFill>
                <a:latin typeface="Helvetica Neue"/>
                <a:ea typeface="Helvetica Neue"/>
                <a:cs typeface="Helvetica Neue"/>
                <a:sym typeface="Helvetica Neue"/>
              </a:rPr>
              <a:t>A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 </a:t>
            </a:r>
            <a:r>
              <a:rPr b="0" i="0" lang="en-US" sz="1600" u="none" cap="none" strike="noStrike">
                <a:solidFill>
                  <a:schemeClr val="dk1"/>
                </a:solidFill>
                <a:latin typeface="Helvetica Neue"/>
                <a:ea typeface="Helvetica Neue"/>
                <a:cs typeface="Helvetica Neue"/>
                <a:sym typeface="Helvetica Neue"/>
              </a:rPr>
              <a:t>and the other dependencies</a:t>
            </a:r>
            <a:endParaRPr/>
          </a:p>
          <a:p>
            <a:pPr indent="-228600" lvl="2" marL="1085850" marR="0" rtl="0" algn="l">
              <a:lnSpc>
                <a:spcPct val="100000"/>
              </a:lnSpc>
              <a:spcBef>
                <a:spcPts val="560"/>
              </a:spcBef>
              <a:spcAft>
                <a:spcPts val="0"/>
              </a:spcAft>
              <a:buClr>
                <a:srgbClr val="33CC33"/>
              </a:buClr>
              <a:buSzPts val="1200"/>
              <a:buFont typeface="Arimo"/>
              <a:buChar char="4"/>
            </a:pPr>
            <a:r>
              <a:rPr b="0" i="0" lang="en-US" sz="1600" u="none" cap="none" strike="noStrike">
                <a:solidFill>
                  <a:schemeClr val="dk1"/>
                </a:solidFill>
                <a:latin typeface="Helvetica Neue"/>
                <a:ea typeface="Helvetica Neue"/>
                <a:cs typeface="Helvetica Neue"/>
                <a:sym typeface="Helvetica Neue"/>
              </a:rPr>
              <a:t>Yes</a:t>
            </a:r>
            <a:r>
              <a:rPr b="0" i="1" lang="en-US" sz="1600" u="none" cap="none" strike="noStrike">
                <a:solidFill>
                  <a:schemeClr val="dk1"/>
                </a:solidFill>
                <a:latin typeface="Helvetica Neue"/>
                <a:ea typeface="Helvetica Neue"/>
                <a:cs typeface="Helvetica Neue"/>
                <a:sym typeface="Helvetica Neue"/>
              </a:rPr>
              <a:t>: </a:t>
            </a:r>
            <a:r>
              <a:rPr b="0" i="0" lang="en-US" sz="1600" u="none" cap="none" strike="noStrike">
                <a:solidFill>
                  <a:schemeClr val="dk1"/>
                </a:solidFill>
                <a:latin typeface="Helvetica Neue"/>
                <a:ea typeface="Helvetica Neue"/>
                <a:cs typeface="Helvetica Neue"/>
                <a:sym typeface="Helvetica Neue"/>
              </a:rPr>
              <a:t>using transitivity on </a:t>
            </a:r>
            <a:r>
              <a:rPr b="0" i="1" lang="en-US" sz="1600" u="none" cap="none" strike="noStrike">
                <a:solidFill>
                  <a:schemeClr val="dk1"/>
                </a:solidFill>
                <a:latin typeface="Helvetica Neue"/>
                <a:ea typeface="Helvetica Neue"/>
                <a:cs typeface="Helvetica Neue"/>
                <a:sym typeface="Helvetica Neue"/>
              </a:rPr>
              <a:t>A </a:t>
            </a: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B  and B </a:t>
            </a:r>
            <a:r>
              <a:rPr b="0" i="0" lang="en-US" sz="1600" u="none" cap="none" strike="noStrike">
                <a:solidFill>
                  <a:schemeClr val="dk1"/>
                </a:solidFill>
                <a:latin typeface="Helvetica Neue"/>
                <a:ea typeface="Helvetica Neue"/>
                <a:cs typeface="Helvetica Neue"/>
                <a:sym typeface="Helvetica Neue"/>
              </a:rPr>
              <a:t>→ C. </a:t>
            </a:r>
            <a:endParaRPr/>
          </a:p>
          <a:p>
            <a:pPr indent="-228600" lvl="3" marL="1428750" marR="0" rtl="0" algn="l">
              <a:lnSpc>
                <a:spcPct val="100000"/>
              </a:lnSpc>
              <a:spcBef>
                <a:spcPts val="560"/>
              </a:spcBef>
              <a:spcAft>
                <a:spcPts val="0"/>
              </a:spcAft>
              <a:buClr>
                <a:schemeClr val="hlink"/>
              </a:buClr>
              <a:buSzPts val="1600"/>
              <a:buFont typeface="Helvetica Neue"/>
              <a:buChar char="–"/>
            </a:pPr>
            <a:r>
              <a:rPr b="0" i="0" lang="en-US" sz="1600" u="none" cap="none" strike="noStrike">
                <a:solidFill>
                  <a:schemeClr val="dk1"/>
                </a:solidFill>
                <a:latin typeface="Helvetica Neue"/>
                <a:ea typeface="Helvetica Neue"/>
                <a:cs typeface="Helvetica Neue"/>
                <a:sym typeface="Helvetica Neue"/>
              </a:rPr>
              <a:t>Can use attribute closure of </a:t>
            </a:r>
            <a:r>
              <a:rPr b="0" i="1" lang="en-US" sz="1600" u="none" cap="none" strike="noStrike">
                <a:solidFill>
                  <a:schemeClr val="dk1"/>
                </a:solidFill>
                <a:latin typeface="Helvetica Neue"/>
                <a:ea typeface="Helvetica Neue"/>
                <a:cs typeface="Helvetica Neue"/>
                <a:sym typeface="Helvetica Neue"/>
              </a:rPr>
              <a:t>A</a:t>
            </a:r>
            <a:r>
              <a:rPr b="0" i="0" lang="en-US" sz="1600" u="none" cap="none" strike="noStrike">
                <a:solidFill>
                  <a:schemeClr val="dk1"/>
                </a:solidFill>
                <a:latin typeface="Helvetica Neue"/>
                <a:ea typeface="Helvetica Neue"/>
                <a:cs typeface="Helvetica Neue"/>
                <a:sym typeface="Helvetica Neue"/>
              </a:rPr>
              <a:t> in more complex cases</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The canonical cover is: 	</a:t>
            </a:r>
            <a:r>
              <a:rPr b="0" i="1" lang="en-US" sz="1600" u="none">
                <a:solidFill>
                  <a:schemeClr val="dk1"/>
                </a:solidFill>
                <a:latin typeface="Helvetica Neue"/>
                <a:ea typeface="Helvetica Neue"/>
                <a:cs typeface="Helvetica Neue"/>
                <a:sym typeface="Helvetica Neue"/>
              </a:rPr>
              <a:t>A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a:t>
            </a:r>
            <a:br>
              <a:rPr b="0" i="1" lang="en-US" sz="1600" u="none">
                <a:solidFill>
                  <a:schemeClr val="dk1"/>
                </a:solidFill>
                <a:latin typeface="Helvetica Neue"/>
                <a:ea typeface="Helvetica Neue"/>
                <a:cs typeface="Helvetica Neue"/>
                <a:sym typeface="Helvetica Neue"/>
              </a:rPr>
            </a:br>
            <a:r>
              <a:rPr b="0" i="1" lang="en-US" sz="1600" u="none">
                <a:solidFill>
                  <a:schemeClr val="dk1"/>
                </a:solidFill>
                <a:latin typeface="Helvetica Neue"/>
                <a:ea typeface="Helvetica Neue"/>
                <a:cs typeface="Helvetica Neue"/>
                <a:sym typeface="Helvetica Neue"/>
              </a:rPr>
              <a:t>		B </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C</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88" name="Shape 288"/>
        <p:cNvGrpSpPr/>
        <p:nvPr/>
      </p:nvGrpSpPr>
      <p:grpSpPr>
        <a:xfrm>
          <a:off x="0" y="0"/>
          <a:ext cx="0" cy="0"/>
          <a:chOff x="0" y="0"/>
          <a:chExt cx="0" cy="0"/>
        </a:xfrm>
      </p:grpSpPr>
      <p:sp>
        <p:nvSpPr>
          <p:cNvPr id="289" name="Google Shape;289;p4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Lossless-join Decomposition</a:t>
            </a:r>
            <a:endParaRPr/>
          </a:p>
        </p:txBody>
      </p:sp>
      <p:sp>
        <p:nvSpPr>
          <p:cNvPr id="290" name="Google Shape;290;p42"/>
          <p:cNvSpPr txBox="1"/>
          <p:nvPr>
            <p:ph idx="1" type="body"/>
          </p:nvPr>
        </p:nvSpPr>
        <p:spPr>
          <a:xfrm>
            <a:off x="927100" y="1139825"/>
            <a:ext cx="6756400" cy="47529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For the case of</a:t>
            </a:r>
            <a:r>
              <a:rPr b="0" i="1" lang="en-US" sz="1800" u="none">
                <a:solidFill>
                  <a:schemeClr val="dk1"/>
                </a:solidFill>
                <a:latin typeface="Helvetica Neue"/>
                <a:ea typeface="Helvetica Neue"/>
                <a:cs typeface="Helvetica Neue"/>
                <a:sym typeface="Helvetica Neue"/>
              </a:rPr>
              <a:t> R</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R</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we require that for all possible relations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on schema </a:t>
            </a:r>
            <a:r>
              <a:rPr b="0" i="1" lang="en-US" sz="1800" u="none">
                <a:solidFill>
                  <a:schemeClr val="dk1"/>
                </a:solidFill>
                <a:latin typeface="Helvetica Neue"/>
                <a:ea typeface="Helvetica Neue"/>
                <a:cs typeface="Helvetica Neue"/>
                <a:sym typeface="Helvetica Neue"/>
              </a:rPr>
              <a:t>R</a:t>
            </a:r>
            <a:endParaRPr/>
          </a:p>
          <a:p>
            <a:pPr indent="-342900" lvl="0" marL="342900" marR="0" rtl="0" algn="l">
              <a:lnSpc>
                <a:spcPct val="100000"/>
              </a:lnSpc>
              <a:spcBef>
                <a:spcPts val="630"/>
              </a:spcBef>
              <a:spcAft>
                <a:spcPts val="0"/>
              </a:spcAft>
              <a:buClr>
                <a:schemeClr val="dk2"/>
              </a:buClr>
              <a:buSzPts val="1620"/>
              <a:buFont typeface="Arial"/>
              <a:buNone/>
            </a:pPr>
            <a:r>
              <a:rPr b="0" baseline="-2500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a:t>
            </a:r>
            <a:r>
              <a:rPr b="0" baseline="-25000" i="1" lang="en-US" sz="1800" u="none">
                <a:solidFill>
                  <a:schemeClr val="dk1"/>
                </a:solidFill>
                <a:latin typeface="Helvetica Neue"/>
                <a:ea typeface="Helvetica Neue"/>
                <a:cs typeface="Helvetica Neue"/>
                <a:sym typeface="Helvetica Neue"/>
              </a:rPr>
              <a:t>R1</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    ∏</a:t>
            </a:r>
            <a:r>
              <a:rPr b="0" baseline="-25000" i="1" lang="en-US" sz="1800" u="none">
                <a:solidFill>
                  <a:schemeClr val="dk1"/>
                </a:solidFill>
                <a:latin typeface="Helvetica Neue"/>
                <a:ea typeface="Helvetica Neue"/>
                <a:cs typeface="Helvetica Neue"/>
                <a:sym typeface="Helvetica Neue"/>
              </a:rPr>
              <a:t>R2</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70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decomposition of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into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is lossless join if and only if at least one of the following dependencies is in </a:t>
            </a:r>
            <a:r>
              <a:rPr b="0" i="1" lang="en-US" sz="1800" u="none">
                <a:solidFill>
                  <a:schemeClr val="dk1"/>
                </a:solidFill>
                <a:latin typeface="Helvetica Neue"/>
                <a:ea typeface="Helvetica Neue"/>
                <a:cs typeface="Helvetica Neue"/>
                <a:sym typeface="Helvetica Neue"/>
              </a:rPr>
              <a:t>F</a:t>
            </a:r>
            <a:r>
              <a:rPr b="0" baseline="30000" i="0" lang="en-US" sz="20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endParaRPr b="0" i="0" sz="1800" u="none" cap="none" strike="noStrik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291" name="Google Shape;291;p42"/>
          <p:cNvSpPr/>
          <p:nvPr/>
        </p:nvSpPr>
        <p:spPr>
          <a:xfrm>
            <a:off x="4602162" y="1974850"/>
            <a:ext cx="142875" cy="142875"/>
          </a:xfrm>
          <a:custGeom>
            <a:rect b="b" l="l" r="r" t="t"/>
            <a:pathLst>
              <a:path extrusionOk="0" h="182" w="182">
                <a:moveTo>
                  <a:pt x="0" y="0"/>
                </a:moveTo>
                <a:lnTo>
                  <a:pt x="0" y="182"/>
                </a:lnTo>
                <a:lnTo>
                  <a:pt x="182" y="0"/>
                </a:lnTo>
                <a:lnTo>
                  <a:pt x="182" y="182"/>
                </a:lnTo>
                <a:lnTo>
                  <a:pt x="0" y="0"/>
                </a:lnTo>
                <a:close/>
              </a:path>
            </a:pathLst>
          </a:custGeom>
          <a:noFill/>
          <a:ln cap="flat"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95" name="Shape 295"/>
        <p:cNvGrpSpPr/>
        <p:nvPr/>
      </p:nvGrpSpPr>
      <p:grpSpPr>
        <a:xfrm>
          <a:off x="0" y="0"/>
          <a:ext cx="0" cy="0"/>
          <a:chOff x="0" y="0"/>
          <a:chExt cx="0" cy="0"/>
        </a:xfrm>
      </p:grpSpPr>
      <p:sp>
        <p:nvSpPr>
          <p:cNvPr id="296" name="Google Shape;296;p4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a:t>
            </a:r>
            <a:endParaRPr/>
          </a:p>
        </p:txBody>
      </p:sp>
      <p:sp>
        <p:nvSpPr>
          <p:cNvPr id="297" name="Google Shape;297;p43"/>
          <p:cNvSpPr txBox="1"/>
          <p:nvPr>
            <p:ph idx="1" type="body"/>
          </p:nvPr>
        </p:nvSpPr>
        <p:spPr>
          <a:xfrm>
            <a:off x="927100" y="1139825"/>
            <a:ext cx="7202487" cy="4651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 (A, B, C)</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 = {A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 B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Can be decomposed in two different ways</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 (A, B),   R</a:t>
            </a:r>
            <a:r>
              <a:rPr b="0" baseline="-25000" i="0"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 = (B, C)</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Lossless-join decomposition:</a:t>
            </a:r>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1" lang="en-US" sz="1800" u="none" cap="none" strike="noStrike">
                <a:solidFill>
                  <a:schemeClr val="dk1"/>
                </a:solidFill>
                <a:latin typeface="Helvetica Neue"/>
                <a:ea typeface="Helvetica Neue"/>
                <a:cs typeface="Helvetica Neue"/>
                <a:sym typeface="Helvetica Neue"/>
              </a:rPr>
              <a:t> =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B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BC</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Dependency preserving</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1 </a:t>
            </a:r>
            <a:r>
              <a:rPr b="0" i="1" lang="en-US" sz="1800" u="none">
                <a:solidFill>
                  <a:schemeClr val="dk1"/>
                </a:solidFill>
                <a:latin typeface="Helvetica Neue"/>
                <a:ea typeface="Helvetica Neue"/>
                <a:cs typeface="Helvetica Neue"/>
                <a:sym typeface="Helvetica Neue"/>
              </a:rPr>
              <a:t>= (A, B),   R</a:t>
            </a:r>
            <a:r>
              <a:rPr b="0" baseline="-25000" i="0"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 = (A, C)</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Lossless-join decomposition:</a:t>
            </a:r>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A </a:t>
            </a:r>
            <a:r>
              <a:rPr b="0" i="0" lang="en-US" sz="1800" u="none" cap="none" strike="noStrike">
                <a:solidFill>
                  <a:schemeClr val="dk1"/>
                </a:solidFill>
                <a:latin typeface="Helvetica Neue"/>
                <a:ea typeface="Helvetica Neue"/>
                <a:cs typeface="Helvetica Neue"/>
                <a:sym typeface="Helvetica Neue"/>
              </a:rPr>
              <a:t>→ A</a:t>
            </a:r>
            <a:r>
              <a:rPr b="0" i="1" lang="en-US" sz="1800" u="none" cap="none" strike="noStrike">
                <a:solidFill>
                  <a:schemeClr val="dk1"/>
                </a:solidFill>
                <a:latin typeface="Helvetica Neue"/>
                <a:ea typeface="Helvetica Neue"/>
                <a:cs typeface="Helvetica Neue"/>
                <a:sym typeface="Helvetica Neue"/>
              </a:rPr>
              <a:t>B</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Not dependency preserving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(cannot check </a:t>
            </a:r>
            <a:r>
              <a:rPr b="0" i="1" lang="en-US" sz="1800" u="none" cap="none" strike="noStrike">
                <a:solidFill>
                  <a:schemeClr val="dk1"/>
                </a:solidFill>
                <a:latin typeface="Helvetica Neue"/>
                <a:ea typeface="Helvetica Neue"/>
                <a:cs typeface="Helvetica Neue"/>
                <a:sym typeface="Helvetica Neue"/>
              </a:rPr>
              <a:t>B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 </a:t>
            </a:r>
            <a:r>
              <a:rPr b="0" i="0" lang="en-US" sz="1800" u="none" cap="none" strike="noStrike">
                <a:solidFill>
                  <a:schemeClr val="dk1"/>
                </a:solidFill>
                <a:latin typeface="Helvetica Neue"/>
                <a:ea typeface="Helvetica Neue"/>
                <a:cs typeface="Helvetica Neue"/>
                <a:sym typeface="Helvetica Neue"/>
              </a:rPr>
              <a:t>without computing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1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a:t>
            </a:r>
            <a:endParaRPr/>
          </a:p>
        </p:txBody>
      </p:sp>
      <p:pic>
        <p:nvPicPr>
          <p:cNvPr id="298" name="Google Shape;298;p43"/>
          <p:cNvPicPr preferRelativeResize="0"/>
          <p:nvPr/>
        </p:nvPicPr>
        <p:blipFill rotWithShape="1">
          <a:blip r:embed="rId3">
            <a:alphaModFix/>
          </a:blip>
          <a:srcRect b="0" l="0" r="0" t="0"/>
          <a:stretch/>
        </p:blipFill>
        <p:spPr>
          <a:xfrm>
            <a:off x="6477000" y="5133975"/>
            <a:ext cx="234950" cy="234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02" name="Shape 302"/>
        <p:cNvGrpSpPr/>
        <p:nvPr/>
      </p:nvGrpSpPr>
      <p:grpSpPr>
        <a:xfrm>
          <a:off x="0" y="0"/>
          <a:ext cx="0" cy="0"/>
          <a:chOff x="0" y="0"/>
          <a:chExt cx="0" cy="0"/>
        </a:xfrm>
      </p:grpSpPr>
      <p:sp>
        <p:nvSpPr>
          <p:cNvPr id="303" name="Google Shape;303;p44"/>
          <p:cNvSpPr txBox="1"/>
          <p:nvPr>
            <p:ph type="title"/>
          </p:nvPr>
        </p:nvSpPr>
        <p:spPr>
          <a:xfrm>
            <a:off x="1804987" y="203200"/>
            <a:ext cx="6897687" cy="44132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Dependency Preservation</a:t>
            </a:r>
            <a:endParaRPr/>
          </a:p>
        </p:txBody>
      </p:sp>
      <p:sp>
        <p:nvSpPr>
          <p:cNvPr id="304" name="Google Shape;304;p44"/>
          <p:cNvSpPr txBox="1"/>
          <p:nvPr>
            <p:ph idx="1" type="body"/>
          </p:nvPr>
        </p:nvSpPr>
        <p:spPr>
          <a:xfrm>
            <a:off x="927100" y="1139825"/>
            <a:ext cx="7456487" cy="4716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 Let </a:t>
            </a:r>
            <a:r>
              <a:rPr b="0" i="1" lang="en-US" sz="1800" u="none">
                <a:solidFill>
                  <a:schemeClr val="dk1"/>
                </a:solidFill>
                <a:latin typeface="Helvetica Neue"/>
                <a:ea typeface="Helvetica Neue"/>
                <a:cs typeface="Helvetica Neue"/>
                <a:sym typeface="Helvetica Neue"/>
              </a:rPr>
              <a:t>F</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be the set of dependencies </a:t>
            </a:r>
            <a:r>
              <a:rPr b="0" i="1" lang="en-US" sz="1800" u="none">
                <a:solidFill>
                  <a:schemeClr val="dk1"/>
                </a:solidFill>
                <a:latin typeface="Helvetica Neue"/>
                <a:ea typeface="Helvetica Neue"/>
                <a:cs typeface="Helvetica Neue"/>
                <a:sym typeface="Helvetica Neue"/>
              </a:rPr>
              <a:t>F </a:t>
            </a:r>
            <a:r>
              <a:rPr b="0" baseline="30000" i="1" lang="en-US" sz="20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that include only attributes in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A  decomposition is  </a:t>
            </a:r>
            <a:r>
              <a:rPr b="0" i="0" lang="en-US" sz="1800" u="none" cap="none" strike="noStrike">
                <a:solidFill>
                  <a:schemeClr val="dk2"/>
                </a:solidFill>
                <a:latin typeface="Helvetica Neue"/>
                <a:ea typeface="Helvetica Neue"/>
                <a:cs typeface="Helvetica Neue"/>
                <a:sym typeface="Helvetica Neue"/>
              </a:rPr>
              <a:t>dependency preserving</a:t>
            </a:r>
            <a:r>
              <a:rPr b="0" i="0" lang="en-US" sz="1800" u="none" cap="none" strike="noStrike">
                <a:solidFill>
                  <a:schemeClr val="dk1"/>
                </a:solidFill>
                <a:latin typeface="Helvetica Neue"/>
                <a:ea typeface="Helvetica Neue"/>
                <a:cs typeface="Helvetica Neue"/>
                <a:sym typeface="Helvetica Neue"/>
              </a:rPr>
              <a:t>,  if</a:t>
            </a:r>
            <a:endParaRPr/>
          </a:p>
          <a:p>
            <a:pPr indent="-228600" lvl="2" marL="1085850" marR="0" rtl="0" algn="l">
              <a:lnSpc>
                <a:spcPct val="100000"/>
              </a:lnSpc>
              <a:spcBef>
                <a:spcPts val="70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F</a:t>
            </a:r>
            <a:r>
              <a:rPr b="0" baseline="-25000" i="0"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F</a:t>
            </a:r>
            <a:r>
              <a:rPr b="0" baseline="-25000" i="0" lang="en-US" sz="1800" u="none" cap="none" strike="noStrike">
                <a:solidFill>
                  <a:schemeClr val="dk1"/>
                </a:solidFill>
                <a:latin typeface="Helvetica Neue"/>
                <a:ea typeface="Helvetica Neue"/>
                <a:cs typeface="Helvetica Neue"/>
                <a:sym typeface="Helvetica Neue"/>
              </a:rPr>
              <a:t>2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F</a:t>
            </a:r>
            <a:r>
              <a:rPr b="0" baseline="-25000" i="0" lang="en-US" sz="1800" u="none" cap="none" strike="noStrike">
                <a:solidFill>
                  <a:schemeClr val="dk1"/>
                </a:solidFill>
                <a:latin typeface="Helvetica Neue"/>
                <a:ea typeface="Helvetica Neue"/>
                <a:cs typeface="Helvetica Neue"/>
                <a:sym typeface="Helvetica Neue"/>
              </a:rPr>
              <a:t>n </a:t>
            </a:r>
            <a:r>
              <a:rPr b="0" i="0" lang="en-US" sz="1800" u="none" cap="none" strike="noStrike">
                <a:solidFill>
                  <a:schemeClr val="dk1"/>
                </a:solidFill>
                <a:latin typeface="Helvetica Neue"/>
                <a:ea typeface="Helvetica Neue"/>
                <a:cs typeface="Helvetica Neue"/>
                <a:sym typeface="Helvetica Neue"/>
              </a:rPr>
              <a:t>)</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F </a:t>
            </a:r>
            <a:r>
              <a:rPr b="0" baseline="30000" i="1" lang="en-US" sz="20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If it is not, then checking updates for violation of functional dependencies may require computing joins, which is expensive.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08" name="Shape 308"/>
        <p:cNvGrpSpPr/>
        <p:nvPr/>
      </p:nvGrpSpPr>
      <p:grpSpPr>
        <a:xfrm>
          <a:off x="0" y="0"/>
          <a:ext cx="0" cy="0"/>
          <a:chOff x="0" y="0"/>
          <a:chExt cx="0" cy="0"/>
        </a:xfrm>
      </p:grpSpPr>
      <p:sp>
        <p:nvSpPr>
          <p:cNvPr id="309" name="Google Shape;309;p45"/>
          <p:cNvSpPr txBox="1"/>
          <p:nvPr>
            <p:ph type="title"/>
          </p:nvPr>
        </p:nvSpPr>
        <p:spPr>
          <a:xfrm>
            <a:off x="766762" y="52387"/>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Testing for Dependency Preservation</a:t>
            </a:r>
            <a:endParaRPr/>
          </a:p>
        </p:txBody>
      </p:sp>
      <p:sp>
        <p:nvSpPr>
          <p:cNvPr id="310" name="Google Shape;310;p45"/>
          <p:cNvSpPr txBox="1"/>
          <p:nvPr>
            <p:ph idx="4294967295" type="body"/>
          </p:nvPr>
        </p:nvSpPr>
        <p:spPr>
          <a:xfrm>
            <a:off x="927100" y="1163637"/>
            <a:ext cx="8094662" cy="51974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check if a dependency α → β is preserved in a decomposition of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into </a:t>
            </a:r>
            <a:r>
              <a:rPr b="0" i="1" lang="en-US" sz="1800" u="none">
                <a:solidFill>
                  <a:schemeClr val="dk1"/>
                </a:solidFill>
                <a:latin typeface="Helvetica Neue"/>
                <a:ea typeface="Helvetica Neue"/>
                <a:cs typeface="Helvetica Neue"/>
                <a:sym typeface="Helvetica Neue"/>
              </a:rPr>
              <a:t>R</a:t>
            </a:r>
            <a:r>
              <a:rPr b="0" baseline="-25000" i="0" lang="en-US" sz="20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20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baseline="-25000" i="0" lang="en-US" sz="20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we apply the following test (with attribute closure done with respect to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result </a:t>
            </a:r>
            <a:r>
              <a:rPr b="0" i="0" lang="en-US" sz="1800" u="none" cap="none" strike="noStrike">
                <a:solidFill>
                  <a:schemeClr val="dk1"/>
                </a:solidFill>
                <a:latin typeface="Helvetica Neue"/>
                <a:ea typeface="Helvetica Neue"/>
                <a:cs typeface="Helvetica Neue"/>
                <a:sym typeface="Helvetica Neue"/>
              </a:rPr>
              <a:t>= α</a:t>
            </a:r>
            <a:br>
              <a:rPr b="0" i="0"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while</a:t>
            </a:r>
            <a:r>
              <a:rPr b="0" i="0" lang="en-US" sz="1800" u="none" cap="none" strike="noStrike">
                <a:solidFill>
                  <a:schemeClr val="dk1"/>
                </a:solidFill>
                <a:latin typeface="Helvetica Neue"/>
                <a:ea typeface="Helvetica Neue"/>
                <a:cs typeface="Helvetica Neue"/>
                <a:sym typeface="Helvetica Neue"/>
              </a:rPr>
              <a:t> (changes to </a:t>
            </a:r>
            <a:r>
              <a:rPr b="0" i="1" lang="en-US" sz="1800" u="none" cap="none" strike="noStrike">
                <a:solidFill>
                  <a:schemeClr val="dk1"/>
                </a:solidFill>
                <a:latin typeface="Helvetica Neue"/>
                <a:ea typeface="Helvetica Neue"/>
                <a:cs typeface="Helvetica Neue"/>
                <a:sym typeface="Helvetica Neue"/>
              </a:rPr>
              <a:t>result</a:t>
            </a:r>
            <a:r>
              <a:rPr b="0" i="0" lang="en-US" sz="1800" u="none" cap="none" strike="noStrike">
                <a:solidFill>
                  <a:schemeClr val="dk1"/>
                </a:solidFill>
                <a:latin typeface="Helvetica Neue"/>
                <a:ea typeface="Helvetica Neue"/>
                <a:cs typeface="Helvetica Neue"/>
                <a:sym typeface="Helvetica Neue"/>
              </a:rPr>
              <a:t>) do</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for each</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in the decomposition</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t</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result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br>
              <a:rPr b="0" baseline="-25000" i="1" lang="en-US" sz="1800" u="none" cap="none" strike="noStrike">
                <a:solidFill>
                  <a:schemeClr val="dk1"/>
                </a:solidFill>
                <a:latin typeface="Helvetica Neue"/>
                <a:ea typeface="Helvetica Neue"/>
                <a:cs typeface="Helvetica Neue"/>
                <a:sym typeface="Helvetica Neue"/>
              </a:rPr>
            </a:br>
            <a:r>
              <a:rPr b="0" baseline="-25000" i="1"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result  =  result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a:t>
            </a:r>
            <a:r>
              <a:rPr b="0" i="1" lang="en-US" sz="1800" u="none" cap="none" strike="noStrike">
                <a:solidFill>
                  <a:schemeClr val="dk1"/>
                </a:solidFill>
                <a:latin typeface="Helvetica Neue"/>
                <a:ea typeface="Helvetica Neue"/>
                <a:cs typeface="Helvetica Neue"/>
                <a:sym typeface="Helvetica Neue"/>
              </a:rPr>
              <a:t>result</a:t>
            </a:r>
            <a:r>
              <a:rPr b="0" i="0" lang="en-US" sz="1800" u="none" cap="none" strike="noStrike">
                <a:solidFill>
                  <a:schemeClr val="dk1"/>
                </a:solidFill>
                <a:latin typeface="Helvetica Neue"/>
                <a:ea typeface="Helvetica Neue"/>
                <a:cs typeface="Helvetica Neue"/>
                <a:sym typeface="Helvetica Neue"/>
              </a:rPr>
              <a:t> contains all attributes in β, then the functional dependency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α → β is preserved.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apply the test on all dependencies in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to check if a decomposition is dependency preserving</a:t>
            </a:r>
            <a:endParaRPr/>
          </a:p>
          <a:p>
            <a:pPr indent="-342900" lvl="0" marL="342900" marR="0" rtl="0" algn="l">
              <a:lnSpc>
                <a:spcPct val="100000"/>
              </a:lnSpc>
              <a:spcBef>
                <a:spcPts val="70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This procedure takes polynomial time, instead of the exponential time required to compute </a:t>
            </a:r>
            <a:r>
              <a:rPr b="0" i="1" lang="en-US" sz="1800" u="none">
                <a:solidFill>
                  <a:schemeClr val="dk1"/>
                </a:solidFill>
                <a:latin typeface="Helvetica Neue"/>
                <a:ea typeface="Helvetica Neue"/>
                <a:cs typeface="Helvetica Neue"/>
                <a:sym typeface="Helvetica Neue"/>
              </a:rPr>
              <a:t>F</a:t>
            </a:r>
            <a:r>
              <a:rPr b="0" baseline="30000" i="1"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F</a:t>
            </a:r>
            <a:r>
              <a:rPr b="0" baseline="-25000" i="0"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F</a:t>
            </a:r>
            <a:r>
              <a:rPr b="0" baseline="-25000" i="0" lang="en-US" sz="1800" u="none">
                <a:solidFill>
                  <a:schemeClr val="dk1"/>
                </a:solidFill>
                <a:latin typeface="Helvetica Neue"/>
                <a:ea typeface="Helvetica Neue"/>
                <a:cs typeface="Helvetica Neue"/>
                <a:sym typeface="Helvetica Neue"/>
              </a:rPr>
              <a:t>2</a:t>
            </a:r>
            <a:r>
              <a:rPr b="0" i="0" lang="en-US" sz="16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 … </a:t>
            </a:r>
            <a:r>
              <a:rPr b="0" i="0" lang="en-US" sz="16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F</a:t>
            </a:r>
            <a:r>
              <a:rPr b="0" baseline="-25000" i="0"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a:t>
            </a:r>
            <a:r>
              <a:rPr b="0" baseline="30000" i="0" lang="en-US" sz="20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14" name="Shape 314"/>
        <p:cNvGrpSpPr/>
        <p:nvPr/>
      </p:nvGrpSpPr>
      <p:grpSpPr>
        <a:xfrm>
          <a:off x="0" y="0"/>
          <a:ext cx="0" cy="0"/>
          <a:chOff x="0" y="0"/>
          <a:chExt cx="0" cy="0"/>
        </a:xfrm>
      </p:grpSpPr>
      <p:sp>
        <p:nvSpPr>
          <p:cNvPr id="315" name="Google Shape;315;p4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a:t>
            </a:r>
            <a:endParaRPr/>
          </a:p>
        </p:txBody>
      </p:sp>
      <p:sp>
        <p:nvSpPr>
          <p:cNvPr id="316" name="Google Shape;316;p46"/>
          <p:cNvSpPr txBox="1"/>
          <p:nvPr>
            <p:ph idx="1" type="body"/>
          </p:nvPr>
        </p:nvSpPr>
        <p:spPr>
          <a:xfrm>
            <a:off x="927100" y="116363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 B, C </a:t>
            </a:r>
            <a:r>
              <a:rPr b="0" i="0" lang="en-US" sz="1800" u="none">
                <a:solidFill>
                  <a:schemeClr val="dk1"/>
                </a:solidFill>
                <a:latin typeface="Helvetica Neue"/>
                <a:ea typeface="Helvetica Neue"/>
                <a:cs typeface="Helvetica Neue"/>
                <a:sym typeface="Helvetica Neue"/>
              </a:rPr>
              <a:t>)</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B</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B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C</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Key =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not in BCNF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Decomposition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 B),  R</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(B, C)</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r>
              <a:rPr b="0" baseline="-2500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in BCNF</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Lossless-join decomposition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Dependency preserving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20" name="Shape 320"/>
        <p:cNvGrpSpPr/>
        <p:nvPr/>
      </p:nvGrpSpPr>
      <p:grpSpPr>
        <a:xfrm>
          <a:off x="0" y="0"/>
          <a:ext cx="0" cy="0"/>
          <a:chOff x="0" y="0"/>
          <a:chExt cx="0" cy="0"/>
        </a:xfrm>
      </p:grpSpPr>
      <p:sp>
        <p:nvSpPr>
          <p:cNvPr id="321" name="Google Shape;321;p4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Testing for BCNF</a:t>
            </a:r>
            <a:endParaRPr/>
          </a:p>
        </p:txBody>
      </p:sp>
      <p:sp>
        <p:nvSpPr>
          <p:cNvPr id="322" name="Google Shape;322;p47"/>
          <p:cNvSpPr txBox="1"/>
          <p:nvPr>
            <p:ph idx="1" type="body"/>
          </p:nvPr>
        </p:nvSpPr>
        <p:spPr>
          <a:xfrm>
            <a:off x="927100" y="1163637"/>
            <a:ext cx="8026400" cy="5341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check if a non-trivial dependency </a:t>
            </a:r>
            <a:r>
              <a:rPr b="0" i="0" lang="en-US" sz="1600" u="none">
                <a:solidFill>
                  <a:schemeClr val="dk1"/>
                </a:solidFill>
                <a:latin typeface="Helvetica Neue"/>
                <a:ea typeface="Helvetica Neue"/>
                <a:cs typeface="Helvetica Neue"/>
                <a:sym typeface="Helvetica Neue"/>
              </a:rPr>
              <a:t>α</a:t>
            </a:r>
            <a:r>
              <a:rPr b="0" i="0" lang="en-US" sz="18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β</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causes a violation of BCNF</a:t>
            </a:r>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1.  compute </a:t>
            </a:r>
            <a:r>
              <a:rPr b="0" i="0" lang="en-US" sz="1600" u="none" cap="none" strike="noStrike">
                <a:solidFill>
                  <a:schemeClr val="dk1"/>
                </a:solidFill>
                <a:latin typeface="Helvetica Neue"/>
                <a:ea typeface="Helvetica Neue"/>
                <a:cs typeface="Helvetica Neue"/>
                <a:sym typeface="Helvetica Neue"/>
              </a:rPr>
              <a:t>α</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(the attribute closure of </a:t>
            </a:r>
            <a:r>
              <a:rPr b="0" i="0" lang="en-US" sz="1600" u="none" cap="none" strike="noStrike">
                <a:solidFill>
                  <a:schemeClr val="dk1"/>
                </a:solidFill>
                <a:latin typeface="Helvetica Neue"/>
                <a:ea typeface="Helvetica Neue"/>
                <a:cs typeface="Helvetica Neue"/>
                <a:sym typeface="Helvetica Neue"/>
              </a:rPr>
              <a:t>α</a:t>
            </a:r>
            <a:r>
              <a:rPr b="0" i="0" lang="en-US" sz="1800" u="none" cap="none" strike="noStrike">
                <a:solidFill>
                  <a:schemeClr val="dk1"/>
                </a:solidFill>
                <a:latin typeface="Helvetica Neue"/>
                <a:ea typeface="Helvetica Neue"/>
                <a:cs typeface="Helvetica Neue"/>
                <a:sym typeface="Helvetica Neue"/>
              </a:rPr>
              <a:t>), and </a:t>
            </a:r>
            <a:endParaRPr/>
          </a:p>
          <a:p>
            <a:pPr indent="-285750" lvl="1" marL="742950" marR="0" rtl="0" algn="l">
              <a:lnSpc>
                <a:spcPct val="9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2.  verify that it includes all attributes of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that is, it is a superkey of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2"/>
                </a:solidFill>
                <a:latin typeface="Helvetica Neue"/>
                <a:ea typeface="Helvetica Neue"/>
                <a:cs typeface="Helvetica Neue"/>
                <a:sym typeface="Helvetica Neue"/>
              </a:rPr>
              <a:t>Simplified test</a:t>
            </a:r>
            <a:r>
              <a:rPr b="0" i="0" lang="en-US" sz="1800" u="none">
                <a:solidFill>
                  <a:schemeClr val="dk1"/>
                </a:solidFill>
                <a:latin typeface="Helvetica Neue"/>
                <a:ea typeface="Helvetica Neue"/>
                <a:cs typeface="Helvetica Neue"/>
                <a:sym typeface="Helvetica Neue"/>
              </a:rPr>
              <a:t>: To check if a relation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BCNF, it suffices to check only the dependencies in the given set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for violation of BCNF, rather than checking all dependencies in </a:t>
            </a:r>
            <a:r>
              <a:rPr b="0" i="1" lang="en-US" sz="1800" u="none">
                <a:solidFill>
                  <a:schemeClr val="dk1"/>
                </a:solidFill>
                <a:latin typeface="Helvetica Neue"/>
                <a:ea typeface="Helvetica Neue"/>
                <a:cs typeface="Helvetica Neue"/>
                <a:sym typeface="Helvetica Neue"/>
              </a:rPr>
              <a:t>F</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none of the dependencies in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causes a violation of BCNF, then none of the dependencies in </a:t>
            </a:r>
            <a:r>
              <a:rPr b="0" i="1" lang="en-US" sz="1800" u="none" cap="none" strike="noStrike">
                <a:solidFill>
                  <a:schemeClr val="dk1"/>
                </a:solidFill>
                <a:latin typeface="Helvetica Neue"/>
                <a:ea typeface="Helvetica Neue"/>
                <a:cs typeface="Helvetica Neue"/>
                <a:sym typeface="Helvetica Neue"/>
              </a:rPr>
              <a:t>F</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will cause a violation of BCNF either.</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However, using only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is </a:t>
            </a:r>
            <a:r>
              <a:rPr b="0" i="0" lang="en-US" sz="1800" u="none">
                <a:solidFill>
                  <a:schemeClr val="dk2"/>
                </a:solidFill>
                <a:latin typeface="Helvetica Neue"/>
                <a:ea typeface="Helvetica Neue"/>
                <a:cs typeface="Helvetica Neue"/>
                <a:sym typeface="Helvetica Neue"/>
              </a:rPr>
              <a:t>incorrect</a:t>
            </a:r>
            <a:r>
              <a:rPr b="0" i="0" lang="en-US" sz="1800" u="none">
                <a:solidFill>
                  <a:schemeClr val="dk1"/>
                </a:solidFill>
                <a:latin typeface="Helvetica Neue"/>
                <a:ea typeface="Helvetica Neue"/>
                <a:cs typeface="Helvetica Neue"/>
                <a:sym typeface="Helvetica Neue"/>
              </a:rPr>
              <a:t> when testing a relation in a decomposition of R</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Consider </a:t>
            </a:r>
            <a:r>
              <a:rPr b="0" i="1" lang="en-US" sz="1800" u="none" cap="none" strike="noStrike">
                <a:solidFill>
                  <a:schemeClr val="dk1"/>
                </a:solidFill>
                <a:latin typeface="Helvetica Neue"/>
                <a:ea typeface="Helvetica Neue"/>
                <a:cs typeface="Helvetica Neue"/>
                <a:sym typeface="Helvetica Neue"/>
              </a:rPr>
              <a:t>R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 B, C, D, E</a:t>
            </a:r>
            <a:r>
              <a:rPr b="0" i="0" lang="en-US" sz="1800" u="none" cap="none" strike="noStrike">
                <a:solidFill>
                  <a:schemeClr val="dk1"/>
                </a:solidFill>
                <a:latin typeface="Helvetica Neue"/>
                <a:ea typeface="Helvetica Neue"/>
                <a:cs typeface="Helvetica Neue"/>
                <a:sym typeface="Helvetica Neue"/>
              </a:rPr>
              <a:t>), with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 { </a:t>
            </a:r>
            <a:r>
              <a:rPr b="0" i="1" lang="en-US" sz="1800" u="none" cap="none" strike="noStrike">
                <a:solidFill>
                  <a:schemeClr val="dk1"/>
                </a:solidFill>
                <a:latin typeface="Helvetica Neue"/>
                <a:ea typeface="Helvetica Neue"/>
                <a:cs typeface="Helvetica Neue"/>
                <a:sym typeface="Helvetica Neue"/>
              </a:rPr>
              <a:t>A → B, BC → D</a:t>
            </a:r>
            <a:r>
              <a:rPr b="0" i="0"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Decompose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into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 </a:t>
            </a:r>
            <a:r>
              <a:rPr b="0" i="0" lang="en-US" sz="1800" u="none" cap="none" strike="noStrike">
                <a:solidFill>
                  <a:schemeClr val="dk1"/>
                </a:solidFill>
                <a:latin typeface="Helvetica Neue"/>
                <a:ea typeface="Helvetica Neue"/>
                <a:cs typeface="Helvetica Neue"/>
                <a:sym typeface="Helvetica Neue"/>
              </a:rPr>
              <a:t>=</a:t>
            </a:r>
            <a:r>
              <a:rPr b="0" baseline="-25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A,B</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 </a:t>
            </a:r>
            <a:r>
              <a:rPr b="0" i="0" lang="en-US" sz="1800" u="none" cap="none" strike="noStrike">
                <a:solidFill>
                  <a:schemeClr val="dk1"/>
                </a:solidFill>
                <a:latin typeface="Helvetica Neue"/>
                <a:ea typeface="Helvetica Neue"/>
                <a:cs typeface="Helvetica Neue"/>
                <a:sym typeface="Helvetica Neue"/>
              </a:rPr>
              <a:t>=</a:t>
            </a:r>
            <a:r>
              <a:rPr b="0" baseline="-25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A,C,D, E</a:t>
            </a:r>
            <a:r>
              <a:rPr b="0" i="0" lang="en-US" sz="1800" u="none" cap="none" strike="noStrike">
                <a:solidFill>
                  <a:schemeClr val="dk1"/>
                </a:solidFill>
                <a:latin typeface="Helvetica Neue"/>
                <a:ea typeface="Helvetica Neue"/>
                <a:cs typeface="Helvetica Neue"/>
                <a:sym typeface="Helvetica Neue"/>
              </a:rPr>
              <a:t>)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Neither of the dependencies in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contain only attributes from</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A,C,D,E</a:t>
            </a:r>
            <a:r>
              <a:rPr b="0" i="0" lang="en-US" sz="1800" u="none" cap="none" strike="noStrike">
                <a:solidFill>
                  <a:schemeClr val="dk1"/>
                </a:solidFill>
                <a:latin typeface="Helvetica Neue"/>
                <a:ea typeface="Helvetica Neue"/>
                <a:cs typeface="Helvetica Neue"/>
                <a:sym typeface="Helvetica Neue"/>
              </a:rPr>
              <a:t>) so we might be mislead into thinking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satisfies BCNF.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In fact, dependency </a:t>
            </a:r>
            <a:r>
              <a:rPr b="0" i="1" lang="en-US" sz="1800" u="none" cap="none" strike="noStrike">
                <a:solidFill>
                  <a:schemeClr val="dk1"/>
                </a:solidFill>
                <a:latin typeface="Helvetica Neue"/>
                <a:ea typeface="Helvetica Neue"/>
                <a:cs typeface="Helvetica Neue"/>
                <a:sym typeface="Helvetica Neue"/>
              </a:rPr>
              <a:t>AC</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D</a:t>
            </a:r>
            <a:r>
              <a:rPr b="0" i="0" lang="en-US" sz="1800" u="none" cap="none" strike="noStrike">
                <a:solidFill>
                  <a:schemeClr val="dk1"/>
                </a:solidFill>
                <a:latin typeface="Helvetica Neue"/>
                <a:ea typeface="Helvetica Neue"/>
                <a:cs typeface="Helvetica Neue"/>
                <a:sym typeface="Helvetica Neue"/>
              </a:rPr>
              <a:t> in </a:t>
            </a:r>
            <a:r>
              <a:rPr b="0" i="1" lang="en-US" sz="1800" u="none" cap="none" strike="noStrike">
                <a:solidFill>
                  <a:schemeClr val="dk1"/>
                </a:solidFill>
                <a:latin typeface="Helvetica Neue"/>
                <a:ea typeface="Helvetica Neue"/>
                <a:cs typeface="Helvetica Neue"/>
                <a:sym typeface="Helvetica Neue"/>
              </a:rPr>
              <a:t>F</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shows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is not in BCNF.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26" name="Shape 326"/>
        <p:cNvGrpSpPr/>
        <p:nvPr/>
      </p:nvGrpSpPr>
      <p:grpSpPr>
        <a:xfrm>
          <a:off x="0" y="0"/>
          <a:ext cx="0" cy="0"/>
          <a:chOff x="0" y="0"/>
          <a:chExt cx="0" cy="0"/>
        </a:xfrm>
      </p:grpSpPr>
      <p:sp>
        <p:nvSpPr>
          <p:cNvPr id="327" name="Google Shape;327;p4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Testing Decomposition for BCNF</a:t>
            </a:r>
            <a:endParaRPr/>
          </a:p>
        </p:txBody>
      </p:sp>
      <p:sp>
        <p:nvSpPr>
          <p:cNvPr id="328" name="Google Shape;328;p48"/>
          <p:cNvSpPr txBox="1"/>
          <p:nvPr>
            <p:ph idx="1" type="body"/>
          </p:nvPr>
        </p:nvSpPr>
        <p:spPr>
          <a:xfrm>
            <a:off x="927100" y="1163637"/>
            <a:ext cx="7975600" cy="39147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check if a relation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in a decomposition of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BCNF, </a:t>
            </a:r>
            <a:endParaRPr/>
          </a:p>
          <a:p>
            <a:pPr indent="-285750" lvl="1" marL="742950" marR="0" rtl="0" algn="l">
              <a:lnSpc>
                <a:spcPct val="10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Either test R</a:t>
            </a:r>
            <a:r>
              <a:rPr b="0" baseline="-25000" i="0" lang="en-US" sz="20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for BCNF with respect to the </a:t>
            </a:r>
            <a:r>
              <a:rPr b="0" i="0" lang="en-US" sz="1800" u="none" cap="none" strike="noStrike">
                <a:solidFill>
                  <a:schemeClr val="dk2"/>
                </a:solidFill>
                <a:latin typeface="Helvetica Neue"/>
                <a:ea typeface="Helvetica Neue"/>
                <a:cs typeface="Helvetica Neue"/>
                <a:sym typeface="Helvetica Neue"/>
              </a:rPr>
              <a:t>restriction</a:t>
            </a:r>
            <a:r>
              <a:rPr b="0" i="0" lang="en-US" sz="1800" u="none" cap="none" strike="noStrike">
                <a:solidFill>
                  <a:schemeClr val="dk1"/>
                </a:solidFill>
                <a:latin typeface="Helvetica Neue"/>
                <a:ea typeface="Helvetica Neue"/>
                <a:cs typeface="Helvetica Neue"/>
                <a:sym typeface="Helvetica Neue"/>
              </a:rPr>
              <a:t> of F to R</a:t>
            </a:r>
            <a:r>
              <a:rPr b="0" baseline="-25000" i="0" lang="en-US" sz="20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(that is, all FDs in F</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that contain only attributes from R</a:t>
            </a:r>
            <a:r>
              <a:rPr b="0" baseline="-25000" i="0" lang="en-US" sz="1800" u="none" cap="none" strike="noStrike">
                <a:solidFill>
                  <a:schemeClr val="dk1"/>
                </a:solidFill>
                <a:latin typeface="Helvetica Neue"/>
                <a:ea typeface="Helvetica Neue"/>
                <a:cs typeface="Helvetica Neue"/>
                <a:sym typeface="Helvetica Neue"/>
              </a:rPr>
              <a:t>i</a:t>
            </a:r>
            <a:r>
              <a:rPr b="0" i="0" lang="en-US" sz="16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or use the original set of dependencies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that hold on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but with the following test:</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for every set of attributes α ⊆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check that α</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(the attribute closure of α) either includes no attribute of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α, or includes all attributes of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If the condition is violated by some α→ </a:t>
            </a:r>
            <a:r>
              <a:rPr b="0" i="1" lang="en-US" sz="1800" u="none" cap="none" strike="noStrike">
                <a:solidFill>
                  <a:schemeClr val="dk1"/>
                </a:solidFill>
                <a:latin typeface="Helvetica Neue"/>
                <a:ea typeface="Helvetica Neue"/>
                <a:cs typeface="Helvetica Neue"/>
                <a:sym typeface="Helvetica Neue"/>
              </a:rPr>
              <a:t>β</a:t>
            </a:r>
            <a:r>
              <a:rPr b="0" i="0" lang="en-US" sz="1800" u="none" cap="none" strike="noStrike">
                <a:solidFill>
                  <a:schemeClr val="dk1"/>
                </a:solidFill>
                <a:latin typeface="Helvetica Neue"/>
                <a:ea typeface="Helvetica Neue"/>
                <a:cs typeface="Helvetica Neue"/>
                <a:sym typeface="Helvetica Neue"/>
              </a:rPr>
              <a:t>  in </a:t>
            </a:r>
            <a:r>
              <a:rPr b="0" i="1" lang="en-US" sz="1800" u="none" cap="none" strike="noStrike">
                <a:solidFill>
                  <a:schemeClr val="dk1"/>
                </a:solidFill>
                <a:latin typeface="Helvetica Neue"/>
                <a:ea typeface="Helvetica Neue"/>
                <a:cs typeface="Helvetica Neue"/>
                <a:sym typeface="Helvetica Neue"/>
              </a:rPr>
              <a:t>F</a:t>
            </a:r>
            <a:r>
              <a:rPr b="0" i="0" lang="en-US" sz="1800" u="none" cap="none" strike="noStrike">
                <a:solidFill>
                  <a:schemeClr val="dk1"/>
                </a:solidFill>
                <a:latin typeface="Helvetica Neue"/>
                <a:ea typeface="Helvetica Neue"/>
                <a:cs typeface="Helvetica Neue"/>
                <a:sym typeface="Helvetica Neue"/>
              </a:rPr>
              <a:t>, the dependency</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α→ (α</a:t>
            </a:r>
            <a:r>
              <a:rPr b="0" baseline="30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α) ∩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br>
              <a:rPr b="0" baseline="3000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can be shown to hold on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violates BCNF.</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We use above dependency to decompose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32" name="Shape 332"/>
        <p:cNvGrpSpPr/>
        <p:nvPr/>
      </p:nvGrpSpPr>
      <p:grpSpPr>
        <a:xfrm>
          <a:off x="0" y="0"/>
          <a:ext cx="0" cy="0"/>
          <a:chOff x="0" y="0"/>
          <a:chExt cx="0" cy="0"/>
        </a:xfrm>
      </p:grpSpPr>
      <p:sp>
        <p:nvSpPr>
          <p:cNvPr id="333" name="Google Shape;333;p4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BCNF Decomposition Algorithm</a:t>
            </a:r>
            <a:endParaRPr/>
          </a:p>
        </p:txBody>
      </p:sp>
      <p:sp>
        <p:nvSpPr>
          <p:cNvPr id="334" name="Google Shape;334;p49"/>
          <p:cNvSpPr txBox="1"/>
          <p:nvPr>
            <p:ph idx="1" type="body"/>
          </p:nvPr>
        </p:nvSpPr>
        <p:spPr>
          <a:xfrm>
            <a:off x="836612" y="1163637"/>
            <a:ext cx="8307387" cy="42910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result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done </a:t>
            </a:r>
            <a:r>
              <a:rPr b="0" i="0" lang="en-US" sz="1800" u="none">
                <a:solidFill>
                  <a:schemeClr val="dk1"/>
                </a:solidFill>
                <a:latin typeface="Helvetica Neue"/>
                <a:ea typeface="Helvetica Neue"/>
                <a:cs typeface="Helvetica Neue"/>
                <a:sym typeface="Helvetica Neue"/>
              </a:rPr>
              <a:t>:= false;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compute </a:t>
            </a:r>
            <a:r>
              <a:rPr b="0" i="1" lang="en-US" sz="1800" u="none">
                <a:solidFill>
                  <a:schemeClr val="dk1"/>
                </a:solidFill>
                <a:latin typeface="Helvetica Neue"/>
                <a:ea typeface="Helvetica Neue"/>
                <a:cs typeface="Helvetica Neue"/>
                <a:sym typeface="Helvetica Neue"/>
              </a:rPr>
              <a:t>F </a:t>
            </a:r>
            <a:r>
              <a:rPr b="0" baseline="30000" i="0" lang="en-US" sz="2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while (not </a:t>
            </a:r>
            <a:r>
              <a:rPr b="0" i="1" lang="en-US" sz="1800" u="none">
                <a:solidFill>
                  <a:schemeClr val="dk1"/>
                </a:solidFill>
                <a:latin typeface="Helvetica Neue"/>
                <a:ea typeface="Helvetica Neue"/>
                <a:cs typeface="Helvetica Neue"/>
                <a:sym typeface="Helvetica Neue"/>
              </a:rPr>
              <a:t>done) </a:t>
            </a:r>
            <a:r>
              <a:rPr b="1" i="0" lang="en-US" sz="1800" u="none">
                <a:solidFill>
                  <a:schemeClr val="dk1"/>
                </a:solidFill>
                <a:latin typeface="Helvetica Neue"/>
                <a:ea typeface="Helvetica Neue"/>
                <a:cs typeface="Helvetica Neue"/>
                <a:sym typeface="Helvetica Neue"/>
              </a:rPr>
              <a:t>do</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if </a:t>
            </a:r>
            <a:r>
              <a:rPr b="0" i="0" lang="en-US" sz="1800" u="none">
                <a:solidFill>
                  <a:schemeClr val="dk1"/>
                </a:solidFill>
                <a:latin typeface="Helvetica Neue"/>
                <a:ea typeface="Helvetica Neue"/>
                <a:cs typeface="Helvetica Neue"/>
                <a:sym typeface="Helvetica Neue"/>
              </a:rPr>
              <a:t>(there is a schema </a:t>
            </a:r>
            <a:r>
              <a:rPr b="0" i="1" lang="en-US" sz="1800" u="none">
                <a:solidFill>
                  <a:schemeClr val="dk1"/>
                </a:solidFill>
                <a:latin typeface="Helvetica Neue"/>
                <a:ea typeface="Helvetica Neue"/>
                <a:cs typeface="Helvetica Neue"/>
                <a:sym typeface="Helvetica Neue"/>
              </a:rPr>
              <a:t>R</a:t>
            </a:r>
            <a:r>
              <a:rPr b="0" baseline="-25000" i="1" lang="en-US" sz="2000" u="none">
                <a:solidFill>
                  <a:schemeClr val="dk1"/>
                </a:solidFill>
                <a:latin typeface="Helvetica Neue"/>
                <a:ea typeface="Helvetica Neue"/>
                <a:cs typeface="Helvetica Neue"/>
                <a:sym typeface="Helvetica Neue"/>
              </a:rPr>
              <a:t>i</a:t>
            </a:r>
            <a:r>
              <a:rPr b="0" i="1" lang="en-US" sz="20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in </a:t>
            </a:r>
            <a:r>
              <a:rPr b="0" i="1" lang="en-US" sz="1800" u="none">
                <a:solidFill>
                  <a:schemeClr val="dk1"/>
                </a:solidFill>
                <a:latin typeface="Helvetica Neue"/>
                <a:ea typeface="Helvetica Neue"/>
                <a:cs typeface="Helvetica Neue"/>
                <a:sym typeface="Helvetica Neue"/>
              </a:rPr>
              <a:t>result </a:t>
            </a:r>
            <a:r>
              <a:rPr b="0" i="0" lang="en-US" sz="1800" u="none">
                <a:solidFill>
                  <a:schemeClr val="dk1"/>
                </a:solidFill>
                <a:latin typeface="Helvetica Neue"/>
                <a:ea typeface="Helvetica Neue"/>
                <a:cs typeface="Helvetica Neue"/>
                <a:sym typeface="Helvetica Neue"/>
              </a:rPr>
              <a:t> that is not in BCNF)</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then begin</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let α → </a:t>
            </a:r>
            <a:r>
              <a:rPr b="0" i="1" lang="en-US" sz="1800" u="none">
                <a:solidFill>
                  <a:schemeClr val="dk1"/>
                </a:solidFill>
                <a:latin typeface="Helvetica Neue"/>
                <a:ea typeface="Helvetica Neue"/>
                <a:cs typeface="Helvetica Neue"/>
                <a:sym typeface="Helvetica Neue"/>
              </a:rPr>
              <a:t>β </a:t>
            </a:r>
            <a:r>
              <a:rPr b="0" i="0" lang="en-US" sz="1800" u="none">
                <a:solidFill>
                  <a:schemeClr val="dk1"/>
                </a:solidFill>
                <a:latin typeface="Helvetica Neue"/>
                <a:ea typeface="Helvetica Neue"/>
                <a:cs typeface="Helvetica Neue"/>
                <a:sym typeface="Helvetica Neue"/>
              </a:rPr>
              <a:t> be a nontrivial functional dependency that holds on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such that α → </a:t>
            </a:r>
            <a:r>
              <a:rPr b="0" i="1" lang="en-US" sz="1800" u="none">
                <a:solidFill>
                  <a:schemeClr val="dk1"/>
                </a:solidFill>
                <a:latin typeface="Helvetica Neue"/>
                <a:ea typeface="Helvetica Neue"/>
                <a:cs typeface="Helvetica Neue"/>
                <a:sym typeface="Helvetica Neue"/>
              </a:rPr>
              <a:t>R</a:t>
            </a:r>
            <a:r>
              <a:rPr b="0" baseline="-25000" i="1" lang="en-US" sz="24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is not in </a:t>
            </a:r>
            <a:r>
              <a:rPr b="0" i="1" lang="en-US" sz="1800" u="none">
                <a:solidFill>
                  <a:schemeClr val="dk1"/>
                </a:solidFill>
                <a:latin typeface="Helvetica Neue"/>
                <a:ea typeface="Helvetica Neue"/>
                <a:cs typeface="Helvetica Neue"/>
                <a:sym typeface="Helvetica Neue"/>
              </a:rPr>
              <a:t>F </a:t>
            </a:r>
            <a:r>
              <a:rPr b="0" baseline="30000" i="0" lang="en-US" sz="2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and α ∩ </a:t>
            </a:r>
            <a:r>
              <a:rPr b="0" i="1" lang="en-US" sz="1800" u="none">
                <a:solidFill>
                  <a:schemeClr val="dk1"/>
                </a:solidFill>
                <a:latin typeface="Helvetica Neue"/>
                <a:ea typeface="Helvetica Neue"/>
                <a:cs typeface="Helvetica Neue"/>
                <a:sym typeface="Helvetica Neue"/>
              </a:rPr>
              <a:t>β  = </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result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result – R</a:t>
            </a:r>
            <a:r>
              <a:rPr b="0" baseline="-25000" i="1" lang="en-US" sz="2400" u="none">
                <a:solidFill>
                  <a:schemeClr val="dk1"/>
                </a:solidFill>
                <a:latin typeface="Helvetica Neue"/>
                <a:ea typeface="Helvetica Neue"/>
                <a:cs typeface="Helvetica Neue"/>
                <a:sym typeface="Helvetica Neue"/>
              </a:rPr>
              <a:t>i </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24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 β</a:t>
            </a:r>
            <a:r>
              <a:rPr b="0" i="0" lang="en-US" sz="1800" u="none">
                <a:solidFill>
                  <a:schemeClr val="dk1"/>
                </a:solidFill>
                <a:latin typeface="Helvetica Neue"/>
                <a:ea typeface="Helvetica Neue"/>
                <a:cs typeface="Helvetica Neue"/>
                <a:sym typeface="Helvetica Neue"/>
              </a:rPr>
              <a:t>) ∪ (α, </a:t>
            </a:r>
            <a:r>
              <a:rPr b="0" i="1" lang="en-US" sz="1800" u="none">
                <a:solidFill>
                  <a:schemeClr val="dk1"/>
                </a:solidFill>
                <a:latin typeface="Helvetica Neue"/>
                <a:ea typeface="Helvetica Neue"/>
                <a:cs typeface="Helvetica Neue"/>
                <a:sym typeface="Helvetica Neue"/>
              </a:rPr>
              <a:t>β );</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end</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else</a:t>
            </a:r>
            <a:r>
              <a:rPr b="0" i="1" lang="en-US" sz="1800" u="none">
                <a:solidFill>
                  <a:schemeClr val="dk1"/>
                </a:solidFill>
                <a:latin typeface="Helvetica Neue"/>
                <a:ea typeface="Helvetica Neue"/>
                <a:cs typeface="Helvetica Neue"/>
                <a:sym typeface="Helvetica Neue"/>
              </a:rPr>
              <a:t> done </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true; </a:t>
            </a:r>
            <a:endParaRPr/>
          </a:p>
          <a:p>
            <a:pPr indent="-342900" lvl="0" marL="342900" marR="0" rtl="0" algn="l">
              <a:lnSpc>
                <a:spcPct val="100000"/>
              </a:lnSpc>
              <a:spcBef>
                <a:spcPts val="630"/>
              </a:spcBef>
              <a:spcAft>
                <a:spcPts val="0"/>
              </a:spcAft>
              <a:buClr>
                <a:schemeClr val="dk2"/>
              </a:buClr>
              <a:buSzPts val="1620"/>
              <a:buFont typeface="Arial"/>
              <a:buNone/>
            </a:pPr>
            <a:r>
              <a:t/>
            </a:r>
            <a:endParaRPr b="1"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Note:  each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is in BCNF, and decomposition is lossless-join.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38" name="Shape 338"/>
        <p:cNvGrpSpPr/>
        <p:nvPr/>
      </p:nvGrpSpPr>
      <p:grpSpPr>
        <a:xfrm>
          <a:off x="0" y="0"/>
          <a:ext cx="0" cy="0"/>
          <a:chOff x="0" y="0"/>
          <a:chExt cx="0" cy="0"/>
        </a:xfrm>
      </p:grpSpPr>
      <p:sp>
        <p:nvSpPr>
          <p:cNvPr id="339" name="Google Shape;339;p5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BCNF Decomposition</a:t>
            </a:r>
            <a:endParaRPr/>
          </a:p>
        </p:txBody>
      </p:sp>
      <p:sp>
        <p:nvSpPr>
          <p:cNvPr id="340" name="Google Shape;340;p50"/>
          <p:cNvSpPr txBox="1"/>
          <p:nvPr>
            <p:ph idx="1" type="body"/>
          </p:nvPr>
        </p:nvSpPr>
        <p:spPr>
          <a:xfrm>
            <a:off x="927100" y="1139825"/>
            <a:ext cx="6338887" cy="42529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 B, C </a:t>
            </a:r>
            <a:r>
              <a:rPr b="0" i="0" lang="en-US" sz="1800" u="none">
                <a:solidFill>
                  <a:schemeClr val="dk1"/>
                </a:solidFill>
                <a:latin typeface="Helvetica Neue"/>
                <a:ea typeface="Helvetica Neue"/>
                <a:cs typeface="Helvetica Neue"/>
                <a:sym typeface="Helvetica Neue"/>
              </a:rPr>
              <a:t>)</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B</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B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C</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Key =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not in BCNF (</a:t>
            </a:r>
            <a:r>
              <a:rPr b="0" i="1" lang="en-US" sz="1800" u="none">
                <a:solidFill>
                  <a:schemeClr val="dk1"/>
                </a:solidFill>
                <a:latin typeface="Helvetica Neue"/>
                <a:ea typeface="Helvetica Neue"/>
                <a:cs typeface="Helvetica Neue"/>
                <a:sym typeface="Helvetica Neue"/>
              </a:rPr>
              <a:t>B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C </a:t>
            </a:r>
            <a:r>
              <a:rPr b="0" i="0" lang="en-US" sz="1800" u="none">
                <a:solidFill>
                  <a:schemeClr val="dk1"/>
                </a:solidFill>
                <a:latin typeface="Helvetica Neue"/>
                <a:ea typeface="Helvetica Neue"/>
                <a:cs typeface="Helvetica Neue"/>
                <a:sym typeface="Helvetica Neue"/>
              </a:rPr>
              <a:t>but</a:t>
            </a:r>
            <a:r>
              <a:rPr b="0" i="1" lang="en-US" sz="1800" u="none">
                <a:solidFill>
                  <a:schemeClr val="dk1"/>
                </a:solidFill>
                <a:latin typeface="Helvetica Neue"/>
                <a:ea typeface="Helvetica Neue"/>
                <a:cs typeface="Helvetica Neue"/>
                <a:sym typeface="Helvetica Neue"/>
              </a:rPr>
              <a:t> B </a:t>
            </a:r>
            <a:r>
              <a:rPr b="0" i="0" lang="en-US" sz="1800" u="none">
                <a:solidFill>
                  <a:schemeClr val="dk1"/>
                </a:solidFill>
                <a:latin typeface="Helvetica Neue"/>
                <a:ea typeface="Helvetica Neue"/>
                <a:cs typeface="Helvetica Neue"/>
                <a:sym typeface="Helvetica Neue"/>
              </a:rPr>
              <a:t>is not  superkey)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Decomposition</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 C)</a:t>
            </a:r>
            <a:endParaRPr b="0" i="0"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(A,B)</a:t>
            </a:r>
            <a:endParaRPr/>
          </a:p>
          <a:p>
            <a:pPr indent="-240030" lvl="0" marL="342900" marR="0" rtl="0" algn="l">
              <a:lnSpc>
                <a:spcPct val="100000"/>
              </a:lnSpc>
              <a:spcBef>
                <a:spcPts val="630"/>
              </a:spcBef>
              <a:spcAft>
                <a:spcPts val="0"/>
              </a:spcAft>
              <a:buClr>
                <a:schemeClr val="dk2"/>
              </a:buClr>
              <a:buSzPts val="1620"/>
              <a:buFont typeface="Arial"/>
              <a:buNone/>
            </a:pPr>
            <a:r>
              <a:t/>
            </a:r>
            <a:endParaRPr b="0" i="1"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44" name="Shape 344"/>
        <p:cNvGrpSpPr/>
        <p:nvPr/>
      </p:nvGrpSpPr>
      <p:grpSpPr>
        <a:xfrm>
          <a:off x="0" y="0"/>
          <a:ext cx="0" cy="0"/>
          <a:chOff x="0" y="0"/>
          <a:chExt cx="0" cy="0"/>
        </a:xfrm>
      </p:grpSpPr>
      <p:sp>
        <p:nvSpPr>
          <p:cNvPr id="345" name="Google Shape;345;p5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BCNF Decomposition</a:t>
            </a:r>
            <a:endParaRPr/>
          </a:p>
        </p:txBody>
      </p:sp>
      <p:sp>
        <p:nvSpPr>
          <p:cNvPr id="346" name="Google Shape;346;p51"/>
          <p:cNvSpPr txBox="1"/>
          <p:nvPr>
            <p:ph idx="1" type="body"/>
          </p:nvPr>
        </p:nvSpPr>
        <p:spPr>
          <a:xfrm>
            <a:off x="927100" y="1139825"/>
            <a:ext cx="7640637" cy="47672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Original relation</a:t>
            </a:r>
            <a:r>
              <a:rPr b="0" i="1" lang="en-US" sz="1800" u="none">
                <a:solidFill>
                  <a:schemeClr val="dk1"/>
                </a:solidFill>
                <a:latin typeface="Helvetica Neue"/>
                <a:ea typeface="Helvetica Neue"/>
                <a:cs typeface="Helvetica Neue"/>
                <a:sym typeface="Helvetica Neue"/>
              </a:rPr>
              <a:t> R </a:t>
            </a:r>
            <a:r>
              <a:rPr b="0" i="0" lang="en-US" sz="1800" u="none">
                <a:solidFill>
                  <a:schemeClr val="dk1"/>
                </a:solidFill>
                <a:latin typeface="Helvetica Neue"/>
                <a:ea typeface="Helvetica Neue"/>
                <a:cs typeface="Helvetica Neue"/>
                <a:sym typeface="Helvetica Neue"/>
              </a:rPr>
              <a:t>and</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functional dependency</a:t>
            </a:r>
            <a:r>
              <a:rPr b="0" i="1" lang="en-US" sz="1800" u="none">
                <a:solidFill>
                  <a:schemeClr val="dk1"/>
                </a:solidFill>
                <a:latin typeface="Helvetica Neue"/>
                <a:ea typeface="Helvetica Neue"/>
                <a:cs typeface="Helvetica Neue"/>
                <a:sym typeface="Helvetica Neue"/>
              </a:rPr>
              <a:t> F</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R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branch_name, branch_city, assets,</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		       customer_name, loan_number, amount </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   F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branch_name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assets branch_city</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	      loan_number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amount branch_name </a:t>
            </a:r>
            <a:r>
              <a:rPr b="0" i="0" lang="en-US" sz="1800" u="none" cap="none" strike="noStrike">
                <a:solidFill>
                  <a:schemeClr val="dk1"/>
                </a:solidFill>
                <a:latin typeface="Helvetica Neue"/>
                <a:ea typeface="Helvetica Neue"/>
                <a:cs typeface="Helvetica Neue"/>
                <a:sym typeface="Helvetica Neue"/>
              </a:rPr>
              <a:t>}</a:t>
            </a:r>
            <a:endParaRPr b="0" i="1"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	Key =</a:t>
            </a:r>
            <a:r>
              <a:rPr b="0" i="1" lang="en-US" sz="1800" u="none" cap="none" strike="noStrike">
                <a:solidFill>
                  <a:schemeClr val="dk1"/>
                </a:solidFill>
                <a:latin typeface="Helvetica Neue"/>
                <a:ea typeface="Helvetica Neue"/>
                <a:cs typeface="Helvetica Neue"/>
                <a:sym typeface="Helvetica Neue"/>
              </a:rPr>
              <a:t> {loan_number, customer_name</a:t>
            </a:r>
            <a:r>
              <a:rPr b="0" i="0" lang="en-US" sz="1800" u="none" cap="none" strike="noStrike">
                <a:solidFill>
                  <a:schemeClr val="dk1"/>
                </a:solidFill>
                <a:latin typeface="Helvetica Neue"/>
                <a:ea typeface="Helvetica Neue"/>
                <a:cs typeface="Helvetica Neue"/>
                <a:sym typeface="Helvetica Neue"/>
              </a:rPr>
              <a:t>}</a:t>
            </a:r>
            <a:endParaRPr b="0" i="1"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Decomposition</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branch_name, branch_city, assets </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branch_name, customer_name, loan_number, amount </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3</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branch_name, loan_number, amount </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4</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customer_name, loan_number </a:t>
            </a:r>
            <a:r>
              <a:rPr b="0" i="0" lang="en-US" sz="1800" u="none" cap="none" strike="noStrike">
                <a:solidFill>
                  <a:schemeClr val="dk1"/>
                </a:solidFill>
                <a:latin typeface="Helvetica Neue"/>
                <a:ea typeface="Helvetica Neue"/>
                <a:cs typeface="Helvetica Neue"/>
                <a:sym typeface="Helvetica Neue"/>
              </a:rPr>
              <a:t>)</a:t>
            </a:r>
            <a:endParaRPr b="0" i="1"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Final decomposition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1" lang="en-US" sz="16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3</a:t>
            </a:r>
            <a:r>
              <a:rPr b="0" i="1" lang="en-US" sz="16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50" name="Shape 350"/>
        <p:cNvGrpSpPr/>
        <p:nvPr/>
      </p:nvGrpSpPr>
      <p:grpSpPr>
        <a:xfrm>
          <a:off x="0" y="0"/>
          <a:ext cx="0" cy="0"/>
          <a:chOff x="0" y="0"/>
          <a:chExt cx="0" cy="0"/>
        </a:xfrm>
      </p:grpSpPr>
      <p:sp>
        <p:nvSpPr>
          <p:cNvPr id="351" name="Google Shape;351;p52"/>
          <p:cNvSpPr txBox="1"/>
          <p:nvPr>
            <p:ph type="title"/>
          </p:nvPr>
        </p:nvSpPr>
        <p:spPr>
          <a:xfrm>
            <a:off x="952500" y="66675"/>
            <a:ext cx="7831137" cy="6238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BCNF and Dependency Preservation</a:t>
            </a:r>
            <a:endParaRPr/>
          </a:p>
        </p:txBody>
      </p:sp>
      <p:sp>
        <p:nvSpPr>
          <p:cNvPr id="352" name="Google Shape;352;p52"/>
          <p:cNvSpPr txBox="1"/>
          <p:nvPr>
            <p:ph idx="1" type="body"/>
          </p:nvPr>
        </p:nvSpPr>
        <p:spPr>
          <a:xfrm>
            <a:off x="927100" y="1909762"/>
            <a:ext cx="672465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J, K, L </a:t>
            </a:r>
            <a:r>
              <a:rPr b="0" i="0" lang="en-US" sz="1800" u="none">
                <a:solidFill>
                  <a:schemeClr val="dk1"/>
                </a:solidFill>
                <a:latin typeface="Helvetica Neue"/>
                <a:ea typeface="Helvetica Neue"/>
                <a:cs typeface="Helvetica Neue"/>
                <a:sym typeface="Helvetica Neue"/>
              </a:rPr>
              <a:t>)</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 =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JK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L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K </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Two candidate keys = </a:t>
            </a:r>
            <a:r>
              <a:rPr b="0" i="1" lang="en-US" sz="1800" u="none">
                <a:solidFill>
                  <a:schemeClr val="dk1"/>
                </a:solidFill>
                <a:latin typeface="Helvetica Neue"/>
                <a:ea typeface="Helvetica Neue"/>
                <a:cs typeface="Helvetica Neue"/>
                <a:sym typeface="Helvetica Neue"/>
              </a:rPr>
              <a:t>JK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JL</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is not in BCNF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Any decomposition of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will fail to preserve</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JK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This implies that testing for </a:t>
            </a:r>
            <a:r>
              <a:rPr b="0" i="1" lang="en-US" sz="1800" u="none">
                <a:solidFill>
                  <a:schemeClr val="dk1"/>
                </a:solidFill>
                <a:latin typeface="Helvetica Neue"/>
                <a:ea typeface="Helvetica Neue"/>
                <a:cs typeface="Helvetica Neue"/>
                <a:sym typeface="Helvetica Neue"/>
              </a:rPr>
              <a:t>JK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 </a:t>
            </a:r>
            <a:r>
              <a:rPr b="0" i="0" lang="en-US" sz="1800" u="none">
                <a:solidFill>
                  <a:schemeClr val="dk1"/>
                </a:solidFill>
                <a:latin typeface="Helvetica Neue"/>
                <a:ea typeface="Helvetica Neue"/>
                <a:cs typeface="Helvetica Neue"/>
                <a:sym typeface="Helvetica Neue"/>
              </a:rPr>
              <a:t>requires a join</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
        <p:nvSpPr>
          <p:cNvPr id="353" name="Google Shape;353;p52"/>
          <p:cNvSpPr txBox="1"/>
          <p:nvPr/>
        </p:nvSpPr>
        <p:spPr>
          <a:xfrm>
            <a:off x="927100" y="1163637"/>
            <a:ext cx="6372225" cy="6413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It is not always possible to get a BCNF decomposition that is </a:t>
            </a:r>
            <a:endParaRPr/>
          </a:p>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dependency preserving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57" name="Shape 357"/>
        <p:cNvGrpSpPr/>
        <p:nvPr/>
      </p:nvGrpSpPr>
      <p:grpSpPr>
        <a:xfrm>
          <a:off x="0" y="0"/>
          <a:ext cx="0" cy="0"/>
          <a:chOff x="0" y="0"/>
          <a:chExt cx="0" cy="0"/>
        </a:xfrm>
      </p:grpSpPr>
      <p:sp>
        <p:nvSpPr>
          <p:cNvPr id="358" name="Google Shape;358;p5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Third Normal Form: Motivation</a:t>
            </a:r>
            <a:endParaRPr/>
          </a:p>
        </p:txBody>
      </p:sp>
      <p:sp>
        <p:nvSpPr>
          <p:cNvPr id="359" name="Google Shape;359;p53"/>
          <p:cNvSpPr txBox="1"/>
          <p:nvPr>
            <p:ph idx="1" type="body"/>
          </p:nvPr>
        </p:nvSpPr>
        <p:spPr>
          <a:xfrm>
            <a:off x="927100" y="1139825"/>
            <a:ext cx="7100887" cy="45148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There are some situations where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BCNF is not dependency preserving, and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efficient checking for FD violation on updates is important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Solution: define a weaker normal form, called Third                    Normal Form (3NF)</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Allows some redundancy (with resultant problems; we will see examples later)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But functional dependencies can be checked on individual relations without computing a join.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There is always a lossless-join, dependency-preserving decomposition into 3NF.</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63" name="Shape 363"/>
        <p:cNvGrpSpPr/>
        <p:nvPr/>
      </p:nvGrpSpPr>
      <p:grpSpPr>
        <a:xfrm>
          <a:off x="0" y="0"/>
          <a:ext cx="0" cy="0"/>
          <a:chOff x="0" y="0"/>
          <a:chExt cx="0" cy="0"/>
        </a:xfrm>
      </p:grpSpPr>
      <p:sp>
        <p:nvSpPr>
          <p:cNvPr id="364" name="Google Shape;364;p5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3NF Example</a:t>
            </a:r>
            <a:endParaRPr/>
          </a:p>
        </p:txBody>
      </p:sp>
      <p:sp>
        <p:nvSpPr>
          <p:cNvPr id="365" name="Google Shape;365;p54"/>
          <p:cNvSpPr txBox="1"/>
          <p:nvPr>
            <p:ph idx="1" type="body"/>
          </p:nvPr>
        </p:nvSpPr>
        <p:spPr>
          <a:xfrm>
            <a:off x="927100" y="1139825"/>
            <a:ext cx="7564437" cy="48466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Relation R:</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 =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J, K, L </a:t>
            </a:r>
            <a:r>
              <a:rPr b="0" i="0" lang="en-US" sz="1800" u="none" cap="none" strike="noStrike">
                <a:solidFill>
                  <a:schemeClr val="dk1"/>
                </a:solidFill>
                <a:latin typeface="Helvetica Neue"/>
                <a:ea typeface="Helvetica Neue"/>
                <a:cs typeface="Helvetica Neue"/>
                <a:sym typeface="Helvetica Neue"/>
              </a:rPr>
              <a:t>)</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F =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JK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 L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K </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Two candidate keys:  </a:t>
            </a:r>
            <a:r>
              <a:rPr b="0" i="1" lang="en-US" sz="1800" u="none" cap="none" strike="noStrike">
                <a:solidFill>
                  <a:schemeClr val="dk1"/>
                </a:solidFill>
                <a:latin typeface="Helvetica Neue"/>
                <a:ea typeface="Helvetica Neue"/>
                <a:cs typeface="Helvetica Neue"/>
                <a:sym typeface="Helvetica Neue"/>
              </a:rPr>
              <a:t>JK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JL</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is in 3NF</a:t>
            </a:r>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JK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	JK </a:t>
            </a:r>
            <a:r>
              <a:rPr b="0" i="0" lang="en-US" sz="1800" u="none" cap="none" strike="noStrike">
                <a:solidFill>
                  <a:schemeClr val="dk1"/>
                </a:solidFill>
                <a:latin typeface="Helvetica Neue"/>
                <a:ea typeface="Helvetica Neue"/>
                <a:cs typeface="Helvetica Neue"/>
                <a:sym typeface="Helvetica Neue"/>
              </a:rPr>
              <a:t>is a superkey</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K	K </a:t>
            </a:r>
            <a:r>
              <a:rPr b="0" i="0" lang="en-US" sz="1800" u="none" cap="none" strike="noStrike">
                <a:solidFill>
                  <a:schemeClr val="dk1"/>
                </a:solidFill>
                <a:latin typeface="Helvetica Neue"/>
                <a:ea typeface="Helvetica Neue"/>
                <a:cs typeface="Helvetica Neue"/>
                <a:sym typeface="Helvetica Neue"/>
              </a:rPr>
              <a:t>is contained in a candidate key</a:t>
            </a:r>
            <a:endParaRPr/>
          </a:p>
          <a:p>
            <a:pPr indent="-34290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69" name="Shape 369"/>
        <p:cNvGrpSpPr/>
        <p:nvPr/>
      </p:nvGrpSpPr>
      <p:grpSpPr>
        <a:xfrm>
          <a:off x="0" y="0"/>
          <a:ext cx="0" cy="0"/>
          <a:chOff x="0" y="0"/>
          <a:chExt cx="0" cy="0"/>
        </a:xfrm>
      </p:grpSpPr>
      <p:sp>
        <p:nvSpPr>
          <p:cNvPr id="370" name="Google Shape;370;p55"/>
          <p:cNvSpPr txBox="1"/>
          <p:nvPr>
            <p:ph type="title"/>
          </p:nvPr>
        </p:nvSpPr>
        <p:spPr>
          <a:xfrm>
            <a:off x="781050" y="666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Redundancy  in 3NF</a:t>
            </a:r>
            <a:endParaRPr/>
          </a:p>
        </p:txBody>
      </p:sp>
      <p:sp>
        <p:nvSpPr>
          <p:cNvPr id="371" name="Google Shape;371;p55"/>
          <p:cNvSpPr txBox="1"/>
          <p:nvPr/>
        </p:nvSpPr>
        <p:spPr>
          <a:xfrm>
            <a:off x="2830512" y="2622550"/>
            <a:ext cx="6096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J</a:t>
            </a:r>
            <a:endParaRPr/>
          </a:p>
        </p:txBody>
      </p:sp>
      <p:sp>
        <p:nvSpPr>
          <p:cNvPr id="372" name="Google Shape;372;p55"/>
          <p:cNvSpPr txBox="1"/>
          <p:nvPr/>
        </p:nvSpPr>
        <p:spPr>
          <a:xfrm>
            <a:off x="2830512" y="3051175"/>
            <a:ext cx="609600" cy="1524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i="0"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2</a:t>
            </a:r>
            <a:endParaRPr/>
          </a:p>
          <a:p>
            <a:pPr indent="0" lvl="0" marL="0" marR="0" rtl="0" algn="ctr">
              <a:lnSpc>
                <a:spcPct val="80000"/>
              </a:lnSpc>
              <a:spcBef>
                <a:spcPts val="0"/>
              </a:spcBef>
              <a:spcAft>
                <a:spcPts val="0"/>
              </a:spcAft>
              <a:buClr>
                <a:schemeClr val="dk1"/>
              </a:buClr>
              <a:buSzPts val="1800"/>
              <a:buFont typeface="Times New Roman"/>
              <a:buNone/>
            </a:pPr>
            <a:r>
              <a:t/>
            </a:r>
            <a:endParaRPr b="0" baseline="-25000" i="0"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3</a:t>
            </a:r>
            <a:endParaRPr/>
          </a:p>
          <a:p>
            <a:pPr indent="0" lvl="0" marL="0" marR="0" rtl="0" algn="ctr">
              <a:lnSpc>
                <a:spcPct val="80000"/>
              </a:lnSpc>
              <a:spcBef>
                <a:spcPts val="0"/>
              </a:spcBef>
              <a:spcAft>
                <a:spcPts val="0"/>
              </a:spcAft>
              <a:buClr>
                <a:schemeClr val="dk1"/>
              </a:buClr>
              <a:buSzPts val="1800"/>
              <a:buFont typeface="Times New Roman"/>
              <a:buNone/>
            </a:pPr>
            <a:r>
              <a:t/>
            </a:r>
            <a:endParaRPr b="0" i="1"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null</a:t>
            </a:r>
            <a:endParaRPr/>
          </a:p>
        </p:txBody>
      </p:sp>
      <p:sp>
        <p:nvSpPr>
          <p:cNvPr id="373" name="Google Shape;373;p55"/>
          <p:cNvSpPr txBox="1"/>
          <p:nvPr/>
        </p:nvSpPr>
        <p:spPr>
          <a:xfrm>
            <a:off x="3440112" y="2622550"/>
            <a:ext cx="4572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L</a:t>
            </a:r>
            <a:endParaRPr/>
          </a:p>
        </p:txBody>
      </p:sp>
      <p:sp>
        <p:nvSpPr>
          <p:cNvPr id="374" name="Google Shape;374;p55"/>
          <p:cNvSpPr txBox="1"/>
          <p:nvPr/>
        </p:nvSpPr>
        <p:spPr>
          <a:xfrm>
            <a:off x="3440112" y="3051175"/>
            <a:ext cx="457200" cy="1524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l</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baseline="-25000" i="0"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l</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baseline="-25000" i="0"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l</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i="1"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l</a:t>
            </a:r>
            <a:r>
              <a:rPr b="0" baseline="-25000" i="0" lang="en-US" sz="1800" u="none">
                <a:solidFill>
                  <a:schemeClr val="dk1"/>
                </a:solidFill>
                <a:latin typeface="Helvetica Neue"/>
                <a:ea typeface="Helvetica Neue"/>
                <a:cs typeface="Helvetica Neue"/>
                <a:sym typeface="Helvetica Neue"/>
              </a:rPr>
              <a:t>2</a:t>
            </a:r>
            <a:endParaRPr/>
          </a:p>
        </p:txBody>
      </p:sp>
      <p:sp>
        <p:nvSpPr>
          <p:cNvPr id="375" name="Google Shape;375;p55"/>
          <p:cNvSpPr txBox="1"/>
          <p:nvPr/>
        </p:nvSpPr>
        <p:spPr>
          <a:xfrm>
            <a:off x="3897312" y="2622550"/>
            <a:ext cx="4572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K</a:t>
            </a:r>
            <a:endParaRPr/>
          </a:p>
        </p:txBody>
      </p:sp>
      <p:sp>
        <p:nvSpPr>
          <p:cNvPr id="376" name="Google Shape;376;p55"/>
          <p:cNvSpPr txBox="1"/>
          <p:nvPr/>
        </p:nvSpPr>
        <p:spPr>
          <a:xfrm>
            <a:off x="3911600" y="3051175"/>
            <a:ext cx="457200" cy="1524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k</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baseline="-25000" i="0"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k</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baseline="-25000" i="0"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k</a:t>
            </a:r>
            <a:r>
              <a:rPr b="0" baseline="-25000" i="0" lang="en-US" sz="1800" u="none">
                <a:solidFill>
                  <a:schemeClr val="dk1"/>
                </a:solidFill>
                <a:latin typeface="Helvetica Neue"/>
                <a:ea typeface="Helvetica Neue"/>
                <a:cs typeface="Helvetica Neue"/>
                <a:sym typeface="Helvetica Neue"/>
              </a:rPr>
              <a:t>1</a:t>
            </a:r>
            <a:endParaRPr/>
          </a:p>
          <a:p>
            <a:pPr indent="0" lvl="0" marL="0" marR="0" rtl="0" algn="ctr">
              <a:lnSpc>
                <a:spcPct val="80000"/>
              </a:lnSpc>
              <a:spcBef>
                <a:spcPts val="0"/>
              </a:spcBef>
              <a:spcAft>
                <a:spcPts val="0"/>
              </a:spcAft>
              <a:buClr>
                <a:schemeClr val="dk1"/>
              </a:buClr>
              <a:buSzPts val="1800"/>
              <a:buFont typeface="Times New Roman"/>
              <a:buNone/>
            </a:pPr>
            <a:r>
              <a:t/>
            </a:r>
            <a:endParaRPr b="0" i="1" sz="1800" u="none">
              <a:solidFill>
                <a:schemeClr val="dk1"/>
              </a:solidFill>
              <a:latin typeface="Helvetica Neue"/>
              <a:ea typeface="Helvetica Neue"/>
              <a:cs typeface="Helvetica Neue"/>
              <a:sym typeface="Helvetica Neue"/>
            </a:endParaRPr>
          </a:p>
          <a:p>
            <a:pPr indent="0" lvl="0" marL="0" marR="0" rtl="0" algn="ctr">
              <a:lnSpc>
                <a:spcPct val="8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k</a:t>
            </a:r>
            <a:r>
              <a:rPr b="0" baseline="-25000" i="0" lang="en-US" sz="1800" u="none">
                <a:solidFill>
                  <a:schemeClr val="dk1"/>
                </a:solidFill>
                <a:latin typeface="Helvetica Neue"/>
                <a:ea typeface="Helvetica Neue"/>
                <a:cs typeface="Helvetica Neue"/>
                <a:sym typeface="Helvetica Neue"/>
              </a:rPr>
              <a:t>2</a:t>
            </a:r>
            <a:endParaRPr/>
          </a:p>
        </p:txBody>
      </p:sp>
      <p:sp>
        <p:nvSpPr>
          <p:cNvPr id="377" name="Google Shape;377;p55"/>
          <p:cNvSpPr txBox="1"/>
          <p:nvPr/>
        </p:nvSpPr>
        <p:spPr>
          <a:xfrm>
            <a:off x="927100" y="4373562"/>
            <a:ext cx="7543800" cy="167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Times New Roman"/>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800"/>
              <a:buFont typeface="Arial"/>
              <a:buChar char="●"/>
            </a:pPr>
            <a:r>
              <a:rPr b="0" i="0" lang="en-US" sz="1800" u="none">
                <a:solidFill>
                  <a:schemeClr val="dk1"/>
                </a:solidFill>
                <a:latin typeface="Helvetica Neue"/>
                <a:ea typeface="Helvetica Neue"/>
                <a:cs typeface="Helvetica Neue"/>
                <a:sym typeface="Helvetica Neue"/>
              </a:rPr>
              <a:t>repetition of information (e.g., the relationship </a:t>
            </a:r>
            <a:r>
              <a:rPr b="0" i="1" lang="en-US" sz="1800" u="none">
                <a:solidFill>
                  <a:schemeClr val="dk1"/>
                </a:solidFill>
                <a:latin typeface="Helvetica Neue"/>
                <a:ea typeface="Helvetica Neue"/>
                <a:cs typeface="Helvetica Neue"/>
                <a:sym typeface="Helvetica Neue"/>
              </a:rPr>
              <a:t>l</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k</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630"/>
              </a:spcBef>
              <a:spcAft>
                <a:spcPts val="0"/>
              </a:spcAft>
              <a:buClr>
                <a:schemeClr val="dk2"/>
              </a:buClr>
              <a:buSzPts val="1800"/>
              <a:buFont typeface="Arial"/>
              <a:buChar char="●"/>
            </a:pPr>
            <a:r>
              <a:rPr b="0" i="0" lang="en-US" sz="1800" u="none">
                <a:solidFill>
                  <a:schemeClr val="dk1"/>
                </a:solidFill>
                <a:latin typeface="Helvetica Neue"/>
                <a:ea typeface="Helvetica Neue"/>
                <a:cs typeface="Helvetica Neue"/>
                <a:sym typeface="Helvetica Neue"/>
              </a:rPr>
              <a:t>need to use null values (e.g., to represent the relationship</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k</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where there is no corresponding value for </a:t>
            </a:r>
            <a:r>
              <a:rPr b="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a:t>
            </a:r>
            <a:endParaRPr/>
          </a:p>
        </p:txBody>
      </p:sp>
      <p:sp>
        <p:nvSpPr>
          <p:cNvPr id="378" name="Google Shape;378;p55"/>
          <p:cNvSpPr txBox="1"/>
          <p:nvPr>
            <p:ph idx="1" type="body"/>
          </p:nvPr>
        </p:nvSpPr>
        <p:spPr>
          <a:xfrm>
            <a:off x="927100" y="116363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There is some redundancy in this schema</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of problems due to redundancy in 3NF</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 =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J, K, L)</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F =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JK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 L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K </a:t>
            </a:r>
            <a:r>
              <a:rPr b="0" i="0" lang="en-US" sz="1800" u="none" cap="none" strike="noStrik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82" name="Shape 382"/>
        <p:cNvGrpSpPr/>
        <p:nvPr/>
      </p:nvGrpSpPr>
      <p:grpSpPr>
        <a:xfrm>
          <a:off x="0" y="0"/>
          <a:ext cx="0" cy="0"/>
          <a:chOff x="0" y="0"/>
          <a:chExt cx="0" cy="0"/>
        </a:xfrm>
      </p:grpSpPr>
      <p:sp>
        <p:nvSpPr>
          <p:cNvPr id="383" name="Google Shape;383;p5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Testing for 3NF</a:t>
            </a:r>
            <a:endParaRPr/>
          </a:p>
        </p:txBody>
      </p:sp>
      <p:sp>
        <p:nvSpPr>
          <p:cNvPr id="384" name="Google Shape;384;p56"/>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Optimization: Need to check only FDs in </a:t>
            </a:r>
            <a:r>
              <a:rPr b="0" i="1" lang="en-US" sz="1800" u="none">
                <a:solidFill>
                  <a:schemeClr val="dk1"/>
                </a:solidFill>
                <a:latin typeface="Helvetica Neue"/>
                <a:ea typeface="Helvetica Neue"/>
                <a:cs typeface="Helvetica Neue"/>
                <a:sym typeface="Helvetica Neue"/>
              </a:rPr>
              <a:t>F</a:t>
            </a:r>
            <a:r>
              <a:rPr b="0" i="0" lang="en-US" sz="1800" u="none">
                <a:solidFill>
                  <a:schemeClr val="dk1"/>
                </a:solidFill>
                <a:latin typeface="Helvetica Neue"/>
                <a:ea typeface="Helvetica Neue"/>
                <a:cs typeface="Helvetica Neue"/>
                <a:sym typeface="Helvetica Neue"/>
              </a:rPr>
              <a:t>, need not check all FDs in </a:t>
            </a:r>
            <a:r>
              <a:rPr b="0" i="1" lang="en-US" sz="1800" u="none">
                <a:solidFill>
                  <a:schemeClr val="dk1"/>
                </a:solidFill>
                <a:latin typeface="Helvetica Neue"/>
                <a:ea typeface="Helvetica Neue"/>
                <a:cs typeface="Helvetica Neue"/>
                <a:sym typeface="Helvetica Neue"/>
              </a:rPr>
              <a:t>F</a:t>
            </a:r>
            <a:r>
              <a:rPr b="0" baseline="3000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Use attribute closure to check for each dependency α → β, if α is a superkey.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α is not a superkey, we have to verify if each attribute in β is contained in a candidate key of </a:t>
            </a:r>
            <a:r>
              <a:rPr b="0" i="1" lang="en-US" sz="1800" u="none">
                <a:solidFill>
                  <a:schemeClr val="dk1"/>
                </a:solidFill>
                <a:latin typeface="Helvetica Neue"/>
                <a:ea typeface="Helvetica Neue"/>
                <a:cs typeface="Helvetica Neue"/>
                <a:sym typeface="Helvetica Neue"/>
              </a:rPr>
              <a:t>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this test is rather more expensive, since it involve finding candidate keys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testing for 3NF has been shown to be NP-hard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Interestingly, decomposition into third normal form (described shortly) can be done in polynomial time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88" name="Shape 388"/>
        <p:cNvGrpSpPr/>
        <p:nvPr/>
      </p:nvGrpSpPr>
      <p:grpSpPr>
        <a:xfrm>
          <a:off x="0" y="0"/>
          <a:ext cx="0" cy="0"/>
          <a:chOff x="0" y="0"/>
          <a:chExt cx="0" cy="0"/>
        </a:xfrm>
      </p:grpSpPr>
      <p:sp>
        <p:nvSpPr>
          <p:cNvPr id="389" name="Google Shape;389;p5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3NF Decomposition Algorithm</a:t>
            </a:r>
            <a:endParaRPr/>
          </a:p>
        </p:txBody>
      </p:sp>
      <p:sp>
        <p:nvSpPr>
          <p:cNvPr id="390" name="Google Shape;390;p57"/>
          <p:cNvSpPr txBox="1"/>
          <p:nvPr>
            <p:ph idx="1" type="body"/>
          </p:nvPr>
        </p:nvSpPr>
        <p:spPr>
          <a:xfrm>
            <a:off x="927100" y="1163637"/>
            <a:ext cx="7956550" cy="4635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Let </a:t>
            </a:r>
            <a:r>
              <a:rPr b="0" i="1" lang="en-US" sz="1800" u="none">
                <a:solidFill>
                  <a:schemeClr val="dk1"/>
                </a:solidFill>
                <a:latin typeface="Helvetica Neue"/>
                <a:ea typeface="Helvetica Neue"/>
                <a:cs typeface="Helvetica Neue"/>
                <a:sym typeface="Helvetica Neue"/>
              </a:rPr>
              <a:t>F</a:t>
            </a:r>
            <a:r>
              <a:rPr b="0" baseline="-25000" i="1" lang="en-US" sz="2000" u="none">
                <a:solidFill>
                  <a:schemeClr val="dk1"/>
                </a:solidFill>
                <a:latin typeface="Helvetica Neue"/>
                <a:ea typeface="Helvetica Neue"/>
                <a:cs typeface="Helvetica Neue"/>
                <a:sym typeface="Helvetica Neue"/>
              </a:rPr>
              <a:t>c</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be a canonical cover for </a:t>
            </a:r>
            <a:r>
              <a:rPr b="0" i="1" lang="en-US" sz="1800" u="none">
                <a:solidFill>
                  <a:schemeClr val="dk1"/>
                </a:solidFill>
                <a:latin typeface="Helvetica Neue"/>
                <a:ea typeface="Helvetica Neue"/>
                <a:cs typeface="Helvetica Neue"/>
                <a:sym typeface="Helvetica Neue"/>
              </a:rPr>
              <a:t>F;</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 0;</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for each </a:t>
            </a:r>
            <a:r>
              <a:rPr b="0" i="0" lang="en-US" sz="1800" u="none">
                <a:solidFill>
                  <a:schemeClr val="dk1"/>
                </a:solidFill>
                <a:latin typeface="Helvetica Neue"/>
                <a:ea typeface="Helvetica Neue"/>
                <a:cs typeface="Helvetica Neue"/>
                <a:sym typeface="Helvetica Neue"/>
              </a:rPr>
              <a:t> functional dependency α → </a:t>
            </a:r>
            <a:r>
              <a:rPr b="0" i="1" lang="en-US" sz="1800" u="none">
                <a:solidFill>
                  <a:schemeClr val="dk1"/>
                </a:solidFill>
                <a:latin typeface="Helvetica Neue"/>
                <a:ea typeface="Helvetica Neue"/>
                <a:cs typeface="Helvetica Neue"/>
                <a:sym typeface="Helvetica Neue"/>
              </a:rPr>
              <a:t>β </a:t>
            </a:r>
            <a:r>
              <a:rPr b="0" i="0" lang="en-US" sz="1800" u="none">
                <a:solidFill>
                  <a:schemeClr val="dk1"/>
                </a:solidFill>
                <a:latin typeface="Helvetica Neue"/>
                <a:ea typeface="Helvetica Neue"/>
                <a:cs typeface="Helvetica Neue"/>
                <a:sym typeface="Helvetica Neue"/>
              </a:rPr>
              <a:t>in </a:t>
            </a:r>
            <a:r>
              <a:rPr b="0" i="1" lang="en-US" sz="1800" u="none">
                <a:solidFill>
                  <a:schemeClr val="dk1"/>
                </a:solidFill>
                <a:latin typeface="Helvetica Neue"/>
                <a:ea typeface="Helvetica Neue"/>
                <a:cs typeface="Helvetica Neue"/>
                <a:sym typeface="Helvetica Neue"/>
              </a:rPr>
              <a:t>F</a:t>
            </a:r>
            <a:r>
              <a:rPr b="0" baseline="-25000" i="1" lang="en-US" sz="2000" u="none">
                <a:solidFill>
                  <a:schemeClr val="dk1"/>
                </a:solidFill>
                <a:latin typeface="Helvetica Neue"/>
                <a:ea typeface="Helvetica Neue"/>
                <a:cs typeface="Helvetica Neue"/>
                <a:sym typeface="Helvetica Neue"/>
              </a:rPr>
              <a:t>c</a:t>
            </a: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do</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if </a:t>
            </a:r>
            <a:r>
              <a:rPr b="0" i="0" lang="en-US" sz="1800" u="none">
                <a:solidFill>
                  <a:schemeClr val="dk1"/>
                </a:solidFill>
                <a:latin typeface="Helvetica Neue"/>
                <a:ea typeface="Helvetica Neue"/>
                <a:cs typeface="Helvetica Neue"/>
                <a:sym typeface="Helvetica Neue"/>
              </a:rPr>
              <a:t>none of the schemas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1 ≤ </a:t>
            </a:r>
            <a:r>
              <a:rPr b="0" i="1" lang="en-US" sz="1800" u="none">
                <a:solidFill>
                  <a:schemeClr val="dk1"/>
                </a:solidFill>
                <a:latin typeface="Helvetica Neue"/>
                <a:ea typeface="Helvetica Neue"/>
                <a:cs typeface="Helvetica Neue"/>
                <a:sym typeface="Helvetica Neue"/>
              </a:rPr>
              <a:t>j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 i </a:t>
            </a:r>
            <a:r>
              <a:rPr b="0" i="0" lang="en-US" sz="1800" u="none">
                <a:solidFill>
                  <a:schemeClr val="dk1"/>
                </a:solidFill>
                <a:latin typeface="Helvetica Neue"/>
                <a:ea typeface="Helvetica Neue"/>
                <a:cs typeface="Helvetica Neue"/>
                <a:sym typeface="Helvetica Neue"/>
              </a:rPr>
              <a:t>contains  α </a:t>
            </a:r>
            <a:r>
              <a:rPr b="0" i="1" lang="en-US" sz="1800" u="none">
                <a:solidFill>
                  <a:schemeClr val="dk1"/>
                </a:solidFill>
                <a:latin typeface="Helvetica Neue"/>
                <a:ea typeface="Helvetica Neue"/>
                <a:cs typeface="Helvetica Neue"/>
                <a:sym typeface="Helvetica Neue"/>
              </a:rPr>
              <a:t>β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then begin</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  + </a:t>
            </a:r>
            <a:r>
              <a:rPr b="0" i="0" lang="en-US" sz="1800" u="none">
                <a:solidFill>
                  <a:schemeClr val="dk1"/>
                </a:solidFill>
                <a:latin typeface="Helvetica Neue"/>
                <a:ea typeface="Helvetica Neue"/>
                <a:cs typeface="Helvetica Neue"/>
                <a:sym typeface="Helvetica Neue"/>
              </a:rPr>
              <a:t>1;</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 := α </a:t>
            </a:r>
            <a:r>
              <a:rPr b="0" i="1" lang="en-US" sz="1800" u="none">
                <a:solidFill>
                  <a:schemeClr val="dk1"/>
                </a:solidFill>
                <a:latin typeface="Helvetica Neue"/>
                <a:ea typeface="Helvetica Neue"/>
                <a:cs typeface="Helvetica Neue"/>
                <a:sym typeface="Helvetica Neue"/>
              </a:rPr>
              <a:t>β </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end</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if</a:t>
            </a:r>
            <a:r>
              <a:rPr b="0" i="0" lang="en-US" sz="1800" u="none">
                <a:solidFill>
                  <a:schemeClr val="dk1"/>
                </a:solidFill>
                <a:latin typeface="Helvetica Neue"/>
                <a:ea typeface="Helvetica Neue"/>
                <a:cs typeface="Helvetica Neue"/>
                <a:sym typeface="Helvetica Neue"/>
              </a:rPr>
              <a:t> none of the schemas </a:t>
            </a:r>
            <a:r>
              <a:rPr b="0" i="1" lang="en-US" sz="1800" u="none">
                <a:solidFill>
                  <a:schemeClr val="dk1"/>
                </a:solidFill>
                <a:latin typeface="Helvetica Neue"/>
                <a:ea typeface="Helvetica Neue"/>
                <a:cs typeface="Helvetica Neue"/>
                <a:sym typeface="Helvetica Neue"/>
              </a:rPr>
              <a:t>R</a:t>
            </a:r>
            <a:r>
              <a:rPr b="0" baseline="-25000" i="1" lang="en-US" sz="24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1 ≤ </a:t>
            </a:r>
            <a:r>
              <a:rPr b="0" i="1" lang="en-US" sz="1800" u="none">
                <a:solidFill>
                  <a:schemeClr val="dk1"/>
                </a:solidFill>
                <a:latin typeface="Helvetica Neue"/>
                <a:ea typeface="Helvetica Neue"/>
                <a:cs typeface="Helvetica Neue"/>
                <a:sym typeface="Helvetica Neue"/>
              </a:rPr>
              <a:t>j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 i </a:t>
            </a:r>
            <a:r>
              <a:rPr b="0" i="0" lang="en-US" sz="1800" u="none">
                <a:solidFill>
                  <a:schemeClr val="dk1"/>
                </a:solidFill>
                <a:latin typeface="Helvetica Neue"/>
                <a:ea typeface="Helvetica Neue"/>
                <a:cs typeface="Helvetica Neue"/>
                <a:sym typeface="Helvetica Neue"/>
              </a:rPr>
              <a:t>contains a candidate key for </a:t>
            </a:r>
            <a:r>
              <a:rPr b="0" i="1" lang="en-US" sz="1800" u="none">
                <a:solidFill>
                  <a:schemeClr val="dk1"/>
                </a:solidFill>
                <a:latin typeface="Helvetica Neue"/>
                <a:ea typeface="Helvetica Neue"/>
                <a:cs typeface="Helvetica Neue"/>
                <a:sym typeface="Helvetica Neue"/>
              </a:rPr>
              <a:t>R</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then begin</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i </a:t>
            </a:r>
            <a:r>
              <a:rPr b="0" i="0" lang="en-US" sz="1800" u="none">
                <a:solidFill>
                  <a:schemeClr val="dk1"/>
                </a:solidFill>
                <a:latin typeface="Helvetica Neue"/>
                <a:ea typeface="Helvetica Neue"/>
                <a:cs typeface="Helvetica Neue"/>
                <a:sym typeface="Helvetica Neue"/>
              </a:rPr>
              <a:t> + 1;</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24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any candidate key for </a:t>
            </a:r>
            <a:r>
              <a:rPr b="0" i="1" lang="en-US" sz="1800" u="none">
                <a:solidFill>
                  <a:schemeClr val="dk1"/>
                </a:solidFill>
                <a:latin typeface="Helvetica Neue"/>
                <a:ea typeface="Helvetica Neue"/>
                <a:cs typeface="Helvetica Neue"/>
                <a:sym typeface="Helvetica Neue"/>
              </a:rPr>
              <a:t>R;</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end </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return </a:t>
            </a:r>
            <a:r>
              <a:rPr b="0" i="1" lang="en-US" sz="1800" u="none">
                <a:solidFill>
                  <a:schemeClr val="dk1"/>
                </a:solidFill>
                <a:latin typeface="Helvetica Neue"/>
                <a:ea typeface="Helvetica Neue"/>
                <a:cs typeface="Helvetica Neue"/>
                <a:sym typeface="Helvetica Neue"/>
              </a:rPr>
              <a:t>(R</a:t>
            </a:r>
            <a:r>
              <a:rPr b="0" baseline="-25000" i="0" lang="en-US" sz="20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20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baseline="-25000" i="1" lang="en-US" sz="24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94" name="Shape 394"/>
        <p:cNvGrpSpPr/>
        <p:nvPr/>
      </p:nvGrpSpPr>
      <p:grpSpPr>
        <a:xfrm>
          <a:off x="0" y="0"/>
          <a:ext cx="0" cy="0"/>
          <a:chOff x="0" y="0"/>
          <a:chExt cx="0" cy="0"/>
        </a:xfrm>
      </p:grpSpPr>
      <p:sp>
        <p:nvSpPr>
          <p:cNvPr id="395" name="Google Shape;395;p58"/>
          <p:cNvSpPr txBox="1"/>
          <p:nvPr>
            <p:ph type="title"/>
          </p:nvPr>
        </p:nvSpPr>
        <p:spPr>
          <a:xfrm>
            <a:off x="838200" y="666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3NF Decomposition Algorithm (Cont.)</a:t>
            </a:r>
            <a:endParaRPr/>
          </a:p>
        </p:txBody>
      </p:sp>
      <p:sp>
        <p:nvSpPr>
          <p:cNvPr id="396" name="Google Shape;396;p58"/>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Above algorithm ensures:</a:t>
            </a:r>
            <a:endParaRPr/>
          </a:p>
          <a:p>
            <a:pPr indent="-285750" lvl="1" marL="742950" marR="0" rtl="0" algn="l">
              <a:lnSpc>
                <a:spcPct val="90000"/>
              </a:lnSpc>
              <a:spcBef>
                <a:spcPts val="9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relation schema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is in 3NF</a:t>
            </a:r>
            <a:endParaRPr/>
          </a:p>
          <a:p>
            <a:pPr indent="-285750" lvl="1" marL="742950" marR="0" rtl="0" algn="l">
              <a:lnSpc>
                <a:spcPct val="90000"/>
              </a:lnSpc>
              <a:spcBef>
                <a:spcPts val="9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decomposition is dependency preserving and lossless-join</a:t>
            </a:r>
            <a:endParaRPr/>
          </a:p>
          <a:p>
            <a:pPr indent="-285750" lvl="1" marL="742950" marR="0" rtl="0" algn="l">
              <a:lnSpc>
                <a:spcPct val="90000"/>
              </a:lnSpc>
              <a:spcBef>
                <a:spcPts val="9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Proof of correctness is at end of this presentation (</a:t>
            </a:r>
            <a:r>
              <a:rPr b="0" i="0" lang="en-US" sz="1800" u="sng" cap="none" strike="noStrike">
                <a:solidFill>
                  <a:schemeClr val="hlink"/>
                </a:solidFill>
                <a:latin typeface="Helvetica Neue"/>
                <a:ea typeface="Helvetica Neue"/>
                <a:cs typeface="Helvetica Neue"/>
                <a:sym typeface="Helvetica Neue"/>
                <a:hlinkClick r:id="rId3"/>
              </a:rPr>
              <a:t>click here</a:t>
            </a:r>
            <a:r>
              <a:rPr b="0" i="0" lang="en-US" sz="1800" u="none" cap="none" strike="noStrik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00" name="Shape 400"/>
        <p:cNvGrpSpPr/>
        <p:nvPr/>
      </p:nvGrpSpPr>
      <p:grpSpPr>
        <a:xfrm>
          <a:off x="0" y="0"/>
          <a:ext cx="0" cy="0"/>
          <a:chOff x="0" y="0"/>
          <a:chExt cx="0" cy="0"/>
        </a:xfrm>
      </p:grpSpPr>
      <p:sp>
        <p:nvSpPr>
          <p:cNvPr id="401" name="Google Shape;401;p5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3NF Decomposition: An Example</a:t>
            </a:r>
            <a:endParaRPr/>
          </a:p>
        </p:txBody>
      </p:sp>
      <p:sp>
        <p:nvSpPr>
          <p:cNvPr id="402" name="Google Shape;402;p59"/>
          <p:cNvSpPr txBox="1"/>
          <p:nvPr>
            <p:ph idx="1" type="body"/>
          </p:nvPr>
        </p:nvSpPr>
        <p:spPr>
          <a:xfrm>
            <a:off x="927100" y="1163637"/>
            <a:ext cx="79883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Relation schema:</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cust_banker_branch = </a:t>
            </a:r>
            <a:r>
              <a:rPr b="0" i="0" lang="en-US" sz="1800" u="none" cap="none" strike="noStrike">
                <a:solidFill>
                  <a:schemeClr val="dk1"/>
                </a:solidFill>
                <a:latin typeface="Helvetica Neue"/>
                <a:ea typeface="Helvetica Neue"/>
                <a:cs typeface="Helvetica Neue"/>
                <a:sym typeface="Helvetica Neue"/>
              </a:rPr>
              <a:t>(</a:t>
            </a:r>
            <a:r>
              <a:rPr b="0" i="1" lang="en-US" sz="1800" u="sng" cap="none" strike="noStrike">
                <a:solidFill>
                  <a:schemeClr val="dk1"/>
                </a:solidFill>
                <a:latin typeface="Helvetica Neue"/>
                <a:ea typeface="Helvetica Neue"/>
                <a:cs typeface="Helvetica Neue"/>
                <a:sym typeface="Helvetica Neue"/>
              </a:rPr>
              <a:t>customer_id, employee_id</a:t>
            </a:r>
            <a:r>
              <a:rPr b="0" i="1" lang="en-US" sz="1800" u="none" cap="none" strike="noStrike">
                <a:solidFill>
                  <a:schemeClr val="dk1"/>
                </a:solidFill>
                <a:latin typeface="Helvetica Neue"/>
                <a:ea typeface="Helvetica Neue"/>
                <a:cs typeface="Helvetica Neue"/>
                <a:sym typeface="Helvetica Neue"/>
              </a:rPr>
              <a:t>, branch_name, type </a:t>
            </a:r>
            <a:r>
              <a:rPr b="0" i="0" lang="en-US" sz="1800" u="none" cap="none" strike="noStrike">
                <a:solidFill>
                  <a:schemeClr val="dk1"/>
                </a:solidFill>
                <a:latin typeface="Helvetica Neue"/>
                <a:ea typeface="Helvetica Neue"/>
                <a:cs typeface="Helvetica Neue"/>
                <a:sym typeface="Helvetica Neue"/>
              </a:rPr>
              <a:t>)</a:t>
            </a:r>
            <a:endParaRPr b="0" i="1"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functional dependencies for this relation schema are:</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1" lang="en-US" sz="1800" u="none" cap="none" strike="noStrike">
                <a:solidFill>
                  <a:schemeClr val="dk1"/>
                </a:solidFill>
                <a:latin typeface="Helvetica Neue"/>
                <a:ea typeface="Helvetica Neue"/>
                <a:cs typeface="Helvetica Neue"/>
                <a:sym typeface="Helvetica Neue"/>
              </a:rPr>
              <a:t>customer_id, employee_id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branch_name, type</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1" lang="en-US" sz="1800" u="none" cap="none" strike="noStrike">
                <a:solidFill>
                  <a:schemeClr val="dk1"/>
                </a:solidFill>
                <a:latin typeface="Helvetica Neue"/>
                <a:ea typeface="Helvetica Neue"/>
                <a:cs typeface="Helvetica Neue"/>
                <a:sym typeface="Helvetica Neue"/>
              </a:rPr>
              <a:t>employee_id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branch_name</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1" lang="en-US" sz="1800" u="none" cap="none" strike="noStrike">
                <a:solidFill>
                  <a:schemeClr val="dk1"/>
                </a:solidFill>
                <a:latin typeface="Helvetica Neue"/>
                <a:ea typeface="Helvetica Neue"/>
                <a:cs typeface="Helvetica Neue"/>
                <a:sym typeface="Helvetica Neue"/>
              </a:rPr>
              <a:t>customer_id, branch_name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employee_id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first compute a canonical cover</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branch_name </a:t>
            </a:r>
            <a:r>
              <a:rPr b="0" i="0" lang="en-US" sz="1800" u="none" cap="none" strike="noStrike">
                <a:solidFill>
                  <a:schemeClr val="dk1"/>
                </a:solidFill>
                <a:latin typeface="Helvetica Neue"/>
                <a:ea typeface="Helvetica Neue"/>
                <a:cs typeface="Helvetica Neue"/>
                <a:sym typeface="Helvetica Neue"/>
              </a:rPr>
              <a:t>is extraneous in the r.h.s. of the 1</a:t>
            </a:r>
            <a:r>
              <a:rPr b="0" baseline="30000" i="0" lang="en-US" sz="1800" u="none" cap="none" strike="noStrike">
                <a:solidFill>
                  <a:schemeClr val="dk1"/>
                </a:solidFill>
                <a:latin typeface="Helvetica Neue"/>
                <a:ea typeface="Helvetica Neue"/>
                <a:cs typeface="Helvetica Neue"/>
                <a:sym typeface="Helvetica Neue"/>
              </a:rPr>
              <a:t>st</a:t>
            </a:r>
            <a:r>
              <a:rPr b="0" i="0" lang="en-US" sz="1800" u="none" cap="none" strike="noStrike">
                <a:solidFill>
                  <a:schemeClr val="dk1"/>
                </a:solidFill>
                <a:latin typeface="Helvetica Neue"/>
                <a:ea typeface="Helvetica Neue"/>
                <a:cs typeface="Helvetica Neue"/>
                <a:sym typeface="Helvetica Neue"/>
              </a:rPr>
              <a:t> dependency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 other attribute is extraneous, so we get F</a:t>
            </a:r>
            <a:r>
              <a:rPr b="0" baseline="-25000" i="0" lang="en-US" sz="1800" u="none" cap="none" strike="noStrike">
                <a:solidFill>
                  <a:schemeClr val="dk1"/>
                </a:solidFill>
                <a:latin typeface="Helvetica Neue"/>
                <a:ea typeface="Helvetica Neue"/>
                <a:cs typeface="Helvetica Neue"/>
                <a:sym typeface="Helvetica Neue"/>
              </a:rPr>
              <a:t>C </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None/>
            </a:pPr>
            <a:r>
              <a:rPr b="0" i="1" lang="en-US" sz="1800" u="none" cap="none" strike="noStrike">
                <a:solidFill>
                  <a:schemeClr val="dk1"/>
                </a:solidFill>
                <a:latin typeface="Helvetica Neue"/>
                <a:ea typeface="Helvetica Neue"/>
                <a:cs typeface="Helvetica Neue"/>
                <a:sym typeface="Helvetica Neue"/>
              </a:rPr>
              <a:t>             customer_id, employee_id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type</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	    employee_id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branch_name</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        customer_id, branch_name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employee_id</a:t>
            </a:r>
            <a:endParaRPr/>
          </a:p>
          <a:p>
            <a:pPr indent="-240030" lvl="0" marL="342900" marR="0" rtl="0" algn="l">
              <a:lnSpc>
                <a:spcPct val="100000"/>
              </a:lnSpc>
              <a:spcBef>
                <a:spcPts val="630"/>
              </a:spcBef>
              <a:spcAft>
                <a:spcPts val="0"/>
              </a:spcAft>
              <a:buClr>
                <a:schemeClr val="dk2"/>
              </a:buClr>
              <a:buSzPts val="1620"/>
              <a:buFont typeface="Arial"/>
              <a:buNone/>
            </a:pPr>
            <a:r>
              <a:t/>
            </a:r>
            <a:endParaRPr b="0" i="1"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06" name="Shape 406"/>
        <p:cNvGrpSpPr/>
        <p:nvPr/>
      </p:nvGrpSpPr>
      <p:grpSpPr>
        <a:xfrm>
          <a:off x="0" y="0"/>
          <a:ext cx="0" cy="0"/>
          <a:chOff x="0" y="0"/>
          <a:chExt cx="0" cy="0"/>
        </a:xfrm>
      </p:grpSpPr>
      <p:sp>
        <p:nvSpPr>
          <p:cNvPr id="407" name="Google Shape;407;p6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3NF Decompsition Example (Cont.)</a:t>
            </a:r>
            <a:endParaRPr/>
          </a:p>
        </p:txBody>
      </p:sp>
      <p:sp>
        <p:nvSpPr>
          <p:cNvPr id="408" name="Google Shape;408;p60"/>
          <p:cNvSpPr txBox="1"/>
          <p:nvPr>
            <p:ph idx="1" type="body"/>
          </p:nvPr>
        </p:nvSpPr>
        <p:spPr>
          <a:xfrm>
            <a:off x="727075" y="985837"/>
            <a:ext cx="78613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The </a:t>
            </a:r>
            <a:r>
              <a:rPr b="1" i="0" lang="en-US" sz="1600" u="none">
                <a:solidFill>
                  <a:schemeClr val="dk1"/>
                </a:solidFill>
                <a:latin typeface="Helvetica Neue"/>
                <a:ea typeface="Helvetica Neue"/>
                <a:cs typeface="Helvetica Neue"/>
                <a:sym typeface="Helvetica Neue"/>
              </a:rPr>
              <a:t>for</a:t>
            </a:r>
            <a:r>
              <a:rPr b="0" i="0" lang="en-US" sz="1600" u="none">
                <a:solidFill>
                  <a:schemeClr val="dk1"/>
                </a:solidFill>
                <a:latin typeface="Helvetica Neue"/>
                <a:ea typeface="Helvetica Neue"/>
                <a:cs typeface="Helvetica Neue"/>
                <a:sym typeface="Helvetica Neue"/>
              </a:rPr>
              <a:t> loop generates following 3NF schema:</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customer_id, employee_id, type </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t>
            </a:r>
            <a:r>
              <a:rPr b="0" i="1" lang="en-US" sz="1600" u="sng">
                <a:solidFill>
                  <a:schemeClr val="dk1"/>
                </a:solidFill>
                <a:latin typeface="Helvetica Neue"/>
                <a:ea typeface="Helvetica Neue"/>
                <a:cs typeface="Helvetica Neue"/>
                <a:sym typeface="Helvetica Neue"/>
              </a:rPr>
              <a:t>employee_id</a:t>
            </a:r>
            <a:r>
              <a:rPr b="0" i="1" lang="en-US" sz="1600" u="none">
                <a:solidFill>
                  <a:schemeClr val="dk1"/>
                </a:solidFill>
                <a:latin typeface="Helvetica Neue"/>
                <a:ea typeface="Helvetica Neue"/>
                <a:cs typeface="Helvetica Neue"/>
                <a:sym typeface="Helvetica Neue"/>
              </a:rPr>
              <a:t>, branch_name</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customer_id, branch_name, employee_id)</a:t>
            </a:r>
            <a:endParaRPr b="0" i="1" sz="1800" u="none">
              <a:solidFill>
                <a:schemeClr val="dk1"/>
              </a:solidFill>
              <a:latin typeface="Helvetica Neue"/>
              <a:ea typeface="Helvetica Neue"/>
              <a:cs typeface="Helvetica Neue"/>
              <a:sym typeface="Helvetica Neue"/>
            </a:endParaRPr>
          </a:p>
          <a:p>
            <a:pPr indent="-285750" lvl="1" marL="742950" marR="0" rtl="0" algn="l">
              <a:lnSpc>
                <a:spcPct val="8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Observe that (</a:t>
            </a:r>
            <a:r>
              <a:rPr b="0" i="1" lang="en-US" sz="1600" u="none" cap="none" strike="noStrike">
                <a:solidFill>
                  <a:schemeClr val="dk1"/>
                </a:solidFill>
                <a:latin typeface="Helvetica Neue"/>
                <a:ea typeface="Helvetica Neue"/>
                <a:cs typeface="Helvetica Neue"/>
                <a:sym typeface="Helvetica Neue"/>
              </a:rPr>
              <a:t>customer_id, employee_id, type </a:t>
            </a:r>
            <a:r>
              <a:rPr b="0" i="0" lang="en-US" sz="1600" u="none" cap="none" strike="noStrike">
                <a:solidFill>
                  <a:schemeClr val="dk1"/>
                </a:solidFill>
                <a:latin typeface="Helvetica Neue"/>
                <a:ea typeface="Helvetica Neue"/>
                <a:cs typeface="Helvetica Neue"/>
                <a:sym typeface="Helvetica Neue"/>
              </a:rPr>
              <a:t>) contains a candidate key of the original schema, so no further relation schema needs be added</a:t>
            </a:r>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If the FDs were considered in a different order, with the 2</a:t>
            </a:r>
            <a:r>
              <a:rPr b="0" baseline="30000" i="0" lang="en-US" sz="1600" u="none">
                <a:solidFill>
                  <a:schemeClr val="dk1"/>
                </a:solidFill>
                <a:latin typeface="Helvetica Neue"/>
                <a:ea typeface="Helvetica Neue"/>
                <a:cs typeface="Helvetica Neue"/>
                <a:sym typeface="Helvetica Neue"/>
              </a:rPr>
              <a:t>nd</a:t>
            </a:r>
            <a:r>
              <a:rPr b="0" i="0" lang="en-US" sz="1600" u="none">
                <a:solidFill>
                  <a:schemeClr val="dk1"/>
                </a:solidFill>
                <a:latin typeface="Helvetica Neue"/>
                <a:ea typeface="Helvetica Neue"/>
                <a:cs typeface="Helvetica Neue"/>
                <a:sym typeface="Helvetica Neue"/>
              </a:rPr>
              <a:t> one considered after the 3</a:t>
            </a:r>
            <a:r>
              <a:rPr b="0" baseline="30000" i="0" lang="en-US" sz="1600" u="none">
                <a:solidFill>
                  <a:schemeClr val="dk1"/>
                </a:solidFill>
                <a:latin typeface="Helvetica Neue"/>
                <a:ea typeface="Helvetica Neue"/>
                <a:cs typeface="Helvetica Neue"/>
                <a:sym typeface="Helvetica Neue"/>
              </a:rPr>
              <a:t>rd</a:t>
            </a:r>
            <a:r>
              <a:rPr b="0" i="0" lang="en-US" sz="1600" u="none">
                <a:solidFill>
                  <a:schemeClr val="dk1"/>
                </a:solidFill>
                <a:latin typeface="Helvetica Neue"/>
                <a:ea typeface="Helvetica Neue"/>
                <a:cs typeface="Helvetica Neue"/>
                <a:sym typeface="Helvetica Neue"/>
              </a:rPr>
              <a:t>,  </a:t>
            </a:r>
            <a:br>
              <a:rPr b="0" i="0" lang="en-US" sz="1600" u="none">
                <a:solidFill>
                  <a:schemeClr val="dk1"/>
                </a:solidFill>
                <a:latin typeface="Helvetica Neue"/>
                <a:ea typeface="Helvetica Neue"/>
                <a:cs typeface="Helvetica Neue"/>
                <a:sym typeface="Helvetica Neue"/>
              </a:rPr>
            </a:br>
            <a:r>
              <a:rPr b="0" i="0" lang="en-US" sz="1600" u="none">
                <a:solidFill>
                  <a:schemeClr val="dk1"/>
                </a:solidFill>
                <a:latin typeface="Helvetica Neue"/>
                <a:ea typeface="Helvetica Neue"/>
                <a:cs typeface="Helvetica Neue"/>
                <a:sym typeface="Helvetica Neue"/>
              </a:rPr>
              <a:t>	(</a:t>
            </a:r>
            <a:r>
              <a:rPr b="0" i="1" lang="en-US" sz="1600" u="sng">
                <a:solidFill>
                  <a:schemeClr val="dk1"/>
                </a:solidFill>
                <a:latin typeface="Helvetica Neue"/>
                <a:ea typeface="Helvetica Neue"/>
                <a:cs typeface="Helvetica Neue"/>
                <a:sym typeface="Helvetica Neue"/>
              </a:rPr>
              <a:t>employee_id</a:t>
            </a:r>
            <a:r>
              <a:rPr b="0" i="1" lang="en-US" sz="1600" u="none">
                <a:solidFill>
                  <a:schemeClr val="dk1"/>
                </a:solidFill>
                <a:latin typeface="Helvetica Neue"/>
                <a:ea typeface="Helvetica Neue"/>
                <a:cs typeface="Helvetica Neue"/>
                <a:sym typeface="Helvetica Neue"/>
              </a:rPr>
              <a:t>, branch_name</a:t>
            </a:r>
            <a:r>
              <a:rPr b="0" i="0" lang="en-US" sz="1600" u="none">
                <a:solidFill>
                  <a:schemeClr val="dk1"/>
                </a:solidFill>
                <a:latin typeface="Helvetica Neue"/>
                <a:ea typeface="Helvetica Neue"/>
                <a:cs typeface="Helvetica Neue"/>
                <a:sym typeface="Helvetica Neue"/>
              </a:rPr>
              <a:t>) </a:t>
            </a:r>
            <a:br>
              <a:rPr b="0" i="0" lang="en-US" sz="1600" u="none">
                <a:solidFill>
                  <a:schemeClr val="dk1"/>
                </a:solidFill>
                <a:latin typeface="Helvetica Neue"/>
                <a:ea typeface="Helvetica Neue"/>
                <a:cs typeface="Helvetica Neue"/>
                <a:sym typeface="Helvetica Neue"/>
              </a:rPr>
            </a:br>
            <a:r>
              <a:rPr b="0" i="0" lang="en-US" sz="1600" u="none">
                <a:solidFill>
                  <a:schemeClr val="dk1"/>
                </a:solidFill>
                <a:latin typeface="Helvetica Neue"/>
                <a:ea typeface="Helvetica Neue"/>
                <a:cs typeface="Helvetica Neue"/>
                <a:sym typeface="Helvetica Neue"/>
              </a:rPr>
              <a:t>would not be included in the decomposition because it is a subset of  </a:t>
            </a:r>
            <a:br>
              <a:rPr b="0" i="0" lang="en-US" sz="1600" u="none">
                <a:solidFill>
                  <a:schemeClr val="dk1"/>
                </a:solidFill>
                <a:latin typeface="Helvetica Neue"/>
                <a:ea typeface="Helvetica Neue"/>
                <a:cs typeface="Helvetica Neue"/>
                <a:sym typeface="Helvetica Neue"/>
              </a:rPr>
            </a:b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customer_id, branch_name, employee_id)</a:t>
            </a:r>
            <a:endParaRPr b="0" i="1"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Minor extension of the 3NF decomposition algorithm: at end of for loop, detect and delete schemas, such as  (</a:t>
            </a:r>
            <a:r>
              <a:rPr b="0" i="1" lang="en-US" sz="1600" u="sng">
                <a:solidFill>
                  <a:schemeClr val="dk1"/>
                </a:solidFill>
                <a:latin typeface="Helvetica Neue"/>
                <a:ea typeface="Helvetica Neue"/>
                <a:cs typeface="Helvetica Neue"/>
                <a:sym typeface="Helvetica Neue"/>
              </a:rPr>
              <a:t>employee_id</a:t>
            </a:r>
            <a:r>
              <a:rPr b="0" i="1" lang="en-US" sz="1600" u="none">
                <a:solidFill>
                  <a:schemeClr val="dk1"/>
                </a:solidFill>
                <a:latin typeface="Helvetica Neue"/>
                <a:ea typeface="Helvetica Neue"/>
                <a:cs typeface="Helvetica Neue"/>
                <a:sym typeface="Helvetica Neue"/>
              </a:rPr>
              <a:t>, branch_name</a:t>
            </a:r>
            <a:r>
              <a:rPr b="0" i="0" lang="en-US" sz="1600" u="none">
                <a:solidFill>
                  <a:schemeClr val="dk1"/>
                </a:solidFill>
                <a:latin typeface="Helvetica Neue"/>
                <a:ea typeface="Helvetica Neue"/>
                <a:cs typeface="Helvetica Neue"/>
                <a:sym typeface="Helvetica Neue"/>
              </a:rPr>
              <a:t>), which are subsets of other schemas</a:t>
            </a:r>
            <a:endParaRPr/>
          </a:p>
          <a:p>
            <a:pPr indent="-285750" lvl="1" marL="742950" marR="0" rtl="0" algn="l">
              <a:lnSpc>
                <a:spcPct val="10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result will not depend on the order in which FDs are considered</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The resultant simplified 3NF schema is:</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customer_id, employee_id, type</a:t>
            </a:r>
            <a:r>
              <a:rPr b="0" i="0" lang="en-US" sz="16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customer_id, branch_name, employee_id)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12" name="Shape 412"/>
        <p:cNvGrpSpPr/>
        <p:nvPr/>
      </p:nvGrpSpPr>
      <p:grpSpPr>
        <a:xfrm>
          <a:off x="0" y="0"/>
          <a:ext cx="0" cy="0"/>
          <a:chOff x="0" y="0"/>
          <a:chExt cx="0" cy="0"/>
        </a:xfrm>
      </p:grpSpPr>
      <p:sp>
        <p:nvSpPr>
          <p:cNvPr id="413" name="Google Shape;413;p6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Comparison of BCNF and 3NF</a:t>
            </a:r>
            <a:endParaRPr/>
          </a:p>
        </p:txBody>
      </p:sp>
      <p:sp>
        <p:nvSpPr>
          <p:cNvPr id="414" name="Google Shape;414;p61"/>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It is always possible to decompose a relation into a set of  relations that are in 3NF such that: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decomposition is lossless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dependencies are preserved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It is always possible to decompose a relation into a set of relations that are in BCNF such that: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decomposition is lossless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it may not be possible to preserve dependencies.</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415" name="Google Shape;415;p61"/>
          <p:cNvSpPr txBox="1"/>
          <p:nvPr/>
        </p:nvSpPr>
        <p:spPr>
          <a:xfrm>
            <a:off x="596900" y="4064000"/>
            <a:ext cx="7283450" cy="259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19" name="Shape 419"/>
        <p:cNvGrpSpPr/>
        <p:nvPr/>
      </p:nvGrpSpPr>
      <p:grpSpPr>
        <a:xfrm>
          <a:off x="0" y="0"/>
          <a:ext cx="0" cy="0"/>
          <a:chOff x="0" y="0"/>
          <a:chExt cx="0" cy="0"/>
        </a:xfrm>
      </p:grpSpPr>
      <p:sp>
        <p:nvSpPr>
          <p:cNvPr id="420" name="Google Shape;420;p6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Design Goals</a:t>
            </a:r>
            <a:endParaRPr/>
          </a:p>
        </p:txBody>
      </p:sp>
      <p:sp>
        <p:nvSpPr>
          <p:cNvPr id="421" name="Google Shape;421;p62"/>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Goal for a relational database design is: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BCNF.</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Lossless join.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Dependency preservation.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we cannot achieve this, we accept one of</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Lack of dependency preservation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Redundancy due to use of 3NF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Interestingly, SQL does not provide a direct way of specifying functional dependencies other than superkeys.</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Can specify FDs using assertions, but they are expensive to test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Even if we had a dependency preserving decomposition, using SQL we would not be able to efficiently test a functional dependency whose left hand side is not a key.</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25" name="Shape 425"/>
        <p:cNvGrpSpPr/>
        <p:nvPr/>
      </p:nvGrpSpPr>
      <p:grpSpPr>
        <a:xfrm>
          <a:off x="0" y="0"/>
          <a:ext cx="0" cy="0"/>
          <a:chOff x="0" y="0"/>
          <a:chExt cx="0" cy="0"/>
        </a:xfrm>
      </p:grpSpPr>
      <p:sp>
        <p:nvSpPr>
          <p:cNvPr id="426" name="Google Shape;426;p6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Multivalued Dependencies (MVDs)</a:t>
            </a:r>
            <a:endParaRPr/>
          </a:p>
        </p:txBody>
      </p:sp>
      <p:sp>
        <p:nvSpPr>
          <p:cNvPr id="427" name="Google Shape;427;p63"/>
          <p:cNvSpPr txBox="1"/>
          <p:nvPr>
            <p:ph idx="1" type="body"/>
          </p:nvPr>
        </p:nvSpPr>
        <p:spPr>
          <a:xfrm>
            <a:off x="927100" y="1139825"/>
            <a:ext cx="6750050" cy="4533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be a relation schema and let α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and β ⊆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  The </a:t>
            </a:r>
            <a:r>
              <a:rPr b="0" i="1" lang="en-US" sz="1800" u="none">
                <a:solidFill>
                  <a:schemeClr val="dk2"/>
                </a:solidFill>
                <a:latin typeface="Helvetica Neue"/>
                <a:ea typeface="Helvetica Neue"/>
                <a:cs typeface="Helvetica Neue"/>
                <a:sym typeface="Helvetica Neue"/>
              </a:rPr>
              <a:t>multivalued dependency</a:t>
            </a:r>
            <a:r>
              <a:rPr b="0" i="0" lang="en-US" sz="1800" u="none">
                <a:solidFill>
                  <a:schemeClr val="dk1"/>
                </a:solidFill>
                <a:latin typeface="Helvetica Neue"/>
                <a:ea typeface="Helvetica Neue"/>
                <a:cs typeface="Helvetica Neue"/>
                <a:sym typeface="Helvetica Neue"/>
              </a:rPr>
              <a:t>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α </a:t>
            </a:r>
            <a:r>
              <a:rPr b="1"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β</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holds on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if in any legal relation </a:t>
            </a:r>
            <a:r>
              <a:rPr b="0" i="1" lang="en-US" sz="1800" u="none">
                <a:solidFill>
                  <a:schemeClr val="dk1"/>
                </a:solidFill>
                <a:latin typeface="Helvetica Neue"/>
                <a:ea typeface="Helvetica Neue"/>
                <a:cs typeface="Helvetica Neue"/>
                <a:sym typeface="Helvetica Neue"/>
              </a:rPr>
              <a:t>r(R),</a:t>
            </a:r>
            <a:r>
              <a:rPr b="0" i="0" lang="en-US" sz="1800" u="none">
                <a:solidFill>
                  <a:schemeClr val="dk1"/>
                </a:solidFill>
                <a:latin typeface="Helvetica Neue"/>
                <a:ea typeface="Helvetica Neue"/>
                <a:cs typeface="Helvetica Neue"/>
                <a:sym typeface="Helvetica Neue"/>
              </a:rPr>
              <a:t> for all pairs for tuples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in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such that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2 </a:t>
            </a:r>
            <a:r>
              <a:rPr b="0" i="0" lang="en-US" sz="1800" u="none">
                <a:solidFill>
                  <a:schemeClr val="dk1"/>
                </a:solidFill>
                <a:latin typeface="Helvetica Neue"/>
                <a:ea typeface="Helvetica Neue"/>
                <a:cs typeface="Helvetica Neue"/>
                <a:sym typeface="Helvetica Neue"/>
              </a:rPr>
              <a:t>[α], there exist tuples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in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such that: </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2 </a:t>
            </a:r>
            <a:r>
              <a:rPr b="0" i="0" lang="en-US" sz="1800" u="none">
                <a:solidFill>
                  <a:schemeClr val="dk1"/>
                </a:solidFill>
                <a:latin typeface="Helvetica Neue"/>
                <a:ea typeface="Helvetica Neue"/>
                <a:cs typeface="Helvetica Neue"/>
                <a:sym typeface="Helvetica Neue"/>
              </a:rPr>
              <a:t>[α]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[α]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a:t>
            </a:r>
            <a:r>
              <a:rPr b="0" baseline="-2500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[α]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[β]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 </a:t>
            </a:r>
            <a:r>
              <a:rPr b="0" i="0" lang="en-US" sz="1800" u="none">
                <a:solidFill>
                  <a:schemeClr val="dk1"/>
                </a:solidFill>
                <a:latin typeface="Helvetica Neue"/>
                <a:ea typeface="Helvetica Neue"/>
                <a:cs typeface="Helvetica Neue"/>
                <a:sym typeface="Helvetica Neue"/>
              </a:rPr>
              <a:t>[β]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β]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β]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 </a:t>
            </a:r>
            <a:r>
              <a:rPr b="0" i="0" lang="en-US" sz="1800" u="none">
                <a:solidFill>
                  <a:schemeClr val="dk1"/>
                </a:solidFill>
                <a:latin typeface="Helvetica Neue"/>
                <a:ea typeface="Helvetica Neue"/>
                <a:cs typeface="Helvetica Neue"/>
                <a:sym typeface="Helvetica Neue"/>
              </a:rPr>
              <a:t>[β]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[β]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β] =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 </a:t>
            </a:r>
            <a:r>
              <a:rPr b="0" i="0" lang="en-US" sz="1800" u="none">
                <a:solidFill>
                  <a:schemeClr val="dk1"/>
                </a:solidFill>
                <a:latin typeface="Helvetica Neue"/>
                <a:ea typeface="Helvetica Neue"/>
                <a:cs typeface="Helvetica Neue"/>
                <a:sym typeface="Helvetica Neue"/>
              </a:rPr>
              <a:t>β] </a:t>
            </a:r>
            <a:br>
              <a:rPr b="0" i="0" lang="en-US" sz="1800" u="none">
                <a:solidFill>
                  <a:schemeClr val="dk1"/>
                </a:solidFill>
                <a:latin typeface="Helvetica Neue"/>
                <a:ea typeface="Helvetica Neue"/>
                <a:cs typeface="Helvetica Neue"/>
                <a:sym typeface="Helvetica Neue"/>
              </a:rPr>
            </a:br>
            <a:endParaRPr/>
          </a:p>
        </p:txBody>
      </p:sp>
      <p:grpSp>
        <p:nvGrpSpPr>
          <p:cNvPr id="428" name="Google Shape;428;p63"/>
          <p:cNvGrpSpPr/>
          <p:nvPr/>
        </p:nvGrpSpPr>
        <p:grpSpPr>
          <a:xfrm>
            <a:off x="7272337" y="6637337"/>
            <a:ext cx="317500" cy="4762"/>
            <a:chOff x="2640" y="1301"/>
            <a:chExt cx="200" cy="3"/>
          </a:xfrm>
        </p:grpSpPr>
        <p:cxnSp>
          <p:nvCxnSpPr>
            <p:cNvPr id="429" name="Google Shape;429;p63"/>
            <p:cNvCxnSpPr/>
            <p:nvPr/>
          </p:nvCxnSpPr>
          <p:spPr>
            <a:xfrm flipH="1" rot="10800000">
              <a:off x="2640" y="1301"/>
              <a:ext cx="136" cy="3"/>
            </a:xfrm>
            <a:prstGeom prst="straightConnector1">
              <a:avLst/>
            </a:prstGeom>
            <a:noFill/>
            <a:ln cap="flat" cmpd="sng" w="9525">
              <a:solidFill>
                <a:schemeClr val="dk1"/>
              </a:solidFill>
              <a:prstDash val="solid"/>
              <a:miter lim="800000"/>
              <a:headEnd len="med" w="med" type="none"/>
              <a:tailEnd len="med" w="med" type="triangle"/>
            </a:ln>
          </p:spPr>
        </p:cxnSp>
        <p:cxnSp>
          <p:nvCxnSpPr>
            <p:cNvPr id="430" name="Google Shape;430;p63"/>
            <p:cNvCxnSpPr/>
            <p:nvPr/>
          </p:nvCxnSpPr>
          <p:spPr>
            <a:xfrm>
              <a:off x="2704" y="1304"/>
              <a:ext cx="136" cy="0"/>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34" name="Shape 434"/>
        <p:cNvGrpSpPr/>
        <p:nvPr/>
      </p:nvGrpSpPr>
      <p:grpSpPr>
        <a:xfrm>
          <a:off x="0" y="0"/>
          <a:ext cx="0" cy="0"/>
          <a:chOff x="0" y="0"/>
          <a:chExt cx="0" cy="0"/>
        </a:xfrm>
      </p:grpSpPr>
      <p:sp>
        <p:nvSpPr>
          <p:cNvPr id="435" name="Google Shape;435;p6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MVD (Cont.)</a:t>
            </a:r>
            <a:endParaRPr/>
          </a:p>
        </p:txBody>
      </p:sp>
      <p:sp>
        <p:nvSpPr>
          <p:cNvPr id="436" name="Google Shape;436;p64"/>
          <p:cNvSpPr txBox="1"/>
          <p:nvPr>
            <p:ph idx="1" type="body"/>
          </p:nvPr>
        </p:nvSpPr>
        <p:spPr>
          <a:xfrm>
            <a:off x="927100" y="1139825"/>
            <a:ext cx="7661275" cy="6699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Tabular representation of α </a:t>
            </a:r>
            <a:r>
              <a:rPr b="1" i="0" lang="en-US" sz="14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β</a:t>
            </a:r>
            <a:endParaRPr/>
          </a:p>
        </p:txBody>
      </p:sp>
      <p:pic>
        <p:nvPicPr>
          <p:cNvPr id="437" name="Google Shape;437;p64"/>
          <p:cNvPicPr preferRelativeResize="0"/>
          <p:nvPr/>
        </p:nvPicPr>
        <p:blipFill rotWithShape="1">
          <a:blip r:embed="rId3">
            <a:alphaModFix/>
          </a:blip>
          <a:srcRect b="26792" l="602" r="1406" t="26524"/>
          <a:stretch/>
        </p:blipFill>
        <p:spPr>
          <a:xfrm>
            <a:off x="1217612" y="1946275"/>
            <a:ext cx="6967537" cy="24892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41" name="Shape 441"/>
        <p:cNvGrpSpPr/>
        <p:nvPr/>
      </p:nvGrpSpPr>
      <p:grpSpPr>
        <a:xfrm>
          <a:off x="0" y="0"/>
          <a:ext cx="0" cy="0"/>
          <a:chOff x="0" y="0"/>
          <a:chExt cx="0" cy="0"/>
        </a:xfrm>
      </p:grpSpPr>
      <p:sp>
        <p:nvSpPr>
          <p:cNvPr id="442" name="Google Shape;442;p6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a:t>
            </a:r>
            <a:endParaRPr/>
          </a:p>
        </p:txBody>
      </p:sp>
      <p:sp>
        <p:nvSpPr>
          <p:cNvPr id="443" name="Google Shape;443;p65"/>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be a relation schema with a set of attributes that are partitioned into 3 nonempty subsets.</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Y, Z, W</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say that </a:t>
            </a:r>
            <a:r>
              <a:rPr b="0" i="1" lang="en-US" sz="1800" u="none">
                <a:solidFill>
                  <a:schemeClr val="dk1"/>
                </a:solidFill>
                <a:latin typeface="Helvetica Neue"/>
                <a:ea typeface="Helvetica Neue"/>
                <a:cs typeface="Helvetica Neue"/>
                <a:sym typeface="Helvetica Neue"/>
              </a:rPr>
              <a:t>Y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Z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Y</a:t>
            </a:r>
            <a:r>
              <a:rPr b="0" i="0" lang="en-US" sz="1800" u="none">
                <a:solidFill>
                  <a:schemeClr val="dk1"/>
                </a:solidFill>
                <a:latin typeface="Helvetica Neue"/>
                <a:ea typeface="Helvetica Neue"/>
                <a:cs typeface="Helvetica Neue"/>
                <a:sym typeface="Helvetica Neue"/>
              </a:rPr>
              <a:t> multidetermines </a:t>
            </a:r>
            <a:r>
              <a:rPr b="0" i="1" lang="en-US" sz="1800" u="none">
                <a:solidFill>
                  <a:schemeClr val="dk1"/>
                </a:solidFill>
                <a:latin typeface="Helvetica Neue"/>
                <a:ea typeface="Helvetica Neue"/>
                <a:cs typeface="Helvetica Neue"/>
                <a:sym typeface="Helvetica Neue"/>
              </a:rPr>
              <a:t>Z </a:t>
            </a:r>
            <a:r>
              <a:rPr b="0" i="0" lang="en-US" sz="1800" u="none">
                <a:solidFill>
                  <a:schemeClr val="dk1"/>
                </a:solidFill>
                <a:latin typeface="Helvetica Neue"/>
                <a:ea typeface="Helvetica Neue"/>
                <a:cs typeface="Helvetica Neue"/>
                <a:sym typeface="Helvetica Neue"/>
              </a:rPr>
              <a:t>)</a:t>
            </a:r>
            <a:br>
              <a:rPr b="0" i="1"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if and only if for all possible relations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a:t>
            </a:r>
            <a:endParaRPr b="0" i="1"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&lt; </a:t>
            </a:r>
            <a:r>
              <a:rPr b="0" i="1" lang="en-US" sz="1800" u="none">
                <a:solidFill>
                  <a:schemeClr val="dk1"/>
                </a:solidFill>
                <a:latin typeface="Helvetica Neue"/>
                <a:ea typeface="Helvetica Neue"/>
                <a:cs typeface="Helvetica Neue"/>
                <a:sym typeface="Helvetica Neue"/>
              </a:rPr>
              <a:t>y</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z</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w</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&gt;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and &lt; </a:t>
            </a:r>
            <a:r>
              <a:rPr b="0" i="1" lang="en-US" sz="1800" u="none">
                <a:solidFill>
                  <a:schemeClr val="dk1"/>
                </a:solidFill>
                <a:latin typeface="Helvetica Neue"/>
                <a:ea typeface="Helvetica Neue"/>
                <a:cs typeface="Helvetica Neue"/>
                <a:sym typeface="Helvetica Neue"/>
              </a:rPr>
              <a:t>y</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z</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w</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&gt; ∈ </a:t>
            </a:r>
            <a:r>
              <a:rPr b="0" i="1" lang="en-US" sz="1800" u="none">
                <a:solidFill>
                  <a:schemeClr val="dk1"/>
                </a:solidFill>
                <a:latin typeface="Helvetica Neue"/>
                <a:ea typeface="Helvetica Neue"/>
                <a:cs typeface="Helvetica Neue"/>
                <a:sym typeface="Helvetica Neue"/>
              </a:rPr>
              <a:t>r</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then</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&lt; </a:t>
            </a:r>
            <a:r>
              <a:rPr b="0" i="1" lang="en-US" sz="1800" u="none">
                <a:solidFill>
                  <a:schemeClr val="dk1"/>
                </a:solidFill>
                <a:latin typeface="Helvetica Neue"/>
                <a:ea typeface="Helvetica Neue"/>
                <a:cs typeface="Helvetica Neue"/>
                <a:sym typeface="Helvetica Neue"/>
              </a:rPr>
              <a:t>y</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z</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w</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&gt;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and &lt; </a:t>
            </a:r>
            <a:r>
              <a:rPr b="0" i="1" lang="en-US" sz="1800" u="none">
                <a:solidFill>
                  <a:schemeClr val="dk1"/>
                </a:solidFill>
                <a:latin typeface="Helvetica Neue"/>
                <a:ea typeface="Helvetica Neue"/>
                <a:cs typeface="Helvetica Neue"/>
                <a:sym typeface="Helvetica Neue"/>
              </a:rPr>
              <a:t>y</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z</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w</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&gt; ∈ </a:t>
            </a:r>
            <a:r>
              <a:rPr b="0" i="1" lang="en-US" sz="1800" u="none">
                <a:solidFill>
                  <a:schemeClr val="dk1"/>
                </a:solidFill>
                <a:latin typeface="Helvetica Neue"/>
                <a:ea typeface="Helvetica Neue"/>
                <a:cs typeface="Helvetica Neue"/>
                <a:sym typeface="Helvetica Neue"/>
              </a:rPr>
              <a:t>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Note that since the behavior of </a:t>
            </a:r>
            <a:r>
              <a:rPr b="0" i="1" lang="en-US" sz="1800" u="none">
                <a:solidFill>
                  <a:schemeClr val="dk1"/>
                </a:solidFill>
                <a:latin typeface="Helvetica Neue"/>
                <a:ea typeface="Helvetica Neue"/>
                <a:cs typeface="Helvetica Neue"/>
                <a:sym typeface="Helvetica Neue"/>
              </a:rPr>
              <a:t>Z</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W</a:t>
            </a:r>
            <a:r>
              <a:rPr b="0" i="0" lang="en-US" sz="1800" u="none">
                <a:solidFill>
                  <a:schemeClr val="dk1"/>
                </a:solidFill>
                <a:latin typeface="Helvetica Neue"/>
                <a:ea typeface="Helvetica Neue"/>
                <a:cs typeface="Helvetica Neue"/>
                <a:sym typeface="Helvetica Neue"/>
              </a:rPr>
              <a:t> are identical it follows that </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Y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Z </a:t>
            </a:r>
            <a:r>
              <a:rPr b="0" i="0" lang="en-US" sz="1800" u="none">
                <a:solidFill>
                  <a:schemeClr val="dk1"/>
                </a:solidFill>
                <a:latin typeface="Helvetica Neue"/>
                <a:ea typeface="Helvetica Neue"/>
                <a:cs typeface="Helvetica Neue"/>
                <a:sym typeface="Helvetica Neue"/>
              </a:rPr>
              <a:t>if </a:t>
            </a:r>
            <a:r>
              <a:rPr b="0" i="1" lang="en-US" sz="1800" u="none">
                <a:solidFill>
                  <a:schemeClr val="dk1"/>
                </a:solidFill>
                <a:latin typeface="Helvetica Neue"/>
                <a:ea typeface="Helvetica Neue"/>
                <a:cs typeface="Helvetica Neue"/>
                <a:sym typeface="Helvetica Neue"/>
              </a:rPr>
              <a:t>Y</a:t>
            </a:r>
            <a:r>
              <a:rPr b="0" i="0" lang="en-US" sz="1800" u="none">
                <a:solidFill>
                  <a:schemeClr val="dk1"/>
                </a:solidFill>
                <a:latin typeface="Helvetica Neue"/>
                <a:ea typeface="Helvetica Neue"/>
                <a:cs typeface="Helvetica Neue"/>
                <a:sym typeface="Helvetica Neue"/>
              </a:rPr>
              <a:t>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W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47" name="Shape 447"/>
        <p:cNvGrpSpPr/>
        <p:nvPr/>
      </p:nvGrpSpPr>
      <p:grpSpPr>
        <a:xfrm>
          <a:off x="0" y="0"/>
          <a:ext cx="0" cy="0"/>
          <a:chOff x="0" y="0"/>
          <a:chExt cx="0" cy="0"/>
        </a:xfrm>
      </p:grpSpPr>
      <p:sp>
        <p:nvSpPr>
          <p:cNvPr id="448" name="Google Shape;448;p6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(Cont.)</a:t>
            </a:r>
            <a:endParaRPr/>
          </a:p>
        </p:txBody>
      </p:sp>
      <p:sp>
        <p:nvSpPr>
          <p:cNvPr id="449" name="Google Shape;449;p66"/>
          <p:cNvSpPr txBox="1"/>
          <p:nvPr>
            <p:ph idx="1" type="body"/>
          </p:nvPr>
        </p:nvSpPr>
        <p:spPr>
          <a:xfrm>
            <a:off x="927100" y="1139825"/>
            <a:ext cx="6767512" cy="4138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our example:</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course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teacher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course </a:t>
            </a:r>
            <a:r>
              <a:rPr b="1" i="0" lang="en-US" sz="14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book</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above formal definition is supposed to formalize the notion that given a particular value of </a:t>
            </a:r>
            <a:r>
              <a:rPr b="0" i="1" lang="en-US" sz="1800" u="none">
                <a:solidFill>
                  <a:schemeClr val="dk1"/>
                </a:solidFill>
                <a:latin typeface="Helvetica Neue"/>
                <a:ea typeface="Helvetica Neue"/>
                <a:cs typeface="Helvetica Neue"/>
                <a:sym typeface="Helvetica Neue"/>
              </a:rPr>
              <a:t>Y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course</a:t>
            </a:r>
            <a:r>
              <a:rPr b="0" i="0" lang="en-US" sz="1800" u="none">
                <a:solidFill>
                  <a:schemeClr val="dk1"/>
                </a:solidFill>
                <a:latin typeface="Helvetica Neue"/>
                <a:ea typeface="Helvetica Neue"/>
                <a:cs typeface="Helvetica Neue"/>
                <a:sym typeface="Helvetica Neue"/>
              </a:rPr>
              <a:t>) it has associated with it a set of values of </a:t>
            </a:r>
            <a:r>
              <a:rPr b="0" i="1" lang="en-US" sz="1800" u="none">
                <a:solidFill>
                  <a:schemeClr val="dk1"/>
                </a:solidFill>
                <a:latin typeface="Helvetica Neue"/>
                <a:ea typeface="Helvetica Neue"/>
                <a:cs typeface="Helvetica Neue"/>
                <a:sym typeface="Helvetica Neue"/>
              </a:rPr>
              <a:t>Z (teacher) </a:t>
            </a:r>
            <a:r>
              <a:rPr b="0" i="0" lang="en-US" sz="1800" u="none">
                <a:solidFill>
                  <a:schemeClr val="dk1"/>
                </a:solidFill>
                <a:latin typeface="Helvetica Neue"/>
                <a:ea typeface="Helvetica Neue"/>
                <a:cs typeface="Helvetica Neue"/>
                <a:sym typeface="Helvetica Neue"/>
              </a:rPr>
              <a:t>and a set of values of </a:t>
            </a:r>
            <a:r>
              <a:rPr b="0" i="1" lang="en-US" sz="1800" u="none">
                <a:solidFill>
                  <a:schemeClr val="dk1"/>
                </a:solidFill>
                <a:latin typeface="Helvetica Neue"/>
                <a:ea typeface="Helvetica Neue"/>
                <a:cs typeface="Helvetica Neue"/>
                <a:sym typeface="Helvetica Neue"/>
              </a:rPr>
              <a:t>W (book)</a:t>
            </a:r>
            <a:r>
              <a:rPr b="0" i="0" lang="en-US" sz="1800" u="none">
                <a:solidFill>
                  <a:schemeClr val="dk1"/>
                </a:solidFill>
                <a:latin typeface="Helvetica Neue"/>
                <a:ea typeface="Helvetica Neue"/>
                <a:cs typeface="Helvetica Neue"/>
                <a:sym typeface="Helvetica Neue"/>
              </a:rPr>
              <a:t>, and these two sets are in some sense independent of each other.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Note: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a:t>
            </a:r>
            <a:r>
              <a:rPr b="0" i="1" lang="en-US" sz="1800" u="none" cap="none" strike="noStrike">
                <a:solidFill>
                  <a:schemeClr val="dk1"/>
                </a:solidFill>
                <a:latin typeface="Helvetica Neue"/>
                <a:ea typeface="Helvetica Neue"/>
                <a:cs typeface="Helvetica Neue"/>
                <a:sym typeface="Helvetica Neue"/>
              </a:rPr>
              <a:t>Y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Z </a:t>
            </a:r>
            <a:r>
              <a:rPr b="0" i="0" lang="en-US" sz="1800" u="none" cap="none" strike="noStrike">
                <a:solidFill>
                  <a:schemeClr val="dk1"/>
                </a:solidFill>
                <a:latin typeface="Helvetica Neue"/>
                <a:ea typeface="Helvetica Neue"/>
                <a:cs typeface="Helvetica Neue"/>
                <a:sym typeface="Helvetica Neue"/>
              </a:rPr>
              <a:t> then  </a:t>
            </a:r>
            <a:r>
              <a:rPr b="0" i="1" lang="en-US" sz="1800" u="none" cap="none" strike="noStrike">
                <a:solidFill>
                  <a:schemeClr val="dk1"/>
                </a:solidFill>
                <a:latin typeface="Helvetica Neue"/>
                <a:ea typeface="Helvetica Neue"/>
                <a:cs typeface="Helvetica Neue"/>
                <a:sym typeface="Helvetica Neue"/>
              </a:rPr>
              <a:t>Y </a:t>
            </a:r>
            <a:r>
              <a:rPr b="1" i="0" lang="en-US" sz="16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Z</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Indeed we have (in above notation) </a:t>
            </a:r>
            <a:r>
              <a:rPr b="0" i="1" lang="en-US" sz="1800" u="none" cap="none" strike="noStrike">
                <a:solidFill>
                  <a:schemeClr val="dk1"/>
                </a:solidFill>
                <a:latin typeface="Helvetica Neue"/>
                <a:ea typeface="Helvetica Neue"/>
                <a:cs typeface="Helvetica Neue"/>
                <a:sym typeface="Helvetica Neue"/>
              </a:rPr>
              <a:t>Z</a:t>
            </a:r>
            <a:r>
              <a:rPr b="0" baseline="-25000" i="0"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 Z</a:t>
            </a:r>
            <a:r>
              <a:rPr b="0" baseline="-25000" i="0" lang="en-US" sz="1800" u="none" cap="none" strike="noStrike">
                <a:solidFill>
                  <a:schemeClr val="dk1"/>
                </a:solidFill>
                <a:latin typeface="Helvetica Neue"/>
                <a:ea typeface="Helvetica Neue"/>
                <a:cs typeface="Helvetica Neue"/>
                <a:sym typeface="Helvetica Neue"/>
              </a:rPr>
              <a:t>2</a:t>
            </a:r>
            <a:br>
              <a:rPr b="0" baseline="-2500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The claim follows.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53" name="Shape 453"/>
        <p:cNvGrpSpPr/>
        <p:nvPr/>
      </p:nvGrpSpPr>
      <p:grpSpPr>
        <a:xfrm>
          <a:off x="0" y="0"/>
          <a:ext cx="0" cy="0"/>
          <a:chOff x="0" y="0"/>
          <a:chExt cx="0" cy="0"/>
        </a:xfrm>
      </p:grpSpPr>
      <p:sp>
        <p:nvSpPr>
          <p:cNvPr id="454" name="Google Shape;454;p6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Use of Multivalued Dependencies</a:t>
            </a:r>
            <a:endParaRPr/>
          </a:p>
        </p:txBody>
      </p:sp>
      <p:sp>
        <p:nvSpPr>
          <p:cNvPr id="455" name="Google Shape;455;p67"/>
          <p:cNvSpPr txBox="1"/>
          <p:nvPr>
            <p:ph idx="1" type="body"/>
          </p:nvPr>
        </p:nvSpPr>
        <p:spPr>
          <a:xfrm>
            <a:off x="927100" y="1139825"/>
            <a:ext cx="7046912" cy="41370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use multivalued dependencies in two ways: </a:t>
            </a:r>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1.	To test relations to </a:t>
            </a:r>
            <a:r>
              <a:rPr b="0" i="0" lang="en-US" sz="1800" u="none" cap="none" strike="noStrike">
                <a:solidFill>
                  <a:schemeClr val="dk2"/>
                </a:solidFill>
                <a:latin typeface="Helvetica Neue"/>
                <a:ea typeface="Helvetica Neue"/>
                <a:cs typeface="Helvetica Neue"/>
                <a:sym typeface="Helvetica Neue"/>
              </a:rPr>
              <a:t>determine</a:t>
            </a:r>
            <a:r>
              <a:rPr b="0" i="0" lang="en-US" sz="1800" u="none" cap="none" strike="noStrike">
                <a:solidFill>
                  <a:schemeClr val="dk1"/>
                </a:solidFill>
                <a:latin typeface="Helvetica Neue"/>
                <a:ea typeface="Helvetica Neue"/>
                <a:cs typeface="Helvetica Neue"/>
                <a:sym typeface="Helvetica Neue"/>
              </a:rPr>
              <a:t> whether they are legal under a given set of functional and multivalued dependencies</a:t>
            </a:r>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2.	To specify </a:t>
            </a:r>
            <a:r>
              <a:rPr b="0" i="0" lang="en-US" sz="1800" u="none" cap="none" strike="noStrike">
                <a:solidFill>
                  <a:schemeClr val="dk2"/>
                </a:solidFill>
                <a:latin typeface="Helvetica Neue"/>
                <a:ea typeface="Helvetica Neue"/>
                <a:cs typeface="Helvetica Neue"/>
                <a:sym typeface="Helvetica Neue"/>
              </a:rPr>
              <a:t>constraints</a:t>
            </a:r>
            <a:r>
              <a:rPr b="0" i="0" lang="en-US" sz="1800" u="none" cap="none" strike="noStrike">
                <a:solidFill>
                  <a:schemeClr val="dk1"/>
                </a:solidFill>
                <a:latin typeface="Helvetica Neue"/>
                <a:ea typeface="Helvetica Neue"/>
                <a:cs typeface="Helvetica Neue"/>
                <a:sym typeface="Helvetica Neue"/>
              </a:rPr>
              <a:t> on the set of legal relations.  We shall thus concern ourselves </a:t>
            </a:r>
            <a:r>
              <a:rPr b="0" i="1" lang="en-US" sz="1800" u="none" cap="none" strike="noStrike">
                <a:solidFill>
                  <a:schemeClr val="dk1"/>
                </a:solidFill>
                <a:latin typeface="Helvetica Neue"/>
                <a:ea typeface="Helvetica Neue"/>
                <a:cs typeface="Helvetica Neue"/>
                <a:sym typeface="Helvetica Neue"/>
              </a:rPr>
              <a:t>only</a:t>
            </a:r>
            <a:r>
              <a:rPr b="0" i="0" lang="en-US" sz="1800" u="none" cap="none" strike="noStrike">
                <a:solidFill>
                  <a:schemeClr val="dk1"/>
                </a:solidFill>
                <a:latin typeface="Helvetica Neue"/>
                <a:ea typeface="Helvetica Neue"/>
                <a:cs typeface="Helvetica Neue"/>
                <a:sym typeface="Helvetica Neue"/>
              </a:rPr>
              <a:t> with relations that satisfy a given set of functional and multivalued dependencies.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a relation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fails to satisfy a given multivalued dependency, we can construct a relations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that does satisfy the multivalued dependency by adding tuples to </a:t>
            </a:r>
            <a:r>
              <a:rPr b="0" i="1" lang="en-US" sz="1800" u="none">
                <a:solidFill>
                  <a:schemeClr val="dk1"/>
                </a:solidFill>
                <a:latin typeface="Helvetica Neue"/>
                <a:ea typeface="Helvetica Neue"/>
                <a:cs typeface="Helvetica Neue"/>
                <a:sym typeface="Helvetica Neue"/>
              </a:rPr>
              <a:t>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59" name="Shape 459"/>
        <p:cNvGrpSpPr/>
        <p:nvPr/>
      </p:nvGrpSpPr>
      <p:grpSpPr>
        <a:xfrm>
          <a:off x="0" y="0"/>
          <a:ext cx="0" cy="0"/>
          <a:chOff x="0" y="0"/>
          <a:chExt cx="0" cy="0"/>
        </a:xfrm>
      </p:grpSpPr>
      <p:sp>
        <p:nvSpPr>
          <p:cNvPr id="460" name="Google Shape;460;p6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Theory of MVDs</a:t>
            </a:r>
            <a:endParaRPr/>
          </a:p>
        </p:txBody>
      </p:sp>
      <p:sp>
        <p:nvSpPr>
          <p:cNvPr id="461" name="Google Shape;461;p68"/>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From the definition of multivalued dependency, we can derive the following rule: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α → β, then α </a:t>
            </a:r>
            <a:r>
              <a:rPr b="1" i="0" lang="en-US" sz="16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β</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That is, every functional dependency is also a multivalued dependency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a:t>
            </a:r>
            <a:r>
              <a:rPr b="1" i="0" lang="en-US" sz="1800" u="none">
                <a:solidFill>
                  <a:schemeClr val="dk1"/>
                </a:solidFill>
                <a:latin typeface="Helvetica Neue"/>
                <a:ea typeface="Helvetica Neue"/>
                <a:cs typeface="Helvetica Neue"/>
                <a:sym typeface="Helvetica Neue"/>
              </a:rPr>
              <a:t>closure</a:t>
            </a:r>
            <a:r>
              <a:rPr b="0" i="0" lang="en-US" sz="1800" u="none">
                <a:solidFill>
                  <a:schemeClr val="dk1"/>
                </a:solidFill>
                <a:latin typeface="Helvetica Neue"/>
                <a:ea typeface="Helvetica Neue"/>
                <a:cs typeface="Helvetica Neue"/>
                <a:sym typeface="Helvetica Neue"/>
              </a:rPr>
              <a:t> D</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of </a:t>
            </a:r>
            <a:r>
              <a:rPr b="0" i="1" lang="en-US" sz="1800" u="none">
                <a:solidFill>
                  <a:schemeClr val="dk1"/>
                </a:solidFill>
                <a:latin typeface="Helvetica Neue"/>
                <a:ea typeface="Helvetica Neue"/>
                <a:cs typeface="Helvetica Neue"/>
                <a:sym typeface="Helvetica Neue"/>
              </a:rPr>
              <a:t>D</a:t>
            </a:r>
            <a:r>
              <a:rPr b="0" i="0" lang="en-US" sz="1800" u="none">
                <a:solidFill>
                  <a:schemeClr val="dk1"/>
                </a:solidFill>
                <a:latin typeface="Helvetica Neue"/>
                <a:ea typeface="Helvetica Neue"/>
                <a:cs typeface="Helvetica Neue"/>
                <a:sym typeface="Helvetica Neue"/>
              </a:rPr>
              <a:t> is the set of all functional and multivalued dependencies logically implied by </a:t>
            </a:r>
            <a:r>
              <a:rPr b="0" i="1" lang="en-US" sz="1800" u="none">
                <a:solidFill>
                  <a:schemeClr val="dk1"/>
                </a:solidFill>
                <a:latin typeface="Helvetica Neue"/>
                <a:ea typeface="Helvetica Neue"/>
                <a:cs typeface="Helvetica Neue"/>
                <a:sym typeface="Helvetica Neue"/>
              </a:rPr>
              <a:t>D</a:t>
            </a:r>
            <a:r>
              <a:rPr b="0" i="0" lang="en-US" sz="1800" u="non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We can compute D</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from </a:t>
            </a:r>
            <a:r>
              <a:rPr b="0" i="1" lang="en-US" sz="1800" u="none" cap="none" strike="noStrike">
                <a:solidFill>
                  <a:schemeClr val="dk1"/>
                </a:solidFill>
                <a:latin typeface="Helvetica Neue"/>
                <a:ea typeface="Helvetica Neue"/>
                <a:cs typeface="Helvetica Neue"/>
                <a:sym typeface="Helvetica Neue"/>
              </a:rPr>
              <a:t>D</a:t>
            </a:r>
            <a:r>
              <a:rPr b="0" i="0" lang="en-US" sz="1800" u="none" cap="none" strike="noStrike">
                <a:solidFill>
                  <a:schemeClr val="dk1"/>
                </a:solidFill>
                <a:latin typeface="Helvetica Neue"/>
                <a:ea typeface="Helvetica Neue"/>
                <a:cs typeface="Helvetica Neue"/>
                <a:sym typeface="Helvetica Neue"/>
              </a:rPr>
              <a:t>, using the formal definitions of functional dependencies and multivalued dependencies.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We can manage with such reasoning for very simple multivalued dependencies, which seem to be most common in practice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 complex dependencies, it is better to reason about sets of     dependencies using a system of inference rules (see Appendix C).</a:t>
            </a:r>
            <a:endParaRPr/>
          </a:p>
        </p:txBody>
      </p:sp>
      <p:grpSp>
        <p:nvGrpSpPr>
          <p:cNvPr id="462" name="Google Shape;462;p68"/>
          <p:cNvGrpSpPr/>
          <p:nvPr/>
        </p:nvGrpSpPr>
        <p:grpSpPr>
          <a:xfrm>
            <a:off x="7137400" y="6584950"/>
            <a:ext cx="366712" cy="0"/>
            <a:chOff x="2605" y="829"/>
            <a:chExt cx="231" cy="0"/>
          </a:xfrm>
        </p:grpSpPr>
        <p:cxnSp>
          <p:nvCxnSpPr>
            <p:cNvPr id="463" name="Google Shape;463;p68"/>
            <p:cNvCxnSpPr/>
            <p:nvPr/>
          </p:nvCxnSpPr>
          <p:spPr>
            <a:xfrm>
              <a:off x="2605" y="829"/>
              <a:ext cx="135" cy="0"/>
            </a:xfrm>
            <a:prstGeom prst="straightConnector1">
              <a:avLst/>
            </a:prstGeom>
            <a:noFill/>
            <a:ln cap="flat" cmpd="sng" w="9525">
              <a:solidFill>
                <a:schemeClr val="dk1"/>
              </a:solidFill>
              <a:prstDash val="solid"/>
              <a:miter lim="800000"/>
              <a:headEnd len="med" w="med" type="none"/>
              <a:tailEnd len="med" w="med" type="stealth"/>
            </a:ln>
          </p:spPr>
        </p:cxnSp>
        <p:cxnSp>
          <p:nvCxnSpPr>
            <p:cNvPr id="464" name="Google Shape;464;p68"/>
            <p:cNvCxnSpPr/>
            <p:nvPr/>
          </p:nvCxnSpPr>
          <p:spPr>
            <a:xfrm>
              <a:off x="2701" y="829"/>
              <a:ext cx="135" cy="0"/>
            </a:xfrm>
            <a:prstGeom prst="straightConnector1">
              <a:avLst/>
            </a:prstGeom>
            <a:noFill/>
            <a:ln cap="flat" cmpd="sng" w="9525">
              <a:solidFill>
                <a:schemeClr val="dk1"/>
              </a:solidFill>
              <a:prstDash val="solid"/>
              <a:miter lim="800000"/>
              <a:headEnd len="med" w="med" type="none"/>
              <a:tailEnd len="med" w="med" type="stealth"/>
            </a:ln>
          </p:spPr>
        </p:cxn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68" name="Shape 468"/>
        <p:cNvGrpSpPr/>
        <p:nvPr/>
      </p:nvGrpSpPr>
      <p:grpSpPr>
        <a:xfrm>
          <a:off x="0" y="0"/>
          <a:ext cx="0" cy="0"/>
          <a:chOff x="0" y="0"/>
          <a:chExt cx="0" cy="0"/>
        </a:xfrm>
      </p:grpSpPr>
      <p:sp>
        <p:nvSpPr>
          <p:cNvPr id="469" name="Google Shape;469;p6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Fourth Normal Form</a:t>
            </a:r>
            <a:endParaRPr/>
          </a:p>
        </p:txBody>
      </p:sp>
      <p:sp>
        <p:nvSpPr>
          <p:cNvPr id="470" name="Google Shape;470;p69"/>
          <p:cNvSpPr txBox="1"/>
          <p:nvPr>
            <p:ph idx="1" type="body"/>
          </p:nvPr>
        </p:nvSpPr>
        <p:spPr>
          <a:xfrm>
            <a:off x="927100" y="116363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relation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in 4NF with respect to a set </a:t>
            </a:r>
            <a:r>
              <a:rPr b="0" i="1" lang="en-US" sz="1800" u="none">
                <a:solidFill>
                  <a:schemeClr val="dk1"/>
                </a:solidFill>
                <a:latin typeface="Helvetica Neue"/>
                <a:ea typeface="Helvetica Neue"/>
                <a:cs typeface="Helvetica Neue"/>
                <a:sym typeface="Helvetica Neue"/>
              </a:rPr>
              <a:t>D</a:t>
            </a:r>
            <a:r>
              <a:rPr b="0" i="0" lang="en-US" sz="1800" u="none">
                <a:solidFill>
                  <a:schemeClr val="dk1"/>
                </a:solidFill>
                <a:latin typeface="Helvetica Neue"/>
                <a:ea typeface="Helvetica Neue"/>
                <a:cs typeface="Helvetica Neue"/>
                <a:sym typeface="Helvetica Neue"/>
              </a:rPr>
              <a:t> of functional and multivalued dependencies if for all multivalued dependencies in </a:t>
            </a:r>
            <a:r>
              <a:rPr b="0" i="1" lang="en-US" sz="1800" u="none">
                <a:solidFill>
                  <a:schemeClr val="dk1"/>
                </a:solidFill>
                <a:latin typeface="Helvetica Neue"/>
                <a:ea typeface="Helvetica Neue"/>
                <a:cs typeface="Helvetica Neue"/>
                <a:sym typeface="Helvetica Neue"/>
              </a:rPr>
              <a:t>D</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of the form α </a:t>
            </a:r>
            <a:r>
              <a:rPr b="1" i="0" lang="en-US" sz="14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β, where α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and β</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at least one of the following hold: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α </a:t>
            </a:r>
            <a:r>
              <a:rPr b="1" i="0" lang="en-US" sz="14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β is trivial (i.e., β</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α or α ∪ β</a:t>
            </a:r>
            <a:r>
              <a:rPr b="0" i="1" lang="en-US" sz="1800" u="none" cap="none" strike="noStrike">
                <a:solidFill>
                  <a:schemeClr val="dk1"/>
                </a:solidFill>
                <a:latin typeface="Helvetica Neue"/>
                <a:ea typeface="Helvetica Neue"/>
                <a:cs typeface="Helvetica Neue"/>
                <a:sym typeface="Helvetica Neue"/>
              </a:rPr>
              <a:t> = 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α is a superkey for schema </a:t>
            </a:r>
            <a:r>
              <a:rPr b="0" i="1" lang="en-US" sz="1800" u="none" cap="none" strike="noStrike">
                <a:solidFill>
                  <a:schemeClr val="dk1"/>
                </a:solidFill>
                <a:latin typeface="Helvetica Neue"/>
                <a:ea typeface="Helvetica Neue"/>
                <a:cs typeface="Helvetica Neue"/>
                <a:sym typeface="Helvetica Neue"/>
              </a:rPr>
              <a:t>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a relation is in 4NF it is in BCNF</a:t>
            </a:r>
            <a:endParaRPr/>
          </a:p>
        </p:txBody>
      </p:sp>
      <p:grpSp>
        <p:nvGrpSpPr>
          <p:cNvPr id="471" name="Google Shape;471;p69"/>
          <p:cNvGrpSpPr/>
          <p:nvPr/>
        </p:nvGrpSpPr>
        <p:grpSpPr>
          <a:xfrm>
            <a:off x="7108825" y="6642100"/>
            <a:ext cx="317500" cy="4762"/>
            <a:chOff x="2640" y="1301"/>
            <a:chExt cx="200" cy="3"/>
          </a:xfrm>
        </p:grpSpPr>
        <p:cxnSp>
          <p:nvCxnSpPr>
            <p:cNvPr id="472" name="Google Shape;472;p69"/>
            <p:cNvCxnSpPr/>
            <p:nvPr/>
          </p:nvCxnSpPr>
          <p:spPr>
            <a:xfrm flipH="1" rot="10800000">
              <a:off x="2640" y="1301"/>
              <a:ext cx="136" cy="3"/>
            </a:xfrm>
            <a:prstGeom prst="straightConnector1">
              <a:avLst/>
            </a:prstGeom>
            <a:noFill/>
            <a:ln cap="flat" cmpd="sng" w="9525">
              <a:solidFill>
                <a:schemeClr val="dk1"/>
              </a:solidFill>
              <a:prstDash val="solid"/>
              <a:miter lim="800000"/>
              <a:headEnd len="med" w="med" type="none"/>
              <a:tailEnd len="med" w="med" type="triangle"/>
            </a:ln>
          </p:spPr>
        </p:cxnSp>
        <p:cxnSp>
          <p:nvCxnSpPr>
            <p:cNvPr id="473" name="Google Shape;473;p69"/>
            <p:cNvCxnSpPr/>
            <p:nvPr/>
          </p:nvCxnSpPr>
          <p:spPr>
            <a:xfrm>
              <a:off x="2704" y="1304"/>
              <a:ext cx="136" cy="0"/>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77" name="Shape 477"/>
        <p:cNvGrpSpPr/>
        <p:nvPr/>
      </p:nvGrpSpPr>
      <p:grpSpPr>
        <a:xfrm>
          <a:off x="0" y="0"/>
          <a:ext cx="0" cy="0"/>
          <a:chOff x="0" y="0"/>
          <a:chExt cx="0" cy="0"/>
        </a:xfrm>
      </p:grpSpPr>
      <p:sp>
        <p:nvSpPr>
          <p:cNvPr id="478" name="Google Shape;478;p7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Restriction of Multivalued Dependencies</a:t>
            </a:r>
            <a:endParaRPr/>
          </a:p>
        </p:txBody>
      </p:sp>
      <p:sp>
        <p:nvSpPr>
          <p:cNvPr id="479" name="Google Shape;479;p70"/>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restriction of  D to R</a:t>
            </a:r>
            <a:r>
              <a:rPr b="0" baseline="-25000" i="0" lang="en-US" sz="20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is the set D</a:t>
            </a:r>
            <a:r>
              <a:rPr b="0" baseline="-25000" i="0" lang="en-US" sz="20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consisting of</a:t>
            </a:r>
            <a:endParaRPr/>
          </a:p>
          <a:p>
            <a:pPr indent="-285750" lvl="1" marL="742950" marR="0" rtl="0" algn="l">
              <a:lnSpc>
                <a:spcPct val="10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 functional dependencies in D</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that include only attributes of R</a:t>
            </a:r>
            <a:r>
              <a:rPr b="0" baseline="-25000" i="0" lang="en-US" sz="2000" u="none" cap="none" strike="noStrike">
                <a:solidFill>
                  <a:schemeClr val="dk1"/>
                </a:solidFill>
                <a:latin typeface="Helvetica Neue"/>
                <a:ea typeface="Helvetica Neue"/>
                <a:cs typeface="Helvetica Neue"/>
                <a:sym typeface="Helvetica Neue"/>
              </a:rPr>
              <a:t>i</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 multivalued dependencies of the form</a:t>
            </a:r>
            <a:endParaRPr/>
          </a:p>
          <a:p>
            <a:pPr indent="-228600" lvl="2" marL="1085850" marR="0" rtl="0" algn="l">
              <a:lnSpc>
                <a:spcPct val="100000"/>
              </a:lnSpc>
              <a:spcBef>
                <a:spcPts val="84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   α </a:t>
            </a:r>
            <a:r>
              <a:rPr b="1" i="0" lang="en-US" sz="14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β ∩ R</a:t>
            </a:r>
            <a:r>
              <a:rPr b="0" baseline="-25000" i="0" lang="en-US" sz="2400" u="none" cap="none" strike="noStrike">
                <a:solidFill>
                  <a:schemeClr val="dk1"/>
                </a:solidFill>
                <a:latin typeface="Helvetica Neue"/>
                <a:ea typeface="Helvetica Neue"/>
                <a:cs typeface="Helvetica Neue"/>
                <a:sym typeface="Helvetica Neue"/>
              </a:rPr>
              <a:t>i</a:t>
            </a:r>
            <a:r>
              <a:rPr b="0" i="0" lang="en-US" sz="2000" u="none" cap="none" strike="noStrike">
                <a:solidFill>
                  <a:schemeClr val="dk1"/>
                </a:solidFill>
                <a:latin typeface="Helvetica Neue"/>
                <a:ea typeface="Helvetica Neue"/>
                <a:cs typeface="Helvetica Neue"/>
                <a:sym typeface="Helvetica Neue"/>
              </a:rPr>
              <a:t>)</a:t>
            </a:r>
            <a:endParaRPr b="0" baseline="-25000" i="0" sz="20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70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    where α ⊆ R</a:t>
            </a:r>
            <a:r>
              <a:rPr b="0" baseline="-25000" i="0" lang="en-US" sz="20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 and  α </a:t>
            </a:r>
            <a:r>
              <a:rPr b="1" i="0" lang="en-US" sz="14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β is in D</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83" name="Shape 483"/>
        <p:cNvGrpSpPr/>
        <p:nvPr/>
      </p:nvGrpSpPr>
      <p:grpSpPr>
        <a:xfrm>
          <a:off x="0" y="0"/>
          <a:ext cx="0" cy="0"/>
          <a:chOff x="0" y="0"/>
          <a:chExt cx="0" cy="0"/>
        </a:xfrm>
      </p:grpSpPr>
      <p:sp>
        <p:nvSpPr>
          <p:cNvPr id="484" name="Google Shape;484;p7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4NF Decomposition Algorithm</a:t>
            </a:r>
            <a:endParaRPr/>
          </a:p>
        </p:txBody>
      </p:sp>
      <p:sp>
        <p:nvSpPr>
          <p:cNvPr id="485" name="Google Shape;485;p71"/>
          <p:cNvSpPr txBox="1"/>
          <p:nvPr>
            <p:ph idx="1" type="body"/>
          </p:nvPr>
        </p:nvSpPr>
        <p:spPr>
          <a:xfrm>
            <a:off x="927100" y="1163637"/>
            <a:ext cx="8043862"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result:</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done</a:t>
            </a:r>
            <a:r>
              <a:rPr b="0" i="0" lang="en-US" sz="1800" u="none">
                <a:solidFill>
                  <a:schemeClr val="dk1"/>
                </a:solidFill>
                <a:latin typeface="Helvetica Neue"/>
                <a:ea typeface="Helvetica Neue"/>
                <a:cs typeface="Helvetica Neue"/>
                <a:sym typeface="Helvetica Neue"/>
              </a:rPr>
              <a:t> := false;</a:t>
            </a:r>
            <a:br>
              <a:rPr b="0" i="0"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compute D</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Let D</a:t>
            </a:r>
            <a:r>
              <a:rPr b="0" baseline="-25000" i="0" lang="en-US" sz="20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denote the restriction of D</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to R</a:t>
            </a:r>
            <a:r>
              <a:rPr b="0" baseline="-25000" i="0" lang="en-US" sz="2000" u="none">
                <a:solidFill>
                  <a:schemeClr val="dk1"/>
                </a:solidFill>
                <a:latin typeface="Helvetica Neue"/>
                <a:ea typeface="Helvetica Neue"/>
                <a:cs typeface="Helvetica Neue"/>
                <a:sym typeface="Helvetica Neue"/>
              </a:rPr>
              <a:t>i</a:t>
            </a:r>
            <a:endParaRPr/>
          </a:p>
          <a:p>
            <a:pPr indent="-342900" lvl="0" marL="342900" marR="0" rtl="0" algn="l">
              <a:lnSpc>
                <a:spcPct val="10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while </a:t>
            </a:r>
            <a:r>
              <a:rPr b="0" i="0" lang="en-US" sz="1800" u="none">
                <a:solidFill>
                  <a:schemeClr val="dk1"/>
                </a:solidFill>
                <a:latin typeface="Helvetica Neue"/>
                <a:ea typeface="Helvetica Neue"/>
                <a:cs typeface="Helvetica Neue"/>
                <a:sym typeface="Helvetica Neue"/>
              </a:rPr>
              <a:t>(</a:t>
            </a:r>
            <a:r>
              <a:rPr b="1" i="0" lang="en-US" sz="1800" u="none">
                <a:solidFill>
                  <a:schemeClr val="dk1"/>
                </a:solidFill>
                <a:latin typeface="Helvetica Neue"/>
                <a:ea typeface="Helvetica Neue"/>
                <a:cs typeface="Helvetica Neue"/>
                <a:sym typeface="Helvetica Neue"/>
              </a:rPr>
              <a:t>not </a:t>
            </a:r>
            <a:r>
              <a:rPr b="0" i="1" lang="en-US" sz="1800" u="none">
                <a:solidFill>
                  <a:schemeClr val="dk1"/>
                </a:solidFill>
                <a:latin typeface="Helvetica Neue"/>
                <a:ea typeface="Helvetica Neue"/>
                <a:cs typeface="Helvetica Neue"/>
                <a:sym typeface="Helvetica Neue"/>
              </a:rPr>
              <a:t>done</a:t>
            </a:r>
            <a:r>
              <a:rPr b="0" i="0"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if </a:t>
            </a:r>
            <a:r>
              <a:rPr b="0" i="0" lang="en-US" sz="1800" u="none">
                <a:solidFill>
                  <a:schemeClr val="dk1"/>
                </a:solidFill>
                <a:latin typeface="Helvetica Neue"/>
                <a:ea typeface="Helvetica Neue"/>
                <a:cs typeface="Helvetica Neue"/>
                <a:sym typeface="Helvetica Neue"/>
              </a:rPr>
              <a:t>(there is a schema </a:t>
            </a:r>
            <a:r>
              <a:rPr b="1" i="0"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in </a:t>
            </a:r>
            <a:r>
              <a:rPr b="0" i="1" lang="en-US" sz="1800" u="none">
                <a:solidFill>
                  <a:schemeClr val="dk1"/>
                </a:solidFill>
                <a:latin typeface="Helvetica Neue"/>
                <a:ea typeface="Helvetica Neue"/>
                <a:cs typeface="Helvetica Neue"/>
                <a:sym typeface="Helvetica Neue"/>
              </a:rPr>
              <a:t>result </a:t>
            </a:r>
            <a:r>
              <a:rPr b="0" i="0" lang="en-US" sz="1800" u="none">
                <a:solidFill>
                  <a:schemeClr val="dk1"/>
                </a:solidFill>
                <a:latin typeface="Helvetica Neue"/>
                <a:ea typeface="Helvetica Neue"/>
                <a:cs typeface="Helvetica Neue"/>
                <a:sym typeface="Helvetica Neue"/>
              </a:rPr>
              <a:t>that is not in 4NF) </a:t>
            </a:r>
            <a:r>
              <a:rPr b="1" i="0" lang="en-US" sz="1800" u="none">
                <a:solidFill>
                  <a:schemeClr val="dk1"/>
                </a:solidFill>
                <a:latin typeface="Helvetica Neue"/>
                <a:ea typeface="Helvetica Neue"/>
                <a:cs typeface="Helvetica Neue"/>
                <a:sym typeface="Helvetica Neue"/>
              </a:rPr>
              <a:t>then</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begin</a:t>
            </a:r>
            <a:endParaRPr/>
          </a:p>
          <a:p>
            <a:pPr indent="-342900" lvl="0" marL="342900" marR="0" rtl="0" algn="l">
              <a:lnSpc>
                <a:spcPct val="100000"/>
              </a:lnSpc>
              <a:spcBef>
                <a:spcPts val="70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let α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β be a nontrivial multivalued dependency that holds</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on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such that α →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is not in </a:t>
            </a:r>
            <a:r>
              <a:rPr b="0" i="1" lang="en-US" sz="1800" u="none">
                <a:solidFill>
                  <a:schemeClr val="dk1"/>
                </a:solidFill>
                <a:latin typeface="Helvetica Neue"/>
                <a:ea typeface="Helvetica Neue"/>
                <a:cs typeface="Helvetica Neue"/>
                <a:sym typeface="Helvetica Neue"/>
              </a:rPr>
              <a:t>D</a:t>
            </a:r>
            <a:r>
              <a:rPr b="0" baseline="-25000" i="0" lang="en-US" sz="20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and α∩β=φ;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result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result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β)  ∪ (α, β); </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end</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else </a:t>
            </a:r>
            <a:r>
              <a:rPr b="0" i="1" lang="en-US" sz="1800" u="none">
                <a:solidFill>
                  <a:schemeClr val="dk1"/>
                </a:solidFill>
                <a:latin typeface="Helvetica Neue"/>
                <a:ea typeface="Helvetica Neue"/>
                <a:cs typeface="Helvetica Neue"/>
                <a:sym typeface="Helvetica Neue"/>
              </a:rPr>
              <a:t>done</a:t>
            </a:r>
            <a:r>
              <a:rPr b="0" i="0" lang="en-US" sz="1800" u="none">
                <a:solidFill>
                  <a:schemeClr val="dk1"/>
                </a:solidFill>
                <a:latin typeface="Helvetica Neue"/>
                <a:ea typeface="Helvetica Neue"/>
                <a:cs typeface="Helvetica Neue"/>
                <a:sym typeface="Helvetica Neue"/>
              </a:rPr>
              <a:t>:= true;</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Note: each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is in 4NF, and decomposition is lossless-join</a:t>
            </a:r>
            <a:endParaRPr/>
          </a:p>
        </p:txBody>
      </p:sp>
      <p:grpSp>
        <p:nvGrpSpPr>
          <p:cNvPr id="486" name="Google Shape;486;p71"/>
          <p:cNvGrpSpPr/>
          <p:nvPr/>
        </p:nvGrpSpPr>
        <p:grpSpPr>
          <a:xfrm>
            <a:off x="8348662" y="6477000"/>
            <a:ext cx="317500" cy="4762"/>
            <a:chOff x="2640" y="1301"/>
            <a:chExt cx="200" cy="3"/>
          </a:xfrm>
        </p:grpSpPr>
        <p:cxnSp>
          <p:nvCxnSpPr>
            <p:cNvPr id="487" name="Google Shape;487;p71"/>
            <p:cNvCxnSpPr/>
            <p:nvPr/>
          </p:nvCxnSpPr>
          <p:spPr>
            <a:xfrm flipH="1" rot="10800000">
              <a:off x="2640" y="1301"/>
              <a:ext cx="136" cy="3"/>
            </a:xfrm>
            <a:prstGeom prst="straightConnector1">
              <a:avLst/>
            </a:prstGeom>
            <a:noFill/>
            <a:ln cap="flat" cmpd="sng" w="9525">
              <a:solidFill>
                <a:schemeClr val="dk1"/>
              </a:solidFill>
              <a:prstDash val="solid"/>
              <a:miter lim="800000"/>
              <a:headEnd len="med" w="med" type="none"/>
              <a:tailEnd len="med" w="med" type="triangle"/>
            </a:ln>
          </p:spPr>
        </p:cxnSp>
        <p:cxnSp>
          <p:nvCxnSpPr>
            <p:cNvPr id="488" name="Google Shape;488;p71"/>
            <p:cNvCxnSpPr/>
            <p:nvPr/>
          </p:nvCxnSpPr>
          <p:spPr>
            <a:xfrm>
              <a:off x="2704" y="1304"/>
              <a:ext cx="136" cy="0"/>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92" name="Shape 492"/>
        <p:cNvGrpSpPr/>
        <p:nvPr/>
      </p:nvGrpSpPr>
      <p:grpSpPr>
        <a:xfrm>
          <a:off x="0" y="0"/>
          <a:ext cx="0" cy="0"/>
          <a:chOff x="0" y="0"/>
          <a:chExt cx="0" cy="0"/>
        </a:xfrm>
      </p:grpSpPr>
      <p:sp>
        <p:nvSpPr>
          <p:cNvPr id="493" name="Google Shape;493;p7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a:t>
            </a:r>
            <a:endParaRPr/>
          </a:p>
        </p:txBody>
      </p:sp>
      <p:sp>
        <p:nvSpPr>
          <p:cNvPr id="494" name="Google Shape;494;p72"/>
          <p:cNvSpPr txBox="1"/>
          <p:nvPr>
            <p:ph idx="1" type="body"/>
          </p:nvPr>
        </p:nvSpPr>
        <p:spPr>
          <a:xfrm>
            <a:off x="927100" y="116363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 B, C, G, H, I</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70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F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 </a:t>
            </a:r>
            <a:r>
              <a:rPr b="1" i="0" lang="en-US" sz="1600" u="none">
                <a:solidFill>
                  <a:schemeClr val="dk1"/>
                </a:solidFill>
                <a:latin typeface="Helvetica Neue"/>
                <a:ea typeface="Helvetica Neue"/>
                <a:cs typeface="Helvetica Neue"/>
                <a:sym typeface="Helvetica Neue"/>
              </a:rPr>
              <a:t>→→</a:t>
            </a:r>
            <a:r>
              <a:rPr b="0" i="0" lang="en-US" sz="20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B</a:t>
            </a:r>
            <a:r>
              <a:rPr b="0" i="0" lang="en-US" sz="18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HI</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CG </a:t>
            </a:r>
            <a:r>
              <a:rPr b="1" i="0" lang="en-US" sz="16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a:t>
            </a:r>
            <a:r>
              <a:rPr b="0" i="0" lang="en-US" sz="1800" u="non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not in 4NF since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is not a superkey for </a:t>
            </a:r>
            <a:r>
              <a:rPr b="0" i="1" lang="en-US" sz="1800" u="none">
                <a:solidFill>
                  <a:schemeClr val="dk1"/>
                </a:solidFill>
                <a:latin typeface="Helvetica Neue"/>
                <a:ea typeface="Helvetica Neue"/>
                <a:cs typeface="Helvetica Neue"/>
                <a:sym typeface="Helvetica Neue"/>
              </a:rPr>
              <a:t>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Decomposition</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 B</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is in 4NF)</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b)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 C, G, H, I</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is not in 4NF)</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c)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C, G, H</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is in 4NF)</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d)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 C, G, I</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is not in 4NF)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Since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HI</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HI</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t>
            </a:r>
            <a:r>
              <a:rPr b="1" i="0" lang="en-US" sz="14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5</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 I</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5</a:t>
            </a:r>
            <a:r>
              <a:rPr b="0" i="0" lang="en-US" sz="1800" u="none">
                <a:solidFill>
                  <a:schemeClr val="dk1"/>
                </a:solidFill>
                <a:latin typeface="Helvetica Neue"/>
                <a:ea typeface="Helvetica Neue"/>
                <a:cs typeface="Helvetica Neue"/>
                <a:sym typeface="Helvetica Neue"/>
              </a:rPr>
              <a:t> is in 4NF)</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f)</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6</a:t>
            </a:r>
            <a:r>
              <a:rPr b="0" i="0" lang="en-US" sz="1800" u="none">
                <a:solidFill>
                  <a:schemeClr val="dk1"/>
                </a:solidFill>
                <a:latin typeface="Helvetica Neue"/>
                <a:ea typeface="Helvetica Neue"/>
                <a:cs typeface="Helvetica Neue"/>
                <a:sym typeface="Helvetica Neue"/>
              </a:rPr>
              <a:t> = (A, C, G)  		(R</a:t>
            </a:r>
            <a:r>
              <a:rPr b="0" baseline="-25000" i="0" lang="en-US" sz="1800" u="none">
                <a:solidFill>
                  <a:schemeClr val="dk1"/>
                </a:solidFill>
                <a:latin typeface="Helvetica Neue"/>
                <a:ea typeface="Helvetica Neue"/>
                <a:cs typeface="Helvetica Neue"/>
                <a:sym typeface="Helvetica Neue"/>
              </a:rPr>
              <a:t>6</a:t>
            </a:r>
            <a:r>
              <a:rPr b="0" i="0" lang="en-US" sz="1800" u="none">
                <a:solidFill>
                  <a:schemeClr val="dk1"/>
                </a:solidFill>
                <a:latin typeface="Helvetica Neue"/>
                <a:ea typeface="Helvetica Neue"/>
                <a:cs typeface="Helvetica Neue"/>
                <a:sym typeface="Helvetica Neue"/>
              </a:rPr>
              <a:t> is in  4NF)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98" name="Shape 498"/>
        <p:cNvGrpSpPr/>
        <p:nvPr/>
      </p:nvGrpSpPr>
      <p:grpSpPr>
        <a:xfrm>
          <a:off x="0" y="0"/>
          <a:ext cx="0" cy="0"/>
          <a:chOff x="0" y="0"/>
          <a:chExt cx="0" cy="0"/>
        </a:xfrm>
      </p:grpSpPr>
      <p:sp>
        <p:nvSpPr>
          <p:cNvPr id="499" name="Google Shape;499;p73"/>
          <p:cNvSpPr txBox="1"/>
          <p:nvPr>
            <p:ph type="title"/>
          </p:nvPr>
        </p:nvSpPr>
        <p:spPr>
          <a:xfrm>
            <a:off x="552450" y="3810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Further Normal Forms</a:t>
            </a:r>
            <a:endParaRPr/>
          </a:p>
        </p:txBody>
      </p:sp>
      <p:sp>
        <p:nvSpPr>
          <p:cNvPr id="500" name="Google Shape;500;p73"/>
          <p:cNvSpPr txBox="1"/>
          <p:nvPr>
            <p:ph idx="1" type="body"/>
          </p:nvPr>
        </p:nvSpPr>
        <p:spPr>
          <a:xfrm>
            <a:off x="927100" y="1139825"/>
            <a:ext cx="7661275" cy="34004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Join dependencies</a:t>
            </a:r>
            <a:r>
              <a:rPr b="0" i="0" lang="en-US" sz="1800" u="none">
                <a:solidFill>
                  <a:schemeClr val="dk1"/>
                </a:solidFill>
                <a:latin typeface="Helvetica Neue"/>
                <a:ea typeface="Helvetica Neue"/>
                <a:cs typeface="Helvetica Neue"/>
                <a:sym typeface="Helvetica Neue"/>
              </a:rPr>
              <a:t> generalize multivalued dependencies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lead to </a:t>
            </a:r>
            <a:r>
              <a:rPr b="1" i="0" lang="en-US" sz="1800" u="none" cap="none" strike="noStrike">
                <a:solidFill>
                  <a:schemeClr val="dk1"/>
                </a:solidFill>
                <a:latin typeface="Helvetica Neue"/>
                <a:ea typeface="Helvetica Neue"/>
                <a:cs typeface="Helvetica Neue"/>
                <a:sym typeface="Helvetica Neue"/>
              </a:rPr>
              <a:t>project-join normal form (</a:t>
            </a:r>
            <a:r>
              <a:rPr b="0" i="0" lang="en-US" sz="1800" u="none" cap="none" strike="noStrike">
                <a:solidFill>
                  <a:schemeClr val="dk1"/>
                </a:solidFill>
                <a:latin typeface="Helvetica Neue"/>
                <a:ea typeface="Helvetica Neue"/>
                <a:cs typeface="Helvetica Neue"/>
                <a:sym typeface="Helvetica Neue"/>
              </a:rPr>
              <a:t>PJNF) (also called </a:t>
            </a:r>
            <a:r>
              <a:rPr b="1" i="0" lang="en-US" sz="1800" u="none" cap="none" strike="noStrike">
                <a:solidFill>
                  <a:schemeClr val="dk1"/>
                </a:solidFill>
                <a:latin typeface="Helvetica Neue"/>
                <a:ea typeface="Helvetica Neue"/>
                <a:cs typeface="Helvetica Neue"/>
                <a:sym typeface="Helvetica Neue"/>
              </a:rPr>
              <a:t>fifth normal form</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class of even more general constraints, leads to a normal form called </a:t>
            </a:r>
            <a:r>
              <a:rPr b="1" i="0" lang="en-US" sz="1800" u="none">
                <a:solidFill>
                  <a:schemeClr val="dk1"/>
                </a:solidFill>
                <a:latin typeface="Helvetica Neue"/>
                <a:ea typeface="Helvetica Neue"/>
                <a:cs typeface="Helvetica Neue"/>
                <a:sym typeface="Helvetica Neue"/>
              </a:rPr>
              <a:t>domain-key normal form</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Problem with these generalized constraints:  are hard to reason with, and no set of sound and complete set of inference rules exists.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Hence rarely used</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04" name="Shape 504"/>
        <p:cNvGrpSpPr/>
        <p:nvPr/>
      </p:nvGrpSpPr>
      <p:grpSpPr>
        <a:xfrm>
          <a:off x="0" y="0"/>
          <a:ext cx="0" cy="0"/>
          <a:chOff x="0" y="0"/>
          <a:chExt cx="0" cy="0"/>
        </a:xfrm>
      </p:grpSpPr>
      <p:sp>
        <p:nvSpPr>
          <p:cNvPr id="505" name="Google Shape;505;p7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Overall Database Design Process</a:t>
            </a:r>
            <a:endParaRPr/>
          </a:p>
        </p:txBody>
      </p:sp>
      <p:sp>
        <p:nvSpPr>
          <p:cNvPr id="506" name="Google Shape;506;p74"/>
          <p:cNvSpPr txBox="1"/>
          <p:nvPr>
            <p:ph idx="1" type="body"/>
          </p:nvPr>
        </p:nvSpPr>
        <p:spPr>
          <a:xfrm>
            <a:off x="952500" y="1163637"/>
            <a:ext cx="8191500" cy="3746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have assumed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is given</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could have been generated when converting E-R diagram to a set of tables.</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could have been a single relation containing </a:t>
            </a:r>
            <a:r>
              <a:rPr b="0" i="1" lang="en-US" sz="1800" u="none" cap="none" strike="noStrike">
                <a:solidFill>
                  <a:schemeClr val="dk1"/>
                </a:solidFill>
                <a:latin typeface="Helvetica Neue"/>
                <a:ea typeface="Helvetica Neue"/>
                <a:cs typeface="Helvetica Neue"/>
                <a:sym typeface="Helvetica Neue"/>
              </a:rPr>
              <a:t>all</a:t>
            </a:r>
            <a:r>
              <a:rPr b="0" i="0" lang="en-US" sz="1800" u="none" cap="none" strike="noStrike">
                <a:solidFill>
                  <a:schemeClr val="dk1"/>
                </a:solidFill>
                <a:latin typeface="Helvetica Neue"/>
                <a:ea typeface="Helvetica Neue"/>
                <a:cs typeface="Helvetica Neue"/>
                <a:sym typeface="Helvetica Neue"/>
              </a:rPr>
              <a:t> attributes that are of interest (called </a:t>
            </a:r>
            <a:r>
              <a:rPr b="1" i="0" lang="en-US" sz="1800" u="none" cap="none" strike="noStrike">
                <a:solidFill>
                  <a:schemeClr val="dk1"/>
                </a:solidFill>
                <a:latin typeface="Helvetica Neue"/>
                <a:ea typeface="Helvetica Neue"/>
                <a:cs typeface="Helvetica Neue"/>
                <a:sym typeface="Helvetica Neue"/>
              </a:rPr>
              <a:t>universal relation</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Normalization breaks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into smaller relations.</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could have been the result of some ad hoc design of relations, which we then test/convert to normal form.</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10" name="Shape 510"/>
        <p:cNvGrpSpPr/>
        <p:nvPr/>
      </p:nvGrpSpPr>
      <p:grpSpPr>
        <a:xfrm>
          <a:off x="0" y="0"/>
          <a:ext cx="0" cy="0"/>
          <a:chOff x="0" y="0"/>
          <a:chExt cx="0" cy="0"/>
        </a:xfrm>
      </p:grpSpPr>
      <p:sp>
        <p:nvSpPr>
          <p:cNvPr id="511" name="Google Shape;511;p7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ER Model and Normalization</a:t>
            </a:r>
            <a:endParaRPr/>
          </a:p>
        </p:txBody>
      </p:sp>
      <p:sp>
        <p:nvSpPr>
          <p:cNvPr id="512" name="Google Shape;512;p75"/>
          <p:cNvSpPr txBox="1"/>
          <p:nvPr>
            <p:ph idx="1" type="body"/>
          </p:nvPr>
        </p:nvSpPr>
        <p:spPr>
          <a:xfrm>
            <a:off x="927100" y="1163637"/>
            <a:ext cx="7707312" cy="4143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an E-R diagram is carefully designed, identifying all entities correctly, the tables generated from the E-R diagram should not need further normalization.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However, in a real (imperfect) design, there can be functional dependencies from non-key attributes of an entity to other attributes of the entity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 an </a:t>
            </a:r>
            <a:r>
              <a:rPr b="0" i="1" lang="en-US" sz="1800" u="none" cap="none" strike="noStrike">
                <a:solidFill>
                  <a:schemeClr val="dk1"/>
                </a:solidFill>
                <a:latin typeface="Helvetica Neue"/>
                <a:ea typeface="Helvetica Neue"/>
                <a:cs typeface="Helvetica Neue"/>
                <a:sym typeface="Helvetica Neue"/>
              </a:rPr>
              <a:t>employee</a:t>
            </a:r>
            <a:r>
              <a:rPr b="0" i="0" lang="en-US" sz="1800" u="none" cap="none" strike="noStrike">
                <a:solidFill>
                  <a:schemeClr val="dk1"/>
                </a:solidFill>
                <a:latin typeface="Helvetica Neue"/>
                <a:ea typeface="Helvetica Neue"/>
                <a:cs typeface="Helvetica Neue"/>
                <a:sym typeface="Helvetica Neue"/>
              </a:rPr>
              <a:t> entity with attributes </a:t>
            </a:r>
            <a:r>
              <a:rPr b="0" i="1" lang="en-US" sz="1800" u="none" cap="none" strike="noStrike">
                <a:solidFill>
                  <a:schemeClr val="dk1"/>
                </a:solidFill>
                <a:latin typeface="Helvetica Neue"/>
                <a:ea typeface="Helvetica Neue"/>
                <a:cs typeface="Helvetica Neue"/>
                <a:sym typeface="Helvetica Neue"/>
              </a:rPr>
              <a:t>department_number  </a:t>
            </a:r>
            <a:r>
              <a:rPr b="0" i="0" lang="en-US" sz="1800" u="none" cap="none" strike="noStrike">
                <a:solidFill>
                  <a:schemeClr val="dk1"/>
                </a:solidFill>
                <a:latin typeface="Helvetica Neue"/>
                <a:ea typeface="Helvetica Neue"/>
                <a:cs typeface="Helvetica Neue"/>
                <a:sym typeface="Helvetica Neue"/>
              </a:rPr>
              <a:t>and </a:t>
            </a:r>
            <a:r>
              <a:rPr b="0" i="1" lang="en-US" sz="1800" u="none" cap="none" strike="noStrike">
                <a:solidFill>
                  <a:schemeClr val="dk1"/>
                </a:solidFill>
                <a:latin typeface="Helvetica Neue"/>
                <a:ea typeface="Helvetica Neue"/>
                <a:cs typeface="Helvetica Neue"/>
                <a:sym typeface="Helvetica Neue"/>
              </a:rPr>
              <a:t>department_address</a:t>
            </a:r>
            <a:r>
              <a:rPr b="0" i="0" lang="en-US" sz="1800" u="none" cap="none" strike="noStrike">
                <a:solidFill>
                  <a:schemeClr val="dk1"/>
                </a:solidFill>
                <a:latin typeface="Helvetica Neue"/>
                <a:ea typeface="Helvetica Neue"/>
                <a:cs typeface="Helvetica Neue"/>
                <a:sym typeface="Helvetica Neue"/>
              </a:rPr>
              <a:t>, and  a functional dependency </a:t>
            </a:r>
            <a:r>
              <a:rPr b="0" i="1" lang="en-US" sz="1800" u="none" cap="none" strike="noStrike">
                <a:solidFill>
                  <a:schemeClr val="dk1"/>
                </a:solidFill>
                <a:latin typeface="Helvetica Neue"/>
                <a:ea typeface="Helvetica Neue"/>
                <a:cs typeface="Helvetica Neue"/>
                <a:sym typeface="Helvetica Neue"/>
              </a:rPr>
              <a:t>department_number → department_address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Good design would have made department an entity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Functional dependencies from non-key attributes of a relationship set possible, but rare --- most relationships are binary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16" name="Shape 516"/>
        <p:cNvGrpSpPr/>
        <p:nvPr/>
      </p:nvGrpSpPr>
      <p:grpSpPr>
        <a:xfrm>
          <a:off x="0" y="0"/>
          <a:ext cx="0" cy="0"/>
          <a:chOff x="0" y="0"/>
          <a:chExt cx="0" cy="0"/>
        </a:xfrm>
      </p:grpSpPr>
      <p:sp>
        <p:nvSpPr>
          <p:cNvPr id="517" name="Google Shape;517;p7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Denormalization for Performance</a:t>
            </a:r>
            <a:endParaRPr/>
          </a:p>
        </p:txBody>
      </p:sp>
      <p:sp>
        <p:nvSpPr>
          <p:cNvPr id="518" name="Google Shape;518;p76"/>
          <p:cNvSpPr txBox="1"/>
          <p:nvPr>
            <p:ph idx="1" type="body"/>
          </p:nvPr>
        </p:nvSpPr>
        <p:spPr>
          <a:xfrm>
            <a:off x="917575" y="1209675"/>
            <a:ext cx="8034337"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May want to use non-normalized schema for performance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For example, displaying </a:t>
            </a:r>
            <a:r>
              <a:rPr b="0" i="1" lang="en-US" sz="1800" u="none">
                <a:solidFill>
                  <a:schemeClr val="dk1"/>
                </a:solidFill>
                <a:latin typeface="Helvetica Neue"/>
                <a:ea typeface="Helvetica Neue"/>
                <a:cs typeface="Helvetica Neue"/>
                <a:sym typeface="Helvetica Neue"/>
              </a:rPr>
              <a:t>customer_name</a:t>
            </a:r>
            <a:r>
              <a:rPr b="0" i="0" lang="en-US" sz="1800" u="none">
                <a:solidFill>
                  <a:schemeClr val="dk1"/>
                </a:solidFill>
                <a:latin typeface="Helvetica Neue"/>
                <a:ea typeface="Helvetica Neue"/>
                <a:cs typeface="Helvetica Neue"/>
                <a:sym typeface="Helvetica Neue"/>
              </a:rPr>
              <a:t> along with </a:t>
            </a:r>
            <a:r>
              <a:rPr b="0" i="1" lang="en-US" sz="1800" u="none">
                <a:solidFill>
                  <a:schemeClr val="dk1"/>
                </a:solidFill>
                <a:latin typeface="Helvetica Neue"/>
                <a:ea typeface="Helvetica Neue"/>
                <a:cs typeface="Helvetica Neue"/>
                <a:sym typeface="Helvetica Neue"/>
              </a:rPr>
              <a:t>account_number</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balance</a:t>
            </a:r>
            <a:r>
              <a:rPr b="0" i="0" lang="en-US" sz="1800" u="none">
                <a:solidFill>
                  <a:schemeClr val="dk1"/>
                </a:solidFill>
                <a:latin typeface="Helvetica Neue"/>
                <a:ea typeface="Helvetica Neue"/>
                <a:cs typeface="Helvetica Neue"/>
                <a:sym typeface="Helvetica Neue"/>
              </a:rPr>
              <a:t> requires join of </a:t>
            </a:r>
            <a:r>
              <a:rPr b="0" i="1" lang="en-US" sz="1800" u="none">
                <a:solidFill>
                  <a:schemeClr val="dk1"/>
                </a:solidFill>
                <a:latin typeface="Helvetica Neue"/>
                <a:ea typeface="Helvetica Neue"/>
                <a:cs typeface="Helvetica Neue"/>
                <a:sym typeface="Helvetica Neue"/>
              </a:rPr>
              <a:t>account</a:t>
            </a:r>
            <a:r>
              <a:rPr b="0" i="0" lang="en-US" sz="1800" u="none">
                <a:solidFill>
                  <a:schemeClr val="dk1"/>
                </a:solidFill>
                <a:latin typeface="Helvetica Neue"/>
                <a:ea typeface="Helvetica Neue"/>
                <a:cs typeface="Helvetica Neue"/>
                <a:sym typeface="Helvetica Neue"/>
              </a:rPr>
              <a:t> with </a:t>
            </a:r>
            <a:r>
              <a:rPr b="0" i="1" lang="en-US" sz="1800" u="none">
                <a:solidFill>
                  <a:schemeClr val="dk1"/>
                </a:solidFill>
                <a:latin typeface="Helvetica Neue"/>
                <a:ea typeface="Helvetica Neue"/>
                <a:cs typeface="Helvetica Neue"/>
                <a:sym typeface="Helvetica Neue"/>
              </a:rPr>
              <a:t>depositor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Alternative 1:  Use denormalized relation containing attributes of </a:t>
            </a:r>
            <a:r>
              <a:rPr b="0" i="1" lang="en-US" sz="1800" u="none">
                <a:solidFill>
                  <a:schemeClr val="dk1"/>
                </a:solidFill>
                <a:latin typeface="Helvetica Neue"/>
                <a:ea typeface="Helvetica Neue"/>
                <a:cs typeface="Helvetica Neue"/>
                <a:sym typeface="Helvetica Neue"/>
              </a:rPr>
              <a:t>account</a:t>
            </a:r>
            <a:r>
              <a:rPr b="0" i="0" lang="en-US" sz="1800" u="none">
                <a:solidFill>
                  <a:schemeClr val="dk1"/>
                </a:solidFill>
                <a:latin typeface="Helvetica Neue"/>
                <a:ea typeface="Helvetica Neue"/>
                <a:cs typeface="Helvetica Neue"/>
                <a:sym typeface="Helvetica Neue"/>
              </a:rPr>
              <a:t> as well as </a:t>
            </a:r>
            <a:r>
              <a:rPr b="0" i="1" lang="en-US" sz="1800" u="none">
                <a:solidFill>
                  <a:schemeClr val="dk1"/>
                </a:solidFill>
                <a:latin typeface="Helvetica Neue"/>
                <a:ea typeface="Helvetica Neue"/>
                <a:cs typeface="Helvetica Neue"/>
                <a:sym typeface="Helvetica Neue"/>
              </a:rPr>
              <a:t>depositor</a:t>
            </a:r>
            <a:r>
              <a:rPr b="0" i="0" lang="en-US" sz="1800" u="none">
                <a:solidFill>
                  <a:schemeClr val="dk1"/>
                </a:solidFill>
                <a:latin typeface="Helvetica Neue"/>
                <a:ea typeface="Helvetica Neue"/>
                <a:cs typeface="Helvetica Neue"/>
                <a:sym typeface="Helvetica Neue"/>
              </a:rPr>
              <a:t> with all above attributes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faster lookup</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extra space and extra execution time for updates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extra coding work for programmer and possibility of error in extra code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Alternative 2: use a materialized view defined as</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account      depositor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Benefits and drawbacks same as above, except no extra coding work for programmer and avoids possible errors</a:t>
            </a:r>
            <a:endParaRPr/>
          </a:p>
        </p:txBody>
      </p:sp>
      <p:sp>
        <p:nvSpPr>
          <p:cNvPr id="519" name="Google Shape;519;p76"/>
          <p:cNvSpPr/>
          <p:nvPr/>
        </p:nvSpPr>
        <p:spPr>
          <a:xfrm>
            <a:off x="2913062" y="4406900"/>
            <a:ext cx="142875" cy="142875"/>
          </a:xfrm>
          <a:custGeom>
            <a:rect b="b" l="l" r="r" t="t"/>
            <a:pathLst>
              <a:path extrusionOk="0" h="182" w="182">
                <a:moveTo>
                  <a:pt x="0" y="0"/>
                </a:moveTo>
                <a:lnTo>
                  <a:pt x="0" y="182"/>
                </a:lnTo>
                <a:lnTo>
                  <a:pt x="182" y="0"/>
                </a:lnTo>
                <a:lnTo>
                  <a:pt x="182" y="182"/>
                </a:lnTo>
                <a:lnTo>
                  <a:pt x="0" y="0"/>
                </a:lnTo>
                <a:close/>
              </a:path>
            </a:pathLst>
          </a:custGeom>
          <a:noFill/>
          <a:ln cap="flat"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23" name="Shape 523"/>
        <p:cNvGrpSpPr/>
        <p:nvPr/>
      </p:nvGrpSpPr>
      <p:grpSpPr>
        <a:xfrm>
          <a:off x="0" y="0"/>
          <a:ext cx="0" cy="0"/>
          <a:chOff x="0" y="0"/>
          <a:chExt cx="0" cy="0"/>
        </a:xfrm>
      </p:grpSpPr>
      <p:sp>
        <p:nvSpPr>
          <p:cNvPr id="524" name="Google Shape;524;p7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Other Design Issues</a:t>
            </a:r>
            <a:endParaRPr/>
          </a:p>
        </p:txBody>
      </p:sp>
      <p:sp>
        <p:nvSpPr>
          <p:cNvPr id="525" name="Google Shape;525;p77"/>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Some aspects of database design are not caught by normalization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Examples of bad database design, to be avoided: </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Instead of </a:t>
            </a:r>
            <a:r>
              <a:rPr b="0" i="1" lang="en-US" sz="1800" u="none">
                <a:solidFill>
                  <a:schemeClr val="dk1"/>
                </a:solidFill>
                <a:latin typeface="Helvetica Neue"/>
                <a:ea typeface="Helvetica Neue"/>
                <a:cs typeface="Helvetica Neue"/>
                <a:sym typeface="Helvetica Neue"/>
              </a:rPr>
              <a:t>earnings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company_id, year, amount </a:t>
            </a:r>
            <a:r>
              <a:rPr b="0" i="0" lang="en-US" sz="1800" u="none">
                <a:solidFill>
                  <a:schemeClr val="dk1"/>
                </a:solidFill>
                <a:latin typeface="Helvetica Neue"/>
                <a:ea typeface="Helvetica Neue"/>
                <a:cs typeface="Helvetica Neue"/>
                <a:sym typeface="Helvetica Neue"/>
              </a:rPr>
              <a:t>), use </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earnings_2004, earnings_2005, earnings_2006</a:t>
            </a:r>
            <a:r>
              <a:rPr b="0" i="0" lang="en-US" sz="1800" u="none" cap="none" strike="noStrike">
                <a:solidFill>
                  <a:schemeClr val="dk1"/>
                </a:solidFill>
                <a:latin typeface="Helvetica Neue"/>
                <a:ea typeface="Helvetica Neue"/>
                <a:cs typeface="Helvetica Neue"/>
                <a:sym typeface="Helvetica Neue"/>
              </a:rPr>
              <a:t>, etc., all on the schema (</a:t>
            </a:r>
            <a:r>
              <a:rPr b="0" i="1" lang="en-US" sz="1800" u="none" cap="none" strike="noStrike">
                <a:solidFill>
                  <a:schemeClr val="dk1"/>
                </a:solidFill>
                <a:latin typeface="Helvetica Neue"/>
                <a:ea typeface="Helvetica Neue"/>
                <a:cs typeface="Helvetica Neue"/>
                <a:sym typeface="Helvetica Neue"/>
              </a:rPr>
              <a:t>company_id, earnings</a:t>
            </a:r>
            <a:r>
              <a:rPr b="0" i="0"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Above are in BCNF, but make querying across years difficult and needs new table each year</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company_year</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company_id, earnings_2004, earnings_2005,  </a:t>
            </a:r>
            <a:br>
              <a:rPr b="0" i="1"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                         earnings_2006</a:t>
            </a:r>
            <a:r>
              <a:rPr b="0" i="0"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Also in BCNF, but also makes querying across years difficult and requires new attribute each year.</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Is an example of a </a:t>
            </a:r>
            <a:r>
              <a:rPr b="1" i="0" lang="en-US" sz="1800" u="none" cap="none" strike="noStrike">
                <a:solidFill>
                  <a:schemeClr val="dk1"/>
                </a:solidFill>
                <a:latin typeface="Helvetica Neue"/>
                <a:ea typeface="Helvetica Neue"/>
                <a:cs typeface="Helvetica Neue"/>
                <a:sym typeface="Helvetica Neue"/>
              </a:rPr>
              <a:t>crosstab</a:t>
            </a:r>
            <a:r>
              <a:rPr b="0" i="0" lang="en-US" sz="1800" u="none" cap="none" strike="noStrike">
                <a:solidFill>
                  <a:schemeClr val="dk1"/>
                </a:solidFill>
                <a:latin typeface="Helvetica Neue"/>
                <a:ea typeface="Helvetica Neue"/>
                <a:cs typeface="Helvetica Neue"/>
                <a:sym typeface="Helvetica Neue"/>
              </a:rPr>
              <a:t>, where values for one attribute become column names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Used in spreadsheets, and in data analysis tools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29" name="Shape 529"/>
        <p:cNvGrpSpPr/>
        <p:nvPr/>
      </p:nvGrpSpPr>
      <p:grpSpPr>
        <a:xfrm>
          <a:off x="0" y="0"/>
          <a:ext cx="0" cy="0"/>
          <a:chOff x="0" y="0"/>
          <a:chExt cx="0" cy="0"/>
        </a:xfrm>
      </p:grpSpPr>
      <p:sp>
        <p:nvSpPr>
          <p:cNvPr id="530" name="Google Shape;530;p7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Modeling Temporal Data</a:t>
            </a:r>
            <a:endParaRPr/>
          </a:p>
        </p:txBody>
      </p:sp>
      <p:sp>
        <p:nvSpPr>
          <p:cNvPr id="531" name="Google Shape;531;p78"/>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Temporal data</a:t>
            </a:r>
            <a:r>
              <a:rPr b="0" i="0" lang="en-US" sz="1800" u="none">
                <a:solidFill>
                  <a:schemeClr val="dk1"/>
                </a:solidFill>
                <a:latin typeface="Helvetica Neue"/>
                <a:ea typeface="Helvetica Neue"/>
                <a:cs typeface="Helvetica Neue"/>
                <a:sym typeface="Helvetica Neue"/>
              </a:rPr>
              <a:t> have an association time interval during which the data are </a:t>
            </a:r>
            <a:r>
              <a:rPr b="0" i="1" lang="en-US" sz="1800" u="none">
                <a:solidFill>
                  <a:schemeClr val="dk1"/>
                </a:solidFill>
                <a:latin typeface="Helvetica Neue"/>
                <a:ea typeface="Helvetica Neue"/>
                <a:cs typeface="Helvetica Neue"/>
                <a:sym typeface="Helvetica Neue"/>
              </a:rPr>
              <a:t>valid.</a:t>
            </a:r>
            <a:endParaRPr b="0" i="0" sz="1800" u="non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0" i="1" lang="en-US" sz="1800" u="none">
                <a:solidFill>
                  <a:schemeClr val="dk1"/>
                </a:solidFill>
                <a:latin typeface="Helvetica Neue"/>
                <a:ea typeface="Helvetica Neue"/>
                <a:cs typeface="Helvetica Neue"/>
                <a:sym typeface="Helvetica Neue"/>
              </a:rPr>
              <a:t>snapshot</a:t>
            </a:r>
            <a:r>
              <a:rPr b="0" i="0" lang="en-US" sz="1800" u="none">
                <a:solidFill>
                  <a:schemeClr val="dk1"/>
                </a:solidFill>
                <a:latin typeface="Helvetica Neue"/>
                <a:ea typeface="Helvetica Neue"/>
                <a:cs typeface="Helvetica Neue"/>
                <a:sym typeface="Helvetica Neue"/>
              </a:rPr>
              <a:t> is the value of the data at a particular point in time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Several proposals to extend ER model by adding valid time to</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attributes, e.g. address of a customer at different points in time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entities, e.g. time duration when an account exists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relationships, e.g. time during which a customer owned an account</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But no accepted standard</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Adding a temporal component results in functional dependencies like</a:t>
            </a:r>
            <a:endParaRPr/>
          </a:p>
          <a:p>
            <a:pPr indent="-342900" lvl="0" marL="342900" marR="0" rtl="0" algn="l">
              <a:lnSpc>
                <a:spcPct val="9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customer_id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customer_street, customer_city</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not to hold, because the address varies over time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0" i="1" lang="en-US" sz="1800" u="none">
                <a:solidFill>
                  <a:schemeClr val="dk1"/>
                </a:solidFill>
                <a:latin typeface="Helvetica Neue"/>
                <a:ea typeface="Helvetica Neue"/>
                <a:cs typeface="Helvetica Neue"/>
                <a:sym typeface="Helvetica Neue"/>
              </a:rPr>
              <a:t>temporal functional dependency  </a:t>
            </a:r>
            <a:r>
              <a:rPr b="0" i="0" lang="en-US" sz="1800" u="none">
                <a:solidFill>
                  <a:schemeClr val="dk1"/>
                </a:solidFill>
                <a:latin typeface="Helvetica Neue"/>
                <a:ea typeface="Helvetica Neue"/>
                <a:cs typeface="Helvetica Neue"/>
                <a:sym typeface="Helvetica Neue"/>
              </a:rPr>
              <a:t>X 🡪 Y holds on schema </a:t>
            </a:r>
            <a:r>
              <a:rPr b="0" i="1" lang="en-US" sz="1800" u="none">
                <a:solidFill>
                  <a:schemeClr val="dk1"/>
                </a:solidFill>
                <a:latin typeface="Helvetica Neue"/>
                <a:ea typeface="Helvetica Neue"/>
                <a:cs typeface="Helvetica Neue"/>
                <a:sym typeface="Helvetica Neue"/>
              </a:rPr>
              <a:t>R</a:t>
            </a:r>
            <a:r>
              <a:rPr b="0" i="0" lang="en-US" sz="1800" u="none">
                <a:solidFill>
                  <a:schemeClr val="dk1"/>
                </a:solidFill>
                <a:latin typeface="Helvetica Neue"/>
                <a:ea typeface="Helvetica Neue"/>
                <a:cs typeface="Helvetica Neue"/>
                <a:sym typeface="Helvetica Neue"/>
              </a:rPr>
              <a:t> if the functional dependency X 🡪 Y holds on all snapshots for all legal instances r (</a:t>
            </a:r>
            <a:r>
              <a:rPr b="0" i="1" lang="en-US" sz="1800" u="none">
                <a:solidFill>
                  <a:schemeClr val="dk1"/>
                </a:solidFill>
                <a:latin typeface="Helvetica Neue"/>
                <a:ea typeface="Helvetica Neue"/>
                <a:cs typeface="Helvetica Neue"/>
                <a:sym typeface="Helvetica Neue"/>
              </a:rPr>
              <a:t>R </a:t>
            </a:r>
            <a:r>
              <a:rPr b="0" i="0" lang="en-US" sz="1800" u="none">
                <a:solidFill>
                  <a:schemeClr val="dk1"/>
                </a:solidFill>
                <a:latin typeface="Helvetica Neue"/>
                <a:ea typeface="Helvetica Neue"/>
                <a:cs typeface="Helvetica Neue"/>
                <a:sym typeface="Helvetica Neue"/>
              </a:rPr>
              <a:t>)</a:t>
            </a:r>
            <a:endParaRPr/>
          </a:p>
          <a:p>
            <a:pPr indent="-240030" lvl="0" marL="342900" marR="0" rtl="0" algn="l">
              <a:lnSpc>
                <a:spcPct val="9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
        <p:nvSpPr>
          <p:cNvPr id="532" name="Google Shape;532;p78"/>
          <p:cNvSpPr txBox="1"/>
          <p:nvPr/>
        </p:nvSpPr>
        <p:spPr>
          <a:xfrm>
            <a:off x="5089525" y="3117850"/>
            <a:ext cx="2730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a:solidFill>
                  <a:schemeClr val="dk1"/>
                </a:solidFill>
                <a:latin typeface="Noto Sans Symbols"/>
                <a:ea typeface="Noto Sans Symbols"/>
                <a:cs typeface="Noto Sans Symbols"/>
                <a:sym typeface="Noto Sans Symbols"/>
              </a:rPr>
              <a:t>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36" name="Shape 536"/>
        <p:cNvGrpSpPr/>
        <p:nvPr/>
      </p:nvGrpSpPr>
      <p:grpSpPr>
        <a:xfrm>
          <a:off x="0" y="0"/>
          <a:ext cx="0" cy="0"/>
          <a:chOff x="0" y="0"/>
          <a:chExt cx="0" cy="0"/>
        </a:xfrm>
      </p:grpSpPr>
      <p:sp>
        <p:nvSpPr>
          <p:cNvPr id="537" name="Google Shape;537;p7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Modeling Temporal Data (Cont.)</a:t>
            </a:r>
            <a:endParaRPr/>
          </a:p>
        </p:txBody>
      </p:sp>
      <p:sp>
        <p:nvSpPr>
          <p:cNvPr id="538" name="Google Shape;538;p79"/>
          <p:cNvSpPr txBox="1"/>
          <p:nvPr>
            <p:ph idx="1" type="body"/>
          </p:nvPr>
        </p:nvSpPr>
        <p:spPr>
          <a:xfrm>
            <a:off x="927100" y="1139825"/>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practice, database designers may add start and end time attributes to relations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a:t>
            </a:r>
            <a:r>
              <a:rPr b="0" i="1" lang="en-US" sz="1800" u="none" cap="none" strike="noStrike">
                <a:solidFill>
                  <a:schemeClr val="dk1"/>
                </a:solidFill>
                <a:latin typeface="Helvetica Neue"/>
                <a:ea typeface="Helvetica Neue"/>
                <a:cs typeface="Helvetica Neue"/>
                <a:sym typeface="Helvetica Neue"/>
              </a:rPr>
              <a:t>course</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course_id, course_title</a:t>
            </a:r>
            <a:r>
              <a:rPr b="0" i="0" lang="en-US" sz="1800" u="none" cap="none" strike="noStrike">
                <a:solidFill>
                  <a:schemeClr val="dk1"/>
                </a:solidFill>
                <a:latin typeface="Helvetica Neue"/>
                <a:ea typeface="Helvetica Neue"/>
                <a:cs typeface="Helvetica Neue"/>
                <a:sym typeface="Helvetica Neue"/>
              </a:rPr>
              <a:t>) 🡪</a:t>
            </a:r>
            <a:endParaRPr b="0" i="0" sz="1800" u="none" cap="none" strike="noStrike">
              <a:solidFill>
                <a:schemeClr val="dk1"/>
              </a:solidFill>
              <a:latin typeface="Helvetica Neue"/>
              <a:ea typeface="Helvetica Neue"/>
              <a:cs typeface="Helvetica Neue"/>
              <a:sym typeface="Helvetica Neue"/>
            </a:endParaRPr>
          </a:p>
          <a:p>
            <a:pPr indent="-228600" lvl="2" marL="1085850" marR="0" rtl="0" algn="l">
              <a:lnSpc>
                <a:spcPct val="100000"/>
              </a:lnSpc>
              <a:spcBef>
                <a:spcPts val="630"/>
              </a:spcBef>
              <a:spcAft>
                <a:spcPts val="0"/>
              </a:spcAft>
              <a:buClr>
                <a:srgbClr val="33CC33"/>
              </a:buClr>
              <a:buSzPts val="1350"/>
              <a:buFont typeface="Arimo"/>
              <a:buNone/>
            </a:pPr>
            <a:r>
              <a:rPr b="0" i="1" lang="en-US" sz="1800" u="none" cap="none" strike="noStrike">
                <a:solidFill>
                  <a:schemeClr val="dk1"/>
                </a:solidFill>
                <a:latin typeface="Helvetica Neue"/>
                <a:ea typeface="Helvetica Neue"/>
                <a:cs typeface="Helvetica Neue"/>
                <a:sym typeface="Helvetica Neue"/>
              </a:rPr>
              <a:t>     course</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course_id, course_title, start, end</a:t>
            </a:r>
            <a:r>
              <a:rPr b="0" i="0"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Constraint: no two tuples can have overlapping valid times</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Hard to enforce efficiently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Foreign key references may be to current version of data, or to data at a point in time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student transcript should refer to course information at the time the course was taken</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42" name="Shape 542"/>
        <p:cNvGrpSpPr/>
        <p:nvPr/>
      </p:nvGrpSpPr>
      <p:grpSpPr>
        <a:xfrm>
          <a:off x="0" y="0"/>
          <a:ext cx="0" cy="0"/>
          <a:chOff x="0" y="0"/>
          <a:chExt cx="0" cy="0"/>
        </a:xfrm>
      </p:grpSpPr>
      <p:sp>
        <p:nvSpPr>
          <p:cNvPr id="543" name="Google Shape;543;p80"/>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End of Chapter</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47" name="Shape 547"/>
        <p:cNvGrpSpPr/>
        <p:nvPr/>
      </p:nvGrpSpPr>
      <p:grpSpPr>
        <a:xfrm>
          <a:off x="0" y="0"/>
          <a:ext cx="0" cy="0"/>
          <a:chOff x="0" y="0"/>
          <a:chExt cx="0" cy="0"/>
        </a:xfrm>
      </p:grpSpPr>
      <p:sp>
        <p:nvSpPr>
          <p:cNvPr id="548" name="Google Shape;548;p81"/>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Proof of Correctness of 3NF Decomposition Algorithm</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52" name="Shape 552"/>
        <p:cNvGrpSpPr/>
        <p:nvPr/>
      </p:nvGrpSpPr>
      <p:grpSpPr>
        <a:xfrm>
          <a:off x="0" y="0"/>
          <a:ext cx="0" cy="0"/>
          <a:chOff x="0" y="0"/>
          <a:chExt cx="0" cy="0"/>
        </a:xfrm>
      </p:grpSpPr>
      <p:sp>
        <p:nvSpPr>
          <p:cNvPr id="553" name="Google Shape;553;p82"/>
          <p:cNvSpPr txBox="1"/>
          <p:nvPr>
            <p:ph type="title"/>
          </p:nvPr>
        </p:nvSpPr>
        <p:spPr>
          <a:xfrm>
            <a:off x="533400" y="144462"/>
            <a:ext cx="8077200" cy="1066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Correctness of 3NF Decomposition Algorithm</a:t>
            </a:r>
            <a:endParaRPr/>
          </a:p>
        </p:txBody>
      </p:sp>
      <p:sp>
        <p:nvSpPr>
          <p:cNvPr id="554" name="Google Shape;554;p82"/>
          <p:cNvSpPr txBox="1"/>
          <p:nvPr>
            <p:ph idx="1" type="body"/>
          </p:nvPr>
        </p:nvSpPr>
        <p:spPr>
          <a:xfrm>
            <a:off x="927100" y="1163637"/>
            <a:ext cx="7848600" cy="2743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3NF decomposition algorithm is dependency preserving (since there is a relation for every FD in </a:t>
            </a:r>
            <a:r>
              <a:rPr b="0" i="1" lang="en-US" sz="1800" u="none">
                <a:solidFill>
                  <a:schemeClr val="dk1"/>
                </a:solidFill>
                <a:latin typeface="Helvetica Neue"/>
                <a:ea typeface="Helvetica Neue"/>
                <a:cs typeface="Helvetica Neue"/>
                <a:sym typeface="Helvetica Neue"/>
              </a:rPr>
              <a:t>F</a:t>
            </a:r>
            <a:r>
              <a:rPr b="0" baseline="-2500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Decomposition is lossless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candidate key (</a:t>
            </a:r>
            <a:r>
              <a:rPr b="0" i="1" lang="en-US" sz="1800" u="none" cap="none" strike="noStrike">
                <a:solidFill>
                  <a:schemeClr val="dk1"/>
                </a:solidFill>
                <a:latin typeface="Helvetica Neue"/>
                <a:ea typeface="Helvetica Neue"/>
                <a:cs typeface="Helvetica Neue"/>
                <a:sym typeface="Helvetica Neue"/>
              </a:rPr>
              <a:t>C </a:t>
            </a:r>
            <a:r>
              <a:rPr b="0" i="0" lang="en-US" sz="1800" u="none" cap="none" strike="noStrike">
                <a:solidFill>
                  <a:schemeClr val="dk1"/>
                </a:solidFill>
                <a:latin typeface="Helvetica Neue"/>
                <a:ea typeface="Helvetica Neue"/>
                <a:cs typeface="Helvetica Neue"/>
                <a:sym typeface="Helvetica Neue"/>
              </a:rPr>
              <a:t>) is in one of the relations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in decomposition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Closure of candidate key under </a:t>
            </a:r>
            <a:r>
              <a:rPr b="0" i="1" lang="en-US" sz="1800" u="none" cap="none" strike="noStrike">
                <a:solidFill>
                  <a:schemeClr val="dk1"/>
                </a:solidFill>
                <a:latin typeface="Helvetica Neue"/>
                <a:ea typeface="Helvetica Neue"/>
                <a:cs typeface="Helvetica Neue"/>
                <a:sym typeface="Helvetica Neue"/>
              </a:rPr>
              <a:t>F</a:t>
            </a:r>
            <a:r>
              <a:rPr b="0" baseline="-2500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must contain all attributes in </a:t>
            </a: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Follow the steps of attribute closure algorithm to show there is only one tuple in the join result for each tuple in</a:t>
            </a:r>
            <a:r>
              <a:rPr b="0" i="1" lang="en-US" sz="1800" u="none" cap="none" strike="noStrike">
                <a:solidFill>
                  <a:schemeClr val="dk1"/>
                </a:solidFill>
                <a:latin typeface="Helvetica Neue"/>
                <a:ea typeface="Helvetica Neue"/>
                <a:cs typeface="Helvetica Neue"/>
                <a:sym typeface="Helvetica Neue"/>
              </a:rPr>
              <a:t> R</a:t>
            </a:r>
            <a:r>
              <a:rPr b="0" baseline="-25000" i="1" lang="en-US" sz="1800" u="none" cap="none" strike="noStrike">
                <a:solidFill>
                  <a:schemeClr val="dk1"/>
                </a:solidFill>
                <a:latin typeface="Helvetica Neue"/>
                <a:ea typeface="Helvetica Neue"/>
                <a:cs typeface="Helvetica Neue"/>
                <a:sym typeface="Helvetica Neue"/>
              </a:rPr>
              <a:t>i</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58" name="Shape 558"/>
        <p:cNvGrpSpPr/>
        <p:nvPr/>
      </p:nvGrpSpPr>
      <p:grpSpPr>
        <a:xfrm>
          <a:off x="0" y="0"/>
          <a:ext cx="0" cy="0"/>
          <a:chOff x="0" y="0"/>
          <a:chExt cx="0" cy="0"/>
        </a:xfrm>
      </p:grpSpPr>
      <p:sp>
        <p:nvSpPr>
          <p:cNvPr id="559" name="Google Shape;559;p83"/>
          <p:cNvSpPr txBox="1"/>
          <p:nvPr>
            <p:ph type="title"/>
          </p:nvPr>
        </p:nvSpPr>
        <p:spPr>
          <a:xfrm>
            <a:off x="552450" y="0"/>
            <a:ext cx="8077200" cy="1066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Correctness of 3NF Decomposition Algorithm (Cont’d.)</a:t>
            </a:r>
            <a:endParaRPr/>
          </a:p>
        </p:txBody>
      </p:sp>
      <p:sp>
        <p:nvSpPr>
          <p:cNvPr id="560" name="Google Shape;560;p83"/>
          <p:cNvSpPr txBox="1"/>
          <p:nvPr>
            <p:ph idx="1" type="body"/>
          </p:nvPr>
        </p:nvSpPr>
        <p:spPr>
          <a:xfrm>
            <a:off x="927100" y="1163637"/>
            <a:ext cx="7889875" cy="3352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Claim: if a relation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is in the decomposition generated by the </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above algorithm, then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satisfies 3NF.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be generated from the dependency α → β</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γ → B be any non-trivial functional dependency on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(We need only consider FDs whose right-hand side is a single attribute.)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Now,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can be in either β or α but not in both. Consider each case separately.</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64" name="Shape 564"/>
        <p:cNvGrpSpPr/>
        <p:nvPr/>
      </p:nvGrpSpPr>
      <p:grpSpPr>
        <a:xfrm>
          <a:off x="0" y="0"/>
          <a:ext cx="0" cy="0"/>
          <a:chOff x="0" y="0"/>
          <a:chExt cx="0" cy="0"/>
        </a:xfrm>
      </p:grpSpPr>
      <p:sp>
        <p:nvSpPr>
          <p:cNvPr id="565" name="Google Shape;565;p84"/>
          <p:cNvSpPr txBox="1"/>
          <p:nvPr>
            <p:ph type="title"/>
          </p:nvPr>
        </p:nvSpPr>
        <p:spPr>
          <a:xfrm>
            <a:off x="533400" y="0"/>
            <a:ext cx="80772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Correctness of 3NF Decomposition (Cont’d.)</a:t>
            </a:r>
            <a:endParaRPr/>
          </a:p>
        </p:txBody>
      </p:sp>
      <p:sp>
        <p:nvSpPr>
          <p:cNvPr id="566" name="Google Shape;566;p84"/>
          <p:cNvSpPr txBox="1"/>
          <p:nvPr>
            <p:ph idx="1" type="body"/>
          </p:nvPr>
        </p:nvSpPr>
        <p:spPr>
          <a:xfrm>
            <a:off x="927100" y="116363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Case 1: If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in β:</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γ is a superkey, the 2nd condition of 3NF is satisfied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Otherwise α must contain some attribute not in γ</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Since γ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is in </a:t>
            </a:r>
            <a:r>
              <a:rPr b="0" i="1" lang="en-US" sz="1800" u="none" cap="none" strike="noStrike">
                <a:solidFill>
                  <a:schemeClr val="dk1"/>
                </a:solidFill>
                <a:latin typeface="Helvetica Neue"/>
                <a:ea typeface="Helvetica Neue"/>
                <a:cs typeface="Helvetica Neue"/>
                <a:sym typeface="Helvetica Neue"/>
              </a:rPr>
              <a:t>F</a:t>
            </a:r>
            <a:r>
              <a:rPr b="0" baseline="3000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it must be derivable from </a:t>
            </a:r>
            <a:r>
              <a:rPr b="0" i="1" lang="en-US" sz="1800" u="none" cap="none" strike="noStrike">
                <a:solidFill>
                  <a:schemeClr val="dk1"/>
                </a:solidFill>
                <a:latin typeface="Helvetica Neue"/>
                <a:ea typeface="Helvetica Neue"/>
                <a:cs typeface="Helvetica Neue"/>
                <a:sym typeface="Helvetica Neue"/>
              </a:rPr>
              <a:t>F</a:t>
            </a:r>
            <a:r>
              <a:rPr b="0" baseline="-2500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by using attribute closure on γ.</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Attribute closure not have used α →β.  If it had been used, α must be contained in the attribute closure of γ, which is not possible, since we assumed γ is not a superkey.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Now, using α→  (β- {B}) and γ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we can derive α →</a:t>
            </a:r>
            <a:r>
              <a:rPr b="0" i="1" lang="en-US" sz="1800" u="none" cap="none" strike="noStrike">
                <a:solidFill>
                  <a:schemeClr val="dk1"/>
                </a:solidFill>
                <a:latin typeface="Helvetica Neue"/>
                <a:ea typeface="Helvetica Neue"/>
                <a:cs typeface="Helvetica Neue"/>
                <a:sym typeface="Helvetica Neue"/>
              </a:rPr>
              <a:t>B</a:t>
            </a:r>
            <a:endParaRPr b="0" i="1"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	(since γ ⊆ α β, and B ∉ γ since γ →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is non-trivial)</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Then,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is extraneous in the right-hand side of α →β; which is not possible since α →β is in F</a:t>
            </a:r>
            <a:r>
              <a:rPr b="0" baseline="-25000" i="0"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Thus, if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is in β then γ  must be a superkey, and the second condition of 3NF must be satisfied.</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70" name="Shape 570"/>
        <p:cNvGrpSpPr/>
        <p:nvPr/>
      </p:nvGrpSpPr>
      <p:grpSpPr>
        <a:xfrm>
          <a:off x="0" y="0"/>
          <a:ext cx="0" cy="0"/>
          <a:chOff x="0" y="0"/>
          <a:chExt cx="0" cy="0"/>
        </a:xfrm>
      </p:grpSpPr>
      <p:sp>
        <p:nvSpPr>
          <p:cNvPr id="571" name="Google Shape;571;p85"/>
          <p:cNvSpPr txBox="1"/>
          <p:nvPr>
            <p:ph type="title"/>
          </p:nvPr>
        </p:nvSpPr>
        <p:spPr>
          <a:xfrm>
            <a:off x="552450" y="0"/>
            <a:ext cx="8077200" cy="101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Correctness of 3NF Decomposition (Cont’d.)</a:t>
            </a:r>
            <a:endParaRPr/>
          </a:p>
        </p:txBody>
      </p:sp>
      <p:sp>
        <p:nvSpPr>
          <p:cNvPr id="572" name="Google Shape;572;p85"/>
          <p:cNvSpPr txBox="1"/>
          <p:nvPr>
            <p:ph idx="1" type="body"/>
          </p:nvPr>
        </p:nvSpPr>
        <p:spPr>
          <a:xfrm>
            <a:off x="927100" y="1163637"/>
            <a:ext cx="7848600" cy="2820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Case 2: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is in α.</a:t>
            </a:r>
            <a:endParaRPr b="0" i="0" sz="1800" u="non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Since α  is a candidate key, the third alternative in the definition of 3NF is trivially satisfied.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 fact, we cannot show that γ is a superkey.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This shows exactly why the third alternative is present in the definition of 3NF.</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Q.E.D.</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76" name="Shape 576"/>
        <p:cNvGrpSpPr/>
        <p:nvPr/>
      </p:nvGrpSpPr>
      <p:grpSpPr>
        <a:xfrm>
          <a:off x="0" y="0"/>
          <a:ext cx="0" cy="0"/>
          <a:chOff x="0" y="0"/>
          <a:chExt cx="0" cy="0"/>
        </a:xfrm>
      </p:grpSpPr>
      <p:sp>
        <p:nvSpPr>
          <p:cNvPr id="577" name="Google Shape;577;p8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Figure 7.5: Sample Relation </a:t>
            </a:r>
            <a:r>
              <a:rPr b="1" i="1" lang="en-US" sz="3200" u="none">
                <a:solidFill>
                  <a:schemeClr val="dk2"/>
                </a:solidFill>
                <a:latin typeface="Helvetica Neue"/>
                <a:ea typeface="Helvetica Neue"/>
                <a:cs typeface="Helvetica Neue"/>
                <a:sym typeface="Helvetica Neue"/>
              </a:rPr>
              <a:t>r</a:t>
            </a:r>
            <a:endParaRPr/>
          </a:p>
        </p:txBody>
      </p:sp>
      <p:pic>
        <p:nvPicPr>
          <p:cNvPr id="578" name="Google Shape;578;p86"/>
          <p:cNvPicPr preferRelativeResize="0"/>
          <p:nvPr/>
        </p:nvPicPr>
        <p:blipFill rotWithShape="1">
          <a:blip r:embed="rId3">
            <a:alphaModFix/>
          </a:blip>
          <a:srcRect b="17772" l="21093" r="19627" t="5859"/>
          <a:stretch/>
        </p:blipFill>
        <p:spPr>
          <a:xfrm>
            <a:off x="2466975" y="1304925"/>
            <a:ext cx="4210050" cy="4067175"/>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82" name="Shape 582"/>
        <p:cNvGrpSpPr/>
        <p:nvPr/>
      </p:nvGrpSpPr>
      <p:grpSpPr>
        <a:xfrm>
          <a:off x="0" y="0"/>
          <a:ext cx="0" cy="0"/>
          <a:chOff x="0" y="0"/>
          <a:chExt cx="0" cy="0"/>
        </a:xfrm>
      </p:grpSpPr>
      <p:sp>
        <p:nvSpPr>
          <p:cNvPr id="583" name="Google Shape;583;p8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Figure 7.6</a:t>
            </a:r>
            <a:endParaRPr/>
          </a:p>
        </p:txBody>
      </p:sp>
      <p:pic>
        <p:nvPicPr>
          <p:cNvPr id="584" name="Google Shape;584;p87"/>
          <p:cNvPicPr preferRelativeResize="0"/>
          <p:nvPr/>
        </p:nvPicPr>
        <p:blipFill rotWithShape="1">
          <a:blip r:embed="rId3">
            <a:alphaModFix/>
          </a:blip>
          <a:srcRect b="541" l="25405" r="25812" t="813"/>
          <a:stretch/>
        </p:blipFill>
        <p:spPr>
          <a:xfrm>
            <a:off x="2776537" y="785812"/>
            <a:ext cx="3814762" cy="578643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88" name="Shape 588"/>
        <p:cNvGrpSpPr/>
        <p:nvPr/>
      </p:nvGrpSpPr>
      <p:grpSpPr>
        <a:xfrm>
          <a:off x="0" y="0"/>
          <a:ext cx="0" cy="0"/>
          <a:chOff x="0" y="0"/>
          <a:chExt cx="0" cy="0"/>
        </a:xfrm>
      </p:grpSpPr>
      <p:sp>
        <p:nvSpPr>
          <p:cNvPr id="589" name="Google Shape;589;p8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Figure 7.7</a:t>
            </a:r>
            <a:endParaRPr/>
          </a:p>
        </p:txBody>
      </p:sp>
      <p:pic>
        <p:nvPicPr>
          <p:cNvPr id="590" name="Google Shape;590;p88"/>
          <p:cNvPicPr preferRelativeResize="0"/>
          <p:nvPr/>
        </p:nvPicPr>
        <p:blipFill rotWithShape="1">
          <a:blip r:embed="rId3">
            <a:alphaModFix/>
          </a:blip>
          <a:srcRect b="867" l="14977" r="15193" t="577"/>
          <a:stretch/>
        </p:blipFill>
        <p:spPr>
          <a:xfrm>
            <a:off x="2433637" y="1049337"/>
            <a:ext cx="4595812" cy="486568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94" name="Shape 594"/>
        <p:cNvGrpSpPr/>
        <p:nvPr/>
      </p:nvGrpSpPr>
      <p:grpSpPr>
        <a:xfrm>
          <a:off x="0" y="0"/>
          <a:ext cx="0" cy="0"/>
          <a:chOff x="0" y="0"/>
          <a:chExt cx="0" cy="0"/>
        </a:xfrm>
      </p:grpSpPr>
      <p:sp>
        <p:nvSpPr>
          <p:cNvPr id="595" name="Google Shape;595;p89"/>
          <p:cNvSpPr txBox="1"/>
          <p:nvPr>
            <p:ph type="title"/>
          </p:nvPr>
        </p:nvSpPr>
        <p:spPr>
          <a:xfrm>
            <a:off x="303212" y="231775"/>
            <a:ext cx="87249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400"/>
              <a:buFont typeface="Helvetica Neue"/>
              <a:buNone/>
            </a:pPr>
            <a:r>
              <a:rPr b="1" i="0" lang="en-US" sz="2400" u="none">
                <a:solidFill>
                  <a:schemeClr val="dk2"/>
                </a:solidFill>
                <a:latin typeface="Helvetica Neue"/>
                <a:ea typeface="Helvetica Neue"/>
                <a:cs typeface="Helvetica Neue"/>
                <a:sym typeface="Helvetica Neue"/>
              </a:rPr>
              <a:t>Figure 7.15: An Example of </a:t>
            </a:r>
            <a:br>
              <a:rPr b="1" i="0" lang="en-US" sz="2400" u="none">
                <a:solidFill>
                  <a:schemeClr val="dk2"/>
                </a:solidFill>
                <a:latin typeface="Helvetica Neue"/>
                <a:ea typeface="Helvetica Neue"/>
                <a:cs typeface="Helvetica Neue"/>
                <a:sym typeface="Helvetica Neue"/>
              </a:rPr>
            </a:br>
            <a:r>
              <a:rPr b="1" i="0" lang="en-US" sz="2400" u="none">
                <a:solidFill>
                  <a:schemeClr val="dk2"/>
                </a:solidFill>
                <a:latin typeface="Helvetica Neue"/>
                <a:ea typeface="Helvetica Neue"/>
                <a:cs typeface="Helvetica Neue"/>
                <a:sym typeface="Helvetica Neue"/>
              </a:rPr>
              <a:t>Redundancy in a BCNF Relation</a:t>
            </a:r>
            <a:endParaRPr/>
          </a:p>
        </p:txBody>
      </p:sp>
      <p:pic>
        <p:nvPicPr>
          <p:cNvPr id="596" name="Google Shape;596;p89"/>
          <p:cNvPicPr preferRelativeResize="0"/>
          <p:nvPr/>
        </p:nvPicPr>
        <p:blipFill rotWithShape="1">
          <a:blip r:embed="rId3">
            <a:alphaModFix/>
          </a:blip>
          <a:srcRect b="37710" l="505" r="756" t="37710"/>
          <a:stretch/>
        </p:blipFill>
        <p:spPr>
          <a:xfrm>
            <a:off x="690562" y="2200275"/>
            <a:ext cx="8112125" cy="1514475"/>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00" name="Shape 600"/>
        <p:cNvGrpSpPr/>
        <p:nvPr/>
      </p:nvGrpSpPr>
      <p:grpSpPr>
        <a:xfrm>
          <a:off x="0" y="0"/>
          <a:ext cx="0" cy="0"/>
          <a:chOff x="0" y="0"/>
          <a:chExt cx="0" cy="0"/>
        </a:xfrm>
      </p:grpSpPr>
      <p:sp>
        <p:nvSpPr>
          <p:cNvPr id="601" name="Google Shape;601;p9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Figure 7.16: An Illegal </a:t>
            </a:r>
            <a:r>
              <a:rPr b="1" i="1" lang="en-US" sz="3200" u="none">
                <a:solidFill>
                  <a:schemeClr val="dk2"/>
                </a:solidFill>
                <a:latin typeface="Helvetica Neue"/>
                <a:ea typeface="Helvetica Neue"/>
                <a:cs typeface="Helvetica Neue"/>
                <a:sym typeface="Helvetica Neue"/>
              </a:rPr>
              <a:t>R</a:t>
            </a:r>
            <a:r>
              <a:rPr b="1" baseline="-25000" i="1" lang="en-US" sz="3200" u="none">
                <a:solidFill>
                  <a:schemeClr val="dk2"/>
                </a:solidFill>
                <a:latin typeface="Helvetica Neue"/>
                <a:ea typeface="Helvetica Neue"/>
                <a:cs typeface="Helvetica Neue"/>
                <a:sym typeface="Helvetica Neue"/>
              </a:rPr>
              <a:t>2</a:t>
            </a:r>
            <a:r>
              <a:rPr b="1" i="1" lang="en-US" sz="3200" u="none">
                <a:solidFill>
                  <a:schemeClr val="dk2"/>
                </a:solidFill>
                <a:latin typeface="Helvetica Neue"/>
                <a:ea typeface="Helvetica Neue"/>
                <a:cs typeface="Helvetica Neue"/>
                <a:sym typeface="Helvetica Neue"/>
              </a:rPr>
              <a:t> </a:t>
            </a:r>
            <a:r>
              <a:rPr b="1" i="0" lang="en-US" sz="3200" u="none">
                <a:solidFill>
                  <a:schemeClr val="dk2"/>
                </a:solidFill>
                <a:latin typeface="Helvetica Neue"/>
                <a:ea typeface="Helvetica Neue"/>
                <a:cs typeface="Helvetica Neue"/>
                <a:sym typeface="Helvetica Neue"/>
              </a:rPr>
              <a:t>Relation</a:t>
            </a:r>
            <a:endParaRPr/>
          </a:p>
        </p:txBody>
      </p:sp>
      <p:pic>
        <p:nvPicPr>
          <p:cNvPr id="602" name="Google Shape;602;p90"/>
          <p:cNvPicPr preferRelativeResize="0"/>
          <p:nvPr/>
        </p:nvPicPr>
        <p:blipFill rotWithShape="1">
          <a:blip r:embed="rId3">
            <a:alphaModFix/>
          </a:blip>
          <a:srcRect b="41192" l="639" r="424" t="40624"/>
          <a:stretch/>
        </p:blipFill>
        <p:spPr>
          <a:xfrm>
            <a:off x="687387" y="2336800"/>
            <a:ext cx="8115300" cy="111918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06" name="Shape 606"/>
        <p:cNvGrpSpPr/>
        <p:nvPr/>
      </p:nvGrpSpPr>
      <p:grpSpPr>
        <a:xfrm>
          <a:off x="0" y="0"/>
          <a:ext cx="0" cy="0"/>
          <a:chOff x="0" y="0"/>
          <a:chExt cx="0" cy="0"/>
        </a:xfrm>
      </p:grpSpPr>
      <p:sp>
        <p:nvSpPr>
          <p:cNvPr id="607" name="Google Shape;607;p91"/>
          <p:cNvSpPr txBox="1"/>
          <p:nvPr>
            <p:ph type="title"/>
          </p:nvPr>
        </p:nvSpPr>
        <p:spPr>
          <a:xfrm>
            <a:off x="695325" y="7016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Figure 7.18: Relation of Practice Exercise 7.2</a:t>
            </a:r>
            <a:endParaRPr/>
          </a:p>
        </p:txBody>
      </p:sp>
      <p:pic>
        <p:nvPicPr>
          <p:cNvPr id="608" name="Google Shape;608;p91"/>
          <p:cNvPicPr preferRelativeResize="0"/>
          <p:nvPr/>
        </p:nvPicPr>
        <p:blipFill rotWithShape="1">
          <a:blip r:embed="rId3">
            <a:alphaModFix/>
          </a:blip>
          <a:srcRect b="1439" l="16210" r="16641" t="576"/>
          <a:stretch/>
        </p:blipFill>
        <p:spPr>
          <a:xfrm>
            <a:off x="2690812" y="1639887"/>
            <a:ext cx="4438650" cy="485775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db-5-grey">
  <a:themeElements>
    <a:clrScheme name="default">
      <a:dk1>
        <a:srgbClr val="000000"/>
      </a:dk1>
      <a:lt1>
        <a:srgbClr val="CCECFF"/>
      </a:lt1>
      <a:dk2>
        <a:srgbClr val="CC3300"/>
      </a:dk2>
      <a:lt2>
        <a:srgbClr val="666699"/>
      </a:lt2>
      <a:accent1>
        <a:srgbClr val="FFFFFF"/>
      </a:accent1>
      <a:accent2>
        <a:srgbClr val="CCCC00"/>
      </a:accent2>
      <a:accent3>
        <a:srgbClr val="CCECFF"/>
      </a:accent3>
      <a:accent4>
        <a:srgbClr val="FFFFFF"/>
      </a:accent4>
      <a:accent5>
        <a:srgbClr val="CCCC00"/>
      </a:accent5>
      <a:accent6>
        <a:srgbClr val="CCECFF"/>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