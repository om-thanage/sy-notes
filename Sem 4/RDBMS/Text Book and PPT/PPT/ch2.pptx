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  <p:sldMasterId id="2147483654" r:id="rId6"/>
    <p:sldMasterId id="214748365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</p:sldIdLst>
  <p:sldSz cy="6858000" cx="9144000"/>
  <p:notesSz cx="9144000" cy="6858000"/>
  <p:embeddedFontLst>
    <p:embeddedFont>
      <p:font typeface="Noto Sans Symbols"/>
      <p:regular r:id="rId105"/>
      <p:bold r:id="rId10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E38B33-B467-4961-B9B0-FFC9BF14F82C}">
  <a:tblStyle styleId="{9BE38B33-B467-4961-B9B0-FFC9BF14F82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06" Type="http://schemas.openxmlformats.org/officeDocument/2006/relationships/font" Target="fonts/NotoSansSymbols-bold.fntdata"/><Relationship Id="rId105" Type="http://schemas.openxmlformats.org/officeDocument/2006/relationships/font" Target="fonts/NotoSansSymbols-regular.fntdata"/><Relationship Id="rId104" Type="http://schemas.openxmlformats.org/officeDocument/2006/relationships/slide" Target="slides/slide96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103" Type="http://schemas.openxmlformats.org/officeDocument/2006/relationships/slide" Target="slides/slide95.xml"/><Relationship Id="rId102" Type="http://schemas.openxmlformats.org/officeDocument/2006/relationships/slide" Target="slides/slide94.xml"/><Relationship Id="rId101" Type="http://schemas.openxmlformats.org/officeDocument/2006/relationships/slide" Target="slides/slide93.xml"/><Relationship Id="rId100" Type="http://schemas.openxmlformats.org/officeDocument/2006/relationships/slide" Target="slides/slide92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95" Type="http://schemas.openxmlformats.org/officeDocument/2006/relationships/slide" Target="slides/slide87.xml"/><Relationship Id="rId94" Type="http://schemas.openxmlformats.org/officeDocument/2006/relationships/slide" Target="slides/slide86.xml"/><Relationship Id="rId97" Type="http://schemas.openxmlformats.org/officeDocument/2006/relationships/slide" Target="slides/slide89.xml"/><Relationship Id="rId96" Type="http://schemas.openxmlformats.org/officeDocument/2006/relationships/slide" Target="slides/slide88.xml"/><Relationship Id="rId11" Type="http://schemas.openxmlformats.org/officeDocument/2006/relationships/slide" Target="slides/slide3.xml"/><Relationship Id="rId99" Type="http://schemas.openxmlformats.org/officeDocument/2006/relationships/slide" Target="slides/slide91.xml"/><Relationship Id="rId10" Type="http://schemas.openxmlformats.org/officeDocument/2006/relationships/slide" Target="slides/slide2.xml"/><Relationship Id="rId98" Type="http://schemas.openxmlformats.org/officeDocument/2006/relationships/slide" Target="slides/slide90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91" Type="http://schemas.openxmlformats.org/officeDocument/2006/relationships/slide" Target="slides/slide83.xml"/><Relationship Id="rId90" Type="http://schemas.openxmlformats.org/officeDocument/2006/relationships/slide" Target="slides/slide82.xml"/><Relationship Id="rId93" Type="http://schemas.openxmlformats.org/officeDocument/2006/relationships/slide" Target="slides/slide85.xml"/><Relationship Id="rId92" Type="http://schemas.openxmlformats.org/officeDocument/2006/relationships/slide" Target="slides/slide8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84" Type="http://schemas.openxmlformats.org/officeDocument/2006/relationships/slide" Target="slides/slide76.xml"/><Relationship Id="rId83" Type="http://schemas.openxmlformats.org/officeDocument/2006/relationships/slide" Target="slides/slide75.xml"/><Relationship Id="rId86" Type="http://schemas.openxmlformats.org/officeDocument/2006/relationships/slide" Target="slides/slide78.xml"/><Relationship Id="rId85" Type="http://schemas.openxmlformats.org/officeDocument/2006/relationships/slide" Target="slides/slide77.xml"/><Relationship Id="rId88" Type="http://schemas.openxmlformats.org/officeDocument/2006/relationships/slide" Target="slides/slide80.xml"/><Relationship Id="rId87" Type="http://schemas.openxmlformats.org/officeDocument/2006/relationships/slide" Target="slides/slide79.xml"/><Relationship Id="rId89" Type="http://schemas.openxmlformats.org/officeDocument/2006/relationships/slide" Target="slides/slide81.xml"/><Relationship Id="rId80" Type="http://schemas.openxmlformats.org/officeDocument/2006/relationships/slide" Target="slides/slide72.xml"/><Relationship Id="rId82" Type="http://schemas.openxmlformats.org/officeDocument/2006/relationships/slide" Target="slides/slide74.xml"/><Relationship Id="rId81" Type="http://schemas.openxmlformats.org/officeDocument/2006/relationships/slide" Target="slides/slide73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slide" Target="slides/slide65.xml"/><Relationship Id="rId72" Type="http://schemas.openxmlformats.org/officeDocument/2006/relationships/slide" Target="slides/slide64.xml"/><Relationship Id="rId75" Type="http://schemas.openxmlformats.org/officeDocument/2006/relationships/slide" Target="slides/slide67.xml"/><Relationship Id="rId74" Type="http://schemas.openxmlformats.org/officeDocument/2006/relationships/slide" Target="slides/slide66.xml"/><Relationship Id="rId77" Type="http://schemas.openxmlformats.org/officeDocument/2006/relationships/slide" Target="slides/slide69.xml"/><Relationship Id="rId76" Type="http://schemas.openxmlformats.org/officeDocument/2006/relationships/slide" Target="slides/slide68.xml"/><Relationship Id="rId79" Type="http://schemas.openxmlformats.org/officeDocument/2006/relationships/slide" Target="slides/slide71.xml"/><Relationship Id="rId78" Type="http://schemas.openxmlformats.org/officeDocument/2006/relationships/slide" Target="slides/slide70.xml"/><Relationship Id="rId71" Type="http://schemas.openxmlformats.org/officeDocument/2006/relationships/slide" Target="slides/slide63.xml"/><Relationship Id="rId70" Type="http://schemas.openxmlformats.org/officeDocument/2006/relationships/slide" Target="slides/slide62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66" Type="http://schemas.openxmlformats.org/officeDocument/2006/relationships/slide" Target="slides/slide58.xml"/><Relationship Id="rId65" Type="http://schemas.openxmlformats.org/officeDocument/2006/relationships/slide" Target="slides/slide57.xml"/><Relationship Id="rId68" Type="http://schemas.openxmlformats.org/officeDocument/2006/relationships/slide" Target="slides/slide60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69" Type="http://schemas.openxmlformats.org/officeDocument/2006/relationships/slide" Target="slides/slide6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55" Type="http://schemas.openxmlformats.org/officeDocument/2006/relationships/slide" Target="slides/slide47.xml"/><Relationship Id="rId54" Type="http://schemas.openxmlformats.org/officeDocument/2006/relationships/slide" Target="slides/slide46.xml"/><Relationship Id="rId57" Type="http://schemas.openxmlformats.org/officeDocument/2006/relationships/slide" Target="slides/slide49.xml"/><Relationship Id="rId56" Type="http://schemas.openxmlformats.org/officeDocument/2006/relationships/slide" Target="slides/slide48.xml"/><Relationship Id="rId59" Type="http://schemas.openxmlformats.org/officeDocument/2006/relationships/slide" Target="slides/slide51.xml"/><Relationship Id="rId58" Type="http://schemas.openxmlformats.org/officeDocument/2006/relationships/slide" Target="slides/slide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5" name="Google Shape;205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9" name="Google Shape;249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0" name="Google Shape;340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9" name="Google Shape;419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6" name="Google Shape;456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3" name="Google Shape;513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9" name="Google Shape;549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5" name="Google Shape;585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0" name="Google Shape;630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5" name="Google Shape;675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2" name="Google Shape;722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5" name="Google Shape;775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8" name="Google Shape;828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8" name="Google Shape;898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3" name="Google Shape;943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2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9" name="Google Shape;1029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2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6" name="Google Shape;1076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2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9" name="Google Shape;1159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2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3" name="Google Shape;1203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5" name="Google Shape;1285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2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1" name="Google Shape;1331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2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5" name="Google Shape;1425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2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9" name="Google Shape;1469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2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8" name="Google Shape;1528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2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75" name="Google Shape;1575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3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10" name="Google Shape;1610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3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53" name="Google Shape;1653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93" name="Google Shape;1693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3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5" name="Google Shape;1735;p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3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82" name="Google Shape;1782;p3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3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37" name="Google Shape;1837;p3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3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80" name="Google Shape;1880;p3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3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28" name="Google Shape;1928;p3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3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07" name="Google Shape;2007;p3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3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62" name="Google Shape;2062;p3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4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70" name="Google Shape;2170;p4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4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15" name="Google Shape;2215;p4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4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95" name="Google Shape;2295;p4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6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Google Shape;2367;p4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68" name="Google Shape;2368;p4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4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6" name="Google Shape;2416;p4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4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0" name="Google Shape;2470;p4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p4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13" name="Google Shape;2513;p4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p4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62" name="Google Shape;2562;p4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p4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03" name="Google Shape;2603;p4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p4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43" name="Google Shape;2643;p4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4" name="Shape 2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Google Shape;2685;p5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86" name="Google Shape;2686;p5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34" name="Google Shape;2734;p5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4" name="Shape 2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Google Shape;2795;p5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96" name="Google Shape;2796;p5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4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Google Shape;2865;p5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66" name="Google Shape;2866;p5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p5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07" name="Google Shape;2907;p5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p5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53" name="Google Shape;2953;p5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5" name="Shape 3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Google Shape;3016;p5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17" name="Google Shape;3017;p5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3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p5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85" name="Google Shape;3085;p5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Google Shape;3174;p5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75" name="Google Shape;3175;p5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9" name="Shape 3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0" name="Google Shape;3220;p5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21" name="Google Shape;3221;p5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2" name="Shape 3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3" name="Google Shape;3273;p6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74" name="Google Shape;3274;p6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p6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20" name="Google Shape;3320;p6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1" name="Shape 3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2" name="Google Shape;3362;p6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63" name="Google Shape;3363;p6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3" name="Shape 3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4" name="Google Shape;3414;p6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15" name="Google Shape;3415;p6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9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0" name="Google Shape;3460;p6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61" name="Google Shape;3461;p6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3" name="Shape 3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Google Shape;3504;p6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05" name="Google Shape;3505;p6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p6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54" name="Google Shape;3554;p6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2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p6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94" name="Google Shape;3594;p6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3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p6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25" name="Google Shape;3625;p6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9" name="Shape 3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0" name="Google Shape;3660;p6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61" name="Google Shape;3661;p6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5" name="Shape 3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" name="Google Shape;3696;p7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97" name="Google Shape;3697;p7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1" name="Shape 3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2" name="Google Shape;3732;p7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33" name="Google Shape;3733;p7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1" name="Shape 3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2" name="Google Shape;3742;p7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43" name="Google Shape;3743;p7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1" name="Shape 3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2" name="Google Shape;3752;p7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53" name="Google Shape;3753;p7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1" name="Shape 3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2" name="Google Shape;3762;p7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63" name="Google Shape;3763;p7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1" name="Shape 3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2" name="Google Shape;3772;p7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73" name="Google Shape;3773;p7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7" name="Shape 3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8" name="Google Shape;3808;p7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09" name="Google Shape;3809;p7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3" name="Shape 3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Google Shape;3844;p7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45" name="Google Shape;3845;p7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9" name="Shape 3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" name="Google Shape;3880;p7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81" name="Google Shape;3881;p7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5" name="Shape 3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6" name="Google Shape;3916;p7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17" name="Google Shape;3917;p7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5" name="Shape 3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6" name="Google Shape;3926;p8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27" name="Google Shape;3927;p8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5" name="Shape 3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6" name="Google Shape;3936;p8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37" name="Google Shape;3937;p8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5" name="Shape 3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6" name="Google Shape;3946;p8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47" name="Google Shape;3947;p8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2" name="Google Shape;3982;p8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83" name="Google Shape;3983;p8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7" name="Shape 4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8" name="Google Shape;4018;p8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19" name="Google Shape;4019;p8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3" name="Shape 4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4" name="Google Shape;4054;p8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55" name="Google Shape;4055;p8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9" name="Shape 4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0" name="Google Shape;4090;p8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91" name="Google Shape;4091;p8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5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p8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27" name="Google Shape;4127;p8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1" name="Shape 4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2" name="Google Shape;4162;p8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63" name="Google Shape;4163;p8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7" name="Shape 4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" name="Google Shape;4198;p8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99" name="Google Shape;4199;p8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7" name="Shape 4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" name="Google Shape;4208;p9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09" name="Google Shape;4209;p9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3" name="Shape 4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4" name="Google Shape;4244;p9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45" name="Google Shape;4245;p9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9" name="Shape 4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" name="Google Shape;4280;p9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81" name="Google Shape;4281;p9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9" name="Shape 4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" name="Google Shape;4290;p9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91" name="Google Shape;4291;p9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5" name="Shape 4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6" name="Google Shape;4326;p9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27" name="Google Shape;4327;p9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1" name="Shape 4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" name="Google Shape;4362;p9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63" name="Google Shape;4363;p9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7" name="Shape 4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8" name="Google Shape;4398;p9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99" name="Google Shape;4399;p9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15975" y="1436687"/>
            <a:ext cx="75120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83362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83362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83362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6583362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>
            <p:ph idx="11" type="ftr"/>
          </p:nvPr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0" type="dt"/>
          </p:nvPr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8"/>
          <p:cNvSpPr txBox="1"/>
          <p:nvPr>
            <p:ph idx="12" type="sldNum"/>
          </p:nvPr>
        </p:nvSpPr>
        <p:spPr>
          <a:xfrm>
            <a:off x="6583362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244475"/>
          </a:xfrm>
          <a:custGeom>
            <a:rect b="b" l="l" r="r" t="t"/>
            <a:pathLst>
              <a:path extrusionOk="0" h="245110" w="9144000">
                <a:moveTo>
                  <a:pt x="0" y="244846"/>
                </a:moveTo>
                <a:lnTo>
                  <a:pt x="9144000" y="244846"/>
                </a:lnTo>
                <a:lnTo>
                  <a:pt x="9144000" y="0"/>
                </a:lnTo>
                <a:lnTo>
                  <a:pt x="0" y="0"/>
                </a:lnTo>
                <a:lnTo>
                  <a:pt x="0" y="244846"/>
                </a:lnTo>
              </a:path>
            </a:pathLst>
          </a:custGeom>
          <a:solidFill>
            <a:srgbClr val="DDD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0" y="244475"/>
            <a:ext cx="9144000" cy="255587"/>
          </a:xfrm>
          <a:custGeom>
            <a:rect b="b" l="l" r="r" t="t"/>
            <a:pathLst>
              <a:path extrusionOk="0" h="255904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DDD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0" y="500062"/>
            <a:ext cx="9144000" cy="255587"/>
          </a:xfrm>
          <a:custGeom>
            <a:rect b="b" l="l" r="r" t="t"/>
            <a:pathLst>
              <a:path extrusionOk="0" h="255904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0" y="755650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15975" y="1436687"/>
            <a:ext cx="75120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83362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0" y="0"/>
            <a:ext cx="9144000" cy="244475"/>
          </a:xfrm>
          <a:custGeom>
            <a:rect b="b" l="l" r="r" t="t"/>
            <a:pathLst>
              <a:path extrusionOk="0" h="245110" w="9144000">
                <a:moveTo>
                  <a:pt x="0" y="244846"/>
                </a:moveTo>
                <a:lnTo>
                  <a:pt x="9144000" y="244846"/>
                </a:lnTo>
                <a:lnTo>
                  <a:pt x="9144000" y="0"/>
                </a:lnTo>
                <a:lnTo>
                  <a:pt x="0" y="0"/>
                </a:lnTo>
                <a:lnTo>
                  <a:pt x="0" y="244846"/>
                </a:lnTo>
              </a:path>
            </a:pathLst>
          </a:custGeom>
          <a:solidFill>
            <a:srgbClr val="DDD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0" y="244475"/>
            <a:ext cx="9144000" cy="255587"/>
          </a:xfrm>
          <a:custGeom>
            <a:rect b="b" l="l" r="r" t="t"/>
            <a:pathLst>
              <a:path extrusionOk="0" h="255904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DDD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0" y="500062"/>
            <a:ext cx="9144000" cy="255587"/>
          </a:xfrm>
          <a:custGeom>
            <a:rect b="b" l="l" r="r" t="t"/>
            <a:pathLst>
              <a:path extrusionOk="0" h="255904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0" y="755650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15975" y="1436687"/>
            <a:ext cx="75120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6583362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0" y="0"/>
            <a:ext cx="9144000" cy="244475"/>
          </a:xfrm>
          <a:custGeom>
            <a:rect b="b" l="l" r="r" t="t"/>
            <a:pathLst>
              <a:path extrusionOk="0" h="245110" w="9144000">
                <a:moveTo>
                  <a:pt x="0" y="244846"/>
                </a:moveTo>
                <a:lnTo>
                  <a:pt x="9144000" y="244846"/>
                </a:lnTo>
                <a:lnTo>
                  <a:pt x="9144000" y="0"/>
                </a:lnTo>
                <a:lnTo>
                  <a:pt x="0" y="0"/>
                </a:lnTo>
                <a:lnTo>
                  <a:pt x="0" y="244846"/>
                </a:lnTo>
              </a:path>
            </a:pathLst>
          </a:custGeom>
          <a:solidFill>
            <a:srgbClr val="DDD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0" y="244475"/>
            <a:ext cx="9144000" cy="255587"/>
          </a:xfrm>
          <a:custGeom>
            <a:rect b="b" l="l" r="r" t="t"/>
            <a:pathLst>
              <a:path extrusionOk="0" h="255904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DDD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0" y="500062"/>
            <a:ext cx="9144000" cy="255587"/>
          </a:xfrm>
          <a:custGeom>
            <a:rect b="b" l="l" r="r" t="t"/>
            <a:pathLst>
              <a:path extrusionOk="0" h="255904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0" y="755650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7"/>
          <p:cNvSpPr txBox="1"/>
          <p:nvPr>
            <p:ph idx="1" type="body"/>
          </p:nvPr>
        </p:nvSpPr>
        <p:spPr>
          <a:xfrm>
            <a:off x="815975" y="1436687"/>
            <a:ext cx="75120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11" type="ftr"/>
          </p:nvPr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0" type="dt"/>
          </p:nvPr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2" type="sldNum"/>
          </p:nvPr>
        </p:nvSpPr>
        <p:spPr>
          <a:xfrm>
            <a:off x="6583362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db-book.com/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://www.db-book.com/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4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1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1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16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0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1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1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1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1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5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3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25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27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23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2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22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5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9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26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6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0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4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2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7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755900" y="5805487"/>
            <a:ext cx="3486150" cy="687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286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Concepts, 5</a:t>
            </a:r>
            <a:r>
              <a:rPr b="1" baseline="30000" i="0" lang="en-US" sz="13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6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Ed.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2862" marR="0" rtl="0" algn="ctr">
              <a:lnSpc>
                <a:spcPct val="116666"/>
              </a:lnSpc>
              <a:spcBef>
                <a:spcPts val="700"/>
              </a:spcBef>
              <a:spcAft>
                <a:spcPts val="0"/>
              </a:spcAft>
              <a:buClr>
                <a:srgbClr val="CC32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2862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See </a:t>
            </a:r>
            <a:r>
              <a:rPr b="1" i="0"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www.db-book.com </a:t>
            </a:r>
            <a:r>
              <a:rPr b="1" i="0" lang="en-US" sz="1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for conditions on re-use</a:t>
            </a:r>
            <a:endParaRPr/>
          </a:p>
        </p:txBody>
      </p:sp>
      <p:sp>
        <p:nvSpPr>
          <p:cNvPr id="118" name="Google Shape;118;p9"/>
          <p:cNvSpPr txBox="1"/>
          <p:nvPr/>
        </p:nvSpPr>
        <p:spPr>
          <a:xfrm>
            <a:off x="0" y="0"/>
            <a:ext cx="561975" cy="742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1884362" y="2971800"/>
            <a:ext cx="5376862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Chapter 2: Relational Model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2062162" y="269875"/>
            <a:ext cx="5491162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Chapter 2:	Relational Model</a:t>
            </a:r>
            <a:endParaRPr/>
          </a:p>
        </p:txBody>
      </p:sp>
      <p:sp>
        <p:nvSpPr>
          <p:cNvPr id="152" name="Google Shape;152;p10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1217612" y="1163637"/>
            <a:ext cx="34369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of Relational Databases</a:t>
            </a:r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874712" y="1490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1217612" y="1536700"/>
            <a:ext cx="44846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Fundamental Relational-Algebra-Operations</a:t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874712" y="18653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1217612" y="1911350"/>
            <a:ext cx="41544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Relational-Algebra-Operations</a:t>
            </a:r>
            <a:endParaRPr/>
          </a:p>
        </p:txBody>
      </p:sp>
      <p:sp>
        <p:nvSpPr>
          <p:cNvPr id="161" name="Google Shape;161;p10"/>
          <p:cNvSpPr txBox="1"/>
          <p:nvPr/>
        </p:nvSpPr>
        <p:spPr>
          <a:xfrm>
            <a:off x="874712" y="22399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2" name="Google Shape;162;p10"/>
          <p:cNvSpPr txBox="1"/>
          <p:nvPr/>
        </p:nvSpPr>
        <p:spPr>
          <a:xfrm>
            <a:off x="1217612" y="2284412"/>
            <a:ext cx="41179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Extended Relational-Algebra-Operations</a:t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874712" y="26146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4" name="Google Shape;164;p10"/>
          <p:cNvSpPr txBox="1"/>
          <p:nvPr/>
        </p:nvSpPr>
        <p:spPr>
          <a:xfrm>
            <a:off x="1217612" y="2659062"/>
            <a:ext cx="11779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 Values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874712" y="298767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6" name="Google Shape;166;p10"/>
          <p:cNvSpPr txBox="1"/>
          <p:nvPr/>
        </p:nvSpPr>
        <p:spPr>
          <a:xfrm>
            <a:off x="1217612" y="3032125"/>
            <a:ext cx="29178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Modification of the Database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4145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Example of a Relation</a:t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1047750" y="1058862"/>
            <a:ext cx="7219950" cy="4067175"/>
          </a:xfrm>
          <a:custGeom>
            <a:rect b="b" l="l" r="r" t="t"/>
            <a:pathLst>
              <a:path extrusionOk="0" h="4066540" w="7219950">
                <a:moveTo>
                  <a:pt x="3609350" y="4066543"/>
                </a:moveTo>
                <a:lnTo>
                  <a:pt x="0" y="4066543"/>
                </a:lnTo>
                <a:lnTo>
                  <a:pt x="0" y="0"/>
                </a:lnTo>
                <a:lnTo>
                  <a:pt x="7219949" y="0"/>
                </a:lnTo>
                <a:lnTo>
                  <a:pt x="7219949" y="4066543"/>
                </a:lnTo>
                <a:lnTo>
                  <a:pt x="3609350" y="4066543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1066800" y="1077912"/>
            <a:ext cx="7183437" cy="403066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022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Basic Structure</a:t>
            </a:r>
            <a:endParaRPr/>
          </a:p>
        </p:txBody>
      </p:sp>
      <p:sp>
        <p:nvSpPr>
          <p:cNvPr id="234" name="Google Shape;234;p12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35" name="Google Shape;235;p12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36" name="Google Shape;236;p12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611187" y="1111250"/>
            <a:ext cx="7296150" cy="1065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2"/>
              <a:buFont typeface="MS Gothic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Formally, given sets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….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subset of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… x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baseline="-25000" i="0" sz="1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Thus, a relation is a set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-tuples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where each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 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238" name="Google Shape;238;p12"/>
          <p:cNvSpPr txBox="1"/>
          <p:nvPr/>
        </p:nvSpPr>
        <p:spPr>
          <a:xfrm>
            <a:off x="611187" y="23352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954087" y="2379662"/>
            <a:ext cx="12319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	If</a:t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1068387" y="28051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1354137" y="2835275"/>
            <a:ext cx="54149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	{Jones, Smith, Curry, Lindsay, …}</a:t>
            </a:r>
            <a:endParaRPr/>
          </a:p>
        </p:txBody>
      </p:sp>
      <p:sp>
        <p:nvSpPr>
          <p:cNvPr id="242" name="Google Shape;242;p12"/>
          <p:cNvSpPr txBox="1"/>
          <p:nvPr/>
        </p:nvSpPr>
        <p:spPr>
          <a:xfrm>
            <a:off x="4268787" y="3190875"/>
            <a:ext cx="30972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Set of all customer names */</a:t>
            </a:r>
            <a:endParaRPr/>
          </a:p>
        </p:txBody>
      </p:sp>
      <p:sp>
        <p:nvSpPr>
          <p:cNvPr id="243" name="Google Shape;243;p12"/>
          <p:cNvSpPr txBox="1"/>
          <p:nvPr/>
        </p:nvSpPr>
        <p:spPr>
          <a:xfrm>
            <a:off x="1068387" y="36179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4" name="Google Shape;244;p12"/>
          <p:cNvSpPr txBox="1"/>
          <p:nvPr/>
        </p:nvSpPr>
        <p:spPr>
          <a:xfrm>
            <a:off x="1354137" y="3648075"/>
            <a:ext cx="7412037" cy="712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customer_street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	{Main, North, Park, …} /* set of all street names*/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customer_city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	{Harrison, Rye, Pittsfield, …} /* set of all city names */</a:t>
            </a:r>
            <a:endParaRPr/>
          </a:p>
        </p:txBody>
      </p:sp>
      <p:sp>
        <p:nvSpPr>
          <p:cNvPr id="245" name="Google Shape;245;p12"/>
          <p:cNvSpPr txBox="1"/>
          <p:nvPr/>
        </p:nvSpPr>
        <p:spPr>
          <a:xfrm>
            <a:off x="1068387" y="40735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6" name="Google Shape;246;p12"/>
          <p:cNvSpPr txBox="1"/>
          <p:nvPr/>
        </p:nvSpPr>
        <p:spPr>
          <a:xfrm>
            <a:off x="1068387" y="4560887"/>
            <a:ext cx="5903912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	(Jones,	Main,	Harrison),</a:t>
            </a:r>
            <a:endParaRPr/>
          </a:p>
          <a:p>
            <a:pPr indent="0" lvl="0" marL="12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(Smith,	 North, Rye), (Curry,	North, Rye), (Lindsay, Park,	Pittsfield) }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relation over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 x	customer_street	x	customer_city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0353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Attribute Types</a:t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80" name="Google Shape;280;p13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81" name="Google Shape;281;p13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1217612" y="1162050"/>
            <a:ext cx="39465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attribute of a relation has a name</a:t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876300" y="1490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84" name="Google Shape;284;p13"/>
          <p:cNvSpPr txBox="1"/>
          <p:nvPr/>
        </p:nvSpPr>
        <p:spPr>
          <a:xfrm>
            <a:off x="1217612" y="1536700"/>
            <a:ext cx="715962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set of allowed values for each attribute is called the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domain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</a:t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1217612" y="1811337"/>
            <a:ext cx="8524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endParaRPr/>
          </a:p>
        </p:txBody>
      </p:sp>
      <p:sp>
        <p:nvSpPr>
          <p:cNvPr id="286" name="Google Shape;286;p13"/>
          <p:cNvSpPr txBox="1"/>
          <p:nvPr/>
        </p:nvSpPr>
        <p:spPr>
          <a:xfrm>
            <a:off x="876300" y="21399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1217612" y="2184400"/>
            <a:ext cx="71929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 values are (normally) required to be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atomic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that is, indivisible</a:t>
            </a:r>
            <a:endParaRPr/>
          </a:p>
        </p:txBody>
      </p:sp>
      <p:sp>
        <p:nvSpPr>
          <p:cNvPr id="288" name="Google Shape;288;p13"/>
          <p:cNvSpPr txBox="1"/>
          <p:nvPr/>
        </p:nvSpPr>
        <p:spPr>
          <a:xfrm>
            <a:off x="1333500" y="252888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1617662" y="2559050"/>
            <a:ext cx="57102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the value of an attribute can be an account number,</a:t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1617662" y="2833687"/>
            <a:ext cx="40370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cannot be a set of account numbers</a:t>
            </a:r>
            <a:endParaRPr/>
          </a:p>
        </p:txBody>
      </p:sp>
      <p:sp>
        <p:nvSpPr>
          <p:cNvPr id="291" name="Google Shape;291;p13"/>
          <p:cNvSpPr txBox="1"/>
          <p:nvPr/>
        </p:nvSpPr>
        <p:spPr>
          <a:xfrm>
            <a:off x="876300" y="31623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1217612" y="3206750"/>
            <a:ext cx="57356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is said to be atomic if all its members are atomic</a:t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876300" y="35353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1217612" y="3581400"/>
            <a:ext cx="52895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special value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member of every domain</a:t>
            </a:r>
            <a:endParaRPr/>
          </a:p>
        </p:txBody>
      </p:sp>
      <p:sp>
        <p:nvSpPr>
          <p:cNvPr id="295" name="Google Shape;295;p13"/>
          <p:cNvSpPr txBox="1"/>
          <p:nvPr/>
        </p:nvSpPr>
        <p:spPr>
          <a:xfrm>
            <a:off x="876300" y="39100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1217612" y="3954462"/>
            <a:ext cx="72771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null value causes complications in the definition of many operations</a:t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1333500" y="42989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98" name="Google Shape;298;p13"/>
          <p:cNvSpPr txBox="1"/>
          <p:nvPr/>
        </p:nvSpPr>
        <p:spPr>
          <a:xfrm>
            <a:off x="1617662" y="4329112"/>
            <a:ext cx="69500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shall ignore the effect of null values in our main presentation and</a:t>
            </a:r>
            <a:endParaRPr/>
          </a:p>
        </p:txBody>
      </p:sp>
      <p:sp>
        <p:nvSpPr>
          <p:cNvPr id="299" name="Google Shape;299;p13"/>
          <p:cNvSpPr txBox="1"/>
          <p:nvPr/>
        </p:nvSpPr>
        <p:spPr>
          <a:xfrm>
            <a:off x="1617662" y="4603750"/>
            <a:ext cx="25257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their effect later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892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 Schema</a:t>
            </a:r>
            <a:endParaRPr/>
          </a:p>
        </p:txBody>
      </p:sp>
      <p:sp>
        <p:nvSpPr>
          <p:cNvPr id="331" name="Google Shape;331;p14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34" name="Google Shape;334;p14"/>
          <p:cNvSpPr txBox="1"/>
          <p:nvPr/>
        </p:nvSpPr>
        <p:spPr>
          <a:xfrm>
            <a:off x="876300" y="1135062"/>
            <a:ext cx="7632700" cy="196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1312" lvl="0" marL="3540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2"/>
              <a:buFont typeface="MS Gothic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5261" lvl="0" marL="3540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2300"/>
              <a:buFont typeface="MS Gothic"/>
              <a:buNone/>
            </a:pPr>
            <a:r>
              <a:t/>
            </a:r>
            <a:endParaRPr b="0" i="0" sz="23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1312" lvl="0" marL="354012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CC3200"/>
              </a:buClr>
              <a:buSzPts val="1602"/>
              <a:buFont typeface="MS Gothic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a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schema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54012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341312" lvl="0" marL="35401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Customer_schema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customer_name, customer_street, customer_city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35" name="Google Shape;335;p14"/>
          <p:cNvSpPr txBox="1"/>
          <p:nvPr/>
        </p:nvSpPr>
        <p:spPr>
          <a:xfrm>
            <a:off x="876300" y="36004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36" name="Google Shape;336;p14"/>
          <p:cNvSpPr txBox="1"/>
          <p:nvPr/>
        </p:nvSpPr>
        <p:spPr>
          <a:xfrm>
            <a:off x="1217612" y="3646487"/>
            <a:ext cx="50355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denotes a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the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schema R</a:t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1217612" y="4019550"/>
            <a:ext cx="3095625" cy="6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(Customer_schema)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7056437" y="3810000"/>
            <a:ext cx="2087562" cy="254000"/>
          </a:xfrm>
          <a:custGeom>
            <a:rect b="b" l="l" r="r" t="t"/>
            <a:pathLst>
              <a:path extrusionOk="0" h="254000" w="2087879">
                <a:moveTo>
                  <a:pt x="0" y="253805"/>
                </a:moveTo>
                <a:lnTo>
                  <a:pt x="2087880" y="253805"/>
                </a:lnTo>
                <a:lnTo>
                  <a:pt x="2087880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0" y="3810000"/>
            <a:ext cx="1798637" cy="254000"/>
          </a:xfrm>
          <a:custGeom>
            <a:rect b="b" l="l" r="r" t="t"/>
            <a:pathLst>
              <a:path extrusionOk="0" h="254000" w="1798320">
                <a:moveTo>
                  <a:pt x="0" y="253805"/>
                </a:moveTo>
                <a:lnTo>
                  <a:pt x="1798319" y="253805"/>
                </a:lnTo>
                <a:lnTo>
                  <a:pt x="1798319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7056437" y="4064000"/>
            <a:ext cx="2087562" cy="254000"/>
          </a:xfrm>
          <a:custGeom>
            <a:rect b="b" l="l" r="r" t="t"/>
            <a:pathLst>
              <a:path extrusionOk="0" h="254635" w="2087879">
                <a:moveTo>
                  <a:pt x="0" y="254162"/>
                </a:moveTo>
                <a:lnTo>
                  <a:pt x="2087880" y="254162"/>
                </a:lnTo>
                <a:lnTo>
                  <a:pt x="208788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0" y="4064000"/>
            <a:ext cx="1798637" cy="254000"/>
          </a:xfrm>
          <a:custGeom>
            <a:rect b="b" l="l" r="r" t="t"/>
            <a:pathLst>
              <a:path extrusionOk="0" h="254635" w="1798320">
                <a:moveTo>
                  <a:pt x="0" y="254162"/>
                </a:moveTo>
                <a:lnTo>
                  <a:pt x="1798319" y="254162"/>
                </a:lnTo>
                <a:lnTo>
                  <a:pt x="179831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7056437" y="4318000"/>
            <a:ext cx="2087562" cy="255587"/>
          </a:xfrm>
          <a:custGeom>
            <a:rect b="b" l="l" r="r" t="t"/>
            <a:pathLst>
              <a:path extrusionOk="0" h="254635" w="2087879">
                <a:moveTo>
                  <a:pt x="0" y="254150"/>
                </a:moveTo>
                <a:lnTo>
                  <a:pt x="2087880" y="254150"/>
                </a:lnTo>
                <a:lnTo>
                  <a:pt x="208788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0" y="4318000"/>
            <a:ext cx="1798637" cy="255587"/>
          </a:xfrm>
          <a:custGeom>
            <a:rect b="b" l="l" r="r" t="t"/>
            <a:pathLst>
              <a:path extrusionOk="0" h="254635" w="1798320">
                <a:moveTo>
                  <a:pt x="0" y="254150"/>
                </a:moveTo>
                <a:lnTo>
                  <a:pt x="1798319" y="254150"/>
                </a:lnTo>
                <a:lnTo>
                  <a:pt x="179831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7056437" y="4572000"/>
            <a:ext cx="2087562" cy="255587"/>
          </a:xfrm>
          <a:custGeom>
            <a:rect b="b" l="l" r="r" t="t"/>
            <a:pathLst>
              <a:path extrusionOk="0" h="254635" w="2087879">
                <a:moveTo>
                  <a:pt x="0" y="254162"/>
                </a:moveTo>
                <a:lnTo>
                  <a:pt x="2087880" y="254162"/>
                </a:lnTo>
                <a:lnTo>
                  <a:pt x="208788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0" y="4572000"/>
            <a:ext cx="1798637" cy="255587"/>
          </a:xfrm>
          <a:custGeom>
            <a:rect b="b" l="l" r="r" t="t"/>
            <a:pathLst>
              <a:path extrusionOk="0" h="254635" w="1798320">
                <a:moveTo>
                  <a:pt x="0" y="254162"/>
                </a:moveTo>
                <a:lnTo>
                  <a:pt x="1798319" y="254162"/>
                </a:lnTo>
                <a:lnTo>
                  <a:pt x="179831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7056437" y="4826000"/>
            <a:ext cx="2087562" cy="254000"/>
          </a:xfrm>
          <a:custGeom>
            <a:rect b="b" l="l" r="r" t="t"/>
            <a:pathLst>
              <a:path extrusionOk="0" h="254000" w="2087879">
                <a:moveTo>
                  <a:pt x="0" y="253793"/>
                </a:moveTo>
                <a:lnTo>
                  <a:pt x="2087880" y="253793"/>
                </a:lnTo>
                <a:lnTo>
                  <a:pt x="208788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0" y="4826000"/>
            <a:ext cx="1798637" cy="254000"/>
          </a:xfrm>
          <a:custGeom>
            <a:rect b="b" l="l" r="r" t="t"/>
            <a:pathLst>
              <a:path extrusionOk="0" h="254000" w="1798320">
                <a:moveTo>
                  <a:pt x="0" y="253793"/>
                </a:moveTo>
                <a:lnTo>
                  <a:pt x="1798319" y="253793"/>
                </a:lnTo>
                <a:lnTo>
                  <a:pt x="179831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4321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 Instance</a:t>
            </a:r>
            <a:endParaRPr/>
          </a:p>
        </p:txBody>
      </p:sp>
      <p:sp>
        <p:nvSpPr>
          <p:cNvPr id="374" name="Google Shape;374;p15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75" name="Google Shape;375;p15"/>
          <p:cNvSpPr txBox="1"/>
          <p:nvPr/>
        </p:nvSpPr>
        <p:spPr>
          <a:xfrm>
            <a:off x="1217612" y="1162050"/>
            <a:ext cx="689927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current values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instance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of a relation are specified by a</a:t>
            </a:r>
            <a:endParaRPr/>
          </a:p>
        </p:txBody>
      </p:sp>
      <p:sp>
        <p:nvSpPr>
          <p:cNvPr id="376" name="Google Shape;376;p15"/>
          <p:cNvSpPr txBox="1"/>
          <p:nvPr/>
        </p:nvSpPr>
        <p:spPr>
          <a:xfrm>
            <a:off x="1217612" y="1436687"/>
            <a:ext cx="5207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/>
          </a:p>
        </p:txBody>
      </p:sp>
      <p:sp>
        <p:nvSpPr>
          <p:cNvPr id="377" name="Google Shape;377;p15"/>
          <p:cNvSpPr txBox="1"/>
          <p:nvPr/>
        </p:nvSpPr>
        <p:spPr>
          <a:xfrm>
            <a:off x="874712" y="17653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78" name="Google Shape;378;p15"/>
          <p:cNvSpPr txBox="1"/>
          <p:nvPr/>
        </p:nvSpPr>
        <p:spPr>
          <a:xfrm>
            <a:off x="1217612" y="1811337"/>
            <a:ext cx="594042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element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represented by a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row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table</a:t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1798637" y="3781425"/>
            <a:ext cx="1752600" cy="1524000"/>
          </a:xfrm>
          <a:custGeom>
            <a:rect b="b" l="l" r="r" t="t"/>
            <a:pathLst>
              <a:path extrusionOk="0" h="1524000" w="1752600">
                <a:moveTo>
                  <a:pt x="1752599" y="0"/>
                </a:moveTo>
                <a:lnTo>
                  <a:pt x="0" y="0"/>
                </a:lnTo>
                <a:lnTo>
                  <a:pt x="0" y="1523993"/>
                </a:lnTo>
                <a:lnTo>
                  <a:pt x="1752599" y="1523993"/>
                </a:lnTo>
                <a:lnTo>
                  <a:pt x="17525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1798637" y="3781425"/>
            <a:ext cx="1752600" cy="1524000"/>
          </a:xfrm>
          <a:custGeom>
            <a:rect b="b" l="l" r="r" t="t"/>
            <a:pathLst>
              <a:path extrusionOk="0" h="1524000" w="1752600">
                <a:moveTo>
                  <a:pt x="876299" y="1523993"/>
                </a:moveTo>
                <a:lnTo>
                  <a:pt x="0" y="1523993"/>
                </a:lnTo>
                <a:lnTo>
                  <a:pt x="0" y="0"/>
                </a:lnTo>
                <a:lnTo>
                  <a:pt x="1752599" y="0"/>
                </a:lnTo>
                <a:lnTo>
                  <a:pt x="1752599" y="1523993"/>
                </a:lnTo>
                <a:lnTo>
                  <a:pt x="876299" y="1523993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 txBox="1"/>
          <p:nvPr/>
        </p:nvSpPr>
        <p:spPr>
          <a:xfrm>
            <a:off x="1876425" y="4033837"/>
            <a:ext cx="809625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Jones Smith Curry Lindsay</a:t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1798637" y="3324225"/>
            <a:ext cx="1752600" cy="381000"/>
          </a:xfrm>
          <a:custGeom>
            <a:rect b="b" l="l" r="r" t="t"/>
            <a:pathLst>
              <a:path extrusionOk="0" h="380364" w="1752600">
                <a:moveTo>
                  <a:pt x="1752599" y="0"/>
                </a:moveTo>
                <a:lnTo>
                  <a:pt x="0" y="0"/>
                </a:lnTo>
                <a:lnTo>
                  <a:pt x="0" y="379750"/>
                </a:lnTo>
                <a:lnTo>
                  <a:pt x="1752599" y="379750"/>
                </a:lnTo>
                <a:lnTo>
                  <a:pt x="17525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1798637" y="3324225"/>
            <a:ext cx="1752600" cy="381000"/>
          </a:xfrm>
          <a:custGeom>
            <a:rect b="b" l="l" r="r" t="t"/>
            <a:pathLst>
              <a:path extrusionOk="0" h="380364" w="1752600">
                <a:moveTo>
                  <a:pt x="876299" y="379750"/>
                </a:moveTo>
                <a:lnTo>
                  <a:pt x="0" y="379750"/>
                </a:lnTo>
                <a:lnTo>
                  <a:pt x="0" y="0"/>
                </a:lnTo>
                <a:lnTo>
                  <a:pt x="1752599" y="0"/>
                </a:lnTo>
                <a:lnTo>
                  <a:pt x="1752599" y="379750"/>
                </a:lnTo>
                <a:lnTo>
                  <a:pt x="876299" y="37975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3551237" y="3781425"/>
            <a:ext cx="1752600" cy="1524000"/>
          </a:xfrm>
          <a:custGeom>
            <a:rect b="b" l="l" r="r" t="t"/>
            <a:pathLst>
              <a:path extrusionOk="0" h="1524000" w="1752600">
                <a:moveTo>
                  <a:pt x="1752599" y="0"/>
                </a:moveTo>
                <a:lnTo>
                  <a:pt x="0" y="0"/>
                </a:lnTo>
                <a:lnTo>
                  <a:pt x="0" y="1523993"/>
                </a:lnTo>
                <a:lnTo>
                  <a:pt x="1752599" y="1523993"/>
                </a:lnTo>
                <a:lnTo>
                  <a:pt x="17525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3551237" y="3781425"/>
            <a:ext cx="1752600" cy="1524000"/>
          </a:xfrm>
          <a:custGeom>
            <a:rect b="b" l="l" r="r" t="t"/>
            <a:pathLst>
              <a:path extrusionOk="0" h="1524000" w="1752600">
                <a:moveTo>
                  <a:pt x="876299" y="1523993"/>
                </a:moveTo>
                <a:lnTo>
                  <a:pt x="0" y="1523993"/>
                </a:lnTo>
                <a:lnTo>
                  <a:pt x="0" y="0"/>
                </a:lnTo>
                <a:lnTo>
                  <a:pt x="1752599" y="0"/>
                </a:lnTo>
                <a:lnTo>
                  <a:pt x="1752599" y="1523993"/>
                </a:lnTo>
                <a:lnTo>
                  <a:pt x="876299" y="1523993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3551237" y="3324225"/>
            <a:ext cx="1752600" cy="381000"/>
          </a:xfrm>
          <a:custGeom>
            <a:rect b="b" l="l" r="r" t="t"/>
            <a:pathLst>
              <a:path extrusionOk="0" h="380364" w="1752600">
                <a:moveTo>
                  <a:pt x="1752599" y="0"/>
                </a:moveTo>
                <a:lnTo>
                  <a:pt x="0" y="0"/>
                </a:lnTo>
                <a:lnTo>
                  <a:pt x="0" y="379750"/>
                </a:lnTo>
                <a:lnTo>
                  <a:pt x="1752599" y="379750"/>
                </a:lnTo>
                <a:lnTo>
                  <a:pt x="17525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551237" y="3324225"/>
            <a:ext cx="1752600" cy="381000"/>
          </a:xfrm>
          <a:custGeom>
            <a:rect b="b" l="l" r="r" t="t"/>
            <a:pathLst>
              <a:path extrusionOk="0" h="380364" w="1752600">
                <a:moveTo>
                  <a:pt x="876299" y="379750"/>
                </a:moveTo>
                <a:lnTo>
                  <a:pt x="0" y="379750"/>
                </a:lnTo>
                <a:lnTo>
                  <a:pt x="0" y="0"/>
                </a:lnTo>
                <a:lnTo>
                  <a:pt x="1752599" y="0"/>
                </a:lnTo>
                <a:lnTo>
                  <a:pt x="1752599" y="379750"/>
                </a:lnTo>
                <a:lnTo>
                  <a:pt x="876299" y="37975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1844675" y="3416300"/>
            <a:ext cx="34131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 customer_street</a:t>
            </a:r>
            <a:endParaRPr/>
          </a:p>
        </p:txBody>
      </p:sp>
      <p:sp>
        <p:nvSpPr>
          <p:cNvPr id="389" name="Google Shape;389;p15"/>
          <p:cNvSpPr txBox="1"/>
          <p:nvPr/>
        </p:nvSpPr>
        <p:spPr>
          <a:xfrm>
            <a:off x="3629025" y="4032250"/>
            <a:ext cx="584200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North North Park</a:t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5303837" y="3781425"/>
            <a:ext cx="1752600" cy="1524000"/>
          </a:xfrm>
          <a:custGeom>
            <a:rect b="b" l="l" r="r" t="t"/>
            <a:pathLst>
              <a:path extrusionOk="0" h="1524000" w="1752600">
                <a:moveTo>
                  <a:pt x="1752599" y="0"/>
                </a:moveTo>
                <a:lnTo>
                  <a:pt x="0" y="0"/>
                </a:lnTo>
                <a:lnTo>
                  <a:pt x="0" y="1523993"/>
                </a:lnTo>
                <a:lnTo>
                  <a:pt x="1752599" y="1523993"/>
                </a:lnTo>
                <a:lnTo>
                  <a:pt x="17525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5303837" y="3781425"/>
            <a:ext cx="1752600" cy="1524000"/>
          </a:xfrm>
          <a:custGeom>
            <a:rect b="b" l="l" r="r" t="t"/>
            <a:pathLst>
              <a:path extrusionOk="0" h="1524000" w="1752600">
                <a:moveTo>
                  <a:pt x="876299" y="1523993"/>
                </a:moveTo>
                <a:lnTo>
                  <a:pt x="0" y="1523993"/>
                </a:lnTo>
                <a:lnTo>
                  <a:pt x="0" y="0"/>
                </a:lnTo>
                <a:lnTo>
                  <a:pt x="1752599" y="0"/>
                </a:lnTo>
                <a:lnTo>
                  <a:pt x="1752599" y="1523993"/>
                </a:lnTo>
                <a:lnTo>
                  <a:pt x="876299" y="1523993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 txBox="1"/>
          <p:nvPr/>
        </p:nvSpPr>
        <p:spPr>
          <a:xfrm>
            <a:off x="5381625" y="4032250"/>
            <a:ext cx="889000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Harrison Rye Rye Pittsfield</a:t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5303837" y="3324225"/>
            <a:ext cx="1752600" cy="381000"/>
          </a:xfrm>
          <a:custGeom>
            <a:rect b="b" l="l" r="r" t="t"/>
            <a:pathLst>
              <a:path extrusionOk="0" h="380364" w="1752600">
                <a:moveTo>
                  <a:pt x="1752599" y="0"/>
                </a:moveTo>
                <a:lnTo>
                  <a:pt x="0" y="0"/>
                </a:lnTo>
                <a:lnTo>
                  <a:pt x="0" y="379750"/>
                </a:lnTo>
                <a:lnTo>
                  <a:pt x="1752599" y="379750"/>
                </a:lnTo>
                <a:lnTo>
                  <a:pt x="17525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5303837" y="3324225"/>
            <a:ext cx="1752600" cy="381000"/>
          </a:xfrm>
          <a:custGeom>
            <a:rect b="b" l="l" r="r" t="t"/>
            <a:pathLst>
              <a:path extrusionOk="0" h="380364" w="1752600">
                <a:moveTo>
                  <a:pt x="876299" y="379750"/>
                </a:moveTo>
                <a:lnTo>
                  <a:pt x="0" y="379750"/>
                </a:lnTo>
                <a:lnTo>
                  <a:pt x="0" y="0"/>
                </a:lnTo>
                <a:lnTo>
                  <a:pt x="1752599" y="0"/>
                </a:lnTo>
                <a:lnTo>
                  <a:pt x="1752599" y="379750"/>
                </a:lnTo>
                <a:lnTo>
                  <a:pt x="876299" y="37975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5464175" y="3414712"/>
            <a:ext cx="14319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customer_city</a:t>
            </a:r>
            <a:endParaRPr/>
          </a:p>
        </p:txBody>
      </p:sp>
      <p:sp>
        <p:nvSpPr>
          <p:cNvPr id="396" name="Google Shape;396;p15"/>
          <p:cNvSpPr txBox="1"/>
          <p:nvPr/>
        </p:nvSpPr>
        <p:spPr>
          <a:xfrm>
            <a:off x="4011612" y="5391150"/>
            <a:ext cx="963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7121525" y="2827337"/>
            <a:ext cx="1292225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163512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 (or columns)</a:t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2789237" y="3254375"/>
            <a:ext cx="77787" cy="76200"/>
          </a:xfrm>
          <a:custGeom>
            <a:rect b="b" l="l" r="r" t="t"/>
            <a:pathLst>
              <a:path extrusionOk="0" h="76200" w="78739">
                <a:moveTo>
                  <a:pt x="72389" y="0"/>
                </a:moveTo>
                <a:lnTo>
                  <a:pt x="0" y="43159"/>
                </a:lnTo>
                <a:lnTo>
                  <a:pt x="78735" y="76199"/>
                </a:lnTo>
                <a:lnTo>
                  <a:pt x="7238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2847975" y="2981325"/>
            <a:ext cx="4270375" cy="317500"/>
          </a:xfrm>
          <a:custGeom>
            <a:rect b="b" l="l" r="r" t="t"/>
            <a:pathLst>
              <a:path extrusionOk="0" h="317500" w="4270375">
                <a:moveTo>
                  <a:pt x="4268473" y="0"/>
                </a:moveTo>
                <a:lnTo>
                  <a:pt x="0" y="307360"/>
                </a:lnTo>
                <a:lnTo>
                  <a:pt x="1274" y="317510"/>
                </a:lnTo>
                <a:lnTo>
                  <a:pt x="4269754" y="8900"/>
                </a:lnTo>
                <a:lnTo>
                  <a:pt x="426847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4572000" y="3251200"/>
            <a:ext cx="79375" cy="74612"/>
          </a:xfrm>
          <a:custGeom>
            <a:rect b="b" l="l" r="r" t="t"/>
            <a:pathLst>
              <a:path extrusionOk="0" h="74929" w="80010">
                <a:moveTo>
                  <a:pt x="69860" y="0"/>
                </a:moveTo>
                <a:lnTo>
                  <a:pt x="0" y="46969"/>
                </a:lnTo>
                <a:lnTo>
                  <a:pt x="80009" y="74919"/>
                </a:lnTo>
                <a:lnTo>
                  <a:pt x="6986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632325" y="2970212"/>
            <a:ext cx="2498725" cy="325437"/>
          </a:xfrm>
          <a:custGeom>
            <a:rect b="b" l="l" r="r" t="t"/>
            <a:pathLst>
              <a:path extrusionOk="0" h="325120" w="2498725">
                <a:moveTo>
                  <a:pt x="2496830" y="0"/>
                </a:moveTo>
                <a:lnTo>
                  <a:pt x="0" y="316229"/>
                </a:lnTo>
                <a:lnTo>
                  <a:pt x="1280" y="325130"/>
                </a:lnTo>
                <a:lnTo>
                  <a:pt x="2498110" y="8900"/>
                </a:lnTo>
                <a:lnTo>
                  <a:pt x="249683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6296025" y="3235325"/>
            <a:ext cx="84137" cy="71437"/>
          </a:xfrm>
          <a:custGeom>
            <a:rect b="b" l="l" r="r" t="t"/>
            <a:pathLst>
              <a:path extrusionOk="0" h="71120" w="83820">
                <a:moveTo>
                  <a:pt x="57149" y="0"/>
                </a:moveTo>
                <a:lnTo>
                  <a:pt x="0" y="62209"/>
                </a:lnTo>
                <a:lnTo>
                  <a:pt x="83819" y="71109"/>
                </a:lnTo>
                <a:lnTo>
                  <a:pt x="5714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6351587" y="2970212"/>
            <a:ext cx="790575" cy="312737"/>
          </a:xfrm>
          <a:custGeom>
            <a:rect b="b" l="l" r="r" t="t"/>
            <a:pathLst>
              <a:path extrusionOk="0" h="311785" w="791209">
                <a:moveTo>
                  <a:pt x="787389" y="0"/>
                </a:moveTo>
                <a:lnTo>
                  <a:pt x="0" y="302270"/>
                </a:lnTo>
                <a:lnTo>
                  <a:pt x="2529" y="311170"/>
                </a:lnTo>
                <a:lnTo>
                  <a:pt x="791199" y="8900"/>
                </a:lnTo>
                <a:lnTo>
                  <a:pt x="78738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 txBox="1"/>
          <p:nvPr/>
        </p:nvSpPr>
        <p:spPr>
          <a:xfrm>
            <a:off x="7545387" y="4229100"/>
            <a:ext cx="6334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tuples</a:t>
            </a:r>
            <a:endParaRPr/>
          </a:p>
        </p:txBody>
      </p:sp>
      <p:sp>
        <p:nvSpPr>
          <p:cNvPr id="405" name="Google Shape;405;p15"/>
          <p:cNvSpPr txBox="1"/>
          <p:nvPr/>
        </p:nvSpPr>
        <p:spPr>
          <a:xfrm>
            <a:off x="7397750" y="4503737"/>
            <a:ext cx="9271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(or rows)</a:t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7072312" y="4110037"/>
            <a:ext cx="84137" cy="71437"/>
          </a:xfrm>
          <a:custGeom>
            <a:rect b="b" l="l" r="r" t="t"/>
            <a:pathLst>
              <a:path extrusionOk="0" h="71120" w="83820">
                <a:moveTo>
                  <a:pt x="0" y="0"/>
                </a:moveTo>
                <a:lnTo>
                  <a:pt x="45719" y="71128"/>
                </a:lnTo>
                <a:lnTo>
                  <a:pt x="83819" y="635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7121525" y="4137025"/>
            <a:ext cx="323850" cy="196850"/>
          </a:xfrm>
          <a:custGeom>
            <a:rect b="b" l="l" r="r" t="t"/>
            <a:pathLst>
              <a:path extrusionOk="0" h="198120" w="322579">
                <a:moveTo>
                  <a:pt x="3809" y="0"/>
                </a:moveTo>
                <a:lnTo>
                  <a:pt x="0" y="8894"/>
                </a:lnTo>
                <a:lnTo>
                  <a:pt x="317479" y="198119"/>
                </a:lnTo>
                <a:lnTo>
                  <a:pt x="322569" y="190499"/>
                </a:lnTo>
                <a:lnTo>
                  <a:pt x="380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7059612" y="4300537"/>
            <a:ext cx="76200" cy="76200"/>
          </a:xfrm>
          <a:custGeom>
            <a:rect b="b" l="l" r="r" t="t"/>
            <a:pathLst>
              <a:path extrusionOk="0" h="76200" w="76200">
                <a:moveTo>
                  <a:pt x="73670" y="0"/>
                </a:moveTo>
                <a:lnTo>
                  <a:pt x="0" y="39374"/>
                </a:lnTo>
                <a:lnTo>
                  <a:pt x="76199" y="76199"/>
                </a:lnTo>
                <a:lnTo>
                  <a:pt x="736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7119937" y="4333875"/>
            <a:ext cx="309562" cy="0"/>
          </a:xfrm>
          <a:custGeom>
            <a:rect b="b" l="l" r="r" t="t"/>
            <a:pathLst>
              <a:path extrusionOk="0" h="120000" w="309879">
                <a:moveTo>
                  <a:pt x="0" y="0"/>
                </a:moveTo>
                <a:lnTo>
                  <a:pt x="309890" y="0"/>
                </a:lnTo>
              </a:path>
            </a:pathLst>
          </a:custGeom>
          <a:noFill/>
          <a:ln cap="flat" cmpd="sng" w="203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7048500" y="4575175"/>
            <a:ext cx="82550" cy="77787"/>
          </a:xfrm>
          <a:custGeom>
            <a:rect b="b" l="l" r="r" t="t"/>
            <a:pathLst>
              <a:path extrusionOk="0" h="77470" w="82550">
                <a:moveTo>
                  <a:pt x="35570" y="0"/>
                </a:moveTo>
                <a:lnTo>
                  <a:pt x="0" y="77474"/>
                </a:lnTo>
                <a:lnTo>
                  <a:pt x="82539" y="59685"/>
                </a:lnTo>
                <a:lnTo>
                  <a:pt x="355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7092950" y="4337050"/>
            <a:ext cx="350837" cy="282575"/>
          </a:xfrm>
          <a:custGeom>
            <a:rect b="b" l="l" r="r" t="t"/>
            <a:pathLst>
              <a:path extrusionOk="0" h="281939" w="350520">
                <a:moveTo>
                  <a:pt x="344180" y="0"/>
                </a:moveTo>
                <a:lnTo>
                  <a:pt x="0" y="274319"/>
                </a:lnTo>
                <a:lnTo>
                  <a:pt x="5090" y="281939"/>
                </a:lnTo>
                <a:lnTo>
                  <a:pt x="350519" y="6345"/>
                </a:lnTo>
                <a:lnTo>
                  <a:pt x="34418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7059612" y="4821237"/>
            <a:ext cx="74612" cy="84137"/>
          </a:xfrm>
          <a:custGeom>
            <a:rect b="b" l="l" r="r" t="t"/>
            <a:pathLst>
              <a:path extrusionOk="0" h="83820" w="73659">
                <a:moveTo>
                  <a:pt x="11429" y="0"/>
                </a:moveTo>
                <a:lnTo>
                  <a:pt x="0" y="83819"/>
                </a:lnTo>
                <a:lnTo>
                  <a:pt x="73670" y="43171"/>
                </a:lnTo>
                <a:lnTo>
                  <a:pt x="1142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7089775" y="4346575"/>
            <a:ext cx="355600" cy="511175"/>
          </a:xfrm>
          <a:custGeom>
            <a:rect b="b" l="l" r="r" t="t"/>
            <a:pathLst>
              <a:path extrusionOk="0" h="510539" w="354329">
                <a:moveTo>
                  <a:pt x="346709" y="0"/>
                </a:moveTo>
                <a:lnTo>
                  <a:pt x="0" y="505455"/>
                </a:lnTo>
                <a:lnTo>
                  <a:pt x="7619" y="510539"/>
                </a:lnTo>
                <a:lnTo>
                  <a:pt x="354329" y="5084"/>
                </a:lnTo>
                <a:lnTo>
                  <a:pt x="34670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15" name="Google Shape;415;p15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16" name="Google Shape;416;p15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 txBox="1"/>
          <p:nvPr/>
        </p:nvSpPr>
        <p:spPr>
          <a:xfrm>
            <a:off x="2270125" y="161925"/>
            <a:ext cx="47466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Relations are Unordered</a:t>
            </a:r>
            <a:endParaRPr/>
          </a:p>
        </p:txBody>
      </p:sp>
      <p:sp>
        <p:nvSpPr>
          <p:cNvPr id="448" name="Google Shape;448;p16"/>
          <p:cNvSpPr txBox="1"/>
          <p:nvPr/>
        </p:nvSpPr>
        <p:spPr>
          <a:xfrm>
            <a:off x="874712" y="1117600"/>
            <a:ext cx="7377112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0661" lvl="0" marL="23336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2"/>
              <a:buFont typeface="MS Gothic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 of tuples is irrelevant (tuples may be stored in an arbitrary order)</a:t>
            </a:r>
            <a:endParaRPr/>
          </a:p>
          <a:p>
            <a:pPr indent="-220661" lvl="0" marL="233361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3200"/>
              </a:buClr>
              <a:buSzPts val="1602"/>
              <a:buFont typeface="MS Gothic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with unordered tuples</a:t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1123950" y="1962150"/>
            <a:ext cx="7243762" cy="4124325"/>
          </a:xfrm>
          <a:custGeom>
            <a:rect b="b" l="l" r="r" t="t"/>
            <a:pathLst>
              <a:path extrusionOk="0" h="4124960" w="7244080">
                <a:moveTo>
                  <a:pt x="3622029" y="4124955"/>
                </a:moveTo>
                <a:lnTo>
                  <a:pt x="0" y="4124955"/>
                </a:lnTo>
                <a:lnTo>
                  <a:pt x="0" y="0"/>
                </a:lnTo>
                <a:lnTo>
                  <a:pt x="7244089" y="0"/>
                </a:lnTo>
                <a:lnTo>
                  <a:pt x="7244089" y="4124955"/>
                </a:lnTo>
                <a:lnTo>
                  <a:pt x="3622029" y="412495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1143000" y="1981200"/>
            <a:ext cx="7207250" cy="408781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52" name="Google Shape;452;p16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53" name="Google Shape;453;p16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6226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</p:txBody>
      </p:sp>
      <p:sp>
        <p:nvSpPr>
          <p:cNvPr id="485" name="Google Shape;485;p17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86" name="Google Shape;486;p17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87" name="Google Shape;487;p17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488" name="Google Shape;488;p17"/>
          <p:cNvSpPr txBox="1"/>
          <p:nvPr/>
        </p:nvSpPr>
        <p:spPr>
          <a:xfrm>
            <a:off x="876300" y="1117600"/>
            <a:ext cx="16510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89" name="Google Shape;489;p17"/>
          <p:cNvSpPr txBox="1"/>
          <p:nvPr/>
        </p:nvSpPr>
        <p:spPr>
          <a:xfrm>
            <a:off x="1217612" y="1155700"/>
            <a:ext cx="36528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database consists of multiple relations</a:t>
            </a:r>
            <a:endParaRPr/>
          </a:p>
        </p:txBody>
      </p:sp>
      <p:sp>
        <p:nvSpPr>
          <p:cNvPr id="490" name="Google Shape;490;p17"/>
          <p:cNvSpPr txBox="1"/>
          <p:nvPr/>
        </p:nvSpPr>
        <p:spPr>
          <a:xfrm>
            <a:off x="876300" y="1512887"/>
            <a:ext cx="16510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1217612" y="1552575"/>
            <a:ext cx="66500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about an enterprise is broken up into parts, with  each relation</a:t>
            </a:r>
            <a:endParaRPr/>
          </a:p>
        </p:txBody>
      </p:sp>
      <p:sp>
        <p:nvSpPr>
          <p:cNvPr id="492" name="Google Shape;492;p17"/>
          <p:cNvSpPr txBox="1"/>
          <p:nvPr/>
        </p:nvSpPr>
        <p:spPr>
          <a:xfrm>
            <a:off x="1217612" y="1797050"/>
            <a:ext cx="306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storing one part of the information</a:t>
            </a:r>
            <a:endParaRPr/>
          </a:p>
        </p:txBody>
      </p:sp>
      <p:sp>
        <p:nvSpPr>
          <p:cNvPr id="493" name="Google Shape;493;p17"/>
          <p:cNvSpPr txBox="1"/>
          <p:nvPr/>
        </p:nvSpPr>
        <p:spPr>
          <a:xfrm>
            <a:off x="1789112" y="2216150"/>
            <a:ext cx="850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2784475" y="2216150"/>
            <a:ext cx="307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stores information about accounts</a:t>
            </a:r>
            <a:endParaRPr/>
          </a:p>
        </p:txBody>
      </p:sp>
      <p:sp>
        <p:nvSpPr>
          <p:cNvPr id="495" name="Google Shape;495;p17"/>
          <p:cNvSpPr txBox="1"/>
          <p:nvPr/>
        </p:nvSpPr>
        <p:spPr>
          <a:xfrm>
            <a:off x="1670050" y="2482850"/>
            <a:ext cx="9731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496" name="Google Shape;496;p17"/>
          <p:cNvSpPr txBox="1"/>
          <p:nvPr/>
        </p:nvSpPr>
        <p:spPr>
          <a:xfrm>
            <a:off x="2787650" y="2482850"/>
            <a:ext cx="367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stores information about which customer</a:t>
            </a:r>
            <a:endParaRPr/>
          </a:p>
        </p:txBody>
      </p:sp>
      <p:sp>
        <p:nvSpPr>
          <p:cNvPr id="497" name="Google Shape;497;p17"/>
          <p:cNvSpPr txBox="1"/>
          <p:nvPr/>
        </p:nvSpPr>
        <p:spPr>
          <a:xfrm>
            <a:off x="2911475" y="2749550"/>
            <a:ext cx="18430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owns which account</a:t>
            </a:r>
            <a:endParaRPr/>
          </a:p>
        </p:txBody>
      </p:sp>
      <p:sp>
        <p:nvSpPr>
          <p:cNvPr id="498" name="Google Shape;498;p17"/>
          <p:cNvSpPr txBox="1"/>
          <p:nvPr/>
        </p:nvSpPr>
        <p:spPr>
          <a:xfrm>
            <a:off x="1217612" y="3017837"/>
            <a:ext cx="4765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0850" lvl="0" marL="12700" marR="0" rtl="0" algn="l">
              <a:lnSpc>
                <a:spcPct val="20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	stores information about customers Storing all information as a single relation such as</a:t>
            </a:r>
            <a:endParaRPr/>
          </a:p>
        </p:txBody>
      </p:sp>
      <p:sp>
        <p:nvSpPr>
          <p:cNvPr id="499" name="Google Shape;499;p17"/>
          <p:cNvSpPr txBox="1"/>
          <p:nvPr/>
        </p:nvSpPr>
        <p:spPr>
          <a:xfrm>
            <a:off x="876300" y="3398837"/>
            <a:ext cx="16510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00" name="Google Shape;500;p17"/>
          <p:cNvSpPr txBox="1"/>
          <p:nvPr/>
        </p:nvSpPr>
        <p:spPr>
          <a:xfrm>
            <a:off x="1217612" y="3705225"/>
            <a:ext cx="4900612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169862" lvl="0" marL="12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account_number, balance, customer_name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..) results in</a:t>
            </a:r>
            <a:endParaRPr/>
          </a:p>
        </p:txBody>
      </p:sp>
      <p:sp>
        <p:nvSpPr>
          <p:cNvPr id="501" name="Google Shape;501;p17"/>
          <p:cNvSpPr txBox="1"/>
          <p:nvPr/>
        </p:nvSpPr>
        <p:spPr>
          <a:xfrm>
            <a:off x="1333500" y="4341812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02" name="Google Shape;502;p17"/>
          <p:cNvSpPr txBox="1"/>
          <p:nvPr/>
        </p:nvSpPr>
        <p:spPr>
          <a:xfrm>
            <a:off x="1617662" y="4368800"/>
            <a:ext cx="21478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repetition of information</a:t>
            </a:r>
            <a:endParaRPr/>
          </a:p>
        </p:txBody>
      </p:sp>
      <p:sp>
        <p:nvSpPr>
          <p:cNvPr id="503" name="Google Shape;503;p17"/>
          <p:cNvSpPr txBox="1"/>
          <p:nvPr/>
        </p:nvSpPr>
        <p:spPr>
          <a:xfrm>
            <a:off x="1733550" y="4730750"/>
            <a:ext cx="14605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1200"/>
              <a:buFont typeface="Noto Sans Symbols"/>
              <a:buNone/>
            </a:pPr>
            <a:r>
              <a:rPr b="0" i="0" lang="en-US" sz="12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endParaRPr/>
          </a:p>
        </p:txBody>
      </p:sp>
      <p:sp>
        <p:nvSpPr>
          <p:cNvPr id="504" name="Google Shape;504;p17"/>
          <p:cNvSpPr txBox="1"/>
          <p:nvPr/>
        </p:nvSpPr>
        <p:spPr>
          <a:xfrm>
            <a:off x="1962150" y="4764087"/>
            <a:ext cx="54403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e.g.,if two customers own an account (What gets repeated?)</a:t>
            </a:r>
            <a:endParaRPr/>
          </a:p>
        </p:txBody>
      </p:sp>
      <p:sp>
        <p:nvSpPr>
          <p:cNvPr id="505" name="Google Shape;505;p17"/>
          <p:cNvSpPr txBox="1"/>
          <p:nvPr/>
        </p:nvSpPr>
        <p:spPr>
          <a:xfrm>
            <a:off x="1333500" y="5132387"/>
            <a:ext cx="153987" cy="18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06" name="Google Shape;506;p17"/>
          <p:cNvSpPr txBox="1"/>
          <p:nvPr/>
        </p:nvSpPr>
        <p:spPr>
          <a:xfrm>
            <a:off x="1617662" y="5159375"/>
            <a:ext cx="21256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need for null values</a:t>
            </a:r>
            <a:endParaRPr/>
          </a:p>
        </p:txBody>
      </p:sp>
      <p:sp>
        <p:nvSpPr>
          <p:cNvPr id="507" name="Google Shape;507;p17"/>
          <p:cNvSpPr txBox="1"/>
          <p:nvPr/>
        </p:nvSpPr>
        <p:spPr>
          <a:xfrm>
            <a:off x="1733550" y="5522912"/>
            <a:ext cx="14605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1200"/>
              <a:buFont typeface="Noto Sans Symbols"/>
              <a:buNone/>
            </a:pPr>
            <a:r>
              <a:rPr b="0" i="0" lang="en-US" sz="12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endParaRPr/>
          </a:p>
        </p:txBody>
      </p:sp>
      <p:sp>
        <p:nvSpPr>
          <p:cNvPr id="508" name="Google Shape;508;p17"/>
          <p:cNvSpPr txBox="1"/>
          <p:nvPr/>
        </p:nvSpPr>
        <p:spPr>
          <a:xfrm>
            <a:off x="1962150" y="5556250"/>
            <a:ext cx="436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to represent a customer without an account</a:t>
            </a:r>
            <a:endParaRPr/>
          </a:p>
        </p:txBody>
      </p:sp>
      <p:sp>
        <p:nvSpPr>
          <p:cNvPr id="509" name="Google Shape;509;p17"/>
          <p:cNvSpPr txBox="1"/>
          <p:nvPr/>
        </p:nvSpPr>
        <p:spPr>
          <a:xfrm>
            <a:off x="876300" y="5911850"/>
            <a:ext cx="16510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10" name="Google Shape;510;p17"/>
          <p:cNvSpPr txBox="1"/>
          <p:nvPr/>
        </p:nvSpPr>
        <p:spPr>
          <a:xfrm>
            <a:off x="1217612" y="5949950"/>
            <a:ext cx="69897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Normalization theory (Chapter 7) deals with how to design relational schemas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336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customer </a:t>
            </a: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1581150" y="1123950"/>
            <a:ext cx="6581775" cy="5033962"/>
          </a:xfrm>
          <a:custGeom>
            <a:rect b="b" l="l" r="r" t="t"/>
            <a:pathLst>
              <a:path extrusionOk="0" h="5034280" w="6582409">
                <a:moveTo>
                  <a:pt x="3290559" y="5034283"/>
                </a:moveTo>
                <a:lnTo>
                  <a:pt x="0" y="5034283"/>
                </a:lnTo>
                <a:lnTo>
                  <a:pt x="0" y="0"/>
                </a:lnTo>
                <a:lnTo>
                  <a:pt x="6582399" y="0"/>
                </a:lnTo>
                <a:lnTo>
                  <a:pt x="6582399" y="5034283"/>
                </a:lnTo>
                <a:lnTo>
                  <a:pt x="3290559" y="5034283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8"/>
          <p:cNvSpPr txBox="1"/>
          <p:nvPr/>
        </p:nvSpPr>
        <p:spPr>
          <a:xfrm>
            <a:off x="1600200" y="1143000"/>
            <a:ext cx="6545262" cy="49974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8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545" name="Google Shape;545;p18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546" name="Google Shape;546;p18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9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9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9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9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9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9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9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9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9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9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9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9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324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depositor </a:t>
            </a: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/>
          </a:p>
        </p:txBody>
      </p:sp>
      <p:sp>
        <p:nvSpPr>
          <p:cNvPr id="578" name="Google Shape;578;p19"/>
          <p:cNvSpPr/>
          <p:nvPr/>
        </p:nvSpPr>
        <p:spPr>
          <a:xfrm>
            <a:off x="1962150" y="1885950"/>
            <a:ext cx="5262562" cy="3573462"/>
          </a:xfrm>
          <a:custGeom>
            <a:rect b="b" l="l" r="r" t="t"/>
            <a:pathLst>
              <a:path extrusionOk="0" h="3573779" w="5262880">
                <a:moveTo>
                  <a:pt x="2631429" y="3573779"/>
                </a:moveTo>
                <a:lnTo>
                  <a:pt x="0" y="3573779"/>
                </a:lnTo>
                <a:lnTo>
                  <a:pt x="0" y="0"/>
                </a:lnTo>
                <a:lnTo>
                  <a:pt x="5262890" y="0"/>
                </a:lnTo>
                <a:lnTo>
                  <a:pt x="5262890" y="3573779"/>
                </a:lnTo>
                <a:lnTo>
                  <a:pt x="2631429" y="3573779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9"/>
          <p:cNvSpPr txBox="1"/>
          <p:nvPr/>
        </p:nvSpPr>
        <p:spPr>
          <a:xfrm>
            <a:off x="1981200" y="1905000"/>
            <a:ext cx="5226050" cy="35369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9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581" name="Google Shape;581;p19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582" name="Google Shape;582;p19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0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0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0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0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0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038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Keys</a:t>
            </a:r>
            <a:endParaRPr/>
          </a:p>
        </p:txBody>
      </p:sp>
      <p:sp>
        <p:nvSpPr>
          <p:cNvPr id="614" name="Google Shape;614;p20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615" name="Google Shape;615;p20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616" name="Google Shape;616;p20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617" name="Google Shape;617;p20"/>
          <p:cNvSpPr txBox="1"/>
          <p:nvPr/>
        </p:nvSpPr>
        <p:spPr>
          <a:xfrm>
            <a:off x="534987" y="11064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18" name="Google Shape;618;p20"/>
          <p:cNvSpPr txBox="1"/>
          <p:nvPr/>
        </p:nvSpPr>
        <p:spPr>
          <a:xfrm>
            <a:off x="876300" y="1150937"/>
            <a:ext cx="10144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K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619" name="Google Shape;619;p20"/>
          <p:cNvSpPr txBox="1"/>
          <p:nvPr/>
        </p:nvSpPr>
        <p:spPr>
          <a:xfrm>
            <a:off x="534987" y="148113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20" name="Google Shape;620;p20"/>
          <p:cNvSpPr txBox="1"/>
          <p:nvPr/>
        </p:nvSpPr>
        <p:spPr>
          <a:xfrm>
            <a:off x="876300" y="1525587"/>
            <a:ext cx="77406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superkey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values for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sufficient to identify a unique tuple of</a:t>
            </a:r>
            <a:endParaRPr/>
          </a:p>
        </p:txBody>
      </p:sp>
      <p:sp>
        <p:nvSpPr>
          <p:cNvPr id="621" name="Google Shape;621;p20"/>
          <p:cNvSpPr txBox="1"/>
          <p:nvPr/>
        </p:nvSpPr>
        <p:spPr>
          <a:xfrm>
            <a:off x="876300" y="1798637"/>
            <a:ext cx="26876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possible relation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r(R)</a:t>
            </a:r>
            <a:endParaRPr/>
          </a:p>
        </p:txBody>
      </p:sp>
      <p:sp>
        <p:nvSpPr>
          <p:cNvPr id="622" name="Google Shape;622;p20"/>
          <p:cNvSpPr txBox="1"/>
          <p:nvPr/>
        </p:nvSpPr>
        <p:spPr>
          <a:xfrm>
            <a:off x="992187" y="21431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23" name="Google Shape;623;p20"/>
          <p:cNvSpPr txBox="1"/>
          <p:nvPr/>
        </p:nvSpPr>
        <p:spPr>
          <a:xfrm>
            <a:off x="1276350" y="2173287"/>
            <a:ext cx="7296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“possible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we mean a relation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could exist in the enterprise we</a:t>
            </a:r>
            <a:endParaRPr/>
          </a:p>
        </p:txBody>
      </p:sp>
      <p:sp>
        <p:nvSpPr>
          <p:cNvPr id="624" name="Google Shape;624;p20"/>
          <p:cNvSpPr txBox="1"/>
          <p:nvPr/>
        </p:nvSpPr>
        <p:spPr>
          <a:xfrm>
            <a:off x="1276350" y="2447925"/>
            <a:ext cx="14065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modeling.</a:t>
            </a:r>
            <a:endParaRPr/>
          </a:p>
        </p:txBody>
      </p:sp>
      <p:sp>
        <p:nvSpPr>
          <p:cNvPr id="625" name="Google Shape;625;p20"/>
          <p:cNvSpPr txBox="1"/>
          <p:nvPr/>
        </p:nvSpPr>
        <p:spPr>
          <a:xfrm>
            <a:off x="992187" y="28733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26" name="Google Shape;626;p20"/>
          <p:cNvSpPr txBox="1"/>
          <p:nvPr/>
        </p:nvSpPr>
        <p:spPr>
          <a:xfrm>
            <a:off x="1276350" y="2903537"/>
            <a:ext cx="51022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	{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customer_name, customer_street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and</a:t>
            </a:r>
            <a:endParaRPr/>
          </a:p>
        </p:txBody>
      </p:sp>
      <p:sp>
        <p:nvSpPr>
          <p:cNvPr id="627" name="Google Shape;627;p20"/>
          <p:cNvSpPr txBox="1"/>
          <p:nvPr/>
        </p:nvSpPr>
        <p:spPr>
          <a:xfrm>
            <a:off x="1276350" y="3260725"/>
            <a:ext cx="7456487" cy="2135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001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1100137" marR="0" rtl="0" algn="l">
              <a:lnSpc>
                <a:spcPct val="155555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both superkeys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if no two customers can possibly have the same name</a:t>
            </a:r>
            <a:endParaRPr/>
          </a:p>
          <a:p>
            <a:pPr indent="0" lvl="0" marL="1100137" marR="0" rtl="0" algn="just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real life, an attribute such as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customer_id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be used instead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uniquely identify customers, but we omit it to keep our examples small, and instead assume customer names are unique.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1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1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1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1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1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1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1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1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1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1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1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1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1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1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1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1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1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1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1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327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Keys (Cont.)</a:t>
            </a:r>
            <a:endParaRPr/>
          </a:p>
        </p:txBody>
      </p:sp>
      <p:sp>
        <p:nvSpPr>
          <p:cNvPr id="659" name="Google Shape;659;p21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660" name="Google Shape;660;p21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661" name="Google Shape;661;p21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662" name="Google Shape;662;p21"/>
          <p:cNvSpPr txBox="1"/>
          <p:nvPr/>
        </p:nvSpPr>
        <p:spPr>
          <a:xfrm>
            <a:off x="892175" y="118745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63" name="Google Shape;663;p21"/>
          <p:cNvSpPr txBox="1"/>
          <p:nvPr/>
        </p:nvSpPr>
        <p:spPr>
          <a:xfrm>
            <a:off x="1235075" y="1233487"/>
            <a:ext cx="36433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candidate key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minimal</a:t>
            </a:r>
            <a:endParaRPr/>
          </a:p>
        </p:txBody>
      </p:sp>
      <p:sp>
        <p:nvSpPr>
          <p:cNvPr id="664" name="Google Shape;664;p21"/>
          <p:cNvSpPr txBox="1"/>
          <p:nvPr/>
        </p:nvSpPr>
        <p:spPr>
          <a:xfrm>
            <a:off x="1235075" y="1562100"/>
            <a:ext cx="7002462" cy="58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	{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is a candidate key for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since it is a superkey and no subset of it is a superkey.</a:t>
            </a:r>
            <a:endParaRPr/>
          </a:p>
        </p:txBody>
      </p:sp>
      <p:sp>
        <p:nvSpPr>
          <p:cNvPr id="665" name="Google Shape;665;p21"/>
          <p:cNvSpPr txBox="1"/>
          <p:nvPr/>
        </p:nvSpPr>
        <p:spPr>
          <a:xfrm>
            <a:off x="892175" y="2274887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66" name="Google Shape;666;p21"/>
          <p:cNvSpPr txBox="1"/>
          <p:nvPr/>
        </p:nvSpPr>
        <p:spPr>
          <a:xfrm>
            <a:off x="1235075" y="2319337"/>
            <a:ext cx="645318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Primary key: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candidate key chosen as the principal means of</a:t>
            </a:r>
            <a:endParaRPr/>
          </a:p>
        </p:txBody>
      </p:sp>
      <p:sp>
        <p:nvSpPr>
          <p:cNvPr id="667" name="Google Shape;667;p21"/>
          <p:cNvSpPr txBox="1"/>
          <p:nvPr/>
        </p:nvSpPr>
        <p:spPr>
          <a:xfrm>
            <a:off x="1235075" y="2649537"/>
            <a:ext cx="33702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identifying tuples within a relation</a:t>
            </a:r>
            <a:endParaRPr/>
          </a:p>
        </p:txBody>
      </p:sp>
      <p:sp>
        <p:nvSpPr>
          <p:cNvPr id="668" name="Google Shape;668;p21"/>
          <p:cNvSpPr txBox="1"/>
          <p:nvPr/>
        </p:nvSpPr>
        <p:spPr>
          <a:xfrm>
            <a:off x="1349375" y="30480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69" name="Google Shape;669;p21"/>
          <p:cNvSpPr txBox="1"/>
          <p:nvPr/>
        </p:nvSpPr>
        <p:spPr>
          <a:xfrm>
            <a:off x="1635125" y="3078162"/>
            <a:ext cx="62261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choose an attribute whose value never, or very rarely,</a:t>
            </a:r>
            <a:endParaRPr/>
          </a:p>
        </p:txBody>
      </p:sp>
      <p:sp>
        <p:nvSpPr>
          <p:cNvPr id="670" name="Google Shape;670;p21"/>
          <p:cNvSpPr txBox="1"/>
          <p:nvPr/>
        </p:nvSpPr>
        <p:spPr>
          <a:xfrm>
            <a:off x="1635125" y="3406775"/>
            <a:ext cx="9493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changes.</a:t>
            </a:r>
            <a:endParaRPr/>
          </a:p>
        </p:txBody>
      </p:sp>
      <p:sp>
        <p:nvSpPr>
          <p:cNvPr id="671" name="Google Shape;671;p21"/>
          <p:cNvSpPr txBox="1"/>
          <p:nvPr/>
        </p:nvSpPr>
        <p:spPr>
          <a:xfrm>
            <a:off x="1349375" y="38052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72" name="Google Shape;672;p21"/>
          <p:cNvSpPr txBox="1"/>
          <p:nvPr/>
        </p:nvSpPr>
        <p:spPr>
          <a:xfrm>
            <a:off x="1635125" y="3835400"/>
            <a:ext cx="46418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email address is unique, but may change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2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2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2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2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2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2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2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2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2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2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2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2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2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2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2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2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2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2385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Foreign Keys</a:t>
            </a:r>
            <a:endParaRPr/>
          </a:p>
        </p:txBody>
      </p:sp>
      <p:sp>
        <p:nvSpPr>
          <p:cNvPr id="704" name="Google Shape;704;p22"/>
          <p:cNvSpPr txBox="1"/>
          <p:nvPr/>
        </p:nvSpPr>
        <p:spPr>
          <a:xfrm>
            <a:off x="892175" y="11049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705" name="Google Shape;705;p22"/>
          <p:cNvSpPr txBox="1"/>
          <p:nvPr/>
        </p:nvSpPr>
        <p:spPr>
          <a:xfrm>
            <a:off x="1235075" y="1150937"/>
            <a:ext cx="73326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relation schema may have an attribute that corresponds to the primary</a:t>
            </a:r>
            <a:endParaRPr/>
          </a:p>
        </p:txBody>
      </p:sp>
      <p:sp>
        <p:nvSpPr>
          <p:cNvPr id="706" name="Google Shape;706;p22"/>
          <p:cNvSpPr txBox="1"/>
          <p:nvPr/>
        </p:nvSpPr>
        <p:spPr>
          <a:xfrm>
            <a:off x="1235075" y="1397000"/>
            <a:ext cx="6180137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of another relation.	The attribute is called a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707" name="Google Shape;707;p22"/>
          <p:cNvSpPr txBox="1"/>
          <p:nvPr/>
        </p:nvSpPr>
        <p:spPr>
          <a:xfrm>
            <a:off x="1349375" y="17129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708" name="Google Shape;708;p22"/>
          <p:cNvSpPr txBox="1"/>
          <p:nvPr/>
        </p:nvSpPr>
        <p:spPr>
          <a:xfrm>
            <a:off x="1635125" y="1743075"/>
            <a:ext cx="698817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account_number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endParaRPr/>
          </a:p>
        </p:txBody>
      </p:sp>
      <p:sp>
        <p:nvSpPr>
          <p:cNvPr id="709" name="Google Shape;709;p22"/>
          <p:cNvSpPr txBox="1"/>
          <p:nvPr/>
        </p:nvSpPr>
        <p:spPr>
          <a:xfrm>
            <a:off x="1635125" y="1989137"/>
            <a:ext cx="5149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foreign keys to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respectively.</a:t>
            </a:r>
            <a:endParaRPr/>
          </a:p>
        </p:txBody>
      </p:sp>
      <p:sp>
        <p:nvSpPr>
          <p:cNvPr id="710" name="Google Shape;710;p22"/>
          <p:cNvSpPr txBox="1"/>
          <p:nvPr/>
        </p:nvSpPr>
        <p:spPr>
          <a:xfrm>
            <a:off x="1349375" y="230663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711" name="Google Shape;711;p22"/>
          <p:cNvSpPr txBox="1"/>
          <p:nvPr/>
        </p:nvSpPr>
        <p:spPr>
          <a:xfrm>
            <a:off x="1635125" y="2336800"/>
            <a:ext cx="683577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values occurring in the primary key attribute of the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referenced</a:t>
            </a:r>
            <a:endParaRPr/>
          </a:p>
        </p:txBody>
      </p:sp>
      <p:sp>
        <p:nvSpPr>
          <p:cNvPr id="712" name="Google Shape;712;p22"/>
          <p:cNvSpPr txBox="1"/>
          <p:nvPr/>
        </p:nvSpPr>
        <p:spPr>
          <a:xfrm>
            <a:off x="1635125" y="2582862"/>
            <a:ext cx="6599237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occur in the foreign key attribute of the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referencing relation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713" name="Google Shape;713;p22"/>
          <p:cNvSpPr txBox="1"/>
          <p:nvPr/>
        </p:nvSpPr>
        <p:spPr>
          <a:xfrm>
            <a:off x="892175" y="313055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714" name="Google Shape;714;p22"/>
          <p:cNvSpPr txBox="1"/>
          <p:nvPr/>
        </p:nvSpPr>
        <p:spPr>
          <a:xfrm>
            <a:off x="1235075" y="3178175"/>
            <a:ext cx="1852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Schema diagram</a:t>
            </a:r>
            <a:endParaRPr/>
          </a:p>
        </p:txBody>
      </p:sp>
      <p:sp>
        <p:nvSpPr>
          <p:cNvPr id="715" name="Google Shape;715;p22"/>
          <p:cNvSpPr/>
          <p:nvPr/>
        </p:nvSpPr>
        <p:spPr>
          <a:xfrm>
            <a:off x="1047750" y="3562350"/>
            <a:ext cx="7034212" cy="2913062"/>
          </a:xfrm>
          <a:custGeom>
            <a:rect b="b" l="l" r="r" t="t"/>
            <a:pathLst>
              <a:path extrusionOk="0" h="2913379" w="7034530">
                <a:moveTo>
                  <a:pt x="3516629" y="2913375"/>
                </a:moveTo>
                <a:lnTo>
                  <a:pt x="0" y="2913375"/>
                </a:lnTo>
                <a:lnTo>
                  <a:pt x="0" y="0"/>
                </a:lnTo>
                <a:lnTo>
                  <a:pt x="7034540" y="0"/>
                </a:lnTo>
                <a:lnTo>
                  <a:pt x="7034540" y="2913375"/>
                </a:lnTo>
                <a:lnTo>
                  <a:pt x="3516629" y="291337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2"/>
          <p:cNvSpPr txBox="1"/>
          <p:nvPr/>
        </p:nvSpPr>
        <p:spPr>
          <a:xfrm>
            <a:off x="1066800" y="3581400"/>
            <a:ext cx="6997700" cy="28765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2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718" name="Google Shape;718;p22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719" name="Google Shape;719;p22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3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3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3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3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3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3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3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3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3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3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3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3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3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3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3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3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3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098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Query Languages</a:t>
            </a:r>
            <a:endParaRPr/>
          </a:p>
        </p:txBody>
      </p:sp>
      <p:sp>
        <p:nvSpPr>
          <p:cNvPr id="751" name="Google Shape;751;p23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752" name="Google Shape;752;p23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753" name="Google Shape;753;p23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754" name="Google Shape;754;p23"/>
          <p:cNvSpPr txBox="1"/>
          <p:nvPr/>
        </p:nvSpPr>
        <p:spPr>
          <a:xfrm>
            <a:off x="915987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755" name="Google Shape;755;p23"/>
          <p:cNvSpPr txBox="1"/>
          <p:nvPr/>
        </p:nvSpPr>
        <p:spPr>
          <a:xfrm>
            <a:off x="1258887" y="1162050"/>
            <a:ext cx="65293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Language in which user requests information from the database.</a:t>
            </a:r>
            <a:endParaRPr/>
          </a:p>
        </p:txBody>
      </p:sp>
      <p:sp>
        <p:nvSpPr>
          <p:cNvPr id="756" name="Google Shape;756;p23"/>
          <p:cNvSpPr txBox="1"/>
          <p:nvPr/>
        </p:nvSpPr>
        <p:spPr>
          <a:xfrm>
            <a:off x="915987" y="1490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757" name="Google Shape;757;p23"/>
          <p:cNvSpPr txBox="1"/>
          <p:nvPr/>
        </p:nvSpPr>
        <p:spPr>
          <a:xfrm>
            <a:off x="1258887" y="1536700"/>
            <a:ext cx="24955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Categories of languages</a:t>
            </a:r>
            <a:endParaRPr/>
          </a:p>
        </p:txBody>
      </p:sp>
      <p:sp>
        <p:nvSpPr>
          <p:cNvPr id="758" name="Google Shape;758;p23"/>
          <p:cNvSpPr txBox="1"/>
          <p:nvPr/>
        </p:nvSpPr>
        <p:spPr>
          <a:xfrm>
            <a:off x="1373187" y="188118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759" name="Google Shape;759;p23"/>
          <p:cNvSpPr txBox="1"/>
          <p:nvPr/>
        </p:nvSpPr>
        <p:spPr>
          <a:xfrm>
            <a:off x="1658937" y="1909762"/>
            <a:ext cx="11255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Procedural</a:t>
            </a:r>
            <a:endParaRPr/>
          </a:p>
        </p:txBody>
      </p:sp>
      <p:sp>
        <p:nvSpPr>
          <p:cNvPr id="760" name="Google Shape;760;p23"/>
          <p:cNvSpPr txBox="1"/>
          <p:nvPr/>
        </p:nvSpPr>
        <p:spPr>
          <a:xfrm>
            <a:off x="1373187" y="22542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761" name="Google Shape;761;p23"/>
          <p:cNvSpPr txBox="1"/>
          <p:nvPr/>
        </p:nvSpPr>
        <p:spPr>
          <a:xfrm>
            <a:off x="1658937" y="2284412"/>
            <a:ext cx="30908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Non-procedural, or declarative</a:t>
            </a:r>
            <a:endParaRPr/>
          </a:p>
        </p:txBody>
      </p:sp>
      <p:sp>
        <p:nvSpPr>
          <p:cNvPr id="762" name="Google Shape;762;p23"/>
          <p:cNvSpPr txBox="1"/>
          <p:nvPr/>
        </p:nvSpPr>
        <p:spPr>
          <a:xfrm>
            <a:off x="915987" y="26146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763" name="Google Shape;763;p23"/>
          <p:cNvSpPr txBox="1"/>
          <p:nvPr/>
        </p:nvSpPr>
        <p:spPr>
          <a:xfrm>
            <a:off x="1258887" y="2657475"/>
            <a:ext cx="18367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“Pure” languages:</a:t>
            </a:r>
            <a:endParaRPr/>
          </a:p>
        </p:txBody>
      </p:sp>
      <p:sp>
        <p:nvSpPr>
          <p:cNvPr id="764" name="Google Shape;764;p23"/>
          <p:cNvSpPr txBox="1"/>
          <p:nvPr/>
        </p:nvSpPr>
        <p:spPr>
          <a:xfrm>
            <a:off x="1373187" y="30019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765" name="Google Shape;765;p23"/>
          <p:cNvSpPr txBox="1"/>
          <p:nvPr/>
        </p:nvSpPr>
        <p:spPr>
          <a:xfrm>
            <a:off x="1658937" y="3032125"/>
            <a:ext cx="18605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 algebra</a:t>
            </a:r>
            <a:endParaRPr/>
          </a:p>
        </p:txBody>
      </p:sp>
      <p:sp>
        <p:nvSpPr>
          <p:cNvPr id="766" name="Google Shape;766;p23"/>
          <p:cNvSpPr txBox="1"/>
          <p:nvPr/>
        </p:nvSpPr>
        <p:spPr>
          <a:xfrm>
            <a:off x="1373187" y="33766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767" name="Google Shape;767;p23"/>
          <p:cNvSpPr txBox="1"/>
          <p:nvPr/>
        </p:nvSpPr>
        <p:spPr>
          <a:xfrm>
            <a:off x="1658937" y="3405187"/>
            <a:ext cx="24685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Tuple relational calculus</a:t>
            </a:r>
            <a:endParaRPr/>
          </a:p>
        </p:txBody>
      </p:sp>
      <p:sp>
        <p:nvSpPr>
          <p:cNvPr id="768" name="Google Shape;768;p23"/>
          <p:cNvSpPr txBox="1"/>
          <p:nvPr/>
        </p:nvSpPr>
        <p:spPr>
          <a:xfrm>
            <a:off x="1373187" y="37496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769" name="Google Shape;769;p23"/>
          <p:cNvSpPr txBox="1"/>
          <p:nvPr/>
        </p:nvSpPr>
        <p:spPr>
          <a:xfrm>
            <a:off x="1658937" y="3779837"/>
            <a:ext cx="26844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relational calculus</a:t>
            </a:r>
            <a:endParaRPr/>
          </a:p>
        </p:txBody>
      </p:sp>
      <p:sp>
        <p:nvSpPr>
          <p:cNvPr id="770" name="Google Shape;770;p23"/>
          <p:cNvSpPr txBox="1"/>
          <p:nvPr/>
        </p:nvSpPr>
        <p:spPr>
          <a:xfrm>
            <a:off x="915987" y="411003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771" name="Google Shape;771;p23"/>
          <p:cNvSpPr txBox="1"/>
          <p:nvPr/>
        </p:nvSpPr>
        <p:spPr>
          <a:xfrm>
            <a:off x="1258887" y="4154487"/>
            <a:ext cx="70469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Pure languages form underlying basis of query languages that people</a:t>
            </a:r>
            <a:endParaRPr/>
          </a:p>
        </p:txBody>
      </p:sp>
      <p:sp>
        <p:nvSpPr>
          <p:cNvPr id="772" name="Google Shape;772;p23"/>
          <p:cNvSpPr txBox="1"/>
          <p:nvPr/>
        </p:nvSpPr>
        <p:spPr>
          <a:xfrm>
            <a:off x="1258887" y="4427537"/>
            <a:ext cx="455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4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4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4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4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4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4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4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4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4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4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4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4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4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4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4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4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4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4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4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4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4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4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4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4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74161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Relational Algebra</a:t>
            </a:r>
            <a:endParaRPr/>
          </a:p>
        </p:txBody>
      </p:sp>
      <p:sp>
        <p:nvSpPr>
          <p:cNvPr id="804" name="Google Shape;804;p24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805" name="Google Shape;805;p24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806" name="Google Shape;806;p24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807" name="Google Shape;807;p24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808" name="Google Shape;808;p24"/>
          <p:cNvSpPr txBox="1"/>
          <p:nvPr/>
        </p:nvSpPr>
        <p:spPr>
          <a:xfrm>
            <a:off x="1217612" y="1162050"/>
            <a:ext cx="21288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Procedural language</a:t>
            </a:r>
            <a:endParaRPr/>
          </a:p>
        </p:txBody>
      </p:sp>
      <p:sp>
        <p:nvSpPr>
          <p:cNvPr id="809" name="Google Shape;809;p24"/>
          <p:cNvSpPr txBox="1"/>
          <p:nvPr/>
        </p:nvSpPr>
        <p:spPr>
          <a:xfrm>
            <a:off x="876300" y="1490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810" name="Google Shape;810;p24"/>
          <p:cNvSpPr txBox="1"/>
          <p:nvPr/>
        </p:nvSpPr>
        <p:spPr>
          <a:xfrm>
            <a:off x="1217612" y="1536700"/>
            <a:ext cx="19669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Six basic operators</a:t>
            </a:r>
            <a:endParaRPr/>
          </a:p>
        </p:txBody>
      </p:sp>
      <p:sp>
        <p:nvSpPr>
          <p:cNvPr id="811" name="Google Shape;811;p24"/>
          <p:cNvSpPr txBox="1"/>
          <p:nvPr/>
        </p:nvSpPr>
        <p:spPr>
          <a:xfrm>
            <a:off x="1333500" y="19589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812" name="Google Shape;812;p24"/>
          <p:cNvSpPr txBox="1"/>
          <p:nvPr/>
        </p:nvSpPr>
        <p:spPr>
          <a:xfrm>
            <a:off x="1617662" y="1954212"/>
            <a:ext cx="941387" cy="341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select: </a:t>
            </a:r>
            <a:r>
              <a:rPr b="0" i="0" lang="en-US" sz="25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endParaRPr/>
          </a:p>
        </p:txBody>
      </p:sp>
      <p:sp>
        <p:nvSpPr>
          <p:cNvPr id="813" name="Google Shape;813;p24"/>
          <p:cNvSpPr txBox="1"/>
          <p:nvPr/>
        </p:nvSpPr>
        <p:spPr>
          <a:xfrm>
            <a:off x="1333500" y="23796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814" name="Google Shape;814;p24"/>
          <p:cNvSpPr txBox="1"/>
          <p:nvPr/>
        </p:nvSpPr>
        <p:spPr>
          <a:xfrm>
            <a:off x="1617662" y="2408237"/>
            <a:ext cx="10271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project: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endParaRPr/>
          </a:p>
        </p:txBody>
      </p:sp>
      <p:sp>
        <p:nvSpPr>
          <p:cNvPr id="815" name="Google Shape;815;p24"/>
          <p:cNvSpPr txBox="1"/>
          <p:nvPr/>
        </p:nvSpPr>
        <p:spPr>
          <a:xfrm>
            <a:off x="1333500" y="27527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816" name="Google Shape;816;p24"/>
          <p:cNvSpPr txBox="1"/>
          <p:nvPr/>
        </p:nvSpPr>
        <p:spPr>
          <a:xfrm>
            <a:off x="1617662" y="2782887"/>
            <a:ext cx="885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union: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endParaRPr/>
          </a:p>
        </p:txBody>
      </p:sp>
      <p:sp>
        <p:nvSpPr>
          <p:cNvPr id="817" name="Google Shape;817;p24"/>
          <p:cNvSpPr txBox="1"/>
          <p:nvPr/>
        </p:nvSpPr>
        <p:spPr>
          <a:xfrm>
            <a:off x="1333500" y="31273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818" name="Google Shape;818;p24"/>
          <p:cNvSpPr txBox="1"/>
          <p:nvPr/>
        </p:nvSpPr>
        <p:spPr>
          <a:xfrm>
            <a:off x="1617662" y="3157537"/>
            <a:ext cx="1652587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difference: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sp>
        <p:nvSpPr>
          <p:cNvPr id="819" name="Google Shape;819;p24"/>
          <p:cNvSpPr txBox="1"/>
          <p:nvPr/>
        </p:nvSpPr>
        <p:spPr>
          <a:xfrm>
            <a:off x="1333500" y="35004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820" name="Google Shape;820;p24"/>
          <p:cNvSpPr txBox="1"/>
          <p:nvPr/>
        </p:nvSpPr>
        <p:spPr>
          <a:xfrm>
            <a:off x="1617662" y="3532187"/>
            <a:ext cx="20685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Cartesian product: x</a:t>
            </a:r>
            <a:endParaRPr/>
          </a:p>
        </p:txBody>
      </p:sp>
      <p:sp>
        <p:nvSpPr>
          <p:cNvPr id="821" name="Google Shape;821;p24"/>
          <p:cNvSpPr txBox="1"/>
          <p:nvPr/>
        </p:nvSpPr>
        <p:spPr>
          <a:xfrm>
            <a:off x="1333500" y="390048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822" name="Google Shape;822;p24"/>
          <p:cNvSpPr txBox="1"/>
          <p:nvPr/>
        </p:nvSpPr>
        <p:spPr>
          <a:xfrm>
            <a:off x="1617662" y="3916362"/>
            <a:ext cx="1068387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rename: </a:t>
            </a:r>
            <a:r>
              <a:rPr b="0" i="1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endParaRPr/>
          </a:p>
        </p:txBody>
      </p:sp>
      <p:sp>
        <p:nvSpPr>
          <p:cNvPr id="823" name="Google Shape;823;p24"/>
          <p:cNvSpPr txBox="1"/>
          <p:nvPr/>
        </p:nvSpPr>
        <p:spPr>
          <a:xfrm>
            <a:off x="876300" y="427672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824" name="Google Shape;824;p24"/>
          <p:cNvSpPr txBox="1"/>
          <p:nvPr/>
        </p:nvSpPr>
        <p:spPr>
          <a:xfrm>
            <a:off x="1217612" y="4321175"/>
            <a:ext cx="70405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operators take one or	two relations as inputs and produce a new</a:t>
            </a:r>
            <a:endParaRPr/>
          </a:p>
        </p:txBody>
      </p:sp>
      <p:sp>
        <p:nvSpPr>
          <p:cNvPr id="825" name="Google Shape;825;p24"/>
          <p:cNvSpPr txBox="1"/>
          <p:nvPr/>
        </p:nvSpPr>
        <p:spPr>
          <a:xfrm>
            <a:off x="1217612" y="4595812"/>
            <a:ext cx="19542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as a result.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5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5"/>
          <p:cNvSpPr/>
          <p:nvPr/>
        </p:nvSpPr>
        <p:spPr>
          <a:xfrm>
            <a:off x="5334000" y="1263650"/>
            <a:ext cx="3810000" cy="255587"/>
          </a:xfrm>
          <a:custGeom>
            <a:rect b="b" l="l" r="r" t="t"/>
            <a:pathLst>
              <a:path extrusionOk="0" h="255905" w="3810000">
                <a:moveTo>
                  <a:pt x="0" y="255531"/>
                </a:moveTo>
                <a:lnTo>
                  <a:pt x="3810000" y="255531"/>
                </a:lnTo>
                <a:lnTo>
                  <a:pt x="38100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5"/>
          <p:cNvSpPr/>
          <p:nvPr/>
        </p:nvSpPr>
        <p:spPr>
          <a:xfrm>
            <a:off x="0" y="1263650"/>
            <a:ext cx="3505200" cy="255587"/>
          </a:xfrm>
          <a:custGeom>
            <a:rect b="b" l="l" r="r" t="t"/>
            <a:pathLst>
              <a:path extrusionOk="0" h="255905" w="3505200">
                <a:moveTo>
                  <a:pt x="0" y="255531"/>
                </a:moveTo>
                <a:lnTo>
                  <a:pt x="3505199" y="255531"/>
                </a:lnTo>
                <a:lnTo>
                  <a:pt x="3505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5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5"/>
          <p:cNvSpPr/>
          <p:nvPr/>
        </p:nvSpPr>
        <p:spPr>
          <a:xfrm>
            <a:off x="5334000" y="1774825"/>
            <a:ext cx="3810000" cy="252412"/>
          </a:xfrm>
          <a:custGeom>
            <a:rect b="b" l="l" r="r" t="t"/>
            <a:pathLst>
              <a:path extrusionOk="0" h="252094" w="3810000">
                <a:moveTo>
                  <a:pt x="0" y="251960"/>
                </a:moveTo>
                <a:lnTo>
                  <a:pt x="3810000" y="251960"/>
                </a:lnTo>
                <a:lnTo>
                  <a:pt x="3810000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5"/>
          <p:cNvSpPr/>
          <p:nvPr/>
        </p:nvSpPr>
        <p:spPr>
          <a:xfrm>
            <a:off x="0" y="1774825"/>
            <a:ext cx="3505200" cy="252412"/>
          </a:xfrm>
          <a:custGeom>
            <a:rect b="b" l="l" r="r" t="t"/>
            <a:pathLst>
              <a:path extrusionOk="0" h="252094" w="3505200">
                <a:moveTo>
                  <a:pt x="0" y="251960"/>
                </a:moveTo>
                <a:lnTo>
                  <a:pt x="3505199" y="251960"/>
                </a:lnTo>
                <a:lnTo>
                  <a:pt x="350519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5"/>
          <p:cNvSpPr/>
          <p:nvPr/>
        </p:nvSpPr>
        <p:spPr>
          <a:xfrm>
            <a:off x="5334000" y="2027237"/>
            <a:ext cx="3810000" cy="255587"/>
          </a:xfrm>
          <a:custGeom>
            <a:rect b="b" l="l" r="r" t="t"/>
            <a:pathLst>
              <a:path extrusionOk="0" h="255905" w="3810000">
                <a:moveTo>
                  <a:pt x="0" y="255650"/>
                </a:moveTo>
                <a:lnTo>
                  <a:pt x="3810000" y="255650"/>
                </a:lnTo>
                <a:lnTo>
                  <a:pt x="381000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5"/>
          <p:cNvSpPr/>
          <p:nvPr/>
        </p:nvSpPr>
        <p:spPr>
          <a:xfrm>
            <a:off x="0" y="2027237"/>
            <a:ext cx="3505200" cy="255587"/>
          </a:xfrm>
          <a:custGeom>
            <a:rect b="b" l="l" r="r" t="t"/>
            <a:pathLst>
              <a:path extrusionOk="0" h="255905" w="3505200">
                <a:moveTo>
                  <a:pt x="0" y="255650"/>
                </a:moveTo>
                <a:lnTo>
                  <a:pt x="3505199" y="255650"/>
                </a:lnTo>
                <a:lnTo>
                  <a:pt x="35051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5"/>
          <p:cNvSpPr/>
          <p:nvPr/>
        </p:nvSpPr>
        <p:spPr>
          <a:xfrm>
            <a:off x="5334000" y="2282825"/>
            <a:ext cx="3810000" cy="255587"/>
          </a:xfrm>
          <a:custGeom>
            <a:rect b="b" l="l" r="r" t="t"/>
            <a:pathLst>
              <a:path extrusionOk="0" h="255905" w="3810000">
                <a:moveTo>
                  <a:pt x="0" y="255531"/>
                </a:moveTo>
                <a:lnTo>
                  <a:pt x="3810000" y="255531"/>
                </a:lnTo>
                <a:lnTo>
                  <a:pt x="38100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5"/>
          <p:cNvSpPr/>
          <p:nvPr/>
        </p:nvSpPr>
        <p:spPr>
          <a:xfrm>
            <a:off x="0" y="2282825"/>
            <a:ext cx="3505200" cy="255587"/>
          </a:xfrm>
          <a:custGeom>
            <a:rect b="b" l="l" r="r" t="t"/>
            <a:pathLst>
              <a:path extrusionOk="0" h="255905" w="3505200">
                <a:moveTo>
                  <a:pt x="0" y="255531"/>
                </a:moveTo>
                <a:lnTo>
                  <a:pt x="3505199" y="255531"/>
                </a:lnTo>
                <a:lnTo>
                  <a:pt x="3505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5"/>
          <p:cNvSpPr/>
          <p:nvPr/>
        </p:nvSpPr>
        <p:spPr>
          <a:xfrm>
            <a:off x="5334000" y="2538412"/>
            <a:ext cx="3810000" cy="252412"/>
          </a:xfrm>
          <a:custGeom>
            <a:rect b="b" l="l" r="r" t="t"/>
            <a:pathLst>
              <a:path extrusionOk="0" h="252730" w="3810000">
                <a:moveTo>
                  <a:pt x="0" y="252221"/>
                </a:moveTo>
                <a:lnTo>
                  <a:pt x="3810000" y="252221"/>
                </a:lnTo>
                <a:lnTo>
                  <a:pt x="381000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5"/>
          <p:cNvSpPr/>
          <p:nvPr/>
        </p:nvSpPr>
        <p:spPr>
          <a:xfrm>
            <a:off x="0" y="2538412"/>
            <a:ext cx="3505200" cy="252412"/>
          </a:xfrm>
          <a:custGeom>
            <a:rect b="b" l="l" r="r" t="t"/>
            <a:pathLst>
              <a:path extrusionOk="0" h="252730" w="3505200">
                <a:moveTo>
                  <a:pt x="0" y="252221"/>
                </a:moveTo>
                <a:lnTo>
                  <a:pt x="3505199" y="252221"/>
                </a:lnTo>
                <a:lnTo>
                  <a:pt x="35051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5"/>
          <p:cNvSpPr/>
          <p:nvPr/>
        </p:nvSpPr>
        <p:spPr>
          <a:xfrm>
            <a:off x="5334000" y="2790825"/>
            <a:ext cx="3810000" cy="255587"/>
          </a:xfrm>
          <a:custGeom>
            <a:rect b="b" l="l" r="r" t="t"/>
            <a:pathLst>
              <a:path extrusionOk="0" h="255905" w="3810000">
                <a:moveTo>
                  <a:pt x="0" y="255389"/>
                </a:moveTo>
                <a:lnTo>
                  <a:pt x="3810000" y="255389"/>
                </a:lnTo>
                <a:lnTo>
                  <a:pt x="3810000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5"/>
          <p:cNvSpPr/>
          <p:nvPr/>
        </p:nvSpPr>
        <p:spPr>
          <a:xfrm>
            <a:off x="0" y="2790825"/>
            <a:ext cx="3505200" cy="255587"/>
          </a:xfrm>
          <a:custGeom>
            <a:rect b="b" l="l" r="r" t="t"/>
            <a:pathLst>
              <a:path extrusionOk="0" h="255905" w="3505200">
                <a:moveTo>
                  <a:pt x="0" y="255389"/>
                </a:moveTo>
                <a:lnTo>
                  <a:pt x="3505199" y="255389"/>
                </a:lnTo>
                <a:lnTo>
                  <a:pt x="350519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5"/>
          <p:cNvSpPr/>
          <p:nvPr/>
        </p:nvSpPr>
        <p:spPr>
          <a:xfrm>
            <a:off x="5334000" y="3044825"/>
            <a:ext cx="3810000" cy="249237"/>
          </a:xfrm>
          <a:custGeom>
            <a:rect b="b" l="l" r="r" t="t"/>
            <a:pathLst>
              <a:path extrusionOk="0" h="248920" w="3810000">
                <a:moveTo>
                  <a:pt x="0" y="248792"/>
                </a:moveTo>
                <a:lnTo>
                  <a:pt x="3810000" y="248792"/>
                </a:lnTo>
                <a:lnTo>
                  <a:pt x="3810000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5"/>
          <p:cNvSpPr/>
          <p:nvPr/>
        </p:nvSpPr>
        <p:spPr>
          <a:xfrm>
            <a:off x="0" y="3044825"/>
            <a:ext cx="3505200" cy="249237"/>
          </a:xfrm>
          <a:custGeom>
            <a:rect b="b" l="l" r="r" t="t"/>
            <a:pathLst>
              <a:path extrusionOk="0" h="248920" w="3505200">
                <a:moveTo>
                  <a:pt x="0" y="248792"/>
                </a:moveTo>
                <a:lnTo>
                  <a:pt x="3505199" y="248792"/>
                </a:lnTo>
                <a:lnTo>
                  <a:pt x="3505199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5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5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5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5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5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5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5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5"/>
          <p:cNvSpPr/>
          <p:nvPr/>
        </p:nvSpPr>
        <p:spPr>
          <a:xfrm>
            <a:off x="5410200" y="5080000"/>
            <a:ext cx="3733800" cy="255587"/>
          </a:xfrm>
          <a:custGeom>
            <a:rect b="b" l="l" r="r" t="t"/>
            <a:pathLst>
              <a:path extrusionOk="0" h="254635" w="3733800">
                <a:moveTo>
                  <a:pt x="0" y="254174"/>
                </a:moveTo>
                <a:lnTo>
                  <a:pt x="3733800" y="254174"/>
                </a:lnTo>
                <a:lnTo>
                  <a:pt x="373380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5"/>
          <p:cNvSpPr/>
          <p:nvPr/>
        </p:nvSpPr>
        <p:spPr>
          <a:xfrm>
            <a:off x="0" y="5080000"/>
            <a:ext cx="3581400" cy="255587"/>
          </a:xfrm>
          <a:custGeom>
            <a:rect b="b" l="l" r="r" t="t"/>
            <a:pathLst>
              <a:path extrusionOk="0" h="254635" w="3581400">
                <a:moveTo>
                  <a:pt x="0" y="254174"/>
                </a:moveTo>
                <a:lnTo>
                  <a:pt x="3581399" y="254174"/>
                </a:lnTo>
                <a:lnTo>
                  <a:pt x="35813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5"/>
          <p:cNvSpPr/>
          <p:nvPr/>
        </p:nvSpPr>
        <p:spPr>
          <a:xfrm>
            <a:off x="5410200" y="5334000"/>
            <a:ext cx="3733800" cy="255587"/>
          </a:xfrm>
          <a:custGeom>
            <a:rect b="b" l="l" r="r" t="t"/>
            <a:pathLst>
              <a:path extrusionOk="0" h="254635" w="3733800">
                <a:moveTo>
                  <a:pt x="0" y="254150"/>
                </a:moveTo>
                <a:lnTo>
                  <a:pt x="3733800" y="254150"/>
                </a:lnTo>
                <a:lnTo>
                  <a:pt x="373380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5"/>
          <p:cNvSpPr/>
          <p:nvPr/>
        </p:nvSpPr>
        <p:spPr>
          <a:xfrm>
            <a:off x="0" y="5334000"/>
            <a:ext cx="3581400" cy="255587"/>
          </a:xfrm>
          <a:custGeom>
            <a:rect b="b" l="l" r="r" t="t"/>
            <a:pathLst>
              <a:path extrusionOk="0" h="254635" w="3581400">
                <a:moveTo>
                  <a:pt x="0" y="254150"/>
                </a:moveTo>
                <a:lnTo>
                  <a:pt x="3581399" y="254150"/>
                </a:lnTo>
                <a:lnTo>
                  <a:pt x="35813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5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5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5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5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5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5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5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5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84943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Select Operation – Example</a:t>
            </a:r>
            <a:endParaRPr/>
          </a:p>
        </p:txBody>
      </p:sp>
      <p:sp>
        <p:nvSpPr>
          <p:cNvPr id="866" name="Google Shape;866;p25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867" name="Google Shape;867;p25"/>
          <p:cNvSpPr txBox="1"/>
          <p:nvPr/>
        </p:nvSpPr>
        <p:spPr>
          <a:xfrm>
            <a:off x="1217612" y="1162050"/>
            <a:ext cx="10017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r</a:t>
            </a:r>
            <a:endParaRPr/>
          </a:p>
        </p:txBody>
      </p:sp>
      <p:sp>
        <p:nvSpPr>
          <p:cNvPr id="868" name="Google Shape;868;p25"/>
          <p:cNvSpPr/>
          <p:nvPr/>
        </p:nvSpPr>
        <p:spPr>
          <a:xfrm>
            <a:off x="3505200" y="12065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5"/>
          <p:cNvSpPr/>
          <p:nvPr/>
        </p:nvSpPr>
        <p:spPr>
          <a:xfrm>
            <a:off x="3962400" y="12065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5"/>
          <p:cNvSpPr/>
          <p:nvPr/>
        </p:nvSpPr>
        <p:spPr>
          <a:xfrm>
            <a:off x="4419600" y="12065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5"/>
          <p:cNvSpPr/>
          <p:nvPr/>
        </p:nvSpPr>
        <p:spPr>
          <a:xfrm>
            <a:off x="4876800" y="12065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5"/>
          <p:cNvSpPr/>
          <p:nvPr/>
        </p:nvSpPr>
        <p:spPr>
          <a:xfrm>
            <a:off x="3505200" y="17399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9" y="0"/>
                </a:moveTo>
                <a:lnTo>
                  <a:pt x="0" y="0"/>
                </a:lnTo>
                <a:lnTo>
                  <a:pt x="0" y="1676399"/>
                </a:lnTo>
                <a:lnTo>
                  <a:pt x="457199" y="1676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5"/>
          <p:cNvSpPr/>
          <p:nvPr/>
        </p:nvSpPr>
        <p:spPr>
          <a:xfrm>
            <a:off x="3962400" y="17399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9" y="0"/>
                </a:moveTo>
                <a:lnTo>
                  <a:pt x="0" y="0"/>
                </a:lnTo>
                <a:lnTo>
                  <a:pt x="0" y="1676399"/>
                </a:lnTo>
                <a:lnTo>
                  <a:pt x="457199" y="1676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5"/>
          <p:cNvSpPr/>
          <p:nvPr/>
        </p:nvSpPr>
        <p:spPr>
          <a:xfrm>
            <a:off x="4419600" y="17399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9" y="0"/>
                </a:moveTo>
                <a:lnTo>
                  <a:pt x="0" y="0"/>
                </a:lnTo>
                <a:lnTo>
                  <a:pt x="0" y="1676399"/>
                </a:lnTo>
                <a:lnTo>
                  <a:pt x="457199" y="1676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5"/>
          <p:cNvSpPr/>
          <p:nvPr/>
        </p:nvSpPr>
        <p:spPr>
          <a:xfrm>
            <a:off x="4876800" y="17399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9" y="0"/>
                </a:moveTo>
                <a:lnTo>
                  <a:pt x="0" y="0"/>
                </a:lnTo>
                <a:lnTo>
                  <a:pt x="0" y="1676399"/>
                </a:lnTo>
                <a:lnTo>
                  <a:pt x="457199" y="1676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5"/>
          <p:cNvSpPr txBox="1"/>
          <p:nvPr/>
        </p:nvSpPr>
        <p:spPr>
          <a:xfrm>
            <a:off x="944562" y="4024312"/>
            <a:ext cx="17494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8378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700"/>
              <a:buFont typeface="Noto Sans Symbols"/>
              <a:buNone/>
            </a:pPr>
            <a:r>
              <a:rPr b="0" baseline="30000" i="0" lang="en-US" sz="3700" u="none">
                <a:solidFill>
                  <a:srgbClr val="CC32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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A=B ^ D &gt; 5 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(r)</a:t>
            </a:r>
            <a:endParaRPr/>
          </a:p>
        </p:txBody>
      </p:sp>
      <p:sp>
        <p:nvSpPr>
          <p:cNvPr id="877" name="Google Shape;877;p25"/>
          <p:cNvSpPr/>
          <p:nvPr/>
        </p:nvSpPr>
        <p:spPr>
          <a:xfrm>
            <a:off x="3581400" y="4330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5"/>
          <p:cNvSpPr/>
          <p:nvPr/>
        </p:nvSpPr>
        <p:spPr>
          <a:xfrm>
            <a:off x="3581400" y="4330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5"/>
          <p:cNvSpPr/>
          <p:nvPr/>
        </p:nvSpPr>
        <p:spPr>
          <a:xfrm>
            <a:off x="4038600" y="4330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5"/>
          <p:cNvSpPr/>
          <p:nvPr/>
        </p:nvSpPr>
        <p:spPr>
          <a:xfrm>
            <a:off x="4038600" y="4330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5"/>
          <p:cNvSpPr/>
          <p:nvPr/>
        </p:nvSpPr>
        <p:spPr>
          <a:xfrm>
            <a:off x="4495800" y="4330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5"/>
          <p:cNvSpPr/>
          <p:nvPr/>
        </p:nvSpPr>
        <p:spPr>
          <a:xfrm>
            <a:off x="4495800" y="4330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5"/>
          <p:cNvSpPr/>
          <p:nvPr/>
        </p:nvSpPr>
        <p:spPr>
          <a:xfrm>
            <a:off x="4953000" y="4330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5"/>
          <p:cNvSpPr/>
          <p:nvPr/>
        </p:nvSpPr>
        <p:spPr>
          <a:xfrm>
            <a:off x="4953000" y="4330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5"/>
          <p:cNvSpPr txBox="1"/>
          <p:nvPr/>
        </p:nvSpPr>
        <p:spPr>
          <a:xfrm>
            <a:off x="3721100" y="4460875"/>
            <a:ext cx="15557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	C	D</a:t>
            </a:r>
            <a:endParaRPr/>
          </a:p>
        </p:txBody>
      </p:sp>
      <p:sp>
        <p:nvSpPr>
          <p:cNvPr id="886" name="Google Shape;886;p25"/>
          <p:cNvSpPr/>
          <p:nvPr/>
        </p:nvSpPr>
        <p:spPr>
          <a:xfrm>
            <a:off x="3581400" y="4864100"/>
            <a:ext cx="457200" cy="914400"/>
          </a:xfrm>
          <a:custGeom>
            <a:rect b="b" l="l" r="r" t="t"/>
            <a:pathLst>
              <a:path extrusionOk="0" h="914400" w="457200">
                <a:moveTo>
                  <a:pt x="457199" y="0"/>
                </a:moveTo>
                <a:lnTo>
                  <a:pt x="0" y="0"/>
                </a:lnTo>
                <a:lnTo>
                  <a:pt x="0" y="914399"/>
                </a:lnTo>
                <a:lnTo>
                  <a:pt x="457199" y="914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5"/>
          <p:cNvSpPr/>
          <p:nvPr/>
        </p:nvSpPr>
        <p:spPr>
          <a:xfrm>
            <a:off x="4038600" y="4864100"/>
            <a:ext cx="457200" cy="914400"/>
          </a:xfrm>
          <a:custGeom>
            <a:rect b="b" l="l" r="r" t="t"/>
            <a:pathLst>
              <a:path extrusionOk="0" h="914400" w="457200">
                <a:moveTo>
                  <a:pt x="457199" y="0"/>
                </a:moveTo>
                <a:lnTo>
                  <a:pt x="0" y="0"/>
                </a:lnTo>
                <a:lnTo>
                  <a:pt x="0" y="914399"/>
                </a:lnTo>
                <a:lnTo>
                  <a:pt x="457199" y="914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5"/>
          <p:cNvSpPr/>
          <p:nvPr/>
        </p:nvSpPr>
        <p:spPr>
          <a:xfrm>
            <a:off x="4495800" y="4864100"/>
            <a:ext cx="457200" cy="914400"/>
          </a:xfrm>
          <a:custGeom>
            <a:rect b="b" l="l" r="r" t="t"/>
            <a:pathLst>
              <a:path extrusionOk="0" h="914400" w="457200">
                <a:moveTo>
                  <a:pt x="457199" y="0"/>
                </a:moveTo>
                <a:lnTo>
                  <a:pt x="0" y="0"/>
                </a:lnTo>
                <a:lnTo>
                  <a:pt x="0" y="914399"/>
                </a:lnTo>
                <a:lnTo>
                  <a:pt x="457199" y="914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5"/>
          <p:cNvSpPr/>
          <p:nvPr/>
        </p:nvSpPr>
        <p:spPr>
          <a:xfrm>
            <a:off x="4953000" y="4864100"/>
            <a:ext cx="457200" cy="914400"/>
          </a:xfrm>
          <a:custGeom>
            <a:rect b="b" l="l" r="r" t="t"/>
            <a:pathLst>
              <a:path extrusionOk="0" h="914400" w="457200">
                <a:moveTo>
                  <a:pt x="457199" y="0"/>
                </a:moveTo>
                <a:lnTo>
                  <a:pt x="0" y="0"/>
                </a:lnTo>
                <a:lnTo>
                  <a:pt x="0" y="914399"/>
                </a:lnTo>
                <a:lnTo>
                  <a:pt x="457199" y="914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5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891" name="Google Shape;891;p25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892" name="Google Shape;892;p25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graphicFrame>
        <p:nvGraphicFramePr>
          <p:cNvPr id="893" name="Google Shape;893;p25"/>
          <p:cNvGraphicFramePr/>
          <p:nvPr/>
        </p:nvGraphicFramePr>
        <p:xfrm>
          <a:off x="3500437" y="1201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457200"/>
                <a:gridCol w="457200"/>
                <a:gridCol w="457200"/>
                <a:gridCol w="457200"/>
              </a:tblGrid>
              <a:tr h="457200"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4" name="Google Shape;894;p25"/>
          <p:cNvGraphicFramePr/>
          <p:nvPr/>
        </p:nvGraphicFramePr>
        <p:xfrm>
          <a:off x="3500437" y="1735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457200"/>
                <a:gridCol w="457200"/>
                <a:gridCol w="457200"/>
                <a:gridCol w="457200"/>
              </a:tblGrid>
              <a:tr h="522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968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68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68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5" name="Google Shape;895;p25"/>
          <p:cNvGraphicFramePr/>
          <p:nvPr/>
        </p:nvGraphicFramePr>
        <p:xfrm>
          <a:off x="3576637" y="4859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457200"/>
                <a:gridCol w="457200"/>
                <a:gridCol w="457200"/>
                <a:gridCol w="457200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6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6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6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6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6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6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6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6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6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6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6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6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6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6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6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6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6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6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6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6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6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6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6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6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6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6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9098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Select Operation</a:t>
            </a:r>
            <a:endParaRPr/>
          </a:p>
        </p:txBody>
      </p:sp>
      <p:sp>
        <p:nvSpPr>
          <p:cNvPr id="927" name="Google Shape;927;p26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928" name="Google Shape;928;p26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929" name="Google Shape;929;p26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930" name="Google Shape;930;p26"/>
          <p:cNvSpPr txBox="1"/>
          <p:nvPr/>
        </p:nvSpPr>
        <p:spPr>
          <a:xfrm>
            <a:off x="874712" y="1106487"/>
            <a:ext cx="1739900" cy="28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8"/>
              <a:buFont typeface="MS Gothic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Notation:  </a:t>
            </a:r>
            <a:r>
              <a:rPr b="0" i="1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-2500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931" name="Google Shape;931;p26"/>
          <p:cNvSpPr txBox="1"/>
          <p:nvPr/>
        </p:nvSpPr>
        <p:spPr>
          <a:xfrm>
            <a:off x="874712" y="1430337"/>
            <a:ext cx="16510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932" name="Google Shape;932;p26"/>
          <p:cNvSpPr txBox="1"/>
          <p:nvPr/>
        </p:nvSpPr>
        <p:spPr>
          <a:xfrm>
            <a:off x="1217612" y="1470025"/>
            <a:ext cx="316071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called the </a:t>
            </a:r>
            <a:r>
              <a:rPr b="1" i="0" lang="en-US" sz="16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selection predicate</a:t>
            </a:r>
            <a:endParaRPr/>
          </a:p>
        </p:txBody>
      </p:sp>
      <p:sp>
        <p:nvSpPr>
          <p:cNvPr id="933" name="Google Shape;933;p26"/>
          <p:cNvSpPr txBox="1"/>
          <p:nvPr/>
        </p:nvSpPr>
        <p:spPr>
          <a:xfrm>
            <a:off x="874712" y="1736725"/>
            <a:ext cx="165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934" name="Google Shape;934;p26"/>
          <p:cNvSpPr txBox="1"/>
          <p:nvPr/>
        </p:nvSpPr>
        <p:spPr>
          <a:xfrm>
            <a:off x="1217612" y="1778000"/>
            <a:ext cx="105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as:</a:t>
            </a:r>
            <a:endParaRPr/>
          </a:p>
        </p:txBody>
      </p:sp>
      <p:sp>
        <p:nvSpPr>
          <p:cNvPr id="935" name="Google Shape;935;p26"/>
          <p:cNvSpPr txBox="1"/>
          <p:nvPr/>
        </p:nvSpPr>
        <p:spPr>
          <a:xfrm>
            <a:off x="1217612" y="2208212"/>
            <a:ext cx="5910262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8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1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-2500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{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p(t)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138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843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formula in propositional calculus consisting of </a:t>
            </a:r>
            <a:r>
              <a:rPr b="1" i="0" lang="en-US" sz="16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terms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84300" marR="0" rtl="0" algn="l">
              <a:lnSpc>
                <a:spcPct val="10625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by :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Each </a:t>
            </a:r>
            <a:r>
              <a:rPr b="1" i="0" lang="en-US" sz="16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term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one of:</a:t>
            </a:r>
            <a:endParaRPr/>
          </a:p>
        </p:txBody>
      </p:sp>
      <p:sp>
        <p:nvSpPr>
          <p:cNvPr id="936" name="Google Shape;936;p26"/>
          <p:cNvSpPr txBox="1"/>
          <p:nvPr/>
        </p:nvSpPr>
        <p:spPr>
          <a:xfrm>
            <a:off x="1157287" y="3565525"/>
            <a:ext cx="3106737" cy="538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890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&lt;attribute&gt;	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8906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one of:  =,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&gt;,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&lt;.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endParaRPr/>
          </a:p>
        </p:txBody>
      </p:sp>
      <p:sp>
        <p:nvSpPr>
          <p:cNvPr id="937" name="Google Shape;937;p26"/>
          <p:cNvSpPr txBox="1"/>
          <p:nvPr/>
        </p:nvSpPr>
        <p:spPr>
          <a:xfrm>
            <a:off x="4300537" y="3565525"/>
            <a:ext cx="2295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&lt;attribute&gt; or &lt;constant&gt;</a:t>
            </a:r>
            <a:endParaRPr/>
          </a:p>
        </p:txBody>
      </p:sp>
      <p:sp>
        <p:nvSpPr>
          <p:cNvPr id="938" name="Google Shape;938;p26"/>
          <p:cNvSpPr txBox="1"/>
          <p:nvPr/>
        </p:nvSpPr>
        <p:spPr>
          <a:xfrm>
            <a:off x="874712" y="4359275"/>
            <a:ext cx="165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939" name="Google Shape;939;p26"/>
          <p:cNvSpPr txBox="1"/>
          <p:nvPr/>
        </p:nvSpPr>
        <p:spPr>
          <a:xfrm>
            <a:off x="1217612" y="4400550"/>
            <a:ext cx="19573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of selection:</a:t>
            </a:r>
            <a:endParaRPr/>
          </a:p>
        </p:txBody>
      </p:sp>
      <p:sp>
        <p:nvSpPr>
          <p:cNvPr id="940" name="Google Shape;940;p26"/>
          <p:cNvSpPr txBox="1"/>
          <p:nvPr/>
        </p:nvSpPr>
        <p:spPr>
          <a:xfrm>
            <a:off x="2533650" y="4830762"/>
            <a:ext cx="2463800" cy="265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baseline="30000" i="1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baseline="30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branch_name=“Perryridge”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7"/>
          <p:cNvSpPr/>
          <p:nvPr/>
        </p:nvSpPr>
        <p:spPr>
          <a:xfrm>
            <a:off x="4445000" y="1008062"/>
            <a:ext cx="4699000" cy="255587"/>
          </a:xfrm>
          <a:custGeom>
            <a:rect b="b" l="l" r="r" t="t"/>
            <a:pathLst>
              <a:path extrusionOk="0" h="255905" w="4699000">
                <a:moveTo>
                  <a:pt x="0" y="255650"/>
                </a:moveTo>
                <a:lnTo>
                  <a:pt x="4699010" y="255650"/>
                </a:lnTo>
                <a:lnTo>
                  <a:pt x="469901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7"/>
          <p:cNvSpPr/>
          <p:nvPr/>
        </p:nvSpPr>
        <p:spPr>
          <a:xfrm>
            <a:off x="0" y="1008062"/>
            <a:ext cx="3073400" cy="255587"/>
          </a:xfrm>
          <a:custGeom>
            <a:rect b="b" l="l" r="r" t="t"/>
            <a:pathLst>
              <a:path extrusionOk="0" h="255905" w="3073400">
                <a:moveTo>
                  <a:pt x="0" y="255650"/>
                </a:moveTo>
                <a:lnTo>
                  <a:pt x="3073389" y="255650"/>
                </a:lnTo>
                <a:lnTo>
                  <a:pt x="307338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7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7"/>
          <p:cNvSpPr/>
          <p:nvPr/>
        </p:nvSpPr>
        <p:spPr>
          <a:xfrm>
            <a:off x="4445000" y="1519237"/>
            <a:ext cx="4699000" cy="255587"/>
          </a:xfrm>
          <a:custGeom>
            <a:rect b="b" l="l" r="r" t="t"/>
            <a:pathLst>
              <a:path extrusionOk="0" h="255905" w="4699000">
                <a:moveTo>
                  <a:pt x="0" y="255650"/>
                </a:moveTo>
                <a:lnTo>
                  <a:pt x="4699010" y="255650"/>
                </a:lnTo>
                <a:lnTo>
                  <a:pt x="469901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7"/>
          <p:cNvSpPr/>
          <p:nvPr/>
        </p:nvSpPr>
        <p:spPr>
          <a:xfrm>
            <a:off x="0" y="1519237"/>
            <a:ext cx="3073400" cy="255587"/>
          </a:xfrm>
          <a:custGeom>
            <a:rect b="b" l="l" r="r" t="t"/>
            <a:pathLst>
              <a:path extrusionOk="0" h="255905" w="3073400">
                <a:moveTo>
                  <a:pt x="0" y="255650"/>
                </a:moveTo>
                <a:lnTo>
                  <a:pt x="3073389" y="255650"/>
                </a:lnTo>
                <a:lnTo>
                  <a:pt x="307338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7"/>
          <p:cNvSpPr/>
          <p:nvPr/>
        </p:nvSpPr>
        <p:spPr>
          <a:xfrm>
            <a:off x="4445000" y="1774825"/>
            <a:ext cx="4699000" cy="252412"/>
          </a:xfrm>
          <a:custGeom>
            <a:rect b="b" l="l" r="r" t="t"/>
            <a:pathLst>
              <a:path extrusionOk="0" h="252094" w="4699000">
                <a:moveTo>
                  <a:pt x="0" y="251960"/>
                </a:moveTo>
                <a:lnTo>
                  <a:pt x="4699010" y="251960"/>
                </a:lnTo>
                <a:lnTo>
                  <a:pt x="4699010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7"/>
          <p:cNvSpPr/>
          <p:nvPr/>
        </p:nvSpPr>
        <p:spPr>
          <a:xfrm>
            <a:off x="0" y="1774825"/>
            <a:ext cx="3073400" cy="252412"/>
          </a:xfrm>
          <a:custGeom>
            <a:rect b="b" l="l" r="r" t="t"/>
            <a:pathLst>
              <a:path extrusionOk="0" h="252094" w="3073400">
                <a:moveTo>
                  <a:pt x="0" y="251960"/>
                </a:moveTo>
                <a:lnTo>
                  <a:pt x="3073389" y="251960"/>
                </a:lnTo>
                <a:lnTo>
                  <a:pt x="307338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7"/>
          <p:cNvSpPr/>
          <p:nvPr/>
        </p:nvSpPr>
        <p:spPr>
          <a:xfrm>
            <a:off x="4445000" y="2027237"/>
            <a:ext cx="4699000" cy="255587"/>
          </a:xfrm>
          <a:custGeom>
            <a:rect b="b" l="l" r="r" t="t"/>
            <a:pathLst>
              <a:path extrusionOk="0" h="255905" w="4699000">
                <a:moveTo>
                  <a:pt x="0" y="255650"/>
                </a:moveTo>
                <a:lnTo>
                  <a:pt x="4699010" y="255650"/>
                </a:lnTo>
                <a:lnTo>
                  <a:pt x="469901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7"/>
          <p:cNvSpPr/>
          <p:nvPr/>
        </p:nvSpPr>
        <p:spPr>
          <a:xfrm>
            <a:off x="0" y="2027237"/>
            <a:ext cx="3073400" cy="255587"/>
          </a:xfrm>
          <a:custGeom>
            <a:rect b="b" l="l" r="r" t="t"/>
            <a:pathLst>
              <a:path extrusionOk="0" h="255905" w="3073400">
                <a:moveTo>
                  <a:pt x="0" y="255650"/>
                </a:moveTo>
                <a:lnTo>
                  <a:pt x="3073389" y="255650"/>
                </a:lnTo>
                <a:lnTo>
                  <a:pt x="307338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7"/>
          <p:cNvSpPr/>
          <p:nvPr/>
        </p:nvSpPr>
        <p:spPr>
          <a:xfrm>
            <a:off x="4445000" y="2282825"/>
            <a:ext cx="4699000" cy="255587"/>
          </a:xfrm>
          <a:custGeom>
            <a:rect b="b" l="l" r="r" t="t"/>
            <a:pathLst>
              <a:path extrusionOk="0" h="255905" w="4699000">
                <a:moveTo>
                  <a:pt x="0" y="255531"/>
                </a:moveTo>
                <a:lnTo>
                  <a:pt x="4699010" y="255531"/>
                </a:lnTo>
                <a:lnTo>
                  <a:pt x="469901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7"/>
          <p:cNvSpPr/>
          <p:nvPr/>
        </p:nvSpPr>
        <p:spPr>
          <a:xfrm>
            <a:off x="0" y="2282825"/>
            <a:ext cx="3073400" cy="255587"/>
          </a:xfrm>
          <a:custGeom>
            <a:rect b="b" l="l" r="r" t="t"/>
            <a:pathLst>
              <a:path extrusionOk="0" h="255905" w="3073400">
                <a:moveTo>
                  <a:pt x="0" y="255531"/>
                </a:moveTo>
                <a:lnTo>
                  <a:pt x="3073389" y="255531"/>
                </a:lnTo>
                <a:lnTo>
                  <a:pt x="307338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7"/>
          <p:cNvSpPr/>
          <p:nvPr/>
        </p:nvSpPr>
        <p:spPr>
          <a:xfrm>
            <a:off x="4445000" y="2538412"/>
            <a:ext cx="4699000" cy="252412"/>
          </a:xfrm>
          <a:custGeom>
            <a:rect b="b" l="l" r="r" t="t"/>
            <a:pathLst>
              <a:path extrusionOk="0" h="252730" w="4699000">
                <a:moveTo>
                  <a:pt x="0" y="252221"/>
                </a:moveTo>
                <a:lnTo>
                  <a:pt x="4699010" y="252221"/>
                </a:lnTo>
                <a:lnTo>
                  <a:pt x="469901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7"/>
          <p:cNvSpPr/>
          <p:nvPr/>
        </p:nvSpPr>
        <p:spPr>
          <a:xfrm>
            <a:off x="0" y="2538412"/>
            <a:ext cx="3073400" cy="252412"/>
          </a:xfrm>
          <a:custGeom>
            <a:rect b="b" l="l" r="r" t="t"/>
            <a:pathLst>
              <a:path extrusionOk="0" h="252730" w="3073400">
                <a:moveTo>
                  <a:pt x="0" y="252221"/>
                </a:moveTo>
                <a:lnTo>
                  <a:pt x="3073389" y="252221"/>
                </a:lnTo>
                <a:lnTo>
                  <a:pt x="307338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7"/>
          <p:cNvSpPr/>
          <p:nvPr/>
        </p:nvSpPr>
        <p:spPr>
          <a:xfrm>
            <a:off x="4445000" y="2790825"/>
            <a:ext cx="4699000" cy="255587"/>
          </a:xfrm>
          <a:custGeom>
            <a:rect b="b" l="l" r="r" t="t"/>
            <a:pathLst>
              <a:path extrusionOk="0" h="255905" w="4699000">
                <a:moveTo>
                  <a:pt x="0" y="255389"/>
                </a:moveTo>
                <a:lnTo>
                  <a:pt x="4699010" y="255389"/>
                </a:lnTo>
                <a:lnTo>
                  <a:pt x="4699010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7"/>
          <p:cNvSpPr/>
          <p:nvPr/>
        </p:nvSpPr>
        <p:spPr>
          <a:xfrm>
            <a:off x="0" y="2790825"/>
            <a:ext cx="3073400" cy="255587"/>
          </a:xfrm>
          <a:custGeom>
            <a:rect b="b" l="l" r="r" t="t"/>
            <a:pathLst>
              <a:path extrusionOk="0" h="255905" w="3073400">
                <a:moveTo>
                  <a:pt x="0" y="255389"/>
                </a:moveTo>
                <a:lnTo>
                  <a:pt x="3073389" y="255389"/>
                </a:lnTo>
                <a:lnTo>
                  <a:pt x="307338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7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7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7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7"/>
          <p:cNvSpPr/>
          <p:nvPr/>
        </p:nvSpPr>
        <p:spPr>
          <a:xfrm>
            <a:off x="4978400" y="3810000"/>
            <a:ext cx="4165600" cy="254000"/>
          </a:xfrm>
          <a:custGeom>
            <a:rect b="b" l="l" r="r" t="t"/>
            <a:pathLst>
              <a:path extrusionOk="0" h="254000" w="4165600">
                <a:moveTo>
                  <a:pt x="0" y="253805"/>
                </a:moveTo>
                <a:lnTo>
                  <a:pt x="4165610" y="253805"/>
                </a:lnTo>
                <a:lnTo>
                  <a:pt x="4165610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7"/>
          <p:cNvSpPr/>
          <p:nvPr/>
        </p:nvSpPr>
        <p:spPr>
          <a:xfrm>
            <a:off x="3454400" y="3810000"/>
            <a:ext cx="609600" cy="254000"/>
          </a:xfrm>
          <a:custGeom>
            <a:rect b="b" l="l" r="r" t="t"/>
            <a:pathLst>
              <a:path extrusionOk="0" h="254000" w="609600">
                <a:moveTo>
                  <a:pt x="0" y="253805"/>
                </a:moveTo>
                <a:lnTo>
                  <a:pt x="609599" y="253805"/>
                </a:lnTo>
                <a:lnTo>
                  <a:pt x="609599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7"/>
          <p:cNvSpPr/>
          <p:nvPr/>
        </p:nvSpPr>
        <p:spPr>
          <a:xfrm>
            <a:off x="0" y="3810000"/>
            <a:ext cx="2540000" cy="254000"/>
          </a:xfrm>
          <a:custGeom>
            <a:rect b="b" l="l" r="r" t="t"/>
            <a:pathLst>
              <a:path extrusionOk="0" h="254000" w="2540000">
                <a:moveTo>
                  <a:pt x="0" y="253805"/>
                </a:moveTo>
                <a:lnTo>
                  <a:pt x="2539995" y="253805"/>
                </a:lnTo>
                <a:lnTo>
                  <a:pt x="2539995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7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7"/>
          <p:cNvSpPr/>
          <p:nvPr/>
        </p:nvSpPr>
        <p:spPr>
          <a:xfrm>
            <a:off x="4978400" y="4318000"/>
            <a:ext cx="4165600" cy="255587"/>
          </a:xfrm>
          <a:custGeom>
            <a:rect b="b" l="l" r="r" t="t"/>
            <a:pathLst>
              <a:path extrusionOk="0" h="254635" w="4165600">
                <a:moveTo>
                  <a:pt x="0" y="254150"/>
                </a:moveTo>
                <a:lnTo>
                  <a:pt x="4165610" y="254150"/>
                </a:lnTo>
                <a:lnTo>
                  <a:pt x="416561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7"/>
          <p:cNvSpPr/>
          <p:nvPr/>
        </p:nvSpPr>
        <p:spPr>
          <a:xfrm>
            <a:off x="3454400" y="4318000"/>
            <a:ext cx="609600" cy="255587"/>
          </a:xfrm>
          <a:custGeom>
            <a:rect b="b" l="l" r="r" t="t"/>
            <a:pathLst>
              <a:path extrusionOk="0" h="254635" w="609600">
                <a:moveTo>
                  <a:pt x="0" y="254150"/>
                </a:moveTo>
                <a:lnTo>
                  <a:pt x="609599" y="254150"/>
                </a:lnTo>
                <a:lnTo>
                  <a:pt x="6095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7"/>
          <p:cNvSpPr/>
          <p:nvPr/>
        </p:nvSpPr>
        <p:spPr>
          <a:xfrm>
            <a:off x="0" y="4318000"/>
            <a:ext cx="2540000" cy="255587"/>
          </a:xfrm>
          <a:custGeom>
            <a:rect b="b" l="l" r="r" t="t"/>
            <a:pathLst>
              <a:path extrusionOk="0" h="254635" w="2540000">
                <a:moveTo>
                  <a:pt x="0" y="254150"/>
                </a:moveTo>
                <a:lnTo>
                  <a:pt x="2539995" y="254150"/>
                </a:lnTo>
                <a:lnTo>
                  <a:pt x="2539995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7"/>
          <p:cNvSpPr/>
          <p:nvPr/>
        </p:nvSpPr>
        <p:spPr>
          <a:xfrm>
            <a:off x="4978400" y="4572000"/>
            <a:ext cx="4165600" cy="255587"/>
          </a:xfrm>
          <a:custGeom>
            <a:rect b="b" l="l" r="r" t="t"/>
            <a:pathLst>
              <a:path extrusionOk="0" h="254635" w="4165600">
                <a:moveTo>
                  <a:pt x="0" y="254162"/>
                </a:moveTo>
                <a:lnTo>
                  <a:pt x="4165610" y="254162"/>
                </a:lnTo>
                <a:lnTo>
                  <a:pt x="416561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7"/>
          <p:cNvSpPr/>
          <p:nvPr/>
        </p:nvSpPr>
        <p:spPr>
          <a:xfrm>
            <a:off x="3454400" y="4572000"/>
            <a:ext cx="609600" cy="255587"/>
          </a:xfrm>
          <a:custGeom>
            <a:rect b="b" l="l" r="r" t="t"/>
            <a:pathLst>
              <a:path extrusionOk="0" h="254635" w="609600">
                <a:moveTo>
                  <a:pt x="0" y="254162"/>
                </a:moveTo>
                <a:lnTo>
                  <a:pt x="609599" y="254162"/>
                </a:lnTo>
                <a:lnTo>
                  <a:pt x="6095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7"/>
          <p:cNvSpPr/>
          <p:nvPr/>
        </p:nvSpPr>
        <p:spPr>
          <a:xfrm>
            <a:off x="0" y="4572000"/>
            <a:ext cx="2540000" cy="255587"/>
          </a:xfrm>
          <a:custGeom>
            <a:rect b="b" l="l" r="r" t="t"/>
            <a:pathLst>
              <a:path extrusionOk="0" h="254635" w="2540000">
                <a:moveTo>
                  <a:pt x="0" y="254162"/>
                </a:moveTo>
                <a:lnTo>
                  <a:pt x="2539995" y="254162"/>
                </a:lnTo>
                <a:lnTo>
                  <a:pt x="2539995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7"/>
          <p:cNvSpPr/>
          <p:nvPr/>
        </p:nvSpPr>
        <p:spPr>
          <a:xfrm>
            <a:off x="4978400" y="4826000"/>
            <a:ext cx="4165600" cy="254000"/>
          </a:xfrm>
          <a:custGeom>
            <a:rect b="b" l="l" r="r" t="t"/>
            <a:pathLst>
              <a:path extrusionOk="0" h="254000" w="4165600">
                <a:moveTo>
                  <a:pt x="0" y="253793"/>
                </a:moveTo>
                <a:lnTo>
                  <a:pt x="4165610" y="253793"/>
                </a:lnTo>
                <a:lnTo>
                  <a:pt x="416561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7"/>
          <p:cNvSpPr/>
          <p:nvPr/>
        </p:nvSpPr>
        <p:spPr>
          <a:xfrm>
            <a:off x="3454400" y="4826000"/>
            <a:ext cx="609600" cy="254000"/>
          </a:xfrm>
          <a:custGeom>
            <a:rect b="b" l="l" r="r" t="t"/>
            <a:pathLst>
              <a:path extrusionOk="0" h="254000" w="609600">
                <a:moveTo>
                  <a:pt x="0" y="253793"/>
                </a:moveTo>
                <a:lnTo>
                  <a:pt x="609599" y="253793"/>
                </a:lnTo>
                <a:lnTo>
                  <a:pt x="6095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7"/>
          <p:cNvSpPr/>
          <p:nvPr/>
        </p:nvSpPr>
        <p:spPr>
          <a:xfrm>
            <a:off x="0" y="4826000"/>
            <a:ext cx="2540000" cy="254000"/>
          </a:xfrm>
          <a:custGeom>
            <a:rect b="b" l="l" r="r" t="t"/>
            <a:pathLst>
              <a:path extrusionOk="0" h="254000" w="2540000">
                <a:moveTo>
                  <a:pt x="0" y="253793"/>
                </a:moveTo>
                <a:lnTo>
                  <a:pt x="2539995" y="253793"/>
                </a:lnTo>
                <a:lnTo>
                  <a:pt x="2539995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7"/>
          <p:cNvSpPr/>
          <p:nvPr/>
        </p:nvSpPr>
        <p:spPr>
          <a:xfrm>
            <a:off x="4978400" y="5080000"/>
            <a:ext cx="4165600" cy="255587"/>
          </a:xfrm>
          <a:custGeom>
            <a:rect b="b" l="l" r="r" t="t"/>
            <a:pathLst>
              <a:path extrusionOk="0" h="254635" w="4165600">
                <a:moveTo>
                  <a:pt x="0" y="254174"/>
                </a:moveTo>
                <a:lnTo>
                  <a:pt x="4165610" y="254174"/>
                </a:lnTo>
                <a:lnTo>
                  <a:pt x="416561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7"/>
          <p:cNvSpPr/>
          <p:nvPr/>
        </p:nvSpPr>
        <p:spPr>
          <a:xfrm>
            <a:off x="3454400" y="5080000"/>
            <a:ext cx="609600" cy="255587"/>
          </a:xfrm>
          <a:custGeom>
            <a:rect b="b" l="l" r="r" t="t"/>
            <a:pathLst>
              <a:path extrusionOk="0" h="254635" w="609600">
                <a:moveTo>
                  <a:pt x="0" y="254174"/>
                </a:moveTo>
                <a:lnTo>
                  <a:pt x="609599" y="254174"/>
                </a:lnTo>
                <a:lnTo>
                  <a:pt x="6095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7"/>
          <p:cNvSpPr/>
          <p:nvPr/>
        </p:nvSpPr>
        <p:spPr>
          <a:xfrm>
            <a:off x="0" y="5080000"/>
            <a:ext cx="2540000" cy="255587"/>
          </a:xfrm>
          <a:custGeom>
            <a:rect b="b" l="l" r="r" t="t"/>
            <a:pathLst>
              <a:path extrusionOk="0" h="254635" w="2540000">
                <a:moveTo>
                  <a:pt x="0" y="254174"/>
                </a:moveTo>
                <a:lnTo>
                  <a:pt x="2539995" y="254174"/>
                </a:lnTo>
                <a:lnTo>
                  <a:pt x="2539995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7"/>
          <p:cNvSpPr/>
          <p:nvPr/>
        </p:nvSpPr>
        <p:spPr>
          <a:xfrm>
            <a:off x="3454400" y="5334000"/>
            <a:ext cx="5689600" cy="255587"/>
          </a:xfrm>
          <a:custGeom>
            <a:rect b="b" l="l" r="r" t="t"/>
            <a:pathLst>
              <a:path extrusionOk="0" h="254635" w="5689600">
                <a:moveTo>
                  <a:pt x="0" y="254150"/>
                </a:moveTo>
                <a:lnTo>
                  <a:pt x="5689610" y="254150"/>
                </a:lnTo>
                <a:lnTo>
                  <a:pt x="568961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7"/>
          <p:cNvSpPr/>
          <p:nvPr/>
        </p:nvSpPr>
        <p:spPr>
          <a:xfrm>
            <a:off x="0" y="5334000"/>
            <a:ext cx="2540000" cy="255587"/>
          </a:xfrm>
          <a:custGeom>
            <a:rect b="b" l="l" r="r" t="t"/>
            <a:pathLst>
              <a:path extrusionOk="0" h="254635" w="2540000">
                <a:moveTo>
                  <a:pt x="0" y="254150"/>
                </a:moveTo>
                <a:lnTo>
                  <a:pt x="2539995" y="254150"/>
                </a:lnTo>
                <a:lnTo>
                  <a:pt x="2539995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7"/>
          <p:cNvSpPr/>
          <p:nvPr/>
        </p:nvSpPr>
        <p:spPr>
          <a:xfrm>
            <a:off x="3454400" y="5588000"/>
            <a:ext cx="5689600" cy="255587"/>
          </a:xfrm>
          <a:custGeom>
            <a:rect b="b" l="l" r="r" t="t"/>
            <a:pathLst>
              <a:path extrusionOk="0" h="254635" w="5689600">
                <a:moveTo>
                  <a:pt x="0" y="254162"/>
                </a:moveTo>
                <a:lnTo>
                  <a:pt x="5689610" y="254162"/>
                </a:lnTo>
                <a:lnTo>
                  <a:pt x="568961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7"/>
          <p:cNvSpPr/>
          <p:nvPr/>
        </p:nvSpPr>
        <p:spPr>
          <a:xfrm>
            <a:off x="0" y="5588000"/>
            <a:ext cx="2540000" cy="255587"/>
          </a:xfrm>
          <a:custGeom>
            <a:rect b="b" l="l" r="r" t="t"/>
            <a:pathLst>
              <a:path extrusionOk="0" h="254635" w="2540000">
                <a:moveTo>
                  <a:pt x="0" y="254162"/>
                </a:moveTo>
                <a:lnTo>
                  <a:pt x="2539995" y="254162"/>
                </a:lnTo>
                <a:lnTo>
                  <a:pt x="2539995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7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7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7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7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7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7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7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7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589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Project Operation – Example</a:t>
            </a:r>
            <a:endParaRPr/>
          </a:p>
        </p:txBody>
      </p:sp>
      <p:sp>
        <p:nvSpPr>
          <p:cNvPr id="991" name="Google Shape;991;p27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992" name="Google Shape;992;p27"/>
          <p:cNvSpPr txBox="1"/>
          <p:nvPr/>
        </p:nvSpPr>
        <p:spPr>
          <a:xfrm>
            <a:off x="1217612" y="1163637"/>
            <a:ext cx="10652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993" name="Google Shape;993;p27"/>
          <p:cNvSpPr/>
          <p:nvPr/>
        </p:nvSpPr>
        <p:spPr>
          <a:xfrm>
            <a:off x="3073400" y="965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7"/>
          <p:cNvSpPr/>
          <p:nvPr/>
        </p:nvSpPr>
        <p:spPr>
          <a:xfrm>
            <a:off x="3530600" y="965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7"/>
          <p:cNvSpPr/>
          <p:nvPr/>
        </p:nvSpPr>
        <p:spPr>
          <a:xfrm>
            <a:off x="3987800" y="965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7"/>
          <p:cNvSpPr/>
          <p:nvPr/>
        </p:nvSpPr>
        <p:spPr>
          <a:xfrm>
            <a:off x="3073400" y="14986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9" y="0"/>
                </a:moveTo>
                <a:lnTo>
                  <a:pt x="0" y="0"/>
                </a:lnTo>
                <a:lnTo>
                  <a:pt x="0" y="1676399"/>
                </a:lnTo>
                <a:lnTo>
                  <a:pt x="457199" y="1676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7"/>
          <p:cNvSpPr/>
          <p:nvPr/>
        </p:nvSpPr>
        <p:spPr>
          <a:xfrm>
            <a:off x="3530600" y="14986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9" y="0"/>
                </a:moveTo>
                <a:lnTo>
                  <a:pt x="0" y="0"/>
                </a:lnTo>
                <a:lnTo>
                  <a:pt x="0" y="1676399"/>
                </a:lnTo>
                <a:lnTo>
                  <a:pt x="457199" y="1676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7"/>
          <p:cNvSpPr/>
          <p:nvPr/>
        </p:nvSpPr>
        <p:spPr>
          <a:xfrm>
            <a:off x="3987800" y="14986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9" y="0"/>
                </a:moveTo>
                <a:lnTo>
                  <a:pt x="0" y="0"/>
                </a:lnTo>
                <a:lnTo>
                  <a:pt x="0" y="1676399"/>
                </a:lnTo>
                <a:lnTo>
                  <a:pt x="457199" y="1676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7"/>
          <p:cNvSpPr/>
          <p:nvPr/>
        </p:nvSpPr>
        <p:spPr>
          <a:xfrm>
            <a:off x="2540000" y="3721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206"/>
                </a:lnTo>
                <a:lnTo>
                  <a:pt x="457199" y="457206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7"/>
          <p:cNvSpPr/>
          <p:nvPr/>
        </p:nvSpPr>
        <p:spPr>
          <a:xfrm>
            <a:off x="2540000" y="3721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206"/>
                </a:moveTo>
                <a:lnTo>
                  <a:pt x="0" y="457206"/>
                </a:lnTo>
                <a:lnTo>
                  <a:pt x="0" y="0"/>
                </a:lnTo>
                <a:lnTo>
                  <a:pt x="457199" y="0"/>
                </a:lnTo>
                <a:lnTo>
                  <a:pt x="457199" y="457206"/>
                </a:lnTo>
                <a:lnTo>
                  <a:pt x="228599" y="457206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7"/>
          <p:cNvSpPr/>
          <p:nvPr/>
        </p:nvSpPr>
        <p:spPr>
          <a:xfrm>
            <a:off x="2997200" y="3721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3" y="0"/>
                </a:moveTo>
                <a:lnTo>
                  <a:pt x="0" y="0"/>
                </a:lnTo>
                <a:lnTo>
                  <a:pt x="0" y="457206"/>
                </a:lnTo>
                <a:lnTo>
                  <a:pt x="457193" y="457206"/>
                </a:lnTo>
                <a:lnTo>
                  <a:pt x="4571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7"/>
          <p:cNvSpPr/>
          <p:nvPr/>
        </p:nvSpPr>
        <p:spPr>
          <a:xfrm>
            <a:off x="2997200" y="3721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3" y="457206"/>
                </a:moveTo>
                <a:lnTo>
                  <a:pt x="0" y="457206"/>
                </a:lnTo>
                <a:lnTo>
                  <a:pt x="0" y="0"/>
                </a:lnTo>
                <a:lnTo>
                  <a:pt x="457193" y="0"/>
                </a:lnTo>
                <a:lnTo>
                  <a:pt x="457193" y="457206"/>
                </a:lnTo>
                <a:lnTo>
                  <a:pt x="228593" y="457206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7"/>
          <p:cNvSpPr txBox="1"/>
          <p:nvPr/>
        </p:nvSpPr>
        <p:spPr>
          <a:xfrm>
            <a:off x="2679700" y="3851275"/>
            <a:ext cx="6413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C</a:t>
            </a:r>
            <a:endParaRPr/>
          </a:p>
        </p:txBody>
      </p:sp>
      <p:sp>
        <p:nvSpPr>
          <p:cNvPr id="1004" name="Google Shape;1004;p27"/>
          <p:cNvSpPr/>
          <p:nvPr/>
        </p:nvSpPr>
        <p:spPr>
          <a:xfrm>
            <a:off x="2540000" y="42545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9" y="0"/>
                </a:moveTo>
                <a:lnTo>
                  <a:pt x="0" y="0"/>
                </a:lnTo>
                <a:lnTo>
                  <a:pt x="0" y="1676399"/>
                </a:lnTo>
                <a:lnTo>
                  <a:pt x="457199" y="1676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7"/>
          <p:cNvSpPr/>
          <p:nvPr/>
        </p:nvSpPr>
        <p:spPr>
          <a:xfrm>
            <a:off x="2540000" y="42545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228599" y="1676399"/>
                </a:moveTo>
                <a:lnTo>
                  <a:pt x="0" y="1676399"/>
                </a:lnTo>
                <a:lnTo>
                  <a:pt x="0" y="0"/>
                </a:lnTo>
                <a:lnTo>
                  <a:pt x="457199" y="0"/>
                </a:lnTo>
                <a:lnTo>
                  <a:pt x="457199" y="1676399"/>
                </a:lnTo>
                <a:lnTo>
                  <a:pt x="228599" y="1676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7"/>
          <p:cNvSpPr/>
          <p:nvPr/>
        </p:nvSpPr>
        <p:spPr>
          <a:xfrm>
            <a:off x="2997200" y="42545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3" y="0"/>
                </a:moveTo>
                <a:lnTo>
                  <a:pt x="0" y="0"/>
                </a:lnTo>
                <a:lnTo>
                  <a:pt x="0" y="1676399"/>
                </a:lnTo>
                <a:lnTo>
                  <a:pt x="457193" y="1676399"/>
                </a:lnTo>
                <a:lnTo>
                  <a:pt x="4571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7"/>
          <p:cNvSpPr/>
          <p:nvPr/>
        </p:nvSpPr>
        <p:spPr>
          <a:xfrm>
            <a:off x="2997200" y="42545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228593" y="1676399"/>
                </a:moveTo>
                <a:lnTo>
                  <a:pt x="0" y="1676399"/>
                </a:lnTo>
                <a:lnTo>
                  <a:pt x="0" y="0"/>
                </a:lnTo>
                <a:lnTo>
                  <a:pt x="457193" y="0"/>
                </a:lnTo>
                <a:lnTo>
                  <a:pt x="457193" y="1676399"/>
                </a:lnTo>
                <a:lnTo>
                  <a:pt x="228593" y="1676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7"/>
          <p:cNvSpPr txBox="1"/>
          <p:nvPr/>
        </p:nvSpPr>
        <p:spPr>
          <a:xfrm>
            <a:off x="2682875" y="4440237"/>
            <a:ext cx="620712" cy="14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09" name="Google Shape;1009;p27"/>
          <p:cNvSpPr/>
          <p:nvPr/>
        </p:nvSpPr>
        <p:spPr>
          <a:xfrm>
            <a:off x="3614737" y="4700587"/>
            <a:ext cx="307975" cy="371475"/>
          </a:xfrm>
          <a:custGeom>
            <a:rect b="b" l="l" r="r" t="t"/>
            <a:pathLst>
              <a:path extrusionOk="0" h="372110" w="308610">
                <a:moveTo>
                  <a:pt x="0" y="0"/>
                </a:moveTo>
                <a:lnTo>
                  <a:pt x="308518" y="0"/>
                </a:lnTo>
                <a:lnTo>
                  <a:pt x="308518" y="371737"/>
                </a:lnTo>
                <a:lnTo>
                  <a:pt x="0" y="3717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7"/>
          <p:cNvSpPr txBox="1"/>
          <p:nvPr/>
        </p:nvSpPr>
        <p:spPr>
          <a:xfrm>
            <a:off x="3686175" y="4795837"/>
            <a:ext cx="1587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1011" name="Google Shape;1011;p27"/>
          <p:cNvSpPr/>
          <p:nvPr/>
        </p:nvSpPr>
        <p:spPr>
          <a:xfrm>
            <a:off x="4064000" y="3721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206"/>
                </a:lnTo>
                <a:lnTo>
                  <a:pt x="457199" y="457206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7"/>
          <p:cNvSpPr/>
          <p:nvPr/>
        </p:nvSpPr>
        <p:spPr>
          <a:xfrm>
            <a:off x="4064000" y="3721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206"/>
                </a:moveTo>
                <a:lnTo>
                  <a:pt x="0" y="457206"/>
                </a:lnTo>
                <a:lnTo>
                  <a:pt x="0" y="0"/>
                </a:lnTo>
                <a:lnTo>
                  <a:pt x="457199" y="0"/>
                </a:lnTo>
                <a:lnTo>
                  <a:pt x="457199" y="457206"/>
                </a:lnTo>
                <a:lnTo>
                  <a:pt x="228599" y="457206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7"/>
          <p:cNvSpPr/>
          <p:nvPr/>
        </p:nvSpPr>
        <p:spPr>
          <a:xfrm>
            <a:off x="4521200" y="3721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206"/>
                </a:lnTo>
                <a:lnTo>
                  <a:pt x="457199" y="457206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7"/>
          <p:cNvSpPr/>
          <p:nvPr/>
        </p:nvSpPr>
        <p:spPr>
          <a:xfrm>
            <a:off x="4521200" y="3721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206"/>
                </a:moveTo>
                <a:lnTo>
                  <a:pt x="0" y="457206"/>
                </a:lnTo>
                <a:lnTo>
                  <a:pt x="0" y="0"/>
                </a:lnTo>
                <a:lnTo>
                  <a:pt x="457199" y="0"/>
                </a:lnTo>
                <a:lnTo>
                  <a:pt x="457199" y="457206"/>
                </a:lnTo>
                <a:lnTo>
                  <a:pt x="228599" y="457206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7"/>
          <p:cNvSpPr txBox="1"/>
          <p:nvPr/>
        </p:nvSpPr>
        <p:spPr>
          <a:xfrm>
            <a:off x="4203700" y="3851275"/>
            <a:ext cx="6413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C</a:t>
            </a:r>
            <a:endParaRPr/>
          </a:p>
        </p:txBody>
      </p:sp>
      <p:sp>
        <p:nvSpPr>
          <p:cNvPr id="1016" name="Google Shape;1016;p27"/>
          <p:cNvSpPr/>
          <p:nvPr/>
        </p:nvSpPr>
        <p:spPr>
          <a:xfrm>
            <a:off x="4064000" y="4254500"/>
            <a:ext cx="457200" cy="1219200"/>
          </a:xfrm>
          <a:custGeom>
            <a:rect b="b" l="l" r="r" t="t"/>
            <a:pathLst>
              <a:path extrusionOk="0" h="1219200" w="457200">
                <a:moveTo>
                  <a:pt x="457199" y="0"/>
                </a:moveTo>
                <a:lnTo>
                  <a:pt x="0" y="0"/>
                </a:lnTo>
                <a:lnTo>
                  <a:pt x="0" y="1219199"/>
                </a:lnTo>
                <a:lnTo>
                  <a:pt x="457199" y="1219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7"/>
          <p:cNvSpPr/>
          <p:nvPr/>
        </p:nvSpPr>
        <p:spPr>
          <a:xfrm>
            <a:off x="4064000" y="4254500"/>
            <a:ext cx="457200" cy="1219200"/>
          </a:xfrm>
          <a:custGeom>
            <a:rect b="b" l="l" r="r" t="t"/>
            <a:pathLst>
              <a:path extrusionOk="0" h="1219200" w="457200">
                <a:moveTo>
                  <a:pt x="228599" y="1219199"/>
                </a:moveTo>
                <a:lnTo>
                  <a:pt x="0" y="1219199"/>
                </a:lnTo>
                <a:lnTo>
                  <a:pt x="0" y="0"/>
                </a:lnTo>
                <a:lnTo>
                  <a:pt x="457199" y="0"/>
                </a:lnTo>
                <a:lnTo>
                  <a:pt x="457199" y="1219199"/>
                </a:lnTo>
                <a:lnTo>
                  <a:pt x="228599" y="1219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7"/>
          <p:cNvSpPr/>
          <p:nvPr/>
        </p:nvSpPr>
        <p:spPr>
          <a:xfrm>
            <a:off x="4521200" y="4254500"/>
            <a:ext cx="457200" cy="1219200"/>
          </a:xfrm>
          <a:custGeom>
            <a:rect b="b" l="l" r="r" t="t"/>
            <a:pathLst>
              <a:path extrusionOk="0" h="1219200" w="457200">
                <a:moveTo>
                  <a:pt x="457199" y="0"/>
                </a:moveTo>
                <a:lnTo>
                  <a:pt x="0" y="0"/>
                </a:lnTo>
                <a:lnTo>
                  <a:pt x="0" y="1219199"/>
                </a:lnTo>
                <a:lnTo>
                  <a:pt x="457199" y="1219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7"/>
          <p:cNvSpPr/>
          <p:nvPr/>
        </p:nvSpPr>
        <p:spPr>
          <a:xfrm>
            <a:off x="4521200" y="4254500"/>
            <a:ext cx="457200" cy="1219200"/>
          </a:xfrm>
          <a:custGeom>
            <a:rect b="b" l="l" r="r" t="t"/>
            <a:pathLst>
              <a:path extrusionOk="0" h="1219200" w="457200">
                <a:moveTo>
                  <a:pt x="228599" y="1219199"/>
                </a:moveTo>
                <a:lnTo>
                  <a:pt x="0" y="1219199"/>
                </a:lnTo>
                <a:lnTo>
                  <a:pt x="0" y="0"/>
                </a:lnTo>
                <a:lnTo>
                  <a:pt x="457199" y="0"/>
                </a:lnTo>
                <a:lnTo>
                  <a:pt x="457199" y="1219199"/>
                </a:lnTo>
                <a:lnTo>
                  <a:pt x="228599" y="1219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7"/>
          <p:cNvSpPr txBox="1"/>
          <p:nvPr/>
        </p:nvSpPr>
        <p:spPr>
          <a:xfrm>
            <a:off x="4206875" y="4418012"/>
            <a:ext cx="619125" cy="10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21" name="Google Shape;1021;p27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022" name="Google Shape;1022;p27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023" name="Google Shape;1023;p27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024" name="Google Shape;1024;p27"/>
          <p:cNvSpPr txBox="1"/>
          <p:nvPr/>
        </p:nvSpPr>
        <p:spPr>
          <a:xfrm>
            <a:off x="876300" y="3765550"/>
            <a:ext cx="920750" cy="427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b="0" i="0" lang="en-US" sz="25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0" lang="en-US" sz="1700" u="none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A,C  </a:t>
            </a:r>
            <a:r>
              <a:rPr b="0" i="0" lang="en-US" sz="2500" u="none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(</a:t>
            </a:r>
            <a:r>
              <a:rPr b="0" i="1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500" u="none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)</a:t>
            </a:r>
            <a:endParaRPr/>
          </a:p>
        </p:txBody>
      </p:sp>
      <p:graphicFrame>
        <p:nvGraphicFramePr>
          <p:cNvPr id="1025" name="Google Shape;1025;p27"/>
          <p:cNvGraphicFramePr/>
          <p:nvPr/>
        </p:nvGraphicFramePr>
        <p:xfrm>
          <a:off x="3068637" y="960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457200"/>
                <a:gridCol w="457200"/>
                <a:gridCol w="457200"/>
              </a:tblGrid>
              <a:tr h="457200"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6" name="Google Shape;1026;p27"/>
          <p:cNvGraphicFramePr/>
          <p:nvPr/>
        </p:nvGraphicFramePr>
        <p:xfrm>
          <a:off x="3068637" y="14938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457200"/>
                <a:gridCol w="457200"/>
                <a:gridCol w="457200"/>
              </a:tblGrid>
              <a:tr h="522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95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95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95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5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28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8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8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8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8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8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8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8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8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8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8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8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8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8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8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8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8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8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8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8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8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8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8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8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8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8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8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19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Project Operation</a:t>
            </a:r>
            <a:endParaRPr/>
          </a:p>
        </p:txBody>
      </p:sp>
      <p:sp>
        <p:nvSpPr>
          <p:cNvPr id="1058" name="Google Shape;1058;p28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059" name="Google Shape;1059;p28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060" name="Google Shape;1060;p28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061" name="Google Shape;1061;p28"/>
          <p:cNvSpPr txBox="1"/>
          <p:nvPr/>
        </p:nvSpPr>
        <p:spPr>
          <a:xfrm>
            <a:off x="876300" y="11731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062" name="Google Shape;1062;p28"/>
          <p:cNvSpPr txBox="1"/>
          <p:nvPr/>
        </p:nvSpPr>
        <p:spPr>
          <a:xfrm>
            <a:off x="1217612" y="1216025"/>
            <a:ext cx="939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Notation:</a:t>
            </a:r>
            <a:endParaRPr/>
          </a:p>
        </p:txBody>
      </p:sp>
      <p:sp>
        <p:nvSpPr>
          <p:cNvPr id="1063" name="Google Shape;1063;p28"/>
          <p:cNvSpPr txBox="1"/>
          <p:nvPr/>
        </p:nvSpPr>
        <p:spPr>
          <a:xfrm>
            <a:off x="1217612" y="1982787"/>
            <a:ext cx="5830887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attribute names 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relation name.</a:t>
            </a:r>
            <a:endParaRPr/>
          </a:p>
        </p:txBody>
      </p:sp>
      <p:sp>
        <p:nvSpPr>
          <p:cNvPr id="1064" name="Google Shape;1064;p28"/>
          <p:cNvSpPr txBox="1"/>
          <p:nvPr/>
        </p:nvSpPr>
        <p:spPr>
          <a:xfrm>
            <a:off x="876300" y="23479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065" name="Google Shape;1065;p28"/>
          <p:cNvSpPr txBox="1"/>
          <p:nvPr/>
        </p:nvSpPr>
        <p:spPr>
          <a:xfrm>
            <a:off x="1217612" y="2393950"/>
            <a:ext cx="69770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result is defined as the relation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columns obtained by erasing</a:t>
            </a:r>
            <a:endParaRPr/>
          </a:p>
        </p:txBody>
      </p:sp>
      <p:sp>
        <p:nvSpPr>
          <p:cNvPr id="1066" name="Google Shape;1066;p28"/>
          <p:cNvSpPr txBox="1"/>
          <p:nvPr/>
        </p:nvSpPr>
        <p:spPr>
          <a:xfrm>
            <a:off x="1217612" y="2668587"/>
            <a:ext cx="30718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columns that are not listed</a:t>
            </a:r>
            <a:endParaRPr/>
          </a:p>
        </p:txBody>
      </p:sp>
      <p:sp>
        <p:nvSpPr>
          <p:cNvPr id="1067" name="Google Shape;1067;p28"/>
          <p:cNvSpPr txBox="1"/>
          <p:nvPr/>
        </p:nvSpPr>
        <p:spPr>
          <a:xfrm>
            <a:off x="876300" y="29972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068" name="Google Shape;1068;p28"/>
          <p:cNvSpPr txBox="1"/>
          <p:nvPr/>
        </p:nvSpPr>
        <p:spPr>
          <a:xfrm>
            <a:off x="1217612" y="3043237"/>
            <a:ext cx="60753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Duplicate rows removed from result, since relations are sets</a:t>
            </a:r>
            <a:endParaRPr/>
          </a:p>
        </p:txBody>
      </p:sp>
      <p:sp>
        <p:nvSpPr>
          <p:cNvPr id="1069" name="Google Shape;1069;p28"/>
          <p:cNvSpPr txBox="1"/>
          <p:nvPr/>
        </p:nvSpPr>
        <p:spPr>
          <a:xfrm>
            <a:off x="876300" y="33702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070" name="Google Shape;1070;p28"/>
          <p:cNvSpPr txBox="1"/>
          <p:nvPr/>
        </p:nvSpPr>
        <p:spPr>
          <a:xfrm>
            <a:off x="1217612" y="3416300"/>
            <a:ext cx="61261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To eliminate the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endParaRPr/>
          </a:p>
        </p:txBody>
      </p:sp>
      <p:sp>
        <p:nvSpPr>
          <p:cNvPr id="1071" name="Google Shape;1071;p28"/>
          <p:cNvSpPr txBox="1"/>
          <p:nvPr/>
        </p:nvSpPr>
        <p:spPr>
          <a:xfrm>
            <a:off x="2679700" y="3989387"/>
            <a:ext cx="293211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None/>
            </a:pP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account_number, balance 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072" name="Google Shape;1072;p28"/>
          <p:cNvSpPr txBox="1"/>
          <p:nvPr/>
        </p:nvSpPr>
        <p:spPr>
          <a:xfrm>
            <a:off x="3159125" y="1390650"/>
            <a:ext cx="1797050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b="0" i="0" lang="en-US" sz="2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073" name="Google Shape;1073;p28"/>
          <p:cNvSpPr txBox="1"/>
          <p:nvPr/>
        </p:nvSpPr>
        <p:spPr>
          <a:xfrm>
            <a:off x="3578225" y="1579562"/>
            <a:ext cx="91598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3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</a:t>
            </a:r>
            <a:r>
              <a:rPr b="0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9"/>
          <p:cNvSpPr/>
          <p:nvPr/>
        </p:nvSpPr>
        <p:spPr>
          <a:xfrm>
            <a:off x="6134100" y="1263650"/>
            <a:ext cx="3009900" cy="255587"/>
          </a:xfrm>
          <a:custGeom>
            <a:rect b="b" l="l" r="r" t="t"/>
            <a:pathLst>
              <a:path extrusionOk="0" h="255905" w="3009900">
                <a:moveTo>
                  <a:pt x="0" y="255531"/>
                </a:moveTo>
                <a:lnTo>
                  <a:pt x="3009900" y="255531"/>
                </a:lnTo>
                <a:lnTo>
                  <a:pt x="30099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9"/>
          <p:cNvSpPr/>
          <p:nvPr/>
        </p:nvSpPr>
        <p:spPr>
          <a:xfrm>
            <a:off x="4000500" y="1263650"/>
            <a:ext cx="1219200" cy="255587"/>
          </a:xfrm>
          <a:custGeom>
            <a:rect b="b" l="l" r="r" t="t"/>
            <a:pathLst>
              <a:path extrusionOk="0" h="255905" w="1219200">
                <a:moveTo>
                  <a:pt x="0" y="255531"/>
                </a:moveTo>
                <a:lnTo>
                  <a:pt x="1219199" y="255531"/>
                </a:lnTo>
                <a:lnTo>
                  <a:pt x="1219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9"/>
          <p:cNvSpPr/>
          <p:nvPr/>
        </p:nvSpPr>
        <p:spPr>
          <a:xfrm>
            <a:off x="0" y="1263650"/>
            <a:ext cx="3086100" cy="255587"/>
          </a:xfrm>
          <a:custGeom>
            <a:rect b="b" l="l" r="r" t="t"/>
            <a:pathLst>
              <a:path extrusionOk="0" h="255905" w="3086100">
                <a:moveTo>
                  <a:pt x="0" y="255531"/>
                </a:moveTo>
                <a:lnTo>
                  <a:pt x="3086099" y="255531"/>
                </a:lnTo>
                <a:lnTo>
                  <a:pt x="30860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9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9"/>
          <p:cNvSpPr/>
          <p:nvPr/>
        </p:nvSpPr>
        <p:spPr>
          <a:xfrm>
            <a:off x="6134100" y="1774825"/>
            <a:ext cx="3009900" cy="252412"/>
          </a:xfrm>
          <a:custGeom>
            <a:rect b="b" l="l" r="r" t="t"/>
            <a:pathLst>
              <a:path extrusionOk="0" h="252094" w="3009900">
                <a:moveTo>
                  <a:pt x="0" y="251960"/>
                </a:moveTo>
                <a:lnTo>
                  <a:pt x="3009900" y="251960"/>
                </a:lnTo>
                <a:lnTo>
                  <a:pt x="3009900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9"/>
          <p:cNvSpPr/>
          <p:nvPr/>
        </p:nvSpPr>
        <p:spPr>
          <a:xfrm>
            <a:off x="4000500" y="1774825"/>
            <a:ext cx="1219200" cy="252412"/>
          </a:xfrm>
          <a:custGeom>
            <a:rect b="b" l="l" r="r" t="t"/>
            <a:pathLst>
              <a:path extrusionOk="0" h="252094" w="1219200">
                <a:moveTo>
                  <a:pt x="0" y="251960"/>
                </a:moveTo>
                <a:lnTo>
                  <a:pt x="1219199" y="251960"/>
                </a:lnTo>
                <a:lnTo>
                  <a:pt x="121919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9"/>
          <p:cNvSpPr/>
          <p:nvPr/>
        </p:nvSpPr>
        <p:spPr>
          <a:xfrm>
            <a:off x="0" y="1774825"/>
            <a:ext cx="3086100" cy="252412"/>
          </a:xfrm>
          <a:custGeom>
            <a:rect b="b" l="l" r="r" t="t"/>
            <a:pathLst>
              <a:path extrusionOk="0" h="252094" w="3086100">
                <a:moveTo>
                  <a:pt x="0" y="251960"/>
                </a:moveTo>
                <a:lnTo>
                  <a:pt x="3086099" y="251960"/>
                </a:lnTo>
                <a:lnTo>
                  <a:pt x="308609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9"/>
          <p:cNvSpPr/>
          <p:nvPr/>
        </p:nvSpPr>
        <p:spPr>
          <a:xfrm>
            <a:off x="6134100" y="2027237"/>
            <a:ext cx="3009900" cy="255587"/>
          </a:xfrm>
          <a:custGeom>
            <a:rect b="b" l="l" r="r" t="t"/>
            <a:pathLst>
              <a:path extrusionOk="0" h="255905" w="3009900">
                <a:moveTo>
                  <a:pt x="0" y="255650"/>
                </a:moveTo>
                <a:lnTo>
                  <a:pt x="3009900" y="255650"/>
                </a:lnTo>
                <a:lnTo>
                  <a:pt x="300990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9"/>
          <p:cNvSpPr/>
          <p:nvPr/>
        </p:nvSpPr>
        <p:spPr>
          <a:xfrm>
            <a:off x="4000500" y="2027237"/>
            <a:ext cx="1219200" cy="255587"/>
          </a:xfrm>
          <a:custGeom>
            <a:rect b="b" l="l" r="r" t="t"/>
            <a:pathLst>
              <a:path extrusionOk="0" h="255905" w="1219200">
                <a:moveTo>
                  <a:pt x="0" y="255650"/>
                </a:moveTo>
                <a:lnTo>
                  <a:pt x="1219199" y="255650"/>
                </a:lnTo>
                <a:lnTo>
                  <a:pt x="12191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9"/>
          <p:cNvSpPr/>
          <p:nvPr/>
        </p:nvSpPr>
        <p:spPr>
          <a:xfrm>
            <a:off x="0" y="2027237"/>
            <a:ext cx="3086100" cy="255587"/>
          </a:xfrm>
          <a:custGeom>
            <a:rect b="b" l="l" r="r" t="t"/>
            <a:pathLst>
              <a:path extrusionOk="0" h="255905" w="3086100">
                <a:moveTo>
                  <a:pt x="0" y="255650"/>
                </a:moveTo>
                <a:lnTo>
                  <a:pt x="3086099" y="255650"/>
                </a:lnTo>
                <a:lnTo>
                  <a:pt x="30860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9"/>
          <p:cNvSpPr/>
          <p:nvPr/>
        </p:nvSpPr>
        <p:spPr>
          <a:xfrm>
            <a:off x="6134100" y="2282825"/>
            <a:ext cx="3009900" cy="255587"/>
          </a:xfrm>
          <a:custGeom>
            <a:rect b="b" l="l" r="r" t="t"/>
            <a:pathLst>
              <a:path extrusionOk="0" h="255905" w="3009900">
                <a:moveTo>
                  <a:pt x="0" y="255531"/>
                </a:moveTo>
                <a:lnTo>
                  <a:pt x="3009900" y="255531"/>
                </a:lnTo>
                <a:lnTo>
                  <a:pt x="30099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9"/>
          <p:cNvSpPr/>
          <p:nvPr/>
        </p:nvSpPr>
        <p:spPr>
          <a:xfrm>
            <a:off x="4000500" y="2282825"/>
            <a:ext cx="1219200" cy="255587"/>
          </a:xfrm>
          <a:custGeom>
            <a:rect b="b" l="l" r="r" t="t"/>
            <a:pathLst>
              <a:path extrusionOk="0" h="255905" w="1219200">
                <a:moveTo>
                  <a:pt x="0" y="255531"/>
                </a:moveTo>
                <a:lnTo>
                  <a:pt x="1219199" y="255531"/>
                </a:lnTo>
                <a:lnTo>
                  <a:pt x="1219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9"/>
          <p:cNvSpPr/>
          <p:nvPr/>
        </p:nvSpPr>
        <p:spPr>
          <a:xfrm>
            <a:off x="0" y="2282825"/>
            <a:ext cx="3086100" cy="255587"/>
          </a:xfrm>
          <a:custGeom>
            <a:rect b="b" l="l" r="r" t="t"/>
            <a:pathLst>
              <a:path extrusionOk="0" h="255905" w="3086100">
                <a:moveTo>
                  <a:pt x="0" y="255531"/>
                </a:moveTo>
                <a:lnTo>
                  <a:pt x="3086099" y="255531"/>
                </a:lnTo>
                <a:lnTo>
                  <a:pt x="30860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9"/>
          <p:cNvSpPr/>
          <p:nvPr/>
        </p:nvSpPr>
        <p:spPr>
          <a:xfrm>
            <a:off x="4000500" y="2538412"/>
            <a:ext cx="5143500" cy="252412"/>
          </a:xfrm>
          <a:custGeom>
            <a:rect b="b" l="l" r="r" t="t"/>
            <a:pathLst>
              <a:path extrusionOk="0" h="252730" w="5143500">
                <a:moveTo>
                  <a:pt x="0" y="252221"/>
                </a:moveTo>
                <a:lnTo>
                  <a:pt x="5143500" y="252221"/>
                </a:lnTo>
                <a:lnTo>
                  <a:pt x="514350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9"/>
          <p:cNvSpPr/>
          <p:nvPr/>
        </p:nvSpPr>
        <p:spPr>
          <a:xfrm>
            <a:off x="0" y="2538412"/>
            <a:ext cx="3086100" cy="252412"/>
          </a:xfrm>
          <a:custGeom>
            <a:rect b="b" l="l" r="r" t="t"/>
            <a:pathLst>
              <a:path extrusionOk="0" h="252730" w="3086100">
                <a:moveTo>
                  <a:pt x="0" y="252221"/>
                </a:moveTo>
                <a:lnTo>
                  <a:pt x="3086099" y="252221"/>
                </a:lnTo>
                <a:lnTo>
                  <a:pt x="30860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9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9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9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9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9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9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9"/>
          <p:cNvSpPr/>
          <p:nvPr/>
        </p:nvSpPr>
        <p:spPr>
          <a:xfrm>
            <a:off x="5067300" y="4318000"/>
            <a:ext cx="4076700" cy="255587"/>
          </a:xfrm>
          <a:custGeom>
            <a:rect b="b" l="l" r="r" t="t"/>
            <a:pathLst>
              <a:path extrusionOk="0" h="254635" w="4076700">
                <a:moveTo>
                  <a:pt x="0" y="254150"/>
                </a:moveTo>
                <a:lnTo>
                  <a:pt x="4076700" y="254150"/>
                </a:lnTo>
                <a:lnTo>
                  <a:pt x="407670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9"/>
          <p:cNvSpPr/>
          <p:nvPr/>
        </p:nvSpPr>
        <p:spPr>
          <a:xfrm>
            <a:off x="0" y="4318000"/>
            <a:ext cx="4152900" cy="255587"/>
          </a:xfrm>
          <a:custGeom>
            <a:rect b="b" l="l" r="r" t="t"/>
            <a:pathLst>
              <a:path extrusionOk="0" h="254635" w="4152900">
                <a:moveTo>
                  <a:pt x="0" y="254150"/>
                </a:moveTo>
                <a:lnTo>
                  <a:pt x="4152899" y="254150"/>
                </a:lnTo>
                <a:lnTo>
                  <a:pt x="41528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9"/>
          <p:cNvSpPr/>
          <p:nvPr/>
        </p:nvSpPr>
        <p:spPr>
          <a:xfrm>
            <a:off x="5067300" y="4572000"/>
            <a:ext cx="4076700" cy="255587"/>
          </a:xfrm>
          <a:custGeom>
            <a:rect b="b" l="l" r="r" t="t"/>
            <a:pathLst>
              <a:path extrusionOk="0" h="254635" w="4076700">
                <a:moveTo>
                  <a:pt x="0" y="254162"/>
                </a:moveTo>
                <a:lnTo>
                  <a:pt x="4076700" y="254162"/>
                </a:lnTo>
                <a:lnTo>
                  <a:pt x="40767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9"/>
          <p:cNvSpPr/>
          <p:nvPr/>
        </p:nvSpPr>
        <p:spPr>
          <a:xfrm>
            <a:off x="0" y="4572000"/>
            <a:ext cx="4152900" cy="255587"/>
          </a:xfrm>
          <a:custGeom>
            <a:rect b="b" l="l" r="r" t="t"/>
            <a:pathLst>
              <a:path extrusionOk="0" h="254635" w="4152900">
                <a:moveTo>
                  <a:pt x="0" y="254162"/>
                </a:moveTo>
                <a:lnTo>
                  <a:pt x="4152899" y="254162"/>
                </a:lnTo>
                <a:lnTo>
                  <a:pt x="41528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9"/>
          <p:cNvSpPr/>
          <p:nvPr/>
        </p:nvSpPr>
        <p:spPr>
          <a:xfrm>
            <a:off x="5067300" y="4826000"/>
            <a:ext cx="4076700" cy="254000"/>
          </a:xfrm>
          <a:custGeom>
            <a:rect b="b" l="l" r="r" t="t"/>
            <a:pathLst>
              <a:path extrusionOk="0" h="254000" w="4076700">
                <a:moveTo>
                  <a:pt x="0" y="253793"/>
                </a:moveTo>
                <a:lnTo>
                  <a:pt x="4076700" y="253793"/>
                </a:lnTo>
                <a:lnTo>
                  <a:pt x="407670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9"/>
          <p:cNvSpPr/>
          <p:nvPr/>
        </p:nvSpPr>
        <p:spPr>
          <a:xfrm>
            <a:off x="0" y="4826000"/>
            <a:ext cx="4152900" cy="254000"/>
          </a:xfrm>
          <a:custGeom>
            <a:rect b="b" l="l" r="r" t="t"/>
            <a:pathLst>
              <a:path extrusionOk="0" h="254000" w="4152900">
                <a:moveTo>
                  <a:pt x="0" y="253793"/>
                </a:moveTo>
                <a:lnTo>
                  <a:pt x="4152899" y="253793"/>
                </a:lnTo>
                <a:lnTo>
                  <a:pt x="41528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9"/>
          <p:cNvSpPr/>
          <p:nvPr/>
        </p:nvSpPr>
        <p:spPr>
          <a:xfrm>
            <a:off x="5067300" y="5080000"/>
            <a:ext cx="4076700" cy="255587"/>
          </a:xfrm>
          <a:custGeom>
            <a:rect b="b" l="l" r="r" t="t"/>
            <a:pathLst>
              <a:path extrusionOk="0" h="254635" w="4076700">
                <a:moveTo>
                  <a:pt x="0" y="254174"/>
                </a:moveTo>
                <a:lnTo>
                  <a:pt x="4076700" y="254174"/>
                </a:lnTo>
                <a:lnTo>
                  <a:pt x="407670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9"/>
          <p:cNvSpPr/>
          <p:nvPr/>
        </p:nvSpPr>
        <p:spPr>
          <a:xfrm>
            <a:off x="0" y="5080000"/>
            <a:ext cx="4152900" cy="255587"/>
          </a:xfrm>
          <a:custGeom>
            <a:rect b="b" l="l" r="r" t="t"/>
            <a:pathLst>
              <a:path extrusionOk="0" h="254635" w="4152900">
                <a:moveTo>
                  <a:pt x="0" y="254174"/>
                </a:moveTo>
                <a:lnTo>
                  <a:pt x="4152899" y="254174"/>
                </a:lnTo>
                <a:lnTo>
                  <a:pt x="41528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9"/>
          <p:cNvSpPr/>
          <p:nvPr/>
        </p:nvSpPr>
        <p:spPr>
          <a:xfrm>
            <a:off x="5067300" y="5334000"/>
            <a:ext cx="4076700" cy="255587"/>
          </a:xfrm>
          <a:custGeom>
            <a:rect b="b" l="l" r="r" t="t"/>
            <a:pathLst>
              <a:path extrusionOk="0" h="254635" w="4076700">
                <a:moveTo>
                  <a:pt x="0" y="254150"/>
                </a:moveTo>
                <a:lnTo>
                  <a:pt x="4076700" y="254150"/>
                </a:lnTo>
                <a:lnTo>
                  <a:pt x="407670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9"/>
          <p:cNvSpPr/>
          <p:nvPr/>
        </p:nvSpPr>
        <p:spPr>
          <a:xfrm>
            <a:off x="0" y="5334000"/>
            <a:ext cx="4152900" cy="255587"/>
          </a:xfrm>
          <a:custGeom>
            <a:rect b="b" l="l" r="r" t="t"/>
            <a:pathLst>
              <a:path extrusionOk="0" h="254635" w="4152900">
                <a:moveTo>
                  <a:pt x="0" y="254150"/>
                </a:moveTo>
                <a:lnTo>
                  <a:pt x="4152899" y="254150"/>
                </a:lnTo>
                <a:lnTo>
                  <a:pt x="41528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9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9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9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9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9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9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9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9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9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8732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Union Operation – Example</a:t>
            </a:r>
            <a:endParaRPr/>
          </a:p>
        </p:txBody>
      </p:sp>
      <p:sp>
        <p:nvSpPr>
          <p:cNvPr id="1118" name="Google Shape;1118;p29"/>
          <p:cNvSpPr txBox="1"/>
          <p:nvPr/>
        </p:nvSpPr>
        <p:spPr>
          <a:xfrm>
            <a:off x="874712" y="10906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119" name="Google Shape;1119;p29"/>
          <p:cNvSpPr txBox="1"/>
          <p:nvPr/>
        </p:nvSpPr>
        <p:spPr>
          <a:xfrm>
            <a:off x="1217612" y="1133475"/>
            <a:ext cx="14224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r, s:</a:t>
            </a:r>
            <a:endParaRPr/>
          </a:p>
        </p:txBody>
      </p:sp>
      <p:sp>
        <p:nvSpPr>
          <p:cNvPr id="1120" name="Google Shape;1120;p29"/>
          <p:cNvSpPr txBox="1"/>
          <p:nvPr/>
        </p:nvSpPr>
        <p:spPr>
          <a:xfrm>
            <a:off x="876300" y="42021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121" name="Google Shape;1121;p29"/>
          <p:cNvSpPr txBox="1"/>
          <p:nvPr/>
        </p:nvSpPr>
        <p:spPr>
          <a:xfrm>
            <a:off x="1217612" y="4248150"/>
            <a:ext cx="5842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</a:t>
            </a:r>
            <a:endParaRPr/>
          </a:p>
        </p:txBody>
      </p:sp>
      <p:sp>
        <p:nvSpPr>
          <p:cNvPr id="1122" name="Google Shape;1122;p29"/>
          <p:cNvSpPr/>
          <p:nvPr/>
        </p:nvSpPr>
        <p:spPr>
          <a:xfrm>
            <a:off x="3086100" y="1104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9"/>
          <p:cNvSpPr/>
          <p:nvPr/>
        </p:nvSpPr>
        <p:spPr>
          <a:xfrm>
            <a:off x="3086100" y="1104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9"/>
          <p:cNvSpPr/>
          <p:nvPr/>
        </p:nvSpPr>
        <p:spPr>
          <a:xfrm>
            <a:off x="3543300" y="1104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9"/>
          <p:cNvSpPr/>
          <p:nvPr/>
        </p:nvSpPr>
        <p:spPr>
          <a:xfrm>
            <a:off x="3543300" y="1104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9"/>
          <p:cNvSpPr txBox="1"/>
          <p:nvPr/>
        </p:nvSpPr>
        <p:spPr>
          <a:xfrm>
            <a:off x="3225800" y="1235075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</a:t>
            </a:r>
            <a:endParaRPr/>
          </a:p>
        </p:txBody>
      </p:sp>
      <p:sp>
        <p:nvSpPr>
          <p:cNvPr id="1127" name="Google Shape;1127;p29"/>
          <p:cNvSpPr/>
          <p:nvPr/>
        </p:nvSpPr>
        <p:spPr>
          <a:xfrm>
            <a:off x="3086100" y="1638300"/>
            <a:ext cx="457200" cy="1295400"/>
          </a:xfrm>
          <a:custGeom>
            <a:rect b="b" l="l" r="r" t="t"/>
            <a:pathLst>
              <a:path extrusionOk="0" h="1295400" w="457200">
                <a:moveTo>
                  <a:pt x="457199" y="0"/>
                </a:moveTo>
                <a:lnTo>
                  <a:pt x="0" y="0"/>
                </a:lnTo>
                <a:lnTo>
                  <a:pt x="0" y="1295399"/>
                </a:lnTo>
                <a:lnTo>
                  <a:pt x="457199" y="1295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9"/>
          <p:cNvSpPr/>
          <p:nvPr/>
        </p:nvSpPr>
        <p:spPr>
          <a:xfrm>
            <a:off x="3086100" y="1638300"/>
            <a:ext cx="457200" cy="1295400"/>
          </a:xfrm>
          <a:custGeom>
            <a:rect b="b" l="l" r="r" t="t"/>
            <a:pathLst>
              <a:path extrusionOk="0" h="1295400" w="457200">
                <a:moveTo>
                  <a:pt x="228599" y="1295399"/>
                </a:moveTo>
                <a:lnTo>
                  <a:pt x="0" y="1295399"/>
                </a:lnTo>
                <a:lnTo>
                  <a:pt x="0" y="0"/>
                </a:lnTo>
                <a:lnTo>
                  <a:pt x="457199" y="0"/>
                </a:lnTo>
                <a:lnTo>
                  <a:pt x="457199" y="1295399"/>
                </a:lnTo>
                <a:lnTo>
                  <a:pt x="228599" y="1295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9"/>
          <p:cNvSpPr/>
          <p:nvPr/>
        </p:nvSpPr>
        <p:spPr>
          <a:xfrm>
            <a:off x="3543300" y="1638300"/>
            <a:ext cx="457200" cy="1295400"/>
          </a:xfrm>
          <a:custGeom>
            <a:rect b="b" l="l" r="r" t="t"/>
            <a:pathLst>
              <a:path extrusionOk="0" h="1295400" w="457200">
                <a:moveTo>
                  <a:pt x="457199" y="0"/>
                </a:moveTo>
                <a:lnTo>
                  <a:pt x="0" y="0"/>
                </a:lnTo>
                <a:lnTo>
                  <a:pt x="0" y="1295399"/>
                </a:lnTo>
                <a:lnTo>
                  <a:pt x="457199" y="1295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29"/>
          <p:cNvSpPr/>
          <p:nvPr/>
        </p:nvSpPr>
        <p:spPr>
          <a:xfrm>
            <a:off x="3543300" y="1638300"/>
            <a:ext cx="457200" cy="1295400"/>
          </a:xfrm>
          <a:custGeom>
            <a:rect b="b" l="l" r="r" t="t"/>
            <a:pathLst>
              <a:path extrusionOk="0" h="1295400" w="457200">
                <a:moveTo>
                  <a:pt x="228599" y="1295399"/>
                </a:moveTo>
                <a:lnTo>
                  <a:pt x="0" y="1295399"/>
                </a:lnTo>
                <a:lnTo>
                  <a:pt x="0" y="0"/>
                </a:lnTo>
                <a:lnTo>
                  <a:pt x="457199" y="0"/>
                </a:lnTo>
                <a:lnTo>
                  <a:pt x="457199" y="1295399"/>
                </a:lnTo>
                <a:lnTo>
                  <a:pt x="228599" y="1295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9"/>
          <p:cNvSpPr txBox="1"/>
          <p:nvPr/>
        </p:nvSpPr>
        <p:spPr>
          <a:xfrm>
            <a:off x="3228975" y="1839912"/>
            <a:ext cx="620712" cy="10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32" name="Google Shape;1132;p29"/>
          <p:cNvSpPr/>
          <p:nvPr/>
        </p:nvSpPr>
        <p:spPr>
          <a:xfrm>
            <a:off x="5219700" y="1104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9"/>
          <p:cNvSpPr/>
          <p:nvPr/>
        </p:nvSpPr>
        <p:spPr>
          <a:xfrm>
            <a:off x="5219700" y="1104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9"/>
          <p:cNvSpPr/>
          <p:nvPr/>
        </p:nvSpPr>
        <p:spPr>
          <a:xfrm>
            <a:off x="5676900" y="1104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9"/>
          <p:cNvSpPr/>
          <p:nvPr/>
        </p:nvSpPr>
        <p:spPr>
          <a:xfrm>
            <a:off x="5676900" y="1104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9"/>
          <p:cNvSpPr txBox="1"/>
          <p:nvPr/>
        </p:nvSpPr>
        <p:spPr>
          <a:xfrm>
            <a:off x="5359400" y="1235075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</a:t>
            </a:r>
            <a:endParaRPr/>
          </a:p>
        </p:txBody>
      </p:sp>
      <p:sp>
        <p:nvSpPr>
          <p:cNvPr id="1137" name="Google Shape;1137;p29"/>
          <p:cNvSpPr/>
          <p:nvPr/>
        </p:nvSpPr>
        <p:spPr>
          <a:xfrm>
            <a:off x="5219700" y="1638300"/>
            <a:ext cx="457200" cy="914400"/>
          </a:xfrm>
          <a:custGeom>
            <a:rect b="b" l="l" r="r" t="t"/>
            <a:pathLst>
              <a:path extrusionOk="0" h="914400" w="457200">
                <a:moveTo>
                  <a:pt x="457199" y="0"/>
                </a:moveTo>
                <a:lnTo>
                  <a:pt x="0" y="0"/>
                </a:lnTo>
                <a:lnTo>
                  <a:pt x="0" y="914399"/>
                </a:lnTo>
                <a:lnTo>
                  <a:pt x="457199" y="914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9"/>
          <p:cNvSpPr/>
          <p:nvPr/>
        </p:nvSpPr>
        <p:spPr>
          <a:xfrm>
            <a:off x="5219700" y="1638300"/>
            <a:ext cx="457200" cy="914400"/>
          </a:xfrm>
          <a:custGeom>
            <a:rect b="b" l="l" r="r" t="t"/>
            <a:pathLst>
              <a:path extrusionOk="0" h="914400" w="457200">
                <a:moveTo>
                  <a:pt x="228599" y="914399"/>
                </a:moveTo>
                <a:lnTo>
                  <a:pt x="0" y="914399"/>
                </a:lnTo>
                <a:lnTo>
                  <a:pt x="0" y="0"/>
                </a:lnTo>
                <a:lnTo>
                  <a:pt x="457199" y="0"/>
                </a:lnTo>
                <a:lnTo>
                  <a:pt x="457199" y="914399"/>
                </a:lnTo>
                <a:lnTo>
                  <a:pt x="228599" y="914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9"/>
          <p:cNvSpPr/>
          <p:nvPr/>
        </p:nvSpPr>
        <p:spPr>
          <a:xfrm>
            <a:off x="5676900" y="1638300"/>
            <a:ext cx="457200" cy="914400"/>
          </a:xfrm>
          <a:custGeom>
            <a:rect b="b" l="l" r="r" t="t"/>
            <a:pathLst>
              <a:path extrusionOk="0" h="914400" w="457200">
                <a:moveTo>
                  <a:pt x="457199" y="0"/>
                </a:moveTo>
                <a:lnTo>
                  <a:pt x="0" y="0"/>
                </a:lnTo>
                <a:lnTo>
                  <a:pt x="0" y="914399"/>
                </a:lnTo>
                <a:lnTo>
                  <a:pt x="457199" y="914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9"/>
          <p:cNvSpPr/>
          <p:nvPr/>
        </p:nvSpPr>
        <p:spPr>
          <a:xfrm>
            <a:off x="5676900" y="1638300"/>
            <a:ext cx="457200" cy="914400"/>
          </a:xfrm>
          <a:custGeom>
            <a:rect b="b" l="l" r="r" t="t"/>
            <a:pathLst>
              <a:path extrusionOk="0" h="914400" w="457200">
                <a:moveTo>
                  <a:pt x="228599" y="914399"/>
                </a:moveTo>
                <a:lnTo>
                  <a:pt x="0" y="914399"/>
                </a:lnTo>
                <a:lnTo>
                  <a:pt x="0" y="0"/>
                </a:lnTo>
                <a:lnTo>
                  <a:pt x="457199" y="0"/>
                </a:lnTo>
                <a:lnTo>
                  <a:pt x="457199" y="914399"/>
                </a:lnTo>
                <a:lnTo>
                  <a:pt x="228599" y="914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9"/>
          <p:cNvSpPr txBox="1"/>
          <p:nvPr/>
        </p:nvSpPr>
        <p:spPr>
          <a:xfrm>
            <a:off x="5362575" y="1854200"/>
            <a:ext cx="61912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42" name="Google Shape;1142;p29"/>
          <p:cNvSpPr txBox="1"/>
          <p:nvPr/>
        </p:nvSpPr>
        <p:spPr>
          <a:xfrm>
            <a:off x="3492500" y="2968625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143" name="Google Shape;1143;p29"/>
          <p:cNvSpPr txBox="1"/>
          <p:nvPr/>
        </p:nvSpPr>
        <p:spPr>
          <a:xfrm>
            <a:off x="5584825" y="2714625"/>
            <a:ext cx="1397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144" name="Google Shape;1144;p29"/>
          <p:cNvSpPr/>
          <p:nvPr/>
        </p:nvSpPr>
        <p:spPr>
          <a:xfrm>
            <a:off x="4152900" y="3594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3"/>
                </a:lnTo>
                <a:lnTo>
                  <a:pt x="457199" y="457193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9"/>
          <p:cNvSpPr/>
          <p:nvPr/>
        </p:nvSpPr>
        <p:spPr>
          <a:xfrm>
            <a:off x="4152900" y="3594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3"/>
                </a:moveTo>
                <a:lnTo>
                  <a:pt x="0" y="457193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3"/>
                </a:lnTo>
                <a:lnTo>
                  <a:pt x="228599" y="457193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9"/>
          <p:cNvSpPr/>
          <p:nvPr/>
        </p:nvSpPr>
        <p:spPr>
          <a:xfrm>
            <a:off x="4610100" y="3594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3"/>
                </a:lnTo>
                <a:lnTo>
                  <a:pt x="457199" y="457193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9"/>
          <p:cNvSpPr/>
          <p:nvPr/>
        </p:nvSpPr>
        <p:spPr>
          <a:xfrm>
            <a:off x="4610100" y="3594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3"/>
                </a:moveTo>
                <a:lnTo>
                  <a:pt x="0" y="457193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3"/>
                </a:lnTo>
                <a:lnTo>
                  <a:pt x="228599" y="457193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9"/>
          <p:cNvSpPr txBox="1"/>
          <p:nvPr/>
        </p:nvSpPr>
        <p:spPr>
          <a:xfrm>
            <a:off x="4292600" y="3724275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</a:t>
            </a:r>
            <a:endParaRPr/>
          </a:p>
        </p:txBody>
      </p:sp>
      <p:sp>
        <p:nvSpPr>
          <p:cNvPr id="1149" name="Google Shape;1149;p29"/>
          <p:cNvSpPr/>
          <p:nvPr/>
        </p:nvSpPr>
        <p:spPr>
          <a:xfrm>
            <a:off x="4152900" y="41275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9" y="0"/>
                </a:moveTo>
                <a:lnTo>
                  <a:pt x="0" y="0"/>
                </a:lnTo>
                <a:lnTo>
                  <a:pt x="0" y="1676399"/>
                </a:lnTo>
                <a:lnTo>
                  <a:pt x="457199" y="1676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9"/>
          <p:cNvSpPr/>
          <p:nvPr/>
        </p:nvSpPr>
        <p:spPr>
          <a:xfrm>
            <a:off x="4152900" y="41275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228599" y="1676399"/>
                </a:moveTo>
                <a:lnTo>
                  <a:pt x="0" y="1676399"/>
                </a:lnTo>
                <a:lnTo>
                  <a:pt x="0" y="0"/>
                </a:lnTo>
                <a:lnTo>
                  <a:pt x="457199" y="0"/>
                </a:lnTo>
                <a:lnTo>
                  <a:pt x="457199" y="1676399"/>
                </a:lnTo>
                <a:lnTo>
                  <a:pt x="228599" y="1676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9"/>
          <p:cNvSpPr/>
          <p:nvPr/>
        </p:nvSpPr>
        <p:spPr>
          <a:xfrm>
            <a:off x="4610100" y="41275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457199" y="0"/>
                </a:moveTo>
                <a:lnTo>
                  <a:pt x="0" y="0"/>
                </a:lnTo>
                <a:lnTo>
                  <a:pt x="0" y="1676399"/>
                </a:lnTo>
                <a:lnTo>
                  <a:pt x="457199" y="1676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9"/>
          <p:cNvSpPr/>
          <p:nvPr/>
        </p:nvSpPr>
        <p:spPr>
          <a:xfrm>
            <a:off x="4610100" y="4127500"/>
            <a:ext cx="457200" cy="1676400"/>
          </a:xfrm>
          <a:custGeom>
            <a:rect b="b" l="l" r="r" t="t"/>
            <a:pathLst>
              <a:path extrusionOk="0" h="1676400" w="457200">
                <a:moveTo>
                  <a:pt x="228599" y="1676399"/>
                </a:moveTo>
                <a:lnTo>
                  <a:pt x="0" y="1676399"/>
                </a:lnTo>
                <a:lnTo>
                  <a:pt x="0" y="0"/>
                </a:lnTo>
                <a:lnTo>
                  <a:pt x="457199" y="0"/>
                </a:lnTo>
                <a:lnTo>
                  <a:pt x="457199" y="1676399"/>
                </a:lnTo>
                <a:lnTo>
                  <a:pt x="228599" y="1676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9"/>
          <p:cNvSpPr txBox="1"/>
          <p:nvPr/>
        </p:nvSpPr>
        <p:spPr>
          <a:xfrm>
            <a:off x="4295775" y="4313237"/>
            <a:ext cx="619125" cy="14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54" name="Google Shape;1154;p29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155" name="Google Shape;1155;p29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156" name="Google Shape;1156;p29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0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0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30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30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0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30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0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30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30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30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30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30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30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30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30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30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30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0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0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30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0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0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30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30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0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0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0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933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Union Operation</a:t>
            </a:r>
            <a:endParaRPr/>
          </a:p>
        </p:txBody>
      </p:sp>
      <p:sp>
        <p:nvSpPr>
          <p:cNvPr id="1188" name="Google Shape;1188;p30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189" name="Google Shape;1189;p30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190" name="Google Shape;1190;p30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191" name="Google Shape;1191;p30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192" name="Google Shape;1192;p30"/>
          <p:cNvSpPr txBox="1"/>
          <p:nvPr/>
        </p:nvSpPr>
        <p:spPr>
          <a:xfrm>
            <a:off x="1217612" y="1162050"/>
            <a:ext cx="15605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Notation: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193" name="Google Shape;1193;p30"/>
          <p:cNvSpPr txBox="1"/>
          <p:nvPr/>
        </p:nvSpPr>
        <p:spPr>
          <a:xfrm>
            <a:off x="876300" y="1490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194" name="Google Shape;1194;p30"/>
          <p:cNvSpPr txBox="1"/>
          <p:nvPr/>
        </p:nvSpPr>
        <p:spPr>
          <a:xfrm>
            <a:off x="1217612" y="1536700"/>
            <a:ext cx="11795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as:</a:t>
            </a:r>
            <a:endParaRPr/>
          </a:p>
        </p:txBody>
      </p:sp>
      <p:sp>
        <p:nvSpPr>
          <p:cNvPr id="1195" name="Google Shape;1195;p30"/>
          <p:cNvSpPr txBox="1"/>
          <p:nvPr/>
        </p:nvSpPr>
        <p:spPr>
          <a:xfrm>
            <a:off x="2613025" y="1909762"/>
            <a:ext cx="24828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	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196" name="Google Shape;1196;p30"/>
          <p:cNvSpPr txBox="1"/>
          <p:nvPr/>
        </p:nvSpPr>
        <p:spPr>
          <a:xfrm>
            <a:off x="876300" y="22399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197" name="Google Shape;1197;p30"/>
          <p:cNvSpPr txBox="1"/>
          <p:nvPr/>
        </p:nvSpPr>
        <p:spPr>
          <a:xfrm>
            <a:off x="1217612" y="2284412"/>
            <a:ext cx="20955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be valid.</a:t>
            </a:r>
            <a:endParaRPr/>
          </a:p>
        </p:txBody>
      </p:sp>
      <p:sp>
        <p:nvSpPr>
          <p:cNvPr id="1198" name="Google Shape;1198;p30"/>
          <p:cNvSpPr txBox="1"/>
          <p:nvPr/>
        </p:nvSpPr>
        <p:spPr>
          <a:xfrm>
            <a:off x="1217612" y="2657475"/>
            <a:ext cx="6900862" cy="117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9087" lvl="0" marL="3317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r, 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have the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arity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(same number of attributes)</a:t>
            </a:r>
            <a:endParaRPr/>
          </a:p>
          <a:p>
            <a:pPr indent="-319087" lvl="0" marL="331787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attribute domains must be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compatible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(example: 2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deals with the same type of values as does the 2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endParaRPr/>
          </a:p>
          <a:p>
            <a:pPr indent="-319087" lvl="0" marL="3317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199" name="Google Shape;1199;p30"/>
          <p:cNvSpPr txBox="1"/>
          <p:nvPr/>
        </p:nvSpPr>
        <p:spPr>
          <a:xfrm>
            <a:off x="876300" y="40195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200" name="Google Shape;1200;p30"/>
          <p:cNvSpPr txBox="1"/>
          <p:nvPr/>
        </p:nvSpPr>
        <p:spPr>
          <a:xfrm>
            <a:off x="1217612" y="4065587"/>
            <a:ext cx="6307137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to find all customers with either an account or a loan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None/>
            </a:pP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	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31"/>
          <p:cNvSpPr/>
          <p:nvPr/>
        </p:nvSpPr>
        <p:spPr>
          <a:xfrm>
            <a:off x="6172200" y="1263650"/>
            <a:ext cx="2971800" cy="255587"/>
          </a:xfrm>
          <a:custGeom>
            <a:rect b="b" l="l" r="r" t="t"/>
            <a:pathLst>
              <a:path extrusionOk="0" h="255905" w="2971800">
                <a:moveTo>
                  <a:pt x="0" y="255531"/>
                </a:moveTo>
                <a:lnTo>
                  <a:pt x="2971800" y="255531"/>
                </a:lnTo>
                <a:lnTo>
                  <a:pt x="29718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31"/>
          <p:cNvSpPr/>
          <p:nvPr/>
        </p:nvSpPr>
        <p:spPr>
          <a:xfrm>
            <a:off x="4038600" y="1263650"/>
            <a:ext cx="1219200" cy="255587"/>
          </a:xfrm>
          <a:custGeom>
            <a:rect b="b" l="l" r="r" t="t"/>
            <a:pathLst>
              <a:path extrusionOk="0" h="255905" w="1219200">
                <a:moveTo>
                  <a:pt x="0" y="255531"/>
                </a:moveTo>
                <a:lnTo>
                  <a:pt x="1219199" y="255531"/>
                </a:lnTo>
                <a:lnTo>
                  <a:pt x="1219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31"/>
          <p:cNvSpPr/>
          <p:nvPr/>
        </p:nvSpPr>
        <p:spPr>
          <a:xfrm>
            <a:off x="0" y="1263650"/>
            <a:ext cx="3124200" cy="255587"/>
          </a:xfrm>
          <a:custGeom>
            <a:rect b="b" l="l" r="r" t="t"/>
            <a:pathLst>
              <a:path extrusionOk="0" h="255905" w="3124200">
                <a:moveTo>
                  <a:pt x="0" y="255531"/>
                </a:moveTo>
                <a:lnTo>
                  <a:pt x="3124199" y="255531"/>
                </a:lnTo>
                <a:lnTo>
                  <a:pt x="3124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31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31"/>
          <p:cNvSpPr/>
          <p:nvPr/>
        </p:nvSpPr>
        <p:spPr>
          <a:xfrm>
            <a:off x="6172200" y="1774825"/>
            <a:ext cx="2971800" cy="252412"/>
          </a:xfrm>
          <a:custGeom>
            <a:rect b="b" l="l" r="r" t="t"/>
            <a:pathLst>
              <a:path extrusionOk="0" h="252094" w="2971800">
                <a:moveTo>
                  <a:pt x="0" y="251960"/>
                </a:moveTo>
                <a:lnTo>
                  <a:pt x="2971800" y="251960"/>
                </a:lnTo>
                <a:lnTo>
                  <a:pt x="2971800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1"/>
          <p:cNvSpPr/>
          <p:nvPr/>
        </p:nvSpPr>
        <p:spPr>
          <a:xfrm>
            <a:off x="4038600" y="1774825"/>
            <a:ext cx="1219200" cy="252412"/>
          </a:xfrm>
          <a:custGeom>
            <a:rect b="b" l="l" r="r" t="t"/>
            <a:pathLst>
              <a:path extrusionOk="0" h="252094" w="1219200">
                <a:moveTo>
                  <a:pt x="0" y="251960"/>
                </a:moveTo>
                <a:lnTo>
                  <a:pt x="1219199" y="251960"/>
                </a:lnTo>
                <a:lnTo>
                  <a:pt x="121919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1"/>
          <p:cNvSpPr/>
          <p:nvPr/>
        </p:nvSpPr>
        <p:spPr>
          <a:xfrm>
            <a:off x="0" y="1774825"/>
            <a:ext cx="3124200" cy="252412"/>
          </a:xfrm>
          <a:custGeom>
            <a:rect b="b" l="l" r="r" t="t"/>
            <a:pathLst>
              <a:path extrusionOk="0" h="252094" w="3124200">
                <a:moveTo>
                  <a:pt x="0" y="251960"/>
                </a:moveTo>
                <a:lnTo>
                  <a:pt x="3124199" y="251960"/>
                </a:lnTo>
                <a:lnTo>
                  <a:pt x="312419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31"/>
          <p:cNvSpPr/>
          <p:nvPr/>
        </p:nvSpPr>
        <p:spPr>
          <a:xfrm>
            <a:off x="6172200" y="2027237"/>
            <a:ext cx="2971800" cy="255587"/>
          </a:xfrm>
          <a:custGeom>
            <a:rect b="b" l="l" r="r" t="t"/>
            <a:pathLst>
              <a:path extrusionOk="0" h="255905" w="2971800">
                <a:moveTo>
                  <a:pt x="0" y="255650"/>
                </a:moveTo>
                <a:lnTo>
                  <a:pt x="2971800" y="255650"/>
                </a:lnTo>
                <a:lnTo>
                  <a:pt x="297180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1"/>
          <p:cNvSpPr/>
          <p:nvPr/>
        </p:nvSpPr>
        <p:spPr>
          <a:xfrm>
            <a:off x="4038600" y="2027237"/>
            <a:ext cx="1219200" cy="255587"/>
          </a:xfrm>
          <a:custGeom>
            <a:rect b="b" l="l" r="r" t="t"/>
            <a:pathLst>
              <a:path extrusionOk="0" h="255905" w="1219200">
                <a:moveTo>
                  <a:pt x="0" y="255650"/>
                </a:moveTo>
                <a:lnTo>
                  <a:pt x="1219199" y="255650"/>
                </a:lnTo>
                <a:lnTo>
                  <a:pt x="12191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31"/>
          <p:cNvSpPr/>
          <p:nvPr/>
        </p:nvSpPr>
        <p:spPr>
          <a:xfrm>
            <a:off x="0" y="2027237"/>
            <a:ext cx="3124200" cy="255587"/>
          </a:xfrm>
          <a:custGeom>
            <a:rect b="b" l="l" r="r" t="t"/>
            <a:pathLst>
              <a:path extrusionOk="0" h="255905" w="3124200">
                <a:moveTo>
                  <a:pt x="0" y="255650"/>
                </a:moveTo>
                <a:lnTo>
                  <a:pt x="3124199" y="255650"/>
                </a:lnTo>
                <a:lnTo>
                  <a:pt x="31241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31"/>
          <p:cNvSpPr/>
          <p:nvPr/>
        </p:nvSpPr>
        <p:spPr>
          <a:xfrm>
            <a:off x="6172200" y="2282825"/>
            <a:ext cx="2971800" cy="255587"/>
          </a:xfrm>
          <a:custGeom>
            <a:rect b="b" l="l" r="r" t="t"/>
            <a:pathLst>
              <a:path extrusionOk="0" h="255905" w="2971800">
                <a:moveTo>
                  <a:pt x="0" y="255531"/>
                </a:moveTo>
                <a:lnTo>
                  <a:pt x="2971800" y="255531"/>
                </a:lnTo>
                <a:lnTo>
                  <a:pt x="29718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1"/>
          <p:cNvSpPr/>
          <p:nvPr/>
        </p:nvSpPr>
        <p:spPr>
          <a:xfrm>
            <a:off x="4038600" y="2282825"/>
            <a:ext cx="1219200" cy="255587"/>
          </a:xfrm>
          <a:custGeom>
            <a:rect b="b" l="l" r="r" t="t"/>
            <a:pathLst>
              <a:path extrusionOk="0" h="255905" w="1219200">
                <a:moveTo>
                  <a:pt x="0" y="255531"/>
                </a:moveTo>
                <a:lnTo>
                  <a:pt x="1219199" y="255531"/>
                </a:lnTo>
                <a:lnTo>
                  <a:pt x="1219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31"/>
          <p:cNvSpPr/>
          <p:nvPr/>
        </p:nvSpPr>
        <p:spPr>
          <a:xfrm>
            <a:off x="0" y="2282825"/>
            <a:ext cx="3124200" cy="255587"/>
          </a:xfrm>
          <a:custGeom>
            <a:rect b="b" l="l" r="r" t="t"/>
            <a:pathLst>
              <a:path extrusionOk="0" h="255905" w="3124200">
                <a:moveTo>
                  <a:pt x="0" y="255531"/>
                </a:moveTo>
                <a:lnTo>
                  <a:pt x="3124199" y="255531"/>
                </a:lnTo>
                <a:lnTo>
                  <a:pt x="3124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1"/>
          <p:cNvSpPr/>
          <p:nvPr/>
        </p:nvSpPr>
        <p:spPr>
          <a:xfrm>
            <a:off x="4038600" y="2538412"/>
            <a:ext cx="5105400" cy="252412"/>
          </a:xfrm>
          <a:custGeom>
            <a:rect b="b" l="l" r="r" t="t"/>
            <a:pathLst>
              <a:path extrusionOk="0" h="252730" w="5105400">
                <a:moveTo>
                  <a:pt x="0" y="252221"/>
                </a:moveTo>
                <a:lnTo>
                  <a:pt x="5105400" y="252221"/>
                </a:lnTo>
                <a:lnTo>
                  <a:pt x="510540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1"/>
          <p:cNvSpPr/>
          <p:nvPr/>
        </p:nvSpPr>
        <p:spPr>
          <a:xfrm>
            <a:off x="0" y="2538412"/>
            <a:ext cx="3124200" cy="252412"/>
          </a:xfrm>
          <a:custGeom>
            <a:rect b="b" l="l" r="r" t="t"/>
            <a:pathLst>
              <a:path extrusionOk="0" h="252730" w="3124200">
                <a:moveTo>
                  <a:pt x="0" y="252221"/>
                </a:moveTo>
                <a:lnTo>
                  <a:pt x="3124199" y="252221"/>
                </a:lnTo>
                <a:lnTo>
                  <a:pt x="31241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1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1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1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31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1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1"/>
          <p:cNvSpPr/>
          <p:nvPr/>
        </p:nvSpPr>
        <p:spPr>
          <a:xfrm>
            <a:off x="5105400" y="4064000"/>
            <a:ext cx="4038600" cy="254000"/>
          </a:xfrm>
          <a:custGeom>
            <a:rect b="b" l="l" r="r" t="t"/>
            <a:pathLst>
              <a:path extrusionOk="0" h="254635" w="4038600">
                <a:moveTo>
                  <a:pt x="0" y="254162"/>
                </a:moveTo>
                <a:lnTo>
                  <a:pt x="4038600" y="254162"/>
                </a:lnTo>
                <a:lnTo>
                  <a:pt x="40386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1"/>
          <p:cNvSpPr/>
          <p:nvPr/>
        </p:nvSpPr>
        <p:spPr>
          <a:xfrm>
            <a:off x="0" y="4064000"/>
            <a:ext cx="4191000" cy="254000"/>
          </a:xfrm>
          <a:custGeom>
            <a:rect b="b" l="l" r="r" t="t"/>
            <a:pathLst>
              <a:path extrusionOk="0" h="254635" w="4191000">
                <a:moveTo>
                  <a:pt x="0" y="254162"/>
                </a:moveTo>
                <a:lnTo>
                  <a:pt x="4190999" y="254162"/>
                </a:lnTo>
                <a:lnTo>
                  <a:pt x="41909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31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1"/>
          <p:cNvSpPr/>
          <p:nvPr/>
        </p:nvSpPr>
        <p:spPr>
          <a:xfrm>
            <a:off x="5105400" y="4572000"/>
            <a:ext cx="4038600" cy="255587"/>
          </a:xfrm>
          <a:custGeom>
            <a:rect b="b" l="l" r="r" t="t"/>
            <a:pathLst>
              <a:path extrusionOk="0" h="254635" w="4038600">
                <a:moveTo>
                  <a:pt x="0" y="254162"/>
                </a:moveTo>
                <a:lnTo>
                  <a:pt x="4038600" y="254162"/>
                </a:lnTo>
                <a:lnTo>
                  <a:pt x="40386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1"/>
          <p:cNvSpPr/>
          <p:nvPr/>
        </p:nvSpPr>
        <p:spPr>
          <a:xfrm>
            <a:off x="0" y="4572000"/>
            <a:ext cx="4191000" cy="255587"/>
          </a:xfrm>
          <a:custGeom>
            <a:rect b="b" l="l" r="r" t="t"/>
            <a:pathLst>
              <a:path extrusionOk="0" h="254635" w="4191000">
                <a:moveTo>
                  <a:pt x="0" y="254162"/>
                </a:moveTo>
                <a:lnTo>
                  <a:pt x="4190999" y="254162"/>
                </a:lnTo>
                <a:lnTo>
                  <a:pt x="41909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1"/>
          <p:cNvSpPr/>
          <p:nvPr/>
        </p:nvSpPr>
        <p:spPr>
          <a:xfrm>
            <a:off x="5105400" y="4826000"/>
            <a:ext cx="4038600" cy="254000"/>
          </a:xfrm>
          <a:custGeom>
            <a:rect b="b" l="l" r="r" t="t"/>
            <a:pathLst>
              <a:path extrusionOk="0" h="254000" w="4038600">
                <a:moveTo>
                  <a:pt x="0" y="253793"/>
                </a:moveTo>
                <a:lnTo>
                  <a:pt x="4038600" y="253793"/>
                </a:lnTo>
                <a:lnTo>
                  <a:pt x="403860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1"/>
          <p:cNvSpPr/>
          <p:nvPr/>
        </p:nvSpPr>
        <p:spPr>
          <a:xfrm>
            <a:off x="0" y="4826000"/>
            <a:ext cx="4191000" cy="254000"/>
          </a:xfrm>
          <a:custGeom>
            <a:rect b="b" l="l" r="r" t="t"/>
            <a:pathLst>
              <a:path extrusionOk="0" h="254000" w="4191000">
                <a:moveTo>
                  <a:pt x="0" y="253793"/>
                </a:moveTo>
                <a:lnTo>
                  <a:pt x="4190999" y="253793"/>
                </a:lnTo>
                <a:lnTo>
                  <a:pt x="41909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31"/>
          <p:cNvSpPr/>
          <p:nvPr/>
        </p:nvSpPr>
        <p:spPr>
          <a:xfrm>
            <a:off x="5105400" y="5080000"/>
            <a:ext cx="4038600" cy="255587"/>
          </a:xfrm>
          <a:custGeom>
            <a:rect b="b" l="l" r="r" t="t"/>
            <a:pathLst>
              <a:path extrusionOk="0" h="254635" w="4038600">
                <a:moveTo>
                  <a:pt x="0" y="254174"/>
                </a:moveTo>
                <a:lnTo>
                  <a:pt x="4038600" y="254174"/>
                </a:lnTo>
                <a:lnTo>
                  <a:pt x="403860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31"/>
          <p:cNvSpPr/>
          <p:nvPr/>
        </p:nvSpPr>
        <p:spPr>
          <a:xfrm>
            <a:off x="0" y="5080000"/>
            <a:ext cx="4191000" cy="255587"/>
          </a:xfrm>
          <a:custGeom>
            <a:rect b="b" l="l" r="r" t="t"/>
            <a:pathLst>
              <a:path extrusionOk="0" h="254635" w="4191000">
                <a:moveTo>
                  <a:pt x="0" y="254174"/>
                </a:moveTo>
                <a:lnTo>
                  <a:pt x="4190999" y="254174"/>
                </a:lnTo>
                <a:lnTo>
                  <a:pt x="41909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1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1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31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31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1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1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31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31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31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366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Set Difference Operation – Example</a:t>
            </a:r>
            <a:endParaRPr/>
          </a:p>
        </p:txBody>
      </p:sp>
      <p:sp>
        <p:nvSpPr>
          <p:cNvPr id="1244" name="Google Shape;1244;p31"/>
          <p:cNvSpPr txBox="1"/>
          <p:nvPr/>
        </p:nvSpPr>
        <p:spPr>
          <a:xfrm>
            <a:off x="874712" y="10906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245" name="Google Shape;1245;p31"/>
          <p:cNvSpPr txBox="1"/>
          <p:nvPr/>
        </p:nvSpPr>
        <p:spPr>
          <a:xfrm>
            <a:off x="1217612" y="1133475"/>
            <a:ext cx="14224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246" name="Google Shape;1246;p31"/>
          <p:cNvSpPr txBox="1"/>
          <p:nvPr/>
        </p:nvSpPr>
        <p:spPr>
          <a:xfrm>
            <a:off x="876300" y="38211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247" name="Google Shape;1247;p31"/>
          <p:cNvSpPr txBox="1"/>
          <p:nvPr/>
        </p:nvSpPr>
        <p:spPr>
          <a:xfrm>
            <a:off x="1217612" y="3868737"/>
            <a:ext cx="5984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	– s:</a:t>
            </a:r>
            <a:endParaRPr/>
          </a:p>
        </p:txBody>
      </p:sp>
      <p:sp>
        <p:nvSpPr>
          <p:cNvPr id="1248" name="Google Shape;1248;p31"/>
          <p:cNvSpPr/>
          <p:nvPr/>
        </p:nvSpPr>
        <p:spPr>
          <a:xfrm>
            <a:off x="3124200" y="1168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31"/>
          <p:cNvSpPr/>
          <p:nvPr/>
        </p:nvSpPr>
        <p:spPr>
          <a:xfrm>
            <a:off x="3124200" y="1168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1"/>
          <p:cNvSpPr/>
          <p:nvPr/>
        </p:nvSpPr>
        <p:spPr>
          <a:xfrm>
            <a:off x="3581400" y="1168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1"/>
          <p:cNvSpPr/>
          <p:nvPr/>
        </p:nvSpPr>
        <p:spPr>
          <a:xfrm>
            <a:off x="3581400" y="1168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1"/>
          <p:cNvSpPr txBox="1"/>
          <p:nvPr/>
        </p:nvSpPr>
        <p:spPr>
          <a:xfrm>
            <a:off x="3263900" y="1298575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</a:t>
            </a:r>
            <a:endParaRPr/>
          </a:p>
        </p:txBody>
      </p:sp>
      <p:sp>
        <p:nvSpPr>
          <p:cNvPr id="1253" name="Google Shape;1253;p31"/>
          <p:cNvSpPr/>
          <p:nvPr/>
        </p:nvSpPr>
        <p:spPr>
          <a:xfrm>
            <a:off x="3124200" y="1701800"/>
            <a:ext cx="457200" cy="1295400"/>
          </a:xfrm>
          <a:custGeom>
            <a:rect b="b" l="l" r="r" t="t"/>
            <a:pathLst>
              <a:path extrusionOk="0" h="1295400" w="457200">
                <a:moveTo>
                  <a:pt x="457199" y="0"/>
                </a:moveTo>
                <a:lnTo>
                  <a:pt x="0" y="0"/>
                </a:lnTo>
                <a:lnTo>
                  <a:pt x="0" y="1295399"/>
                </a:lnTo>
                <a:lnTo>
                  <a:pt x="457199" y="1295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1"/>
          <p:cNvSpPr/>
          <p:nvPr/>
        </p:nvSpPr>
        <p:spPr>
          <a:xfrm>
            <a:off x="3124200" y="1701800"/>
            <a:ext cx="457200" cy="1295400"/>
          </a:xfrm>
          <a:custGeom>
            <a:rect b="b" l="l" r="r" t="t"/>
            <a:pathLst>
              <a:path extrusionOk="0" h="1295400" w="457200">
                <a:moveTo>
                  <a:pt x="228599" y="1295399"/>
                </a:moveTo>
                <a:lnTo>
                  <a:pt x="0" y="1295399"/>
                </a:lnTo>
                <a:lnTo>
                  <a:pt x="0" y="0"/>
                </a:lnTo>
                <a:lnTo>
                  <a:pt x="457199" y="0"/>
                </a:lnTo>
                <a:lnTo>
                  <a:pt x="457199" y="1295399"/>
                </a:lnTo>
                <a:lnTo>
                  <a:pt x="228599" y="1295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1"/>
          <p:cNvSpPr/>
          <p:nvPr/>
        </p:nvSpPr>
        <p:spPr>
          <a:xfrm>
            <a:off x="3581400" y="1701800"/>
            <a:ext cx="457200" cy="1295400"/>
          </a:xfrm>
          <a:custGeom>
            <a:rect b="b" l="l" r="r" t="t"/>
            <a:pathLst>
              <a:path extrusionOk="0" h="1295400" w="457200">
                <a:moveTo>
                  <a:pt x="457199" y="0"/>
                </a:moveTo>
                <a:lnTo>
                  <a:pt x="0" y="0"/>
                </a:lnTo>
                <a:lnTo>
                  <a:pt x="0" y="1295399"/>
                </a:lnTo>
                <a:lnTo>
                  <a:pt x="457199" y="1295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1"/>
          <p:cNvSpPr/>
          <p:nvPr/>
        </p:nvSpPr>
        <p:spPr>
          <a:xfrm>
            <a:off x="3581400" y="1701800"/>
            <a:ext cx="457200" cy="1295400"/>
          </a:xfrm>
          <a:custGeom>
            <a:rect b="b" l="l" r="r" t="t"/>
            <a:pathLst>
              <a:path extrusionOk="0" h="1295400" w="457200">
                <a:moveTo>
                  <a:pt x="228599" y="1295399"/>
                </a:moveTo>
                <a:lnTo>
                  <a:pt x="0" y="1295399"/>
                </a:lnTo>
                <a:lnTo>
                  <a:pt x="0" y="0"/>
                </a:lnTo>
                <a:lnTo>
                  <a:pt x="457199" y="0"/>
                </a:lnTo>
                <a:lnTo>
                  <a:pt x="457199" y="1295399"/>
                </a:lnTo>
                <a:lnTo>
                  <a:pt x="228599" y="1295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31"/>
          <p:cNvSpPr txBox="1"/>
          <p:nvPr/>
        </p:nvSpPr>
        <p:spPr>
          <a:xfrm>
            <a:off x="3267075" y="1903412"/>
            <a:ext cx="619125" cy="10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58" name="Google Shape;1258;p31"/>
          <p:cNvSpPr/>
          <p:nvPr/>
        </p:nvSpPr>
        <p:spPr>
          <a:xfrm>
            <a:off x="5257800" y="1168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1"/>
          <p:cNvSpPr/>
          <p:nvPr/>
        </p:nvSpPr>
        <p:spPr>
          <a:xfrm>
            <a:off x="5257800" y="1168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1"/>
          <p:cNvSpPr/>
          <p:nvPr/>
        </p:nvSpPr>
        <p:spPr>
          <a:xfrm>
            <a:off x="5715000" y="1168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31"/>
          <p:cNvSpPr/>
          <p:nvPr/>
        </p:nvSpPr>
        <p:spPr>
          <a:xfrm>
            <a:off x="5715000" y="1168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1"/>
          <p:cNvSpPr txBox="1"/>
          <p:nvPr/>
        </p:nvSpPr>
        <p:spPr>
          <a:xfrm>
            <a:off x="5397500" y="1298575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</a:t>
            </a:r>
            <a:endParaRPr/>
          </a:p>
        </p:txBody>
      </p:sp>
      <p:sp>
        <p:nvSpPr>
          <p:cNvPr id="1263" name="Google Shape;1263;p31"/>
          <p:cNvSpPr/>
          <p:nvPr/>
        </p:nvSpPr>
        <p:spPr>
          <a:xfrm>
            <a:off x="5257800" y="1701800"/>
            <a:ext cx="457200" cy="914400"/>
          </a:xfrm>
          <a:custGeom>
            <a:rect b="b" l="l" r="r" t="t"/>
            <a:pathLst>
              <a:path extrusionOk="0" h="914400" w="457200">
                <a:moveTo>
                  <a:pt x="457199" y="0"/>
                </a:moveTo>
                <a:lnTo>
                  <a:pt x="0" y="0"/>
                </a:lnTo>
                <a:lnTo>
                  <a:pt x="0" y="914399"/>
                </a:lnTo>
                <a:lnTo>
                  <a:pt x="457199" y="914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31"/>
          <p:cNvSpPr/>
          <p:nvPr/>
        </p:nvSpPr>
        <p:spPr>
          <a:xfrm>
            <a:off x="5257800" y="1701800"/>
            <a:ext cx="457200" cy="914400"/>
          </a:xfrm>
          <a:custGeom>
            <a:rect b="b" l="l" r="r" t="t"/>
            <a:pathLst>
              <a:path extrusionOk="0" h="914400" w="457200">
                <a:moveTo>
                  <a:pt x="228599" y="914399"/>
                </a:moveTo>
                <a:lnTo>
                  <a:pt x="0" y="914399"/>
                </a:lnTo>
                <a:lnTo>
                  <a:pt x="0" y="0"/>
                </a:lnTo>
                <a:lnTo>
                  <a:pt x="457199" y="0"/>
                </a:lnTo>
                <a:lnTo>
                  <a:pt x="457199" y="914399"/>
                </a:lnTo>
                <a:lnTo>
                  <a:pt x="228599" y="914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31"/>
          <p:cNvSpPr/>
          <p:nvPr/>
        </p:nvSpPr>
        <p:spPr>
          <a:xfrm>
            <a:off x="5715000" y="1701800"/>
            <a:ext cx="457200" cy="914400"/>
          </a:xfrm>
          <a:custGeom>
            <a:rect b="b" l="l" r="r" t="t"/>
            <a:pathLst>
              <a:path extrusionOk="0" h="914400" w="457200">
                <a:moveTo>
                  <a:pt x="457199" y="0"/>
                </a:moveTo>
                <a:lnTo>
                  <a:pt x="0" y="0"/>
                </a:lnTo>
                <a:lnTo>
                  <a:pt x="0" y="914399"/>
                </a:lnTo>
                <a:lnTo>
                  <a:pt x="457199" y="914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31"/>
          <p:cNvSpPr/>
          <p:nvPr/>
        </p:nvSpPr>
        <p:spPr>
          <a:xfrm>
            <a:off x="5715000" y="1701800"/>
            <a:ext cx="457200" cy="914400"/>
          </a:xfrm>
          <a:custGeom>
            <a:rect b="b" l="l" r="r" t="t"/>
            <a:pathLst>
              <a:path extrusionOk="0" h="914400" w="457200">
                <a:moveTo>
                  <a:pt x="228599" y="914399"/>
                </a:moveTo>
                <a:lnTo>
                  <a:pt x="0" y="914399"/>
                </a:lnTo>
                <a:lnTo>
                  <a:pt x="0" y="0"/>
                </a:lnTo>
                <a:lnTo>
                  <a:pt x="457199" y="0"/>
                </a:lnTo>
                <a:lnTo>
                  <a:pt x="457199" y="914399"/>
                </a:lnTo>
                <a:lnTo>
                  <a:pt x="228599" y="914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1"/>
          <p:cNvSpPr txBox="1"/>
          <p:nvPr/>
        </p:nvSpPr>
        <p:spPr>
          <a:xfrm>
            <a:off x="5400675" y="1917700"/>
            <a:ext cx="61912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68" name="Google Shape;1268;p31"/>
          <p:cNvSpPr txBox="1"/>
          <p:nvPr/>
        </p:nvSpPr>
        <p:spPr>
          <a:xfrm>
            <a:off x="3530600" y="3082925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269" name="Google Shape;1269;p31"/>
          <p:cNvSpPr txBox="1"/>
          <p:nvPr/>
        </p:nvSpPr>
        <p:spPr>
          <a:xfrm>
            <a:off x="5622925" y="2778125"/>
            <a:ext cx="1397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270" name="Google Shape;1270;p31"/>
          <p:cNvSpPr/>
          <p:nvPr/>
        </p:nvSpPr>
        <p:spPr>
          <a:xfrm>
            <a:off x="4191000" y="39116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31"/>
          <p:cNvSpPr/>
          <p:nvPr/>
        </p:nvSpPr>
        <p:spPr>
          <a:xfrm>
            <a:off x="4191000" y="39116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31"/>
          <p:cNvSpPr/>
          <p:nvPr/>
        </p:nvSpPr>
        <p:spPr>
          <a:xfrm>
            <a:off x="4648200" y="39116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1"/>
          <p:cNvSpPr/>
          <p:nvPr/>
        </p:nvSpPr>
        <p:spPr>
          <a:xfrm>
            <a:off x="4648200" y="39116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1"/>
          <p:cNvSpPr txBox="1"/>
          <p:nvPr/>
        </p:nvSpPr>
        <p:spPr>
          <a:xfrm>
            <a:off x="4330700" y="4041775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</a:t>
            </a:r>
            <a:endParaRPr/>
          </a:p>
        </p:txBody>
      </p:sp>
      <p:sp>
        <p:nvSpPr>
          <p:cNvPr id="1275" name="Google Shape;1275;p31"/>
          <p:cNvSpPr/>
          <p:nvPr/>
        </p:nvSpPr>
        <p:spPr>
          <a:xfrm>
            <a:off x="4191000" y="4445000"/>
            <a:ext cx="457200" cy="914400"/>
          </a:xfrm>
          <a:custGeom>
            <a:rect b="b" l="l" r="r" t="t"/>
            <a:pathLst>
              <a:path extrusionOk="0" h="914400" w="457200">
                <a:moveTo>
                  <a:pt x="457199" y="0"/>
                </a:moveTo>
                <a:lnTo>
                  <a:pt x="0" y="0"/>
                </a:lnTo>
                <a:lnTo>
                  <a:pt x="0" y="914399"/>
                </a:lnTo>
                <a:lnTo>
                  <a:pt x="457199" y="914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1"/>
          <p:cNvSpPr/>
          <p:nvPr/>
        </p:nvSpPr>
        <p:spPr>
          <a:xfrm>
            <a:off x="4191000" y="4445000"/>
            <a:ext cx="457200" cy="914400"/>
          </a:xfrm>
          <a:custGeom>
            <a:rect b="b" l="l" r="r" t="t"/>
            <a:pathLst>
              <a:path extrusionOk="0" h="914400" w="457200">
                <a:moveTo>
                  <a:pt x="228599" y="914399"/>
                </a:moveTo>
                <a:lnTo>
                  <a:pt x="0" y="914399"/>
                </a:lnTo>
                <a:lnTo>
                  <a:pt x="0" y="0"/>
                </a:lnTo>
                <a:lnTo>
                  <a:pt x="457199" y="0"/>
                </a:lnTo>
                <a:lnTo>
                  <a:pt x="457199" y="914399"/>
                </a:lnTo>
                <a:lnTo>
                  <a:pt x="228599" y="914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1"/>
          <p:cNvSpPr/>
          <p:nvPr/>
        </p:nvSpPr>
        <p:spPr>
          <a:xfrm>
            <a:off x="4648200" y="4445000"/>
            <a:ext cx="457200" cy="914400"/>
          </a:xfrm>
          <a:custGeom>
            <a:rect b="b" l="l" r="r" t="t"/>
            <a:pathLst>
              <a:path extrusionOk="0" h="914400" w="457200">
                <a:moveTo>
                  <a:pt x="457199" y="0"/>
                </a:moveTo>
                <a:lnTo>
                  <a:pt x="0" y="0"/>
                </a:lnTo>
                <a:lnTo>
                  <a:pt x="0" y="914399"/>
                </a:lnTo>
                <a:lnTo>
                  <a:pt x="457199" y="914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1"/>
          <p:cNvSpPr/>
          <p:nvPr/>
        </p:nvSpPr>
        <p:spPr>
          <a:xfrm>
            <a:off x="4648200" y="4445000"/>
            <a:ext cx="457200" cy="914400"/>
          </a:xfrm>
          <a:custGeom>
            <a:rect b="b" l="l" r="r" t="t"/>
            <a:pathLst>
              <a:path extrusionOk="0" h="914400" w="457200">
                <a:moveTo>
                  <a:pt x="228599" y="914399"/>
                </a:moveTo>
                <a:lnTo>
                  <a:pt x="0" y="914399"/>
                </a:lnTo>
                <a:lnTo>
                  <a:pt x="0" y="0"/>
                </a:lnTo>
                <a:lnTo>
                  <a:pt x="457199" y="0"/>
                </a:lnTo>
                <a:lnTo>
                  <a:pt x="457199" y="914399"/>
                </a:lnTo>
                <a:lnTo>
                  <a:pt x="228599" y="914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31"/>
          <p:cNvSpPr txBox="1"/>
          <p:nvPr/>
        </p:nvSpPr>
        <p:spPr>
          <a:xfrm>
            <a:off x="4333875" y="4660900"/>
            <a:ext cx="61912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80" name="Google Shape;1280;p31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281" name="Google Shape;1281;p31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282" name="Google Shape;1282;p31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32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32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2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32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32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32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2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32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2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32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32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32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2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32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32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32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2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2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2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32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32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32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32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3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32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2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2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1431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Set Difference Operation</a:t>
            </a:r>
            <a:endParaRPr/>
          </a:p>
        </p:txBody>
      </p:sp>
      <p:sp>
        <p:nvSpPr>
          <p:cNvPr id="1314" name="Google Shape;1314;p32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315" name="Google Shape;1315;p32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316" name="Google Shape;1316;p32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317" name="Google Shape;1317;p32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318" name="Google Shape;1318;p32"/>
          <p:cNvSpPr txBox="1"/>
          <p:nvPr/>
        </p:nvSpPr>
        <p:spPr>
          <a:xfrm>
            <a:off x="1217612" y="1162050"/>
            <a:ext cx="13827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– s</a:t>
            </a:r>
            <a:endParaRPr/>
          </a:p>
        </p:txBody>
      </p:sp>
      <p:sp>
        <p:nvSpPr>
          <p:cNvPr id="1319" name="Google Shape;1319;p32"/>
          <p:cNvSpPr txBox="1"/>
          <p:nvPr/>
        </p:nvSpPr>
        <p:spPr>
          <a:xfrm>
            <a:off x="874712" y="1490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320" name="Google Shape;1320;p32"/>
          <p:cNvSpPr txBox="1"/>
          <p:nvPr/>
        </p:nvSpPr>
        <p:spPr>
          <a:xfrm>
            <a:off x="1217612" y="1536700"/>
            <a:ext cx="11795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as:</a:t>
            </a:r>
            <a:endParaRPr/>
          </a:p>
        </p:txBody>
      </p:sp>
      <p:sp>
        <p:nvSpPr>
          <p:cNvPr id="1321" name="Google Shape;1321;p32"/>
          <p:cNvSpPr txBox="1"/>
          <p:nvPr/>
        </p:nvSpPr>
        <p:spPr>
          <a:xfrm>
            <a:off x="1852612" y="1909762"/>
            <a:ext cx="263842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– s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∉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322" name="Google Shape;1322;p32"/>
          <p:cNvSpPr txBox="1"/>
          <p:nvPr/>
        </p:nvSpPr>
        <p:spPr>
          <a:xfrm>
            <a:off x="874712" y="26146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323" name="Google Shape;1323;p32"/>
          <p:cNvSpPr txBox="1"/>
          <p:nvPr/>
        </p:nvSpPr>
        <p:spPr>
          <a:xfrm>
            <a:off x="1217612" y="2657475"/>
            <a:ext cx="52435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differences must be taken between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compatible</a:t>
            </a:r>
            <a:endParaRPr/>
          </a:p>
        </p:txBody>
      </p:sp>
      <p:sp>
        <p:nvSpPr>
          <p:cNvPr id="1324" name="Google Shape;1324;p32"/>
          <p:cNvSpPr txBox="1"/>
          <p:nvPr/>
        </p:nvSpPr>
        <p:spPr>
          <a:xfrm>
            <a:off x="1217612" y="2932112"/>
            <a:ext cx="9509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relations.</a:t>
            </a:r>
            <a:endParaRPr/>
          </a:p>
        </p:txBody>
      </p:sp>
      <p:sp>
        <p:nvSpPr>
          <p:cNvPr id="1325" name="Google Shape;1325;p32"/>
          <p:cNvSpPr txBox="1"/>
          <p:nvPr/>
        </p:nvSpPr>
        <p:spPr>
          <a:xfrm>
            <a:off x="1331912" y="32766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326" name="Google Shape;1326;p32"/>
          <p:cNvSpPr txBox="1"/>
          <p:nvPr/>
        </p:nvSpPr>
        <p:spPr>
          <a:xfrm>
            <a:off x="1617662" y="3306762"/>
            <a:ext cx="33385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have the </a:t>
            </a:r>
            <a:r>
              <a:rPr b="0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same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arity</a:t>
            </a:r>
            <a:endParaRPr/>
          </a:p>
        </p:txBody>
      </p:sp>
      <p:sp>
        <p:nvSpPr>
          <p:cNvPr id="1327" name="Google Shape;1327;p32"/>
          <p:cNvSpPr txBox="1"/>
          <p:nvPr/>
        </p:nvSpPr>
        <p:spPr>
          <a:xfrm>
            <a:off x="1331912" y="36512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328" name="Google Shape;1328;p32"/>
          <p:cNvSpPr txBox="1"/>
          <p:nvPr/>
        </p:nvSpPr>
        <p:spPr>
          <a:xfrm>
            <a:off x="1617662" y="3679825"/>
            <a:ext cx="483552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 domains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compatible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33"/>
          <p:cNvSpPr/>
          <p:nvPr/>
        </p:nvSpPr>
        <p:spPr>
          <a:xfrm>
            <a:off x="6019800" y="1263650"/>
            <a:ext cx="3124200" cy="255587"/>
          </a:xfrm>
          <a:custGeom>
            <a:rect b="b" l="l" r="r" t="t"/>
            <a:pathLst>
              <a:path extrusionOk="0" h="255905" w="3124200">
                <a:moveTo>
                  <a:pt x="0" y="255531"/>
                </a:moveTo>
                <a:lnTo>
                  <a:pt x="3124200" y="255531"/>
                </a:lnTo>
                <a:lnTo>
                  <a:pt x="31242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33"/>
          <p:cNvSpPr/>
          <p:nvPr/>
        </p:nvSpPr>
        <p:spPr>
          <a:xfrm>
            <a:off x="3810000" y="1263650"/>
            <a:ext cx="838200" cy="255587"/>
          </a:xfrm>
          <a:custGeom>
            <a:rect b="b" l="l" r="r" t="t"/>
            <a:pathLst>
              <a:path extrusionOk="0" h="255905" w="838200">
                <a:moveTo>
                  <a:pt x="0" y="255531"/>
                </a:moveTo>
                <a:lnTo>
                  <a:pt x="838199" y="255531"/>
                </a:lnTo>
                <a:lnTo>
                  <a:pt x="838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33"/>
          <p:cNvSpPr/>
          <p:nvPr/>
        </p:nvSpPr>
        <p:spPr>
          <a:xfrm>
            <a:off x="0" y="1263650"/>
            <a:ext cx="2895600" cy="255587"/>
          </a:xfrm>
          <a:custGeom>
            <a:rect b="b" l="l" r="r" t="t"/>
            <a:pathLst>
              <a:path extrusionOk="0" h="255905" w="2895600">
                <a:moveTo>
                  <a:pt x="0" y="255531"/>
                </a:moveTo>
                <a:lnTo>
                  <a:pt x="2895599" y="255531"/>
                </a:lnTo>
                <a:lnTo>
                  <a:pt x="28955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33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33"/>
          <p:cNvSpPr/>
          <p:nvPr/>
        </p:nvSpPr>
        <p:spPr>
          <a:xfrm>
            <a:off x="6019800" y="1774825"/>
            <a:ext cx="3124200" cy="252412"/>
          </a:xfrm>
          <a:custGeom>
            <a:rect b="b" l="l" r="r" t="t"/>
            <a:pathLst>
              <a:path extrusionOk="0" h="252094" w="3124200">
                <a:moveTo>
                  <a:pt x="0" y="251960"/>
                </a:moveTo>
                <a:lnTo>
                  <a:pt x="3124200" y="251960"/>
                </a:lnTo>
                <a:lnTo>
                  <a:pt x="3124200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33"/>
          <p:cNvSpPr/>
          <p:nvPr/>
        </p:nvSpPr>
        <p:spPr>
          <a:xfrm>
            <a:off x="3810000" y="1774825"/>
            <a:ext cx="838200" cy="252412"/>
          </a:xfrm>
          <a:custGeom>
            <a:rect b="b" l="l" r="r" t="t"/>
            <a:pathLst>
              <a:path extrusionOk="0" h="252094" w="838200">
                <a:moveTo>
                  <a:pt x="0" y="251960"/>
                </a:moveTo>
                <a:lnTo>
                  <a:pt x="838199" y="251960"/>
                </a:lnTo>
                <a:lnTo>
                  <a:pt x="83819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33"/>
          <p:cNvSpPr/>
          <p:nvPr/>
        </p:nvSpPr>
        <p:spPr>
          <a:xfrm>
            <a:off x="0" y="1774825"/>
            <a:ext cx="2895600" cy="252412"/>
          </a:xfrm>
          <a:custGeom>
            <a:rect b="b" l="l" r="r" t="t"/>
            <a:pathLst>
              <a:path extrusionOk="0" h="252094" w="2895600">
                <a:moveTo>
                  <a:pt x="0" y="251960"/>
                </a:moveTo>
                <a:lnTo>
                  <a:pt x="2895599" y="251960"/>
                </a:lnTo>
                <a:lnTo>
                  <a:pt x="289559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33"/>
          <p:cNvSpPr/>
          <p:nvPr/>
        </p:nvSpPr>
        <p:spPr>
          <a:xfrm>
            <a:off x="6019800" y="2027237"/>
            <a:ext cx="3124200" cy="255587"/>
          </a:xfrm>
          <a:custGeom>
            <a:rect b="b" l="l" r="r" t="t"/>
            <a:pathLst>
              <a:path extrusionOk="0" h="255905" w="3124200">
                <a:moveTo>
                  <a:pt x="0" y="255650"/>
                </a:moveTo>
                <a:lnTo>
                  <a:pt x="3124200" y="255650"/>
                </a:lnTo>
                <a:lnTo>
                  <a:pt x="312420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33"/>
          <p:cNvSpPr/>
          <p:nvPr/>
        </p:nvSpPr>
        <p:spPr>
          <a:xfrm>
            <a:off x="3810000" y="2027237"/>
            <a:ext cx="838200" cy="255587"/>
          </a:xfrm>
          <a:custGeom>
            <a:rect b="b" l="l" r="r" t="t"/>
            <a:pathLst>
              <a:path extrusionOk="0" h="255905" w="838200">
                <a:moveTo>
                  <a:pt x="0" y="255650"/>
                </a:moveTo>
                <a:lnTo>
                  <a:pt x="838199" y="255650"/>
                </a:lnTo>
                <a:lnTo>
                  <a:pt x="8381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33"/>
          <p:cNvSpPr/>
          <p:nvPr/>
        </p:nvSpPr>
        <p:spPr>
          <a:xfrm>
            <a:off x="0" y="2027237"/>
            <a:ext cx="2895600" cy="255587"/>
          </a:xfrm>
          <a:custGeom>
            <a:rect b="b" l="l" r="r" t="t"/>
            <a:pathLst>
              <a:path extrusionOk="0" h="255905" w="2895600">
                <a:moveTo>
                  <a:pt x="0" y="255650"/>
                </a:moveTo>
                <a:lnTo>
                  <a:pt x="2895599" y="255650"/>
                </a:lnTo>
                <a:lnTo>
                  <a:pt x="28955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33"/>
          <p:cNvSpPr/>
          <p:nvPr/>
        </p:nvSpPr>
        <p:spPr>
          <a:xfrm>
            <a:off x="6019800" y="2282825"/>
            <a:ext cx="3124200" cy="255587"/>
          </a:xfrm>
          <a:custGeom>
            <a:rect b="b" l="l" r="r" t="t"/>
            <a:pathLst>
              <a:path extrusionOk="0" h="255905" w="3124200">
                <a:moveTo>
                  <a:pt x="0" y="255531"/>
                </a:moveTo>
                <a:lnTo>
                  <a:pt x="3124200" y="255531"/>
                </a:lnTo>
                <a:lnTo>
                  <a:pt x="31242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33"/>
          <p:cNvSpPr/>
          <p:nvPr/>
        </p:nvSpPr>
        <p:spPr>
          <a:xfrm>
            <a:off x="0" y="2282825"/>
            <a:ext cx="4648200" cy="255587"/>
          </a:xfrm>
          <a:custGeom>
            <a:rect b="b" l="l" r="r" t="t"/>
            <a:pathLst>
              <a:path extrusionOk="0" h="255905" w="4648200">
                <a:moveTo>
                  <a:pt x="0" y="255531"/>
                </a:moveTo>
                <a:lnTo>
                  <a:pt x="4648199" y="255531"/>
                </a:lnTo>
                <a:lnTo>
                  <a:pt x="4648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33"/>
          <p:cNvSpPr/>
          <p:nvPr/>
        </p:nvSpPr>
        <p:spPr>
          <a:xfrm>
            <a:off x="6019800" y="2538412"/>
            <a:ext cx="3124200" cy="252412"/>
          </a:xfrm>
          <a:custGeom>
            <a:rect b="b" l="l" r="r" t="t"/>
            <a:pathLst>
              <a:path extrusionOk="0" h="252730" w="3124200">
                <a:moveTo>
                  <a:pt x="0" y="252221"/>
                </a:moveTo>
                <a:lnTo>
                  <a:pt x="3124200" y="252221"/>
                </a:lnTo>
                <a:lnTo>
                  <a:pt x="312420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33"/>
          <p:cNvSpPr/>
          <p:nvPr/>
        </p:nvSpPr>
        <p:spPr>
          <a:xfrm>
            <a:off x="0" y="2538412"/>
            <a:ext cx="4648200" cy="252412"/>
          </a:xfrm>
          <a:custGeom>
            <a:rect b="b" l="l" r="r" t="t"/>
            <a:pathLst>
              <a:path extrusionOk="0" h="252730" w="4648200">
                <a:moveTo>
                  <a:pt x="0" y="252221"/>
                </a:moveTo>
                <a:lnTo>
                  <a:pt x="4648199" y="252221"/>
                </a:lnTo>
                <a:lnTo>
                  <a:pt x="46481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33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33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33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33"/>
          <p:cNvSpPr/>
          <p:nvPr/>
        </p:nvSpPr>
        <p:spPr>
          <a:xfrm>
            <a:off x="5105400" y="3556000"/>
            <a:ext cx="4038600" cy="254000"/>
          </a:xfrm>
          <a:custGeom>
            <a:rect b="b" l="l" r="r" t="t"/>
            <a:pathLst>
              <a:path extrusionOk="0" h="254635" w="4038600">
                <a:moveTo>
                  <a:pt x="0" y="254162"/>
                </a:moveTo>
                <a:lnTo>
                  <a:pt x="4038600" y="254162"/>
                </a:lnTo>
                <a:lnTo>
                  <a:pt x="40386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33"/>
          <p:cNvSpPr/>
          <p:nvPr/>
        </p:nvSpPr>
        <p:spPr>
          <a:xfrm>
            <a:off x="0" y="3556000"/>
            <a:ext cx="2819400" cy="254000"/>
          </a:xfrm>
          <a:custGeom>
            <a:rect b="b" l="l" r="r" t="t"/>
            <a:pathLst>
              <a:path extrusionOk="0" h="254635" w="2819400">
                <a:moveTo>
                  <a:pt x="0" y="254162"/>
                </a:moveTo>
                <a:lnTo>
                  <a:pt x="2819399" y="254162"/>
                </a:lnTo>
                <a:lnTo>
                  <a:pt x="28193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33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33"/>
          <p:cNvSpPr/>
          <p:nvPr/>
        </p:nvSpPr>
        <p:spPr>
          <a:xfrm>
            <a:off x="5105400" y="4064000"/>
            <a:ext cx="4038600" cy="254000"/>
          </a:xfrm>
          <a:custGeom>
            <a:rect b="b" l="l" r="r" t="t"/>
            <a:pathLst>
              <a:path extrusionOk="0" h="254635" w="4038600">
                <a:moveTo>
                  <a:pt x="0" y="254162"/>
                </a:moveTo>
                <a:lnTo>
                  <a:pt x="4038600" y="254162"/>
                </a:lnTo>
                <a:lnTo>
                  <a:pt x="40386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33"/>
          <p:cNvSpPr/>
          <p:nvPr/>
        </p:nvSpPr>
        <p:spPr>
          <a:xfrm>
            <a:off x="0" y="4064000"/>
            <a:ext cx="2819400" cy="254000"/>
          </a:xfrm>
          <a:custGeom>
            <a:rect b="b" l="l" r="r" t="t"/>
            <a:pathLst>
              <a:path extrusionOk="0" h="254635" w="2819400">
                <a:moveTo>
                  <a:pt x="0" y="254162"/>
                </a:moveTo>
                <a:lnTo>
                  <a:pt x="2819399" y="254162"/>
                </a:lnTo>
                <a:lnTo>
                  <a:pt x="28193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33"/>
          <p:cNvSpPr/>
          <p:nvPr/>
        </p:nvSpPr>
        <p:spPr>
          <a:xfrm>
            <a:off x="5105400" y="4318000"/>
            <a:ext cx="4038600" cy="255587"/>
          </a:xfrm>
          <a:custGeom>
            <a:rect b="b" l="l" r="r" t="t"/>
            <a:pathLst>
              <a:path extrusionOk="0" h="254635" w="4038600">
                <a:moveTo>
                  <a:pt x="0" y="254150"/>
                </a:moveTo>
                <a:lnTo>
                  <a:pt x="4038600" y="254150"/>
                </a:lnTo>
                <a:lnTo>
                  <a:pt x="403860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33"/>
          <p:cNvSpPr/>
          <p:nvPr/>
        </p:nvSpPr>
        <p:spPr>
          <a:xfrm>
            <a:off x="0" y="4318000"/>
            <a:ext cx="2819400" cy="255587"/>
          </a:xfrm>
          <a:custGeom>
            <a:rect b="b" l="l" r="r" t="t"/>
            <a:pathLst>
              <a:path extrusionOk="0" h="254635" w="2819400">
                <a:moveTo>
                  <a:pt x="0" y="254150"/>
                </a:moveTo>
                <a:lnTo>
                  <a:pt x="2819399" y="254150"/>
                </a:lnTo>
                <a:lnTo>
                  <a:pt x="28193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33"/>
          <p:cNvSpPr/>
          <p:nvPr/>
        </p:nvSpPr>
        <p:spPr>
          <a:xfrm>
            <a:off x="5105400" y="4572000"/>
            <a:ext cx="4038600" cy="255587"/>
          </a:xfrm>
          <a:custGeom>
            <a:rect b="b" l="l" r="r" t="t"/>
            <a:pathLst>
              <a:path extrusionOk="0" h="254635" w="4038600">
                <a:moveTo>
                  <a:pt x="0" y="254162"/>
                </a:moveTo>
                <a:lnTo>
                  <a:pt x="4038600" y="254162"/>
                </a:lnTo>
                <a:lnTo>
                  <a:pt x="40386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33"/>
          <p:cNvSpPr/>
          <p:nvPr/>
        </p:nvSpPr>
        <p:spPr>
          <a:xfrm>
            <a:off x="0" y="4572000"/>
            <a:ext cx="2819400" cy="255587"/>
          </a:xfrm>
          <a:custGeom>
            <a:rect b="b" l="l" r="r" t="t"/>
            <a:pathLst>
              <a:path extrusionOk="0" h="254635" w="2819400">
                <a:moveTo>
                  <a:pt x="0" y="254162"/>
                </a:moveTo>
                <a:lnTo>
                  <a:pt x="2819399" y="254162"/>
                </a:lnTo>
                <a:lnTo>
                  <a:pt x="28193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33"/>
          <p:cNvSpPr/>
          <p:nvPr/>
        </p:nvSpPr>
        <p:spPr>
          <a:xfrm>
            <a:off x="5105400" y="4826000"/>
            <a:ext cx="4038600" cy="254000"/>
          </a:xfrm>
          <a:custGeom>
            <a:rect b="b" l="l" r="r" t="t"/>
            <a:pathLst>
              <a:path extrusionOk="0" h="254000" w="4038600">
                <a:moveTo>
                  <a:pt x="0" y="253793"/>
                </a:moveTo>
                <a:lnTo>
                  <a:pt x="4038600" y="253793"/>
                </a:lnTo>
                <a:lnTo>
                  <a:pt x="403860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33"/>
          <p:cNvSpPr/>
          <p:nvPr/>
        </p:nvSpPr>
        <p:spPr>
          <a:xfrm>
            <a:off x="0" y="4826000"/>
            <a:ext cx="2819400" cy="254000"/>
          </a:xfrm>
          <a:custGeom>
            <a:rect b="b" l="l" r="r" t="t"/>
            <a:pathLst>
              <a:path extrusionOk="0" h="254000" w="2819400">
                <a:moveTo>
                  <a:pt x="0" y="253793"/>
                </a:moveTo>
                <a:lnTo>
                  <a:pt x="2819399" y="253793"/>
                </a:lnTo>
                <a:lnTo>
                  <a:pt x="28193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3"/>
          <p:cNvSpPr/>
          <p:nvPr/>
        </p:nvSpPr>
        <p:spPr>
          <a:xfrm>
            <a:off x="5105400" y="5080000"/>
            <a:ext cx="4038600" cy="255587"/>
          </a:xfrm>
          <a:custGeom>
            <a:rect b="b" l="l" r="r" t="t"/>
            <a:pathLst>
              <a:path extrusionOk="0" h="254635" w="4038600">
                <a:moveTo>
                  <a:pt x="0" y="254174"/>
                </a:moveTo>
                <a:lnTo>
                  <a:pt x="4038600" y="254174"/>
                </a:lnTo>
                <a:lnTo>
                  <a:pt x="403860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33"/>
          <p:cNvSpPr/>
          <p:nvPr/>
        </p:nvSpPr>
        <p:spPr>
          <a:xfrm>
            <a:off x="0" y="5080000"/>
            <a:ext cx="2819400" cy="255587"/>
          </a:xfrm>
          <a:custGeom>
            <a:rect b="b" l="l" r="r" t="t"/>
            <a:pathLst>
              <a:path extrusionOk="0" h="254635" w="2819400">
                <a:moveTo>
                  <a:pt x="0" y="254174"/>
                </a:moveTo>
                <a:lnTo>
                  <a:pt x="2819399" y="254174"/>
                </a:lnTo>
                <a:lnTo>
                  <a:pt x="28193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33"/>
          <p:cNvSpPr/>
          <p:nvPr/>
        </p:nvSpPr>
        <p:spPr>
          <a:xfrm>
            <a:off x="5105400" y="5334000"/>
            <a:ext cx="4038600" cy="255587"/>
          </a:xfrm>
          <a:custGeom>
            <a:rect b="b" l="l" r="r" t="t"/>
            <a:pathLst>
              <a:path extrusionOk="0" h="254635" w="4038600">
                <a:moveTo>
                  <a:pt x="0" y="254150"/>
                </a:moveTo>
                <a:lnTo>
                  <a:pt x="4038600" y="254150"/>
                </a:lnTo>
                <a:lnTo>
                  <a:pt x="403860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33"/>
          <p:cNvSpPr/>
          <p:nvPr/>
        </p:nvSpPr>
        <p:spPr>
          <a:xfrm>
            <a:off x="0" y="5334000"/>
            <a:ext cx="2819400" cy="255587"/>
          </a:xfrm>
          <a:custGeom>
            <a:rect b="b" l="l" r="r" t="t"/>
            <a:pathLst>
              <a:path extrusionOk="0" h="254635" w="2819400">
                <a:moveTo>
                  <a:pt x="0" y="254150"/>
                </a:moveTo>
                <a:lnTo>
                  <a:pt x="2819399" y="254150"/>
                </a:lnTo>
                <a:lnTo>
                  <a:pt x="28193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33"/>
          <p:cNvSpPr/>
          <p:nvPr/>
        </p:nvSpPr>
        <p:spPr>
          <a:xfrm>
            <a:off x="5105400" y="5588000"/>
            <a:ext cx="4038600" cy="255587"/>
          </a:xfrm>
          <a:custGeom>
            <a:rect b="b" l="l" r="r" t="t"/>
            <a:pathLst>
              <a:path extrusionOk="0" h="254635" w="4038600">
                <a:moveTo>
                  <a:pt x="0" y="254162"/>
                </a:moveTo>
                <a:lnTo>
                  <a:pt x="4038600" y="254162"/>
                </a:lnTo>
                <a:lnTo>
                  <a:pt x="40386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33"/>
          <p:cNvSpPr/>
          <p:nvPr/>
        </p:nvSpPr>
        <p:spPr>
          <a:xfrm>
            <a:off x="0" y="5588000"/>
            <a:ext cx="2819400" cy="255587"/>
          </a:xfrm>
          <a:custGeom>
            <a:rect b="b" l="l" r="r" t="t"/>
            <a:pathLst>
              <a:path extrusionOk="0" h="254635" w="2819400">
                <a:moveTo>
                  <a:pt x="0" y="254162"/>
                </a:moveTo>
                <a:lnTo>
                  <a:pt x="2819399" y="254162"/>
                </a:lnTo>
                <a:lnTo>
                  <a:pt x="28193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33"/>
          <p:cNvSpPr/>
          <p:nvPr/>
        </p:nvSpPr>
        <p:spPr>
          <a:xfrm>
            <a:off x="5105400" y="5843587"/>
            <a:ext cx="4038600" cy="254000"/>
          </a:xfrm>
          <a:custGeom>
            <a:rect b="b" l="l" r="r" t="t"/>
            <a:pathLst>
              <a:path extrusionOk="0" h="254000" w="4038600">
                <a:moveTo>
                  <a:pt x="0" y="253793"/>
                </a:moveTo>
                <a:lnTo>
                  <a:pt x="4038600" y="253793"/>
                </a:lnTo>
                <a:lnTo>
                  <a:pt x="403860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33"/>
          <p:cNvSpPr/>
          <p:nvPr/>
        </p:nvSpPr>
        <p:spPr>
          <a:xfrm>
            <a:off x="0" y="5843587"/>
            <a:ext cx="2819400" cy="254000"/>
          </a:xfrm>
          <a:custGeom>
            <a:rect b="b" l="l" r="r" t="t"/>
            <a:pathLst>
              <a:path extrusionOk="0" h="254000" w="2819400">
                <a:moveTo>
                  <a:pt x="0" y="253793"/>
                </a:moveTo>
                <a:lnTo>
                  <a:pt x="2819399" y="253793"/>
                </a:lnTo>
                <a:lnTo>
                  <a:pt x="28193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33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33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33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3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33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33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3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762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Cartesian-Product Operation –	Example</a:t>
            </a:r>
            <a:endParaRPr/>
          </a:p>
        </p:txBody>
      </p:sp>
      <p:sp>
        <p:nvSpPr>
          <p:cNvPr id="1376" name="Google Shape;1376;p33"/>
          <p:cNvSpPr txBox="1"/>
          <p:nvPr/>
        </p:nvSpPr>
        <p:spPr>
          <a:xfrm>
            <a:off x="876300" y="1101725"/>
            <a:ext cx="2000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377" name="Google Shape;1377;p33"/>
          <p:cNvSpPr txBox="1"/>
          <p:nvPr/>
        </p:nvSpPr>
        <p:spPr>
          <a:xfrm>
            <a:off x="1217612" y="1163637"/>
            <a:ext cx="14224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r, 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378" name="Google Shape;1378;p33"/>
          <p:cNvSpPr txBox="1"/>
          <p:nvPr/>
        </p:nvSpPr>
        <p:spPr>
          <a:xfrm>
            <a:off x="876300" y="3159125"/>
            <a:ext cx="2000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379" name="Google Shape;1379;p33"/>
          <p:cNvSpPr txBox="1"/>
          <p:nvPr/>
        </p:nvSpPr>
        <p:spPr>
          <a:xfrm>
            <a:off x="1217612" y="3221037"/>
            <a:ext cx="522287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380" name="Google Shape;1380;p33"/>
          <p:cNvSpPr/>
          <p:nvPr/>
        </p:nvSpPr>
        <p:spPr>
          <a:xfrm>
            <a:off x="2895600" y="1219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33"/>
          <p:cNvSpPr/>
          <p:nvPr/>
        </p:nvSpPr>
        <p:spPr>
          <a:xfrm>
            <a:off x="2895600" y="1219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33"/>
          <p:cNvSpPr/>
          <p:nvPr/>
        </p:nvSpPr>
        <p:spPr>
          <a:xfrm>
            <a:off x="3352800" y="1219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33"/>
          <p:cNvSpPr/>
          <p:nvPr/>
        </p:nvSpPr>
        <p:spPr>
          <a:xfrm>
            <a:off x="3352800" y="1219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33"/>
          <p:cNvSpPr txBox="1"/>
          <p:nvPr/>
        </p:nvSpPr>
        <p:spPr>
          <a:xfrm>
            <a:off x="3035300" y="1349375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</a:t>
            </a:r>
            <a:endParaRPr/>
          </a:p>
        </p:txBody>
      </p:sp>
      <p:sp>
        <p:nvSpPr>
          <p:cNvPr id="1385" name="Google Shape;1385;p33"/>
          <p:cNvSpPr/>
          <p:nvPr/>
        </p:nvSpPr>
        <p:spPr>
          <a:xfrm>
            <a:off x="2895600" y="1752600"/>
            <a:ext cx="457200" cy="762000"/>
          </a:xfrm>
          <a:custGeom>
            <a:rect b="b" l="l" r="r" t="t"/>
            <a:pathLst>
              <a:path extrusionOk="0" h="762000" w="457200">
                <a:moveTo>
                  <a:pt x="457199" y="0"/>
                </a:moveTo>
                <a:lnTo>
                  <a:pt x="0" y="0"/>
                </a:lnTo>
                <a:lnTo>
                  <a:pt x="0" y="761999"/>
                </a:lnTo>
                <a:lnTo>
                  <a:pt x="457199" y="7619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3"/>
          <p:cNvSpPr/>
          <p:nvPr/>
        </p:nvSpPr>
        <p:spPr>
          <a:xfrm>
            <a:off x="2895600" y="1752600"/>
            <a:ext cx="457200" cy="762000"/>
          </a:xfrm>
          <a:custGeom>
            <a:rect b="b" l="l" r="r" t="t"/>
            <a:pathLst>
              <a:path extrusionOk="0" h="762000" w="457200">
                <a:moveTo>
                  <a:pt x="228599" y="761999"/>
                </a:moveTo>
                <a:lnTo>
                  <a:pt x="0" y="761999"/>
                </a:lnTo>
                <a:lnTo>
                  <a:pt x="0" y="0"/>
                </a:lnTo>
                <a:lnTo>
                  <a:pt x="457199" y="0"/>
                </a:lnTo>
                <a:lnTo>
                  <a:pt x="457199" y="761999"/>
                </a:lnTo>
                <a:lnTo>
                  <a:pt x="228599" y="7619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33"/>
          <p:cNvSpPr/>
          <p:nvPr/>
        </p:nvSpPr>
        <p:spPr>
          <a:xfrm>
            <a:off x="3352800" y="1752600"/>
            <a:ext cx="457200" cy="762000"/>
          </a:xfrm>
          <a:custGeom>
            <a:rect b="b" l="l" r="r" t="t"/>
            <a:pathLst>
              <a:path extrusionOk="0" h="762000" w="457200">
                <a:moveTo>
                  <a:pt x="457199" y="0"/>
                </a:moveTo>
                <a:lnTo>
                  <a:pt x="0" y="0"/>
                </a:lnTo>
                <a:lnTo>
                  <a:pt x="0" y="761999"/>
                </a:lnTo>
                <a:lnTo>
                  <a:pt x="457199" y="7619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3"/>
          <p:cNvSpPr/>
          <p:nvPr/>
        </p:nvSpPr>
        <p:spPr>
          <a:xfrm>
            <a:off x="3352800" y="1752600"/>
            <a:ext cx="457200" cy="762000"/>
          </a:xfrm>
          <a:custGeom>
            <a:rect b="b" l="l" r="r" t="t"/>
            <a:pathLst>
              <a:path extrusionOk="0" h="762000" w="457200">
                <a:moveTo>
                  <a:pt x="228599" y="761999"/>
                </a:moveTo>
                <a:lnTo>
                  <a:pt x="0" y="761999"/>
                </a:lnTo>
                <a:lnTo>
                  <a:pt x="0" y="0"/>
                </a:lnTo>
                <a:lnTo>
                  <a:pt x="457199" y="0"/>
                </a:lnTo>
                <a:lnTo>
                  <a:pt x="457199" y="761999"/>
                </a:lnTo>
                <a:lnTo>
                  <a:pt x="228599" y="7619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3"/>
          <p:cNvSpPr txBox="1"/>
          <p:nvPr/>
        </p:nvSpPr>
        <p:spPr>
          <a:xfrm>
            <a:off x="3038475" y="1892300"/>
            <a:ext cx="6191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90" name="Google Shape;1390;p33"/>
          <p:cNvSpPr txBox="1"/>
          <p:nvPr/>
        </p:nvSpPr>
        <p:spPr>
          <a:xfrm>
            <a:off x="3049587" y="2303462"/>
            <a:ext cx="6080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391" name="Google Shape;1391;p33"/>
          <p:cNvSpPr/>
          <p:nvPr/>
        </p:nvSpPr>
        <p:spPr>
          <a:xfrm>
            <a:off x="2819400" y="39751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457199" y="0"/>
                </a:moveTo>
                <a:lnTo>
                  <a:pt x="0" y="0"/>
                </a:lnTo>
                <a:lnTo>
                  <a:pt x="0" y="2133599"/>
                </a:lnTo>
                <a:lnTo>
                  <a:pt x="457199" y="2133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3"/>
          <p:cNvSpPr/>
          <p:nvPr/>
        </p:nvSpPr>
        <p:spPr>
          <a:xfrm>
            <a:off x="2819400" y="39751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228599" y="2133599"/>
                </a:moveTo>
                <a:lnTo>
                  <a:pt x="0" y="2133599"/>
                </a:lnTo>
                <a:lnTo>
                  <a:pt x="0" y="0"/>
                </a:lnTo>
                <a:lnTo>
                  <a:pt x="457199" y="0"/>
                </a:lnTo>
                <a:lnTo>
                  <a:pt x="457199" y="2133599"/>
                </a:lnTo>
                <a:lnTo>
                  <a:pt x="228599" y="21335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3"/>
          <p:cNvSpPr/>
          <p:nvPr/>
        </p:nvSpPr>
        <p:spPr>
          <a:xfrm>
            <a:off x="3276600" y="39751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457199" y="0"/>
                </a:moveTo>
                <a:lnTo>
                  <a:pt x="0" y="0"/>
                </a:lnTo>
                <a:lnTo>
                  <a:pt x="0" y="2133599"/>
                </a:lnTo>
                <a:lnTo>
                  <a:pt x="457199" y="2133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33"/>
          <p:cNvSpPr/>
          <p:nvPr/>
        </p:nvSpPr>
        <p:spPr>
          <a:xfrm>
            <a:off x="3276600" y="39751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228599" y="2133599"/>
                </a:moveTo>
                <a:lnTo>
                  <a:pt x="0" y="2133599"/>
                </a:lnTo>
                <a:lnTo>
                  <a:pt x="0" y="0"/>
                </a:lnTo>
                <a:lnTo>
                  <a:pt x="457199" y="0"/>
                </a:lnTo>
                <a:lnTo>
                  <a:pt x="457199" y="2133599"/>
                </a:lnTo>
                <a:lnTo>
                  <a:pt x="228599" y="21335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33"/>
          <p:cNvSpPr/>
          <p:nvPr/>
        </p:nvSpPr>
        <p:spPr>
          <a:xfrm>
            <a:off x="3733800" y="39751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457199" y="0"/>
                </a:moveTo>
                <a:lnTo>
                  <a:pt x="0" y="0"/>
                </a:lnTo>
                <a:lnTo>
                  <a:pt x="0" y="2133599"/>
                </a:lnTo>
                <a:lnTo>
                  <a:pt x="457199" y="2133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33"/>
          <p:cNvSpPr/>
          <p:nvPr/>
        </p:nvSpPr>
        <p:spPr>
          <a:xfrm>
            <a:off x="3733800" y="39751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228599" y="2133599"/>
                </a:moveTo>
                <a:lnTo>
                  <a:pt x="0" y="2133599"/>
                </a:lnTo>
                <a:lnTo>
                  <a:pt x="0" y="0"/>
                </a:lnTo>
                <a:lnTo>
                  <a:pt x="457199" y="0"/>
                </a:lnTo>
                <a:lnTo>
                  <a:pt x="457199" y="2133599"/>
                </a:lnTo>
                <a:lnTo>
                  <a:pt x="228599" y="21335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33"/>
          <p:cNvSpPr/>
          <p:nvPr/>
        </p:nvSpPr>
        <p:spPr>
          <a:xfrm>
            <a:off x="4191000" y="39751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457199" y="0"/>
                </a:moveTo>
                <a:lnTo>
                  <a:pt x="0" y="0"/>
                </a:lnTo>
                <a:lnTo>
                  <a:pt x="0" y="2133599"/>
                </a:lnTo>
                <a:lnTo>
                  <a:pt x="457199" y="2133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3"/>
          <p:cNvSpPr/>
          <p:nvPr/>
        </p:nvSpPr>
        <p:spPr>
          <a:xfrm>
            <a:off x="4191000" y="39751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228599" y="2133599"/>
                </a:moveTo>
                <a:lnTo>
                  <a:pt x="0" y="2133599"/>
                </a:lnTo>
                <a:lnTo>
                  <a:pt x="0" y="0"/>
                </a:lnTo>
                <a:lnTo>
                  <a:pt x="457199" y="0"/>
                </a:lnTo>
                <a:lnTo>
                  <a:pt x="457199" y="2133599"/>
                </a:lnTo>
                <a:lnTo>
                  <a:pt x="228599" y="21335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33"/>
          <p:cNvSpPr/>
          <p:nvPr/>
        </p:nvSpPr>
        <p:spPr>
          <a:xfrm>
            <a:off x="4648200" y="39751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457199" y="0"/>
                </a:moveTo>
                <a:lnTo>
                  <a:pt x="0" y="0"/>
                </a:lnTo>
                <a:lnTo>
                  <a:pt x="0" y="2133599"/>
                </a:lnTo>
                <a:lnTo>
                  <a:pt x="457199" y="2133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33"/>
          <p:cNvSpPr/>
          <p:nvPr/>
        </p:nvSpPr>
        <p:spPr>
          <a:xfrm>
            <a:off x="4648200" y="39751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228599" y="2133599"/>
                </a:moveTo>
                <a:lnTo>
                  <a:pt x="0" y="2133599"/>
                </a:lnTo>
                <a:lnTo>
                  <a:pt x="0" y="0"/>
                </a:lnTo>
                <a:lnTo>
                  <a:pt x="457199" y="0"/>
                </a:lnTo>
                <a:lnTo>
                  <a:pt x="457199" y="2133599"/>
                </a:lnTo>
                <a:lnTo>
                  <a:pt x="228599" y="21335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33"/>
          <p:cNvSpPr txBox="1"/>
          <p:nvPr/>
        </p:nvSpPr>
        <p:spPr>
          <a:xfrm>
            <a:off x="2962275" y="3978275"/>
            <a:ext cx="19907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a</a:t>
            </a:r>
            <a:endParaRPr/>
          </a:p>
        </p:txBody>
      </p:sp>
      <p:sp>
        <p:nvSpPr>
          <p:cNvPr id="1402" name="Google Shape;1402;p33"/>
          <p:cNvSpPr txBox="1"/>
          <p:nvPr/>
        </p:nvSpPr>
        <p:spPr>
          <a:xfrm>
            <a:off x="2962275" y="4252912"/>
            <a:ext cx="1990725" cy="190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a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	b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b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a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a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	b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b</a:t>
            </a:r>
            <a:endParaRPr/>
          </a:p>
        </p:txBody>
      </p:sp>
      <p:sp>
        <p:nvSpPr>
          <p:cNvPr id="1403" name="Google Shape;1403;p33"/>
          <p:cNvSpPr/>
          <p:nvPr/>
        </p:nvSpPr>
        <p:spPr>
          <a:xfrm>
            <a:off x="4648200" y="1219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33"/>
          <p:cNvSpPr/>
          <p:nvPr/>
        </p:nvSpPr>
        <p:spPr>
          <a:xfrm>
            <a:off x="4648200" y="1219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33"/>
          <p:cNvSpPr/>
          <p:nvPr/>
        </p:nvSpPr>
        <p:spPr>
          <a:xfrm>
            <a:off x="5105400" y="1219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33"/>
          <p:cNvSpPr/>
          <p:nvPr/>
        </p:nvSpPr>
        <p:spPr>
          <a:xfrm>
            <a:off x="5105400" y="1219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33"/>
          <p:cNvSpPr/>
          <p:nvPr/>
        </p:nvSpPr>
        <p:spPr>
          <a:xfrm>
            <a:off x="4648200" y="1752600"/>
            <a:ext cx="457200" cy="1219200"/>
          </a:xfrm>
          <a:custGeom>
            <a:rect b="b" l="l" r="r" t="t"/>
            <a:pathLst>
              <a:path extrusionOk="0" h="1219200" w="457200">
                <a:moveTo>
                  <a:pt x="457199" y="0"/>
                </a:moveTo>
                <a:lnTo>
                  <a:pt x="0" y="0"/>
                </a:lnTo>
                <a:lnTo>
                  <a:pt x="0" y="1219199"/>
                </a:lnTo>
                <a:lnTo>
                  <a:pt x="457199" y="1219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33"/>
          <p:cNvSpPr/>
          <p:nvPr/>
        </p:nvSpPr>
        <p:spPr>
          <a:xfrm>
            <a:off x="4648200" y="1752600"/>
            <a:ext cx="457200" cy="1219200"/>
          </a:xfrm>
          <a:custGeom>
            <a:rect b="b" l="l" r="r" t="t"/>
            <a:pathLst>
              <a:path extrusionOk="0" h="1219200" w="457200">
                <a:moveTo>
                  <a:pt x="228599" y="1219199"/>
                </a:moveTo>
                <a:lnTo>
                  <a:pt x="0" y="1219199"/>
                </a:lnTo>
                <a:lnTo>
                  <a:pt x="0" y="0"/>
                </a:lnTo>
                <a:lnTo>
                  <a:pt x="457199" y="0"/>
                </a:lnTo>
                <a:lnTo>
                  <a:pt x="457199" y="1219199"/>
                </a:lnTo>
                <a:lnTo>
                  <a:pt x="228599" y="1219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33"/>
          <p:cNvSpPr/>
          <p:nvPr/>
        </p:nvSpPr>
        <p:spPr>
          <a:xfrm>
            <a:off x="5105400" y="1752600"/>
            <a:ext cx="457200" cy="1219200"/>
          </a:xfrm>
          <a:custGeom>
            <a:rect b="b" l="l" r="r" t="t"/>
            <a:pathLst>
              <a:path extrusionOk="0" h="1219200" w="457200">
                <a:moveTo>
                  <a:pt x="457199" y="0"/>
                </a:moveTo>
                <a:lnTo>
                  <a:pt x="0" y="0"/>
                </a:lnTo>
                <a:lnTo>
                  <a:pt x="0" y="1219199"/>
                </a:lnTo>
                <a:lnTo>
                  <a:pt x="457199" y="1219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33"/>
          <p:cNvSpPr/>
          <p:nvPr/>
        </p:nvSpPr>
        <p:spPr>
          <a:xfrm>
            <a:off x="5105400" y="1752600"/>
            <a:ext cx="457200" cy="1219200"/>
          </a:xfrm>
          <a:custGeom>
            <a:rect b="b" l="l" r="r" t="t"/>
            <a:pathLst>
              <a:path extrusionOk="0" h="1219200" w="457200">
                <a:moveTo>
                  <a:pt x="228599" y="1219199"/>
                </a:moveTo>
                <a:lnTo>
                  <a:pt x="0" y="1219199"/>
                </a:lnTo>
                <a:lnTo>
                  <a:pt x="0" y="0"/>
                </a:lnTo>
                <a:lnTo>
                  <a:pt x="457199" y="0"/>
                </a:lnTo>
                <a:lnTo>
                  <a:pt x="457199" y="1219199"/>
                </a:lnTo>
                <a:lnTo>
                  <a:pt x="228599" y="1219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33"/>
          <p:cNvSpPr/>
          <p:nvPr/>
        </p:nvSpPr>
        <p:spPr>
          <a:xfrm>
            <a:off x="5562600" y="1219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3"/>
          <p:cNvSpPr/>
          <p:nvPr/>
        </p:nvSpPr>
        <p:spPr>
          <a:xfrm>
            <a:off x="5562600" y="1219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33"/>
          <p:cNvSpPr txBox="1"/>
          <p:nvPr/>
        </p:nvSpPr>
        <p:spPr>
          <a:xfrm>
            <a:off x="4781550" y="1349375"/>
            <a:ext cx="10985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	D	E</a:t>
            </a:r>
            <a:endParaRPr/>
          </a:p>
        </p:txBody>
      </p:sp>
      <p:sp>
        <p:nvSpPr>
          <p:cNvPr id="1414" name="Google Shape;1414;p33"/>
          <p:cNvSpPr/>
          <p:nvPr/>
        </p:nvSpPr>
        <p:spPr>
          <a:xfrm>
            <a:off x="5562600" y="1752600"/>
            <a:ext cx="457200" cy="1219200"/>
          </a:xfrm>
          <a:custGeom>
            <a:rect b="b" l="l" r="r" t="t"/>
            <a:pathLst>
              <a:path extrusionOk="0" h="1219200" w="457200">
                <a:moveTo>
                  <a:pt x="457199" y="0"/>
                </a:moveTo>
                <a:lnTo>
                  <a:pt x="0" y="0"/>
                </a:lnTo>
                <a:lnTo>
                  <a:pt x="0" y="1219199"/>
                </a:lnTo>
                <a:lnTo>
                  <a:pt x="457199" y="1219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33"/>
          <p:cNvSpPr/>
          <p:nvPr/>
        </p:nvSpPr>
        <p:spPr>
          <a:xfrm>
            <a:off x="5562600" y="1752600"/>
            <a:ext cx="457200" cy="1219200"/>
          </a:xfrm>
          <a:custGeom>
            <a:rect b="b" l="l" r="r" t="t"/>
            <a:pathLst>
              <a:path extrusionOk="0" h="1219200" w="457200">
                <a:moveTo>
                  <a:pt x="228599" y="1219199"/>
                </a:moveTo>
                <a:lnTo>
                  <a:pt x="0" y="1219199"/>
                </a:lnTo>
                <a:lnTo>
                  <a:pt x="0" y="0"/>
                </a:lnTo>
                <a:lnTo>
                  <a:pt x="457199" y="0"/>
                </a:lnTo>
                <a:lnTo>
                  <a:pt x="457199" y="1219199"/>
                </a:lnTo>
                <a:lnTo>
                  <a:pt x="228599" y="1219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33"/>
          <p:cNvSpPr txBox="1"/>
          <p:nvPr/>
        </p:nvSpPr>
        <p:spPr>
          <a:xfrm>
            <a:off x="4791075" y="1846262"/>
            <a:ext cx="107632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a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a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	b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b</a:t>
            </a:r>
            <a:endParaRPr/>
          </a:p>
        </p:txBody>
      </p:sp>
      <p:sp>
        <p:nvSpPr>
          <p:cNvPr id="1417" name="Google Shape;1417;p33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418" name="Google Shape;1418;p33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419" name="Google Shape;1419;p33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420" name="Google Shape;1420;p33"/>
          <p:cNvSpPr txBox="1"/>
          <p:nvPr/>
        </p:nvSpPr>
        <p:spPr>
          <a:xfrm>
            <a:off x="3279775" y="2600325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421" name="Google Shape;1421;p33"/>
          <p:cNvSpPr txBox="1"/>
          <p:nvPr/>
        </p:nvSpPr>
        <p:spPr>
          <a:xfrm>
            <a:off x="5318125" y="3057525"/>
            <a:ext cx="1397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aphicFrame>
        <p:nvGraphicFramePr>
          <p:cNvPr id="1422" name="Google Shape;1422;p33"/>
          <p:cNvGraphicFramePr/>
          <p:nvPr/>
        </p:nvGraphicFramePr>
        <p:xfrm>
          <a:off x="2814637" y="3360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</a:tblGrid>
              <a:tr h="533400"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34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34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34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34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34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34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34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34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34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34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34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34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34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34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34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34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34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34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34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34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34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34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4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3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34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34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34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462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Cartesian-Product Operation</a:t>
            </a:r>
            <a:endParaRPr/>
          </a:p>
        </p:txBody>
      </p:sp>
      <p:sp>
        <p:nvSpPr>
          <p:cNvPr id="1454" name="Google Shape;1454;p34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455" name="Google Shape;1455;p34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456" name="Google Shape;1456;p34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457" name="Google Shape;1457;p34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458" name="Google Shape;1458;p34"/>
          <p:cNvSpPr txBox="1"/>
          <p:nvPr/>
        </p:nvSpPr>
        <p:spPr>
          <a:xfrm>
            <a:off x="1217612" y="1162050"/>
            <a:ext cx="13716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459" name="Google Shape;1459;p34"/>
          <p:cNvSpPr txBox="1"/>
          <p:nvPr/>
        </p:nvSpPr>
        <p:spPr>
          <a:xfrm>
            <a:off x="876300" y="1490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460" name="Google Shape;1460;p34"/>
          <p:cNvSpPr txBox="1"/>
          <p:nvPr/>
        </p:nvSpPr>
        <p:spPr>
          <a:xfrm>
            <a:off x="1217612" y="1536700"/>
            <a:ext cx="11795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as:</a:t>
            </a:r>
            <a:endParaRPr/>
          </a:p>
        </p:txBody>
      </p:sp>
      <p:sp>
        <p:nvSpPr>
          <p:cNvPr id="1461" name="Google Shape;1461;p34"/>
          <p:cNvSpPr txBox="1"/>
          <p:nvPr/>
        </p:nvSpPr>
        <p:spPr>
          <a:xfrm>
            <a:off x="2632075" y="1909762"/>
            <a:ext cx="28130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q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462" name="Google Shape;1462;p34"/>
          <p:cNvSpPr txBox="1"/>
          <p:nvPr/>
        </p:nvSpPr>
        <p:spPr>
          <a:xfrm>
            <a:off x="876300" y="25130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463" name="Google Shape;1463;p34"/>
          <p:cNvSpPr txBox="1"/>
          <p:nvPr/>
        </p:nvSpPr>
        <p:spPr>
          <a:xfrm>
            <a:off x="1217612" y="2554287"/>
            <a:ext cx="733107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that attributes of r(R) and s(S) are disjoint. (That is,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∅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sp>
        <p:nvSpPr>
          <p:cNvPr id="1464" name="Google Shape;1464;p34"/>
          <p:cNvSpPr txBox="1"/>
          <p:nvPr/>
        </p:nvSpPr>
        <p:spPr>
          <a:xfrm>
            <a:off x="876300" y="2887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465" name="Google Shape;1465;p34"/>
          <p:cNvSpPr txBox="1"/>
          <p:nvPr/>
        </p:nvSpPr>
        <p:spPr>
          <a:xfrm>
            <a:off x="1217612" y="2932112"/>
            <a:ext cx="680402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attributes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r(R)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s(S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not disjoint, then renaming must be</a:t>
            </a:r>
            <a:endParaRPr/>
          </a:p>
        </p:txBody>
      </p:sp>
      <p:sp>
        <p:nvSpPr>
          <p:cNvPr id="1466" name="Google Shape;1466;p34"/>
          <p:cNvSpPr txBox="1"/>
          <p:nvPr/>
        </p:nvSpPr>
        <p:spPr>
          <a:xfrm>
            <a:off x="1217612" y="3206750"/>
            <a:ext cx="584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5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35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35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35"/>
          <p:cNvSpPr/>
          <p:nvPr/>
        </p:nvSpPr>
        <p:spPr>
          <a:xfrm>
            <a:off x="4648200" y="1774825"/>
            <a:ext cx="4495800" cy="252412"/>
          </a:xfrm>
          <a:custGeom>
            <a:rect b="b" l="l" r="r" t="t"/>
            <a:pathLst>
              <a:path extrusionOk="0" h="252094" w="4495800">
                <a:moveTo>
                  <a:pt x="0" y="251960"/>
                </a:moveTo>
                <a:lnTo>
                  <a:pt x="4495800" y="251960"/>
                </a:lnTo>
                <a:lnTo>
                  <a:pt x="4495800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35"/>
          <p:cNvSpPr/>
          <p:nvPr/>
        </p:nvSpPr>
        <p:spPr>
          <a:xfrm>
            <a:off x="0" y="1774825"/>
            <a:ext cx="2362200" cy="252412"/>
          </a:xfrm>
          <a:custGeom>
            <a:rect b="b" l="l" r="r" t="t"/>
            <a:pathLst>
              <a:path extrusionOk="0" h="252094" w="2362200">
                <a:moveTo>
                  <a:pt x="0" y="251960"/>
                </a:moveTo>
                <a:lnTo>
                  <a:pt x="2362199" y="251960"/>
                </a:lnTo>
                <a:lnTo>
                  <a:pt x="236219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35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35"/>
          <p:cNvSpPr/>
          <p:nvPr/>
        </p:nvSpPr>
        <p:spPr>
          <a:xfrm>
            <a:off x="4648200" y="2282825"/>
            <a:ext cx="4495800" cy="255587"/>
          </a:xfrm>
          <a:custGeom>
            <a:rect b="b" l="l" r="r" t="t"/>
            <a:pathLst>
              <a:path extrusionOk="0" h="255905" w="4495800">
                <a:moveTo>
                  <a:pt x="0" y="255531"/>
                </a:moveTo>
                <a:lnTo>
                  <a:pt x="4495800" y="255531"/>
                </a:lnTo>
                <a:lnTo>
                  <a:pt x="44958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35"/>
          <p:cNvSpPr/>
          <p:nvPr/>
        </p:nvSpPr>
        <p:spPr>
          <a:xfrm>
            <a:off x="0" y="2282825"/>
            <a:ext cx="2362200" cy="255587"/>
          </a:xfrm>
          <a:custGeom>
            <a:rect b="b" l="l" r="r" t="t"/>
            <a:pathLst>
              <a:path extrusionOk="0" h="255905" w="2362200">
                <a:moveTo>
                  <a:pt x="0" y="255531"/>
                </a:moveTo>
                <a:lnTo>
                  <a:pt x="2362199" y="255531"/>
                </a:lnTo>
                <a:lnTo>
                  <a:pt x="2362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35"/>
          <p:cNvSpPr/>
          <p:nvPr/>
        </p:nvSpPr>
        <p:spPr>
          <a:xfrm>
            <a:off x="4648200" y="2538412"/>
            <a:ext cx="4495800" cy="252412"/>
          </a:xfrm>
          <a:custGeom>
            <a:rect b="b" l="l" r="r" t="t"/>
            <a:pathLst>
              <a:path extrusionOk="0" h="252730" w="4495800">
                <a:moveTo>
                  <a:pt x="0" y="252221"/>
                </a:moveTo>
                <a:lnTo>
                  <a:pt x="4495800" y="252221"/>
                </a:lnTo>
                <a:lnTo>
                  <a:pt x="449580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35"/>
          <p:cNvSpPr/>
          <p:nvPr/>
        </p:nvSpPr>
        <p:spPr>
          <a:xfrm>
            <a:off x="0" y="2538412"/>
            <a:ext cx="2362200" cy="252412"/>
          </a:xfrm>
          <a:custGeom>
            <a:rect b="b" l="l" r="r" t="t"/>
            <a:pathLst>
              <a:path extrusionOk="0" h="252730" w="2362200">
                <a:moveTo>
                  <a:pt x="0" y="252221"/>
                </a:moveTo>
                <a:lnTo>
                  <a:pt x="2362199" y="252221"/>
                </a:lnTo>
                <a:lnTo>
                  <a:pt x="23621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35"/>
          <p:cNvSpPr/>
          <p:nvPr/>
        </p:nvSpPr>
        <p:spPr>
          <a:xfrm>
            <a:off x="4648200" y="2790825"/>
            <a:ext cx="4495800" cy="255587"/>
          </a:xfrm>
          <a:custGeom>
            <a:rect b="b" l="l" r="r" t="t"/>
            <a:pathLst>
              <a:path extrusionOk="0" h="255905" w="4495800">
                <a:moveTo>
                  <a:pt x="0" y="255389"/>
                </a:moveTo>
                <a:lnTo>
                  <a:pt x="4495800" y="255389"/>
                </a:lnTo>
                <a:lnTo>
                  <a:pt x="4495800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35"/>
          <p:cNvSpPr/>
          <p:nvPr/>
        </p:nvSpPr>
        <p:spPr>
          <a:xfrm>
            <a:off x="0" y="2790825"/>
            <a:ext cx="2362200" cy="255587"/>
          </a:xfrm>
          <a:custGeom>
            <a:rect b="b" l="l" r="r" t="t"/>
            <a:pathLst>
              <a:path extrusionOk="0" h="255905" w="2362200">
                <a:moveTo>
                  <a:pt x="0" y="255389"/>
                </a:moveTo>
                <a:lnTo>
                  <a:pt x="2362199" y="255389"/>
                </a:lnTo>
                <a:lnTo>
                  <a:pt x="236219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35"/>
          <p:cNvSpPr/>
          <p:nvPr/>
        </p:nvSpPr>
        <p:spPr>
          <a:xfrm>
            <a:off x="4648200" y="3044825"/>
            <a:ext cx="4495800" cy="249237"/>
          </a:xfrm>
          <a:custGeom>
            <a:rect b="b" l="l" r="r" t="t"/>
            <a:pathLst>
              <a:path extrusionOk="0" h="248920" w="4495800">
                <a:moveTo>
                  <a:pt x="0" y="248792"/>
                </a:moveTo>
                <a:lnTo>
                  <a:pt x="4495800" y="248792"/>
                </a:lnTo>
                <a:lnTo>
                  <a:pt x="4495800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35"/>
          <p:cNvSpPr/>
          <p:nvPr/>
        </p:nvSpPr>
        <p:spPr>
          <a:xfrm>
            <a:off x="0" y="3044825"/>
            <a:ext cx="2362200" cy="249237"/>
          </a:xfrm>
          <a:custGeom>
            <a:rect b="b" l="l" r="r" t="t"/>
            <a:pathLst>
              <a:path extrusionOk="0" h="248920" w="2362200">
                <a:moveTo>
                  <a:pt x="0" y="248792"/>
                </a:moveTo>
                <a:lnTo>
                  <a:pt x="2362199" y="248792"/>
                </a:lnTo>
                <a:lnTo>
                  <a:pt x="2362199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35"/>
          <p:cNvSpPr/>
          <p:nvPr/>
        </p:nvSpPr>
        <p:spPr>
          <a:xfrm>
            <a:off x="4648200" y="3294062"/>
            <a:ext cx="4495800" cy="261937"/>
          </a:xfrm>
          <a:custGeom>
            <a:rect b="b" l="l" r="r" t="t"/>
            <a:pathLst>
              <a:path extrusionOk="0" h="262254" w="4495800">
                <a:moveTo>
                  <a:pt x="0" y="261699"/>
                </a:moveTo>
                <a:lnTo>
                  <a:pt x="4495800" y="261699"/>
                </a:lnTo>
                <a:lnTo>
                  <a:pt x="4495800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35"/>
          <p:cNvSpPr/>
          <p:nvPr/>
        </p:nvSpPr>
        <p:spPr>
          <a:xfrm>
            <a:off x="0" y="3294062"/>
            <a:ext cx="2362200" cy="261937"/>
          </a:xfrm>
          <a:custGeom>
            <a:rect b="b" l="l" r="r" t="t"/>
            <a:pathLst>
              <a:path extrusionOk="0" h="262254" w="2362200">
                <a:moveTo>
                  <a:pt x="0" y="261699"/>
                </a:moveTo>
                <a:lnTo>
                  <a:pt x="2362199" y="261699"/>
                </a:lnTo>
                <a:lnTo>
                  <a:pt x="2362199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35"/>
          <p:cNvSpPr/>
          <p:nvPr/>
        </p:nvSpPr>
        <p:spPr>
          <a:xfrm>
            <a:off x="4648200" y="3556000"/>
            <a:ext cx="4495800" cy="254000"/>
          </a:xfrm>
          <a:custGeom>
            <a:rect b="b" l="l" r="r" t="t"/>
            <a:pathLst>
              <a:path extrusionOk="0" h="254635" w="4495800">
                <a:moveTo>
                  <a:pt x="0" y="254162"/>
                </a:moveTo>
                <a:lnTo>
                  <a:pt x="4495800" y="254162"/>
                </a:lnTo>
                <a:lnTo>
                  <a:pt x="44958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35"/>
          <p:cNvSpPr/>
          <p:nvPr/>
        </p:nvSpPr>
        <p:spPr>
          <a:xfrm>
            <a:off x="0" y="3556000"/>
            <a:ext cx="2362200" cy="254000"/>
          </a:xfrm>
          <a:custGeom>
            <a:rect b="b" l="l" r="r" t="t"/>
            <a:pathLst>
              <a:path extrusionOk="0" h="254635" w="2362200">
                <a:moveTo>
                  <a:pt x="0" y="254162"/>
                </a:moveTo>
                <a:lnTo>
                  <a:pt x="2362199" y="254162"/>
                </a:lnTo>
                <a:lnTo>
                  <a:pt x="23621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35"/>
          <p:cNvSpPr/>
          <p:nvPr/>
        </p:nvSpPr>
        <p:spPr>
          <a:xfrm>
            <a:off x="4648200" y="3810000"/>
            <a:ext cx="4495800" cy="254000"/>
          </a:xfrm>
          <a:custGeom>
            <a:rect b="b" l="l" r="r" t="t"/>
            <a:pathLst>
              <a:path extrusionOk="0" h="254000" w="4495800">
                <a:moveTo>
                  <a:pt x="0" y="253805"/>
                </a:moveTo>
                <a:lnTo>
                  <a:pt x="4495800" y="253805"/>
                </a:lnTo>
                <a:lnTo>
                  <a:pt x="4495800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35"/>
          <p:cNvSpPr/>
          <p:nvPr/>
        </p:nvSpPr>
        <p:spPr>
          <a:xfrm>
            <a:off x="0" y="3810000"/>
            <a:ext cx="2362200" cy="254000"/>
          </a:xfrm>
          <a:custGeom>
            <a:rect b="b" l="l" r="r" t="t"/>
            <a:pathLst>
              <a:path extrusionOk="0" h="254000" w="2362200">
                <a:moveTo>
                  <a:pt x="0" y="253805"/>
                </a:moveTo>
                <a:lnTo>
                  <a:pt x="2362199" y="253805"/>
                </a:lnTo>
                <a:lnTo>
                  <a:pt x="2362199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35"/>
          <p:cNvSpPr/>
          <p:nvPr/>
        </p:nvSpPr>
        <p:spPr>
          <a:xfrm>
            <a:off x="4648200" y="4064000"/>
            <a:ext cx="4495800" cy="254000"/>
          </a:xfrm>
          <a:custGeom>
            <a:rect b="b" l="l" r="r" t="t"/>
            <a:pathLst>
              <a:path extrusionOk="0" h="254635" w="4495800">
                <a:moveTo>
                  <a:pt x="0" y="254162"/>
                </a:moveTo>
                <a:lnTo>
                  <a:pt x="4495800" y="254162"/>
                </a:lnTo>
                <a:lnTo>
                  <a:pt x="44958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35"/>
          <p:cNvSpPr/>
          <p:nvPr/>
        </p:nvSpPr>
        <p:spPr>
          <a:xfrm>
            <a:off x="0" y="4064000"/>
            <a:ext cx="2362200" cy="254000"/>
          </a:xfrm>
          <a:custGeom>
            <a:rect b="b" l="l" r="r" t="t"/>
            <a:pathLst>
              <a:path extrusionOk="0" h="254635" w="2362200">
                <a:moveTo>
                  <a:pt x="0" y="254162"/>
                </a:moveTo>
                <a:lnTo>
                  <a:pt x="2362199" y="254162"/>
                </a:lnTo>
                <a:lnTo>
                  <a:pt x="23621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35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35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35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35"/>
          <p:cNvSpPr/>
          <p:nvPr/>
        </p:nvSpPr>
        <p:spPr>
          <a:xfrm>
            <a:off x="4648200" y="5080000"/>
            <a:ext cx="4495800" cy="255587"/>
          </a:xfrm>
          <a:custGeom>
            <a:rect b="b" l="l" r="r" t="t"/>
            <a:pathLst>
              <a:path extrusionOk="0" h="254635" w="4495800">
                <a:moveTo>
                  <a:pt x="0" y="254174"/>
                </a:moveTo>
                <a:lnTo>
                  <a:pt x="4495800" y="254174"/>
                </a:lnTo>
                <a:lnTo>
                  <a:pt x="449580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35"/>
          <p:cNvSpPr/>
          <p:nvPr/>
        </p:nvSpPr>
        <p:spPr>
          <a:xfrm>
            <a:off x="0" y="5080000"/>
            <a:ext cx="2362200" cy="255587"/>
          </a:xfrm>
          <a:custGeom>
            <a:rect b="b" l="l" r="r" t="t"/>
            <a:pathLst>
              <a:path extrusionOk="0" h="254635" w="2362200">
                <a:moveTo>
                  <a:pt x="0" y="254174"/>
                </a:moveTo>
                <a:lnTo>
                  <a:pt x="2362199" y="254174"/>
                </a:lnTo>
                <a:lnTo>
                  <a:pt x="23621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5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35"/>
          <p:cNvSpPr/>
          <p:nvPr/>
        </p:nvSpPr>
        <p:spPr>
          <a:xfrm>
            <a:off x="4633912" y="5588000"/>
            <a:ext cx="4510087" cy="255587"/>
          </a:xfrm>
          <a:custGeom>
            <a:rect b="b" l="l" r="r" t="t"/>
            <a:pathLst>
              <a:path extrusionOk="0" h="254635" w="4509770">
                <a:moveTo>
                  <a:pt x="0" y="254162"/>
                </a:moveTo>
                <a:lnTo>
                  <a:pt x="4509759" y="254162"/>
                </a:lnTo>
                <a:lnTo>
                  <a:pt x="450975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35"/>
          <p:cNvSpPr/>
          <p:nvPr/>
        </p:nvSpPr>
        <p:spPr>
          <a:xfrm>
            <a:off x="0" y="5588000"/>
            <a:ext cx="2362200" cy="255587"/>
          </a:xfrm>
          <a:custGeom>
            <a:rect b="b" l="l" r="r" t="t"/>
            <a:pathLst>
              <a:path extrusionOk="0" h="254635" w="2362200">
                <a:moveTo>
                  <a:pt x="0" y="254162"/>
                </a:moveTo>
                <a:lnTo>
                  <a:pt x="2362199" y="254162"/>
                </a:lnTo>
                <a:lnTo>
                  <a:pt x="23621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35"/>
          <p:cNvSpPr/>
          <p:nvPr/>
        </p:nvSpPr>
        <p:spPr>
          <a:xfrm>
            <a:off x="4633912" y="5843587"/>
            <a:ext cx="4510087" cy="254000"/>
          </a:xfrm>
          <a:custGeom>
            <a:rect b="b" l="l" r="r" t="t"/>
            <a:pathLst>
              <a:path extrusionOk="0" h="254000" w="4509770">
                <a:moveTo>
                  <a:pt x="0" y="253793"/>
                </a:moveTo>
                <a:lnTo>
                  <a:pt x="4509759" y="253793"/>
                </a:lnTo>
                <a:lnTo>
                  <a:pt x="450975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5"/>
          <p:cNvSpPr/>
          <p:nvPr/>
        </p:nvSpPr>
        <p:spPr>
          <a:xfrm>
            <a:off x="0" y="5843587"/>
            <a:ext cx="2362200" cy="254000"/>
          </a:xfrm>
          <a:custGeom>
            <a:rect b="b" l="l" r="r" t="t"/>
            <a:pathLst>
              <a:path extrusionOk="0" h="254000" w="2362200">
                <a:moveTo>
                  <a:pt x="0" y="253793"/>
                </a:moveTo>
                <a:lnTo>
                  <a:pt x="2362199" y="253793"/>
                </a:lnTo>
                <a:lnTo>
                  <a:pt x="23621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35"/>
          <p:cNvSpPr/>
          <p:nvPr/>
        </p:nvSpPr>
        <p:spPr>
          <a:xfrm>
            <a:off x="4633912" y="6096000"/>
            <a:ext cx="4510087" cy="255587"/>
          </a:xfrm>
          <a:custGeom>
            <a:rect b="b" l="l" r="r" t="t"/>
            <a:pathLst>
              <a:path extrusionOk="0" h="254635" w="4509770">
                <a:moveTo>
                  <a:pt x="0" y="254162"/>
                </a:moveTo>
                <a:lnTo>
                  <a:pt x="4509759" y="254162"/>
                </a:lnTo>
                <a:lnTo>
                  <a:pt x="450975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5"/>
          <p:cNvSpPr/>
          <p:nvPr/>
        </p:nvSpPr>
        <p:spPr>
          <a:xfrm>
            <a:off x="0" y="6096000"/>
            <a:ext cx="2362200" cy="255587"/>
          </a:xfrm>
          <a:custGeom>
            <a:rect b="b" l="l" r="r" t="t"/>
            <a:pathLst>
              <a:path extrusionOk="0" h="254635" w="2362200">
                <a:moveTo>
                  <a:pt x="0" y="254162"/>
                </a:moveTo>
                <a:lnTo>
                  <a:pt x="2362199" y="254162"/>
                </a:lnTo>
                <a:lnTo>
                  <a:pt x="23621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35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35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3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35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35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35"/>
          <p:cNvSpPr/>
          <p:nvPr/>
        </p:nvSpPr>
        <p:spPr>
          <a:xfrm>
            <a:off x="4191000" y="22098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457199" y="0"/>
                </a:moveTo>
                <a:lnTo>
                  <a:pt x="0" y="0"/>
                </a:lnTo>
                <a:lnTo>
                  <a:pt x="0" y="2133599"/>
                </a:lnTo>
                <a:lnTo>
                  <a:pt x="457199" y="2133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35"/>
          <p:cNvSpPr/>
          <p:nvPr/>
        </p:nvSpPr>
        <p:spPr>
          <a:xfrm>
            <a:off x="4191000" y="2209800"/>
            <a:ext cx="457200" cy="2133600"/>
          </a:xfrm>
          <a:custGeom>
            <a:rect b="b" l="l" r="r" t="t"/>
            <a:pathLst>
              <a:path extrusionOk="0" h="2133600" w="457200">
                <a:moveTo>
                  <a:pt x="228599" y="2133599"/>
                </a:moveTo>
                <a:lnTo>
                  <a:pt x="0" y="2133599"/>
                </a:lnTo>
                <a:lnTo>
                  <a:pt x="0" y="0"/>
                </a:lnTo>
                <a:lnTo>
                  <a:pt x="457199" y="0"/>
                </a:lnTo>
                <a:lnTo>
                  <a:pt x="457199" y="2133599"/>
                </a:lnTo>
                <a:lnTo>
                  <a:pt x="228599" y="21335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35"/>
          <p:cNvSpPr/>
          <p:nvPr/>
        </p:nvSpPr>
        <p:spPr>
          <a:xfrm>
            <a:off x="4191000" y="48768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35"/>
          <p:cNvSpPr/>
          <p:nvPr/>
        </p:nvSpPr>
        <p:spPr>
          <a:xfrm>
            <a:off x="4191000" y="48768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5"/>
          <p:cNvSpPr/>
          <p:nvPr/>
        </p:nvSpPr>
        <p:spPr>
          <a:xfrm>
            <a:off x="4176712" y="5459412"/>
            <a:ext cx="457200" cy="928687"/>
          </a:xfrm>
          <a:custGeom>
            <a:rect b="b" l="l" r="r" t="t"/>
            <a:pathLst>
              <a:path extrusionOk="0" h="928370" w="457200">
                <a:moveTo>
                  <a:pt x="457199" y="0"/>
                </a:moveTo>
                <a:lnTo>
                  <a:pt x="0" y="0"/>
                </a:lnTo>
                <a:lnTo>
                  <a:pt x="0" y="928365"/>
                </a:lnTo>
                <a:lnTo>
                  <a:pt x="457199" y="928365"/>
                </a:lnTo>
                <a:lnTo>
                  <a:pt x="45719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35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905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Composition of Operations</a:t>
            </a:r>
            <a:endParaRPr/>
          </a:p>
        </p:txBody>
      </p:sp>
      <p:sp>
        <p:nvSpPr>
          <p:cNvPr id="1516" name="Google Shape;1516;p35"/>
          <p:cNvSpPr txBox="1"/>
          <p:nvPr/>
        </p:nvSpPr>
        <p:spPr>
          <a:xfrm>
            <a:off x="839787" y="8016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517" name="Google Shape;1517;p35"/>
          <p:cNvSpPr txBox="1"/>
          <p:nvPr/>
        </p:nvSpPr>
        <p:spPr>
          <a:xfrm>
            <a:off x="1182687" y="846137"/>
            <a:ext cx="4851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build expressions using multiple operations</a:t>
            </a:r>
            <a:endParaRPr/>
          </a:p>
        </p:txBody>
      </p:sp>
      <p:sp>
        <p:nvSpPr>
          <p:cNvPr id="1518" name="Google Shape;1518;p35"/>
          <p:cNvSpPr txBox="1"/>
          <p:nvPr/>
        </p:nvSpPr>
        <p:spPr>
          <a:xfrm>
            <a:off x="839787" y="11938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519" name="Google Shape;1519;p35"/>
          <p:cNvSpPr txBox="1"/>
          <p:nvPr/>
        </p:nvSpPr>
        <p:spPr>
          <a:xfrm>
            <a:off x="1182687" y="1220787"/>
            <a:ext cx="2087562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	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A=C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x 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520" name="Google Shape;1520;p35"/>
          <p:cNvSpPr/>
          <p:nvPr/>
        </p:nvSpPr>
        <p:spPr>
          <a:xfrm>
            <a:off x="4176712" y="5459412"/>
            <a:ext cx="457200" cy="928687"/>
          </a:xfrm>
          <a:custGeom>
            <a:rect b="b" l="l" r="r" t="t"/>
            <a:pathLst>
              <a:path extrusionOk="0" h="928370" w="457200">
                <a:moveTo>
                  <a:pt x="228599" y="928365"/>
                </a:moveTo>
                <a:lnTo>
                  <a:pt x="0" y="928365"/>
                </a:lnTo>
                <a:lnTo>
                  <a:pt x="0" y="0"/>
                </a:lnTo>
                <a:lnTo>
                  <a:pt x="457199" y="0"/>
                </a:lnTo>
                <a:lnTo>
                  <a:pt x="457199" y="928365"/>
                </a:lnTo>
                <a:lnTo>
                  <a:pt x="228599" y="92836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35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522" name="Google Shape;1522;p35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523" name="Google Shape;1523;p35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graphicFrame>
        <p:nvGraphicFramePr>
          <p:cNvPr id="1524" name="Google Shape;1524;p35"/>
          <p:cNvGraphicFramePr/>
          <p:nvPr/>
        </p:nvGraphicFramePr>
        <p:xfrm>
          <a:off x="817562" y="1519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544625"/>
                <a:gridCol w="457200"/>
                <a:gridCol w="457200"/>
                <a:gridCol w="431800"/>
                <a:gridCol w="482600"/>
                <a:gridCol w="339725"/>
              </a:tblGrid>
              <a:tr h="508000">
                <a:tc>
                  <a:txBody>
                    <a:bodyPr/>
                    <a:lstStyle/>
                    <a:p>
                      <a:pPr indent="-342900" lvl="0" marL="377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3200"/>
                        </a:buClr>
                        <a:buSzPts val="1602"/>
                        <a:buFont typeface="MS Gothic"/>
                        <a:buChar char="■"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x s</a:t>
                      </a:r>
                      <a:endParaRPr/>
                    </a:p>
                  </a:txBody>
                  <a:tcPr marT="0" marB="0" marR="0" marL="0"/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F8F8F8"/>
                    </a:solidFill>
                  </a:tcPr>
                </a:tc>
                <a:tc hMerge="1"/>
                <a:tc hMerge="1"/>
                <a:tc hMerge="1"/>
                <a:tc hMerge="1"/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0812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8F8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85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8F8F8"/>
                    </a:solidFill>
                  </a:tcPr>
                </a:tc>
              </a:tr>
              <a:tr h="2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603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8F8F8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8F8F8"/>
                    </a:solidFill>
                  </a:tcPr>
                </a:tc>
              </a:tr>
              <a:tr h="28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762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0812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8F8F8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762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603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8F8F8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762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603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8F8F8"/>
                    </a:solidFill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4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65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solidFill>
                      <a:srgbClr val="EDEDE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-342900" lvl="0" marL="377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3200"/>
                        </a:buClr>
                        <a:buSzPts val="1602"/>
                        <a:buFont typeface="MS Gothic"/>
                        <a:buChar char="■"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σ</a:t>
                      </a:r>
                      <a:r>
                        <a:rPr b="0" baseline="-25000" i="0" lang="en-US" sz="15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A=C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x s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/>
                    </a:p>
                  </a:txBody>
                  <a:tcPr marT="0" marB="0" marR="0" marL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EEEE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666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22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65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19062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8F8"/>
                    </a:solidFill>
                  </a:tcPr>
                </a:tc>
              </a:tr>
              <a:tr h="2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1762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6212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8F8F8"/>
                    </a:solidFill>
                  </a:tcPr>
                </a:tc>
              </a:tr>
              <a:tr h="280975">
                <a:tc gridSpan="3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	</a:t>
                      </a:r>
                      <a:r>
                        <a:rPr b="0" baseline="-25000" i="1" lang="en-US" sz="27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>
                    <a:solidFill>
                      <a:srgbClr val="F4F4F4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1809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19062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5" name="Google Shape;1525;p35"/>
          <p:cNvGraphicFramePr/>
          <p:nvPr/>
        </p:nvGraphicFramePr>
        <p:xfrm>
          <a:off x="2357437" y="1595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</a:tblGrid>
              <a:tr h="533400"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6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6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36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36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6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36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6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6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6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6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6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6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36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36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36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36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36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6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36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36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36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36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36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3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36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36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36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717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Rename Operation</a:t>
            </a:r>
            <a:endParaRPr/>
          </a:p>
        </p:txBody>
      </p:sp>
      <p:sp>
        <p:nvSpPr>
          <p:cNvPr id="1557" name="Google Shape;1557;p36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558" name="Google Shape;1558;p36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559" name="Google Shape;1559;p36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560" name="Google Shape;1560;p36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561" name="Google Shape;1561;p36"/>
          <p:cNvSpPr txBox="1"/>
          <p:nvPr/>
        </p:nvSpPr>
        <p:spPr>
          <a:xfrm>
            <a:off x="1217612" y="1162050"/>
            <a:ext cx="69040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us to name, and therefore to refer to, the results of relational-</a:t>
            </a:r>
            <a:endParaRPr/>
          </a:p>
        </p:txBody>
      </p:sp>
      <p:sp>
        <p:nvSpPr>
          <p:cNvPr id="1562" name="Google Shape;1562;p36"/>
          <p:cNvSpPr txBox="1"/>
          <p:nvPr/>
        </p:nvSpPr>
        <p:spPr>
          <a:xfrm>
            <a:off x="1217612" y="1436687"/>
            <a:ext cx="21288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algebra expressions.</a:t>
            </a:r>
            <a:endParaRPr/>
          </a:p>
        </p:txBody>
      </p:sp>
      <p:sp>
        <p:nvSpPr>
          <p:cNvPr id="1563" name="Google Shape;1563;p36"/>
          <p:cNvSpPr txBox="1"/>
          <p:nvPr/>
        </p:nvSpPr>
        <p:spPr>
          <a:xfrm>
            <a:off x="876300" y="17653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564" name="Google Shape;1564;p36"/>
          <p:cNvSpPr txBox="1"/>
          <p:nvPr/>
        </p:nvSpPr>
        <p:spPr>
          <a:xfrm>
            <a:off x="1217612" y="1811337"/>
            <a:ext cx="55705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us to refer to a relation by more than one name.</a:t>
            </a:r>
            <a:endParaRPr/>
          </a:p>
        </p:txBody>
      </p:sp>
      <p:sp>
        <p:nvSpPr>
          <p:cNvPr id="1565" name="Google Shape;1565;p36"/>
          <p:cNvSpPr txBox="1"/>
          <p:nvPr/>
        </p:nvSpPr>
        <p:spPr>
          <a:xfrm>
            <a:off x="876300" y="21399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566" name="Google Shape;1566;p36"/>
          <p:cNvSpPr txBox="1"/>
          <p:nvPr/>
        </p:nvSpPr>
        <p:spPr>
          <a:xfrm>
            <a:off x="1217612" y="2184400"/>
            <a:ext cx="9779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sp>
        <p:nvSpPr>
          <p:cNvPr id="1567" name="Google Shape;1567;p36"/>
          <p:cNvSpPr txBox="1"/>
          <p:nvPr/>
        </p:nvSpPr>
        <p:spPr>
          <a:xfrm>
            <a:off x="1217612" y="2608262"/>
            <a:ext cx="4376737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41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1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241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t/>
            </a:r>
            <a:endParaRPr b="0" i="0" sz="2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41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the expression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 the name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568" name="Google Shape;1568;p36"/>
          <p:cNvSpPr txBox="1"/>
          <p:nvPr/>
        </p:nvSpPr>
        <p:spPr>
          <a:xfrm>
            <a:off x="876300" y="367823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569" name="Google Shape;1569;p36"/>
          <p:cNvSpPr txBox="1"/>
          <p:nvPr/>
        </p:nvSpPr>
        <p:spPr>
          <a:xfrm>
            <a:off x="1217612" y="3722687"/>
            <a:ext cx="52403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relational-algebra expression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arity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then</a:t>
            </a:r>
            <a:endParaRPr/>
          </a:p>
        </p:txBody>
      </p:sp>
      <p:sp>
        <p:nvSpPr>
          <p:cNvPr id="1570" name="Google Shape;1570;p36"/>
          <p:cNvSpPr txBox="1"/>
          <p:nvPr/>
        </p:nvSpPr>
        <p:spPr>
          <a:xfrm>
            <a:off x="1217612" y="4845050"/>
            <a:ext cx="6611937" cy="663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the result of expression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 the name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with the attributes renamed to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…., 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571" name="Google Shape;1571;p36"/>
          <p:cNvSpPr txBox="1"/>
          <p:nvPr/>
        </p:nvSpPr>
        <p:spPr>
          <a:xfrm>
            <a:off x="4324350" y="4132262"/>
            <a:ext cx="641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baseline="-2500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2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-US" sz="2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572" name="Google Shape;1572;p36"/>
          <p:cNvSpPr txBox="1"/>
          <p:nvPr/>
        </p:nvSpPr>
        <p:spPr>
          <a:xfrm>
            <a:off x="2930525" y="4116387"/>
            <a:ext cx="1374775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657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Noto Sans Symbols"/>
              <a:buNone/>
            </a:pPr>
            <a:r>
              <a:rPr b="0" baseline="30000" i="1" lang="en-US" sz="3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,...,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2	</a:t>
            </a:r>
            <a:r>
              <a:rPr b="0" i="1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37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37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37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37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37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37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37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37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37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37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37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37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37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37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37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37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37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37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37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37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37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37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37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7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37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37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37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32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Banking Example</a:t>
            </a:r>
            <a:endParaRPr/>
          </a:p>
        </p:txBody>
      </p:sp>
      <p:sp>
        <p:nvSpPr>
          <p:cNvPr id="1604" name="Google Shape;1604;p37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605" name="Google Shape;1605;p37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606" name="Google Shape;1606;p37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607" name="Google Shape;1607;p37"/>
          <p:cNvSpPr txBox="1"/>
          <p:nvPr/>
        </p:nvSpPr>
        <p:spPr>
          <a:xfrm>
            <a:off x="874712" y="1082675"/>
            <a:ext cx="6118225" cy="306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(branch_name, branch_city, assets)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(customer_name, customer_street, customer_city)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2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(account_number, branch_name, balance) loan (loan_number, branch_name, amount) depositor (customer_name, account_number) borrower (customer_name, loan_number)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38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38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8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38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38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38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8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38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38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38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38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38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38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38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38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38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38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38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38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38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38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38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38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38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38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38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38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765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Example Queries</a:t>
            </a:r>
            <a:endParaRPr/>
          </a:p>
        </p:txBody>
      </p:sp>
      <p:sp>
        <p:nvSpPr>
          <p:cNvPr id="1639" name="Google Shape;1639;p38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640" name="Google Shape;1640;p38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641" name="Google Shape;1641;p38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642" name="Google Shape;1642;p38"/>
          <p:cNvSpPr txBox="1"/>
          <p:nvPr/>
        </p:nvSpPr>
        <p:spPr>
          <a:xfrm>
            <a:off x="915987" y="11033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43" name="Google Shape;1643;p38"/>
          <p:cNvSpPr txBox="1"/>
          <p:nvPr/>
        </p:nvSpPr>
        <p:spPr>
          <a:xfrm>
            <a:off x="1258887" y="1149350"/>
            <a:ext cx="28273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all loans of over $1200</a:t>
            </a:r>
            <a:endParaRPr/>
          </a:p>
        </p:txBody>
      </p:sp>
      <p:sp>
        <p:nvSpPr>
          <p:cNvPr id="1644" name="Google Shape;1644;p38"/>
          <p:cNvSpPr txBox="1"/>
          <p:nvPr/>
        </p:nvSpPr>
        <p:spPr>
          <a:xfrm>
            <a:off x="936625" y="28463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45" name="Google Shape;1645;p38"/>
          <p:cNvSpPr txBox="1"/>
          <p:nvPr/>
        </p:nvSpPr>
        <p:spPr>
          <a:xfrm>
            <a:off x="1279525" y="2890837"/>
            <a:ext cx="62531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loan number for each loan of an amount greater than</a:t>
            </a:r>
            <a:endParaRPr/>
          </a:p>
        </p:txBody>
      </p:sp>
      <p:sp>
        <p:nvSpPr>
          <p:cNvPr id="1646" name="Google Shape;1646;p38"/>
          <p:cNvSpPr txBox="1"/>
          <p:nvPr/>
        </p:nvSpPr>
        <p:spPr>
          <a:xfrm>
            <a:off x="2111375" y="3165475"/>
            <a:ext cx="4292600" cy="887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$1200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7837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Noto Sans Symbols"/>
              <a:buNone/>
            </a:pP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loan_number  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  </a:t>
            </a:r>
            <a:r>
              <a:rPr b="0" baseline="3000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1200  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/>
          </a:p>
        </p:txBody>
      </p:sp>
      <p:sp>
        <p:nvSpPr>
          <p:cNvPr id="1647" name="Google Shape;1647;p38"/>
          <p:cNvSpPr txBox="1"/>
          <p:nvPr/>
        </p:nvSpPr>
        <p:spPr>
          <a:xfrm>
            <a:off x="2276475" y="1752600"/>
            <a:ext cx="2360612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b="0" i="0" lang="en-US" sz="25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 </a:t>
            </a:r>
            <a:r>
              <a:rPr b="0" baseline="-2500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1200  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648" name="Google Shape;1648;p38"/>
          <p:cNvSpPr txBox="1"/>
          <p:nvPr/>
        </p:nvSpPr>
        <p:spPr>
          <a:xfrm>
            <a:off x="915987" y="43624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49" name="Google Shape;1649;p38"/>
          <p:cNvSpPr txBox="1"/>
          <p:nvPr/>
        </p:nvSpPr>
        <p:spPr>
          <a:xfrm>
            <a:off x="1258887" y="4408487"/>
            <a:ext cx="71294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names of all customers who have a loan, an account, or both,</a:t>
            </a:r>
            <a:endParaRPr/>
          </a:p>
        </p:txBody>
      </p:sp>
      <p:sp>
        <p:nvSpPr>
          <p:cNvPr id="1650" name="Google Shape;1650;p38"/>
          <p:cNvSpPr txBox="1"/>
          <p:nvPr/>
        </p:nvSpPr>
        <p:spPr>
          <a:xfrm>
            <a:off x="1258887" y="4681537"/>
            <a:ext cx="6616700" cy="995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bank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baseline="30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39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39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39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39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39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39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39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39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39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39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39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39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39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39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39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39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39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39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39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39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39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39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39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39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39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39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39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765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Example Queries</a:t>
            </a:r>
            <a:endParaRPr/>
          </a:p>
        </p:txBody>
      </p:sp>
      <p:sp>
        <p:nvSpPr>
          <p:cNvPr id="1682" name="Google Shape;1682;p39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683" name="Google Shape;1683;p39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684" name="Google Shape;1684;p39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685" name="Google Shape;1685;p39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86" name="Google Shape;1686;p39"/>
          <p:cNvSpPr txBox="1"/>
          <p:nvPr/>
        </p:nvSpPr>
        <p:spPr>
          <a:xfrm>
            <a:off x="1217612" y="1162050"/>
            <a:ext cx="67373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names of all customers who have a loan at the Perryridge</a:t>
            </a:r>
            <a:endParaRPr/>
          </a:p>
        </p:txBody>
      </p:sp>
      <p:sp>
        <p:nvSpPr>
          <p:cNvPr id="1687" name="Google Shape;1687;p39"/>
          <p:cNvSpPr txBox="1"/>
          <p:nvPr>
            <p:ph idx="1" type="body"/>
          </p:nvPr>
        </p:nvSpPr>
        <p:spPr>
          <a:xfrm>
            <a:off x="815975" y="1436687"/>
            <a:ext cx="75120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14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branch.</a:t>
            </a:r>
            <a:endParaRPr/>
          </a:p>
          <a:p>
            <a:pPr indent="0" lvl="0" marL="414337" rtl="0" algn="l">
              <a:lnSpc>
                <a:spcPct val="146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Noto Sans Symbols"/>
              <a:buNone/>
            </a:pP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4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branch_name=“Perryridge</a:t>
            </a:r>
            <a:r>
              <a:rPr b="0" baseline="30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borrower.loan_number = loan.loan_number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 x loan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)))</a:t>
            </a:r>
            <a:endParaRPr/>
          </a:p>
        </p:txBody>
      </p:sp>
      <p:sp>
        <p:nvSpPr>
          <p:cNvPr id="1688" name="Google Shape;1688;p39"/>
          <p:cNvSpPr txBox="1"/>
          <p:nvPr/>
        </p:nvSpPr>
        <p:spPr>
          <a:xfrm>
            <a:off x="868362" y="320357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89" name="Google Shape;1689;p39"/>
          <p:cNvSpPr txBox="1"/>
          <p:nvPr/>
        </p:nvSpPr>
        <p:spPr>
          <a:xfrm>
            <a:off x="1154112" y="3248025"/>
            <a:ext cx="56213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names of all customers who have a loan at the</a:t>
            </a:r>
            <a:endParaRPr/>
          </a:p>
        </p:txBody>
      </p:sp>
      <p:sp>
        <p:nvSpPr>
          <p:cNvPr id="1690" name="Google Shape;1690;p39"/>
          <p:cNvSpPr txBox="1"/>
          <p:nvPr/>
        </p:nvSpPr>
        <p:spPr>
          <a:xfrm>
            <a:off x="879475" y="3522662"/>
            <a:ext cx="6726237" cy="253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71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Perryridge branch but do not have an account at any branch of the bank.</a:t>
            </a:r>
            <a:endParaRPr/>
          </a:p>
          <a:p>
            <a:pPr indent="0" lvl="0" marL="2571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71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4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= “Perryridge”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7175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4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borrower.loan_number = loan.loan_number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(borrower x loan)))	–</a:t>
            </a:r>
            <a:endParaRPr/>
          </a:p>
          <a:p>
            <a:pPr indent="0" lvl="0" marL="257175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(depositor)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40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40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40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40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40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40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40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40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40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40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40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40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40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40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40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40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40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40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40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40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40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40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40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40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40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40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40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765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Example Queries</a:t>
            </a:r>
            <a:endParaRPr/>
          </a:p>
        </p:txBody>
      </p:sp>
      <p:sp>
        <p:nvSpPr>
          <p:cNvPr id="1722" name="Google Shape;1722;p40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723" name="Google Shape;1723;p40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724" name="Google Shape;1724;p40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725" name="Google Shape;1725;p40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726" name="Google Shape;1726;p40"/>
          <p:cNvSpPr txBox="1"/>
          <p:nvPr/>
        </p:nvSpPr>
        <p:spPr>
          <a:xfrm>
            <a:off x="1217612" y="1163637"/>
            <a:ext cx="75612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names of all customers who have a loan at the Perryridge branch.</a:t>
            </a:r>
            <a:endParaRPr/>
          </a:p>
        </p:txBody>
      </p:sp>
      <p:sp>
        <p:nvSpPr>
          <p:cNvPr id="1727" name="Google Shape;1727;p40"/>
          <p:cNvSpPr txBox="1"/>
          <p:nvPr/>
        </p:nvSpPr>
        <p:spPr>
          <a:xfrm>
            <a:off x="1241425" y="39274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728" name="Google Shape;1728;p40"/>
          <p:cNvSpPr txBox="1"/>
          <p:nvPr/>
        </p:nvSpPr>
        <p:spPr>
          <a:xfrm>
            <a:off x="1698625" y="3957637"/>
            <a:ext cx="838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2</a:t>
            </a:r>
            <a:endParaRPr/>
          </a:p>
        </p:txBody>
      </p:sp>
      <p:sp>
        <p:nvSpPr>
          <p:cNvPr id="1729" name="Google Shape;1729;p40"/>
          <p:cNvSpPr txBox="1"/>
          <p:nvPr/>
        </p:nvSpPr>
        <p:spPr>
          <a:xfrm>
            <a:off x="1311275" y="4548187"/>
            <a:ext cx="6600825" cy="1036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31925" lvl="0" marL="1444625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Noto Sans Symbols"/>
              <a:buNone/>
            </a:pP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loan.loan_number = borrower.loan_number 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(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= “Perryridge</a:t>
            </a:r>
            <a:r>
              <a:rPr b="0" baseline="3000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(loan)) x	borrower))</a:t>
            </a:r>
            <a:endParaRPr/>
          </a:p>
        </p:txBody>
      </p:sp>
      <p:sp>
        <p:nvSpPr>
          <p:cNvPr id="1730" name="Google Shape;1730;p40"/>
          <p:cNvSpPr txBox="1"/>
          <p:nvPr/>
        </p:nvSpPr>
        <p:spPr>
          <a:xfrm>
            <a:off x="1265237" y="195103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731" name="Google Shape;1731;p40"/>
          <p:cNvSpPr txBox="1"/>
          <p:nvPr/>
        </p:nvSpPr>
        <p:spPr>
          <a:xfrm>
            <a:off x="1600200" y="1981200"/>
            <a:ext cx="838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1</a:t>
            </a:r>
            <a:endParaRPr/>
          </a:p>
        </p:txBody>
      </p:sp>
      <p:sp>
        <p:nvSpPr>
          <p:cNvPr id="1732" name="Google Shape;1732;p40"/>
          <p:cNvSpPr txBox="1"/>
          <p:nvPr/>
        </p:nvSpPr>
        <p:spPr>
          <a:xfrm>
            <a:off x="1728787" y="2409825"/>
            <a:ext cx="63595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Noto Sans Symbols"/>
              <a:buNone/>
            </a:pP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= “Perryridge” 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12700" marR="0" rtl="0" algn="l">
              <a:lnSpc>
                <a:spcPct val="78378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Noto Sans Symbols"/>
              <a:buNone/>
            </a:pP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borrower.loan_number = loan.loan_number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(borrower x loan)))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41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41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41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41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41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41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41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41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41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41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41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41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41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41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41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41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41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41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41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41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41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41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41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4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41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41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41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765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Example Queries</a:t>
            </a:r>
            <a:endParaRPr/>
          </a:p>
        </p:txBody>
      </p:sp>
      <p:sp>
        <p:nvSpPr>
          <p:cNvPr id="1764" name="Google Shape;1764;p41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765" name="Google Shape;1765;p41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766" name="Google Shape;1766;p41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767" name="Google Shape;1767;p41"/>
          <p:cNvSpPr txBox="1"/>
          <p:nvPr/>
        </p:nvSpPr>
        <p:spPr>
          <a:xfrm>
            <a:off x="687387" y="1030287"/>
            <a:ext cx="16351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768" name="Google Shape;1768;p41"/>
          <p:cNvSpPr txBox="1"/>
          <p:nvPr/>
        </p:nvSpPr>
        <p:spPr>
          <a:xfrm>
            <a:off x="1030287" y="1069975"/>
            <a:ext cx="2960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largest account balance</a:t>
            </a:r>
            <a:endParaRPr/>
          </a:p>
        </p:txBody>
      </p:sp>
      <p:sp>
        <p:nvSpPr>
          <p:cNvPr id="1769" name="Google Shape;1769;p41"/>
          <p:cNvSpPr txBox="1"/>
          <p:nvPr/>
        </p:nvSpPr>
        <p:spPr>
          <a:xfrm>
            <a:off x="1144587" y="1374775"/>
            <a:ext cx="153987" cy="18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770" name="Google Shape;1770;p41"/>
          <p:cNvSpPr txBox="1"/>
          <p:nvPr/>
        </p:nvSpPr>
        <p:spPr>
          <a:xfrm>
            <a:off x="1430337" y="1401762"/>
            <a:ext cx="8366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Strategy:</a:t>
            </a:r>
            <a:endParaRPr/>
          </a:p>
        </p:txBody>
      </p:sp>
      <p:sp>
        <p:nvSpPr>
          <p:cNvPr id="1771" name="Google Shape;1771;p41"/>
          <p:cNvSpPr txBox="1"/>
          <p:nvPr/>
        </p:nvSpPr>
        <p:spPr>
          <a:xfrm>
            <a:off x="1544637" y="1700212"/>
            <a:ext cx="14605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1200"/>
              <a:buFont typeface="Noto Sans Symbols"/>
              <a:buNone/>
            </a:pPr>
            <a:r>
              <a:rPr b="0" i="0" lang="en-US" sz="12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endParaRPr/>
          </a:p>
        </p:txBody>
      </p:sp>
      <p:sp>
        <p:nvSpPr>
          <p:cNvPr id="1772" name="Google Shape;1772;p41"/>
          <p:cNvSpPr txBox="1"/>
          <p:nvPr/>
        </p:nvSpPr>
        <p:spPr>
          <a:xfrm>
            <a:off x="1773237" y="1733550"/>
            <a:ext cx="39290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those balances that are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largest</a:t>
            </a:r>
            <a:endParaRPr/>
          </a:p>
        </p:txBody>
      </p:sp>
      <p:sp>
        <p:nvSpPr>
          <p:cNvPr id="1773" name="Google Shape;1773;p41"/>
          <p:cNvSpPr txBox="1"/>
          <p:nvPr/>
        </p:nvSpPr>
        <p:spPr>
          <a:xfrm>
            <a:off x="1887537" y="2065337"/>
            <a:ext cx="5659437" cy="471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598" lvl="0" marL="239711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FF9800"/>
                </a:solidFill>
                <a:latin typeface="Arial"/>
                <a:ea typeface="Arial"/>
                <a:cs typeface="Arial"/>
                <a:sym typeface="Arial"/>
              </a:rPr>
              <a:t>–  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Rename 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as 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that we can compare each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balance with all others</a:t>
            </a:r>
            <a:endParaRPr/>
          </a:p>
        </p:txBody>
      </p:sp>
      <p:sp>
        <p:nvSpPr>
          <p:cNvPr id="1774" name="Google Shape;1774;p41"/>
          <p:cNvSpPr txBox="1"/>
          <p:nvPr/>
        </p:nvSpPr>
        <p:spPr>
          <a:xfrm>
            <a:off x="1544637" y="2606675"/>
            <a:ext cx="14605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1200"/>
              <a:buFont typeface="Noto Sans Symbols"/>
              <a:buNone/>
            </a:pPr>
            <a:r>
              <a:rPr b="0" i="0" lang="en-US" sz="12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endParaRPr/>
          </a:p>
        </p:txBody>
      </p:sp>
      <p:sp>
        <p:nvSpPr>
          <p:cNvPr id="1775" name="Google Shape;1775;p41"/>
          <p:cNvSpPr txBox="1"/>
          <p:nvPr/>
        </p:nvSpPr>
        <p:spPr>
          <a:xfrm>
            <a:off x="1773237" y="2641600"/>
            <a:ext cx="6254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set difference to find those account balances that were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endParaRPr/>
          </a:p>
        </p:txBody>
      </p:sp>
      <p:sp>
        <p:nvSpPr>
          <p:cNvPr id="1776" name="Google Shape;1776;p41"/>
          <p:cNvSpPr txBox="1"/>
          <p:nvPr/>
        </p:nvSpPr>
        <p:spPr>
          <a:xfrm>
            <a:off x="1773237" y="2882900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earlier step.</a:t>
            </a:r>
            <a:endParaRPr/>
          </a:p>
        </p:txBody>
      </p:sp>
      <p:sp>
        <p:nvSpPr>
          <p:cNvPr id="1777" name="Google Shape;1777;p41"/>
          <p:cNvSpPr txBox="1"/>
          <p:nvPr/>
        </p:nvSpPr>
        <p:spPr>
          <a:xfrm>
            <a:off x="1144587" y="3189287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778" name="Google Shape;1778;p41"/>
          <p:cNvSpPr txBox="1"/>
          <p:nvPr/>
        </p:nvSpPr>
        <p:spPr>
          <a:xfrm>
            <a:off x="1430337" y="3216275"/>
            <a:ext cx="11985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query is:</a:t>
            </a:r>
            <a:endParaRPr/>
          </a:p>
        </p:txBody>
      </p:sp>
      <p:sp>
        <p:nvSpPr>
          <p:cNvPr id="1779" name="Google Shape;1779;p41"/>
          <p:cNvSpPr txBox="1"/>
          <p:nvPr/>
        </p:nvSpPr>
        <p:spPr>
          <a:xfrm>
            <a:off x="1525587" y="3800475"/>
            <a:ext cx="6248400" cy="1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Noto Sans Symbols"/>
              <a:buNone/>
            </a:pP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r>
              <a:rPr b="0" baseline="30000" i="1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(account) 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account.balance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78947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account.balance &lt; d.balance 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x </a:t>
            </a:r>
            <a:r>
              <a:rPr b="0" baseline="30000" i="1" lang="en-US" sz="3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(account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42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42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42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42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42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42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42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42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42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42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42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42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42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42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42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42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42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42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42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42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42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42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42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42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808" name="Google Shape;1808;p42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809" name="Google Shape;1809;p4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42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42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42"/>
          <p:cNvSpPr txBox="1"/>
          <p:nvPr/>
        </p:nvSpPr>
        <p:spPr>
          <a:xfrm>
            <a:off x="77787" y="6635750"/>
            <a:ext cx="3332162" cy="201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tion, June 15,  2005</a:t>
            </a:r>
            <a:endParaRPr/>
          </a:p>
        </p:txBody>
      </p:sp>
      <p:sp>
        <p:nvSpPr>
          <p:cNvPr id="1813" name="Google Shape;1813;p42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543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Formal Definition</a:t>
            </a:r>
            <a:endParaRPr/>
          </a:p>
        </p:txBody>
      </p:sp>
      <p:sp>
        <p:nvSpPr>
          <p:cNvPr id="1814" name="Google Shape;1814;p42"/>
          <p:cNvSpPr txBox="1"/>
          <p:nvPr/>
        </p:nvSpPr>
        <p:spPr>
          <a:xfrm>
            <a:off x="876300" y="11445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815" name="Google Shape;1815;p42"/>
          <p:cNvSpPr txBox="1"/>
          <p:nvPr/>
        </p:nvSpPr>
        <p:spPr>
          <a:xfrm>
            <a:off x="1217612" y="1189037"/>
            <a:ext cx="72294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basic expression in the relational algebra consists of either one of the</a:t>
            </a:r>
            <a:endParaRPr/>
          </a:p>
        </p:txBody>
      </p:sp>
      <p:sp>
        <p:nvSpPr>
          <p:cNvPr id="1816" name="Google Shape;1816;p42"/>
          <p:cNvSpPr txBox="1"/>
          <p:nvPr/>
        </p:nvSpPr>
        <p:spPr>
          <a:xfrm>
            <a:off x="1217612" y="1490662"/>
            <a:ext cx="9763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following:</a:t>
            </a:r>
            <a:endParaRPr/>
          </a:p>
        </p:txBody>
      </p:sp>
      <p:sp>
        <p:nvSpPr>
          <p:cNvPr id="1817" name="Google Shape;1817;p42"/>
          <p:cNvSpPr txBox="1"/>
          <p:nvPr/>
        </p:nvSpPr>
        <p:spPr>
          <a:xfrm>
            <a:off x="1333500" y="18621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818" name="Google Shape;1818;p42"/>
          <p:cNvSpPr txBox="1"/>
          <p:nvPr/>
        </p:nvSpPr>
        <p:spPr>
          <a:xfrm>
            <a:off x="1617662" y="1892300"/>
            <a:ext cx="26130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relation in the database</a:t>
            </a:r>
            <a:endParaRPr/>
          </a:p>
        </p:txBody>
      </p:sp>
      <p:sp>
        <p:nvSpPr>
          <p:cNvPr id="1819" name="Google Shape;1819;p42"/>
          <p:cNvSpPr txBox="1"/>
          <p:nvPr/>
        </p:nvSpPr>
        <p:spPr>
          <a:xfrm>
            <a:off x="1333500" y="22637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820" name="Google Shape;1820;p42"/>
          <p:cNvSpPr txBox="1"/>
          <p:nvPr/>
        </p:nvSpPr>
        <p:spPr>
          <a:xfrm>
            <a:off x="1617662" y="2293937"/>
            <a:ext cx="19177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constant relation</a:t>
            </a:r>
            <a:endParaRPr/>
          </a:p>
        </p:txBody>
      </p:sp>
      <p:sp>
        <p:nvSpPr>
          <p:cNvPr id="1821" name="Google Shape;1821;p42"/>
          <p:cNvSpPr txBox="1"/>
          <p:nvPr/>
        </p:nvSpPr>
        <p:spPr>
          <a:xfrm>
            <a:off x="876300" y="2671762"/>
            <a:ext cx="726916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1312" lvl="0" marL="354012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2"/>
              <a:buFont typeface="MS Gothic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relational-algebra expressions; the following are all relational-algebra expressions:</a:t>
            </a:r>
            <a:endParaRPr/>
          </a:p>
        </p:txBody>
      </p:sp>
      <p:sp>
        <p:nvSpPr>
          <p:cNvPr id="1822" name="Google Shape;1822;p42"/>
          <p:cNvSpPr txBox="1"/>
          <p:nvPr/>
        </p:nvSpPr>
        <p:spPr>
          <a:xfrm>
            <a:off x="1333500" y="35274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823" name="Google Shape;1823;p42"/>
          <p:cNvSpPr txBox="1"/>
          <p:nvPr/>
        </p:nvSpPr>
        <p:spPr>
          <a:xfrm>
            <a:off x="1617662" y="3565525"/>
            <a:ext cx="83185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24" name="Google Shape;1824;p42"/>
          <p:cNvSpPr txBox="1"/>
          <p:nvPr/>
        </p:nvSpPr>
        <p:spPr>
          <a:xfrm>
            <a:off x="1333500" y="41179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825" name="Google Shape;1825;p42"/>
          <p:cNvSpPr txBox="1"/>
          <p:nvPr/>
        </p:nvSpPr>
        <p:spPr>
          <a:xfrm>
            <a:off x="1617662" y="4154487"/>
            <a:ext cx="782637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26" name="Google Shape;1826;p42"/>
          <p:cNvSpPr txBox="1"/>
          <p:nvPr/>
        </p:nvSpPr>
        <p:spPr>
          <a:xfrm>
            <a:off x="1333500" y="47085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827" name="Google Shape;1827;p42"/>
          <p:cNvSpPr txBox="1"/>
          <p:nvPr/>
        </p:nvSpPr>
        <p:spPr>
          <a:xfrm>
            <a:off x="1617662" y="4745037"/>
            <a:ext cx="769937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28" name="Google Shape;1828;p42"/>
          <p:cNvSpPr txBox="1"/>
          <p:nvPr/>
        </p:nvSpPr>
        <p:spPr>
          <a:xfrm>
            <a:off x="1333500" y="53006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829" name="Google Shape;1829;p42"/>
          <p:cNvSpPr txBox="1"/>
          <p:nvPr/>
        </p:nvSpPr>
        <p:spPr>
          <a:xfrm>
            <a:off x="1617662" y="5330825"/>
            <a:ext cx="43068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predicate on attributes in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30" name="Google Shape;1830;p42"/>
          <p:cNvSpPr txBox="1"/>
          <p:nvPr/>
        </p:nvSpPr>
        <p:spPr>
          <a:xfrm>
            <a:off x="1333500" y="58912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831" name="Google Shape;1831;p42"/>
          <p:cNvSpPr txBox="1"/>
          <p:nvPr/>
        </p:nvSpPr>
        <p:spPr>
          <a:xfrm>
            <a:off x="1617662" y="5926137"/>
            <a:ext cx="5895975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list consisting of some of the attributes in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32" name="Google Shape;1832;p42"/>
          <p:cNvSpPr txBox="1"/>
          <p:nvPr/>
        </p:nvSpPr>
        <p:spPr>
          <a:xfrm>
            <a:off x="1333500" y="6469062"/>
            <a:ext cx="1857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833" name="Google Shape;1833;p42"/>
          <p:cNvSpPr txBox="1"/>
          <p:nvPr/>
        </p:nvSpPr>
        <p:spPr>
          <a:xfrm>
            <a:off x="1617662" y="6491287"/>
            <a:ext cx="4559300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1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x is the new name for the result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1834" name="Google Shape;1834;p42"/>
          <p:cNvSpPr txBox="1"/>
          <p:nvPr/>
        </p:nvSpPr>
        <p:spPr>
          <a:xfrm>
            <a:off x="6149975" y="6635750"/>
            <a:ext cx="123825" cy="201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43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43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43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43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43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43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43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43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43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43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43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43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43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43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43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43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43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43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43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43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43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43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43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4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43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43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4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4018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Additional Operations</a:t>
            </a:r>
            <a:endParaRPr/>
          </a:p>
        </p:txBody>
      </p:sp>
      <p:sp>
        <p:nvSpPr>
          <p:cNvPr id="1866" name="Google Shape;1866;p43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867" name="Google Shape;1867;p43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868" name="Google Shape;1868;p43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869" name="Google Shape;1869;p43"/>
          <p:cNvSpPr txBox="1"/>
          <p:nvPr/>
        </p:nvSpPr>
        <p:spPr>
          <a:xfrm>
            <a:off x="876300" y="1162050"/>
            <a:ext cx="655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define additional operations that do not add any power to the relational algebra, but that simplify common queries.</a:t>
            </a:r>
            <a:endParaRPr/>
          </a:p>
        </p:txBody>
      </p:sp>
      <p:sp>
        <p:nvSpPr>
          <p:cNvPr id="1870" name="Google Shape;1870;p43"/>
          <p:cNvSpPr txBox="1"/>
          <p:nvPr/>
        </p:nvSpPr>
        <p:spPr>
          <a:xfrm>
            <a:off x="876300" y="20304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871" name="Google Shape;1871;p43"/>
          <p:cNvSpPr txBox="1"/>
          <p:nvPr/>
        </p:nvSpPr>
        <p:spPr>
          <a:xfrm>
            <a:off x="1217612" y="2074862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intersection</a:t>
            </a:r>
            <a:endParaRPr/>
          </a:p>
        </p:txBody>
      </p:sp>
      <p:sp>
        <p:nvSpPr>
          <p:cNvPr id="1872" name="Google Shape;1872;p43"/>
          <p:cNvSpPr txBox="1"/>
          <p:nvPr/>
        </p:nvSpPr>
        <p:spPr>
          <a:xfrm>
            <a:off x="876300" y="24050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873" name="Google Shape;1873;p43"/>
          <p:cNvSpPr txBox="1"/>
          <p:nvPr/>
        </p:nvSpPr>
        <p:spPr>
          <a:xfrm>
            <a:off x="1217612" y="2447925"/>
            <a:ext cx="11795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 join</a:t>
            </a:r>
            <a:endParaRPr/>
          </a:p>
        </p:txBody>
      </p:sp>
      <p:sp>
        <p:nvSpPr>
          <p:cNvPr id="1874" name="Google Shape;1874;p43"/>
          <p:cNvSpPr txBox="1"/>
          <p:nvPr/>
        </p:nvSpPr>
        <p:spPr>
          <a:xfrm>
            <a:off x="876300" y="277812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875" name="Google Shape;1875;p43"/>
          <p:cNvSpPr txBox="1"/>
          <p:nvPr/>
        </p:nvSpPr>
        <p:spPr>
          <a:xfrm>
            <a:off x="1217612" y="2822575"/>
            <a:ext cx="8239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Division</a:t>
            </a:r>
            <a:endParaRPr/>
          </a:p>
        </p:txBody>
      </p:sp>
      <p:sp>
        <p:nvSpPr>
          <p:cNvPr id="1876" name="Google Shape;1876;p43"/>
          <p:cNvSpPr txBox="1"/>
          <p:nvPr/>
        </p:nvSpPr>
        <p:spPr>
          <a:xfrm>
            <a:off x="876300" y="315277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877" name="Google Shape;1877;p43"/>
          <p:cNvSpPr txBox="1"/>
          <p:nvPr/>
        </p:nvSpPr>
        <p:spPr>
          <a:xfrm>
            <a:off x="1217612" y="3195637"/>
            <a:ext cx="1217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44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44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44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44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44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44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44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44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44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44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44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44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44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44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44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44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44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44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44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44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44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44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44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4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44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44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44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97326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Set-Intersection Operation</a:t>
            </a:r>
            <a:endParaRPr/>
          </a:p>
        </p:txBody>
      </p:sp>
      <p:sp>
        <p:nvSpPr>
          <p:cNvPr id="1909" name="Google Shape;1909;p44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1910" name="Google Shape;1910;p44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1911" name="Google Shape;1911;p44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1912" name="Google Shape;1912;p44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913" name="Google Shape;1913;p44"/>
          <p:cNvSpPr txBox="1"/>
          <p:nvPr/>
        </p:nvSpPr>
        <p:spPr>
          <a:xfrm>
            <a:off x="1217612" y="1162050"/>
            <a:ext cx="14970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Notation: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914" name="Google Shape;1914;p44"/>
          <p:cNvSpPr txBox="1"/>
          <p:nvPr/>
        </p:nvSpPr>
        <p:spPr>
          <a:xfrm>
            <a:off x="876300" y="1490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915" name="Google Shape;1915;p44"/>
          <p:cNvSpPr txBox="1"/>
          <p:nvPr/>
        </p:nvSpPr>
        <p:spPr>
          <a:xfrm>
            <a:off x="1217612" y="1536700"/>
            <a:ext cx="11795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as:</a:t>
            </a:r>
            <a:endParaRPr/>
          </a:p>
        </p:txBody>
      </p:sp>
      <p:sp>
        <p:nvSpPr>
          <p:cNvPr id="1916" name="Google Shape;1916;p44"/>
          <p:cNvSpPr txBox="1"/>
          <p:nvPr/>
        </p:nvSpPr>
        <p:spPr>
          <a:xfrm>
            <a:off x="876300" y="18653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917" name="Google Shape;1917;p44"/>
          <p:cNvSpPr txBox="1"/>
          <p:nvPr/>
        </p:nvSpPr>
        <p:spPr>
          <a:xfrm>
            <a:off x="1217612" y="1909762"/>
            <a:ext cx="2751137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918" name="Google Shape;1918;p44"/>
          <p:cNvSpPr txBox="1"/>
          <p:nvPr/>
        </p:nvSpPr>
        <p:spPr>
          <a:xfrm>
            <a:off x="876300" y="22399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919" name="Google Shape;1919;p44"/>
          <p:cNvSpPr txBox="1"/>
          <p:nvPr/>
        </p:nvSpPr>
        <p:spPr>
          <a:xfrm>
            <a:off x="1217612" y="2284412"/>
            <a:ext cx="914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Assume:</a:t>
            </a:r>
            <a:endParaRPr/>
          </a:p>
        </p:txBody>
      </p:sp>
      <p:sp>
        <p:nvSpPr>
          <p:cNvPr id="1920" name="Google Shape;1920;p44"/>
          <p:cNvSpPr txBox="1"/>
          <p:nvPr/>
        </p:nvSpPr>
        <p:spPr>
          <a:xfrm>
            <a:off x="1333500" y="26289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921" name="Google Shape;1921;p44"/>
          <p:cNvSpPr txBox="1"/>
          <p:nvPr/>
        </p:nvSpPr>
        <p:spPr>
          <a:xfrm>
            <a:off x="1617662" y="2657475"/>
            <a:ext cx="24003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the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arity</a:t>
            </a:r>
            <a:endParaRPr/>
          </a:p>
        </p:txBody>
      </p:sp>
      <p:sp>
        <p:nvSpPr>
          <p:cNvPr id="1922" name="Google Shape;1922;p44"/>
          <p:cNvSpPr txBox="1"/>
          <p:nvPr/>
        </p:nvSpPr>
        <p:spPr>
          <a:xfrm>
            <a:off x="1333500" y="30019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923" name="Google Shape;1923;p44"/>
          <p:cNvSpPr txBox="1"/>
          <p:nvPr/>
        </p:nvSpPr>
        <p:spPr>
          <a:xfrm>
            <a:off x="1617662" y="3032125"/>
            <a:ext cx="35417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compatible</a:t>
            </a:r>
            <a:endParaRPr/>
          </a:p>
        </p:txBody>
      </p:sp>
      <p:sp>
        <p:nvSpPr>
          <p:cNvPr id="1924" name="Google Shape;1924;p44"/>
          <p:cNvSpPr txBox="1"/>
          <p:nvPr/>
        </p:nvSpPr>
        <p:spPr>
          <a:xfrm>
            <a:off x="876300" y="336232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925" name="Google Shape;1925;p44"/>
          <p:cNvSpPr txBox="1"/>
          <p:nvPr/>
        </p:nvSpPr>
        <p:spPr>
          <a:xfrm>
            <a:off x="1217612" y="3405187"/>
            <a:ext cx="23209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45"/>
          <p:cNvSpPr/>
          <p:nvPr/>
        </p:nvSpPr>
        <p:spPr>
          <a:xfrm>
            <a:off x="5999162" y="1263650"/>
            <a:ext cx="3144837" cy="255587"/>
          </a:xfrm>
          <a:custGeom>
            <a:rect b="b" l="l" r="r" t="t"/>
            <a:pathLst>
              <a:path extrusionOk="0" h="255905" w="3144520">
                <a:moveTo>
                  <a:pt x="0" y="255531"/>
                </a:moveTo>
                <a:lnTo>
                  <a:pt x="3144530" y="255531"/>
                </a:lnTo>
                <a:lnTo>
                  <a:pt x="314453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45"/>
          <p:cNvSpPr/>
          <p:nvPr/>
        </p:nvSpPr>
        <p:spPr>
          <a:xfrm>
            <a:off x="3787775" y="1263650"/>
            <a:ext cx="1165225" cy="255587"/>
          </a:xfrm>
          <a:custGeom>
            <a:rect b="b" l="l" r="r" t="t"/>
            <a:pathLst>
              <a:path extrusionOk="0" h="255905" w="1164589">
                <a:moveTo>
                  <a:pt x="0" y="255531"/>
                </a:moveTo>
                <a:lnTo>
                  <a:pt x="1164579" y="255531"/>
                </a:lnTo>
                <a:lnTo>
                  <a:pt x="116457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45"/>
          <p:cNvSpPr/>
          <p:nvPr/>
        </p:nvSpPr>
        <p:spPr>
          <a:xfrm>
            <a:off x="0" y="1263650"/>
            <a:ext cx="2741612" cy="255587"/>
          </a:xfrm>
          <a:custGeom>
            <a:rect b="b" l="l" r="r" t="t"/>
            <a:pathLst>
              <a:path extrusionOk="0" h="255905" w="2741930">
                <a:moveTo>
                  <a:pt x="0" y="255531"/>
                </a:moveTo>
                <a:lnTo>
                  <a:pt x="2741925" y="255531"/>
                </a:lnTo>
                <a:lnTo>
                  <a:pt x="2741925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45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45"/>
          <p:cNvSpPr/>
          <p:nvPr/>
        </p:nvSpPr>
        <p:spPr>
          <a:xfrm>
            <a:off x="5989637" y="1774825"/>
            <a:ext cx="3154362" cy="252412"/>
          </a:xfrm>
          <a:custGeom>
            <a:rect b="b" l="l" r="r" t="t"/>
            <a:pathLst>
              <a:path extrusionOk="0" h="252094" w="3154679">
                <a:moveTo>
                  <a:pt x="0" y="251960"/>
                </a:moveTo>
                <a:lnTo>
                  <a:pt x="3154680" y="251960"/>
                </a:lnTo>
                <a:lnTo>
                  <a:pt x="3154680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45"/>
          <p:cNvSpPr/>
          <p:nvPr/>
        </p:nvSpPr>
        <p:spPr>
          <a:xfrm>
            <a:off x="3805237" y="1774825"/>
            <a:ext cx="1138237" cy="252412"/>
          </a:xfrm>
          <a:custGeom>
            <a:rect b="b" l="l" r="r" t="t"/>
            <a:pathLst>
              <a:path extrusionOk="0" h="252094" w="1139189">
                <a:moveTo>
                  <a:pt x="0" y="251960"/>
                </a:moveTo>
                <a:lnTo>
                  <a:pt x="1139189" y="251960"/>
                </a:lnTo>
                <a:lnTo>
                  <a:pt x="113918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45"/>
          <p:cNvSpPr/>
          <p:nvPr/>
        </p:nvSpPr>
        <p:spPr>
          <a:xfrm>
            <a:off x="0" y="1774825"/>
            <a:ext cx="2759075" cy="252412"/>
          </a:xfrm>
          <a:custGeom>
            <a:rect b="b" l="l" r="r" t="t"/>
            <a:pathLst>
              <a:path extrusionOk="0" h="252094" w="2758440">
                <a:moveTo>
                  <a:pt x="0" y="251960"/>
                </a:moveTo>
                <a:lnTo>
                  <a:pt x="2758439" y="251960"/>
                </a:lnTo>
                <a:lnTo>
                  <a:pt x="275843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45"/>
          <p:cNvSpPr/>
          <p:nvPr/>
        </p:nvSpPr>
        <p:spPr>
          <a:xfrm>
            <a:off x="5989637" y="2027237"/>
            <a:ext cx="3154362" cy="255587"/>
          </a:xfrm>
          <a:custGeom>
            <a:rect b="b" l="l" r="r" t="t"/>
            <a:pathLst>
              <a:path extrusionOk="0" h="255905" w="3154679">
                <a:moveTo>
                  <a:pt x="0" y="255650"/>
                </a:moveTo>
                <a:lnTo>
                  <a:pt x="3154680" y="255650"/>
                </a:lnTo>
                <a:lnTo>
                  <a:pt x="315468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45"/>
          <p:cNvSpPr/>
          <p:nvPr/>
        </p:nvSpPr>
        <p:spPr>
          <a:xfrm>
            <a:off x="3805237" y="2027237"/>
            <a:ext cx="1138237" cy="255587"/>
          </a:xfrm>
          <a:custGeom>
            <a:rect b="b" l="l" r="r" t="t"/>
            <a:pathLst>
              <a:path extrusionOk="0" h="255905" w="1139189">
                <a:moveTo>
                  <a:pt x="0" y="255650"/>
                </a:moveTo>
                <a:lnTo>
                  <a:pt x="1139189" y="255650"/>
                </a:lnTo>
                <a:lnTo>
                  <a:pt x="113918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45"/>
          <p:cNvSpPr/>
          <p:nvPr/>
        </p:nvSpPr>
        <p:spPr>
          <a:xfrm>
            <a:off x="0" y="2027237"/>
            <a:ext cx="2759075" cy="255587"/>
          </a:xfrm>
          <a:custGeom>
            <a:rect b="b" l="l" r="r" t="t"/>
            <a:pathLst>
              <a:path extrusionOk="0" h="255905" w="2758440">
                <a:moveTo>
                  <a:pt x="0" y="255650"/>
                </a:moveTo>
                <a:lnTo>
                  <a:pt x="2758439" y="255650"/>
                </a:lnTo>
                <a:lnTo>
                  <a:pt x="275843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45"/>
          <p:cNvSpPr/>
          <p:nvPr/>
        </p:nvSpPr>
        <p:spPr>
          <a:xfrm>
            <a:off x="3805237" y="2282825"/>
            <a:ext cx="5338762" cy="255587"/>
          </a:xfrm>
          <a:custGeom>
            <a:rect b="b" l="l" r="r" t="t"/>
            <a:pathLst>
              <a:path extrusionOk="0" h="255905" w="5339080">
                <a:moveTo>
                  <a:pt x="0" y="255531"/>
                </a:moveTo>
                <a:lnTo>
                  <a:pt x="5339090" y="255531"/>
                </a:lnTo>
                <a:lnTo>
                  <a:pt x="533909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45"/>
          <p:cNvSpPr/>
          <p:nvPr/>
        </p:nvSpPr>
        <p:spPr>
          <a:xfrm>
            <a:off x="0" y="2282825"/>
            <a:ext cx="2759075" cy="255587"/>
          </a:xfrm>
          <a:custGeom>
            <a:rect b="b" l="l" r="r" t="t"/>
            <a:pathLst>
              <a:path extrusionOk="0" h="255905" w="2758440">
                <a:moveTo>
                  <a:pt x="0" y="255531"/>
                </a:moveTo>
                <a:lnTo>
                  <a:pt x="2758439" y="255531"/>
                </a:lnTo>
                <a:lnTo>
                  <a:pt x="275843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45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45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45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45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45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45"/>
          <p:cNvSpPr/>
          <p:nvPr/>
        </p:nvSpPr>
        <p:spPr>
          <a:xfrm>
            <a:off x="3605212" y="3810000"/>
            <a:ext cx="5538787" cy="254000"/>
          </a:xfrm>
          <a:custGeom>
            <a:rect b="b" l="l" r="r" t="t"/>
            <a:pathLst>
              <a:path extrusionOk="0" h="254000" w="5538470">
                <a:moveTo>
                  <a:pt x="0" y="253805"/>
                </a:moveTo>
                <a:lnTo>
                  <a:pt x="5538459" y="253805"/>
                </a:lnTo>
                <a:lnTo>
                  <a:pt x="5538459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45"/>
          <p:cNvSpPr/>
          <p:nvPr/>
        </p:nvSpPr>
        <p:spPr>
          <a:xfrm>
            <a:off x="0" y="3810000"/>
            <a:ext cx="2559050" cy="254000"/>
          </a:xfrm>
          <a:custGeom>
            <a:rect b="b" l="l" r="r" t="t"/>
            <a:pathLst>
              <a:path extrusionOk="0" h="254000" w="2559050">
                <a:moveTo>
                  <a:pt x="0" y="253805"/>
                </a:moveTo>
                <a:lnTo>
                  <a:pt x="2559045" y="253805"/>
                </a:lnTo>
                <a:lnTo>
                  <a:pt x="2559045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45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45"/>
          <p:cNvSpPr/>
          <p:nvPr/>
        </p:nvSpPr>
        <p:spPr>
          <a:xfrm>
            <a:off x="3622675" y="4318000"/>
            <a:ext cx="5521325" cy="255587"/>
          </a:xfrm>
          <a:custGeom>
            <a:rect b="b" l="l" r="r" t="t"/>
            <a:pathLst>
              <a:path extrusionOk="0" h="254635" w="5520690">
                <a:moveTo>
                  <a:pt x="0" y="254150"/>
                </a:moveTo>
                <a:lnTo>
                  <a:pt x="5520690" y="254150"/>
                </a:lnTo>
                <a:lnTo>
                  <a:pt x="552069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45"/>
          <p:cNvSpPr/>
          <p:nvPr/>
        </p:nvSpPr>
        <p:spPr>
          <a:xfrm>
            <a:off x="0" y="4318000"/>
            <a:ext cx="2576512" cy="255587"/>
          </a:xfrm>
          <a:custGeom>
            <a:rect b="b" l="l" r="r" t="t"/>
            <a:pathLst>
              <a:path extrusionOk="0" h="254635" w="2576830">
                <a:moveTo>
                  <a:pt x="0" y="254150"/>
                </a:moveTo>
                <a:lnTo>
                  <a:pt x="2576834" y="254150"/>
                </a:lnTo>
                <a:lnTo>
                  <a:pt x="2576834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45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45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45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45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45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45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45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45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45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4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45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45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45"/>
          <p:cNvSpPr txBox="1"/>
          <p:nvPr/>
        </p:nvSpPr>
        <p:spPr>
          <a:xfrm>
            <a:off x="1236662" y="176212"/>
            <a:ext cx="72548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Set-Intersection Operation – Example</a:t>
            </a:r>
            <a:endParaRPr/>
          </a:p>
        </p:txBody>
      </p:sp>
      <p:sp>
        <p:nvSpPr>
          <p:cNvPr id="1965" name="Google Shape;1965;p45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966" name="Google Shape;1966;p45"/>
          <p:cNvSpPr txBox="1"/>
          <p:nvPr/>
        </p:nvSpPr>
        <p:spPr>
          <a:xfrm>
            <a:off x="1217612" y="1162050"/>
            <a:ext cx="13081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r, 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967" name="Google Shape;1967;p45"/>
          <p:cNvSpPr txBox="1"/>
          <p:nvPr/>
        </p:nvSpPr>
        <p:spPr>
          <a:xfrm>
            <a:off x="876300" y="336232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968" name="Google Shape;1968;p45"/>
          <p:cNvSpPr txBox="1"/>
          <p:nvPr/>
        </p:nvSpPr>
        <p:spPr>
          <a:xfrm>
            <a:off x="1217612" y="3406775"/>
            <a:ext cx="5207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969" name="Google Shape;1969;p45"/>
          <p:cNvSpPr/>
          <p:nvPr/>
        </p:nvSpPr>
        <p:spPr>
          <a:xfrm>
            <a:off x="2741612" y="1154112"/>
            <a:ext cx="1047750" cy="436562"/>
          </a:xfrm>
          <a:custGeom>
            <a:rect b="b" l="l" r="r" t="t"/>
            <a:pathLst>
              <a:path extrusionOk="0" h="436880" w="1047114">
                <a:moveTo>
                  <a:pt x="1046494" y="0"/>
                </a:moveTo>
                <a:lnTo>
                  <a:pt x="0" y="0"/>
                </a:lnTo>
                <a:lnTo>
                  <a:pt x="0" y="436869"/>
                </a:lnTo>
                <a:lnTo>
                  <a:pt x="1046494" y="436869"/>
                </a:lnTo>
                <a:lnTo>
                  <a:pt x="1046494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45"/>
          <p:cNvSpPr/>
          <p:nvPr/>
        </p:nvSpPr>
        <p:spPr>
          <a:xfrm>
            <a:off x="2741612" y="1154112"/>
            <a:ext cx="1047750" cy="436562"/>
          </a:xfrm>
          <a:custGeom>
            <a:rect b="b" l="l" r="r" t="t"/>
            <a:pathLst>
              <a:path extrusionOk="0" h="436880" w="1047114">
                <a:moveTo>
                  <a:pt x="523244" y="436869"/>
                </a:moveTo>
                <a:lnTo>
                  <a:pt x="0" y="436869"/>
                </a:lnTo>
                <a:lnTo>
                  <a:pt x="0" y="0"/>
                </a:lnTo>
                <a:lnTo>
                  <a:pt x="1046494" y="0"/>
                </a:lnTo>
                <a:lnTo>
                  <a:pt x="1046494" y="436869"/>
                </a:lnTo>
                <a:lnTo>
                  <a:pt x="523244" y="43686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1" name="Google Shape;1971;p45"/>
          <p:cNvSpPr txBox="1"/>
          <p:nvPr/>
        </p:nvSpPr>
        <p:spPr>
          <a:xfrm>
            <a:off x="2825750" y="1298575"/>
            <a:ext cx="177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972" name="Google Shape;1972;p45"/>
          <p:cNvSpPr txBox="1"/>
          <p:nvPr/>
        </p:nvSpPr>
        <p:spPr>
          <a:xfrm>
            <a:off x="3425825" y="1298575"/>
            <a:ext cx="177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973" name="Google Shape;1973;p45"/>
          <p:cNvSpPr/>
          <p:nvPr/>
        </p:nvSpPr>
        <p:spPr>
          <a:xfrm>
            <a:off x="3148012" y="1163637"/>
            <a:ext cx="0" cy="422275"/>
          </a:xfrm>
          <a:custGeom>
            <a:rect b="b" l="l" r="r" t="t"/>
            <a:pathLst>
              <a:path extrusionOk="0" h="422909" w="120000">
                <a:moveTo>
                  <a:pt x="0" y="0"/>
                </a:moveTo>
                <a:lnTo>
                  <a:pt x="0" y="422909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45"/>
          <p:cNvSpPr/>
          <p:nvPr/>
        </p:nvSpPr>
        <p:spPr>
          <a:xfrm>
            <a:off x="2759075" y="1616075"/>
            <a:ext cx="1046162" cy="968375"/>
          </a:xfrm>
          <a:custGeom>
            <a:rect b="b" l="l" r="r" t="t"/>
            <a:pathLst>
              <a:path extrusionOk="0" h="969010" w="1046479">
                <a:moveTo>
                  <a:pt x="1046469" y="0"/>
                </a:moveTo>
                <a:lnTo>
                  <a:pt x="0" y="0"/>
                </a:lnTo>
                <a:lnTo>
                  <a:pt x="0" y="969020"/>
                </a:lnTo>
                <a:lnTo>
                  <a:pt x="1046469" y="969020"/>
                </a:lnTo>
                <a:lnTo>
                  <a:pt x="104646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45"/>
          <p:cNvSpPr/>
          <p:nvPr/>
        </p:nvSpPr>
        <p:spPr>
          <a:xfrm>
            <a:off x="2759075" y="1616075"/>
            <a:ext cx="1046162" cy="968375"/>
          </a:xfrm>
          <a:custGeom>
            <a:rect b="b" l="l" r="r" t="t"/>
            <a:pathLst>
              <a:path extrusionOk="0" h="969010" w="1046479">
                <a:moveTo>
                  <a:pt x="523250" y="969020"/>
                </a:moveTo>
                <a:lnTo>
                  <a:pt x="0" y="969020"/>
                </a:lnTo>
                <a:lnTo>
                  <a:pt x="0" y="0"/>
                </a:lnTo>
                <a:lnTo>
                  <a:pt x="1046469" y="0"/>
                </a:lnTo>
                <a:lnTo>
                  <a:pt x="1046469" y="969020"/>
                </a:lnTo>
                <a:lnTo>
                  <a:pt x="523250" y="96902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45"/>
          <p:cNvSpPr/>
          <p:nvPr/>
        </p:nvSpPr>
        <p:spPr>
          <a:xfrm>
            <a:off x="3138487" y="1639887"/>
            <a:ext cx="1587" cy="952500"/>
          </a:xfrm>
          <a:custGeom>
            <a:rect b="b" l="l" r="r" t="t"/>
            <a:pathLst>
              <a:path extrusionOk="0" h="952500" w="1269">
                <a:moveTo>
                  <a:pt x="0" y="0"/>
                </a:moveTo>
                <a:lnTo>
                  <a:pt x="1280" y="952499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45"/>
          <p:cNvSpPr txBox="1"/>
          <p:nvPr/>
        </p:nvSpPr>
        <p:spPr>
          <a:xfrm>
            <a:off x="2787650" y="1724025"/>
            <a:ext cx="1698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sp>
        <p:nvSpPr>
          <p:cNvPr id="1978" name="Google Shape;1978;p45"/>
          <p:cNvSpPr txBox="1"/>
          <p:nvPr/>
        </p:nvSpPr>
        <p:spPr>
          <a:xfrm>
            <a:off x="2787650" y="1998662"/>
            <a:ext cx="169862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endParaRPr/>
          </a:p>
        </p:txBody>
      </p:sp>
      <p:sp>
        <p:nvSpPr>
          <p:cNvPr id="1979" name="Google Shape;1979;p45"/>
          <p:cNvSpPr txBox="1"/>
          <p:nvPr/>
        </p:nvSpPr>
        <p:spPr>
          <a:xfrm>
            <a:off x="3282950" y="1746250"/>
            <a:ext cx="152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80" name="Google Shape;1980;p45"/>
          <p:cNvSpPr txBox="1"/>
          <p:nvPr/>
        </p:nvSpPr>
        <p:spPr>
          <a:xfrm>
            <a:off x="3282950" y="2020887"/>
            <a:ext cx="1524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81" name="Google Shape;1981;p45"/>
          <p:cNvSpPr/>
          <p:nvPr/>
        </p:nvSpPr>
        <p:spPr>
          <a:xfrm>
            <a:off x="4953000" y="1225550"/>
            <a:ext cx="1046162" cy="438150"/>
          </a:xfrm>
          <a:custGeom>
            <a:rect b="b" l="l" r="r" t="t"/>
            <a:pathLst>
              <a:path extrusionOk="0" h="438150" w="1046479">
                <a:moveTo>
                  <a:pt x="1046469" y="0"/>
                </a:moveTo>
                <a:lnTo>
                  <a:pt x="0" y="0"/>
                </a:lnTo>
                <a:lnTo>
                  <a:pt x="0" y="438149"/>
                </a:lnTo>
                <a:lnTo>
                  <a:pt x="1046469" y="438149"/>
                </a:lnTo>
                <a:lnTo>
                  <a:pt x="1046469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45"/>
          <p:cNvSpPr/>
          <p:nvPr/>
        </p:nvSpPr>
        <p:spPr>
          <a:xfrm>
            <a:off x="4953000" y="1225550"/>
            <a:ext cx="1046162" cy="438150"/>
          </a:xfrm>
          <a:custGeom>
            <a:rect b="b" l="l" r="r" t="t"/>
            <a:pathLst>
              <a:path extrusionOk="0" h="438150" w="1046479">
                <a:moveTo>
                  <a:pt x="523250" y="438149"/>
                </a:moveTo>
                <a:lnTo>
                  <a:pt x="0" y="438149"/>
                </a:lnTo>
                <a:lnTo>
                  <a:pt x="0" y="0"/>
                </a:lnTo>
                <a:lnTo>
                  <a:pt x="1046469" y="0"/>
                </a:lnTo>
                <a:lnTo>
                  <a:pt x="1046469" y="438149"/>
                </a:lnTo>
                <a:lnTo>
                  <a:pt x="523250" y="43814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45"/>
          <p:cNvSpPr txBox="1"/>
          <p:nvPr/>
        </p:nvSpPr>
        <p:spPr>
          <a:xfrm>
            <a:off x="5024437" y="1370012"/>
            <a:ext cx="177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984" name="Google Shape;1984;p45"/>
          <p:cNvSpPr txBox="1"/>
          <p:nvPr/>
        </p:nvSpPr>
        <p:spPr>
          <a:xfrm>
            <a:off x="5624512" y="1370012"/>
            <a:ext cx="1793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985" name="Google Shape;1985;p45"/>
          <p:cNvSpPr/>
          <p:nvPr/>
        </p:nvSpPr>
        <p:spPr>
          <a:xfrm>
            <a:off x="5432425" y="1235075"/>
            <a:ext cx="0" cy="422275"/>
          </a:xfrm>
          <a:custGeom>
            <a:rect b="b" l="l" r="r" t="t"/>
            <a:pathLst>
              <a:path extrusionOk="0" h="421639" w="120000">
                <a:moveTo>
                  <a:pt x="0" y="0"/>
                </a:moveTo>
                <a:lnTo>
                  <a:pt x="0" y="421629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45"/>
          <p:cNvSpPr/>
          <p:nvPr/>
        </p:nvSpPr>
        <p:spPr>
          <a:xfrm>
            <a:off x="4943475" y="1728787"/>
            <a:ext cx="1046162" cy="700087"/>
          </a:xfrm>
          <a:custGeom>
            <a:rect b="b" l="l" r="r" t="t"/>
            <a:pathLst>
              <a:path extrusionOk="0" h="701039" w="1045210">
                <a:moveTo>
                  <a:pt x="1045220" y="0"/>
                </a:moveTo>
                <a:lnTo>
                  <a:pt x="0" y="0"/>
                </a:lnTo>
                <a:lnTo>
                  <a:pt x="0" y="701039"/>
                </a:lnTo>
                <a:lnTo>
                  <a:pt x="1045220" y="701039"/>
                </a:lnTo>
                <a:lnTo>
                  <a:pt x="1045220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45"/>
          <p:cNvSpPr/>
          <p:nvPr/>
        </p:nvSpPr>
        <p:spPr>
          <a:xfrm>
            <a:off x="4943475" y="1728787"/>
            <a:ext cx="1046162" cy="700087"/>
          </a:xfrm>
          <a:custGeom>
            <a:rect b="b" l="l" r="r" t="t"/>
            <a:pathLst>
              <a:path extrusionOk="0" h="701039" w="1045210">
                <a:moveTo>
                  <a:pt x="521969" y="701039"/>
                </a:moveTo>
                <a:lnTo>
                  <a:pt x="0" y="701039"/>
                </a:lnTo>
                <a:lnTo>
                  <a:pt x="0" y="0"/>
                </a:lnTo>
                <a:lnTo>
                  <a:pt x="1045220" y="0"/>
                </a:lnTo>
                <a:lnTo>
                  <a:pt x="1045220" y="701039"/>
                </a:lnTo>
                <a:lnTo>
                  <a:pt x="521969" y="70103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45"/>
          <p:cNvSpPr/>
          <p:nvPr/>
        </p:nvSpPr>
        <p:spPr>
          <a:xfrm>
            <a:off x="5449887" y="1738312"/>
            <a:ext cx="1587" cy="685800"/>
          </a:xfrm>
          <a:custGeom>
            <a:rect b="b" l="l" r="r" t="t"/>
            <a:pathLst>
              <a:path extrusionOk="0" h="685800" w="2539">
                <a:moveTo>
                  <a:pt x="0" y="0"/>
                </a:moveTo>
                <a:lnTo>
                  <a:pt x="2529" y="685799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45"/>
          <p:cNvSpPr txBox="1"/>
          <p:nvPr/>
        </p:nvSpPr>
        <p:spPr>
          <a:xfrm>
            <a:off x="5111750" y="1822450"/>
            <a:ext cx="169862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endParaRPr/>
          </a:p>
        </p:txBody>
      </p:sp>
      <p:sp>
        <p:nvSpPr>
          <p:cNvPr id="1990" name="Google Shape;1990;p45"/>
          <p:cNvSpPr txBox="1"/>
          <p:nvPr/>
        </p:nvSpPr>
        <p:spPr>
          <a:xfrm>
            <a:off x="5594350" y="1844675"/>
            <a:ext cx="152400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91" name="Google Shape;1991;p45"/>
          <p:cNvSpPr txBox="1"/>
          <p:nvPr/>
        </p:nvSpPr>
        <p:spPr>
          <a:xfrm>
            <a:off x="3070225" y="2809875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992" name="Google Shape;1992;p45"/>
          <p:cNvSpPr txBox="1"/>
          <p:nvPr/>
        </p:nvSpPr>
        <p:spPr>
          <a:xfrm>
            <a:off x="5335587" y="2809875"/>
            <a:ext cx="1397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993" name="Google Shape;1993;p45"/>
          <p:cNvSpPr/>
          <p:nvPr/>
        </p:nvSpPr>
        <p:spPr>
          <a:xfrm>
            <a:off x="2559050" y="3671887"/>
            <a:ext cx="1047750" cy="438150"/>
          </a:xfrm>
          <a:custGeom>
            <a:rect b="b" l="l" r="r" t="t"/>
            <a:pathLst>
              <a:path extrusionOk="0" h="438150" w="1047114">
                <a:moveTo>
                  <a:pt x="1046494" y="0"/>
                </a:moveTo>
                <a:lnTo>
                  <a:pt x="0" y="0"/>
                </a:lnTo>
                <a:lnTo>
                  <a:pt x="0" y="438156"/>
                </a:lnTo>
                <a:lnTo>
                  <a:pt x="1046494" y="438156"/>
                </a:lnTo>
                <a:lnTo>
                  <a:pt x="1046494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45"/>
          <p:cNvSpPr/>
          <p:nvPr/>
        </p:nvSpPr>
        <p:spPr>
          <a:xfrm>
            <a:off x="2559050" y="3671887"/>
            <a:ext cx="1047750" cy="438150"/>
          </a:xfrm>
          <a:custGeom>
            <a:rect b="b" l="l" r="r" t="t"/>
            <a:pathLst>
              <a:path extrusionOk="0" h="438150" w="1047114">
                <a:moveTo>
                  <a:pt x="523244" y="438156"/>
                </a:moveTo>
                <a:lnTo>
                  <a:pt x="0" y="438156"/>
                </a:lnTo>
                <a:lnTo>
                  <a:pt x="0" y="0"/>
                </a:lnTo>
                <a:lnTo>
                  <a:pt x="1046494" y="0"/>
                </a:lnTo>
                <a:lnTo>
                  <a:pt x="1046494" y="438156"/>
                </a:lnTo>
                <a:lnTo>
                  <a:pt x="523244" y="438156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45"/>
          <p:cNvSpPr txBox="1"/>
          <p:nvPr/>
        </p:nvSpPr>
        <p:spPr>
          <a:xfrm>
            <a:off x="2630487" y="3816350"/>
            <a:ext cx="177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996" name="Google Shape;1996;p45"/>
          <p:cNvSpPr txBox="1"/>
          <p:nvPr/>
        </p:nvSpPr>
        <p:spPr>
          <a:xfrm>
            <a:off x="3230562" y="3816350"/>
            <a:ext cx="1793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997" name="Google Shape;1997;p45"/>
          <p:cNvSpPr/>
          <p:nvPr/>
        </p:nvSpPr>
        <p:spPr>
          <a:xfrm>
            <a:off x="3038475" y="3681412"/>
            <a:ext cx="0" cy="422275"/>
          </a:xfrm>
          <a:custGeom>
            <a:rect b="b" l="l" r="r" t="t"/>
            <a:pathLst>
              <a:path extrusionOk="0" h="421639" w="120000">
                <a:moveTo>
                  <a:pt x="0" y="0"/>
                </a:moveTo>
                <a:lnTo>
                  <a:pt x="0" y="421629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45"/>
          <p:cNvSpPr/>
          <p:nvPr/>
        </p:nvSpPr>
        <p:spPr>
          <a:xfrm>
            <a:off x="2576512" y="4175125"/>
            <a:ext cx="1046162" cy="438150"/>
          </a:xfrm>
          <a:custGeom>
            <a:rect b="b" l="l" r="r" t="t"/>
            <a:pathLst>
              <a:path extrusionOk="0" h="438150" w="1046479">
                <a:moveTo>
                  <a:pt x="1046475" y="0"/>
                </a:moveTo>
                <a:lnTo>
                  <a:pt x="0" y="0"/>
                </a:lnTo>
                <a:lnTo>
                  <a:pt x="0" y="438149"/>
                </a:lnTo>
                <a:lnTo>
                  <a:pt x="1046475" y="438149"/>
                </a:lnTo>
                <a:lnTo>
                  <a:pt x="1046475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45"/>
          <p:cNvSpPr/>
          <p:nvPr/>
        </p:nvSpPr>
        <p:spPr>
          <a:xfrm>
            <a:off x="2576512" y="4175125"/>
            <a:ext cx="1046162" cy="438150"/>
          </a:xfrm>
          <a:custGeom>
            <a:rect b="b" l="l" r="r" t="t"/>
            <a:pathLst>
              <a:path extrusionOk="0" h="438150" w="1046479">
                <a:moveTo>
                  <a:pt x="523225" y="438149"/>
                </a:moveTo>
                <a:lnTo>
                  <a:pt x="0" y="438149"/>
                </a:lnTo>
                <a:lnTo>
                  <a:pt x="0" y="0"/>
                </a:lnTo>
                <a:lnTo>
                  <a:pt x="1046475" y="0"/>
                </a:lnTo>
                <a:lnTo>
                  <a:pt x="1046475" y="438149"/>
                </a:lnTo>
                <a:lnTo>
                  <a:pt x="523225" y="43814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45"/>
          <p:cNvSpPr txBox="1"/>
          <p:nvPr/>
        </p:nvSpPr>
        <p:spPr>
          <a:xfrm>
            <a:off x="2697162" y="4314825"/>
            <a:ext cx="681037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001" name="Google Shape;2001;p45"/>
          <p:cNvSpPr/>
          <p:nvPr/>
        </p:nvSpPr>
        <p:spPr>
          <a:xfrm>
            <a:off x="3055937" y="4184650"/>
            <a:ext cx="0" cy="422275"/>
          </a:xfrm>
          <a:custGeom>
            <a:rect b="b" l="l" r="r" t="t"/>
            <a:pathLst>
              <a:path extrusionOk="0" h="421639" w="120000">
                <a:moveTo>
                  <a:pt x="0" y="0"/>
                </a:moveTo>
                <a:lnTo>
                  <a:pt x="0" y="42163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45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003" name="Google Shape;2003;p45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004" name="Google Shape;2004;p45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46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46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46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46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46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46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46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46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46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46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46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46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46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46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46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46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46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46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46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46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46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46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46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4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46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46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46"/>
          <p:cNvSpPr txBox="1"/>
          <p:nvPr/>
        </p:nvSpPr>
        <p:spPr>
          <a:xfrm>
            <a:off x="876300" y="11430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036" name="Google Shape;2036;p46"/>
          <p:cNvSpPr txBox="1"/>
          <p:nvPr/>
        </p:nvSpPr>
        <p:spPr>
          <a:xfrm>
            <a:off x="1217612" y="1187450"/>
            <a:ext cx="6472237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2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Notation:	r	s</a:t>
            </a:r>
            <a:endParaRPr/>
          </a:p>
          <a:p>
            <a:pPr indent="0" lvl="0" marL="825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relations on schemas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respectively. Then,	r	s	is a relation on schema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obtained as follows:</a:t>
            </a:r>
            <a:endParaRPr/>
          </a:p>
        </p:txBody>
      </p:sp>
      <p:sp>
        <p:nvSpPr>
          <p:cNvPr id="2037" name="Google Shape;2037;p46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324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Natural-Join Operation</a:t>
            </a:r>
            <a:endParaRPr/>
          </a:p>
        </p:txBody>
      </p:sp>
      <p:sp>
        <p:nvSpPr>
          <p:cNvPr id="2038" name="Google Shape;2038;p46"/>
          <p:cNvSpPr txBox="1"/>
          <p:nvPr/>
        </p:nvSpPr>
        <p:spPr>
          <a:xfrm>
            <a:off x="876300" y="15351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039" name="Google Shape;2039;p46"/>
          <p:cNvSpPr txBox="1"/>
          <p:nvPr/>
        </p:nvSpPr>
        <p:spPr>
          <a:xfrm>
            <a:off x="1333500" y="23034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040" name="Google Shape;2040;p46"/>
          <p:cNvSpPr txBox="1"/>
          <p:nvPr/>
        </p:nvSpPr>
        <p:spPr>
          <a:xfrm>
            <a:off x="1617662" y="2355850"/>
            <a:ext cx="516413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each pair of tuples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041" name="Google Shape;2041;p46"/>
          <p:cNvSpPr txBox="1"/>
          <p:nvPr/>
        </p:nvSpPr>
        <p:spPr>
          <a:xfrm>
            <a:off x="1333500" y="28543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042" name="Google Shape;2042;p46"/>
          <p:cNvSpPr txBox="1"/>
          <p:nvPr/>
        </p:nvSpPr>
        <p:spPr>
          <a:xfrm>
            <a:off x="1617662" y="2890837"/>
            <a:ext cx="7307262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the same value on each of the attributes in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add a</a:t>
            </a:r>
            <a:endParaRPr/>
          </a:p>
        </p:txBody>
      </p:sp>
      <p:sp>
        <p:nvSpPr>
          <p:cNvPr id="2043" name="Google Shape;2043;p46"/>
          <p:cNvSpPr txBox="1"/>
          <p:nvPr/>
        </p:nvSpPr>
        <p:spPr>
          <a:xfrm>
            <a:off x="1617662" y="3228975"/>
            <a:ext cx="2719387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tuple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the result, where</a:t>
            </a:r>
            <a:endParaRPr/>
          </a:p>
        </p:txBody>
      </p:sp>
      <p:sp>
        <p:nvSpPr>
          <p:cNvPr id="2044" name="Google Shape;2044;p46"/>
          <p:cNvSpPr txBox="1"/>
          <p:nvPr/>
        </p:nvSpPr>
        <p:spPr>
          <a:xfrm>
            <a:off x="1733550" y="3706812"/>
            <a:ext cx="3327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the same value as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045" name="Google Shape;2045;p46"/>
          <p:cNvSpPr txBox="1"/>
          <p:nvPr/>
        </p:nvSpPr>
        <p:spPr>
          <a:xfrm>
            <a:off x="4500562" y="3879850"/>
            <a:ext cx="104775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046" name="Google Shape;2046;p46"/>
          <p:cNvSpPr txBox="1"/>
          <p:nvPr/>
        </p:nvSpPr>
        <p:spPr>
          <a:xfrm>
            <a:off x="1733550" y="4360862"/>
            <a:ext cx="34051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the same value as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047" name="Google Shape;2047;p46"/>
          <p:cNvSpPr txBox="1"/>
          <p:nvPr/>
        </p:nvSpPr>
        <p:spPr>
          <a:xfrm>
            <a:off x="4500562" y="4533900"/>
            <a:ext cx="144462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048" name="Google Shape;2048;p46"/>
          <p:cNvSpPr txBox="1"/>
          <p:nvPr/>
        </p:nvSpPr>
        <p:spPr>
          <a:xfrm>
            <a:off x="876300" y="48688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049" name="Google Shape;2049;p46"/>
          <p:cNvSpPr txBox="1"/>
          <p:nvPr/>
        </p:nvSpPr>
        <p:spPr>
          <a:xfrm>
            <a:off x="1217612" y="4913312"/>
            <a:ext cx="9779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sp>
        <p:nvSpPr>
          <p:cNvPr id="2050" name="Google Shape;2050;p46"/>
          <p:cNvSpPr txBox="1"/>
          <p:nvPr/>
        </p:nvSpPr>
        <p:spPr>
          <a:xfrm>
            <a:off x="1333500" y="5286375"/>
            <a:ext cx="1622425" cy="6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B, C, D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E, B, D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051" name="Google Shape;2051;p46"/>
          <p:cNvSpPr txBox="1"/>
          <p:nvPr/>
        </p:nvSpPr>
        <p:spPr>
          <a:xfrm>
            <a:off x="1333500" y="60055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052" name="Google Shape;2052;p46"/>
          <p:cNvSpPr txBox="1"/>
          <p:nvPr/>
        </p:nvSpPr>
        <p:spPr>
          <a:xfrm>
            <a:off x="1617662" y="6034087"/>
            <a:ext cx="3248025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schema =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B, C, D, 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	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defined as:</a:t>
            </a:r>
            <a:endParaRPr/>
          </a:p>
        </p:txBody>
      </p:sp>
      <p:sp>
        <p:nvSpPr>
          <p:cNvPr id="2053" name="Google Shape;2053;p46"/>
          <p:cNvSpPr txBox="1"/>
          <p:nvPr/>
        </p:nvSpPr>
        <p:spPr>
          <a:xfrm>
            <a:off x="1333500" y="63785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054" name="Google Shape;2054;p46"/>
          <p:cNvSpPr/>
          <p:nvPr/>
        </p:nvSpPr>
        <p:spPr>
          <a:xfrm>
            <a:off x="2513012" y="1219200"/>
            <a:ext cx="153987" cy="152400"/>
          </a:xfrm>
          <a:custGeom>
            <a:rect b="b" l="l" r="r" t="t"/>
            <a:pathLst>
              <a:path extrusionOk="0" h="152400" w="153669">
                <a:moveTo>
                  <a:pt x="153674" y="152399"/>
                </a:moveTo>
                <a:lnTo>
                  <a:pt x="0" y="0"/>
                </a:lnTo>
                <a:lnTo>
                  <a:pt x="0" y="152399"/>
                </a:lnTo>
                <a:lnTo>
                  <a:pt x="153674" y="0"/>
                </a:lnTo>
                <a:lnTo>
                  <a:pt x="153674" y="152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46"/>
          <p:cNvSpPr/>
          <p:nvPr/>
        </p:nvSpPr>
        <p:spPr>
          <a:xfrm>
            <a:off x="1762125" y="5638800"/>
            <a:ext cx="152400" cy="152400"/>
          </a:xfrm>
          <a:custGeom>
            <a:rect b="b" l="l" r="r" t="t"/>
            <a:pathLst>
              <a:path extrusionOk="0" h="152400" w="152400">
                <a:moveTo>
                  <a:pt x="152399" y="152399"/>
                </a:moveTo>
                <a:lnTo>
                  <a:pt x="0" y="0"/>
                </a:lnTo>
                <a:lnTo>
                  <a:pt x="0" y="152399"/>
                </a:lnTo>
                <a:lnTo>
                  <a:pt x="152399" y="0"/>
                </a:lnTo>
                <a:lnTo>
                  <a:pt x="152399" y="152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46"/>
          <p:cNvSpPr/>
          <p:nvPr/>
        </p:nvSpPr>
        <p:spPr>
          <a:xfrm>
            <a:off x="2070100" y="1931987"/>
            <a:ext cx="152400" cy="152400"/>
          </a:xfrm>
          <a:custGeom>
            <a:rect b="b" l="l" r="r" t="t"/>
            <a:pathLst>
              <a:path extrusionOk="0" h="152400" w="152400">
                <a:moveTo>
                  <a:pt x="152399" y="152399"/>
                </a:moveTo>
                <a:lnTo>
                  <a:pt x="0" y="0"/>
                </a:lnTo>
                <a:lnTo>
                  <a:pt x="0" y="152399"/>
                </a:lnTo>
                <a:lnTo>
                  <a:pt x="152399" y="0"/>
                </a:lnTo>
                <a:lnTo>
                  <a:pt x="152399" y="152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46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058" name="Google Shape;2058;p46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059" name="Google Shape;2059;p46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47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47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47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47"/>
          <p:cNvSpPr/>
          <p:nvPr/>
        </p:nvSpPr>
        <p:spPr>
          <a:xfrm>
            <a:off x="6553200" y="1774825"/>
            <a:ext cx="2590800" cy="252412"/>
          </a:xfrm>
          <a:custGeom>
            <a:rect b="b" l="l" r="r" t="t"/>
            <a:pathLst>
              <a:path extrusionOk="0" h="252094" w="2590800">
                <a:moveTo>
                  <a:pt x="0" y="251960"/>
                </a:moveTo>
                <a:lnTo>
                  <a:pt x="2590800" y="251960"/>
                </a:lnTo>
                <a:lnTo>
                  <a:pt x="2590800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47"/>
          <p:cNvSpPr/>
          <p:nvPr/>
        </p:nvSpPr>
        <p:spPr>
          <a:xfrm>
            <a:off x="3505200" y="1774825"/>
            <a:ext cx="1676400" cy="252412"/>
          </a:xfrm>
          <a:custGeom>
            <a:rect b="b" l="l" r="r" t="t"/>
            <a:pathLst>
              <a:path extrusionOk="0" h="252094" w="1676400">
                <a:moveTo>
                  <a:pt x="0" y="251960"/>
                </a:moveTo>
                <a:lnTo>
                  <a:pt x="1676399" y="251960"/>
                </a:lnTo>
                <a:lnTo>
                  <a:pt x="167639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47"/>
          <p:cNvSpPr/>
          <p:nvPr/>
        </p:nvSpPr>
        <p:spPr>
          <a:xfrm>
            <a:off x="0" y="1774825"/>
            <a:ext cx="1676400" cy="252412"/>
          </a:xfrm>
          <a:custGeom>
            <a:rect b="b" l="l" r="r" t="t"/>
            <a:pathLst>
              <a:path extrusionOk="0" h="252094" w="1676400">
                <a:moveTo>
                  <a:pt x="0" y="251960"/>
                </a:moveTo>
                <a:lnTo>
                  <a:pt x="1676399" y="251960"/>
                </a:lnTo>
                <a:lnTo>
                  <a:pt x="1676399" y="0"/>
                </a:lnTo>
                <a:lnTo>
                  <a:pt x="0" y="0"/>
                </a:lnTo>
                <a:lnTo>
                  <a:pt x="0" y="25196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47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47"/>
          <p:cNvSpPr/>
          <p:nvPr/>
        </p:nvSpPr>
        <p:spPr>
          <a:xfrm>
            <a:off x="6553200" y="2282825"/>
            <a:ext cx="2590800" cy="255587"/>
          </a:xfrm>
          <a:custGeom>
            <a:rect b="b" l="l" r="r" t="t"/>
            <a:pathLst>
              <a:path extrusionOk="0" h="255905" w="2590800">
                <a:moveTo>
                  <a:pt x="0" y="255531"/>
                </a:moveTo>
                <a:lnTo>
                  <a:pt x="2590800" y="255531"/>
                </a:lnTo>
                <a:lnTo>
                  <a:pt x="25908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47"/>
          <p:cNvSpPr/>
          <p:nvPr/>
        </p:nvSpPr>
        <p:spPr>
          <a:xfrm>
            <a:off x="0" y="2282825"/>
            <a:ext cx="5181600" cy="255587"/>
          </a:xfrm>
          <a:custGeom>
            <a:rect b="b" l="l" r="r" t="t"/>
            <a:pathLst>
              <a:path extrusionOk="0" h="255905" w="5181600">
                <a:moveTo>
                  <a:pt x="0" y="255531"/>
                </a:moveTo>
                <a:lnTo>
                  <a:pt x="5181599" y="255531"/>
                </a:lnTo>
                <a:lnTo>
                  <a:pt x="51815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47"/>
          <p:cNvSpPr/>
          <p:nvPr/>
        </p:nvSpPr>
        <p:spPr>
          <a:xfrm>
            <a:off x="6553200" y="2538412"/>
            <a:ext cx="2590800" cy="252412"/>
          </a:xfrm>
          <a:custGeom>
            <a:rect b="b" l="l" r="r" t="t"/>
            <a:pathLst>
              <a:path extrusionOk="0" h="252730" w="2590800">
                <a:moveTo>
                  <a:pt x="0" y="252221"/>
                </a:moveTo>
                <a:lnTo>
                  <a:pt x="2590800" y="252221"/>
                </a:lnTo>
                <a:lnTo>
                  <a:pt x="259080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47"/>
          <p:cNvSpPr/>
          <p:nvPr/>
        </p:nvSpPr>
        <p:spPr>
          <a:xfrm>
            <a:off x="3505200" y="2538412"/>
            <a:ext cx="1676400" cy="252412"/>
          </a:xfrm>
          <a:custGeom>
            <a:rect b="b" l="l" r="r" t="t"/>
            <a:pathLst>
              <a:path extrusionOk="0" h="252730" w="1676400">
                <a:moveTo>
                  <a:pt x="0" y="252221"/>
                </a:moveTo>
                <a:lnTo>
                  <a:pt x="1676399" y="252221"/>
                </a:lnTo>
                <a:lnTo>
                  <a:pt x="16763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47"/>
          <p:cNvSpPr/>
          <p:nvPr/>
        </p:nvSpPr>
        <p:spPr>
          <a:xfrm>
            <a:off x="0" y="2538412"/>
            <a:ext cx="1676400" cy="252412"/>
          </a:xfrm>
          <a:custGeom>
            <a:rect b="b" l="l" r="r" t="t"/>
            <a:pathLst>
              <a:path extrusionOk="0" h="252730" w="1676400">
                <a:moveTo>
                  <a:pt x="0" y="252221"/>
                </a:moveTo>
                <a:lnTo>
                  <a:pt x="1676399" y="252221"/>
                </a:lnTo>
                <a:lnTo>
                  <a:pt x="16763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47"/>
          <p:cNvSpPr/>
          <p:nvPr/>
        </p:nvSpPr>
        <p:spPr>
          <a:xfrm>
            <a:off x="6553200" y="2790825"/>
            <a:ext cx="2590800" cy="255587"/>
          </a:xfrm>
          <a:custGeom>
            <a:rect b="b" l="l" r="r" t="t"/>
            <a:pathLst>
              <a:path extrusionOk="0" h="255905" w="2590800">
                <a:moveTo>
                  <a:pt x="0" y="255389"/>
                </a:moveTo>
                <a:lnTo>
                  <a:pt x="2590800" y="255389"/>
                </a:lnTo>
                <a:lnTo>
                  <a:pt x="2590800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47"/>
          <p:cNvSpPr/>
          <p:nvPr/>
        </p:nvSpPr>
        <p:spPr>
          <a:xfrm>
            <a:off x="3505200" y="2790825"/>
            <a:ext cx="1676400" cy="255587"/>
          </a:xfrm>
          <a:custGeom>
            <a:rect b="b" l="l" r="r" t="t"/>
            <a:pathLst>
              <a:path extrusionOk="0" h="255905" w="1676400">
                <a:moveTo>
                  <a:pt x="0" y="255389"/>
                </a:moveTo>
                <a:lnTo>
                  <a:pt x="1676399" y="255389"/>
                </a:lnTo>
                <a:lnTo>
                  <a:pt x="167639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47"/>
          <p:cNvSpPr/>
          <p:nvPr/>
        </p:nvSpPr>
        <p:spPr>
          <a:xfrm>
            <a:off x="0" y="2790825"/>
            <a:ext cx="1676400" cy="255587"/>
          </a:xfrm>
          <a:custGeom>
            <a:rect b="b" l="l" r="r" t="t"/>
            <a:pathLst>
              <a:path extrusionOk="0" h="255905" w="1676400">
                <a:moveTo>
                  <a:pt x="0" y="255389"/>
                </a:moveTo>
                <a:lnTo>
                  <a:pt x="1676399" y="255389"/>
                </a:lnTo>
                <a:lnTo>
                  <a:pt x="167639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47"/>
          <p:cNvSpPr/>
          <p:nvPr/>
        </p:nvSpPr>
        <p:spPr>
          <a:xfrm>
            <a:off x="6553200" y="3044825"/>
            <a:ext cx="2590800" cy="249237"/>
          </a:xfrm>
          <a:custGeom>
            <a:rect b="b" l="l" r="r" t="t"/>
            <a:pathLst>
              <a:path extrusionOk="0" h="248920" w="2590800">
                <a:moveTo>
                  <a:pt x="0" y="248792"/>
                </a:moveTo>
                <a:lnTo>
                  <a:pt x="2590800" y="248792"/>
                </a:lnTo>
                <a:lnTo>
                  <a:pt x="2590800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47"/>
          <p:cNvSpPr/>
          <p:nvPr/>
        </p:nvSpPr>
        <p:spPr>
          <a:xfrm>
            <a:off x="3505200" y="3044825"/>
            <a:ext cx="1676400" cy="249237"/>
          </a:xfrm>
          <a:custGeom>
            <a:rect b="b" l="l" r="r" t="t"/>
            <a:pathLst>
              <a:path extrusionOk="0" h="248920" w="1676400">
                <a:moveTo>
                  <a:pt x="0" y="248792"/>
                </a:moveTo>
                <a:lnTo>
                  <a:pt x="1676399" y="248792"/>
                </a:lnTo>
                <a:lnTo>
                  <a:pt x="1676399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47"/>
          <p:cNvSpPr/>
          <p:nvPr/>
        </p:nvSpPr>
        <p:spPr>
          <a:xfrm>
            <a:off x="0" y="3044825"/>
            <a:ext cx="1676400" cy="249237"/>
          </a:xfrm>
          <a:custGeom>
            <a:rect b="b" l="l" r="r" t="t"/>
            <a:pathLst>
              <a:path extrusionOk="0" h="248920" w="1676400">
                <a:moveTo>
                  <a:pt x="0" y="248792"/>
                </a:moveTo>
                <a:lnTo>
                  <a:pt x="1676399" y="248792"/>
                </a:lnTo>
                <a:lnTo>
                  <a:pt x="1676399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47"/>
          <p:cNvSpPr/>
          <p:nvPr/>
        </p:nvSpPr>
        <p:spPr>
          <a:xfrm>
            <a:off x="6553200" y="3294062"/>
            <a:ext cx="2590800" cy="261937"/>
          </a:xfrm>
          <a:custGeom>
            <a:rect b="b" l="l" r="r" t="t"/>
            <a:pathLst>
              <a:path extrusionOk="0" h="262254" w="2590800">
                <a:moveTo>
                  <a:pt x="0" y="261699"/>
                </a:moveTo>
                <a:lnTo>
                  <a:pt x="2590800" y="261699"/>
                </a:lnTo>
                <a:lnTo>
                  <a:pt x="2590800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47"/>
          <p:cNvSpPr/>
          <p:nvPr/>
        </p:nvSpPr>
        <p:spPr>
          <a:xfrm>
            <a:off x="3505200" y="3294062"/>
            <a:ext cx="1676400" cy="261937"/>
          </a:xfrm>
          <a:custGeom>
            <a:rect b="b" l="l" r="r" t="t"/>
            <a:pathLst>
              <a:path extrusionOk="0" h="262254" w="1676400">
                <a:moveTo>
                  <a:pt x="0" y="261699"/>
                </a:moveTo>
                <a:lnTo>
                  <a:pt x="1676399" y="261699"/>
                </a:lnTo>
                <a:lnTo>
                  <a:pt x="1676399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47"/>
          <p:cNvSpPr/>
          <p:nvPr/>
        </p:nvSpPr>
        <p:spPr>
          <a:xfrm>
            <a:off x="0" y="3294062"/>
            <a:ext cx="1676400" cy="261937"/>
          </a:xfrm>
          <a:custGeom>
            <a:rect b="b" l="l" r="r" t="t"/>
            <a:pathLst>
              <a:path extrusionOk="0" h="262254" w="1676400">
                <a:moveTo>
                  <a:pt x="0" y="261699"/>
                </a:moveTo>
                <a:lnTo>
                  <a:pt x="1676399" y="261699"/>
                </a:lnTo>
                <a:lnTo>
                  <a:pt x="1676399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47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47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47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47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47"/>
          <p:cNvSpPr/>
          <p:nvPr/>
        </p:nvSpPr>
        <p:spPr>
          <a:xfrm>
            <a:off x="5529262" y="4572000"/>
            <a:ext cx="3614737" cy="255587"/>
          </a:xfrm>
          <a:custGeom>
            <a:rect b="b" l="l" r="r" t="t"/>
            <a:pathLst>
              <a:path extrusionOk="0" h="254635" w="3614420">
                <a:moveTo>
                  <a:pt x="0" y="254162"/>
                </a:moveTo>
                <a:lnTo>
                  <a:pt x="3614409" y="254162"/>
                </a:lnTo>
                <a:lnTo>
                  <a:pt x="361440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47"/>
          <p:cNvSpPr/>
          <p:nvPr/>
        </p:nvSpPr>
        <p:spPr>
          <a:xfrm>
            <a:off x="3787775" y="4572000"/>
            <a:ext cx="0" cy="255587"/>
          </a:xfrm>
          <a:custGeom>
            <a:rect b="b" l="l" r="r" t="t"/>
            <a:pathLst>
              <a:path extrusionOk="0" h="254635" w="1270">
                <a:moveTo>
                  <a:pt x="0" y="254162"/>
                </a:moveTo>
                <a:lnTo>
                  <a:pt x="0" y="254162"/>
                </a:lnTo>
                <a:lnTo>
                  <a:pt x="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47"/>
          <p:cNvSpPr/>
          <p:nvPr/>
        </p:nvSpPr>
        <p:spPr>
          <a:xfrm>
            <a:off x="0" y="4572000"/>
            <a:ext cx="3352800" cy="255587"/>
          </a:xfrm>
          <a:custGeom>
            <a:rect b="b" l="l" r="r" t="t"/>
            <a:pathLst>
              <a:path extrusionOk="0" h="254635" w="3352800">
                <a:moveTo>
                  <a:pt x="0" y="254162"/>
                </a:moveTo>
                <a:lnTo>
                  <a:pt x="3352799" y="254162"/>
                </a:lnTo>
                <a:lnTo>
                  <a:pt x="33527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47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47"/>
          <p:cNvSpPr/>
          <p:nvPr/>
        </p:nvSpPr>
        <p:spPr>
          <a:xfrm>
            <a:off x="5529262" y="5080000"/>
            <a:ext cx="3614737" cy="255587"/>
          </a:xfrm>
          <a:custGeom>
            <a:rect b="b" l="l" r="r" t="t"/>
            <a:pathLst>
              <a:path extrusionOk="0" h="254635" w="3614420">
                <a:moveTo>
                  <a:pt x="0" y="254174"/>
                </a:moveTo>
                <a:lnTo>
                  <a:pt x="3614409" y="254174"/>
                </a:lnTo>
                <a:lnTo>
                  <a:pt x="361440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47"/>
          <p:cNvSpPr/>
          <p:nvPr/>
        </p:nvSpPr>
        <p:spPr>
          <a:xfrm>
            <a:off x="0" y="5080000"/>
            <a:ext cx="3352800" cy="255587"/>
          </a:xfrm>
          <a:custGeom>
            <a:rect b="b" l="l" r="r" t="t"/>
            <a:pathLst>
              <a:path extrusionOk="0" h="254635" w="3352800">
                <a:moveTo>
                  <a:pt x="0" y="254174"/>
                </a:moveTo>
                <a:lnTo>
                  <a:pt x="3352799" y="254174"/>
                </a:lnTo>
                <a:lnTo>
                  <a:pt x="33527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47"/>
          <p:cNvSpPr/>
          <p:nvPr/>
        </p:nvSpPr>
        <p:spPr>
          <a:xfrm>
            <a:off x="5529262" y="5334000"/>
            <a:ext cx="3614737" cy="255587"/>
          </a:xfrm>
          <a:custGeom>
            <a:rect b="b" l="l" r="r" t="t"/>
            <a:pathLst>
              <a:path extrusionOk="0" h="254635" w="3614420">
                <a:moveTo>
                  <a:pt x="0" y="254150"/>
                </a:moveTo>
                <a:lnTo>
                  <a:pt x="3614409" y="254150"/>
                </a:lnTo>
                <a:lnTo>
                  <a:pt x="361440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47"/>
          <p:cNvSpPr/>
          <p:nvPr/>
        </p:nvSpPr>
        <p:spPr>
          <a:xfrm>
            <a:off x="0" y="5334000"/>
            <a:ext cx="3352800" cy="255587"/>
          </a:xfrm>
          <a:custGeom>
            <a:rect b="b" l="l" r="r" t="t"/>
            <a:pathLst>
              <a:path extrusionOk="0" h="254635" w="3352800">
                <a:moveTo>
                  <a:pt x="0" y="254150"/>
                </a:moveTo>
                <a:lnTo>
                  <a:pt x="3352799" y="254150"/>
                </a:lnTo>
                <a:lnTo>
                  <a:pt x="33527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47"/>
          <p:cNvSpPr/>
          <p:nvPr/>
        </p:nvSpPr>
        <p:spPr>
          <a:xfrm>
            <a:off x="5529262" y="5588000"/>
            <a:ext cx="3614737" cy="255587"/>
          </a:xfrm>
          <a:custGeom>
            <a:rect b="b" l="l" r="r" t="t"/>
            <a:pathLst>
              <a:path extrusionOk="0" h="254635" w="3614420">
                <a:moveTo>
                  <a:pt x="0" y="254162"/>
                </a:moveTo>
                <a:lnTo>
                  <a:pt x="3614409" y="254162"/>
                </a:lnTo>
                <a:lnTo>
                  <a:pt x="361440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p47"/>
          <p:cNvSpPr/>
          <p:nvPr/>
        </p:nvSpPr>
        <p:spPr>
          <a:xfrm>
            <a:off x="0" y="5588000"/>
            <a:ext cx="3352800" cy="255587"/>
          </a:xfrm>
          <a:custGeom>
            <a:rect b="b" l="l" r="r" t="t"/>
            <a:pathLst>
              <a:path extrusionOk="0" h="254635" w="3352800">
                <a:moveTo>
                  <a:pt x="0" y="254162"/>
                </a:moveTo>
                <a:lnTo>
                  <a:pt x="3352799" y="254162"/>
                </a:lnTo>
                <a:lnTo>
                  <a:pt x="33527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47"/>
          <p:cNvSpPr/>
          <p:nvPr/>
        </p:nvSpPr>
        <p:spPr>
          <a:xfrm>
            <a:off x="5529262" y="5843587"/>
            <a:ext cx="3614737" cy="254000"/>
          </a:xfrm>
          <a:custGeom>
            <a:rect b="b" l="l" r="r" t="t"/>
            <a:pathLst>
              <a:path extrusionOk="0" h="254000" w="3614420">
                <a:moveTo>
                  <a:pt x="0" y="253793"/>
                </a:moveTo>
                <a:lnTo>
                  <a:pt x="3614409" y="253793"/>
                </a:lnTo>
                <a:lnTo>
                  <a:pt x="361440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47"/>
          <p:cNvSpPr/>
          <p:nvPr/>
        </p:nvSpPr>
        <p:spPr>
          <a:xfrm>
            <a:off x="0" y="5843587"/>
            <a:ext cx="3352800" cy="254000"/>
          </a:xfrm>
          <a:custGeom>
            <a:rect b="b" l="l" r="r" t="t"/>
            <a:pathLst>
              <a:path extrusionOk="0" h="254000" w="3352800">
                <a:moveTo>
                  <a:pt x="0" y="253793"/>
                </a:moveTo>
                <a:lnTo>
                  <a:pt x="3352799" y="253793"/>
                </a:lnTo>
                <a:lnTo>
                  <a:pt x="33527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47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47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47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47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47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47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47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476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Natural Join Operation – Example</a:t>
            </a:r>
            <a:endParaRPr/>
          </a:p>
        </p:txBody>
      </p:sp>
      <p:sp>
        <p:nvSpPr>
          <p:cNvPr id="2108" name="Google Shape;2108;p47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109" name="Google Shape;2109;p47"/>
          <p:cNvSpPr txBox="1"/>
          <p:nvPr/>
        </p:nvSpPr>
        <p:spPr>
          <a:xfrm>
            <a:off x="1217612" y="1162050"/>
            <a:ext cx="1422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 r, s:</a:t>
            </a:r>
            <a:endParaRPr/>
          </a:p>
        </p:txBody>
      </p:sp>
      <p:sp>
        <p:nvSpPr>
          <p:cNvPr id="2110" name="Google Shape;2110;p47"/>
          <p:cNvSpPr/>
          <p:nvPr/>
        </p:nvSpPr>
        <p:spPr>
          <a:xfrm>
            <a:off x="1676400" y="16764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47"/>
          <p:cNvSpPr/>
          <p:nvPr/>
        </p:nvSpPr>
        <p:spPr>
          <a:xfrm>
            <a:off x="1676400" y="16764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47"/>
          <p:cNvSpPr/>
          <p:nvPr/>
        </p:nvSpPr>
        <p:spPr>
          <a:xfrm>
            <a:off x="2133600" y="16764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47"/>
          <p:cNvSpPr/>
          <p:nvPr/>
        </p:nvSpPr>
        <p:spPr>
          <a:xfrm>
            <a:off x="2133600" y="16764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47"/>
          <p:cNvSpPr/>
          <p:nvPr/>
        </p:nvSpPr>
        <p:spPr>
          <a:xfrm>
            <a:off x="1676400" y="2286000"/>
            <a:ext cx="457200" cy="1371600"/>
          </a:xfrm>
          <a:custGeom>
            <a:rect b="b" l="l" r="r" t="t"/>
            <a:pathLst>
              <a:path extrusionOk="0" h="1371600" w="457200">
                <a:moveTo>
                  <a:pt x="457199" y="0"/>
                </a:moveTo>
                <a:lnTo>
                  <a:pt x="0" y="0"/>
                </a:lnTo>
                <a:lnTo>
                  <a:pt x="0" y="1371599"/>
                </a:lnTo>
                <a:lnTo>
                  <a:pt x="457199" y="1371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47"/>
          <p:cNvSpPr/>
          <p:nvPr/>
        </p:nvSpPr>
        <p:spPr>
          <a:xfrm>
            <a:off x="1676400" y="2286000"/>
            <a:ext cx="457200" cy="1371600"/>
          </a:xfrm>
          <a:custGeom>
            <a:rect b="b" l="l" r="r" t="t"/>
            <a:pathLst>
              <a:path extrusionOk="0" h="1371600" w="457200">
                <a:moveTo>
                  <a:pt x="228599" y="1371599"/>
                </a:moveTo>
                <a:lnTo>
                  <a:pt x="0" y="1371599"/>
                </a:lnTo>
                <a:lnTo>
                  <a:pt x="0" y="0"/>
                </a:lnTo>
                <a:lnTo>
                  <a:pt x="457199" y="0"/>
                </a:lnTo>
                <a:lnTo>
                  <a:pt x="457199" y="1371599"/>
                </a:lnTo>
                <a:lnTo>
                  <a:pt x="228599" y="13715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47"/>
          <p:cNvSpPr/>
          <p:nvPr/>
        </p:nvSpPr>
        <p:spPr>
          <a:xfrm>
            <a:off x="2133600" y="2286000"/>
            <a:ext cx="457200" cy="1371600"/>
          </a:xfrm>
          <a:custGeom>
            <a:rect b="b" l="l" r="r" t="t"/>
            <a:pathLst>
              <a:path extrusionOk="0" h="1371600" w="457200">
                <a:moveTo>
                  <a:pt x="457199" y="0"/>
                </a:moveTo>
                <a:lnTo>
                  <a:pt x="0" y="0"/>
                </a:lnTo>
                <a:lnTo>
                  <a:pt x="0" y="1371599"/>
                </a:lnTo>
                <a:lnTo>
                  <a:pt x="457199" y="1371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47"/>
          <p:cNvSpPr/>
          <p:nvPr/>
        </p:nvSpPr>
        <p:spPr>
          <a:xfrm>
            <a:off x="2133600" y="2286000"/>
            <a:ext cx="457200" cy="1371600"/>
          </a:xfrm>
          <a:custGeom>
            <a:rect b="b" l="l" r="r" t="t"/>
            <a:pathLst>
              <a:path extrusionOk="0" h="1371600" w="457200">
                <a:moveTo>
                  <a:pt x="228599" y="1371599"/>
                </a:moveTo>
                <a:lnTo>
                  <a:pt x="0" y="1371599"/>
                </a:lnTo>
                <a:lnTo>
                  <a:pt x="0" y="0"/>
                </a:lnTo>
                <a:lnTo>
                  <a:pt x="457199" y="0"/>
                </a:lnTo>
                <a:lnTo>
                  <a:pt x="457199" y="1371599"/>
                </a:lnTo>
                <a:lnTo>
                  <a:pt x="228599" y="13715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47"/>
          <p:cNvSpPr/>
          <p:nvPr/>
        </p:nvSpPr>
        <p:spPr>
          <a:xfrm>
            <a:off x="2590800" y="16764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47"/>
          <p:cNvSpPr/>
          <p:nvPr/>
        </p:nvSpPr>
        <p:spPr>
          <a:xfrm>
            <a:off x="2590800" y="16764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47"/>
          <p:cNvSpPr/>
          <p:nvPr/>
        </p:nvSpPr>
        <p:spPr>
          <a:xfrm>
            <a:off x="3048000" y="16764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47"/>
          <p:cNvSpPr/>
          <p:nvPr/>
        </p:nvSpPr>
        <p:spPr>
          <a:xfrm>
            <a:off x="3048000" y="16764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47"/>
          <p:cNvSpPr txBox="1"/>
          <p:nvPr/>
        </p:nvSpPr>
        <p:spPr>
          <a:xfrm>
            <a:off x="1816100" y="1844675"/>
            <a:ext cx="15557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	C	D</a:t>
            </a:r>
            <a:endParaRPr/>
          </a:p>
        </p:txBody>
      </p:sp>
      <p:sp>
        <p:nvSpPr>
          <p:cNvPr id="2123" name="Google Shape;2123;p47"/>
          <p:cNvSpPr/>
          <p:nvPr/>
        </p:nvSpPr>
        <p:spPr>
          <a:xfrm>
            <a:off x="2590800" y="2286000"/>
            <a:ext cx="457200" cy="1371600"/>
          </a:xfrm>
          <a:custGeom>
            <a:rect b="b" l="l" r="r" t="t"/>
            <a:pathLst>
              <a:path extrusionOk="0" h="1371600" w="457200">
                <a:moveTo>
                  <a:pt x="457199" y="0"/>
                </a:moveTo>
                <a:lnTo>
                  <a:pt x="0" y="0"/>
                </a:lnTo>
                <a:lnTo>
                  <a:pt x="0" y="1371599"/>
                </a:lnTo>
                <a:lnTo>
                  <a:pt x="457199" y="1371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47"/>
          <p:cNvSpPr/>
          <p:nvPr/>
        </p:nvSpPr>
        <p:spPr>
          <a:xfrm>
            <a:off x="2590800" y="2286000"/>
            <a:ext cx="457200" cy="1371600"/>
          </a:xfrm>
          <a:custGeom>
            <a:rect b="b" l="l" r="r" t="t"/>
            <a:pathLst>
              <a:path extrusionOk="0" h="1371600" w="457200">
                <a:moveTo>
                  <a:pt x="228599" y="1371599"/>
                </a:moveTo>
                <a:lnTo>
                  <a:pt x="0" y="1371599"/>
                </a:lnTo>
                <a:lnTo>
                  <a:pt x="0" y="0"/>
                </a:lnTo>
                <a:lnTo>
                  <a:pt x="457199" y="0"/>
                </a:lnTo>
                <a:lnTo>
                  <a:pt x="457199" y="1371599"/>
                </a:lnTo>
                <a:lnTo>
                  <a:pt x="228599" y="13715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47"/>
          <p:cNvSpPr/>
          <p:nvPr/>
        </p:nvSpPr>
        <p:spPr>
          <a:xfrm>
            <a:off x="3048000" y="2286000"/>
            <a:ext cx="457200" cy="1371600"/>
          </a:xfrm>
          <a:custGeom>
            <a:rect b="b" l="l" r="r" t="t"/>
            <a:pathLst>
              <a:path extrusionOk="0" h="1371600" w="457200">
                <a:moveTo>
                  <a:pt x="457199" y="0"/>
                </a:moveTo>
                <a:lnTo>
                  <a:pt x="0" y="0"/>
                </a:lnTo>
                <a:lnTo>
                  <a:pt x="0" y="1371599"/>
                </a:lnTo>
                <a:lnTo>
                  <a:pt x="457199" y="1371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47"/>
          <p:cNvSpPr/>
          <p:nvPr/>
        </p:nvSpPr>
        <p:spPr>
          <a:xfrm>
            <a:off x="3048000" y="2286000"/>
            <a:ext cx="457200" cy="1371600"/>
          </a:xfrm>
          <a:custGeom>
            <a:rect b="b" l="l" r="r" t="t"/>
            <a:pathLst>
              <a:path extrusionOk="0" h="1371600" w="457200">
                <a:moveTo>
                  <a:pt x="228599" y="1371599"/>
                </a:moveTo>
                <a:lnTo>
                  <a:pt x="0" y="1371599"/>
                </a:lnTo>
                <a:lnTo>
                  <a:pt x="0" y="0"/>
                </a:lnTo>
                <a:lnTo>
                  <a:pt x="457199" y="0"/>
                </a:lnTo>
                <a:lnTo>
                  <a:pt x="457199" y="1371599"/>
                </a:lnTo>
                <a:lnTo>
                  <a:pt x="228599" y="13715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47"/>
          <p:cNvSpPr txBox="1"/>
          <p:nvPr/>
        </p:nvSpPr>
        <p:spPr>
          <a:xfrm>
            <a:off x="1819275" y="2319337"/>
            <a:ext cx="15335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128" name="Google Shape;2128;p47"/>
          <p:cNvSpPr txBox="1"/>
          <p:nvPr/>
        </p:nvSpPr>
        <p:spPr>
          <a:xfrm>
            <a:off x="1819275" y="2593975"/>
            <a:ext cx="1533525" cy="10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2225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22225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  <a:p>
            <a:pPr indent="0" lvl="0" marL="22225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22225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129" name="Google Shape;2129;p47"/>
          <p:cNvSpPr/>
          <p:nvPr/>
        </p:nvSpPr>
        <p:spPr>
          <a:xfrm>
            <a:off x="5181600" y="1600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47"/>
          <p:cNvSpPr/>
          <p:nvPr/>
        </p:nvSpPr>
        <p:spPr>
          <a:xfrm>
            <a:off x="5181600" y="1600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47"/>
          <p:cNvSpPr/>
          <p:nvPr/>
        </p:nvSpPr>
        <p:spPr>
          <a:xfrm>
            <a:off x="5181600" y="2209800"/>
            <a:ext cx="457200" cy="1447800"/>
          </a:xfrm>
          <a:custGeom>
            <a:rect b="b" l="l" r="r" t="t"/>
            <a:pathLst>
              <a:path extrusionOk="0" h="1447800" w="457200">
                <a:moveTo>
                  <a:pt x="457199" y="0"/>
                </a:moveTo>
                <a:lnTo>
                  <a:pt x="0" y="0"/>
                </a:lnTo>
                <a:lnTo>
                  <a:pt x="0" y="1447799"/>
                </a:lnTo>
                <a:lnTo>
                  <a:pt x="457199" y="14477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47"/>
          <p:cNvSpPr/>
          <p:nvPr/>
        </p:nvSpPr>
        <p:spPr>
          <a:xfrm>
            <a:off x="5181600" y="2209800"/>
            <a:ext cx="457200" cy="1447800"/>
          </a:xfrm>
          <a:custGeom>
            <a:rect b="b" l="l" r="r" t="t"/>
            <a:pathLst>
              <a:path extrusionOk="0" h="1447800" w="457200">
                <a:moveTo>
                  <a:pt x="228599" y="1447799"/>
                </a:moveTo>
                <a:lnTo>
                  <a:pt x="0" y="1447799"/>
                </a:lnTo>
                <a:lnTo>
                  <a:pt x="0" y="0"/>
                </a:lnTo>
                <a:lnTo>
                  <a:pt x="457199" y="0"/>
                </a:lnTo>
                <a:lnTo>
                  <a:pt x="457199" y="1447799"/>
                </a:lnTo>
                <a:lnTo>
                  <a:pt x="228599" y="1447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47"/>
          <p:cNvSpPr/>
          <p:nvPr/>
        </p:nvSpPr>
        <p:spPr>
          <a:xfrm>
            <a:off x="5638800" y="1600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47"/>
          <p:cNvSpPr/>
          <p:nvPr/>
        </p:nvSpPr>
        <p:spPr>
          <a:xfrm>
            <a:off x="5638800" y="1600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47"/>
          <p:cNvSpPr/>
          <p:nvPr/>
        </p:nvSpPr>
        <p:spPr>
          <a:xfrm>
            <a:off x="5638800" y="2209800"/>
            <a:ext cx="457200" cy="1447800"/>
          </a:xfrm>
          <a:custGeom>
            <a:rect b="b" l="l" r="r" t="t"/>
            <a:pathLst>
              <a:path extrusionOk="0" h="1447800" w="457200">
                <a:moveTo>
                  <a:pt x="457199" y="0"/>
                </a:moveTo>
                <a:lnTo>
                  <a:pt x="0" y="0"/>
                </a:lnTo>
                <a:lnTo>
                  <a:pt x="0" y="1447799"/>
                </a:lnTo>
                <a:lnTo>
                  <a:pt x="457199" y="14477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47"/>
          <p:cNvSpPr/>
          <p:nvPr/>
        </p:nvSpPr>
        <p:spPr>
          <a:xfrm>
            <a:off x="5638800" y="2209800"/>
            <a:ext cx="457200" cy="1447800"/>
          </a:xfrm>
          <a:custGeom>
            <a:rect b="b" l="l" r="r" t="t"/>
            <a:pathLst>
              <a:path extrusionOk="0" h="1447800" w="457200">
                <a:moveTo>
                  <a:pt x="228599" y="1447799"/>
                </a:moveTo>
                <a:lnTo>
                  <a:pt x="0" y="1447799"/>
                </a:lnTo>
                <a:lnTo>
                  <a:pt x="0" y="0"/>
                </a:lnTo>
                <a:lnTo>
                  <a:pt x="457199" y="0"/>
                </a:lnTo>
                <a:lnTo>
                  <a:pt x="457199" y="1447799"/>
                </a:lnTo>
                <a:lnTo>
                  <a:pt x="228599" y="1447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47"/>
          <p:cNvSpPr/>
          <p:nvPr/>
        </p:nvSpPr>
        <p:spPr>
          <a:xfrm>
            <a:off x="6096000" y="1600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47"/>
          <p:cNvSpPr/>
          <p:nvPr/>
        </p:nvSpPr>
        <p:spPr>
          <a:xfrm>
            <a:off x="6096000" y="1600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47"/>
          <p:cNvSpPr txBox="1"/>
          <p:nvPr/>
        </p:nvSpPr>
        <p:spPr>
          <a:xfrm>
            <a:off x="5321300" y="1768475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	D	E</a:t>
            </a:r>
            <a:endParaRPr/>
          </a:p>
        </p:txBody>
      </p:sp>
      <p:sp>
        <p:nvSpPr>
          <p:cNvPr id="2140" name="Google Shape;2140;p47"/>
          <p:cNvSpPr/>
          <p:nvPr/>
        </p:nvSpPr>
        <p:spPr>
          <a:xfrm>
            <a:off x="6096000" y="2209800"/>
            <a:ext cx="457200" cy="1447800"/>
          </a:xfrm>
          <a:custGeom>
            <a:rect b="b" l="l" r="r" t="t"/>
            <a:pathLst>
              <a:path extrusionOk="0" h="1447800" w="457200">
                <a:moveTo>
                  <a:pt x="457199" y="0"/>
                </a:moveTo>
                <a:lnTo>
                  <a:pt x="0" y="0"/>
                </a:lnTo>
                <a:lnTo>
                  <a:pt x="0" y="1447799"/>
                </a:lnTo>
                <a:lnTo>
                  <a:pt x="457199" y="14477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47"/>
          <p:cNvSpPr/>
          <p:nvPr/>
        </p:nvSpPr>
        <p:spPr>
          <a:xfrm>
            <a:off x="6096000" y="2209800"/>
            <a:ext cx="457200" cy="1447800"/>
          </a:xfrm>
          <a:custGeom>
            <a:rect b="b" l="l" r="r" t="t"/>
            <a:pathLst>
              <a:path extrusionOk="0" h="1447800" w="457200">
                <a:moveTo>
                  <a:pt x="228599" y="1447799"/>
                </a:moveTo>
                <a:lnTo>
                  <a:pt x="0" y="1447799"/>
                </a:lnTo>
                <a:lnTo>
                  <a:pt x="0" y="0"/>
                </a:lnTo>
                <a:lnTo>
                  <a:pt x="457199" y="0"/>
                </a:lnTo>
                <a:lnTo>
                  <a:pt x="457199" y="1447799"/>
                </a:lnTo>
                <a:lnTo>
                  <a:pt x="228599" y="1447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47"/>
          <p:cNvSpPr txBox="1"/>
          <p:nvPr/>
        </p:nvSpPr>
        <p:spPr>
          <a:xfrm>
            <a:off x="5334000" y="2281237"/>
            <a:ext cx="1085850" cy="13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 b="0" i="0" sz="1800" u="non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endParaRPr b="0" i="0" sz="1800" u="non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1430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lain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endParaRPr b="0" i="0" sz="1800" u="non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1430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lain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endParaRPr b="0" i="0" sz="1800" u="non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1430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lain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endParaRPr/>
          </a:p>
        </p:txBody>
      </p:sp>
      <p:sp>
        <p:nvSpPr>
          <p:cNvPr id="2143" name="Google Shape;2143;p47"/>
          <p:cNvSpPr txBox="1"/>
          <p:nvPr/>
        </p:nvSpPr>
        <p:spPr>
          <a:xfrm>
            <a:off x="2441575" y="3743325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144" name="Google Shape;2144;p47"/>
          <p:cNvSpPr/>
          <p:nvPr/>
        </p:nvSpPr>
        <p:spPr>
          <a:xfrm>
            <a:off x="3352800" y="4340225"/>
            <a:ext cx="434975" cy="496887"/>
          </a:xfrm>
          <a:custGeom>
            <a:rect b="b" l="l" r="r" t="t"/>
            <a:pathLst>
              <a:path extrusionOk="0" h="497839" w="434339">
                <a:moveTo>
                  <a:pt x="434339" y="0"/>
                </a:moveTo>
                <a:lnTo>
                  <a:pt x="0" y="0"/>
                </a:lnTo>
                <a:lnTo>
                  <a:pt x="0" y="497835"/>
                </a:lnTo>
                <a:lnTo>
                  <a:pt x="434339" y="497835"/>
                </a:lnTo>
                <a:lnTo>
                  <a:pt x="4343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47"/>
          <p:cNvSpPr/>
          <p:nvPr/>
        </p:nvSpPr>
        <p:spPr>
          <a:xfrm>
            <a:off x="3352800" y="4340225"/>
            <a:ext cx="434975" cy="496887"/>
          </a:xfrm>
          <a:custGeom>
            <a:rect b="b" l="l" r="r" t="t"/>
            <a:pathLst>
              <a:path extrusionOk="0" h="497839" w="434339">
                <a:moveTo>
                  <a:pt x="217169" y="497835"/>
                </a:moveTo>
                <a:lnTo>
                  <a:pt x="0" y="497835"/>
                </a:lnTo>
                <a:lnTo>
                  <a:pt x="0" y="0"/>
                </a:lnTo>
                <a:lnTo>
                  <a:pt x="434339" y="0"/>
                </a:lnTo>
                <a:lnTo>
                  <a:pt x="434339" y="497835"/>
                </a:lnTo>
                <a:lnTo>
                  <a:pt x="217169" y="49783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47"/>
          <p:cNvSpPr/>
          <p:nvPr/>
        </p:nvSpPr>
        <p:spPr>
          <a:xfrm>
            <a:off x="3787775" y="4340225"/>
            <a:ext cx="434975" cy="496887"/>
          </a:xfrm>
          <a:custGeom>
            <a:rect b="b" l="l" r="r" t="t"/>
            <a:pathLst>
              <a:path extrusionOk="0" h="497839" w="434339">
                <a:moveTo>
                  <a:pt x="434339" y="0"/>
                </a:moveTo>
                <a:lnTo>
                  <a:pt x="0" y="0"/>
                </a:lnTo>
                <a:lnTo>
                  <a:pt x="0" y="497835"/>
                </a:lnTo>
                <a:lnTo>
                  <a:pt x="434339" y="497835"/>
                </a:lnTo>
                <a:lnTo>
                  <a:pt x="4343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47"/>
          <p:cNvSpPr/>
          <p:nvPr/>
        </p:nvSpPr>
        <p:spPr>
          <a:xfrm>
            <a:off x="3787775" y="4340225"/>
            <a:ext cx="434975" cy="496887"/>
          </a:xfrm>
          <a:custGeom>
            <a:rect b="b" l="l" r="r" t="t"/>
            <a:pathLst>
              <a:path extrusionOk="0" h="497839" w="434339">
                <a:moveTo>
                  <a:pt x="217169" y="497835"/>
                </a:moveTo>
                <a:lnTo>
                  <a:pt x="0" y="497835"/>
                </a:lnTo>
                <a:lnTo>
                  <a:pt x="0" y="0"/>
                </a:lnTo>
                <a:lnTo>
                  <a:pt x="434339" y="0"/>
                </a:lnTo>
                <a:lnTo>
                  <a:pt x="434339" y="497835"/>
                </a:lnTo>
                <a:lnTo>
                  <a:pt x="217169" y="49783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8" name="Google Shape;2148;p47"/>
          <p:cNvSpPr/>
          <p:nvPr/>
        </p:nvSpPr>
        <p:spPr>
          <a:xfrm>
            <a:off x="3352800" y="4908550"/>
            <a:ext cx="434975" cy="1350962"/>
          </a:xfrm>
          <a:custGeom>
            <a:rect b="b" l="l" r="r" t="t"/>
            <a:pathLst>
              <a:path extrusionOk="0" h="1351279" w="434339">
                <a:moveTo>
                  <a:pt x="434339" y="0"/>
                </a:moveTo>
                <a:lnTo>
                  <a:pt x="0" y="0"/>
                </a:lnTo>
                <a:lnTo>
                  <a:pt x="0" y="1351275"/>
                </a:lnTo>
                <a:lnTo>
                  <a:pt x="434339" y="1351275"/>
                </a:lnTo>
                <a:lnTo>
                  <a:pt x="4343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47"/>
          <p:cNvSpPr/>
          <p:nvPr/>
        </p:nvSpPr>
        <p:spPr>
          <a:xfrm>
            <a:off x="3787775" y="4908550"/>
            <a:ext cx="434975" cy="1350962"/>
          </a:xfrm>
          <a:custGeom>
            <a:rect b="b" l="l" r="r" t="t"/>
            <a:pathLst>
              <a:path extrusionOk="0" h="1351279" w="434339">
                <a:moveTo>
                  <a:pt x="434339" y="0"/>
                </a:moveTo>
                <a:lnTo>
                  <a:pt x="0" y="0"/>
                </a:lnTo>
                <a:lnTo>
                  <a:pt x="0" y="1351275"/>
                </a:lnTo>
                <a:lnTo>
                  <a:pt x="434339" y="1351275"/>
                </a:lnTo>
                <a:lnTo>
                  <a:pt x="4343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47"/>
          <p:cNvSpPr/>
          <p:nvPr/>
        </p:nvSpPr>
        <p:spPr>
          <a:xfrm>
            <a:off x="4222750" y="4340225"/>
            <a:ext cx="436562" cy="496887"/>
          </a:xfrm>
          <a:custGeom>
            <a:rect b="b" l="l" r="r" t="t"/>
            <a:pathLst>
              <a:path extrusionOk="0" h="497839" w="436879">
                <a:moveTo>
                  <a:pt x="436869" y="0"/>
                </a:moveTo>
                <a:lnTo>
                  <a:pt x="0" y="0"/>
                </a:lnTo>
                <a:lnTo>
                  <a:pt x="0" y="497835"/>
                </a:lnTo>
                <a:lnTo>
                  <a:pt x="436869" y="497835"/>
                </a:lnTo>
                <a:lnTo>
                  <a:pt x="4368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47"/>
          <p:cNvSpPr/>
          <p:nvPr/>
        </p:nvSpPr>
        <p:spPr>
          <a:xfrm>
            <a:off x="4222750" y="4340225"/>
            <a:ext cx="436562" cy="496887"/>
          </a:xfrm>
          <a:custGeom>
            <a:rect b="b" l="l" r="r" t="t"/>
            <a:pathLst>
              <a:path extrusionOk="0" h="497839" w="436879">
                <a:moveTo>
                  <a:pt x="218419" y="497835"/>
                </a:moveTo>
                <a:lnTo>
                  <a:pt x="0" y="497835"/>
                </a:lnTo>
                <a:lnTo>
                  <a:pt x="0" y="0"/>
                </a:lnTo>
                <a:lnTo>
                  <a:pt x="436869" y="0"/>
                </a:lnTo>
                <a:lnTo>
                  <a:pt x="436869" y="497835"/>
                </a:lnTo>
                <a:lnTo>
                  <a:pt x="218419" y="49783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47"/>
          <p:cNvSpPr/>
          <p:nvPr/>
        </p:nvSpPr>
        <p:spPr>
          <a:xfrm>
            <a:off x="4659312" y="4340225"/>
            <a:ext cx="434975" cy="496887"/>
          </a:xfrm>
          <a:custGeom>
            <a:rect b="b" l="l" r="r" t="t"/>
            <a:pathLst>
              <a:path extrusionOk="0" h="497839" w="434339">
                <a:moveTo>
                  <a:pt x="434339" y="0"/>
                </a:moveTo>
                <a:lnTo>
                  <a:pt x="0" y="0"/>
                </a:lnTo>
                <a:lnTo>
                  <a:pt x="0" y="497835"/>
                </a:lnTo>
                <a:lnTo>
                  <a:pt x="434339" y="497835"/>
                </a:lnTo>
                <a:lnTo>
                  <a:pt x="4343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47"/>
          <p:cNvSpPr/>
          <p:nvPr/>
        </p:nvSpPr>
        <p:spPr>
          <a:xfrm>
            <a:off x="4659312" y="4340225"/>
            <a:ext cx="434975" cy="496887"/>
          </a:xfrm>
          <a:custGeom>
            <a:rect b="b" l="l" r="r" t="t"/>
            <a:pathLst>
              <a:path extrusionOk="0" h="497839" w="434339">
                <a:moveTo>
                  <a:pt x="217169" y="497835"/>
                </a:moveTo>
                <a:lnTo>
                  <a:pt x="0" y="497835"/>
                </a:lnTo>
                <a:lnTo>
                  <a:pt x="0" y="0"/>
                </a:lnTo>
                <a:lnTo>
                  <a:pt x="434339" y="0"/>
                </a:lnTo>
                <a:lnTo>
                  <a:pt x="434339" y="497835"/>
                </a:lnTo>
                <a:lnTo>
                  <a:pt x="217169" y="49783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47"/>
          <p:cNvSpPr/>
          <p:nvPr/>
        </p:nvSpPr>
        <p:spPr>
          <a:xfrm>
            <a:off x="4222750" y="4908550"/>
            <a:ext cx="436562" cy="1350962"/>
          </a:xfrm>
          <a:custGeom>
            <a:rect b="b" l="l" r="r" t="t"/>
            <a:pathLst>
              <a:path extrusionOk="0" h="1351279" w="436879">
                <a:moveTo>
                  <a:pt x="436869" y="0"/>
                </a:moveTo>
                <a:lnTo>
                  <a:pt x="0" y="0"/>
                </a:lnTo>
                <a:lnTo>
                  <a:pt x="0" y="1351275"/>
                </a:lnTo>
                <a:lnTo>
                  <a:pt x="436869" y="1351275"/>
                </a:lnTo>
                <a:lnTo>
                  <a:pt x="4368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47"/>
          <p:cNvSpPr/>
          <p:nvPr/>
        </p:nvSpPr>
        <p:spPr>
          <a:xfrm>
            <a:off x="4659312" y="4908550"/>
            <a:ext cx="434975" cy="1350962"/>
          </a:xfrm>
          <a:custGeom>
            <a:rect b="b" l="l" r="r" t="t"/>
            <a:pathLst>
              <a:path extrusionOk="0" h="1351279" w="434339">
                <a:moveTo>
                  <a:pt x="434339" y="0"/>
                </a:moveTo>
                <a:lnTo>
                  <a:pt x="0" y="0"/>
                </a:lnTo>
                <a:lnTo>
                  <a:pt x="0" y="1351275"/>
                </a:lnTo>
                <a:lnTo>
                  <a:pt x="434339" y="1351275"/>
                </a:lnTo>
                <a:lnTo>
                  <a:pt x="4343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47"/>
          <p:cNvSpPr/>
          <p:nvPr/>
        </p:nvSpPr>
        <p:spPr>
          <a:xfrm>
            <a:off x="5094287" y="4340225"/>
            <a:ext cx="434975" cy="496887"/>
          </a:xfrm>
          <a:custGeom>
            <a:rect b="b" l="l" r="r" t="t"/>
            <a:pathLst>
              <a:path extrusionOk="0" h="497839" w="435610">
                <a:moveTo>
                  <a:pt x="435620" y="0"/>
                </a:moveTo>
                <a:lnTo>
                  <a:pt x="0" y="0"/>
                </a:lnTo>
                <a:lnTo>
                  <a:pt x="0" y="497835"/>
                </a:lnTo>
                <a:lnTo>
                  <a:pt x="435620" y="497835"/>
                </a:lnTo>
                <a:lnTo>
                  <a:pt x="43562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47"/>
          <p:cNvSpPr/>
          <p:nvPr/>
        </p:nvSpPr>
        <p:spPr>
          <a:xfrm>
            <a:off x="5094287" y="4340225"/>
            <a:ext cx="434975" cy="496887"/>
          </a:xfrm>
          <a:custGeom>
            <a:rect b="b" l="l" r="r" t="t"/>
            <a:pathLst>
              <a:path extrusionOk="0" h="497839" w="435610">
                <a:moveTo>
                  <a:pt x="218450" y="497835"/>
                </a:moveTo>
                <a:lnTo>
                  <a:pt x="0" y="497835"/>
                </a:lnTo>
                <a:lnTo>
                  <a:pt x="0" y="0"/>
                </a:lnTo>
                <a:lnTo>
                  <a:pt x="435620" y="0"/>
                </a:lnTo>
                <a:lnTo>
                  <a:pt x="435620" y="497835"/>
                </a:lnTo>
                <a:lnTo>
                  <a:pt x="218450" y="49783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47"/>
          <p:cNvSpPr txBox="1"/>
          <p:nvPr/>
        </p:nvSpPr>
        <p:spPr>
          <a:xfrm>
            <a:off x="3481387" y="4491037"/>
            <a:ext cx="19208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	C	D	E</a:t>
            </a:r>
            <a:endParaRPr/>
          </a:p>
        </p:txBody>
      </p:sp>
      <p:sp>
        <p:nvSpPr>
          <p:cNvPr id="2159" name="Google Shape;2159;p47"/>
          <p:cNvSpPr/>
          <p:nvPr/>
        </p:nvSpPr>
        <p:spPr>
          <a:xfrm>
            <a:off x="5094287" y="4908550"/>
            <a:ext cx="434975" cy="1350962"/>
          </a:xfrm>
          <a:custGeom>
            <a:rect b="b" l="l" r="r" t="t"/>
            <a:pathLst>
              <a:path extrusionOk="0" h="1351279" w="435610">
                <a:moveTo>
                  <a:pt x="435620" y="0"/>
                </a:moveTo>
                <a:lnTo>
                  <a:pt x="0" y="0"/>
                </a:lnTo>
                <a:lnTo>
                  <a:pt x="0" y="1351275"/>
                </a:lnTo>
                <a:lnTo>
                  <a:pt x="435620" y="1351275"/>
                </a:lnTo>
                <a:lnTo>
                  <a:pt x="43562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47"/>
          <p:cNvSpPr txBox="1"/>
          <p:nvPr/>
        </p:nvSpPr>
        <p:spPr>
          <a:xfrm>
            <a:off x="5794375" y="3743325"/>
            <a:ext cx="1397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161" name="Google Shape;2161;p47"/>
          <p:cNvSpPr txBox="1"/>
          <p:nvPr/>
        </p:nvSpPr>
        <p:spPr>
          <a:xfrm>
            <a:off x="896937" y="42814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162" name="Google Shape;2162;p47"/>
          <p:cNvSpPr txBox="1"/>
          <p:nvPr/>
        </p:nvSpPr>
        <p:spPr>
          <a:xfrm>
            <a:off x="1239837" y="4325937"/>
            <a:ext cx="5349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	s</a:t>
            </a:r>
            <a:endParaRPr/>
          </a:p>
        </p:txBody>
      </p:sp>
      <p:sp>
        <p:nvSpPr>
          <p:cNvPr id="2163" name="Google Shape;2163;p47"/>
          <p:cNvSpPr/>
          <p:nvPr/>
        </p:nvSpPr>
        <p:spPr>
          <a:xfrm>
            <a:off x="1428750" y="4341812"/>
            <a:ext cx="152400" cy="153987"/>
          </a:xfrm>
          <a:custGeom>
            <a:rect b="b" l="l" r="r" t="t"/>
            <a:pathLst>
              <a:path extrusionOk="0" h="153670" w="152400">
                <a:moveTo>
                  <a:pt x="152399" y="153674"/>
                </a:moveTo>
                <a:lnTo>
                  <a:pt x="0" y="0"/>
                </a:lnTo>
                <a:lnTo>
                  <a:pt x="0" y="153674"/>
                </a:lnTo>
                <a:lnTo>
                  <a:pt x="152399" y="0"/>
                </a:lnTo>
                <a:lnTo>
                  <a:pt x="152399" y="153674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47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165" name="Google Shape;2165;p47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166" name="Google Shape;2166;p47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graphicFrame>
        <p:nvGraphicFramePr>
          <p:cNvPr id="2167" name="Google Shape;2167;p47"/>
          <p:cNvGraphicFramePr/>
          <p:nvPr/>
        </p:nvGraphicFramePr>
        <p:xfrm>
          <a:off x="3348037" y="4903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434975"/>
                <a:gridCol w="434975"/>
                <a:gridCol w="436550"/>
                <a:gridCol w="434975"/>
                <a:gridCol w="434975"/>
              </a:tblGrid>
              <a:tr h="138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1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δ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11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1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47637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a a a 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1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δ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48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48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48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48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48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48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48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48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48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48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48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48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4" name="Google Shape;2184;p48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48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48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48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48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9" name="Google Shape;2189;p48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48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48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48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48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48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48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48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48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48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717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Division Operation</a:t>
            </a:r>
            <a:endParaRPr/>
          </a:p>
        </p:txBody>
      </p:sp>
      <p:sp>
        <p:nvSpPr>
          <p:cNvPr id="2199" name="Google Shape;2199;p48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200" name="Google Shape;2200;p48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201" name="Google Shape;2201;p48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202" name="Google Shape;2202;p48"/>
          <p:cNvSpPr txBox="1"/>
          <p:nvPr/>
        </p:nvSpPr>
        <p:spPr>
          <a:xfrm>
            <a:off x="1144587" y="14112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203" name="Google Shape;2203;p48"/>
          <p:cNvSpPr txBox="1"/>
          <p:nvPr/>
        </p:nvSpPr>
        <p:spPr>
          <a:xfrm>
            <a:off x="1487487" y="1455737"/>
            <a:ext cx="9382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Notation:</a:t>
            </a:r>
            <a:endParaRPr/>
          </a:p>
        </p:txBody>
      </p:sp>
      <p:sp>
        <p:nvSpPr>
          <p:cNvPr id="2204" name="Google Shape;2204;p48"/>
          <p:cNvSpPr txBox="1"/>
          <p:nvPr/>
        </p:nvSpPr>
        <p:spPr>
          <a:xfrm>
            <a:off x="1144587" y="17843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205" name="Google Shape;2205;p48"/>
          <p:cNvSpPr txBox="1"/>
          <p:nvPr/>
        </p:nvSpPr>
        <p:spPr>
          <a:xfrm>
            <a:off x="1487487" y="1830387"/>
            <a:ext cx="49450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Suited to queries that include the phrase “for all”.</a:t>
            </a:r>
            <a:endParaRPr/>
          </a:p>
        </p:txBody>
      </p:sp>
      <p:sp>
        <p:nvSpPr>
          <p:cNvPr id="2206" name="Google Shape;2206;p48"/>
          <p:cNvSpPr txBox="1"/>
          <p:nvPr/>
        </p:nvSpPr>
        <p:spPr>
          <a:xfrm>
            <a:off x="1144587" y="22145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207" name="Google Shape;2207;p48"/>
          <p:cNvSpPr txBox="1"/>
          <p:nvPr/>
        </p:nvSpPr>
        <p:spPr>
          <a:xfrm>
            <a:off x="1487487" y="2259012"/>
            <a:ext cx="57959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relations on schemas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respectively</a:t>
            </a:r>
            <a:endParaRPr/>
          </a:p>
        </p:txBody>
      </p:sp>
      <p:sp>
        <p:nvSpPr>
          <p:cNvPr id="2208" name="Google Shape;2208;p48"/>
          <p:cNvSpPr txBox="1"/>
          <p:nvPr/>
        </p:nvSpPr>
        <p:spPr>
          <a:xfrm>
            <a:off x="1487487" y="2587625"/>
            <a:ext cx="6461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/>
          </a:p>
        </p:txBody>
      </p:sp>
      <p:sp>
        <p:nvSpPr>
          <p:cNvPr id="2209" name="Google Shape;2209;p48"/>
          <p:cNvSpPr txBox="1"/>
          <p:nvPr/>
        </p:nvSpPr>
        <p:spPr>
          <a:xfrm>
            <a:off x="1601787" y="29813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210" name="Google Shape;2210;p48"/>
          <p:cNvSpPr txBox="1"/>
          <p:nvPr/>
        </p:nvSpPr>
        <p:spPr>
          <a:xfrm>
            <a:off x="1887537" y="2992437"/>
            <a:ext cx="2713037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211" name="Google Shape;2211;p48"/>
          <p:cNvSpPr txBox="1"/>
          <p:nvPr/>
        </p:nvSpPr>
        <p:spPr>
          <a:xfrm>
            <a:off x="1601787" y="3424237"/>
            <a:ext cx="5508625" cy="2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2100"/>
              <a:buFont typeface="MS Gothic"/>
              <a:buNone/>
            </a:pPr>
            <a:r>
              <a:rPr b="0" baseline="30000" i="0" lang="en-US" sz="21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result of	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÷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is a relation on schema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÷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}</a:t>
            </a:r>
            <a:endParaRPr/>
          </a:p>
          <a:p>
            <a:pPr indent="0" lvl="0" marL="127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means the concatenation of tuples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produce a single tuple</a:t>
            </a:r>
            <a:endParaRPr/>
          </a:p>
        </p:txBody>
      </p:sp>
      <p:sp>
        <p:nvSpPr>
          <p:cNvPr id="2212" name="Google Shape;2212;p48"/>
          <p:cNvSpPr txBox="1"/>
          <p:nvPr/>
        </p:nvSpPr>
        <p:spPr>
          <a:xfrm>
            <a:off x="2668587" y="1387475"/>
            <a:ext cx="587375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rPr b="0" i="1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="0" i="0" lang="en-US" sz="25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÷</a:t>
            </a:r>
            <a:r>
              <a:rPr b="0" i="0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49"/>
          <p:cNvSpPr/>
          <p:nvPr/>
        </p:nvSpPr>
        <p:spPr>
          <a:xfrm>
            <a:off x="4381500" y="1263650"/>
            <a:ext cx="4762500" cy="255587"/>
          </a:xfrm>
          <a:custGeom>
            <a:rect b="b" l="l" r="r" t="t"/>
            <a:pathLst>
              <a:path extrusionOk="0" h="255905" w="4762500">
                <a:moveTo>
                  <a:pt x="0" y="255531"/>
                </a:moveTo>
                <a:lnTo>
                  <a:pt x="4762500" y="255531"/>
                </a:lnTo>
                <a:lnTo>
                  <a:pt x="47625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49"/>
          <p:cNvSpPr/>
          <p:nvPr/>
        </p:nvSpPr>
        <p:spPr>
          <a:xfrm>
            <a:off x="0" y="1263650"/>
            <a:ext cx="3467100" cy="255587"/>
          </a:xfrm>
          <a:custGeom>
            <a:rect b="b" l="l" r="r" t="t"/>
            <a:pathLst>
              <a:path extrusionOk="0" h="255905" w="3467100">
                <a:moveTo>
                  <a:pt x="0" y="255531"/>
                </a:moveTo>
                <a:lnTo>
                  <a:pt x="3467099" y="255531"/>
                </a:lnTo>
                <a:lnTo>
                  <a:pt x="34670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49"/>
          <p:cNvSpPr/>
          <p:nvPr/>
        </p:nvSpPr>
        <p:spPr>
          <a:xfrm>
            <a:off x="5753100" y="1519237"/>
            <a:ext cx="3390900" cy="255587"/>
          </a:xfrm>
          <a:custGeom>
            <a:rect b="b" l="l" r="r" t="t"/>
            <a:pathLst>
              <a:path extrusionOk="0" h="255905" w="3390900">
                <a:moveTo>
                  <a:pt x="0" y="255650"/>
                </a:moveTo>
                <a:lnTo>
                  <a:pt x="3390900" y="255650"/>
                </a:lnTo>
                <a:lnTo>
                  <a:pt x="339090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49"/>
          <p:cNvSpPr/>
          <p:nvPr/>
        </p:nvSpPr>
        <p:spPr>
          <a:xfrm>
            <a:off x="0" y="1519237"/>
            <a:ext cx="5295900" cy="255587"/>
          </a:xfrm>
          <a:custGeom>
            <a:rect b="b" l="l" r="r" t="t"/>
            <a:pathLst>
              <a:path extrusionOk="0" h="255905" w="5295900">
                <a:moveTo>
                  <a:pt x="0" y="255650"/>
                </a:moveTo>
                <a:lnTo>
                  <a:pt x="5295899" y="255650"/>
                </a:lnTo>
                <a:lnTo>
                  <a:pt x="52958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49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49"/>
          <p:cNvSpPr/>
          <p:nvPr/>
        </p:nvSpPr>
        <p:spPr>
          <a:xfrm>
            <a:off x="5753100" y="2027237"/>
            <a:ext cx="3390900" cy="255587"/>
          </a:xfrm>
          <a:custGeom>
            <a:rect b="b" l="l" r="r" t="t"/>
            <a:pathLst>
              <a:path extrusionOk="0" h="255905" w="3390900">
                <a:moveTo>
                  <a:pt x="0" y="255650"/>
                </a:moveTo>
                <a:lnTo>
                  <a:pt x="3390900" y="255650"/>
                </a:lnTo>
                <a:lnTo>
                  <a:pt x="339090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49"/>
          <p:cNvSpPr/>
          <p:nvPr/>
        </p:nvSpPr>
        <p:spPr>
          <a:xfrm>
            <a:off x="4381500" y="2027237"/>
            <a:ext cx="914400" cy="255587"/>
          </a:xfrm>
          <a:custGeom>
            <a:rect b="b" l="l" r="r" t="t"/>
            <a:pathLst>
              <a:path extrusionOk="0" h="255905" w="914400">
                <a:moveTo>
                  <a:pt x="0" y="255650"/>
                </a:moveTo>
                <a:lnTo>
                  <a:pt x="914399" y="255650"/>
                </a:lnTo>
                <a:lnTo>
                  <a:pt x="9143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49"/>
          <p:cNvSpPr/>
          <p:nvPr/>
        </p:nvSpPr>
        <p:spPr>
          <a:xfrm>
            <a:off x="0" y="2027237"/>
            <a:ext cx="3467100" cy="255587"/>
          </a:xfrm>
          <a:custGeom>
            <a:rect b="b" l="l" r="r" t="t"/>
            <a:pathLst>
              <a:path extrusionOk="0" h="255905" w="3467100">
                <a:moveTo>
                  <a:pt x="0" y="255650"/>
                </a:moveTo>
                <a:lnTo>
                  <a:pt x="3467099" y="255650"/>
                </a:lnTo>
                <a:lnTo>
                  <a:pt x="34670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49"/>
          <p:cNvSpPr/>
          <p:nvPr/>
        </p:nvSpPr>
        <p:spPr>
          <a:xfrm>
            <a:off x="5753100" y="2282825"/>
            <a:ext cx="3390900" cy="255587"/>
          </a:xfrm>
          <a:custGeom>
            <a:rect b="b" l="l" r="r" t="t"/>
            <a:pathLst>
              <a:path extrusionOk="0" h="255905" w="3390900">
                <a:moveTo>
                  <a:pt x="0" y="255531"/>
                </a:moveTo>
                <a:lnTo>
                  <a:pt x="3390900" y="255531"/>
                </a:lnTo>
                <a:lnTo>
                  <a:pt x="33909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49"/>
          <p:cNvSpPr/>
          <p:nvPr/>
        </p:nvSpPr>
        <p:spPr>
          <a:xfrm>
            <a:off x="4381500" y="2282825"/>
            <a:ext cx="914400" cy="255587"/>
          </a:xfrm>
          <a:custGeom>
            <a:rect b="b" l="l" r="r" t="t"/>
            <a:pathLst>
              <a:path extrusionOk="0" h="255905" w="914400">
                <a:moveTo>
                  <a:pt x="0" y="255531"/>
                </a:moveTo>
                <a:lnTo>
                  <a:pt x="914399" y="255531"/>
                </a:lnTo>
                <a:lnTo>
                  <a:pt x="9143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49"/>
          <p:cNvSpPr/>
          <p:nvPr/>
        </p:nvSpPr>
        <p:spPr>
          <a:xfrm>
            <a:off x="0" y="2282825"/>
            <a:ext cx="3467100" cy="255587"/>
          </a:xfrm>
          <a:custGeom>
            <a:rect b="b" l="l" r="r" t="t"/>
            <a:pathLst>
              <a:path extrusionOk="0" h="255905" w="3467100">
                <a:moveTo>
                  <a:pt x="0" y="255531"/>
                </a:moveTo>
                <a:lnTo>
                  <a:pt x="3467099" y="255531"/>
                </a:lnTo>
                <a:lnTo>
                  <a:pt x="34670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49"/>
          <p:cNvSpPr/>
          <p:nvPr/>
        </p:nvSpPr>
        <p:spPr>
          <a:xfrm>
            <a:off x="4381500" y="2538412"/>
            <a:ext cx="4762500" cy="252412"/>
          </a:xfrm>
          <a:custGeom>
            <a:rect b="b" l="l" r="r" t="t"/>
            <a:pathLst>
              <a:path extrusionOk="0" h="252730" w="4762500">
                <a:moveTo>
                  <a:pt x="0" y="252221"/>
                </a:moveTo>
                <a:lnTo>
                  <a:pt x="4762500" y="252221"/>
                </a:lnTo>
                <a:lnTo>
                  <a:pt x="476250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49"/>
          <p:cNvSpPr/>
          <p:nvPr/>
        </p:nvSpPr>
        <p:spPr>
          <a:xfrm>
            <a:off x="0" y="2538412"/>
            <a:ext cx="3467100" cy="252412"/>
          </a:xfrm>
          <a:custGeom>
            <a:rect b="b" l="l" r="r" t="t"/>
            <a:pathLst>
              <a:path extrusionOk="0" h="252730" w="3467100">
                <a:moveTo>
                  <a:pt x="0" y="252221"/>
                </a:moveTo>
                <a:lnTo>
                  <a:pt x="3467099" y="252221"/>
                </a:lnTo>
                <a:lnTo>
                  <a:pt x="34670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49"/>
          <p:cNvSpPr/>
          <p:nvPr/>
        </p:nvSpPr>
        <p:spPr>
          <a:xfrm>
            <a:off x="4381500" y="2790825"/>
            <a:ext cx="4762500" cy="255587"/>
          </a:xfrm>
          <a:custGeom>
            <a:rect b="b" l="l" r="r" t="t"/>
            <a:pathLst>
              <a:path extrusionOk="0" h="255905" w="4762500">
                <a:moveTo>
                  <a:pt x="0" y="255389"/>
                </a:moveTo>
                <a:lnTo>
                  <a:pt x="4762500" y="255389"/>
                </a:lnTo>
                <a:lnTo>
                  <a:pt x="4762500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49"/>
          <p:cNvSpPr/>
          <p:nvPr/>
        </p:nvSpPr>
        <p:spPr>
          <a:xfrm>
            <a:off x="0" y="2790825"/>
            <a:ext cx="3467100" cy="255587"/>
          </a:xfrm>
          <a:custGeom>
            <a:rect b="b" l="l" r="r" t="t"/>
            <a:pathLst>
              <a:path extrusionOk="0" h="255905" w="3467100">
                <a:moveTo>
                  <a:pt x="0" y="255389"/>
                </a:moveTo>
                <a:lnTo>
                  <a:pt x="3467099" y="255389"/>
                </a:lnTo>
                <a:lnTo>
                  <a:pt x="346709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49"/>
          <p:cNvSpPr/>
          <p:nvPr/>
        </p:nvSpPr>
        <p:spPr>
          <a:xfrm>
            <a:off x="4381500" y="3044825"/>
            <a:ext cx="4762500" cy="249237"/>
          </a:xfrm>
          <a:custGeom>
            <a:rect b="b" l="l" r="r" t="t"/>
            <a:pathLst>
              <a:path extrusionOk="0" h="248920" w="4762500">
                <a:moveTo>
                  <a:pt x="0" y="248792"/>
                </a:moveTo>
                <a:lnTo>
                  <a:pt x="4762500" y="248792"/>
                </a:lnTo>
                <a:lnTo>
                  <a:pt x="4762500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49"/>
          <p:cNvSpPr/>
          <p:nvPr/>
        </p:nvSpPr>
        <p:spPr>
          <a:xfrm>
            <a:off x="0" y="3044825"/>
            <a:ext cx="3467100" cy="249237"/>
          </a:xfrm>
          <a:custGeom>
            <a:rect b="b" l="l" r="r" t="t"/>
            <a:pathLst>
              <a:path extrusionOk="0" h="248920" w="3467100">
                <a:moveTo>
                  <a:pt x="0" y="248792"/>
                </a:moveTo>
                <a:lnTo>
                  <a:pt x="3467099" y="248792"/>
                </a:lnTo>
                <a:lnTo>
                  <a:pt x="3467099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49"/>
          <p:cNvSpPr/>
          <p:nvPr/>
        </p:nvSpPr>
        <p:spPr>
          <a:xfrm>
            <a:off x="4381500" y="3294062"/>
            <a:ext cx="4762500" cy="261937"/>
          </a:xfrm>
          <a:custGeom>
            <a:rect b="b" l="l" r="r" t="t"/>
            <a:pathLst>
              <a:path extrusionOk="0" h="262254" w="4762500">
                <a:moveTo>
                  <a:pt x="0" y="261699"/>
                </a:moveTo>
                <a:lnTo>
                  <a:pt x="4762500" y="261699"/>
                </a:lnTo>
                <a:lnTo>
                  <a:pt x="4762500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49"/>
          <p:cNvSpPr/>
          <p:nvPr/>
        </p:nvSpPr>
        <p:spPr>
          <a:xfrm>
            <a:off x="0" y="3294062"/>
            <a:ext cx="3467100" cy="261937"/>
          </a:xfrm>
          <a:custGeom>
            <a:rect b="b" l="l" r="r" t="t"/>
            <a:pathLst>
              <a:path extrusionOk="0" h="262254" w="3467100">
                <a:moveTo>
                  <a:pt x="0" y="261699"/>
                </a:moveTo>
                <a:lnTo>
                  <a:pt x="3467099" y="261699"/>
                </a:lnTo>
                <a:lnTo>
                  <a:pt x="3467099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49"/>
          <p:cNvSpPr/>
          <p:nvPr/>
        </p:nvSpPr>
        <p:spPr>
          <a:xfrm>
            <a:off x="4381500" y="3556000"/>
            <a:ext cx="4762500" cy="254000"/>
          </a:xfrm>
          <a:custGeom>
            <a:rect b="b" l="l" r="r" t="t"/>
            <a:pathLst>
              <a:path extrusionOk="0" h="254635" w="4762500">
                <a:moveTo>
                  <a:pt x="0" y="254162"/>
                </a:moveTo>
                <a:lnTo>
                  <a:pt x="4762500" y="254162"/>
                </a:lnTo>
                <a:lnTo>
                  <a:pt x="47625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p49"/>
          <p:cNvSpPr/>
          <p:nvPr/>
        </p:nvSpPr>
        <p:spPr>
          <a:xfrm>
            <a:off x="0" y="3556000"/>
            <a:ext cx="3467100" cy="254000"/>
          </a:xfrm>
          <a:custGeom>
            <a:rect b="b" l="l" r="r" t="t"/>
            <a:pathLst>
              <a:path extrusionOk="0" h="254635" w="3467100">
                <a:moveTo>
                  <a:pt x="0" y="254162"/>
                </a:moveTo>
                <a:lnTo>
                  <a:pt x="3467099" y="254162"/>
                </a:lnTo>
                <a:lnTo>
                  <a:pt x="34670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49"/>
          <p:cNvSpPr/>
          <p:nvPr/>
        </p:nvSpPr>
        <p:spPr>
          <a:xfrm>
            <a:off x="4381500" y="3810000"/>
            <a:ext cx="4762500" cy="254000"/>
          </a:xfrm>
          <a:custGeom>
            <a:rect b="b" l="l" r="r" t="t"/>
            <a:pathLst>
              <a:path extrusionOk="0" h="254000" w="4762500">
                <a:moveTo>
                  <a:pt x="0" y="253805"/>
                </a:moveTo>
                <a:lnTo>
                  <a:pt x="4762500" y="253805"/>
                </a:lnTo>
                <a:lnTo>
                  <a:pt x="4762500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49"/>
          <p:cNvSpPr/>
          <p:nvPr/>
        </p:nvSpPr>
        <p:spPr>
          <a:xfrm>
            <a:off x="0" y="3810000"/>
            <a:ext cx="3467100" cy="254000"/>
          </a:xfrm>
          <a:custGeom>
            <a:rect b="b" l="l" r="r" t="t"/>
            <a:pathLst>
              <a:path extrusionOk="0" h="254000" w="3467100">
                <a:moveTo>
                  <a:pt x="0" y="253805"/>
                </a:moveTo>
                <a:lnTo>
                  <a:pt x="3467099" y="253805"/>
                </a:lnTo>
                <a:lnTo>
                  <a:pt x="3467099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49"/>
          <p:cNvSpPr/>
          <p:nvPr/>
        </p:nvSpPr>
        <p:spPr>
          <a:xfrm>
            <a:off x="4381500" y="4064000"/>
            <a:ext cx="4762500" cy="254000"/>
          </a:xfrm>
          <a:custGeom>
            <a:rect b="b" l="l" r="r" t="t"/>
            <a:pathLst>
              <a:path extrusionOk="0" h="254635" w="4762500">
                <a:moveTo>
                  <a:pt x="0" y="254162"/>
                </a:moveTo>
                <a:lnTo>
                  <a:pt x="4762500" y="254162"/>
                </a:lnTo>
                <a:lnTo>
                  <a:pt x="47625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49"/>
          <p:cNvSpPr/>
          <p:nvPr/>
        </p:nvSpPr>
        <p:spPr>
          <a:xfrm>
            <a:off x="0" y="4064000"/>
            <a:ext cx="3467100" cy="254000"/>
          </a:xfrm>
          <a:custGeom>
            <a:rect b="b" l="l" r="r" t="t"/>
            <a:pathLst>
              <a:path extrusionOk="0" h="254635" w="3467100">
                <a:moveTo>
                  <a:pt x="0" y="254162"/>
                </a:moveTo>
                <a:lnTo>
                  <a:pt x="3467099" y="254162"/>
                </a:lnTo>
                <a:lnTo>
                  <a:pt x="34670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49"/>
          <p:cNvSpPr/>
          <p:nvPr/>
        </p:nvSpPr>
        <p:spPr>
          <a:xfrm>
            <a:off x="4381500" y="4318000"/>
            <a:ext cx="4762500" cy="255587"/>
          </a:xfrm>
          <a:custGeom>
            <a:rect b="b" l="l" r="r" t="t"/>
            <a:pathLst>
              <a:path extrusionOk="0" h="254635" w="4762500">
                <a:moveTo>
                  <a:pt x="0" y="254150"/>
                </a:moveTo>
                <a:lnTo>
                  <a:pt x="4762500" y="254150"/>
                </a:lnTo>
                <a:lnTo>
                  <a:pt x="476250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49"/>
          <p:cNvSpPr/>
          <p:nvPr/>
        </p:nvSpPr>
        <p:spPr>
          <a:xfrm>
            <a:off x="0" y="4318000"/>
            <a:ext cx="3467100" cy="255587"/>
          </a:xfrm>
          <a:custGeom>
            <a:rect b="b" l="l" r="r" t="t"/>
            <a:pathLst>
              <a:path extrusionOk="0" h="254635" w="3467100">
                <a:moveTo>
                  <a:pt x="0" y="254150"/>
                </a:moveTo>
                <a:lnTo>
                  <a:pt x="3467099" y="254150"/>
                </a:lnTo>
                <a:lnTo>
                  <a:pt x="34670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4" name="Google Shape;2244;p49"/>
          <p:cNvSpPr/>
          <p:nvPr/>
        </p:nvSpPr>
        <p:spPr>
          <a:xfrm>
            <a:off x="4381500" y="4572000"/>
            <a:ext cx="4762500" cy="255587"/>
          </a:xfrm>
          <a:custGeom>
            <a:rect b="b" l="l" r="r" t="t"/>
            <a:pathLst>
              <a:path extrusionOk="0" h="254635" w="4762500">
                <a:moveTo>
                  <a:pt x="0" y="254162"/>
                </a:moveTo>
                <a:lnTo>
                  <a:pt x="4762500" y="254162"/>
                </a:lnTo>
                <a:lnTo>
                  <a:pt x="47625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5" name="Google Shape;2245;p49"/>
          <p:cNvSpPr/>
          <p:nvPr/>
        </p:nvSpPr>
        <p:spPr>
          <a:xfrm>
            <a:off x="0" y="4572000"/>
            <a:ext cx="3467100" cy="255587"/>
          </a:xfrm>
          <a:custGeom>
            <a:rect b="b" l="l" r="r" t="t"/>
            <a:pathLst>
              <a:path extrusionOk="0" h="254635" w="3467100">
                <a:moveTo>
                  <a:pt x="0" y="254162"/>
                </a:moveTo>
                <a:lnTo>
                  <a:pt x="3467099" y="254162"/>
                </a:lnTo>
                <a:lnTo>
                  <a:pt x="34670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49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49"/>
          <p:cNvSpPr/>
          <p:nvPr/>
        </p:nvSpPr>
        <p:spPr>
          <a:xfrm>
            <a:off x="3048000" y="5080000"/>
            <a:ext cx="6096000" cy="255587"/>
          </a:xfrm>
          <a:custGeom>
            <a:rect b="b" l="l" r="r" t="t"/>
            <a:pathLst>
              <a:path extrusionOk="0" h="254635" w="6096000">
                <a:moveTo>
                  <a:pt x="0" y="254174"/>
                </a:moveTo>
                <a:lnTo>
                  <a:pt x="6096000" y="254174"/>
                </a:lnTo>
                <a:lnTo>
                  <a:pt x="609600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49"/>
          <p:cNvSpPr/>
          <p:nvPr/>
        </p:nvSpPr>
        <p:spPr>
          <a:xfrm>
            <a:off x="0" y="5080000"/>
            <a:ext cx="2590800" cy="255587"/>
          </a:xfrm>
          <a:custGeom>
            <a:rect b="b" l="l" r="r" t="t"/>
            <a:pathLst>
              <a:path extrusionOk="0" h="254635" w="2590800">
                <a:moveTo>
                  <a:pt x="0" y="254174"/>
                </a:moveTo>
                <a:lnTo>
                  <a:pt x="2590799" y="254174"/>
                </a:lnTo>
                <a:lnTo>
                  <a:pt x="25907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49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49"/>
          <p:cNvSpPr/>
          <p:nvPr/>
        </p:nvSpPr>
        <p:spPr>
          <a:xfrm>
            <a:off x="3048000" y="5588000"/>
            <a:ext cx="6096000" cy="255587"/>
          </a:xfrm>
          <a:custGeom>
            <a:rect b="b" l="l" r="r" t="t"/>
            <a:pathLst>
              <a:path extrusionOk="0" h="254635" w="6096000">
                <a:moveTo>
                  <a:pt x="0" y="254162"/>
                </a:moveTo>
                <a:lnTo>
                  <a:pt x="6096000" y="254162"/>
                </a:lnTo>
                <a:lnTo>
                  <a:pt x="60960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49"/>
          <p:cNvSpPr/>
          <p:nvPr/>
        </p:nvSpPr>
        <p:spPr>
          <a:xfrm>
            <a:off x="0" y="5588000"/>
            <a:ext cx="2590800" cy="255587"/>
          </a:xfrm>
          <a:custGeom>
            <a:rect b="b" l="l" r="r" t="t"/>
            <a:pathLst>
              <a:path extrusionOk="0" h="254635" w="2590800">
                <a:moveTo>
                  <a:pt x="0" y="254162"/>
                </a:moveTo>
                <a:lnTo>
                  <a:pt x="2590799" y="254162"/>
                </a:lnTo>
                <a:lnTo>
                  <a:pt x="25907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49"/>
          <p:cNvSpPr/>
          <p:nvPr/>
        </p:nvSpPr>
        <p:spPr>
          <a:xfrm>
            <a:off x="3048000" y="5843587"/>
            <a:ext cx="6096000" cy="254000"/>
          </a:xfrm>
          <a:custGeom>
            <a:rect b="b" l="l" r="r" t="t"/>
            <a:pathLst>
              <a:path extrusionOk="0" h="254000" w="6096000">
                <a:moveTo>
                  <a:pt x="0" y="253793"/>
                </a:moveTo>
                <a:lnTo>
                  <a:pt x="6096000" y="253793"/>
                </a:lnTo>
                <a:lnTo>
                  <a:pt x="609600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49"/>
          <p:cNvSpPr/>
          <p:nvPr/>
        </p:nvSpPr>
        <p:spPr>
          <a:xfrm>
            <a:off x="0" y="5843587"/>
            <a:ext cx="2590800" cy="254000"/>
          </a:xfrm>
          <a:custGeom>
            <a:rect b="b" l="l" r="r" t="t"/>
            <a:pathLst>
              <a:path extrusionOk="0" h="254000" w="2590800">
                <a:moveTo>
                  <a:pt x="0" y="253793"/>
                </a:moveTo>
                <a:lnTo>
                  <a:pt x="2590799" y="253793"/>
                </a:lnTo>
                <a:lnTo>
                  <a:pt x="25907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49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49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49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49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49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49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49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Division Operation – Example</a:t>
            </a:r>
            <a:endParaRPr/>
          </a:p>
        </p:txBody>
      </p:sp>
      <p:sp>
        <p:nvSpPr>
          <p:cNvPr id="2261" name="Google Shape;2261;p49"/>
          <p:cNvSpPr txBox="1"/>
          <p:nvPr/>
        </p:nvSpPr>
        <p:spPr>
          <a:xfrm>
            <a:off x="914400" y="1104900"/>
            <a:ext cx="2000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262" name="Google Shape;2262;p49"/>
          <p:cNvSpPr txBox="1"/>
          <p:nvPr/>
        </p:nvSpPr>
        <p:spPr>
          <a:xfrm>
            <a:off x="1257300" y="1163637"/>
            <a:ext cx="142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r, 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2263" name="Google Shape;2263;p49"/>
          <p:cNvSpPr txBox="1"/>
          <p:nvPr/>
        </p:nvSpPr>
        <p:spPr>
          <a:xfrm>
            <a:off x="914400" y="4902200"/>
            <a:ext cx="2000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264" name="Google Shape;2264;p49"/>
          <p:cNvSpPr txBox="1"/>
          <p:nvPr/>
        </p:nvSpPr>
        <p:spPr>
          <a:xfrm>
            <a:off x="1257300" y="4960937"/>
            <a:ext cx="533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÷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2265" name="Google Shape;2265;p49"/>
          <p:cNvSpPr/>
          <p:nvPr/>
        </p:nvSpPr>
        <p:spPr>
          <a:xfrm>
            <a:off x="2590800" y="48768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49"/>
          <p:cNvSpPr txBox="1"/>
          <p:nvPr/>
        </p:nvSpPr>
        <p:spPr>
          <a:xfrm>
            <a:off x="2590800" y="4876800"/>
            <a:ext cx="457200" cy="457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46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267" name="Google Shape;2267;p49"/>
          <p:cNvSpPr/>
          <p:nvPr/>
        </p:nvSpPr>
        <p:spPr>
          <a:xfrm>
            <a:off x="5295900" y="1371600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199" y="0"/>
                </a:moveTo>
                <a:lnTo>
                  <a:pt x="0" y="0"/>
                </a:lnTo>
                <a:lnTo>
                  <a:pt x="0" y="457199"/>
                </a:lnTo>
                <a:lnTo>
                  <a:pt x="457199" y="457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49"/>
          <p:cNvSpPr/>
          <p:nvPr/>
        </p:nvSpPr>
        <p:spPr>
          <a:xfrm>
            <a:off x="5295900" y="13716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5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57199" y="0"/>
                </a:lnTo>
                <a:lnTo>
                  <a:pt x="457199" y="457199"/>
                </a:lnTo>
                <a:lnTo>
                  <a:pt x="2285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49"/>
          <p:cNvSpPr txBox="1"/>
          <p:nvPr/>
        </p:nvSpPr>
        <p:spPr>
          <a:xfrm>
            <a:off x="5435600" y="1501775"/>
            <a:ext cx="177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270" name="Google Shape;2270;p49"/>
          <p:cNvSpPr/>
          <p:nvPr/>
        </p:nvSpPr>
        <p:spPr>
          <a:xfrm>
            <a:off x="2590800" y="5395912"/>
            <a:ext cx="457200" cy="762000"/>
          </a:xfrm>
          <a:custGeom>
            <a:rect b="b" l="l" r="r" t="t"/>
            <a:pathLst>
              <a:path extrusionOk="0" h="762000" w="457200">
                <a:moveTo>
                  <a:pt x="457199" y="0"/>
                </a:moveTo>
                <a:lnTo>
                  <a:pt x="0" y="0"/>
                </a:lnTo>
                <a:lnTo>
                  <a:pt x="0" y="761999"/>
                </a:lnTo>
                <a:lnTo>
                  <a:pt x="457199" y="7619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49"/>
          <p:cNvSpPr/>
          <p:nvPr/>
        </p:nvSpPr>
        <p:spPr>
          <a:xfrm>
            <a:off x="2590800" y="5395912"/>
            <a:ext cx="457200" cy="762000"/>
          </a:xfrm>
          <a:custGeom>
            <a:rect b="b" l="l" r="r" t="t"/>
            <a:pathLst>
              <a:path extrusionOk="0" h="762000" w="457200">
                <a:moveTo>
                  <a:pt x="228599" y="761999"/>
                </a:moveTo>
                <a:lnTo>
                  <a:pt x="0" y="761999"/>
                </a:lnTo>
                <a:lnTo>
                  <a:pt x="0" y="0"/>
                </a:lnTo>
                <a:lnTo>
                  <a:pt x="457199" y="0"/>
                </a:lnTo>
                <a:lnTo>
                  <a:pt x="457199" y="761999"/>
                </a:lnTo>
                <a:lnTo>
                  <a:pt x="228599" y="7619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49"/>
          <p:cNvSpPr txBox="1"/>
          <p:nvPr/>
        </p:nvSpPr>
        <p:spPr>
          <a:xfrm>
            <a:off x="2733675" y="5535612"/>
            <a:ext cx="17145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sp>
        <p:nvSpPr>
          <p:cNvPr id="2273" name="Google Shape;2273;p49"/>
          <p:cNvSpPr txBox="1"/>
          <p:nvPr/>
        </p:nvSpPr>
        <p:spPr>
          <a:xfrm>
            <a:off x="2744787" y="5948362"/>
            <a:ext cx="150812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endParaRPr/>
          </a:p>
        </p:txBody>
      </p:sp>
      <p:sp>
        <p:nvSpPr>
          <p:cNvPr id="2274" name="Google Shape;2274;p49"/>
          <p:cNvSpPr/>
          <p:nvPr/>
        </p:nvSpPr>
        <p:spPr>
          <a:xfrm>
            <a:off x="5295900" y="1905000"/>
            <a:ext cx="457200" cy="762000"/>
          </a:xfrm>
          <a:custGeom>
            <a:rect b="b" l="l" r="r" t="t"/>
            <a:pathLst>
              <a:path extrusionOk="0" h="762000" w="457200">
                <a:moveTo>
                  <a:pt x="457199" y="0"/>
                </a:moveTo>
                <a:lnTo>
                  <a:pt x="0" y="0"/>
                </a:lnTo>
                <a:lnTo>
                  <a:pt x="0" y="761999"/>
                </a:lnTo>
                <a:lnTo>
                  <a:pt x="457199" y="7619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49"/>
          <p:cNvSpPr/>
          <p:nvPr/>
        </p:nvSpPr>
        <p:spPr>
          <a:xfrm>
            <a:off x="5295900" y="1905000"/>
            <a:ext cx="457200" cy="762000"/>
          </a:xfrm>
          <a:custGeom>
            <a:rect b="b" l="l" r="r" t="t"/>
            <a:pathLst>
              <a:path extrusionOk="0" h="762000" w="457200">
                <a:moveTo>
                  <a:pt x="228599" y="761999"/>
                </a:moveTo>
                <a:lnTo>
                  <a:pt x="0" y="761999"/>
                </a:lnTo>
                <a:lnTo>
                  <a:pt x="0" y="0"/>
                </a:lnTo>
                <a:lnTo>
                  <a:pt x="457199" y="0"/>
                </a:lnTo>
                <a:lnTo>
                  <a:pt x="457199" y="761999"/>
                </a:lnTo>
                <a:lnTo>
                  <a:pt x="228599" y="7619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49"/>
          <p:cNvSpPr txBox="1"/>
          <p:nvPr/>
        </p:nvSpPr>
        <p:spPr>
          <a:xfrm>
            <a:off x="5448300" y="2051050"/>
            <a:ext cx="152400" cy="6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277" name="Google Shape;2277;p49"/>
          <p:cNvSpPr/>
          <p:nvPr/>
        </p:nvSpPr>
        <p:spPr>
          <a:xfrm>
            <a:off x="3467100" y="1219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49"/>
          <p:cNvSpPr/>
          <p:nvPr/>
        </p:nvSpPr>
        <p:spPr>
          <a:xfrm>
            <a:off x="3467100" y="1219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49"/>
          <p:cNvSpPr/>
          <p:nvPr/>
        </p:nvSpPr>
        <p:spPr>
          <a:xfrm>
            <a:off x="3924300" y="1219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49"/>
          <p:cNvSpPr/>
          <p:nvPr/>
        </p:nvSpPr>
        <p:spPr>
          <a:xfrm>
            <a:off x="3924300" y="1219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49"/>
          <p:cNvSpPr txBox="1"/>
          <p:nvPr/>
        </p:nvSpPr>
        <p:spPr>
          <a:xfrm>
            <a:off x="3606800" y="1387475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B</a:t>
            </a:r>
            <a:endParaRPr/>
          </a:p>
        </p:txBody>
      </p:sp>
      <p:sp>
        <p:nvSpPr>
          <p:cNvPr id="2282" name="Google Shape;2282;p49"/>
          <p:cNvSpPr/>
          <p:nvPr/>
        </p:nvSpPr>
        <p:spPr>
          <a:xfrm>
            <a:off x="3467100" y="1828800"/>
            <a:ext cx="457200" cy="3124200"/>
          </a:xfrm>
          <a:custGeom>
            <a:rect b="b" l="l" r="r" t="t"/>
            <a:pathLst>
              <a:path extrusionOk="0" h="3124200" w="457200">
                <a:moveTo>
                  <a:pt x="457199" y="0"/>
                </a:moveTo>
                <a:lnTo>
                  <a:pt x="0" y="0"/>
                </a:lnTo>
                <a:lnTo>
                  <a:pt x="0" y="3124199"/>
                </a:lnTo>
                <a:lnTo>
                  <a:pt x="457199" y="3124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49"/>
          <p:cNvSpPr/>
          <p:nvPr/>
        </p:nvSpPr>
        <p:spPr>
          <a:xfrm>
            <a:off x="3467100" y="1828800"/>
            <a:ext cx="457200" cy="3124200"/>
          </a:xfrm>
          <a:custGeom>
            <a:rect b="b" l="l" r="r" t="t"/>
            <a:pathLst>
              <a:path extrusionOk="0" h="3124200" w="457200">
                <a:moveTo>
                  <a:pt x="228599" y="3124199"/>
                </a:moveTo>
                <a:lnTo>
                  <a:pt x="0" y="3124199"/>
                </a:lnTo>
                <a:lnTo>
                  <a:pt x="0" y="0"/>
                </a:lnTo>
                <a:lnTo>
                  <a:pt x="457199" y="0"/>
                </a:lnTo>
                <a:lnTo>
                  <a:pt x="457199" y="3124199"/>
                </a:lnTo>
                <a:lnTo>
                  <a:pt x="228599" y="3124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49"/>
          <p:cNvSpPr/>
          <p:nvPr/>
        </p:nvSpPr>
        <p:spPr>
          <a:xfrm>
            <a:off x="3924300" y="1828800"/>
            <a:ext cx="457200" cy="3124200"/>
          </a:xfrm>
          <a:custGeom>
            <a:rect b="b" l="l" r="r" t="t"/>
            <a:pathLst>
              <a:path extrusionOk="0" h="3124200" w="457200">
                <a:moveTo>
                  <a:pt x="457199" y="0"/>
                </a:moveTo>
                <a:lnTo>
                  <a:pt x="0" y="0"/>
                </a:lnTo>
                <a:lnTo>
                  <a:pt x="0" y="3124199"/>
                </a:lnTo>
                <a:lnTo>
                  <a:pt x="457199" y="31241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5" name="Google Shape;2285;p49"/>
          <p:cNvSpPr/>
          <p:nvPr/>
        </p:nvSpPr>
        <p:spPr>
          <a:xfrm>
            <a:off x="3924300" y="1828800"/>
            <a:ext cx="457200" cy="3124200"/>
          </a:xfrm>
          <a:custGeom>
            <a:rect b="b" l="l" r="r" t="t"/>
            <a:pathLst>
              <a:path extrusionOk="0" h="3124200" w="457200">
                <a:moveTo>
                  <a:pt x="228599" y="3124199"/>
                </a:moveTo>
                <a:lnTo>
                  <a:pt x="0" y="3124199"/>
                </a:lnTo>
                <a:lnTo>
                  <a:pt x="0" y="0"/>
                </a:lnTo>
                <a:lnTo>
                  <a:pt x="457199" y="0"/>
                </a:lnTo>
                <a:lnTo>
                  <a:pt x="457199" y="3124199"/>
                </a:lnTo>
                <a:lnTo>
                  <a:pt x="228599" y="3124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p49"/>
          <p:cNvSpPr txBox="1"/>
          <p:nvPr/>
        </p:nvSpPr>
        <p:spPr>
          <a:xfrm>
            <a:off x="3609975" y="1916112"/>
            <a:ext cx="6191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287" name="Google Shape;2287;p49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288" name="Google Shape;2288;p49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289" name="Google Shape;2289;p49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290" name="Google Shape;2290;p49"/>
          <p:cNvSpPr txBox="1"/>
          <p:nvPr/>
        </p:nvSpPr>
        <p:spPr>
          <a:xfrm>
            <a:off x="3602037" y="2189162"/>
            <a:ext cx="627062" cy="273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0637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637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637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637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637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637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637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637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637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637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291" name="Google Shape;2291;p49"/>
          <p:cNvSpPr txBox="1"/>
          <p:nvPr/>
        </p:nvSpPr>
        <p:spPr>
          <a:xfrm>
            <a:off x="3851275" y="5038725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292" name="Google Shape;2292;p49"/>
          <p:cNvSpPr txBox="1"/>
          <p:nvPr/>
        </p:nvSpPr>
        <p:spPr>
          <a:xfrm>
            <a:off x="5451475" y="2828925"/>
            <a:ext cx="1397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p50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50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50"/>
          <p:cNvSpPr/>
          <p:nvPr/>
        </p:nvSpPr>
        <p:spPr>
          <a:xfrm>
            <a:off x="7010400" y="1519237"/>
            <a:ext cx="2133600" cy="255587"/>
          </a:xfrm>
          <a:custGeom>
            <a:rect b="b" l="l" r="r" t="t"/>
            <a:pathLst>
              <a:path extrusionOk="0" h="255905" w="2133600">
                <a:moveTo>
                  <a:pt x="0" y="255650"/>
                </a:moveTo>
                <a:lnTo>
                  <a:pt x="2133600" y="255650"/>
                </a:lnTo>
                <a:lnTo>
                  <a:pt x="213360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50"/>
          <p:cNvSpPr/>
          <p:nvPr/>
        </p:nvSpPr>
        <p:spPr>
          <a:xfrm>
            <a:off x="0" y="1519237"/>
            <a:ext cx="2705100" cy="255587"/>
          </a:xfrm>
          <a:custGeom>
            <a:rect b="b" l="l" r="r" t="t"/>
            <a:pathLst>
              <a:path extrusionOk="0" h="255905" w="2705100">
                <a:moveTo>
                  <a:pt x="0" y="255650"/>
                </a:moveTo>
                <a:lnTo>
                  <a:pt x="2705099" y="255650"/>
                </a:lnTo>
                <a:lnTo>
                  <a:pt x="27050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50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50"/>
          <p:cNvSpPr/>
          <p:nvPr/>
        </p:nvSpPr>
        <p:spPr>
          <a:xfrm>
            <a:off x="7010400" y="2027237"/>
            <a:ext cx="2133600" cy="255587"/>
          </a:xfrm>
          <a:custGeom>
            <a:rect b="b" l="l" r="r" t="t"/>
            <a:pathLst>
              <a:path extrusionOk="0" h="255905" w="2133600">
                <a:moveTo>
                  <a:pt x="0" y="255650"/>
                </a:moveTo>
                <a:lnTo>
                  <a:pt x="2133600" y="255650"/>
                </a:lnTo>
                <a:lnTo>
                  <a:pt x="213360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50"/>
          <p:cNvSpPr/>
          <p:nvPr/>
        </p:nvSpPr>
        <p:spPr>
          <a:xfrm>
            <a:off x="0" y="2027237"/>
            <a:ext cx="2705100" cy="255587"/>
          </a:xfrm>
          <a:custGeom>
            <a:rect b="b" l="l" r="r" t="t"/>
            <a:pathLst>
              <a:path extrusionOk="0" h="255905" w="2705100">
                <a:moveTo>
                  <a:pt x="0" y="255650"/>
                </a:moveTo>
                <a:lnTo>
                  <a:pt x="2705099" y="255650"/>
                </a:lnTo>
                <a:lnTo>
                  <a:pt x="27050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50"/>
          <p:cNvSpPr/>
          <p:nvPr/>
        </p:nvSpPr>
        <p:spPr>
          <a:xfrm>
            <a:off x="4991100" y="2282825"/>
            <a:ext cx="4152900" cy="255587"/>
          </a:xfrm>
          <a:custGeom>
            <a:rect b="b" l="l" r="r" t="t"/>
            <a:pathLst>
              <a:path extrusionOk="0" h="255905" w="4152900">
                <a:moveTo>
                  <a:pt x="0" y="255531"/>
                </a:moveTo>
                <a:lnTo>
                  <a:pt x="4152900" y="255531"/>
                </a:lnTo>
                <a:lnTo>
                  <a:pt x="41529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50"/>
          <p:cNvSpPr/>
          <p:nvPr/>
        </p:nvSpPr>
        <p:spPr>
          <a:xfrm>
            <a:off x="0" y="2282825"/>
            <a:ext cx="2705100" cy="255587"/>
          </a:xfrm>
          <a:custGeom>
            <a:rect b="b" l="l" r="r" t="t"/>
            <a:pathLst>
              <a:path extrusionOk="0" h="255905" w="2705100">
                <a:moveTo>
                  <a:pt x="0" y="255531"/>
                </a:moveTo>
                <a:lnTo>
                  <a:pt x="2705099" y="255531"/>
                </a:lnTo>
                <a:lnTo>
                  <a:pt x="27050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50"/>
          <p:cNvSpPr/>
          <p:nvPr/>
        </p:nvSpPr>
        <p:spPr>
          <a:xfrm>
            <a:off x="4991100" y="2538412"/>
            <a:ext cx="4152900" cy="252412"/>
          </a:xfrm>
          <a:custGeom>
            <a:rect b="b" l="l" r="r" t="t"/>
            <a:pathLst>
              <a:path extrusionOk="0" h="252730" w="4152900">
                <a:moveTo>
                  <a:pt x="0" y="252221"/>
                </a:moveTo>
                <a:lnTo>
                  <a:pt x="4152900" y="252221"/>
                </a:lnTo>
                <a:lnTo>
                  <a:pt x="415290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50"/>
          <p:cNvSpPr/>
          <p:nvPr/>
        </p:nvSpPr>
        <p:spPr>
          <a:xfrm>
            <a:off x="0" y="2538412"/>
            <a:ext cx="2705100" cy="252412"/>
          </a:xfrm>
          <a:custGeom>
            <a:rect b="b" l="l" r="r" t="t"/>
            <a:pathLst>
              <a:path extrusionOk="0" h="252730" w="2705100">
                <a:moveTo>
                  <a:pt x="0" y="252221"/>
                </a:moveTo>
                <a:lnTo>
                  <a:pt x="2705099" y="252221"/>
                </a:lnTo>
                <a:lnTo>
                  <a:pt x="27050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50"/>
          <p:cNvSpPr/>
          <p:nvPr/>
        </p:nvSpPr>
        <p:spPr>
          <a:xfrm>
            <a:off x="4991100" y="2790825"/>
            <a:ext cx="4152900" cy="255587"/>
          </a:xfrm>
          <a:custGeom>
            <a:rect b="b" l="l" r="r" t="t"/>
            <a:pathLst>
              <a:path extrusionOk="0" h="255905" w="4152900">
                <a:moveTo>
                  <a:pt x="0" y="255389"/>
                </a:moveTo>
                <a:lnTo>
                  <a:pt x="4152900" y="255389"/>
                </a:lnTo>
                <a:lnTo>
                  <a:pt x="4152900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50"/>
          <p:cNvSpPr/>
          <p:nvPr/>
        </p:nvSpPr>
        <p:spPr>
          <a:xfrm>
            <a:off x="0" y="2790825"/>
            <a:ext cx="2705100" cy="255587"/>
          </a:xfrm>
          <a:custGeom>
            <a:rect b="b" l="l" r="r" t="t"/>
            <a:pathLst>
              <a:path extrusionOk="0" h="255905" w="2705100">
                <a:moveTo>
                  <a:pt x="0" y="255389"/>
                </a:moveTo>
                <a:lnTo>
                  <a:pt x="2705099" y="255389"/>
                </a:lnTo>
                <a:lnTo>
                  <a:pt x="270509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50"/>
          <p:cNvSpPr/>
          <p:nvPr/>
        </p:nvSpPr>
        <p:spPr>
          <a:xfrm>
            <a:off x="4991100" y="3044825"/>
            <a:ext cx="4152900" cy="249237"/>
          </a:xfrm>
          <a:custGeom>
            <a:rect b="b" l="l" r="r" t="t"/>
            <a:pathLst>
              <a:path extrusionOk="0" h="248920" w="4152900">
                <a:moveTo>
                  <a:pt x="0" y="248792"/>
                </a:moveTo>
                <a:lnTo>
                  <a:pt x="4152900" y="248792"/>
                </a:lnTo>
                <a:lnTo>
                  <a:pt x="4152900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50"/>
          <p:cNvSpPr/>
          <p:nvPr/>
        </p:nvSpPr>
        <p:spPr>
          <a:xfrm>
            <a:off x="0" y="3044825"/>
            <a:ext cx="2705100" cy="249237"/>
          </a:xfrm>
          <a:custGeom>
            <a:rect b="b" l="l" r="r" t="t"/>
            <a:pathLst>
              <a:path extrusionOk="0" h="248920" w="2705100">
                <a:moveTo>
                  <a:pt x="0" y="248792"/>
                </a:moveTo>
                <a:lnTo>
                  <a:pt x="2705099" y="248792"/>
                </a:lnTo>
                <a:lnTo>
                  <a:pt x="2705099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50"/>
          <p:cNvSpPr/>
          <p:nvPr/>
        </p:nvSpPr>
        <p:spPr>
          <a:xfrm>
            <a:off x="4991100" y="3294062"/>
            <a:ext cx="4152900" cy="261937"/>
          </a:xfrm>
          <a:custGeom>
            <a:rect b="b" l="l" r="r" t="t"/>
            <a:pathLst>
              <a:path extrusionOk="0" h="262254" w="4152900">
                <a:moveTo>
                  <a:pt x="0" y="261699"/>
                </a:moveTo>
                <a:lnTo>
                  <a:pt x="4152900" y="261699"/>
                </a:lnTo>
                <a:lnTo>
                  <a:pt x="4152900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50"/>
          <p:cNvSpPr/>
          <p:nvPr/>
        </p:nvSpPr>
        <p:spPr>
          <a:xfrm>
            <a:off x="0" y="3294062"/>
            <a:ext cx="2705100" cy="261937"/>
          </a:xfrm>
          <a:custGeom>
            <a:rect b="b" l="l" r="r" t="t"/>
            <a:pathLst>
              <a:path extrusionOk="0" h="262254" w="2705100">
                <a:moveTo>
                  <a:pt x="0" y="261699"/>
                </a:moveTo>
                <a:lnTo>
                  <a:pt x="2705099" y="261699"/>
                </a:lnTo>
                <a:lnTo>
                  <a:pt x="2705099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50"/>
          <p:cNvSpPr/>
          <p:nvPr/>
        </p:nvSpPr>
        <p:spPr>
          <a:xfrm>
            <a:off x="4991100" y="3556000"/>
            <a:ext cx="4152900" cy="254000"/>
          </a:xfrm>
          <a:custGeom>
            <a:rect b="b" l="l" r="r" t="t"/>
            <a:pathLst>
              <a:path extrusionOk="0" h="254635" w="4152900">
                <a:moveTo>
                  <a:pt x="0" y="254162"/>
                </a:moveTo>
                <a:lnTo>
                  <a:pt x="4152900" y="254162"/>
                </a:lnTo>
                <a:lnTo>
                  <a:pt x="41529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p50"/>
          <p:cNvSpPr/>
          <p:nvPr/>
        </p:nvSpPr>
        <p:spPr>
          <a:xfrm>
            <a:off x="0" y="3556000"/>
            <a:ext cx="2705100" cy="254000"/>
          </a:xfrm>
          <a:custGeom>
            <a:rect b="b" l="l" r="r" t="t"/>
            <a:pathLst>
              <a:path extrusionOk="0" h="254635" w="2705100">
                <a:moveTo>
                  <a:pt x="0" y="254162"/>
                </a:moveTo>
                <a:lnTo>
                  <a:pt x="2705099" y="254162"/>
                </a:lnTo>
                <a:lnTo>
                  <a:pt x="27050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p50"/>
          <p:cNvSpPr/>
          <p:nvPr/>
        </p:nvSpPr>
        <p:spPr>
          <a:xfrm>
            <a:off x="4991100" y="3810000"/>
            <a:ext cx="4152900" cy="254000"/>
          </a:xfrm>
          <a:custGeom>
            <a:rect b="b" l="l" r="r" t="t"/>
            <a:pathLst>
              <a:path extrusionOk="0" h="254000" w="4152900">
                <a:moveTo>
                  <a:pt x="0" y="253805"/>
                </a:moveTo>
                <a:lnTo>
                  <a:pt x="4152900" y="253805"/>
                </a:lnTo>
                <a:lnTo>
                  <a:pt x="4152900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7" name="Google Shape;2317;p50"/>
          <p:cNvSpPr/>
          <p:nvPr/>
        </p:nvSpPr>
        <p:spPr>
          <a:xfrm>
            <a:off x="0" y="3810000"/>
            <a:ext cx="2705100" cy="254000"/>
          </a:xfrm>
          <a:custGeom>
            <a:rect b="b" l="l" r="r" t="t"/>
            <a:pathLst>
              <a:path extrusionOk="0" h="254000" w="2705100">
                <a:moveTo>
                  <a:pt x="0" y="253805"/>
                </a:moveTo>
                <a:lnTo>
                  <a:pt x="2705099" y="253805"/>
                </a:lnTo>
                <a:lnTo>
                  <a:pt x="2705099" y="0"/>
                </a:lnTo>
                <a:lnTo>
                  <a:pt x="0" y="0"/>
                </a:lnTo>
                <a:lnTo>
                  <a:pt x="0" y="253805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p50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9" name="Google Shape;2319;p50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p50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50"/>
          <p:cNvSpPr/>
          <p:nvPr/>
        </p:nvSpPr>
        <p:spPr>
          <a:xfrm>
            <a:off x="4876800" y="4826000"/>
            <a:ext cx="4267200" cy="254000"/>
          </a:xfrm>
          <a:custGeom>
            <a:rect b="b" l="l" r="r" t="t"/>
            <a:pathLst>
              <a:path extrusionOk="0" h="254000" w="4267200">
                <a:moveTo>
                  <a:pt x="0" y="253793"/>
                </a:moveTo>
                <a:lnTo>
                  <a:pt x="4267200" y="253793"/>
                </a:lnTo>
                <a:lnTo>
                  <a:pt x="426720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50"/>
          <p:cNvSpPr/>
          <p:nvPr/>
        </p:nvSpPr>
        <p:spPr>
          <a:xfrm>
            <a:off x="0" y="4826000"/>
            <a:ext cx="3505200" cy="254000"/>
          </a:xfrm>
          <a:custGeom>
            <a:rect b="b" l="l" r="r" t="t"/>
            <a:pathLst>
              <a:path extrusionOk="0" h="254000" w="3505200">
                <a:moveTo>
                  <a:pt x="0" y="253793"/>
                </a:moveTo>
                <a:lnTo>
                  <a:pt x="3505199" y="253793"/>
                </a:lnTo>
                <a:lnTo>
                  <a:pt x="35051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50"/>
          <p:cNvSpPr/>
          <p:nvPr/>
        </p:nvSpPr>
        <p:spPr>
          <a:xfrm>
            <a:off x="4876800" y="5080000"/>
            <a:ext cx="4267200" cy="255587"/>
          </a:xfrm>
          <a:custGeom>
            <a:rect b="b" l="l" r="r" t="t"/>
            <a:pathLst>
              <a:path extrusionOk="0" h="254635" w="4267200">
                <a:moveTo>
                  <a:pt x="0" y="254174"/>
                </a:moveTo>
                <a:lnTo>
                  <a:pt x="4267200" y="254174"/>
                </a:lnTo>
                <a:lnTo>
                  <a:pt x="426720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50"/>
          <p:cNvSpPr/>
          <p:nvPr/>
        </p:nvSpPr>
        <p:spPr>
          <a:xfrm>
            <a:off x="0" y="5080000"/>
            <a:ext cx="3505200" cy="255587"/>
          </a:xfrm>
          <a:custGeom>
            <a:rect b="b" l="l" r="r" t="t"/>
            <a:pathLst>
              <a:path extrusionOk="0" h="254635" w="3505200">
                <a:moveTo>
                  <a:pt x="0" y="254174"/>
                </a:moveTo>
                <a:lnTo>
                  <a:pt x="3505199" y="254174"/>
                </a:lnTo>
                <a:lnTo>
                  <a:pt x="35051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5" name="Google Shape;2325;p50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50"/>
          <p:cNvSpPr/>
          <p:nvPr/>
        </p:nvSpPr>
        <p:spPr>
          <a:xfrm>
            <a:off x="4876800" y="5588000"/>
            <a:ext cx="4267200" cy="255587"/>
          </a:xfrm>
          <a:custGeom>
            <a:rect b="b" l="l" r="r" t="t"/>
            <a:pathLst>
              <a:path extrusionOk="0" h="254635" w="4267200">
                <a:moveTo>
                  <a:pt x="0" y="254162"/>
                </a:moveTo>
                <a:lnTo>
                  <a:pt x="4267200" y="254162"/>
                </a:lnTo>
                <a:lnTo>
                  <a:pt x="42672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7" name="Google Shape;2327;p50"/>
          <p:cNvSpPr/>
          <p:nvPr/>
        </p:nvSpPr>
        <p:spPr>
          <a:xfrm>
            <a:off x="0" y="5588000"/>
            <a:ext cx="3505200" cy="255587"/>
          </a:xfrm>
          <a:custGeom>
            <a:rect b="b" l="l" r="r" t="t"/>
            <a:pathLst>
              <a:path extrusionOk="0" h="254635" w="3505200">
                <a:moveTo>
                  <a:pt x="0" y="254162"/>
                </a:moveTo>
                <a:lnTo>
                  <a:pt x="3505199" y="254162"/>
                </a:lnTo>
                <a:lnTo>
                  <a:pt x="35051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50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50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50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1" name="Google Shape;2331;p50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50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50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50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5" name="Google Shape;2335;p50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006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Another Division Example</a:t>
            </a:r>
            <a:endParaRPr/>
          </a:p>
        </p:txBody>
      </p:sp>
      <p:sp>
        <p:nvSpPr>
          <p:cNvPr id="2336" name="Google Shape;2336;p50"/>
          <p:cNvSpPr/>
          <p:nvPr/>
        </p:nvSpPr>
        <p:spPr>
          <a:xfrm>
            <a:off x="2705100" y="1371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7" name="Google Shape;2337;p50"/>
          <p:cNvSpPr/>
          <p:nvPr/>
        </p:nvSpPr>
        <p:spPr>
          <a:xfrm>
            <a:off x="3162300" y="1371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50"/>
          <p:cNvSpPr/>
          <p:nvPr/>
        </p:nvSpPr>
        <p:spPr>
          <a:xfrm>
            <a:off x="2705100" y="1981200"/>
            <a:ext cx="457200" cy="2209800"/>
          </a:xfrm>
          <a:custGeom>
            <a:rect b="b" l="l" r="r" t="t"/>
            <a:pathLst>
              <a:path extrusionOk="0" h="2209800" w="457200">
                <a:moveTo>
                  <a:pt x="457199" y="0"/>
                </a:moveTo>
                <a:lnTo>
                  <a:pt x="0" y="0"/>
                </a:lnTo>
                <a:lnTo>
                  <a:pt x="0" y="2209799"/>
                </a:lnTo>
                <a:lnTo>
                  <a:pt x="457199" y="22097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9" name="Google Shape;2339;p50"/>
          <p:cNvSpPr/>
          <p:nvPr/>
        </p:nvSpPr>
        <p:spPr>
          <a:xfrm>
            <a:off x="3162300" y="1981200"/>
            <a:ext cx="457200" cy="2209800"/>
          </a:xfrm>
          <a:custGeom>
            <a:rect b="b" l="l" r="r" t="t"/>
            <a:pathLst>
              <a:path extrusionOk="0" h="2209800" w="457200">
                <a:moveTo>
                  <a:pt x="457199" y="0"/>
                </a:moveTo>
                <a:lnTo>
                  <a:pt x="0" y="0"/>
                </a:lnTo>
                <a:lnTo>
                  <a:pt x="0" y="2209799"/>
                </a:lnTo>
                <a:lnTo>
                  <a:pt x="457199" y="22097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50"/>
          <p:cNvSpPr/>
          <p:nvPr/>
        </p:nvSpPr>
        <p:spPr>
          <a:xfrm>
            <a:off x="3619500" y="1371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p50"/>
          <p:cNvSpPr/>
          <p:nvPr/>
        </p:nvSpPr>
        <p:spPr>
          <a:xfrm>
            <a:off x="4076700" y="1371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50"/>
          <p:cNvSpPr/>
          <p:nvPr/>
        </p:nvSpPr>
        <p:spPr>
          <a:xfrm>
            <a:off x="3619500" y="1981200"/>
            <a:ext cx="457200" cy="2209800"/>
          </a:xfrm>
          <a:custGeom>
            <a:rect b="b" l="l" r="r" t="t"/>
            <a:pathLst>
              <a:path extrusionOk="0" h="2209800" w="457200">
                <a:moveTo>
                  <a:pt x="457199" y="0"/>
                </a:moveTo>
                <a:lnTo>
                  <a:pt x="0" y="0"/>
                </a:lnTo>
                <a:lnTo>
                  <a:pt x="0" y="2209799"/>
                </a:lnTo>
                <a:lnTo>
                  <a:pt x="457199" y="22097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50"/>
          <p:cNvSpPr/>
          <p:nvPr/>
        </p:nvSpPr>
        <p:spPr>
          <a:xfrm>
            <a:off x="4076700" y="1981200"/>
            <a:ext cx="457200" cy="2209800"/>
          </a:xfrm>
          <a:custGeom>
            <a:rect b="b" l="l" r="r" t="t"/>
            <a:pathLst>
              <a:path extrusionOk="0" h="2209800" w="457200">
                <a:moveTo>
                  <a:pt x="457199" y="0"/>
                </a:moveTo>
                <a:lnTo>
                  <a:pt x="0" y="0"/>
                </a:lnTo>
                <a:lnTo>
                  <a:pt x="0" y="2209799"/>
                </a:lnTo>
                <a:lnTo>
                  <a:pt x="457199" y="22097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50"/>
          <p:cNvSpPr/>
          <p:nvPr/>
        </p:nvSpPr>
        <p:spPr>
          <a:xfrm>
            <a:off x="4533900" y="1371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p50"/>
          <p:cNvSpPr/>
          <p:nvPr/>
        </p:nvSpPr>
        <p:spPr>
          <a:xfrm>
            <a:off x="4533900" y="1981200"/>
            <a:ext cx="457200" cy="2209800"/>
          </a:xfrm>
          <a:custGeom>
            <a:rect b="b" l="l" r="r" t="t"/>
            <a:pathLst>
              <a:path extrusionOk="0" h="2209800" w="457200">
                <a:moveTo>
                  <a:pt x="457199" y="0"/>
                </a:moveTo>
                <a:lnTo>
                  <a:pt x="0" y="0"/>
                </a:lnTo>
                <a:lnTo>
                  <a:pt x="0" y="2209799"/>
                </a:lnTo>
                <a:lnTo>
                  <a:pt x="457199" y="22097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6" name="Google Shape;2346;p50"/>
          <p:cNvSpPr/>
          <p:nvPr/>
        </p:nvSpPr>
        <p:spPr>
          <a:xfrm>
            <a:off x="6096000" y="1371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50"/>
          <p:cNvSpPr/>
          <p:nvPr/>
        </p:nvSpPr>
        <p:spPr>
          <a:xfrm>
            <a:off x="6096000" y="1371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50"/>
          <p:cNvSpPr/>
          <p:nvPr/>
        </p:nvSpPr>
        <p:spPr>
          <a:xfrm>
            <a:off x="6096000" y="1981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50"/>
          <p:cNvSpPr/>
          <p:nvPr/>
        </p:nvSpPr>
        <p:spPr>
          <a:xfrm>
            <a:off x="6096000" y="1981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50"/>
          <p:cNvSpPr/>
          <p:nvPr/>
        </p:nvSpPr>
        <p:spPr>
          <a:xfrm>
            <a:off x="6553200" y="1371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50"/>
          <p:cNvSpPr/>
          <p:nvPr/>
        </p:nvSpPr>
        <p:spPr>
          <a:xfrm>
            <a:off x="6553200" y="1371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50"/>
          <p:cNvSpPr/>
          <p:nvPr/>
        </p:nvSpPr>
        <p:spPr>
          <a:xfrm>
            <a:off x="6553200" y="1981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50"/>
          <p:cNvSpPr/>
          <p:nvPr/>
        </p:nvSpPr>
        <p:spPr>
          <a:xfrm>
            <a:off x="6553200" y="1981200"/>
            <a:ext cx="457200" cy="533400"/>
          </a:xfrm>
          <a:custGeom>
            <a:rect b="b" l="l" r="r" t="t"/>
            <a:pathLst>
              <a:path extrusionOk="0" h="533400" w="457200">
                <a:moveTo>
                  <a:pt x="228599" y="533399"/>
                </a:moveTo>
                <a:lnTo>
                  <a:pt x="0" y="533399"/>
                </a:lnTo>
                <a:lnTo>
                  <a:pt x="0" y="0"/>
                </a:lnTo>
                <a:lnTo>
                  <a:pt x="457199" y="0"/>
                </a:lnTo>
                <a:lnTo>
                  <a:pt x="457199" y="533399"/>
                </a:lnTo>
                <a:lnTo>
                  <a:pt x="228599" y="533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50"/>
          <p:cNvSpPr/>
          <p:nvPr/>
        </p:nvSpPr>
        <p:spPr>
          <a:xfrm>
            <a:off x="3505200" y="4800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50"/>
          <p:cNvSpPr/>
          <p:nvPr/>
        </p:nvSpPr>
        <p:spPr>
          <a:xfrm>
            <a:off x="3962400" y="4800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50"/>
          <p:cNvSpPr/>
          <p:nvPr/>
        </p:nvSpPr>
        <p:spPr>
          <a:xfrm>
            <a:off x="3505200" y="5410200"/>
            <a:ext cx="457200" cy="609600"/>
          </a:xfrm>
          <a:custGeom>
            <a:rect b="b" l="l" r="r" t="t"/>
            <a:pathLst>
              <a:path extrusionOk="0" h="609600" w="457200">
                <a:moveTo>
                  <a:pt x="457199" y="0"/>
                </a:moveTo>
                <a:lnTo>
                  <a:pt x="0" y="0"/>
                </a:lnTo>
                <a:lnTo>
                  <a:pt x="0" y="609599"/>
                </a:lnTo>
                <a:lnTo>
                  <a:pt x="457199" y="609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7" name="Google Shape;2357;p50"/>
          <p:cNvSpPr/>
          <p:nvPr/>
        </p:nvSpPr>
        <p:spPr>
          <a:xfrm>
            <a:off x="3962400" y="5410200"/>
            <a:ext cx="457200" cy="609600"/>
          </a:xfrm>
          <a:custGeom>
            <a:rect b="b" l="l" r="r" t="t"/>
            <a:pathLst>
              <a:path extrusionOk="0" h="609600" w="457200">
                <a:moveTo>
                  <a:pt x="457199" y="0"/>
                </a:moveTo>
                <a:lnTo>
                  <a:pt x="0" y="0"/>
                </a:lnTo>
                <a:lnTo>
                  <a:pt x="0" y="609599"/>
                </a:lnTo>
                <a:lnTo>
                  <a:pt x="457199" y="609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50"/>
          <p:cNvSpPr/>
          <p:nvPr/>
        </p:nvSpPr>
        <p:spPr>
          <a:xfrm>
            <a:off x="4419600" y="48006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50"/>
          <p:cNvSpPr/>
          <p:nvPr/>
        </p:nvSpPr>
        <p:spPr>
          <a:xfrm>
            <a:off x="4419600" y="5410200"/>
            <a:ext cx="457200" cy="609600"/>
          </a:xfrm>
          <a:custGeom>
            <a:rect b="b" l="l" r="r" t="t"/>
            <a:pathLst>
              <a:path extrusionOk="0" h="609600" w="457200">
                <a:moveTo>
                  <a:pt x="457199" y="0"/>
                </a:moveTo>
                <a:lnTo>
                  <a:pt x="0" y="0"/>
                </a:lnTo>
                <a:lnTo>
                  <a:pt x="0" y="609599"/>
                </a:lnTo>
                <a:lnTo>
                  <a:pt x="457199" y="6095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50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361" name="Google Shape;2361;p50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362" name="Google Shape;2362;p50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363" name="Google Shape;2363;p50"/>
          <p:cNvSpPr txBox="1"/>
          <p:nvPr/>
        </p:nvSpPr>
        <p:spPr>
          <a:xfrm>
            <a:off x="6480175" y="1539875"/>
            <a:ext cx="390525" cy="1328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" lvl="0" marL="238125" marR="0" rtl="0" algn="l">
              <a:lnSpc>
                <a:spcPct val="2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238125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238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aphicFrame>
        <p:nvGraphicFramePr>
          <p:cNvPr id="2364" name="Google Shape;2364;p50"/>
          <p:cNvGraphicFramePr/>
          <p:nvPr/>
        </p:nvGraphicFramePr>
        <p:xfrm>
          <a:off x="892175" y="10080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812925"/>
                <a:gridCol w="457200"/>
                <a:gridCol w="342900"/>
                <a:gridCol w="457200"/>
                <a:gridCol w="457200"/>
                <a:gridCol w="457200"/>
                <a:gridCol w="1565275"/>
              </a:tblGrid>
              <a:tr h="511175">
                <a:tc>
                  <a:txBody>
                    <a:bodyPr/>
                    <a:lstStyle/>
                    <a:p>
                      <a:pPr indent="-342900" lvl="0" marL="377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3200"/>
                        </a:buClr>
                        <a:buSzPts val="1800"/>
                        <a:buFont typeface="MS Gothic"/>
                        <a:buChar char="■"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Relations </a:t>
                      </a: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r, s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0" marB="0" marR="0" marL="0">
                    <a:solidFill>
                      <a:srgbClr val="E0E0E0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0E0E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7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6E6E6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7E7E7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8E8E8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9E9E9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AEAEA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β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EBEBEB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285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endParaRPr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  <a:tr h="762000">
                <a:tc>
                  <a:txBody>
                    <a:bodyPr/>
                    <a:lstStyle/>
                    <a:p>
                      <a:pPr indent="-342900" lvl="0" marL="377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3200"/>
                        </a:buClr>
                        <a:buSzPts val="1800"/>
                        <a:buFont typeface="MS Gothic"/>
                        <a:buChar char="■"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÷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0" marB="0" marR="0" marL="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65" name="Google Shape;2365;p50"/>
          <p:cNvGraphicFramePr/>
          <p:nvPr/>
        </p:nvGraphicFramePr>
        <p:xfrm>
          <a:off x="3500437" y="5405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457200"/>
                <a:gridCol w="457200"/>
                <a:gridCol w="45720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α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87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 b="0" i="0" sz="1800" u="non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γ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p51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51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51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51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51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51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51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51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8" name="Google Shape;2378;p51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51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51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51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51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51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51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51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51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51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51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51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51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51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2" name="Google Shape;2392;p51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5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4" name="Google Shape;2394;p51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51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51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006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Division Operation (Cont.)</a:t>
            </a:r>
            <a:endParaRPr/>
          </a:p>
        </p:txBody>
      </p:sp>
      <p:sp>
        <p:nvSpPr>
          <p:cNvPr id="2397" name="Google Shape;2397;p51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398" name="Google Shape;2398;p51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399" name="Google Shape;2399;p51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400" name="Google Shape;2400;p51"/>
          <p:cNvSpPr txBox="1"/>
          <p:nvPr/>
        </p:nvSpPr>
        <p:spPr>
          <a:xfrm>
            <a:off x="876300" y="1116012"/>
            <a:ext cx="16510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401" name="Google Shape;2401;p51"/>
          <p:cNvSpPr txBox="1"/>
          <p:nvPr/>
        </p:nvSpPr>
        <p:spPr>
          <a:xfrm>
            <a:off x="1217612" y="1155700"/>
            <a:ext cx="7921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/>
          </a:p>
        </p:txBody>
      </p:sp>
      <p:sp>
        <p:nvSpPr>
          <p:cNvPr id="2402" name="Google Shape;2402;p51"/>
          <p:cNvSpPr txBox="1"/>
          <p:nvPr/>
        </p:nvSpPr>
        <p:spPr>
          <a:xfrm>
            <a:off x="1333500" y="1462087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03" name="Google Shape;2403;p51"/>
          <p:cNvSpPr txBox="1"/>
          <p:nvPr/>
        </p:nvSpPr>
        <p:spPr>
          <a:xfrm>
            <a:off x="1617662" y="1487487"/>
            <a:ext cx="11588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= r 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÷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404" name="Google Shape;2404;p51"/>
          <p:cNvSpPr txBox="1"/>
          <p:nvPr/>
        </p:nvSpPr>
        <p:spPr>
          <a:xfrm>
            <a:off x="1333500" y="1793875"/>
            <a:ext cx="153987" cy="18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05" name="Google Shape;2405;p51"/>
          <p:cNvSpPr txBox="1"/>
          <p:nvPr/>
        </p:nvSpPr>
        <p:spPr>
          <a:xfrm>
            <a:off x="1617662" y="1820862"/>
            <a:ext cx="43608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largest relation satisfying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406" name="Google Shape;2406;p51"/>
          <p:cNvSpPr txBox="1"/>
          <p:nvPr/>
        </p:nvSpPr>
        <p:spPr>
          <a:xfrm>
            <a:off x="876300" y="2162175"/>
            <a:ext cx="16510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407" name="Google Shape;2407;p51"/>
          <p:cNvSpPr txBox="1"/>
          <p:nvPr/>
        </p:nvSpPr>
        <p:spPr>
          <a:xfrm>
            <a:off x="1217612" y="2200275"/>
            <a:ext cx="43830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 in terms of the basic algebra operation</a:t>
            </a:r>
            <a:endParaRPr/>
          </a:p>
        </p:txBody>
      </p:sp>
      <p:sp>
        <p:nvSpPr>
          <p:cNvPr id="2408" name="Google Shape;2408;p51"/>
          <p:cNvSpPr txBox="1"/>
          <p:nvPr/>
        </p:nvSpPr>
        <p:spPr>
          <a:xfrm>
            <a:off x="1217612" y="2492375"/>
            <a:ext cx="5253037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r(R)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s(S)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relations, and let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3375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÷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 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–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 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(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 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x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–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R-S,S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 To see why</a:t>
            </a:r>
            <a:endParaRPr/>
          </a:p>
        </p:txBody>
      </p:sp>
      <p:sp>
        <p:nvSpPr>
          <p:cNvPr id="2409" name="Google Shape;2409;p51"/>
          <p:cNvSpPr txBox="1"/>
          <p:nvPr/>
        </p:nvSpPr>
        <p:spPr>
          <a:xfrm>
            <a:off x="1333500" y="4189412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10" name="Google Shape;2410;p51"/>
          <p:cNvSpPr txBox="1"/>
          <p:nvPr/>
        </p:nvSpPr>
        <p:spPr>
          <a:xfrm>
            <a:off x="1617662" y="4216400"/>
            <a:ext cx="35147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R-S,S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simply reorders attributes of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411" name="Google Shape;2411;p51"/>
          <p:cNvSpPr txBox="1"/>
          <p:nvPr/>
        </p:nvSpPr>
        <p:spPr>
          <a:xfrm>
            <a:off x="1333500" y="4868862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12" name="Google Shape;2412;p51"/>
          <p:cNvSpPr txBox="1"/>
          <p:nvPr/>
        </p:nvSpPr>
        <p:spPr>
          <a:xfrm>
            <a:off x="1617662" y="4895850"/>
            <a:ext cx="48514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x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–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R-S,S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) gives those tuples t in</a:t>
            </a:r>
            <a:endParaRPr/>
          </a:p>
        </p:txBody>
      </p:sp>
      <p:sp>
        <p:nvSpPr>
          <p:cNvPr id="2413" name="Google Shape;2413;p51"/>
          <p:cNvSpPr txBox="1"/>
          <p:nvPr/>
        </p:nvSpPr>
        <p:spPr>
          <a:xfrm>
            <a:off x="1674812" y="5484812"/>
            <a:ext cx="4175125" cy="2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such that for some tuple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s, tu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∉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52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52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52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52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52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52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52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52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52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52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52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52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52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52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52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3" name="Google Shape;2433;p52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4" name="Google Shape;2434;p52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5" name="Google Shape;2435;p52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p52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52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52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52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52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5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52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52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52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3463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Assignment Operation</a:t>
            </a:r>
            <a:endParaRPr/>
          </a:p>
        </p:txBody>
      </p:sp>
      <p:sp>
        <p:nvSpPr>
          <p:cNvPr id="2445" name="Google Shape;2445;p52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446" name="Google Shape;2446;p52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447" name="Google Shape;2447;p52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448" name="Google Shape;2448;p52"/>
          <p:cNvSpPr txBox="1"/>
          <p:nvPr/>
        </p:nvSpPr>
        <p:spPr>
          <a:xfrm>
            <a:off x="915987" y="1147762"/>
            <a:ext cx="16351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449" name="Google Shape;2449;p52"/>
          <p:cNvSpPr txBox="1"/>
          <p:nvPr/>
        </p:nvSpPr>
        <p:spPr>
          <a:xfrm>
            <a:off x="1258887" y="1187450"/>
            <a:ext cx="6205537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assignment operation (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provides a convenient way to express</a:t>
            </a:r>
            <a:endParaRPr/>
          </a:p>
        </p:txBody>
      </p:sp>
      <p:sp>
        <p:nvSpPr>
          <p:cNvPr id="2450" name="Google Shape;2450;p52"/>
          <p:cNvSpPr txBox="1"/>
          <p:nvPr/>
        </p:nvSpPr>
        <p:spPr>
          <a:xfrm>
            <a:off x="1258887" y="1431925"/>
            <a:ext cx="15605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queries.</a:t>
            </a:r>
            <a:endParaRPr/>
          </a:p>
        </p:txBody>
      </p:sp>
      <p:sp>
        <p:nvSpPr>
          <p:cNvPr id="2451" name="Google Shape;2451;p52"/>
          <p:cNvSpPr txBox="1"/>
          <p:nvPr/>
        </p:nvSpPr>
        <p:spPr>
          <a:xfrm>
            <a:off x="1258887" y="1736725"/>
            <a:ext cx="153987" cy="18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52" name="Google Shape;2452;p52"/>
          <p:cNvSpPr txBox="1"/>
          <p:nvPr/>
        </p:nvSpPr>
        <p:spPr>
          <a:xfrm>
            <a:off x="1600200" y="1763712"/>
            <a:ext cx="4484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query as a sequential program consisting of</a:t>
            </a:r>
            <a:endParaRPr/>
          </a:p>
        </p:txBody>
      </p:sp>
      <p:sp>
        <p:nvSpPr>
          <p:cNvPr id="2453" name="Google Shape;2453;p52"/>
          <p:cNvSpPr txBox="1"/>
          <p:nvPr/>
        </p:nvSpPr>
        <p:spPr>
          <a:xfrm>
            <a:off x="1773237" y="2062162"/>
            <a:ext cx="14605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1200"/>
              <a:buFont typeface="Noto Sans Symbols"/>
              <a:buNone/>
            </a:pPr>
            <a:r>
              <a:rPr b="0" i="0" lang="en-US" sz="12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endParaRPr/>
          </a:p>
        </p:txBody>
      </p:sp>
      <p:sp>
        <p:nvSpPr>
          <p:cNvPr id="2454" name="Google Shape;2454;p52"/>
          <p:cNvSpPr txBox="1"/>
          <p:nvPr/>
        </p:nvSpPr>
        <p:spPr>
          <a:xfrm>
            <a:off x="2001837" y="2095500"/>
            <a:ext cx="21605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series of assignments</a:t>
            </a:r>
            <a:endParaRPr/>
          </a:p>
        </p:txBody>
      </p:sp>
      <p:sp>
        <p:nvSpPr>
          <p:cNvPr id="2455" name="Google Shape;2455;p52"/>
          <p:cNvSpPr txBox="1"/>
          <p:nvPr/>
        </p:nvSpPr>
        <p:spPr>
          <a:xfrm>
            <a:off x="1773237" y="2395537"/>
            <a:ext cx="14605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1200"/>
              <a:buFont typeface="Noto Sans Symbols"/>
              <a:buNone/>
            </a:pPr>
            <a:r>
              <a:rPr b="0" i="0" lang="en-US" sz="12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endParaRPr/>
          </a:p>
        </p:txBody>
      </p:sp>
      <p:sp>
        <p:nvSpPr>
          <p:cNvPr id="2456" name="Google Shape;2456;p52"/>
          <p:cNvSpPr txBox="1"/>
          <p:nvPr/>
        </p:nvSpPr>
        <p:spPr>
          <a:xfrm>
            <a:off x="2001837" y="2427287"/>
            <a:ext cx="58880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followed by an expression whose value is displayed as a result of</a:t>
            </a:r>
            <a:endParaRPr/>
          </a:p>
        </p:txBody>
      </p:sp>
      <p:sp>
        <p:nvSpPr>
          <p:cNvPr id="2457" name="Google Shape;2457;p52"/>
          <p:cNvSpPr txBox="1"/>
          <p:nvPr/>
        </p:nvSpPr>
        <p:spPr>
          <a:xfrm>
            <a:off x="2001837" y="2670175"/>
            <a:ext cx="927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query.</a:t>
            </a:r>
            <a:endParaRPr/>
          </a:p>
        </p:txBody>
      </p:sp>
      <p:sp>
        <p:nvSpPr>
          <p:cNvPr id="2458" name="Google Shape;2458;p52"/>
          <p:cNvSpPr txBox="1"/>
          <p:nvPr/>
        </p:nvSpPr>
        <p:spPr>
          <a:xfrm>
            <a:off x="1258887" y="2976562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59" name="Google Shape;2459;p52"/>
          <p:cNvSpPr txBox="1"/>
          <p:nvPr/>
        </p:nvSpPr>
        <p:spPr>
          <a:xfrm>
            <a:off x="1544637" y="3003550"/>
            <a:ext cx="60182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 must always be made to a temporary relation variable.</a:t>
            </a:r>
            <a:endParaRPr/>
          </a:p>
        </p:txBody>
      </p:sp>
      <p:sp>
        <p:nvSpPr>
          <p:cNvPr id="2460" name="Google Shape;2460;p52"/>
          <p:cNvSpPr txBox="1"/>
          <p:nvPr/>
        </p:nvSpPr>
        <p:spPr>
          <a:xfrm>
            <a:off x="915987" y="3294062"/>
            <a:ext cx="16351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461" name="Google Shape;2461;p52"/>
          <p:cNvSpPr txBox="1"/>
          <p:nvPr/>
        </p:nvSpPr>
        <p:spPr>
          <a:xfrm>
            <a:off x="1258887" y="3333750"/>
            <a:ext cx="2179637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Write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÷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endParaRPr/>
          </a:p>
        </p:txBody>
      </p:sp>
      <p:sp>
        <p:nvSpPr>
          <p:cNvPr id="2462" name="Google Shape;2462;p52"/>
          <p:cNvSpPr txBox="1"/>
          <p:nvPr/>
        </p:nvSpPr>
        <p:spPr>
          <a:xfrm>
            <a:off x="2743200" y="3749675"/>
            <a:ext cx="3527425" cy="938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temp1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 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temp2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 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temp1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–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R-S,S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temp1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temp2</a:t>
            </a:r>
            <a:endParaRPr/>
          </a:p>
        </p:txBody>
      </p:sp>
      <p:sp>
        <p:nvSpPr>
          <p:cNvPr id="2463" name="Google Shape;2463;p52"/>
          <p:cNvSpPr txBox="1"/>
          <p:nvPr/>
        </p:nvSpPr>
        <p:spPr>
          <a:xfrm>
            <a:off x="1258887" y="4837112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64" name="Google Shape;2464;p52"/>
          <p:cNvSpPr txBox="1"/>
          <p:nvPr/>
        </p:nvSpPr>
        <p:spPr>
          <a:xfrm>
            <a:off x="1544637" y="4864100"/>
            <a:ext cx="617378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result to the right of the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assigned to the relation variable on</a:t>
            </a:r>
            <a:endParaRPr/>
          </a:p>
        </p:txBody>
      </p:sp>
      <p:sp>
        <p:nvSpPr>
          <p:cNvPr id="2465" name="Google Shape;2465;p52"/>
          <p:cNvSpPr txBox="1"/>
          <p:nvPr/>
        </p:nvSpPr>
        <p:spPr>
          <a:xfrm>
            <a:off x="1544637" y="5180012"/>
            <a:ext cx="150971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left of the </a:t>
            </a:r>
            <a:r>
              <a:rPr b="0" i="0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466" name="Google Shape;2466;p52"/>
          <p:cNvSpPr txBox="1"/>
          <p:nvPr/>
        </p:nvSpPr>
        <p:spPr>
          <a:xfrm>
            <a:off x="1258887" y="5557837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67" name="Google Shape;2467;p52"/>
          <p:cNvSpPr txBox="1"/>
          <p:nvPr/>
        </p:nvSpPr>
        <p:spPr>
          <a:xfrm>
            <a:off x="1544637" y="5583237"/>
            <a:ext cx="40814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use variable in subsequent expressions.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53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53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53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53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53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53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53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53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53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53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2" name="Google Shape;2482;p53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3" name="Google Shape;2483;p53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53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53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53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53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53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53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53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53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53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53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4" name="Google Shape;2494;p53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5" name="Google Shape;2495;p5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6" name="Google Shape;2496;p53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53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8" name="Google Shape;2498;p5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4955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Bank Example Queries</a:t>
            </a:r>
            <a:endParaRPr/>
          </a:p>
        </p:txBody>
      </p:sp>
      <p:sp>
        <p:nvSpPr>
          <p:cNvPr id="2499" name="Google Shape;2499;p53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500" name="Google Shape;2500;p53"/>
          <p:cNvSpPr txBox="1"/>
          <p:nvPr/>
        </p:nvSpPr>
        <p:spPr>
          <a:xfrm>
            <a:off x="1166812" y="1162050"/>
            <a:ext cx="68627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names of all customers who have a loan and an account at</a:t>
            </a:r>
            <a:endParaRPr/>
          </a:p>
        </p:txBody>
      </p:sp>
      <p:sp>
        <p:nvSpPr>
          <p:cNvPr id="2501" name="Google Shape;2501;p53"/>
          <p:cNvSpPr txBox="1"/>
          <p:nvPr/>
        </p:nvSpPr>
        <p:spPr>
          <a:xfrm>
            <a:off x="1166812" y="1436687"/>
            <a:ext cx="6146800" cy="873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baseline="30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502" name="Google Shape;2502;p53"/>
          <p:cNvSpPr txBox="1"/>
          <p:nvPr/>
        </p:nvSpPr>
        <p:spPr>
          <a:xfrm>
            <a:off x="876300" y="29892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503" name="Google Shape;2503;p53"/>
          <p:cNvSpPr txBox="1"/>
          <p:nvPr/>
        </p:nvSpPr>
        <p:spPr>
          <a:xfrm>
            <a:off x="1217612" y="3035300"/>
            <a:ext cx="68897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name of all customers who have a loan at the bank and the</a:t>
            </a:r>
            <a:endParaRPr/>
          </a:p>
        </p:txBody>
      </p:sp>
      <p:sp>
        <p:nvSpPr>
          <p:cNvPr id="2504" name="Google Shape;2504;p53"/>
          <p:cNvSpPr txBox="1"/>
          <p:nvPr/>
        </p:nvSpPr>
        <p:spPr>
          <a:xfrm>
            <a:off x="1217612" y="3363912"/>
            <a:ext cx="12795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 amount</a:t>
            </a:r>
            <a:endParaRPr/>
          </a:p>
        </p:txBody>
      </p:sp>
      <p:sp>
        <p:nvSpPr>
          <p:cNvPr id="2505" name="Google Shape;2505;p53"/>
          <p:cNvSpPr txBox="1"/>
          <p:nvPr/>
        </p:nvSpPr>
        <p:spPr>
          <a:xfrm>
            <a:off x="1487487" y="3951287"/>
            <a:ext cx="4475162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customer_name, loan_number, amount 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(borrower</a:t>
            </a:r>
            <a:endParaRPr/>
          </a:p>
        </p:txBody>
      </p:sp>
      <p:sp>
        <p:nvSpPr>
          <p:cNvPr id="2506" name="Google Shape;2506;p53"/>
          <p:cNvSpPr txBox="1"/>
          <p:nvPr/>
        </p:nvSpPr>
        <p:spPr>
          <a:xfrm>
            <a:off x="6289675" y="3951287"/>
            <a:ext cx="592137" cy="2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loan)</a:t>
            </a:r>
            <a:endParaRPr/>
          </a:p>
        </p:txBody>
      </p:sp>
      <p:sp>
        <p:nvSpPr>
          <p:cNvPr id="2507" name="Google Shape;2507;p53"/>
          <p:cNvSpPr/>
          <p:nvPr/>
        </p:nvSpPr>
        <p:spPr>
          <a:xfrm>
            <a:off x="6477000" y="3962400"/>
            <a:ext cx="184150" cy="152400"/>
          </a:xfrm>
          <a:custGeom>
            <a:rect b="b" l="l" r="r" t="t"/>
            <a:pathLst>
              <a:path extrusionOk="0" h="152400" w="184150">
                <a:moveTo>
                  <a:pt x="184160" y="152399"/>
                </a:moveTo>
                <a:lnTo>
                  <a:pt x="0" y="0"/>
                </a:lnTo>
                <a:lnTo>
                  <a:pt x="0" y="152399"/>
                </a:lnTo>
                <a:lnTo>
                  <a:pt x="184160" y="0"/>
                </a:lnTo>
                <a:lnTo>
                  <a:pt x="184160" y="152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8" name="Google Shape;2508;p53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509" name="Google Shape;2509;p53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510" name="Google Shape;2510;p53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p54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54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54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54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54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54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p54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54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3" name="Google Shape;2523;p54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54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p54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54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7" name="Google Shape;2527;p54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54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p54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p54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54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54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3" name="Google Shape;2533;p54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54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5" name="Google Shape;2535;p54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54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54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5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54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54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54"/>
          <p:cNvSpPr/>
          <p:nvPr/>
        </p:nvSpPr>
        <p:spPr>
          <a:xfrm>
            <a:off x="5741987" y="3838575"/>
            <a:ext cx="152400" cy="196850"/>
          </a:xfrm>
          <a:custGeom>
            <a:rect b="b" l="l" r="r" t="t"/>
            <a:pathLst>
              <a:path extrusionOk="0" h="196850" w="152400">
                <a:moveTo>
                  <a:pt x="152399" y="196858"/>
                </a:moveTo>
                <a:lnTo>
                  <a:pt x="0" y="0"/>
                </a:lnTo>
                <a:lnTo>
                  <a:pt x="0" y="196858"/>
                </a:lnTo>
                <a:lnTo>
                  <a:pt x="152399" y="0"/>
                </a:lnTo>
                <a:lnTo>
                  <a:pt x="152399" y="196858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54"/>
          <p:cNvSpPr txBox="1"/>
          <p:nvPr/>
        </p:nvSpPr>
        <p:spPr>
          <a:xfrm>
            <a:off x="1143000" y="1436687"/>
            <a:ext cx="2838450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5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Uptown” branches.</a:t>
            </a:r>
            <a:endParaRPr/>
          </a:p>
          <a:p>
            <a:pPr indent="-92583" lvl="0" marL="857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C6500"/>
              </a:buClr>
              <a:buSzPts val="1458"/>
              <a:buFont typeface="MS Gothic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1</a:t>
            </a:r>
            <a:endParaRPr/>
          </a:p>
        </p:txBody>
      </p:sp>
      <p:sp>
        <p:nvSpPr>
          <p:cNvPr id="2543" name="Google Shape;2543;p54"/>
          <p:cNvSpPr txBox="1"/>
          <p:nvPr/>
        </p:nvSpPr>
        <p:spPr>
          <a:xfrm>
            <a:off x="1600200" y="2224087"/>
            <a:ext cx="4638675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57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None/>
            </a:pP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33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“Downtown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</a:t>
            </a:r>
            <a:endParaRPr/>
          </a:p>
        </p:txBody>
      </p:sp>
      <p:sp>
        <p:nvSpPr>
          <p:cNvPr id="2544" name="Google Shape;2544;p54"/>
          <p:cNvSpPr txBox="1"/>
          <p:nvPr/>
        </p:nvSpPr>
        <p:spPr>
          <a:xfrm>
            <a:off x="6597650" y="2262187"/>
            <a:ext cx="127952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endParaRPr/>
          </a:p>
        </p:txBody>
      </p:sp>
      <p:sp>
        <p:nvSpPr>
          <p:cNvPr id="2545" name="Google Shape;2545;p54"/>
          <p:cNvSpPr txBox="1"/>
          <p:nvPr/>
        </p:nvSpPr>
        <p:spPr>
          <a:xfrm>
            <a:off x="2112962" y="2779712"/>
            <a:ext cx="4386262" cy="34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57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None/>
            </a:pP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33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“Uptown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</a:t>
            </a:r>
            <a:endParaRPr/>
          </a:p>
        </p:txBody>
      </p:sp>
      <p:sp>
        <p:nvSpPr>
          <p:cNvPr id="2546" name="Google Shape;2546;p54"/>
          <p:cNvSpPr txBox="1"/>
          <p:nvPr/>
        </p:nvSpPr>
        <p:spPr>
          <a:xfrm>
            <a:off x="6792912" y="2817812"/>
            <a:ext cx="9763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/>
          </a:p>
        </p:txBody>
      </p:sp>
      <p:sp>
        <p:nvSpPr>
          <p:cNvPr id="2547" name="Google Shape;2547;p54"/>
          <p:cNvSpPr txBox="1"/>
          <p:nvPr/>
        </p:nvSpPr>
        <p:spPr>
          <a:xfrm>
            <a:off x="1371600" y="338613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65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65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548" name="Google Shape;2548;p54"/>
          <p:cNvSpPr txBox="1"/>
          <p:nvPr/>
        </p:nvSpPr>
        <p:spPr>
          <a:xfrm>
            <a:off x="1651000" y="3416300"/>
            <a:ext cx="838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2</a:t>
            </a:r>
            <a:endParaRPr/>
          </a:p>
        </p:txBody>
      </p:sp>
      <p:sp>
        <p:nvSpPr>
          <p:cNvPr id="2549" name="Google Shape;2549;p54"/>
          <p:cNvSpPr txBox="1"/>
          <p:nvPr/>
        </p:nvSpPr>
        <p:spPr>
          <a:xfrm>
            <a:off x="1716087" y="3932237"/>
            <a:ext cx="3611562" cy="315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None/>
            </a:pP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customer_name, branch_name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</a:t>
            </a:r>
            <a:endParaRPr/>
          </a:p>
        </p:txBody>
      </p:sp>
      <p:sp>
        <p:nvSpPr>
          <p:cNvPr id="2550" name="Google Shape;2550;p54"/>
          <p:cNvSpPr txBox="1"/>
          <p:nvPr/>
        </p:nvSpPr>
        <p:spPr>
          <a:xfrm>
            <a:off x="5686425" y="3932237"/>
            <a:ext cx="9001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551" name="Google Shape;2551;p54"/>
          <p:cNvSpPr txBox="1"/>
          <p:nvPr/>
        </p:nvSpPr>
        <p:spPr>
          <a:xfrm>
            <a:off x="1371600" y="4389437"/>
            <a:ext cx="5795962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968375" lvl="0" marL="12700" marR="0" rtl="0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÷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b="0" baseline="-2500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temp(branch_name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({(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“Downtown”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“Uptown”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)}) Note that Query 2 uses a constant relation.</a:t>
            </a:r>
            <a:endParaRPr/>
          </a:p>
        </p:txBody>
      </p:sp>
      <p:sp>
        <p:nvSpPr>
          <p:cNvPr id="2552" name="Google Shape;2552;p54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60826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Bank Example Queries</a:t>
            </a:r>
            <a:endParaRPr/>
          </a:p>
        </p:txBody>
      </p:sp>
      <p:sp>
        <p:nvSpPr>
          <p:cNvPr id="2553" name="Google Shape;2553;p54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554" name="Google Shape;2554;p54"/>
          <p:cNvSpPr txBox="1"/>
          <p:nvPr/>
        </p:nvSpPr>
        <p:spPr>
          <a:xfrm>
            <a:off x="1217612" y="1163637"/>
            <a:ext cx="70786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all customers who have an account from at least the “Downtown”</a:t>
            </a:r>
            <a:endParaRPr/>
          </a:p>
        </p:txBody>
      </p:sp>
      <p:sp>
        <p:nvSpPr>
          <p:cNvPr id="2555" name="Google Shape;2555;p54"/>
          <p:cNvSpPr/>
          <p:nvPr/>
        </p:nvSpPr>
        <p:spPr>
          <a:xfrm>
            <a:off x="6856412" y="2284412"/>
            <a:ext cx="182562" cy="153987"/>
          </a:xfrm>
          <a:custGeom>
            <a:rect b="b" l="l" r="r" t="t"/>
            <a:pathLst>
              <a:path extrusionOk="0" h="153669" w="182879">
                <a:moveTo>
                  <a:pt x="182879" y="153680"/>
                </a:moveTo>
                <a:lnTo>
                  <a:pt x="0" y="0"/>
                </a:lnTo>
                <a:lnTo>
                  <a:pt x="0" y="153680"/>
                </a:lnTo>
                <a:lnTo>
                  <a:pt x="182879" y="0"/>
                </a:lnTo>
                <a:lnTo>
                  <a:pt x="182879" y="15368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6" name="Google Shape;2556;p54"/>
          <p:cNvSpPr/>
          <p:nvPr/>
        </p:nvSpPr>
        <p:spPr>
          <a:xfrm>
            <a:off x="7010400" y="2819400"/>
            <a:ext cx="184150" cy="152400"/>
          </a:xfrm>
          <a:custGeom>
            <a:rect b="b" l="l" r="r" t="t"/>
            <a:pathLst>
              <a:path extrusionOk="0" h="152400" w="184150">
                <a:moveTo>
                  <a:pt x="184160" y="152399"/>
                </a:moveTo>
                <a:lnTo>
                  <a:pt x="0" y="0"/>
                </a:lnTo>
                <a:lnTo>
                  <a:pt x="0" y="152399"/>
                </a:lnTo>
                <a:lnTo>
                  <a:pt x="184160" y="0"/>
                </a:lnTo>
                <a:lnTo>
                  <a:pt x="184160" y="152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7" name="Google Shape;2557;p54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558" name="Google Shape;2558;p54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559" name="Google Shape;2559;p54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55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5" name="Google Shape;2565;p55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p55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55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8" name="Google Shape;2568;p55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9" name="Google Shape;2569;p55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0" name="Google Shape;2570;p55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1" name="Google Shape;2571;p55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55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3" name="Google Shape;2573;p55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55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5" name="Google Shape;2575;p55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6" name="Google Shape;2576;p55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p55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p55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p55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0" name="Google Shape;2580;p55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p55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2" name="Google Shape;2582;p55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3" name="Google Shape;2583;p55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4" name="Google Shape;2584;p55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p55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p55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5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8" name="Google Shape;2588;p55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55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p55"/>
          <p:cNvSpPr txBox="1"/>
          <p:nvPr/>
        </p:nvSpPr>
        <p:spPr>
          <a:xfrm>
            <a:off x="876300" y="11731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591" name="Google Shape;2591;p55"/>
          <p:cNvSpPr txBox="1"/>
          <p:nvPr/>
        </p:nvSpPr>
        <p:spPr>
          <a:xfrm>
            <a:off x="1217612" y="1216025"/>
            <a:ext cx="6683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all customers who have an account at all branches located in</a:t>
            </a:r>
            <a:endParaRPr/>
          </a:p>
        </p:txBody>
      </p:sp>
      <p:sp>
        <p:nvSpPr>
          <p:cNvPr id="2592" name="Google Shape;2592;p55"/>
          <p:cNvSpPr txBox="1"/>
          <p:nvPr/>
        </p:nvSpPr>
        <p:spPr>
          <a:xfrm>
            <a:off x="1217612" y="1544637"/>
            <a:ext cx="13843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Brooklyn city.</a:t>
            </a:r>
            <a:endParaRPr/>
          </a:p>
        </p:txBody>
      </p:sp>
      <p:sp>
        <p:nvSpPr>
          <p:cNvPr id="2593" name="Google Shape;2593;p55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324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Bank Example Queries</a:t>
            </a:r>
            <a:endParaRPr/>
          </a:p>
        </p:txBody>
      </p:sp>
      <p:sp>
        <p:nvSpPr>
          <p:cNvPr id="2594" name="Google Shape;2594;p55"/>
          <p:cNvSpPr/>
          <p:nvPr/>
        </p:nvSpPr>
        <p:spPr>
          <a:xfrm>
            <a:off x="6127750" y="2079625"/>
            <a:ext cx="174625" cy="150812"/>
          </a:xfrm>
          <a:custGeom>
            <a:rect b="b" l="l" r="r" t="t"/>
            <a:pathLst>
              <a:path extrusionOk="0" h="149860" w="173989">
                <a:moveTo>
                  <a:pt x="0" y="149870"/>
                </a:moveTo>
                <a:lnTo>
                  <a:pt x="173979" y="0"/>
                </a:lnTo>
                <a:lnTo>
                  <a:pt x="173979" y="149870"/>
                </a:lnTo>
                <a:lnTo>
                  <a:pt x="0" y="0"/>
                </a:lnTo>
                <a:lnTo>
                  <a:pt x="0" y="14987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55"/>
          <p:cNvSpPr txBox="1"/>
          <p:nvPr/>
        </p:nvSpPr>
        <p:spPr>
          <a:xfrm>
            <a:off x="1843087" y="2001837"/>
            <a:ext cx="3919537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837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Noto Sans Symbols"/>
              <a:buNone/>
            </a:pP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customer_name, branch_name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</a:t>
            </a:r>
            <a:endParaRPr/>
          </a:p>
        </p:txBody>
      </p:sp>
      <p:sp>
        <p:nvSpPr>
          <p:cNvPr id="2596" name="Google Shape;2596;p55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597" name="Google Shape;2597;p55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598" name="Google Shape;2598;p55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599" name="Google Shape;2599;p55"/>
          <p:cNvSpPr txBox="1"/>
          <p:nvPr/>
        </p:nvSpPr>
        <p:spPr>
          <a:xfrm>
            <a:off x="6086475" y="2046287"/>
            <a:ext cx="1006475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600" name="Google Shape;2600;p55"/>
          <p:cNvSpPr txBox="1"/>
          <p:nvPr/>
        </p:nvSpPr>
        <p:spPr>
          <a:xfrm>
            <a:off x="1843087" y="2498725"/>
            <a:ext cx="4957762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837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Noto Sans Symbols"/>
              <a:buNone/>
            </a:pP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÷</a:t>
            </a:r>
            <a:r>
              <a:rPr b="0" baseline="30000" i="0" lang="en-US" sz="3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branch_city 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“Brooklyn”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4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p56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6" name="Google Shape;2606;p56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56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p56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56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0" name="Google Shape;2610;p56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56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56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56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56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p56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56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56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8" name="Google Shape;2618;p56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56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0" name="Google Shape;2620;p56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1" name="Google Shape;2621;p56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2" name="Google Shape;2622;p56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3" name="Google Shape;2623;p56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4" name="Google Shape;2624;p56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5" name="Google Shape;2625;p56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6" name="Google Shape;2626;p56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7" name="Google Shape;2627;p56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8" name="Google Shape;2628;p5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56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56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1" name="Google Shape;2631;p56"/>
          <p:cNvSpPr txBox="1"/>
          <p:nvPr/>
        </p:nvSpPr>
        <p:spPr>
          <a:xfrm>
            <a:off x="1146175" y="214312"/>
            <a:ext cx="7842250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Extended Relational-Algebra-Operations</a:t>
            </a:r>
            <a:endParaRPr/>
          </a:p>
        </p:txBody>
      </p:sp>
      <p:sp>
        <p:nvSpPr>
          <p:cNvPr id="2632" name="Google Shape;2632;p56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633" name="Google Shape;2633;p56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634" name="Google Shape;2634;p56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635" name="Google Shape;2635;p56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636" name="Google Shape;2636;p56"/>
          <p:cNvSpPr txBox="1"/>
          <p:nvPr/>
        </p:nvSpPr>
        <p:spPr>
          <a:xfrm>
            <a:off x="1217612" y="1162050"/>
            <a:ext cx="23320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Generalized Projection</a:t>
            </a:r>
            <a:endParaRPr/>
          </a:p>
        </p:txBody>
      </p:sp>
      <p:sp>
        <p:nvSpPr>
          <p:cNvPr id="2637" name="Google Shape;2637;p56"/>
          <p:cNvSpPr txBox="1"/>
          <p:nvPr/>
        </p:nvSpPr>
        <p:spPr>
          <a:xfrm>
            <a:off x="874712" y="1490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638" name="Google Shape;2638;p56"/>
          <p:cNvSpPr txBox="1"/>
          <p:nvPr/>
        </p:nvSpPr>
        <p:spPr>
          <a:xfrm>
            <a:off x="1217612" y="1536700"/>
            <a:ext cx="21304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Aggregate Functions</a:t>
            </a:r>
            <a:endParaRPr/>
          </a:p>
        </p:txBody>
      </p:sp>
      <p:sp>
        <p:nvSpPr>
          <p:cNvPr id="2639" name="Google Shape;2639;p56"/>
          <p:cNvSpPr txBox="1"/>
          <p:nvPr/>
        </p:nvSpPr>
        <p:spPr>
          <a:xfrm>
            <a:off x="874712" y="18653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640" name="Google Shape;2640;p56"/>
          <p:cNvSpPr txBox="1"/>
          <p:nvPr/>
        </p:nvSpPr>
        <p:spPr>
          <a:xfrm>
            <a:off x="1217612" y="1909762"/>
            <a:ext cx="10810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Outer Join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4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Google Shape;2645;p57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6" name="Google Shape;2646;p57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7" name="Google Shape;2647;p57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8" name="Google Shape;2648;p57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9" name="Google Shape;2649;p57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p57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1" name="Google Shape;2651;p57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p57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3" name="Google Shape;2653;p57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4" name="Google Shape;2654;p57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5" name="Google Shape;2655;p57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6" name="Google Shape;2656;p57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7" name="Google Shape;2657;p57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p57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p57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0" name="Google Shape;2660;p57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p57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p57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3" name="Google Shape;2663;p57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57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5" name="Google Shape;2665;p57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6" name="Google Shape;2666;p57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7" name="Google Shape;2667;p57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57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9" name="Google Shape;2669;p57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57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1" name="Google Shape;2671;p57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324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Generalized Projection</a:t>
            </a:r>
            <a:endParaRPr/>
          </a:p>
        </p:txBody>
      </p:sp>
      <p:sp>
        <p:nvSpPr>
          <p:cNvPr id="2672" name="Google Shape;2672;p57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673" name="Google Shape;2673;p57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674" name="Google Shape;2674;p57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675" name="Google Shape;2675;p57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676" name="Google Shape;2676;p57"/>
          <p:cNvSpPr txBox="1"/>
          <p:nvPr/>
        </p:nvSpPr>
        <p:spPr>
          <a:xfrm>
            <a:off x="1217612" y="1162050"/>
            <a:ext cx="70897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Extends the projection operation by allowing arithmetic functions to be</a:t>
            </a:r>
            <a:endParaRPr/>
          </a:p>
        </p:txBody>
      </p:sp>
      <p:sp>
        <p:nvSpPr>
          <p:cNvPr id="2677" name="Google Shape;2677;p57"/>
          <p:cNvSpPr txBox="1"/>
          <p:nvPr/>
        </p:nvSpPr>
        <p:spPr>
          <a:xfrm>
            <a:off x="1217612" y="1436687"/>
            <a:ext cx="26003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the projection list.</a:t>
            </a:r>
            <a:endParaRPr/>
          </a:p>
        </p:txBody>
      </p:sp>
      <p:sp>
        <p:nvSpPr>
          <p:cNvPr id="2678" name="Google Shape;2678;p57"/>
          <p:cNvSpPr txBox="1"/>
          <p:nvPr/>
        </p:nvSpPr>
        <p:spPr>
          <a:xfrm>
            <a:off x="876300" y="25892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679" name="Google Shape;2679;p57"/>
          <p:cNvSpPr txBox="1"/>
          <p:nvPr/>
        </p:nvSpPr>
        <p:spPr>
          <a:xfrm>
            <a:off x="1217612" y="2136775"/>
            <a:ext cx="3827462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25611" marR="0" rtl="0" algn="ctr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None/>
            </a:pPr>
            <a:r>
              <a:rPr b="0" i="0" lang="en-US" sz="23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-2500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b="0" i="0" lang="en-US" sz="2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baseline="-2500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 </a:t>
            </a:r>
            <a:r>
              <a:rPr b="0" i="0" lang="en-US" sz="2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,..., </a:t>
            </a:r>
            <a:r>
              <a:rPr b="0" baseline="-2500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 </a:t>
            </a:r>
            <a:r>
              <a:rPr b="0" i="0" lang="en-US" sz="2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2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1725611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2	</a:t>
            </a:r>
            <a:r>
              <a:rPr b="0" i="1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9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2561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any relational-algebra expression</a:t>
            </a:r>
            <a:endParaRPr/>
          </a:p>
        </p:txBody>
      </p:sp>
      <p:sp>
        <p:nvSpPr>
          <p:cNvPr id="2680" name="Google Shape;2680;p57"/>
          <p:cNvSpPr txBox="1"/>
          <p:nvPr/>
        </p:nvSpPr>
        <p:spPr>
          <a:xfrm>
            <a:off x="876300" y="3055937"/>
            <a:ext cx="76200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1312" lvl="0" marL="354012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2"/>
              <a:buFont typeface="MS Gothic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are arithmetic expressions involving constants and attributes in the schema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681" name="Google Shape;2681;p57"/>
          <p:cNvSpPr txBox="1"/>
          <p:nvPr/>
        </p:nvSpPr>
        <p:spPr>
          <a:xfrm>
            <a:off x="876300" y="37861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682" name="Google Shape;2682;p57"/>
          <p:cNvSpPr txBox="1"/>
          <p:nvPr/>
        </p:nvSpPr>
        <p:spPr>
          <a:xfrm>
            <a:off x="1217612" y="3830637"/>
            <a:ext cx="6975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relation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credit_info(customer_name, limit, credit_balance),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</a:t>
            </a:r>
            <a:endParaRPr/>
          </a:p>
        </p:txBody>
      </p:sp>
      <p:sp>
        <p:nvSpPr>
          <p:cNvPr id="2683" name="Google Shape;2683;p57"/>
          <p:cNvSpPr txBox="1"/>
          <p:nvPr/>
        </p:nvSpPr>
        <p:spPr>
          <a:xfrm>
            <a:off x="1217612" y="4105275"/>
            <a:ext cx="4921250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much more each person can spend: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None/>
            </a:pP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customer_name, limit – credit_balance 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(credit_info)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7" name="Shape 2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Google Shape;2688;p58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58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0" name="Google Shape;2690;p58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58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58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3" name="Google Shape;2693;p58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58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58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6" name="Google Shape;2696;p58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7" name="Google Shape;2697;p58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8" name="Google Shape;2698;p58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p58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0" name="Google Shape;2700;p58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p58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2" name="Google Shape;2702;p58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58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4" name="Google Shape;2704;p58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p58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6" name="Google Shape;2706;p58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7" name="Google Shape;2707;p58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8" name="Google Shape;2708;p58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9" name="Google Shape;2709;p58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0" name="Google Shape;2710;p58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1" name="Google Shape;2711;p58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2" name="Google Shape;2712;p58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p58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4" name="Google Shape;2714;p58"/>
          <p:cNvSpPr txBox="1"/>
          <p:nvPr/>
        </p:nvSpPr>
        <p:spPr>
          <a:xfrm>
            <a:off x="1254125" y="327025"/>
            <a:ext cx="7185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Aggregate Functions and Operations</a:t>
            </a:r>
            <a:endParaRPr/>
          </a:p>
        </p:txBody>
      </p:sp>
      <p:sp>
        <p:nvSpPr>
          <p:cNvPr id="2715" name="Google Shape;2715;p58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716" name="Google Shape;2716;p58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717" name="Google Shape;2717;p58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718" name="Google Shape;2718;p58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719" name="Google Shape;2719;p58"/>
          <p:cNvSpPr txBox="1"/>
          <p:nvPr/>
        </p:nvSpPr>
        <p:spPr>
          <a:xfrm>
            <a:off x="1217612" y="1162050"/>
            <a:ext cx="71993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Aggregation function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takes a collection of values and returns a single</a:t>
            </a:r>
            <a:endParaRPr/>
          </a:p>
        </p:txBody>
      </p:sp>
      <p:sp>
        <p:nvSpPr>
          <p:cNvPr id="2720" name="Google Shape;2720;p58"/>
          <p:cNvSpPr txBox="1"/>
          <p:nvPr/>
        </p:nvSpPr>
        <p:spPr>
          <a:xfrm>
            <a:off x="1217612" y="1436687"/>
            <a:ext cx="4367212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as a result.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avg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	average value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	 minimum value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		maximum value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		 sum of values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	number of values</a:t>
            </a:r>
            <a:endParaRPr/>
          </a:p>
        </p:txBody>
      </p:sp>
      <p:sp>
        <p:nvSpPr>
          <p:cNvPr id="2721" name="Google Shape;2721;p58"/>
          <p:cNvSpPr txBox="1"/>
          <p:nvPr/>
        </p:nvSpPr>
        <p:spPr>
          <a:xfrm>
            <a:off x="876300" y="32369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722" name="Google Shape;2722;p58"/>
          <p:cNvSpPr txBox="1"/>
          <p:nvPr/>
        </p:nvSpPr>
        <p:spPr>
          <a:xfrm>
            <a:off x="1217612" y="3281362"/>
            <a:ext cx="4313237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Aggregate operation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relational algebra</a:t>
            </a:r>
            <a:endParaRPr/>
          </a:p>
        </p:txBody>
      </p:sp>
      <p:sp>
        <p:nvSpPr>
          <p:cNvPr id="2723" name="Google Shape;2723;p58"/>
          <p:cNvSpPr txBox="1"/>
          <p:nvPr/>
        </p:nvSpPr>
        <p:spPr>
          <a:xfrm>
            <a:off x="1217612" y="4303712"/>
            <a:ext cx="38274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any relational-algebra expression</a:t>
            </a:r>
            <a:endParaRPr/>
          </a:p>
        </p:txBody>
      </p:sp>
      <p:sp>
        <p:nvSpPr>
          <p:cNvPr id="2724" name="Google Shape;2724;p58"/>
          <p:cNvSpPr txBox="1"/>
          <p:nvPr/>
        </p:nvSpPr>
        <p:spPr>
          <a:xfrm>
            <a:off x="1333500" y="46672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725" name="Google Shape;2725;p58"/>
          <p:cNvSpPr txBox="1"/>
          <p:nvPr/>
        </p:nvSpPr>
        <p:spPr>
          <a:xfrm>
            <a:off x="1617662" y="4678362"/>
            <a:ext cx="6799262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list of attributes on which to group (can be empty)</a:t>
            </a:r>
            <a:endParaRPr/>
          </a:p>
        </p:txBody>
      </p:sp>
      <p:sp>
        <p:nvSpPr>
          <p:cNvPr id="2726" name="Google Shape;2726;p58"/>
          <p:cNvSpPr txBox="1"/>
          <p:nvPr/>
        </p:nvSpPr>
        <p:spPr>
          <a:xfrm>
            <a:off x="1333500" y="50958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727" name="Google Shape;2727;p58"/>
          <p:cNvSpPr txBox="1"/>
          <p:nvPr/>
        </p:nvSpPr>
        <p:spPr>
          <a:xfrm>
            <a:off x="1617662" y="5114925"/>
            <a:ext cx="32829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aggregate function</a:t>
            </a:r>
            <a:endParaRPr/>
          </a:p>
        </p:txBody>
      </p:sp>
      <p:sp>
        <p:nvSpPr>
          <p:cNvPr id="2728" name="Google Shape;2728;p58"/>
          <p:cNvSpPr txBox="1"/>
          <p:nvPr/>
        </p:nvSpPr>
        <p:spPr>
          <a:xfrm>
            <a:off x="1333500" y="55419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729" name="Google Shape;2729;p58"/>
          <p:cNvSpPr txBox="1"/>
          <p:nvPr/>
        </p:nvSpPr>
        <p:spPr>
          <a:xfrm>
            <a:off x="1617662" y="5561012"/>
            <a:ext cx="28654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attribute name</a:t>
            </a:r>
            <a:endParaRPr/>
          </a:p>
        </p:txBody>
      </p:sp>
      <p:sp>
        <p:nvSpPr>
          <p:cNvPr id="2730" name="Google Shape;2730;p58"/>
          <p:cNvSpPr txBox="1"/>
          <p:nvPr/>
        </p:nvSpPr>
        <p:spPr>
          <a:xfrm>
            <a:off x="4903787" y="3606800"/>
            <a:ext cx="5699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731" name="Google Shape;2731;p58"/>
          <p:cNvSpPr txBox="1"/>
          <p:nvPr/>
        </p:nvSpPr>
        <p:spPr>
          <a:xfrm>
            <a:off x="2138362" y="3600450"/>
            <a:ext cx="2751137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641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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 </a:t>
            </a:r>
            <a:r>
              <a:rPr b="0" baseline="30000" i="1" lang="en-US" sz="39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ϑ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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2	</a:t>
            </a:r>
            <a:r>
              <a:rPr b="0" i="1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	</a:t>
            </a: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1	2	2	</a:t>
            </a:r>
            <a:r>
              <a:rPr b="0" i="1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	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59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7" name="Google Shape;2737;p59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8" name="Google Shape;2738;p59"/>
          <p:cNvSpPr/>
          <p:nvPr/>
        </p:nvSpPr>
        <p:spPr>
          <a:xfrm>
            <a:off x="5257800" y="1519237"/>
            <a:ext cx="3886200" cy="255587"/>
          </a:xfrm>
          <a:custGeom>
            <a:rect b="b" l="l" r="r" t="t"/>
            <a:pathLst>
              <a:path extrusionOk="0" h="255905" w="3886200">
                <a:moveTo>
                  <a:pt x="0" y="255650"/>
                </a:moveTo>
                <a:lnTo>
                  <a:pt x="3886200" y="255650"/>
                </a:lnTo>
                <a:lnTo>
                  <a:pt x="3886200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9" name="Google Shape;2739;p59"/>
          <p:cNvSpPr/>
          <p:nvPr/>
        </p:nvSpPr>
        <p:spPr>
          <a:xfrm>
            <a:off x="0" y="1519237"/>
            <a:ext cx="3886200" cy="255587"/>
          </a:xfrm>
          <a:custGeom>
            <a:rect b="b" l="l" r="r" t="t"/>
            <a:pathLst>
              <a:path extrusionOk="0" h="255905" w="3886200">
                <a:moveTo>
                  <a:pt x="0" y="255650"/>
                </a:moveTo>
                <a:lnTo>
                  <a:pt x="3886199" y="255650"/>
                </a:lnTo>
                <a:lnTo>
                  <a:pt x="3886199" y="0"/>
                </a:lnTo>
                <a:lnTo>
                  <a:pt x="0" y="0"/>
                </a:lnTo>
                <a:lnTo>
                  <a:pt x="0" y="2556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59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1" name="Google Shape;2741;p59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2" name="Google Shape;2742;p59"/>
          <p:cNvSpPr/>
          <p:nvPr/>
        </p:nvSpPr>
        <p:spPr>
          <a:xfrm>
            <a:off x="5257800" y="2282825"/>
            <a:ext cx="3886200" cy="255587"/>
          </a:xfrm>
          <a:custGeom>
            <a:rect b="b" l="l" r="r" t="t"/>
            <a:pathLst>
              <a:path extrusionOk="0" h="255905" w="3886200">
                <a:moveTo>
                  <a:pt x="0" y="255531"/>
                </a:moveTo>
                <a:lnTo>
                  <a:pt x="3886200" y="255531"/>
                </a:lnTo>
                <a:lnTo>
                  <a:pt x="388620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59"/>
          <p:cNvSpPr/>
          <p:nvPr/>
        </p:nvSpPr>
        <p:spPr>
          <a:xfrm>
            <a:off x="0" y="2282825"/>
            <a:ext cx="3886200" cy="255587"/>
          </a:xfrm>
          <a:custGeom>
            <a:rect b="b" l="l" r="r" t="t"/>
            <a:pathLst>
              <a:path extrusionOk="0" h="255905" w="3886200">
                <a:moveTo>
                  <a:pt x="0" y="255531"/>
                </a:moveTo>
                <a:lnTo>
                  <a:pt x="3886199" y="255531"/>
                </a:lnTo>
                <a:lnTo>
                  <a:pt x="388619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59"/>
          <p:cNvSpPr/>
          <p:nvPr/>
        </p:nvSpPr>
        <p:spPr>
          <a:xfrm>
            <a:off x="5257800" y="2538412"/>
            <a:ext cx="3886200" cy="252412"/>
          </a:xfrm>
          <a:custGeom>
            <a:rect b="b" l="l" r="r" t="t"/>
            <a:pathLst>
              <a:path extrusionOk="0" h="252730" w="3886200">
                <a:moveTo>
                  <a:pt x="0" y="252221"/>
                </a:moveTo>
                <a:lnTo>
                  <a:pt x="3886200" y="252221"/>
                </a:lnTo>
                <a:lnTo>
                  <a:pt x="388620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5" name="Google Shape;2745;p59"/>
          <p:cNvSpPr/>
          <p:nvPr/>
        </p:nvSpPr>
        <p:spPr>
          <a:xfrm>
            <a:off x="0" y="2538412"/>
            <a:ext cx="3886200" cy="252412"/>
          </a:xfrm>
          <a:custGeom>
            <a:rect b="b" l="l" r="r" t="t"/>
            <a:pathLst>
              <a:path extrusionOk="0" h="252730" w="3886200">
                <a:moveTo>
                  <a:pt x="0" y="252221"/>
                </a:moveTo>
                <a:lnTo>
                  <a:pt x="3886199" y="252221"/>
                </a:lnTo>
                <a:lnTo>
                  <a:pt x="38861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p59"/>
          <p:cNvSpPr/>
          <p:nvPr/>
        </p:nvSpPr>
        <p:spPr>
          <a:xfrm>
            <a:off x="5257800" y="2790825"/>
            <a:ext cx="3886200" cy="255587"/>
          </a:xfrm>
          <a:custGeom>
            <a:rect b="b" l="l" r="r" t="t"/>
            <a:pathLst>
              <a:path extrusionOk="0" h="255905" w="3886200">
                <a:moveTo>
                  <a:pt x="0" y="255389"/>
                </a:moveTo>
                <a:lnTo>
                  <a:pt x="3886200" y="255389"/>
                </a:lnTo>
                <a:lnTo>
                  <a:pt x="3886200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7" name="Google Shape;2747;p59"/>
          <p:cNvSpPr/>
          <p:nvPr/>
        </p:nvSpPr>
        <p:spPr>
          <a:xfrm>
            <a:off x="0" y="2790825"/>
            <a:ext cx="3886200" cy="255587"/>
          </a:xfrm>
          <a:custGeom>
            <a:rect b="b" l="l" r="r" t="t"/>
            <a:pathLst>
              <a:path extrusionOk="0" h="255905" w="3886200">
                <a:moveTo>
                  <a:pt x="0" y="255389"/>
                </a:moveTo>
                <a:lnTo>
                  <a:pt x="3886199" y="255389"/>
                </a:lnTo>
                <a:lnTo>
                  <a:pt x="388619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8" name="Google Shape;2748;p59"/>
          <p:cNvSpPr/>
          <p:nvPr/>
        </p:nvSpPr>
        <p:spPr>
          <a:xfrm>
            <a:off x="5257800" y="3044825"/>
            <a:ext cx="3886200" cy="249237"/>
          </a:xfrm>
          <a:custGeom>
            <a:rect b="b" l="l" r="r" t="t"/>
            <a:pathLst>
              <a:path extrusionOk="0" h="248920" w="3886200">
                <a:moveTo>
                  <a:pt x="0" y="248792"/>
                </a:moveTo>
                <a:lnTo>
                  <a:pt x="3886200" y="248792"/>
                </a:lnTo>
                <a:lnTo>
                  <a:pt x="3886200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9" name="Google Shape;2749;p59"/>
          <p:cNvSpPr/>
          <p:nvPr/>
        </p:nvSpPr>
        <p:spPr>
          <a:xfrm>
            <a:off x="0" y="3044825"/>
            <a:ext cx="3886200" cy="249237"/>
          </a:xfrm>
          <a:custGeom>
            <a:rect b="b" l="l" r="r" t="t"/>
            <a:pathLst>
              <a:path extrusionOk="0" h="248920" w="3886200">
                <a:moveTo>
                  <a:pt x="0" y="248792"/>
                </a:moveTo>
                <a:lnTo>
                  <a:pt x="3886199" y="248792"/>
                </a:lnTo>
                <a:lnTo>
                  <a:pt x="3886199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0" name="Google Shape;2750;p59"/>
          <p:cNvSpPr/>
          <p:nvPr/>
        </p:nvSpPr>
        <p:spPr>
          <a:xfrm>
            <a:off x="5257800" y="3294062"/>
            <a:ext cx="3886200" cy="261937"/>
          </a:xfrm>
          <a:custGeom>
            <a:rect b="b" l="l" r="r" t="t"/>
            <a:pathLst>
              <a:path extrusionOk="0" h="262254" w="3886200">
                <a:moveTo>
                  <a:pt x="0" y="261699"/>
                </a:moveTo>
                <a:lnTo>
                  <a:pt x="3886200" y="261699"/>
                </a:lnTo>
                <a:lnTo>
                  <a:pt x="3886200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1" name="Google Shape;2751;p59"/>
          <p:cNvSpPr/>
          <p:nvPr/>
        </p:nvSpPr>
        <p:spPr>
          <a:xfrm>
            <a:off x="0" y="3294062"/>
            <a:ext cx="3886200" cy="261937"/>
          </a:xfrm>
          <a:custGeom>
            <a:rect b="b" l="l" r="r" t="t"/>
            <a:pathLst>
              <a:path extrusionOk="0" h="262254" w="3886200">
                <a:moveTo>
                  <a:pt x="0" y="261699"/>
                </a:moveTo>
                <a:lnTo>
                  <a:pt x="3886199" y="261699"/>
                </a:lnTo>
                <a:lnTo>
                  <a:pt x="3886199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2" name="Google Shape;2752;p59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3" name="Google Shape;2753;p59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4" name="Google Shape;2754;p59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5" name="Google Shape;2755;p59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59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7" name="Google Shape;2757;p59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59"/>
          <p:cNvSpPr/>
          <p:nvPr/>
        </p:nvSpPr>
        <p:spPr>
          <a:xfrm>
            <a:off x="4876800" y="5080000"/>
            <a:ext cx="4267200" cy="255587"/>
          </a:xfrm>
          <a:custGeom>
            <a:rect b="b" l="l" r="r" t="t"/>
            <a:pathLst>
              <a:path extrusionOk="0" h="254635" w="4267200">
                <a:moveTo>
                  <a:pt x="0" y="254174"/>
                </a:moveTo>
                <a:lnTo>
                  <a:pt x="4267200" y="254174"/>
                </a:lnTo>
                <a:lnTo>
                  <a:pt x="426720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9" name="Google Shape;2759;p59"/>
          <p:cNvSpPr/>
          <p:nvPr/>
        </p:nvSpPr>
        <p:spPr>
          <a:xfrm>
            <a:off x="0" y="5080000"/>
            <a:ext cx="3962400" cy="255587"/>
          </a:xfrm>
          <a:custGeom>
            <a:rect b="b" l="l" r="r" t="t"/>
            <a:pathLst>
              <a:path extrusionOk="0" h="254635" w="3962400">
                <a:moveTo>
                  <a:pt x="0" y="254174"/>
                </a:moveTo>
                <a:lnTo>
                  <a:pt x="3962399" y="254174"/>
                </a:lnTo>
                <a:lnTo>
                  <a:pt x="39623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0" name="Google Shape;2760;p59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1" name="Google Shape;2761;p59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2" name="Google Shape;2762;p59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3" name="Google Shape;2763;p59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4" name="Google Shape;2764;p59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59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6" name="Google Shape;2766;p59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7" name="Google Shape;2767;p59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8" name="Google Shape;2768;p59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p59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44303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Aggregate Operation – Example</a:t>
            </a:r>
            <a:endParaRPr/>
          </a:p>
        </p:txBody>
      </p:sp>
      <p:sp>
        <p:nvSpPr>
          <p:cNvPr id="2770" name="Google Shape;2770;p59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771" name="Google Shape;2771;p59"/>
          <p:cNvSpPr txBox="1"/>
          <p:nvPr/>
        </p:nvSpPr>
        <p:spPr>
          <a:xfrm>
            <a:off x="1217612" y="1163637"/>
            <a:ext cx="10668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2772" name="Google Shape;2772;p59"/>
          <p:cNvSpPr/>
          <p:nvPr/>
        </p:nvSpPr>
        <p:spPr>
          <a:xfrm>
            <a:off x="3886200" y="14478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3" name="Google Shape;2773;p59"/>
          <p:cNvSpPr/>
          <p:nvPr/>
        </p:nvSpPr>
        <p:spPr>
          <a:xfrm>
            <a:off x="4343400" y="14478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4" name="Google Shape;2774;p59"/>
          <p:cNvSpPr/>
          <p:nvPr/>
        </p:nvSpPr>
        <p:spPr>
          <a:xfrm>
            <a:off x="3886200" y="2057400"/>
            <a:ext cx="457200" cy="1524000"/>
          </a:xfrm>
          <a:custGeom>
            <a:rect b="b" l="l" r="r" t="t"/>
            <a:pathLst>
              <a:path extrusionOk="0" h="1524000" w="457200">
                <a:moveTo>
                  <a:pt x="457199" y="0"/>
                </a:moveTo>
                <a:lnTo>
                  <a:pt x="0" y="0"/>
                </a:lnTo>
                <a:lnTo>
                  <a:pt x="0" y="1523999"/>
                </a:lnTo>
                <a:lnTo>
                  <a:pt x="457199" y="15239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5" name="Google Shape;2775;p59"/>
          <p:cNvSpPr/>
          <p:nvPr/>
        </p:nvSpPr>
        <p:spPr>
          <a:xfrm>
            <a:off x="3886200" y="2057400"/>
            <a:ext cx="457200" cy="1524000"/>
          </a:xfrm>
          <a:custGeom>
            <a:rect b="b" l="l" r="r" t="t"/>
            <a:pathLst>
              <a:path extrusionOk="0" h="1524000" w="457200">
                <a:moveTo>
                  <a:pt x="2285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457199" y="0"/>
                </a:lnTo>
                <a:lnTo>
                  <a:pt x="457199" y="1523999"/>
                </a:lnTo>
                <a:lnTo>
                  <a:pt x="228599" y="15239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6" name="Google Shape;2776;p59"/>
          <p:cNvSpPr/>
          <p:nvPr/>
        </p:nvSpPr>
        <p:spPr>
          <a:xfrm>
            <a:off x="4343400" y="2057400"/>
            <a:ext cx="457200" cy="1524000"/>
          </a:xfrm>
          <a:custGeom>
            <a:rect b="b" l="l" r="r" t="t"/>
            <a:pathLst>
              <a:path extrusionOk="0" h="1524000" w="457200">
                <a:moveTo>
                  <a:pt x="457199" y="0"/>
                </a:moveTo>
                <a:lnTo>
                  <a:pt x="0" y="0"/>
                </a:lnTo>
                <a:lnTo>
                  <a:pt x="0" y="1523999"/>
                </a:lnTo>
                <a:lnTo>
                  <a:pt x="457199" y="15239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7" name="Google Shape;2777;p59"/>
          <p:cNvSpPr/>
          <p:nvPr/>
        </p:nvSpPr>
        <p:spPr>
          <a:xfrm>
            <a:off x="4343400" y="2057400"/>
            <a:ext cx="457200" cy="1524000"/>
          </a:xfrm>
          <a:custGeom>
            <a:rect b="b" l="l" r="r" t="t"/>
            <a:pathLst>
              <a:path extrusionOk="0" h="1524000" w="457200">
                <a:moveTo>
                  <a:pt x="2285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457199" y="0"/>
                </a:lnTo>
                <a:lnTo>
                  <a:pt x="457199" y="1523999"/>
                </a:lnTo>
                <a:lnTo>
                  <a:pt x="228599" y="15239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8" name="Google Shape;2778;p59"/>
          <p:cNvSpPr/>
          <p:nvPr/>
        </p:nvSpPr>
        <p:spPr>
          <a:xfrm>
            <a:off x="4800600" y="1447800"/>
            <a:ext cx="457200" cy="533400"/>
          </a:xfrm>
          <a:custGeom>
            <a:rect b="b" l="l" r="r" t="t"/>
            <a:pathLst>
              <a:path extrusionOk="0" h="533400" w="457200">
                <a:moveTo>
                  <a:pt x="457199" y="0"/>
                </a:moveTo>
                <a:lnTo>
                  <a:pt x="0" y="0"/>
                </a:lnTo>
                <a:lnTo>
                  <a:pt x="0" y="533399"/>
                </a:lnTo>
                <a:lnTo>
                  <a:pt x="457199" y="5333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9" name="Google Shape;2779;p59"/>
          <p:cNvSpPr/>
          <p:nvPr/>
        </p:nvSpPr>
        <p:spPr>
          <a:xfrm>
            <a:off x="4800600" y="2057400"/>
            <a:ext cx="457200" cy="1524000"/>
          </a:xfrm>
          <a:custGeom>
            <a:rect b="b" l="l" r="r" t="t"/>
            <a:pathLst>
              <a:path extrusionOk="0" h="1524000" w="457200">
                <a:moveTo>
                  <a:pt x="457199" y="0"/>
                </a:moveTo>
                <a:lnTo>
                  <a:pt x="0" y="0"/>
                </a:lnTo>
                <a:lnTo>
                  <a:pt x="0" y="1523999"/>
                </a:lnTo>
                <a:lnTo>
                  <a:pt x="457199" y="1523999"/>
                </a:lnTo>
                <a:lnTo>
                  <a:pt x="457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0" name="Google Shape;2780;p59"/>
          <p:cNvSpPr/>
          <p:nvPr/>
        </p:nvSpPr>
        <p:spPr>
          <a:xfrm>
            <a:off x="4800600" y="2057400"/>
            <a:ext cx="457200" cy="1524000"/>
          </a:xfrm>
          <a:custGeom>
            <a:rect b="b" l="l" r="r" t="t"/>
            <a:pathLst>
              <a:path extrusionOk="0" h="1524000" w="457200">
                <a:moveTo>
                  <a:pt x="2285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457199" y="0"/>
                </a:lnTo>
                <a:lnTo>
                  <a:pt x="457199" y="1523999"/>
                </a:lnTo>
                <a:lnTo>
                  <a:pt x="228599" y="15239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1" name="Google Shape;2781;p59"/>
          <p:cNvSpPr txBox="1"/>
          <p:nvPr/>
        </p:nvSpPr>
        <p:spPr>
          <a:xfrm>
            <a:off x="4029075" y="2220912"/>
            <a:ext cx="1139825" cy="133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782" name="Google Shape;2782;p59"/>
          <p:cNvSpPr txBox="1"/>
          <p:nvPr/>
        </p:nvSpPr>
        <p:spPr>
          <a:xfrm>
            <a:off x="876300" y="44180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783" name="Google Shape;2783;p59"/>
          <p:cNvSpPr txBox="1"/>
          <p:nvPr/>
        </p:nvSpPr>
        <p:spPr>
          <a:xfrm>
            <a:off x="1217612" y="4449762"/>
            <a:ext cx="8985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b="1" i="0" lang="en-US" sz="1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sum(c</a:t>
            </a:r>
            <a:r>
              <a:rPr b="1" baseline="30000" i="0" lang="en-US" sz="1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b="0" baseline="30000" i="0" lang="en-US" sz="2700" u="none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(r)</a:t>
            </a:r>
            <a:endParaRPr/>
          </a:p>
        </p:txBody>
      </p:sp>
      <p:sp>
        <p:nvSpPr>
          <p:cNvPr id="2784" name="Google Shape;2784;p59"/>
          <p:cNvSpPr/>
          <p:nvPr/>
        </p:nvSpPr>
        <p:spPr>
          <a:xfrm>
            <a:off x="3962400" y="4343400"/>
            <a:ext cx="914400" cy="457200"/>
          </a:xfrm>
          <a:custGeom>
            <a:rect b="b" l="l" r="r" t="t"/>
            <a:pathLst>
              <a:path extrusionOk="0" h="457200" w="914400">
                <a:moveTo>
                  <a:pt x="914399" y="0"/>
                </a:moveTo>
                <a:lnTo>
                  <a:pt x="0" y="0"/>
                </a:lnTo>
                <a:lnTo>
                  <a:pt x="0" y="457199"/>
                </a:lnTo>
                <a:lnTo>
                  <a:pt x="914399" y="457199"/>
                </a:lnTo>
                <a:lnTo>
                  <a:pt x="914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5" name="Google Shape;2785;p59"/>
          <p:cNvSpPr/>
          <p:nvPr/>
        </p:nvSpPr>
        <p:spPr>
          <a:xfrm>
            <a:off x="3962400" y="4343400"/>
            <a:ext cx="914400" cy="457200"/>
          </a:xfrm>
          <a:custGeom>
            <a:rect b="b" l="l" r="r" t="t"/>
            <a:pathLst>
              <a:path extrusionOk="0" h="457200" w="914400">
                <a:moveTo>
                  <a:pt x="4571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914399" y="0"/>
                </a:lnTo>
                <a:lnTo>
                  <a:pt x="914399" y="457199"/>
                </a:lnTo>
                <a:lnTo>
                  <a:pt x="4571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6" name="Google Shape;2786;p59"/>
          <p:cNvSpPr txBox="1"/>
          <p:nvPr/>
        </p:nvSpPr>
        <p:spPr>
          <a:xfrm>
            <a:off x="4006850" y="4471987"/>
            <a:ext cx="825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787" name="Google Shape;2787;p59"/>
          <p:cNvSpPr/>
          <p:nvPr/>
        </p:nvSpPr>
        <p:spPr>
          <a:xfrm>
            <a:off x="3962400" y="4876800"/>
            <a:ext cx="914400" cy="457200"/>
          </a:xfrm>
          <a:custGeom>
            <a:rect b="b" l="l" r="r" t="t"/>
            <a:pathLst>
              <a:path extrusionOk="0" h="457200" w="914400">
                <a:moveTo>
                  <a:pt x="914399" y="0"/>
                </a:moveTo>
                <a:lnTo>
                  <a:pt x="0" y="0"/>
                </a:lnTo>
                <a:lnTo>
                  <a:pt x="0" y="457199"/>
                </a:lnTo>
                <a:lnTo>
                  <a:pt x="914399" y="457199"/>
                </a:lnTo>
                <a:lnTo>
                  <a:pt x="914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8" name="Google Shape;2788;p59"/>
          <p:cNvSpPr/>
          <p:nvPr/>
        </p:nvSpPr>
        <p:spPr>
          <a:xfrm>
            <a:off x="3962400" y="4876800"/>
            <a:ext cx="914400" cy="457200"/>
          </a:xfrm>
          <a:custGeom>
            <a:rect b="b" l="l" r="r" t="t"/>
            <a:pathLst>
              <a:path extrusionOk="0" h="457200" w="914400">
                <a:moveTo>
                  <a:pt x="4571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914399" y="0"/>
                </a:lnTo>
                <a:lnTo>
                  <a:pt x="914399" y="457199"/>
                </a:lnTo>
                <a:lnTo>
                  <a:pt x="457199" y="457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9" name="Google Shape;2789;p59"/>
          <p:cNvSpPr txBox="1"/>
          <p:nvPr/>
        </p:nvSpPr>
        <p:spPr>
          <a:xfrm>
            <a:off x="4281487" y="5005387"/>
            <a:ext cx="2778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  <p:sp>
        <p:nvSpPr>
          <p:cNvPr id="2790" name="Google Shape;2790;p59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791" name="Google Shape;2791;p59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792" name="Google Shape;2792;p59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graphicFrame>
        <p:nvGraphicFramePr>
          <p:cNvPr id="2793" name="Google Shape;2793;p59"/>
          <p:cNvGraphicFramePr/>
          <p:nvPr/>
        </p:nvGraphicFramePr>
        <p:xfrm>
          <a:off x="3881437" y="1443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457200"/>
                <a:gridCol w="457200"/>
                <a:gridCol w="457200"/>
              </a:tblGrid>
              <a:tr h="533400"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7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p60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p60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0" name="Google Shape;2800;p60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1" name="Google Shape;2801;p60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2" name="Google Shape;2802;p60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3" name="Google Shape;2803;p60"/>
          <p:cNvSpPr/>
          <p:nvPr/>
        </p:nvSpPr>
        <p:spPr>
          <a:xfrm>
            <a:off x="7408862" y="2282825"/>
            <a:ext cx="1735137" cy="255587"/>
          </a:xfrm>
          <a:custGeom>
            <a:rect b="b" l="l" r="r" t="t"/>
            <a:pathLst>
              <a:path extrusionOk="0" h="255905" w="1734820">
                <a:moveTo>
                  <a:pt x="0" y="255531"/>
                </a:moveTo>
                <a:lnTo>
                  <a:pt x="1734830" y="255531"/>
                </a:lnTo>
                <a:lnTo>
                  <a:pt x="1734830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4" name="Google Shape;2804;p60"/>
          <p:cNvSpPr/>
          <p:nvPr/>
        </p:nvSpPr>
        <p:spPr>
          <a:xfrm>
            <a:off x="0" y="2282825"/>
            <a:ext cx="2332037" cy="255587"/>
          </a:xfrm>
          <a:custGeom>
            <a:rect b="b" l="l" r="r" t="t"/>
            <a:pathLst>
              <a:path extrusionOk="0" h="255905" w="2331720">
                <a:moveTo>
                  <a:pt x="0" y="255531"/>
                </a:moveTo>
                <a:lnTo>
                  <a:pt x="2331719" y="255531"/>
                </a:lnTo>
                <a:lnTo>
                  <a:pt x="2331719" y="0"/>
                </a:lnTo>
                <a:lnTo>
                  <a:pt x="0" y="0"/>
                </a:lnTo>
                <a:lnTo>
                  <a:pt x="0" y="255531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5" name="Google Shape;2805;p60"/>
          <p:cNvSpPr/>
          <p:nvPr/>
        </p:nvSpPr>
        <p:spPr>
          <a:xfrm>
            <a:off x="7408862" y="2538412"/>
            <a:ext cx="1735137" cy="252412"/>
          </a:xfrm>
          <a:custGeom>
            <a:rect b="b" l="l" r="r" t="t"/>
            <a:pathLst>
              <a:path extrusionOk="0" h="252730" w="1734820">
                <a:moveTo>
                  <a:pt x="0" y="252221"/>
                </a:moveTo>
                <a:lnTo>
                  <a:pt x="1734830" y="252221"/>
                </a:lnTo>
                <a:lnTo>
                  <a:pt x="173483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p60"/>
          <p:cNvSpPr/>
          <p:nvPr/>
        </p:nvSpPr>
        <p:spPr>
          <a:xfrm>
            <a:off x="0" y="2538412"/>
            <a:ext cx="2332037" cy="252412"/>
          </a:xfrm>
          <a:custGeom>
            <a:rect b="b" l="l" r="r" t="t"/>
            <a:pathLst>
              <a:path extrusionOk="0" h="252730" w="2331720">
                <a:moveTo>
                  <a:pt x="0" y="252221"/>
                </a:moveTo>
                <a:lnTo>
                  <a:pt x="2331719" y="252221"/>
                </a:lnTo>
                <a:lnTo>
                  <a:pt x="233171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7" name="Google Shape;2807;p60"/>
          <p:cNvSpPr/>
          <p:nvPr/>
        </p:nvSpPr>
        <p:spPr>
          <a:xfrm>
            <a:off x="7408862" y="2790825"/>
            <a:ext cx="1735137" cy="255587"/>
          </a:xfrm>
          <a:custGeom>
            <a:rect b="b" l="l" r="r" t="t"/>
            <a:pathLst>
              <a:path extrusionOk="0" h="255905" w="1734820">
                <a:moveTo>
                  <a:pt x="0" y="255389"/>
                </a:moveTo>
                <a:lnTo>
                  <a:pt x="1734830" y="255389"/>
                </a:lnTo>
                <a:lnTo>
                  <a:pt x="1734830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8" name="Google Shape;2808;p60"/>
          <p:cNvSpPr/>
          <p:nvPr/>
        </p:nvSpPr>
        <p:spPr>
          <a:xfrm>
            <a:off x="0" y="2790825"/>
            <a:ext cx="2332037" cy="255587"/>
          </a:xfrm>
          <a:custGeom>
            <a:rect b="b" l="l" r="r" t="t"/>
            <a:pathLst>
              <a:path extrusionOk="0" h="255905" w="2331720">
                <a:moveTo>
                  <a:pt x="0" y="255389"/>
                </a:moveTo>
                <a:lnTo>
                  <a:pt x="2331719" y="255389"/>
                </a:lnTo>
                <a:lnTo>
                  <a:pt x="233171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9" name="Google Shape;2809;p60"/>
          <p:cNvSpPr/>
          <p:nvPr/>
        </p:nvSpPr>
        <p:spPr>
          <a:xfrm>
            <a:off x="7408862" y="3044825"/>
            <a:ext cx="1735137" cy="249237"/>
          </a:xfrm>
          <a:custGeom>
            <a:rect b="b" l="l" r="r" t="t"/>
            <a:pathLst>
              <a:path extrusionOk="0" h="248920" w="1734820">
                <a:moveTo>
                  <a:pt x="0" y="248792"/>
                </a:moveTo>
                <a:lnTo>
                  <a:pt x="1734830" y="248792"/>
                </a:lnTo>
                <a:lnTo>
                  <a:pt x="1734830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0" name="Google Shape;2810;p60"/>
          <p:cNvSpPr/>
          <p:nvPr/>
        </p:nvSpPr>
        <p:spPr>
          <a:xfrm>
            <a:off x="0" y="3044825"/>
            <a:ext cx="2332037" cy="249237"/>
          </a:xfrm>
          <a:custGeom>
            <a:rect b="b" l="l" r="r" t="t"/>
            <a:pathLst>
              <a:path extrusionOk="0" h="248920" w="2331720">
                <a:moveTo>
                  <a:pt x="0" y="248792"/>
                </a:moveTo>
                <a:lnTo>
                  <a:pt x="2331719" y="248792"/>
                </a:lnTo>
                <a:lnTo>
                  <a:pt x="2331719" y="0"/>
                </a:lnTo>
                <a:lnTo>
                  <a:pt x="0" y="0"/>
                </a:lnTo>
                <a:lnTo>
                  <a:pt x="0" y="248792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1" name="Google Shape;2811;p60"/>
          <p:cNvSpPr/>
          <p:nvPr/>
        </p:nvSpPr>
        <p:spPr>
          <a:xfrm>
            <a:off x="7408862" y="3294062"/>
            <a:ext cx="1735137" cy="261937"/>
          </a:xfrm>
          <a:custGeom>
            <a:rect b="b" l="l" r="r" t="t"/>
            <a:pathLst>
              <a:path extrusionOk="0" h="262254" w="1734820">
                <a:moveTo>
                  <a:pt x="0" y="261699"/>
                </a:moveTo>
                <a:lnTo>
                  <a:pt x="1734830" y="261699"/>
                </a:lnTo>
                <a:lnTo>
                  <a:pt x="1734830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60"/>
          <p:cNvSpPr/>
          <p:nvPr/>
        </p:nvSpPr>
        <p:spPr>
          <a:xfrm>
            <a:off x="0" y="3294062"/>
            <a:ext cx="2332037" cy="261937"/>
          </a:xfrm>
          <a:custGeom>
            <a:rect b="b" l="l" r="r" t="t"/>
            <a:pathLst>
              <a:path extrusionOk="0" h="262254" w="2331720">
                <a:moveTo>
                  <a:pt x="0" y="261699"/>
                </a:moveTo>
                <a:lnTo>
                  <a:pt x="2331719" y="261699"/>
                </a:lnTo>
                <a:lnTo>
                  <a:pt x="2331719" y="0"/>
                </a:lnTo>
                <a:lnTo>
                  <a:pt x="0" y="0"/>
                </a:lnTo>
                <a:lnTo>
                  <a:pt x="0" y="261699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3" name="Google Shape;2813;p60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4" name="Google Shape;2814;p60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5" name="Google Shape;2815;p60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60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7" name="Google Shape;2817;p60"/>
          <p:cNvSpPr/>
          <p:nvPr/>
        </p:nvSpPr>
        <p:spPr>
          <a:xfrm>
            <a:off x="6858000" y="4572000"/>
            <a:ext cx="2286000" cy="255587"/>
          </a:xfrm>
          <a:custGeom>
            <a:rect b="b" l="l" r="r" t="t"/>
            <a:pathLst>
              <a:path extrusionOk="0" h="254635" w="2286000">
                <a:moveTo>
                  <a:pt x="0" y="254162"/>
                </a:moveTo>
                <a:lnTo>
                  <a:pt x="2286000" y="254162"/>
                </a:lnTo>
                <a:lnTo>
                  <a:pt x="22860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60"/>
          <p:cNvSpPr/>
          <p:nvPr/>
        </p:nvSpPr>
        <p:spPr>
          <a:xfrm>
            <a:off x="0" y="4572000"/>
            <a:ext cx="3581400" cy="255587"/>
          </a:xfrm>
          <a:custGeom>
            <a:rect b="b" l="l" r="r" t="t"/>
            <a:pathLst>
              <a:path extrusionOk="0" h="254635" w="3581400">
                <a:moveTo>
                  <a:pt x="0" y="254162"/>
                </a:moveTo>
                <a:lnTo>
                  <a:pt x="3581399" y="254162"/>
                </a:lnTo>
                <a:lnTo>
                  <a:pt x="35813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9" name="Google Shape;2819;p60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0" name="Google Shape;2820;p60"/>
          <p:cNvSpPr/>
          <p:nvPr/>
        </p:nvSpPr>
        <p:spPr>
          <a:xfrm>
            <a:off x="6858000" y="5080000"/>
            <a:ext cx="2286000" cy="255587"/>
          </a:xfrm>
          <a:custGeom>
            <a:rect b="b" l="l" r="r" t="t"/>
            <a:pathLst>
              <a:path extrusionOk="0" h="254635" w="2286000">
                <a:moveTo>
                  <a:pt x="0" y="254174"/>
                </a:moveTo>
                <a:lnTo>
                  <a:pt x="2286000" y="254174"/>
                </a:lnTo>
                <a:lnTo>
                  <a:pt x="228600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60"/>
          <p:cNvSpPr/>
          <p:nvPr/>
        </p:nvSpPr>
        <p:spPr>
          <a:xfrm>
            <a:off x="0" y="5080000"/>
            <a:ext cx="3581400" cy="255587"/>
          </a:xfrm>
          <a:custGeom>
            <a:rect b="b" l="l" r="r" t="t"/>
            <a:pathLst>
              <a:path extrusionOk="0" h="254635" w="3581400">
                <a:moveTo>
                  <a:pt x="0" y="254174"/>
                </a:moveTo>
                <a:lnTo>
                  <a:pt x="3581399" y="254174"/>
                </a:lnTo>
                <a:lnTo>
                  <a:pt x="35813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2" name="Google Shape;2822;p60"/>
          <p:cNvSpPr/>
          <p:nvPr/>
        </p:nvSpPr>
        <p:spPr>
          <a:xfrm>
            <a:off x="6858000" y="5334000"/>
            <a:ext cx="2286000" cy="255587"/>
          </a:xfrm>
          <a:custGeom>
            <a:rect b="b" l="l" r="r" t="t"/>
            <a:pathLst>
              <a:path extrusionOk="0" h="254635" w="2286000">
                <a:moveTo>
                  <a:pt x="0" y="254150"/>
                </a:moveTo>
                <a:lnTo>
                  <a:pt x="2286000" y="254150"/>
                </a:lnTo>
                <a:lnTo>
                  <a:pt x="228600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60"/>
          <p:cNvSpPr/>
          <p:nvPr/>
        </p:nvSpPr>
        <p:spPr>
          <a:xfrm>
            <a:off x="0" y="5334000"/>
            <a:ext cx="3581400" cy="255587"/>
          </a:xfrm>
          <a:custGeom>
            <a:rect b="b" l="l" r="r" t="t"/>
            <a:pathLst>
              <a:path extrusionOk="0" h="254635" w="3581400">
                <a:moveTo>
                  <a:pt x="0" y="254150"/>
                </a:moveTo>
                <a:lnTo>
                  <a:pt x="3581399" y="254150"/>
                </a:lnTo>
                <a:lnTo>
                  <a:pt x="35813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60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60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60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60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60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60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0" name="Google Shape;2830;p60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1" name="Google Shape;2831;p60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2" name="Google Shape;2832;p60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44303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Aggregate Operation – Example</a:t>
            </a:r>
            <a:endParaRPr/>
          </a:p>
        </p:txBody>
      </p:sp>
      <p:sp>
        <p:nvSpPr>
          <p:cNvPr id="2833" name="Google Shape;2833;p60"/>
          <p:cNvSpPr txBox="1"/>
          <p:nvPr/>
        </p:nvSpPr>
        <p:spPr>
          <a:xfrm>
            <a:off x="989012" y="115887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834" name="Google Shape;2834;p60"/>
          <p:cNvSpPr/>
          <p:nvPr/>
        </p:nvSpPr>
        <p:spPr>
          <a:xfrm>
            <a:off x="2305050" y="17780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9" y="0"/>
                </a:moveTo>
                <a:lnTo>
                  <a:pt x="0" y="0"/>
                </a:lnTo>
                <a:lnTo>
                  <a:pt x="0" y="304799"/>
                </a:lnTo>
                <a:lnTo>
                  <a:pt x="1600199" y="3047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60"/>
          <p:cNvSpPr/>
          <p:nvPr/>
        </p:nvSpPr>
        <p:spPr>
          <a:xfrm>
            <a:off x="2305050" y="17780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80009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600199" y="0"/>
                </a:lnTo>
                <a:lnTo>
                  <a:pt x="1600199" y="304799"/>
                </a:lnTo>
                <a:lnTo>
                  <a:pt x="800099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60"/>
          <p:cNvSpPr/>
          <p:nvPr/>
        </p:nvSpPr>
        <p:spPr>
          <a:xfrm>
            <a:off x="3903662" y="1778000"/>
            <a:ext cx="1828800" cy="304800"/>
          </a:xfrm>
          <a:custGeom>
            <a:rect b="b" l="l" r="r" t="t"/>
            <a:pathLst>
              <a:path extrusionOk="0" h="304800" w="1828800">
                <a:moveTo>
                  <a:pt x="1828799" y="0"/>
                </a:moveTo>
                <a:lnTo>
                  <a:pt x="0" y="0"/>
                </a:lnTo>
                <a:lnTo>
                  <a:pt x="0" y="304799"/>
                </a:lnTo>
                <a:lnTo>
                  <a:pt x="1828799" y="304799"/>
                </a:lnTo>
                <a:lnTo>
                  <a:pt x="18287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60"/>
          <p:cNvSpPr/>
          <p:nvPr/>
        </p:nvSpPr>
        <p:spPr>
          <a:xfrm>
            <a:off x="3903662" y="1778000"/>
            <a:ext cx="1828800" cy="304800"/>
          </a:xfrm>
          <a:custGeom>
            <a:rect b="b" l="l" r="r" t="t"/>
            <a:pathLst>
              <a:path extrusionOk="0" h="304800" w="1828800">
                <a:moveTo>
                  <a:pt x="91439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828799" y="0"/>
                </a:lnTo>
                <a:lnTo>
                  <a:pt x="1828799" y="304799"/>
                </a:lnTo>
                <a:lnTo>
                  <a:pt x="914399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60"/>
          <p:cNvSpPr txBox="1"/>
          <p:nvPr/>
        </p:nvSpPr>
        <p:spPr>
          <a:xfrm>
            <a:off x="1331912" y="1203325"/>
            <a:ext cx="4398962" cy="884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62037" lvl="0" marL="10747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grouped by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branch-name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062037" lvl="0" marL="10747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62037" lvl="0" marL="10747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	account_number</a:t>
            </a:r>
            <a:endParaRPr/>
          </a:p>
        </p:txBody>
      </p:sp>
      <p:sp>
        <p:nvSpPr>
          <p:cNvPr id="2839" name="Google Shape;2839;p60"/>
          <p:cNvSpPr txBox="1"/>
          <p:nvPr/>
        </p:nvSpPr>
        <p:spPr>
          <a:xfrm>
            <a:off x="1143000" y="3975100"/>
            <a:ext cx="4016375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837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</a:t>
            </a:r>
            <a:r>
              <a:rPr b="0" baseline="30000" i="1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r>
              <a:rPr b="0" i="0" lang="en-US" sz="1600" u="none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r>
              <a:rPr b="0" i="0" lang="en-US" sz="1600" u="none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) </a:t>
            </a:r>
            <a:r>
              <a:rPr b="0" baseline="30000" i="0" lang="en-US" sz="3700" u="none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b="0" baseline="30000" i="0" lang="en-US" sz="3700" u="none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)</a:t>
            </a:r>
            <a:endParaRPr/>
          </a:p>
        </p:txBody>
      </p:sp>
      <p:sp>
        <p:nvSpPr>
          <p:cNvPr id="2840" name="Google Shape;2840;p60"/>
          <p:cNvSpPr/>
          <p:nvPr/>
        </p:nvSpPr>
        <p:spPr>
          <a:xfrm>
            <a:off x="5732462" y="1778000"/>
            <a:ext cx="1676400" cy="304800"/>
          </a:xfrm>
          <a:custGeom>
            <a:rect b="b" l="l" r="r" t="t"/>
            <a:pathLst>
              <a:path extrusionOk="0" h="304800" w="1676400">
                <a:moveTo>
                  <a:pt x="1676399" y="0"/>
                </a:moveTo>
                <a:lnTo>
                  <a:pt x="0" y="0"/>
                </a:lnTo>
                <a:lnTo>
                  <a:pt x="0" y="304799"/>
                </a:lnTo>
                <a:lnTo>
                  <a:pt x="1676399" y="3047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1" name="Google Shape;2841;p60"/>
          <p:cNvSpPr/>
          <p:nvPr/>
        </p:nvSpPr>
        <p:spPr>
          <a:xfrm>
            <a:off x="5732462" y="1778000"/>
            <a:ext cx="1676400" cy="304800"/>
          </a:xfrm>
          <a:custGeom>
            <a:rect b="b" l="l" r="r" t="t"/>
            <a:pathLst>
              <a:path extrusionOk="0" h="304800" w="1676400">
                <a:moveTo>
                  <a:pt x="83819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676399" y="0"/>
                </a:lnTo>
                <a:lnTo>
                  <a:pt x="1676399" y="304799"/>
                </a:lnTo>
                <a:lnTo>
                  <a:pt x="838199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60"/>
          <p:cNvSpPr txBox="1"/>
          <p:nvPr/>
        </p:nvSpPr>
        <p:spPr>
          <a:xfrm>
            <a:off x="6159500" y="1831975"/>
            <a:ext cx="8239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</p:txBody>
      </p:sp>
      <p:sp>
        <p:nvSpPr>
          <p:cNvPr id="2843" name="Google Shape;2843;p60"/>
          <p:cNvSpPr/>
          <p:nvPr/>
        </p:nvSpPr>
        <p:spPr>
          <a:xfrm>
            <a:off x="2332037" y="2159000"/>
            <a:ext cx="1571625" cy="1447800"/>
          </a:xfrm>
          <a:custGeom>
            <a:rect b="b" l="l" r="r" t="t"/>
            <a:pathLst>
              <a:path extrusionOk="0" h="1447800" w="1572260">
                <a:moveTo>
                  <a:pt x="0" y="1447799"/>
                </a:moveTo>
                <a:lnTo>
                  <a:pt x="1572249" y="1447799"/>
                </a:lnTo>
                <a:lnTo>
                  <a:pt x="1572249" y="0"/>
                </a:lnTo>
                <a:lnTo>
                  <a:pt x="0" y="0"/>
                </a:lnTo>
                <a:lnTo>
                  <a:pt x="0" y="1447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60"/>
          <p:cNvSpPr/>
          <p:nvPr/>
        </p:nvSpPr>
        <p:spPr>
          <a:xfrm>
            <a:off x="3903662" y="2159000"/>
            <a:ext cx="1828800" cy="1447800"/>
          </a:xfrm>
          <a:custGeom>
            <a:rect b="b" l="l" r="r" t="t"/>
            <a:pathLst>
              <a:path extrusionOk="0" h="1447800" w="1828800">
                <a:moveTo>
                  <a:pt x="1828799" y="0"/>
                </a:moveTo>
                <a:lnTo>
                  <a:pt x="0" y="0"/>
                </a:lnTo>
                <a:lnTo>
                  <a:pt x="0" y="1447799"/>
                </a:lnTo>
                <a:lnTo>
                  <a:pt x="1828799" y="1447799"/>
                </a:lnTo>
                <a:lnTo>
                  <a:pt x="18287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60"/>
          <p:cNvSpPr/>
          <p:nvPr/>
        </p:nvSpPr>
        <p:spPr>
          <a:xfrm>
            <a:off x="5732462" y="2159000"/>
            <a:ext cx="1676400" cy="1447800"/>
          </a:xfrm>
          <a:custGeom>
            <a:rect b="b" l="l" r="r" t="t"/>
            <a:pathLst>
              <a:path extrusionOk="0" h="1447800" w="1676400">
                <a:moveTo>
                  <a:pt x="1676399" y="0"/>
                </a:moveTo>
                <a:lnTo>
                  <a:pt x="0" y="0"/>
                </a:lnTo>
                <a:lnTo>
                  <a:pt x="0" y="1447799"/>
                </a:lnTo>
                <a:lnTo>
                  <a:pt x="1676399" y="14477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60"/>
          <p:cNvSpPr/>
          <p:nvPr/>
        </p:nvSpPr>
        <p:spPr>
          <a:xfrm>
            <a:off x="3581400" y="45212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9" y="0"/>
                </a:moveTo>
                <a:lnTo>
                  <a:pt x="0" y="0"/>
                </a:lnTo>
                <a:lnTo>
                  <a:pt x="0" y="304799"/>
                </a:lnTo>
                <a:lnTo>
                  <a:pt x="1600199" y="3047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7" name="Google Shape;2847;p60"/>
          <p:cNvSpPr/>
          <p:nvPr/>
        </p:nvSpPr>
        <p:spPr>
          <a:xfrm>
            <a:off x="3581400" y="45212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79881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600199" y="0"/>
                </a:lnTo>
                <a:lnTo>
                  <a:pt x="1600199" y="304799"/>
                </a:lnTo>
                <a:lnTo>
                  <a:pt x="798819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60"/>
          <p:cNvSpPr txBox="1"/>
          <p:nvPr/>
        </p:nvSpPr>
        <p:spPr>
          <a:xfrm>
            <a:off x="3671887" y="4575175"/>
            <a:ext cx="14208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</a:t>
            </a:r>
            <a:endParaRPr/>
          </a:p>
        </p:txBody>
      </p:sp>
      <p:sp>
        <p:nvSpPr>
          <p:cNvPr id="2849" name="Google Shape;2849;p60"/>
          <p:cNvSpPr/>
          <p:nvPr/>
        </p:nvSpPr>
        <p:spPr>
          <a:xfrm>
            <a:off x="5181600" y="4521200"/>
            <a:ext cx="1676400" cy="304800"/>
          </a:xfrm>
          <a:custGeom>
            <a:rect b="b" l="l" r="r" t="t"/>
            <a:pathLst>
              <a:path extrusionOk="0" h="304800" w="1676400">
                <a:moveTo>
                  <a:pt x="1676399" y="0"/>
                </a:moveTo>
                <a:lnTo>
                  <a:pt x="0" y="0"/>
                </a:lnTo>
                <a:lnTo>
                  <a:pt x="0" y="304799"/>
                </a:lnTo>
                <a:lnTo>
                  <a:pt x="1676399" y="3047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0" name="Google Shape;2850;p60"/>
          <p:cNvSpPr/>
          <p:nvPr/>
        </p:nvSpPr>
        <p:spPr>
          <a:xfrm>
            <a:off x="5181600" y="4521200"/>
            <a:ext cx="1676400" cy="304800"/>
          </a:xfrm>
          <a:custGeom>
            <a:rect b="b" l="l" r="r" t="t"/>
            <a:pathLst>
              <a:path extrusionOk="0" h="304800" w="1676400">
                <a:moveTo>
                  <a:pt x="83819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676399" y="0"/>
                </a:lnTo>
                <a:lnTo>
                  <a:pt x="1676399" y="304799"/>
                </a:lnTo>
                <a:lnTo>
                  <a:pt x="838199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1" name="Google Shape;2851;p60"/>
          <p:cNvSpPr txBox="1"/>
          <p:nvPr/>
        </p:nvSpPr>
        <p:spPr>
          <a:xfrm>
            <a:off x="5297487" y="4573587"/>
            <a:ext cx="14430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852" name="Google Shape;2852;p60"/>
          <p:cNvSpPr/>
          <p:nvPr/>
        </p:nvSpPr>
        <p:spPr>
          <a:xfrm>
            <a:off x="3581400" y="4902200"/>
            <a:ext cx="1600200" cy="838200"/>
          </a:xfrm>
          <a:custGeom>
            <a:rect b="b" l="l" r="r" t="t"/>
            <a:pathLst>
              <a:path extrusionOk="0" h="838200" w="1600200">
                <a:moveTo>
                  <a:pt x="1600199" y="0"/>
                </a:moveTo>
                <a:lnTo>
                  <a:pt x="0" y="0"/>
                </a:lnTo>
                <a:lnTo>
                  <a:pt x="0" y="838199"/>
                </a:lnTo>
                <a:lnTo>
                  <a:pt x="1600199" y="8381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3" name="Google Shape;2853;p60"/>
          <p:cNvSpPr/>
          <p:nvPr/>
        </p:nvSpPr>
        <p:spPr>
          <a:xfrm>
            <a:off x="3581400" y="4902200"/>
            <a:ext cx="1600200" cy="838200"/>
          </a:xfrm>
          <a:custGeom>
            <a:rect b="b" l="l" r="r" t="t"/>
            <a:pathLst>
              <a:path extrusionOk="0" h="838200" w="1600200">
                <a:moveTo>
                  <a:pt x="798819" y="838199"/>
                </a:moveTo>
                <a:lnTo>
                  <a:pt x="0" y="838199"/>
                </a:lnTo>
                <a:lnTo>
                  <a:pt x="0" y="0"/>
                </a:lnTo>
                <a:lnTo>
                  <a:pt x="1600199" y="0"/>
                </a:lnTo>
                <a:lnTo>
                  <a:pt x="1600199" y="838199"/>
                </a:lnTo>
                <a:lnTo>
                  <a:pt x="798819" y="838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4" name="Google Shape;2854;p60"/>
          <p:cNvSpPr txBox="1"/>
          <p:nvPr/>
        </p:nvSpPr>
        <p:spPr>
          <a:xfrm>
            <a:off x="3657600" y="4948237"/>
            <a:ext cx="10795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Perryridge</a:t>
            </a:r>
            <a:endParaRPr/>
          </a:p>
        </p:txBody>
      </p:sp>
      <p:sp>
        <p:nvSpPr>
          <p:cNvPr id="2855" name="Google Shape;2855;p60"/>
          <p:cNvSpPr txBox="1"/>
          <p:nvPr/>
        </p:nvSpPr>
        <p:spPr>
          <a:xfrm>
            <a:off x="3657600" y="5221287"/>
            <a:ext cx="989012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Brighton Redwood</a:t>
            </a:r>
            <a:endParaRPr/>
          </a:p>
        </p:txBody>
      </p:sp>
      <p:sp>
        <p:nvSpPr>
          <p:cNvPr id="2856" name="Google Shape;2856;p60"/>
          <p:cNvSpPr/>
          <p:nvPr/>
        </p:nvSpPr>
        <p:spPr>
          <a:xfrm>
            <a:off x="5181600" y="4902200"/>
            <a:ext cx="1676400" cy="838200"/>
          </a:xfrm>
          <a:custGeom>
            <a:rect b="b" l="l" r="r" t="t"/>
            <a:pathLst>
              <a:path extrusionOk="0" h="838200" w="1676400">
                <a:moveTo>
                  <a:pt x="1676399" y="0"/>
                </a:moveTo>
                <a:lnTo>
                  <a:pt x="0" y="0"/>
                </a:lnTo>
                <a:lnTo>
                  <a:pt x="0" y="838199"/>
                </a:lnTo>
                <a:lnTo>
                  <a:pt x="1676399" y="8381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7" name="Google Shape;2857;p60"/>
          <p:cNvSpPr/>
          <p:nvPr/>
        </p:nvSpPr>
        <p:spPr>
          <a:xfrm>
            <a:off x="5181600" y="4902200"/>
            <a:ext cx="1676400" cy="838200"/>
          </a:xfrm>
          <a:custGeom>
            <a:rect b="b" l="l" r="r" t="t"/>
            <a:pathLst>
              <a:path extrusionOk="0" h="838200" w="1676400">
                <a:moveTo>
                  <a:pt x="838199" y="838199"/>
                </a:moveTo>
                <a:lnTo>
                  <a:pt x="0" y="838199"/>
                </a:lnTo>
                <a:lnTo>
                  <a:pt x="0" y="0"/>
                </a:lnTo>
                <a:lnTo>
                  <a:pt x="1676399" y="0"/>
                </a:lnTo>
                <a:lnTo>
                  <a:pt x="1676399" y="838199"/>
                </a:lnTo>
                <a:lnTo>
                  <a:pt x="838199" y="838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60"/>
          <p:cNvSpPr txBox="1"/>
          <p:nvPr/>
        </p:nvSpPr>
        <p:spPr>
          <a:xfrm>
            <a:off x="5754687" y="4948237"/>
            <a:ext cx="5318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1300</a:t>
            </a:r>
            <a:endParaRPr/>
          </a:p>
        </p:txBody>
      </p:sp>
      <p:sp>
        <p:nvSpPr>
          <p:cNvPr id="2859" name="Google Shape;2859;p60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860" name="Google Shape;2860;p60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861" name="Google Shape;2861;p60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862" name="Google Shape;2862;p60"/>
          <p:cNvSpPr txBox="1"/>
          <p:nvPr/>
        </p:nvSpPr>
        <p:spPr>
          <a:xfrm>
            <a:off x="5754687" y="5221287"/>
            <a:ext cx="531812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1500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700</a:t>
            </a:r>
            <a:endParaRPr/>
          </a:p>
        </p:txBody>
      </p:sp>
      <p:graphicFrame>
        <p:nvGraphicFramePr>
          <p:cNvPr id="2863" name="Google Shape;2863;p60"/>
          <p:cNvGraphicFramePr/>
          <p:nvPr/>
        </p:nvGraphicFramePr>
        <p:xfrm>
          <a:off x="2327275" y="2154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585900"/>
                <a:gridCol w="1814500"/>
                <a:gridCol w="1676400"/>
              </a:tblGrid>
              <a:tr h="339725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Perryridge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590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A-102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Perryridge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590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A-201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Brighton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590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A-217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Brighton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590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A-215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84150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Redwood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90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A-222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7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Google Shape;2868;p61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p61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p61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61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61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3" name="Google Shape;2873;p61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4" name="Google Shape;2874;p61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5" name="Google Shape;2875;p61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6" name="Google Shape;2876;p61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7" name="Google Shape;2877;p61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8" name="Google Shape;2878;p61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61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0" name="Google Shape;2880;p61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61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2" name="Google Shape;2882;p61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3" name="Google Shape;2883;p61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4" name="Google Shape;2884;p61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5" name="Google Shape;2885;p61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61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7" name="Google Shape;2887;p61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8" name="Google Shape;2888;p61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61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p61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6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2" name="Google Shape;2892;p61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61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4" name="Google Shape;2894;p61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811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Aggregate Functions (Cont.)</a:t>
            </a:r>
            <a:endParaRPr/>
          </a:p>
        </p:txBody>
      </p:sp>
      <p:sp>
        <p:nvSpPr>
          <p:cNvPr id="2895" name="Google Shape;2895;p61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896" name="Google Shape;2896;p61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897" name="Google Shape;2897;p61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898" name="Google Shape;2898;p61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899" name="Google Shape;2899;p61"/>
          <p:cNvSpPr txBox="1"/>
          <p:nvPr/>
        </p:nvSpPr>
        <p:spPr>
          <a:xfrm>
            <a:off x="1217612" y="1162050"/>
            <a:ext cx="45164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of aggregation does not have a name</a:t>
            </a:r>
            <a:endParaRPr/>
          </a:p>
        </p:txBody>
      </p:sp>
      <p:sp>
        <p:nvSpPr>
          <p:cNvPr id="2900" name="Google Shape;2900;p61"/>
          <p:cNvSpPr txBox="1"/>
          <p:nvPr/>
        </p:nvSpPr>
        <p:spPr>
          <a:xfrm>
            <a:off x="1333500" y="150653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901" name="Google Shape;2901;p61"/>
          <p:cNvSpPr txBox="1"/>
          <p:nvPr/>
        </p:nvSpPr>
        <p:spPr>
          <a:xfrm>
            <a:off x="1617662" y="1536700"/>
            <a:ext cx="44656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use rename operation to give it a name</a:t>
            </a:r>
            <a:endParaRPr/>
          </a:p>
        </p:txBody>
      </p:sp>
      <p:sp>
        <p:nvSpPr>
          <p:cNvPr id="2902" name="Google Shape;2902;p61"/>
          <p:cNvSpPr txBox="1"/>
          <p:nvPr/>
        </p:nvSpPr>
        <p:spPr>
          <a:xfrm>
            <a:off x="1333500" y="188118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903" name="Google Shape;2903;p61"/>
          <p:cNvSpPr txBox="1"/>
          <p:nvPr/>
        </p:nvSpPr>
        <p:spPr>
          <a:xfrm>
            <a:off x="1617662" y="1909762"/>
            <a:ext cx="59499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convenience, we permit renaming as part of aggregate</a:t>
            </a:r>
            <a:endParaRPr/>
          </a:p>
        </p:txBody>
      </p:sp>
      <p:sp>
        <p:nvSpPr>
          <p:cNvPr id="2904" name="Google Shape;2904;p61"/>
          <p:cNvSpPr txBox="1"/>
          <p:nvPr/>
        </p:nvSpPr>
        <p:spPr>
          <a:xfrm>
            <a:off x="1576387" y="2184400"/>
            <a:ext cx="56197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3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endParaRPr/>
          </a:p>
          <a:p>
            <a:pPr indent="0" lvl="0" marL="53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3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3975" marR="0" rtl="0" algn="l">
              <a:lnSpc>
                <a:spcPct val="7837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</a:t>
            </a:r>
            <a:r>
              <a:rPr b="0" baseline="30000" i="1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b="1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(balance) </a:t>
            </a:r>
            <a:r>
              <a:rPr b="1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sum_balance 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b="0" baseline="30000" i="0" lang="en-US" sz="3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8" name="Shape 2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Google Shape;2909;p62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62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62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62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62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62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62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p62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62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62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62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p62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62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62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62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4" name="Google Shape;2924;p62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5" name="Google Shape;2925;p62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6" name="Google Shape;2926;p62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62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8" name="Google Shape;2928;p62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9" name="Google Shape;2929;p62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0" name="Google Shape;2930;p62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1" name="Google Shape;2931;p62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2" name="Google Shape;2932;p6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3" name="Google Shape;2933;p62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62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5" name="Google Shape;2935;p62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5083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Outer Join</a:t>
            </a:r>
            <a:endParaRPr/>
          </a:p>
        </p:txBody>
      </p:sp>
      <p:sp>
        <p:nvSpPr>
          <p:cNvPr id="2936" name="Google Shape;2936;p62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2937" name="Google Shape;2937;p62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2938" name="Google Shape;2938;p62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2939" name="Google Shape;2939;p62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940" name="Google Shape;2940;p62"/>
          <p:cNvSpPr txBox="1"/>
          <p:nvPr/>
        </p:nvSpPr>
        <p:spPr>
          <a:xfrm>
            <a:off x="1217612" y="1162050"/>
            <a:ext cx="65579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extension of the join operation that avoids loss of information.</a:t>
            </a:r>
            <a:endParaRPr/>
          </a:p>
        </p:txBody>
      </p:sp>
      <p:sp>
        <p:nvSpPr>
          <p:cNvPr id="2941" name="Google Shape;2941;p62"/>
          <p:cNvSpPr txBox="1"/>
          <p:nvPr/>
        </p:nvSpPr>
        <p:spPr>
          <a:xfrm>
            <a:off x="876300" y="1490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942" name="Google Shape;2942;p62"/>
          <p:cNvSpPr txBox="1"/>
          <p:nvPr/>
        </p:nvSpPr>
        <p:spPr>
          <a:xfrm>
            <a:off x="1217612" y="1536700"/>
            <a:ext cx="72040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Computes the join and then adds tuples form one relation that does not</a:t>
            </a:r>
            <a:endParaRPr/>
          </a:p>
        </p:txBody>
      </p:sp>
      <p:sp>
        <p:nvSpPr>
          <p:cNvPr id="2943" name="Google Shape;2943;p62"/>
          <p:cNvSpPr txBox="1"/>
          <p:nvPr/>
        </p:nvSpPr>
        <p:spPr>
          <a:xfrm>
            <a:off x="1217612" y="1811337"/>
            <a:ext cx="57102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tuples in the other relation to the result of the join.</a:t>
            </a:r>
            <a:endParaRPr/>
          </a:p>
        </p:txBody>
      </p:sp>
      <p:sp>
        <p:nvSpPr>
          <p:cNvPr id="2944" name="Google Shape;2944;p62"/>
          <p:cNvSpPr txBox="1"/>
          <p:nvPr/>
        </p:nvSpPr>
        <p:spPr>
          <a:xfrm>
            <a:off x="876300" y="21399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945" name="Google Shape;2945;p62"/>
          <p:cNvSpPr txBox="1"/>
          <p:nvPr/>
        </p:nvSpPr>
        <p:spPr>
          <a:xfrm>
            <a:off x="1217612" y="2184400"/>
            <a:ext cx="174942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values:</a:t>
            </a:r>
            <a:endParaRPr/>
          </a:p>
        </p:txBody>
      </p:sp>
      <p:sp>
        <p:nvSpPr>
          <p:cNvPr id="2946" name="Google Shape;2946;p62"/>
          <p:cNvSpPr txBox="1"/>
          <p:nvPr/>
        </p:nvSpPr>
        <p:spPr>
          <a:xfrm>
            <a:off x="1333500" y="2530475"/>
            <a:ext cx="1857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947" name="Google Shape;2947;p62"/>
          <p:cNvSpPr txBox="1"/>
          <p:nvPr/>
        </p:nvSpPr>
        <p:spPr>
          <a:xfrm>
            <a:off x="1617662" y="2565400"/>
            <a:ext cx="5691187" cy="2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signifies that the value is unknown or does not exist</a:t>
            </a:r>
            <a:endParaRPr/>
          </a:p>
        </p:txBody>
      </p:sp>
      <p:sp>
        <p:nvSpPr>
          <p:cNvPr id="2948" name="Google Shape;2948;p62"/>
          <p:cNvSpPr txBox="1"/>
          <p:nvPr/>
        </p:nvSpPr>
        <p:spPr>
          <a:xfrm>
            <a:off x="1333500" y="29337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949" name="Google Shape;2949;p62"/>
          <p:cNvSpPr txBox="1"/>
          <p:nvPr/>
        </p:nvSpPr>
        <p:spPr>
          <a:xfrm>
            <a:off x="1617662" y="2962275"/>
            <a:ext cx="62230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comparisons involving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(roughly speaking)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endParaRPr/>
          </a:p>
        </p:txBody>
      </p:sp>
      <p:sp>
        <p:nvSpPr>
          <p:cNvPr id="2950" name="Google Shape;2950;p62"/>
          <p:cNvSpPr txBox="1"/>
          <p:nvPr/>
        </p:nvSpPr>
        <p:spPr>
          <a:xfrm>
            <a:off x="1617662" y="3236912"/>
            <a:ext cx="67087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shall study precise meaning of comparisons with nulls later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4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p63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6" name="Google Shape;2956;p63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7" name="Google Shape;2957;p63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8" name="Google Shape;2958;p63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9" name="Google Shape;2959;p63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0" name="Google Shape;2960;p63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1" name="Google Shape;2961;p63"/>
          <p:cNvSpPr/>
          <p:nvPr/>
        </p:nvSpPr>
        <p:spPr>
          <a:xfrm>
            <a:off x="6337300" y="2538412"/>
            <a:ext cx="2806700" cy="252412"/>
          </a:xfrm>
          <a:custGeom>
            <a:rect b="b" l="l" r="r" t="t"/>
            <a:pathLst>
              <a:path extrusionOk="0" h="252730" w="2806700">
                <a:moveTo>
                  <a:pt x="0" y="252221"/>
                </a:moveTo>
                <a:lnTo>
                  <a:pt x="2806689" y="252221"/>
                </a:lnTo>
                <a:lnTo>
                  <a:pt x="280668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2" name="Google Shape;2962;p63"/>
          <p:cNvSpPr/>
          <p:nvPr/>
        </p:nvSpPr>
        <p:spPr>
          <a:xfrm>
            <a:off x="0" y="2538412"/>
            <a:ext cx="2044700" cy="252412"/>
          </a:xfrm>
          <a:custGeom>
            <a:rect b="b" l="l" r="r" t="t"/>
            <a:pathLst>
              <a:path extrusionOk="0" h="252730" w="2044700">
                <a:moveTo>
                  <a:pt x="0" y="252221"/>
                </a:moveTo>
                <a:lnTo>
                  <a:pt x="2044695" y="252221"/>
                </a:lnTo>
                <a:lnTo>
                  <a:pt x="2044695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3" name="Google Shape;2963;p63"/>
          <p:cNvSpPr/>
          <p:nvPr/>
        </p:nvSpPr>
        <p:spPr>
          <a:xfrm>
            <a:off x="6337300" y="2790825"/>
            <a:ext cx="2806700" cy="255587"/>
          </a:xfrm>
          <a:custGeom>
            <a:rect b="b" l="l" r="r" t="t"/>
            <a:pathLst>
              <a:path extrusionOk="0" h="255905" w="2806700">
                <a:moveTo>
                  <a:pt x="0" y="255389"/>
                </a:moveTo>
                <a:lnTo>
                  <a:pt x="2806689" y="255389"/>
                </a:lnTo>
                <a:lnTo>
                  <a:pt x="280668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4" name="Google Shape;2964;p63"/>
          <p:cNvSpPr/>
          <p:nvPr/>
        </p:nvSpPr>
        <p:spPr>
          <a:xfrm>
            <a:off x="0" y="2790825"/>
            <a:ext cx="2044700" cy="255587"/>
          </a:xfrm>
          <a:custGeom>
            <a:rect b="b" l="l" r="r" t="t"/>
            <a:pathLst>
              <a:path extrusionOk="0" h="255905" w="2044700">
                <a:moveTo>
                  <a:pt x="0" y="255389"/>
                </a:moveTo>
                <a:lnTo>
                  <a:pt x="2044695" y="255389"/>
                </a:lnTo>
                <a:lnTo>
                  <a:pt x="2044695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5" name="Google Shape;2965;p63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6" name="Google Shape;2966;p63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7" name="Google Shape;2967;p63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8" name="Google Shape;2968;p63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9" name="Google Shape;2969;p63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0" name="Google Shape;2970;p63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63"/>
          <p:cNvSpPr/>
          <p:nvPr/>
        </p:nvSpPr>
        <p:spPr>
          <a:xfrm>
            <a:off x="5715000" y="4572000"/>
            <a:ext cx="3429000" cy="255587"/>
          </a:xfrm>
          <a:custGeom>
            <a:rect b="b" l="l" r="r" t="t"/>
            <a:pathLst>
              <a:path extrusionOk="0" h="254635" w="3429000">
                <a:moveTo>
                  <a:pt x="0" y="254162"/>
                </a:moveTo>
                <a:lnTo>
                  <a:pt x="3429000" y="254162"/>
                </a:lnTo>
                <a:lnTo>
                  <a:pt x="3429000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2" name="Google Shape;2972;p63"/>
          <p:cNvSpPr/>
          <p:nvPr/>
        </p:nvSpPr>
        <p:spPr>
          <a:xfrm>
            <a:off x="0" y="4572000"/>
            <a:ext cx="2438400" cy="255587"/>
          </a:xfrm>
          <a:custGeom>
            <a:rect b="b" l="l" r="r" t="t"/>
            <a:pathLst>
              <a:path extrusionOk="0" h="254635" w="2438400">
                <a:moveTo>
                  <a:pt x="0" y="254162"/>
                </a:moveTo>
                <a:lnTo>
                  <a:pt x="2438399" y="254162"/>
                </a:lnTo>
                <a:lnTo>
                  <a:pt x="2438399" y="0"/>
                </a:lnTo>
                <a:lnTo>
                  <a:pt x="0" y="0"/>
                </a:lnTo>
                <a:lnTo>
                  <a:pt x="0" y="25416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63"/>
          <p:cNvSpPr/>
          <p:nvPr/>
        </p:nvSpPr>
        <p:spPr>
          <a:xfrm>
            <a:off x="5715000" y="4826000"/>
            <a:ext cx="3429000" cy="254000"/>
          </a:xfrm>
          <a:custGeom>
            <a:rect b="b" l="l" r="r" t="t"/>
            <a:pathLst>
              <a:path extrusionOk="0" h="254000" w="3429000">
                <a:moveTo>
                  <a:pt x="0" y="253793"/>
                </a:moveTo>
                <a:lnTo>
                  <a:pt x="3429000" y="253793"/>
                </a:lnTo>
                <a:lnTo>
                  <a:pt x="342900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4" name="Google Shape;2974;p63"/>
          <p:cNvSpPr/>
          <p:nvPr/>
        </p:nvSpPr>
        <p:spPr>
          <a:xfrm>
            <a:off x="0" y="4826000"/>
            <a:ext cx="2438400" cy="254000"/>
          </a:xfrm>
          <a:custGeom>
            <a:rect b="b" l="l" r="r" t="t"/>
            <a:pathLst>
              <a:path extrusionOk="0" h="254000" w="2438400">
                <a:moveTo>
                  <a:pt x="0" y="253793"/>
                </a:moveTo>
                <a:lnTo>
                  <a:pt x="2438399" y="253793"/>
                </a:lnTo>
                <a:lnTo>
                  <a:pt x="24383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5" name="Google Shape;2975;p63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6" name="Google Shape;2976;p63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7" name="Google Shape;2977;p63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8" name="Google Shape;2978;p63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9" name="Google Shape;2979;p63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0" name="Google Shape;2980;p63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1" name="Google Shape;2981;p63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2" name="Google Shape;2982;p6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3" name="Google Shape;2983;p63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4" name="Google Shape;2984;p63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63"/>
          <p:cNvSpPr/>
          <p:nvPr/>
        </p:nvSpPr>
        <p:spPr>
          <a:xfrm>
            <a:off x="2438400" y="4089400"/>
            <a:ext cx="1676400" cy="304800"/>
          </a:xfrm>
          <a:custGeom>
            <a:rect b="b" l="l" r="r" t="t"/>
            <a:pathLst>
              <a:path extrusionOk="0" h="304800" w="1676400">
                <a:moveTo>
                  <a:pt x="1676399" y="0"/>
                </a:moveTo>
                <a:lnTo>
                  <a:pt x="0" y="0"/>
                </a:lnTo>
                <a:lnTo>
                  <a:pt x="0" y="304799"/>
                </a:lnTo>
                <a:lnTo>
                  <a:pt x="1676399" y="3047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6" name="Google Shape;2986;p63"/>
          <p:cNvSpPr/>
          <p:nvPr/>
        </p:nvSpPr>
        <p:spPr>
          <a:xfrm>
            <a:off x="2438400" y="4089400"/>
            <a:ext cx="1676400" cy="304800"/>
          </a:xfrm>
          <a:custGeom>
            <a:rect b="b" l="l" r="r" t="t"/>
            <a:pathLst>
              <a:path extrusionOk="0" h="304800" w="1676400">
                <a:moveTo>
                  <a:pt x="83819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676399" y="0"/>
                </a:lnTo>
                <a:lnTo>
                  <a:pt x="1676399" y="304799"/>
                </a:lnTo>
                <a:lnTo>
                  <a:pt x="838199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63"/>
          <p:cNvSpPr/>
          <p:nvPr/>
        </p:nvSpPr>
        <p:spPr>
          <a:xfrm>
            <a:off x="4114800" y="40894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9" y="0"/>
                </a:moveTo>
                <a:lnTo>
                  <a:pt x="0" y="0"/>
                </a:lnTo>
                <a:lnTo>
                  <a:pt x="0" y="304799"/>
                </a:lnTo>
                <a:lnTo>
                  <a:pt x="1600199" y="3047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63"/>
          <p:cNvSpPr/>
          <p:nvPr/>
        </p:nvSpPr>
        <p:spPr>
          <a:xfrm>
            <a:off x="4114800" y="40894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80009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600199" y="0"/>
                </a:lnTo>
                <a:lnTo>
                  <a:pt x="1600199" y="304799"/>
                </a:lnTo>
                <a:lnTo>
                  <a:pt x="800099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63"/>
          <p:cNvSpPr/>
          <p:nvPr/>
        </p:nvSpPr>
        <p:spPr>
          <a:xfrm>
            <a:off x="2438400" y="4470400"/>
            <a:ext cx="1676400" cy="838200"/>
          </a:xfrm>
          <a:custGeom>
            <a:rect b="b" l="l" r="r" t="t"/>
            <a:pathLst>
              <a:path extrusionOk="0" h="838200" w="1676400">
                <a:moveTo>
                  <a:pt x="1676399" y="0"/>
                </a:moveTo>
                <a:lnTo>
                  <a:pt x="0" y="0"/>
                </a:lnTo>
                <a:lnTo>
                  <a:pt x="0" y="838199"/>
                </a:lnTo>
                <a:lnTo>
                  <a:pt x="1676399" y="8381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p63"/>
          <p:cNvSpPr/>
          <p:nvPr/>
        </p:nvSpPr>
        <p:spPr>
          <a:xfrm>
            <a:off x="2438400" y="4470400"/>
            <a:ext cx="1676400" cy="838200"/>
          </a:xfrm>
          <a:custGeom>
            <a:rect b="b" l="l" r="r" t="t"/>
            <a:pathLst>
              <a:path extrusionOk="0" h="838200" w="1676400">
                <a:moveTo>
                  <a:pt x="838199" y="838199"/>
                </a:moveTo>
                <a:lnTo>
                  <a:pt x="0" y="838199"/>
                </a:lnTo>
                <a:lnTo>
                  <a:pt x="0" y="0"/>
                </a:lnTo>
                <a:lnTo>
                  <a:pt x="1676399" y="0"/>
                </a:lnTo>
                <a:lnTo>
                  <a:pt x="1676399" y="838199"/>
                </a:lnTo>
                <a:lnTo>
                  <a:pt x="838199" y="838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63"/>
          <p:cNvSpPr/>
          <p:nvPr/>
        </p:nvSpPr>
        <p:spPr>
          <a:xfrm>
            <a:off x="4114800" y="4470400"/>
            <a:ext cx="1600200" cy="838200"/>
          </a:xfrm>
          <a:custGeom>
            <a:rect b="b" l="l" r="r" t="t"/>
            <a:pathLst>
              <a:path extrusionOk="0" h="838200" w="1600200">
                <a:moveTo>
                  <a:pt x="1600199" y="0"/>
                </a:moveTo>
                <a:lnTo>
                  <a:pt x="0" y="0"/>
                </a:lnTo>
                <a:lnTo>
                  <a:pt x="0" y="838199"/>
                </a:lnTo>
                <a:lnTo>
                  <a:pt x="1600199" y="8381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2" name="Google Shape;2992;p63"/>
          <p:cNvSpPr/>
          <p:nvPr/>
        </p:nvSpPr>
        <p:spPr>
          <a:xfrm>
            <a:off x="4114800" y="4470400"/>
            <a:ext cx="1600200" cy="838200"/>
          </a:xfrm>
          <a:custGeom>
            <a:rect b="b" l="l" r="r" t="t"/>
            <a:pathLst>
              <a:path extrusionOk="0" h="838200" w="1600200">
                <a:moveTo>
                  <a:pt x="800099" y="838199"/>
                </a:moveTo>
                <a:lnTo>
                  <a:pt x="0" y="838199"/>
                </a:lnTo>
                <a:lnTo>
                  <a:pt x="0" y="0"/>
                </a:lnTo>
                <a:lnTo>
                  <a:pt x="1600199" y="0"/>
                </a:lnTo>
                <a:lnTo>
                  <a:pt x="1600199" y="838199"/>
                </a:lnTo>
                <a:lnTo>
                  <a:pt x="800099" y="838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63"/>
          <p:cNvSpPr/>
          <p:nvPr/>
        </p:nvSpPr>
        <p:spPr>
          <a:xfrm>
            <a:off x="5194300" y="2336800"/>
            <a:ext cx="1143000" cy="838200"/>
          </a:xfrm>
          <a:custGeom>
            <a:rect b="b" l="l" r="r" t="t"/>
            <a:pathLst>
              <a:path extrusionOk="0" h="838200" w="1143000">
                <a:moveTo>
                  <a:pt x="1142999" y="0"/>
                </a:moveTo>
                <a:lnTo>
                  <a:pt x="0" y="0"/>
                </a:lnTo>
                <a:lnTo>
                  <a:pt x="0" y="838199"/>
                </a:lnTo>
                <a:lnTo>
                  <a:pt x="1142999" y="838199"/>
                </a:lnTo>
                <a:lnTo>
                  <a:pt x="11429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4" name="Google Shape;2994;p63"/>
          <p:cNvSpPr/>
          <p:nvPr/>
        </p:nvSpPr>
        <p:spPr>
          <a:xfrm>
            <a:off x="2044700" y="1955800"/>
            <a:ext cx="1571625" cy="304800"/>
          </a:xfrm>
          <a:custGeom>
            <a:rect b="b" l="l" r="r" t="t"/>
            <a:pathLst>
              <a:path extrusionOk="0" h="304800" w="1570989">
                <a:moveTo>
                  <a:pt x="1570994" y="0"/>
                </a:moveTo>
                <a:lnTo>
                  <a:pt x="0" y="0"/>
                </a:lnTo>
                <a:lnTo>
                  <a:pt x="0" y="304799"/>
                </a:lnTo>
                <a:lnTo>
                  <a:pt x="1570994" y="304799"/>
                </a:lnTo>
                <a:lnTo>
                  <a:pt x="15709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63"/>
          <p:cNvSpPr/>
          <p:nvPr/>
        </p:nvSpPr>
        <p:spPr>
          <a:xfrm>
            <a:off x="5189537" y="1955800"/>
            <a:ext cx="1122362" cy="304800"/>
          </a:xfrm>
          <a:custGeom>
            <a:rect b="b" l="l" r="r" t="t"/>
            <a:pathLst>
              <a:path extrusionOk="0" h="304800" w="1122679">
                <a:moveTo>
                  <a:pt x="1122669" y="0"/>
                </a:moveTo>
                <a:lnTo>
                  <a:pt x="0" y="0"/>
                </a:lnTo>
                <a:lnTo>
                  <a:pt x="0" y="304799"/>
                </a:lnTo>
                <a:lnTo>
                  <a:pt x="1122669" y="304799"/>
                </a:lnTo>
                <a:lnTo>
                  <a:pt x="11226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63"/>
          <p:cNvSpPr/>
          <p:nvPr/>
        </p:nvSpPr>
        <p:spPr>
          <a:xfrm>
            <a:off x="2044700" y="2336800"/>
            <a:ext cx="1571625" cy="838200"/>
          </a:xfrm>
          <a:custGeom>
            <a:rect b="b" l="l" r="r" t="t"/>
            <a:pathLst>
              <a:path extrusionOk="0" h="838200" w="1570989">
                <a:moveTo>
                  <a:pt x="1570994" y="0"/>
                </a:moveTo>
                <a:lnTo>
                  <a:pt x="0" y="0"/>
                </a:lnTo>
                <a:lnTo>
                  <a:pt x="0" y="838199"/>
                </a:lnTo>
                <a:lnTo>
                  <a:pt x="1570994" y="838199"/>
                </a:lnTo>
                <a:lnTo>
                  <a:pt x="15709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63"/>
          <p:cNvSpPr/>
          <p:nvPr/>
        </p:nvSpPr>
        <p:spPr>
          <a:xfrm>
            <a:off x="3621087" y="1951037"/>
            <a:ext cx="1573212" cy="304800"/>
          </a:xfrm>
          <a:custGeom>
            <a:rect b="b" l="l" r="r" t="t"/>
            <a:pathLst>
              <a:path extrusionOk="0" h="304800" w="1573529">
                <a:moveTo>
                  <a:pt x="1573529" y="0"/>
                </a:moveTo>
                <a:lnTo>
                  <a:pt x="0" y="0"/>
                </a:lnTo>
                <a:lnTo>
                  <a:pt x="0" y="304799"/>
                </a:lnTo>
                <a:lnTo>
                  <a:pt x="1573529" y="304799"/>
                </a:lnTo>
                <a:lnTo>
                  <a:pt x="157352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p63"/>
          <p:cNvSpPr/>
          <p:nvPr/>
        </p:nvSpPr>
        <p:spPr>
          <a:xfrm>
            <a:off x="3621087" y="2332037"/>
            <a:ext cx="1573212" cy="838200"/>
          </a:xfrm>
          <a:custGeom>
            <a:rect b="b" l="l" r="r" t="t"/>
            <a:pathLst>
              <a:path extrusionOk="0" h="838200" w="1573529">
                <a:moveTo>
                  <a:pt x="1573529" y="0"/>
                </a:moveTo>
                <a:lnTo>
                  <a:pt x="0" y="0"/>
                </a:lnTo>
                <a:lnTo>
                  <a:pt x="0" y="838199"/>
                </a:lnTo>
                <a:lnTo>
                  <a:pt x="1573529" y="838199"/>
                </a:lnTo>
                <a:lnTo>
                  <a:pt x="157352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63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000" name="Google Shape;3000;p63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001" name="Google Shape;3001;p63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002" name="Google Shape;3002;p6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4479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Outer Join – Example</a:t>
            </a:r>
            <a:endParaRPr/>
          </a:p>
        </p:txBody>
      </p:sp>
      <p:sp>
        <p:nvSpPr>
          <p:cNvPr id="3003" name="Google Shape;3003;p63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004" name="Google Shape;3004;p63"/>
          <p:cNvSpPr txBox="1"/>
          <p:nvPr/>
        </p:nvSpPr>
        <p:spPr>
          <a:xfrm>
            <a:off x="1217612" y="1163637"/>
            <a:ext cx="135572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</a:t>
            </a:r>
            <a:endParaRPr/>
          </a:p>
        </p:txBody>
      </p:sp>
      <p:sp>
        <p:nvSpPr>
          <p:cNvPr id="3005" name="Google Shape;3005;p63"/>
          <p:cNvSpPr txBox="1"/>
          <p:nvPr/>
        </p:nvSpPr>
        <p:spPr>
          <a:xfrm>
            <a:off x="876300" y="36210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006" name="Google Shape;3006;p63"/>
          <p:cNvSpPr txBox="1"/>
          <p:nvPr/>
        </p:nvSpPr>
        <p:spPr>
          <a:xfrm>
            <a:off x="1217612" y="3665537"/>
            <a:ext cx="18240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</a:t>
            </a:r>
            <a:endParaRPr/>
          </a:p>
        </p:txBody>
      </p:sp>
      <p:sp>
        <p:nvSpPr>
          <p:cNvPr id="3007" name="Google Shape;3007;p63"/>
          <p:cNvSpPr txBox="1"/>
          <p:nvPr/>
        </p:nvSpPr>
        <p:spPr>
          <a:xfrm>
            <a:off x="2446337" y="4143375"/>
            <a:ext cx="16621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</a:t>
            </a:r>
            <a:endParaRPr/>
          </a:p>
        </p:txBody>
      </p:sp>
      <p:sp>
        <p:nvSpPr>
          <p:cNvPr id="3008" name="Google Shape;3008;p63"/>
          <p:cNvSpPr txBox="1"/>
          <p:nvPr/>
        </p:nvSpPr>
        <p:spPr>
          <a:xfrm>
            <a:off x="4238625" y="4143375"/>
            <a:ext cx="13525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loan_number</a:t>
            </a:r>
            <a:endParaRPr/>
          </a:p>
        </p:txBody>
      </p:sp>
      <p:sp>
        <p:nvSpPr>
          <p:cNvPr id="3009" name="Google Shape;3009;p63"/>
          <p:cNvSpPr txBox="1"/>
          <p:nvPr/>
        </p:nvSpPr>
        <p:spPr>
          <a:xfrm>
            <a:off x="2514600" y="4516437"/>
            <a:ext cx="6334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Jones</a:t>
            </a:r>
            <a:endParaRPr/>
          </a:p>
        </p:txBody>
      </p:sp>
      <p:sp>
        <p:nvSpPr>
          <p:cNvPr id="3010" name="Google Shape;3010;p63"/>
          <p:cNvSpPr txBox="1"/>
          <p:nvPr/>
        </p:nvSpPr>
        <p:spPr>
          <a:xfrm>
            <a:off x="2514600" y="4789487"/>
            <a:ext cx="671512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Smith Hayes</a:t>
            </a:r>
            <a:endParaRPr/>
          </a:p>
        </p:txBody>
      </p:sp>
      <p:sp>
        <p:nvSpPr>
          <p:cNvPr id="3011" name="Google Shape;3011;p63"/>
          <p:cNvSpPr txBox="1"/>
          <p:nvPr/>
        </p:nvSpPr>
        <p:spPr>
          <a:xfrm>
            <a:off x="4192587" y="4516437"/>
            <a:ext cx="6080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L-170</a:t>
            </a:r>
            <a:endParaRPr/>
          </a:p>
        </p:txBody>
      </p:sp>
      <p:sp>
        <p:nvSpPr>
          <p:cNvPr id="3012" name="Google Shape;3012;p63"/>
          <p:cNvSpPr txBox="1"/>
          <p:nvPr/>
        </p:nvSpPr>
        <p:spPr>
          <a:xfrm>
            <a:off x="4192587" y="4789487"/>
            <a:ext cx="608012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L-230 L-155</a:t>
            </a:r>
            <a:endParaRPr/>
          </a:p>
        </p:txBody>
      </p:sp>
      <p:graphicFrame>
        <p:nvGraphicFramePr>
          <p:cNvPr id="3013" name="Google Shape;3013;p63"/>
          <p:cNvGraphicFramePr/>
          <p:nvPr/>
        </p:nvGraphicFramePr>
        <p:xfrm>
          <a:off x="2039937" y="23288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573200"/>
                <a:gridCol w="1576375"/>
                <a:gridCol w="1143000"/>
              </a:tblGrid>
              <a:tr h="311150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L-170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87312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Downtown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3127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L-230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87312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Redwood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3127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L-260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312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Perryridge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27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14" name="Google Shape;3014;p63"/>
          <p:cNvGraphicFramePr/>
          <p:nvPr/>
        </p:nvGraphicFramePr>
        <p:xfrm>
          <a:off x="2039937" y="19478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573200"/>
                <a:gridCol w="1573200"/>
                <a:gridCol w="1120775"/>
              </a:tblGrid>
              <a:tr h="307975"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loan_number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branch_name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30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amount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8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p64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0" name="Google Shape;3020;p64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1" name="Google Shape;3021;p64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2" name="Google Shape;3022;p64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3" name="Google Shape;3023;p64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4" name="Google Shape;3024;p64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5" name="Google Shape;3025;p64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6" name="Google Shape;3026;p64"/>
          <p:cNvSpPr/>
          <p:nvPr/>
        </p:nvSpPr>
        <p:spPr>
          <a:xfrm>
            <a:off x="7543800" y="2790825"/>
            <a:ext cx="1600200" cy="255587"/>
          </a:xfrm>
          <a:custGeom>
            <a:rect b="b" l="l" r="r" t="t"/>
            <a:pathLst>
              <a:path extrusionOk="0" h="255905" w="1600200">
                <a:moveTo>
                  <a:pt x="0" y="255389"/>
                </a:moveTo>
                <a:lnTo>
                  <a:pt x="1600200" y="255389"/>
                </a:lnTo>
                <a:lnTo>
                  <a:pt x="1600200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64"/>
          <p:cNvSpPr/>
          <p:nvPr/>
        </p:nvSpPr>
        <p:spPr>
          <a:xfrm>
            <a:off x="0" y="2790825"/>
            <a:ext cx="1524000" cy="255587"/>
          </a:xfrm>
          <a:custGeom>
            <a:rect b="b" l="l" r="r" t="t"/>
            <a:pathLst>
              <a:path extrusionOk="0" h="255905" w="1524000">
                <a:moveTo>
                  <a:pt x="0" y="255389"/>
                </a:moveTo>
                <a:lnTo>
                  <a:pt x="1523999" y="255389"/>
                </a:lnTo>
                <a:lnTo>
                  <a:pt x="152399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8" name="Google Shape;3028;p64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64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0" name="Google Shape;3030;p64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1" name="Google Shape;3031;p64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2" name="Google Shape;3032;p64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3" name="Google Shape;3033;p64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4" name="Google Shape;3034;p64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5" name="Google Shape;3035;p64"/>
          <p:cNvSpPr/>
          <p:nvPr/>
        </p:nvSpPr>
        <p:spPr>
          <a:xfrm>
            <a:off x="7594600" y="4826000"/>
            <a:ext cx="1549400" cy="254000"/>
          </a:xfrm>
          <a:custGeom>
            <a:rect b="b" l="l" r="r" t="t"/>
            <a:pathLst>
              <a:path extrusionOk="0" h="254000" w="1549400">
                <a:moveTo>
                  <a:pt x="0" y="253793"/>
                </a:moveTo>
                <a:lnTo>
                  <a:pt x="1549390" y="253793"/>
                </a:lnTo>
                <a:lnTo>
                  <a:pt x="154939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6" name="Google Shape;3036;p64"/>
          <p:cNvSpPr/>
          <p:nvPr/>
        </p:nvSpPr>
        <p:spPr>
          <a:xfrm>
            <a:off x="0" y="4826000"/>
            <a:ext cx="1589087" cy="254000"/>
          </a:xfrm>
          <a:custGeom>
            <a:rect b="b" l="l" r="r" t="t"/>
            <a:pathLst>
              <a:path extrusionOk="0" h="254000" w="1588770">
                <a:moveTo>
                  <a:pt x="0" y="253793"/>
                </a:moveTo>
                <a:lnTo>
                  <a:pt x="1588769" y="253793"/>
                </a:lnTo>
                <a:lnTo>
                  <a:pt x="158876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7" name="Google Shape;3037;p64"/>
          <p:cNvSpPr/>
          <p:nvPr/>
        </p:nvSpPr>
        <p:spPr>
          <a:xfrm>
            <a:off x="7594600" y="5080000"/>
            <a:ext cx="1549400" cy="255587"/>
          </a:xfrm>
          <a:custGeom>
            <a:rect b="b" l="l" r="r" t="t"/>
            <a:pathLst>
              <a:path extrusionOk="0" h="254635" w="1549400">
                <a:moveTo>
                  <a:pt x="0" y="254174"/>
                </a:moveTo>
                <a:lnTo>
                  <a:pt x="1549390" y="254174"/>
                </a:lnTo>
                <a:lnTo>
                  <a:pt x="154939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8" name="Google Shape;3038;p64"/>
          <p:cNvSpPr/>
          <p:nvPr/>
        </p:nvSpPr>
        <p:spPr>
          <a:xfrm>
            <a:off x="0" y="5080000"/>
            <a:ext cx="1589087" cy="255587"/>
          </a:xfrm>
          <a:custGeom>
            <a:rect b="b" l="l" r="r" t="t"/>
            <a:pathLst>
              <a:path extrusionOk="0" h="254635" w="1588770">
                <a:moveTo>
                  <a:pt x="0" y="254174"/>
                </a:moveTo>
                <a:lnTo>
                  <a:pt x="1588769" y="254174"/>
                </a:lnTo>
                <a:lnTo>
                  <a:pt x="158876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9" name="Google Shape;3039;p64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p64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1" name="Google Shape;3041;p64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2" name="Google Shape;3042;p64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3" name="Google Shape;3043;p64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4" name="Google Shape;3044;p64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5" name="Google Shape;3045;p6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p64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7" name="Google Shape;3047;p64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8" name="Google Shape;3048;p64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4479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Outer Join – Example</a:t>
            </a:r>
            <a:endParaRPr/>
          </a:p>
        </p:txBody>
      </p:sp>
      <p:sp>
        <p:nvSpPr>
          <p:cNvPr id="3049" name="Google Shape;3049;p64"/>
          <p:cNvSpPr txBox="1"/>
          <p:nvPr/>
        </p:nvSpPr>
        <p:spPr>
          <a:xfrm>
            <a:off x="874712" y="10906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050" name="Google Shape;3050;p64"/>
          <p:cNvSpPr txBox="1"/>
          <p:nvPr/>
        </p:nvSpPr>
        <p:spPr>
          <a:xfrm>
            <a:off x="1217612" y="1135062"/>
            <a:ext cx="4445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endParaRPr/>
          </a:p>
        </p:txBody>
      </p:sp>
      <p:sp>
        <p:nvSpPr>
          <p:cNvPr id="3051" name="Google Shape;3051;p64"/>
          <p:cNvSpPr txBox="1"/>
          <p:nvPr/>
        </p:nvSpPr>
        <p:spPr>
          <a:xfrm>
            <a:off x="1217612" y="1601787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</a:t>
            </a:r>
            <a:endParaRPr/>
          </a:p>
        </p:txBody>
      </p:sp>
      <p:sp>
        <p:nvSpPr>
          <p:cNvPr id="3052" name="Google Shape;3052;p64"/>
          <p:cNvSpPr txBox="1"/>
          <p:nvPr/>
        </p:nvSpPr>
        <p:spPr>
          <a:xfrm>
            <a:off x="2032000" y="1601787"/>
            <a:ext cx="9239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</a:t>
            </a:r>
            <a:endParaRPr/>
          </a:p>
        </p:txBody>
      </p:sp>
      <p:sp>
        <p:nvSpPr>
          <p:cNvPr id="3053" name="Google Shape;3053;p64"/>
          <p:cNvSpPr/>
          <p:nvPr/>
        </p:nvSpPr>
        <p:spPr>
          <a:xfrm>
            <a:off x="1790700" y="1641475"/>
            <a:ext cx="152400" cy="152400"/>
          </a:xfrm>
          <a:custGeom>
            <a:rect b="b" l="l" r="r" t="t"/>
            <a:pathLst>
              <a:path extrusionOk="0" h="152400" w="152400">
                <a:moveTo>
                  <a:pt x="152399" y="152399"/>
                </a:moveTo>
                <a:lnTo>
                  <a:pt x="0" y="0"/>
                </a:lnTo>
                <a:lnTo>
                  <a:pt x="0" y="152399"/>
                </a:lnTo>
                <a:lnTo>
                  <a:pt x="152399" y="0"/>
                </a:lnTo>
                <a:lnTo>
                  <a:pt x="152399" y="152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4" name="Google Shape;3054;p64"/>
          <p:cNvSpPr/>
          <p:nvPr/>
        </p:nvSpPr>
        <p:spPr>
          <a:xfrm>
            <a:off x="1524000" y="22098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9" y="0"/>
                </a:moveTo>
                <a:lnTo>
                  <a:pt x="0" y="0"/>
                </a:lnTo>
                <a:lnTo>
                  <a:pt x="0" y="304799"/>
                </a:lnTo>
                <a:lnTo>
                  <a:pt x="1600199" y="3047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5" name="Google Shape;3055;p64"/>
          <p:cNvSpPr/>
          <p:nvPr/>
        </p:nvSpPr>
        <p:spPr>
          <a:xfrm>
            <a:off x="4724400" y="2209800"/>
            <a:ext cx="1143000" cy="304800"/>
          </a:xfrm>
          <a:custGeom>
            <a:rect b="b" l="l" r="r" t="t"/>
            <a:pathLst>
              <a:path extrusionOk="0" h="304800" w="1143000">
                <a:moveTo>
                  <a:pt x="1142999" y="0"/>
                </a:moveTo>
                <a:lnTo>
                  <a:pt x="0" y="0"/>
                </a:lnTo>
                <a:lnTo>
                  <a:pt x="0" y="304799"/>
                </a:lnTo>
                <a:lnTo>
                  <a:pt x="1142999" y="304799"/>
                </a:lnTo>
                <a:lnTo>
                  <a:pt x="11429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64"/>
          <p:cNvSpPr/>
          <p:nvPr/>
        </p:nvSpPr>
        <p:spPr>
          <a:xfrm>
            <a:off x="1524000" y="2590800"/>
            <a:ext cx="1600200" cy="609600"/>
          </a:xfrm>
          <a:custGeom>
            <a:rect b="b" l="l" r="r" t="t"/>
            <a:pathLst>
              <a:path extrusionOk="0" h="609600" w="1600200">
                <a:moveTo>
                  <a:pt x="1600199" y="0"/>
                </a:moveTo>
                <a:lnTo>
                  <a:pt x="0" y="0"/>
                </a:lnTo>
                <a:lnTo>
                  <a:pt x="0" y="609599"/>
                </a:lnTo>
                <a:lnTo>
                  <a:pt x="1600199" y="6095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7" name="Google Shape;3057;p64"/>
          <p:cNvSpPr/>
          <p:nvPr/>
        </p:nvSpPr>
        <p:spPr>
          <a:xfrm>
            <a:off x="4724400" y="2590800"/>
            <a:ext cx="1143000" cy="609600"/>
          </a:xfrm>
          <a:custGeom>
            <a:rect b="b" l="l" r="r" t="t"/>
            <a:pathLst>
              <a:path extrusionOk="0" h="609600" w="1143000">
                <a:moveTo>
                  <a:pt x="1142999" y="0"/>
                </a:moveTo>
                <a:lnTo>
                  <a:pt x="0" y="0"/>
                </a:lnTo>
                <a:lnTo>
                  <a:pt x="0" y="609599"/>
                </a:lnTo>
                <a:lnTo>
                  <a:pt x="1142999" y="609599"/>
                </a:lnTo>
                <a:lnTo>
                  <a:pt x="11429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64"/>
          <p:cNvSpPr/>
          <p:nvPr/>
        </p:nvSpPr>
        <p:spPr>
          <a:xfrm>
            <a:off x="5867400" y="2209800"/>
            <a:ext cx="1676400" cy="304800"/>
          </a:xfrm>
          <a:custGeom>
            <a:rect b="b" l="l" r="r" t="t"/>
            <a:pathLst>
              <a:path extrusionOk="0" h="304800" w="1676400">
                <a:moveTo>
                  <a:pt x="1676399" y="0"/>
                </a:moveTo>
                <a:lnTo>
                  <a:pt x="0" y="0"/>
                </a:lnTo>
                <a:lnTo>
                  <a:pt x="0" y="304799"/>
                </a:lnTo>
                <a:lnTo>
                  <a:pt x="1676399" y="3047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9" name="Google Shape;3059;p64"/>
          <p:cNvSpPr/>
          <p:nvPr/>
        </p:nvSpPr>
        <p:spPr>
          <a:xfrm>
            <a:off x="5867400" y="2590800"/>
            <a:ext cx="1676400" cy="609600"/>
          </a:xfrm>
          <a:custGeom>
            <a:rect b="b" l="l" r="r" t="t"/>
            <a:pathLst>
              <a:path extrusionOk="0" h="609600" w="1676400">
                <a:moveTo>
                  <a:pt x="1676399" y="0"/>
                </a:moveTo>
                <a:lnTo>
                  <a:pt x="0" y="0"/>
                </a:lnTo>
                <a:lnTo>
                  <a:pt x="0" y="609599"/>
                </a:lnTo>
                <a:lnTo>
                  <a:pt x="1676399" y="6095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0" name="Google Shape;3060;p64"/>
          <p:cNvSpPr/>
          <p:nvPr/>
        </p:nvSpPr>
        <p:spPr>
          <a:xfrm>
            <a:off x="3124200" y="22098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9" y="0"/>
                </a:moveTo>
                <a:lnTo>
                  <a:pt x="0" y="0"/>
                </a:lnTo>
                <a:lnTo>
                  <a:pt x="0" y="304799"/>
                </a:lnTo>
                <a:lnTo>
                  <a:pt x="1600199" y="3047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1" name="Google Shape;3061;p64"/>
          <p:cNvSpPr/>
          <p:nvPr/>
        </p:nvSpPr>
        <p:spPr>
          <a:xfrm>
            <a:off x="3124200" y="2590800"/>
            <a:ext cx="1600200" cy="609600"/>
          </a:xfrm>
          <a:custGeom>
            <a:rect b="b" l="l" r="r" t="t"/>
            <a:pathLst>
              <a:path extrusionOk="0" h="609600" w="1600200">
                <a:moveTo>
                  <a:pt x="1600199" y="0"/>
                </a:moveTo>
                <a:lnTo>
                  <a:pt x="0" y="0"/>
                </a:lnTo>
                <a:lnTo>
                  <a:pt x="0" y="609599"/>
                </a:lnTo>
                <a:lnTo>
                  <a:pt x="1600199" y="6095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2" name="Google Shape;3062;p64"/>
          <p:cNvSpPr/>
          <p:nvPr/>
        </p:nvSpPr>
        <p:spPr>
          <a:xfrm>
            <a:off x="5918200" y="4635500"/>
            <a:ext cx="1676400" cy="838200"/>
          </a:xfrm>
          <a:custGeom>
            <a:rect b="b" l="l" r="r" t="t"/>
            <a:pathLst>
              <a:path extrusionOk="0" h="838200" w="1676400">
                <a:moveTo>
                  <a:pt x="1676399" y="0"/>
                </a:moveTo>
                <a:lnTo>
                  <a:pt x="0" y="0"/>
                </a:lnTo>
                <a:lnTo>
                  <a:pt x="0" y="838199"/>
                </a:lnTo>
                <a:lnTo>
                  <a:pt x="1676399" y="8381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3" name="Google Shape;3063;p64"/>
          <p:cNvSpPr/>
          <p:nvPr/>
        </p:nvSpPr>
        <p:spPr>
          <a:xfrm>
            <a:off x="1603375" y="42545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3" y="0"/>
                </a:moveTo>
                <a:lnTo>
                  <a:pt x="0" y="0"/>
                </a:lnTo>
                <a:lnTo>
                  <a:pt x="0" y="304799"/>
                </a:lnTo>
                <a:lnTo>
                  <a:pt x="1600193" y="304799"/>
                </a:lnTo>
                <a:lnTo>
                  <a:pt x="16001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4" name="Google Shape;3064;p64"/>
          <p:cNvSpPr/>
          <p:nvPr/>
        </p:nvSpPr>
        <p:spPr>
          <a:xfrm>
            <a:off x="4803775" y="4254500"/>
            <a:ext cx="1143000" cy="304800"/>
          </a:xfrm>
          <a:custGeom>
            <a:rect b="b" l="l" r="r" t="t"/>
            <a:pathLst>
              <a:path extrusionOk="0" h="304800" w="1143000">
                <a:moveTo>
                  <a:pt x="1142999" y="0"/>
                </a:moveTo>
                <a:lnTo>
                  <a:pt x="0" y="0"/>
                </a:lnTo>
                <a:lnTo>
                  <a:pt x="0" y="304799"/>
                </a:lnTo>
                <a:lnTo>
                  <a:pt x="1142999" y="304799"/>
                </a:lnTo>
                <a:lnTo>
                  <a:pt x="11429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p64"/>
          <p:cNvSpPr/>
          <p:nvPr/>
        </p:nvSpPr>
        <p:spPr>
          <a:xfrm>
            <a:off x="1589087" y="4635500"/>
            <a:ext cx="1600200" cy="838200"/>
          </a:xfrm>
          <a:custGeom>
            <a:rect b="b" l="l" r="r" t="t"/>
            <a:pathLst>
              <a:path extrusionOk="0" h="838200" w="1600200">
                <a:moveTo>
                  <a:pt x="1600199" y="0"/>
                </a:moveTo>
                <a:lnTo>
                  <a:pt x="0" y="0"/>
                </a:lnTo>
                <a:lnTo>
                  <a:pt x="0" y="838199"/>
                </a:lnTo>
                <a:lnTo>
                  <a:pt x="1600199" y="8381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64"/>
          <p:cNvSpPr/>
          <p:nvPr/>
        </p:nvSpPr>
        <p:spPr>
          <a:xfrm>
            <a:off x="4775200" y="4635500"/>
            <a:ext cx="1143000" cy="838200"/>
          </a:xfrm>
          <a:custGeom>
            <a:rect b="b" l="l" r="r" t="t"/>
            <a:pathLst>
              <a:path extrusionOk="0" h="838200" w="1143000">
                <a:moveTo>
                  <a:pt x="1142999" y="0"/>
                </a:moveTo>
                <a:lnTo>
                  <a:pt x="0" y="0"/>
                </a:lnTo>
                <a:lnTo>
                  <a:pt x="0" y="838199"/>
                </a:lnTo>
                <a:lnTo>
                  <a:pt x="1142999" y="838199"/>
                </a:lnTo>
                <a:lnTo>
                  <a:pt x="11429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64"/>
          <p:cNvSpPr/>
          <p:nvPr/>
        </p:nvSpPr>
        <p:spPr>
          <a:xfrm>
            <a:off x="5945187" y="4254500"/>
            <a:ext cx="1676400" cy="304800"/>
          </a:xfrm>
          <a:custGeom>
            <a:rect b="b" l="l" r="r" t="t"/>
            <a:pathLst>
              <a:path extrusionOk="0" h="304800" w="1676400">
                <a:moveTo>
                  <a:pt x="1676399" y="0"/>
                </a:moveTo>
                <a:lnTo>
                  <a:pt x="0" y="0"/>
                </a:lnTo>
                <a:lnTo>
                  <a:pt x="0" y="304799"/>
                </a:lnTo>
                <a:lnTo>
                  <a:pt x="1676399" y="3047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64"/>
          <p:cNvSpPr/>
          <p:nvPr/>
        </p:nvSpPr>
        <p:spPr>
          <a:xfrm>
            <a:off x="3203575" y="42545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9" y="0"/>
                </a:moveTo>
                <a:lnTo>
                  <a:pt x="0" y="0"/>
                </a:lnTo>
                <a:lnTo>
                  <a:pt x="0" y="304799"/>
                </a:lnTo>
                <a:lnTo>
                  <a:pt x="1600199" y="3047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64"/>
          <p:cNvSpPr/>
          <p:nvPr/>
        </p:nvSpPr>
        <p:spPr>
          <a:xfrm>
            <a:off x="3175000" y="4635500"/>
            <a:ext cx="1600200" cy="838200"/>
          </a:xfrm>
          <a:custGeom>
            <a:rect b="b" l="l" r="r" t="t"/>
            <a:pathLst>
              <a:path extrusionOk="0" h="838200" w="1600200">
                <a:moveTo>
                  <a:pt x="1600199" y="0"/>
                </a:moveTo>
                <a:lnTo>
                  <a:pt x="0" y="0"/>
                </a:lnTo>
                <a:lnTo>
                  <a:pt x="0" y="838199"/>
                </a:lnTo>
                <a:lnTo>
                  <a:pt x="1600199" y="8381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64"/>
          <p:cNvSpPr txBox="1"/>
          <p:nvPr/>
        </p:nvSpPr>
        <p:spPr>
          <a:xfrm>
            <a:off x="871537" y="3462337"/>
            <a:ext cx="1744662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90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2"/>
              <a:buFont typeface="MS Gothic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Outer Join</a:t>
            </a:r>
            <a:endParaRPr/>
          </a:p>
        </p:txBody>
      </p:sp>
      <p:sp>
        <p:nvSpPr>
          <p:cNvPr id="3071" name="Google Shape;3071;p64"/>
          <p:cNvSpPr txBox="1"/>
          <p:nvPr/>
        </p:nvSpPr>
        <p:spPr>
          <a:xfrm>
            <a:off x="1127125" y="3883025"/>
            <a:ext cx="455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</a:t>
            </a:r>
            <a:endParaRPr/>
          </a:p>
        </p:txBody>
      </p:sp>
      <p:sp>
        <p:nvSpPr>
          <p:cNvPr id="3072" name="Google Shape;3072;p64"/>
          <p:cNvSpPr txBox="1"/>
          <p:nvPr/>
        </p:nvSpPr>
        <p:spPr>
          <a:xfrm>
            <a:off x="2197100" y="3883025"/>
            <a:ext cx="9239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</a:t>
            </a:r>
            <a:endParaRPr/>
          </a:p>
        </p:txBody>
      </p:sp>
      <p:sp>
        <p:nvSpPr>
          <p:cNvPr id="3073" name="Google Shape;3073;p64"/>
          <p:cNvSpPr/>
          <p:nvPr/>
        </p:nvSpPr>
        <p:spPr>
          <a:xfrm>
            <a:off x="1844675" y="3913187"/>
            <a:ext cx="211137" cy="209550"/>
          </a:xfrm>
          <a:custGeom>
            <a:rect b="b" l="l" r="r" t="t"/>
            <a:pathLst>
              <a:path extrusionOk="0" h="209550" w="210819">
                <a:moveTo>
                  <a:pt x="210811" y="209549"/>
                </a:moveTo>
                <a:lnTo>
                  <a:pt x="0" y="0"/>
                </a:lnTo>
                <a:lnTo>
                  <a:pt x="0" y="209549"/>
                </a:lnTo>
                <a:lnTo>
                  <a:pt x="210811" y="0"/>
                </a:lnTo>
                <a:lnTo>
                  <a:pt x="210811" y="20954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64"/>
          <p:cNvSpPr/>
          <p:nvPr/>
        </p:nvSpPr>
        <p:spPr>
          <a:xfrm>
            <a:off x="1646237" y="3916362"/>
            <a:ext cx="203200" cy="0"/>
          </a:xfrm>
          <a:custGeom>
            <a:rect b="b" l="l" r="r" t="t"/>
            <a:pathLst>
              <a:path extrusionOk="0" h="120000" w="203200">
                <a:moveTo>
                  <a:pt x="203204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64"/>
          <p:cNvSpPr/>
          <p:nvPr/>
        </p:nvSpPr>
        <p:spPr>
          <a:xfrm>
            <a:off x="1641475" y="4111625"/>
            <a:ext cx="203200" cy="0"/>
          </a:xfrm>
          <a:custGeom>
            <a:rect b="b" l="l" r="r" t="t"/>
            <a:pathLst>
              <a:path extrusionOk="0" h="120000" w="203200">
                <a:moveTo>
                  <a:pt x="203204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6" name="Google Shape;3076;p64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077" name="Google Shape;3077;p64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078" name="Google Shape;3078;p64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graphicFrame>
        <p:nvGraphicFramePr>
          <p:cNvPr id="3079" name="Google Shape;3079;p64"/>
          <p:cNvGraphicFramePr/>
          <p:nvPr/>
        </p:nvGraphicFramePr>
        <p:xfrm>
          <a:off x="1519237" y="2205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600200"/>
                <a:gridCol w="1600200"/>
                <a:gridCol w="1143000"/>
                <a:gridCol w="1676400"/>
              </a:tblGrid>
              <a:tr h="304800">
                <a:tc>
                  <a:txBody>
                    <a:bodyPr/>
                    <a:lstStyle/>
                    <a:p>
                      <a:pPr indent="0" lvl="0" marL="1285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loan_number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68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branch_name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84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amount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2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customer_name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80" name="Google Shape;3080;p64"/>
          <p:cNvGraphicFramePr/>
          <p:nvPr/>
        </p:nvGraphicFramePr>
        <p:xfrm>
          <a:off x="1519237" y="2586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600200"/>
                <a:gridCol w="1600200"/>
                <a:gridCol w="1143000"/>
                <a:gridCol w="1676400"/>
              </a:tblGrid>
              <a:tr h="609600">
                <a:tc>
                  <a:txBody>
                    <a:bodyPr/>
                    <a:lstStyle/>
                    <a:p>
                      <a:pPr indent="0" lvl="0" marL="82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L-170 L-230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2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Downtown Redwood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11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3000</a:t>
                      </a:r>
                      <a:endParaRPr/>
                    </a:p>
                    <a:p>
                      <a:pPr indent="0" lvl="0" marL="311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2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Jones Smith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81" name="Google Shape;3081;p64"/>
          <p:cNvGraphicFramePr/>
          <p:nvPr/>
        </p:nvGraphicFramePr>
        <p:xfrm>
          <a:off x="1584325" y="4630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592250"/>
                <a:gridCol w="1593850"/>
                <a:gridCol w="1143000"/>
                <a:gridCol w="1676400"/>
              </a:tblGrid>
              <a:tr h="309550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L-170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6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Downtown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311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82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Jones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L-230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76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Redwood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311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82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Smith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L-260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6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Perryridge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1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2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82" name="Google Shape;3082;p64"/>
          <p:cNvGraphicFramePr/>
          <p:nvPr/>
        </p:nvGraphicFramePr>
        <p:xfrm>
          <a:off x="1598612" y="4249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600200"/>
                <a:gridCol w="1600200"/>
                <a:gridCol w="1141400"/>
                <a:gridCol w="1676400"/>
              </a:tblGrid>
              <a:tr h="304800">
                <a:tc>
                  <a:txBody>
                    <a:bodyPr/>
                    <a:lstStyle/>
                    <a:p>
                      <a:pPr indent="0" lvl="0" marL="1301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loan_number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84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branch_name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857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amount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2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customer_name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6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p65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8" name="Google Shape;3088;p65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9" name="Google Shape;3089;p65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0" name="Google Shape;3090;p65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1" name="Google Shape;3091;p65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2" name="Google Shape;3092;p65"/>
          <p:cNvSpPr/>
          <p:nvPr/>
        </p:nvSpPr>
        <p:spPr>
          <a:xfrm>
            <a:off x="7315200" y="2538412"/>
            <a:ext cx="1828800" cy="252412"/>
          </a:xfrm>
          <a:custGeom>
            <a:rect b="b" l="l" r="r" t="t"/>
            <a:pathLst>
              <a:path extrusionOk="0" h="252730" w="1828800">
                <a:moveTo>
                  <a:pt x="0" y="252221"/>
                </a:moveTo>
                <a:lnTo>
                  <a:pt x="1828800" y="252221"/>
                </a:lnTo>
                <a:lnTo>
                  <a:pt x="1828800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3" name="Google Shape;3093;p65"/>
          <p:cNvSpPr/>
          <p:nvPr/>
        </p:nvSpPr>
        <p:spPr>
          <a:xfrm>
            <a:off x="0" y="2538412"/>
            <a:ext cx="1295400" cy="252412"/>
          </a:xfrm>
          <a:custGeom>
            <a:rect b="b" l="l" r="r" t="t"/>
            <a:pathLst>
              <a:path extrusionOk="0" h="252730" w="1295400">
                <a:moveTo>
                  <a:pt x="0" y="252221"/>
                </a:moveTo>
                <a:lnTo>
                  <a:pt x="1295399" y="252221"/>
                </a:lnTo>
                <a:lnTo>
                  <a:pt x="1295399" y="0"/>
                </a:lnTo>
                <a:lnTo>
                  <a:pt x="0" y="0"/>
                </a:lnTo>
                <a:lnTo>
                  <a:pt x="0" y="25222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4" name="Google Shape;3094;p65"/>
          <p:cNvSpPr/>
          <p:nvPr/>
        </p:nvSpPr>
        <p:spPr>
          <a:xfrm>
            <a:off x="7315200" y="2790825"/>
            <a:ext cx="1828800" cy="255587"/>
          </a:xfrm>
          <a:custGeom>
            <a:rect b="b" l="l" r="r" t="t"/>
            <a:pathLst>
              <a:path extrusionOk="0" h="255905" w="1828800">
                <a:moveTo>
                  <a:pt x="0" y="255389"/>
                </a:moveTo>
                <a:lnTo>
                  <a:pt x="1828800" y="255389"/>
                </a:lnTo>
                <a:lnTo>
                  <a:pt x="1828800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5" name="Google Shape;3095;p65"/>
          <p:cNvSpPr/>
          <p:nvPr/>
        </p:nvSpPr>
        <p:spPr>
          <a:xfrm>
            <a:off x="0" y="2790825"/>
            <a:ext cx="1295400" cy="255587"/>
          </a:xfrm>
          <a:custGeom>
            <a:rect b="b" l="l" r="r" t="t"/>
            <a:pathLst>
              <a:path extrusionOk="0" h="255905" w="1295400">
                <a:moveTo>
                  <a:pt x="0" y="255389"/>
                </a:moveTo>
                <a:lnTo>
                  <a:pt x="1295399" y="255389"/>
                </a:lnTo>
                <a:lnTo>
                  <a:pt x="1295399" y="0"/>
                </a:lnTo>
                <a:lnTo>
                  <a:pt x="0" y="0"/>
                </a:lnTo>
                <a:lnTo>
                  <a:pt x="0" y="255389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6" name="Google Shape;3096;p65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7" name="Google Shape;3097;p65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8" name="Google Shape;3098;p65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9" name="Google Shape;3099;p65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0" name="Google Shape;3100;p65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1" name="Google Shape;3101;p65"/>
          <p:cNvSpPr/>
          <p:nvPr/>
        </p:nvSpPr>
        <p:spPr>
          <a:xfrm>
            <a:off x="7239000" y="4318000"/>
            <a:ext cx="1905000" cy="255587"/>
          </a:xfrm>
          <a:custGeom>
            <a:rect b="b" l="l" r="r" t="t"/>
            <a:pathLst>
              <a:path extrusionOk="0" h="254635" w="1905000">
                <a:moveTo>
                  <a:pt x="0" y="254150"/>
                </a:moveTo>
                <a:lnTo>
                  <a:pt x="1905000" y="254150"/>
                </a:lnTo>
                <a:lnTo>
                  <a:pt x="190500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2" name="Google Shape;3102;p65"/>
          <p:cNvSpPr/>
          <p:nvPr/>
        </p:nvSpPr>
        <p:spPr>
          <a:xfrm>
            <a:off x="0" y="4318000"/>
            <a:ext cx="1219200" cy="255587"/>
          </a:xfrm>
          <a:custGeom>
            <a:rect b="b" l="l" r="r" t="t"/>
            <a:pathLst>
              <a:path extrusionOk="0" h="254635" w="1219200">
                <a:moveTo>
                  <a:pt x="0" y="254150"/>
                </a:moveTo>
                <a:lnTo>
                  <a:pt x="1219199" y="254150"/>
                </a:lnTo>
                <a:lnTo>
                  <a:pt x="12191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3" name="Google Shape;3103;p65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4" name="Google Shape;3104;p65"/>
          <p:cNvSpPr/>
          <p:nvPr/>
        </p:nvSpPr>
        <p:spPr>
          <a:xfrm>
            <a:off x="7239000" y="4826000"/>
            <a:ext cx="1905000" cy="254000"/>
          </a:xfrm>
          <a:custGeom>
            <a:rect b="b" l="l" r="r" t="t"/>
            <a:pathLst>
              <a:path extrusionOk="0" h="254000" w="1905000">
                <a:moveTo>
                  <a:pt x="0" y="253793"/>
                </a:moveTo>
                <a:lnTo>
                  <a:pt x="1905000" y="253793"/>
                </a:lnTo>
                <a:lnTo>
                  <a:pt x="1905000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5" name="Google Shape;3105;p65"/>
          <p:cNvSpPr/>
          <p:nvPr/>
        </p:nvSpPr>
        <p:spPr>
          <a:xfrm>
            <a:off x="0" y="4826000"/>
            <a:ext cx="1219200" cy="254000"/>
          </a:xfrm>
          <a:custGeom>
            <a:rect b="b" l="l" r="r" t="t"/>
            <a:pathLst>
              <a:path extrusionOk="0" h="254000" w="1219200">
                <a:moveTo>
                  <a:pt x="0" y="253793"/>
                </a:moveTo>
                <a:lnTo>
                  <a:pt x="1219199" y="253793"/>
                </a:lnTo>
                <a:lnTo>
                  <a:pt x="1219199" y="0"/>
                </a:lnTo>
                <a:lnTo>
                  <a:pt x="0" y="0"/>
                </a:lnTo>
                <a:lnTo>
                  <a:pt x="0" y="253793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6" name="Google Shape;3106;p65"/>
          <p:cNvSpPr/>
          <p:nvPr/>
        </p:nvSpPr>
        <p:spPr>
          <a:xfrm>
            <a:off x="7239000" y="5080000"/>
            <a:ext cx="1905000" cy="255587"/>
          </a:xfrm>
          <a:custGeom>
            <a:rect b="b" l="l" r="r" t="t"/>
            <a:pathLst>
              <a:path extrusionOk="0" h="254635" w="1905000">
                <a:moveTo>
                  <a:pt x="0" y="254174"/>
                </a:moveTo>
                <a:lnTo>
                  <a:pt x="1905000" y="254174"/>
                </a:lnTo>
                <a:lnTo>
                  <a:pt x="1905000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p65"/>
          <p:cNvSpPr/>
          <p:nvPr/>
        </p:nvSpPr>
        <p:spPr>
          <a:xfrm>
            <a:off x="0" y="5080000"/>
            <a:ext cx="1219200" cy="255587"/>
          </a:xfrm>
          <a:custGeom>
            <a:rect b="b" l="l" r="r" t="t"/>
            <a:pathLst>
              <a:path extrusionOk="0" h="254635" w="1219200">
                <a:moveTo>
                  <a:pt x="0" y="254174"/>
                </a:moveTo>
                <a:lnTo>
                  <a:pt x="1219199" y="254174"/>
                </a:lnTo>
                <a:lnTo>
                  <a:pt x="1219199" y="0"/>
                </a:lnTo>
                <a:lnTo>
                  <a:pt x="0" y="0"/>
                </a:lnTo>
                <a:lnTo>
                  <a:pt x="0" y="254174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65"/>
          <p:cNvSpPr/>
          <p:nvPr/>
        </p:nvSpPr>
        <p:spPr>
          <a:xfrm>
            <a:off x="7239000" y="5334000"/>
            <a:ext cx="1905000" cy="255587"/>
          </a:xfrm>
          <a:custGeom>
            <a:rect b="b" l="l" r="r" t="t"/>
            <a:pathLst>
              <a:path extrusionOk="0" h="254635" w="1905000">
                <a:moveTo>
                  <a:pt x="0" y="254150"/>
                </a:moveTo>
                <a:lnTo>
                  <a:pt x="1905000" y="254150"/>
                </a:lnTo>
                <a:lnTo>
                  <a:pt x="1905000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9" name="Google Shape;3109;p65"/>
          <p:cNvSpPr/>
          <p:nvPr/>
        </p:nvSpPr>
        <p:spPr>
          <a:xfrm>
            <a:off x="0" y="5334000"/>
            <a:ext cx="1219200" cy="255587"/>
          </a:xfrm>
          <a:custGeom>
            <a:rect b="b" l="l" r="r" t="t"/>
            <a:pathLst>
              <a:path extrusionOk="0" h="254635" w="1219200">
                <a:moveTo>
                  <a:pt x="0" y="254150"/>
                </a:moveTo>
                <a:lnTo>
                  <a:pt x="1219199" y="254150"/>
                </a:lnTo>
                <a:lnTo>
                  <a:pt x="1219199" y="0"/>
                </a:lnTo>
                <a:lnTo>
                  <a:pt x="0" y="0"/>
                </a:lnTo>
                <a:lnTo>
                  <a:pt x="0" y="25415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0" name="Google Shape;3110;p65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1" name="Google Shape;3111;p65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2" name="Google Shape;3112;p65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3" name="Google Shape;3113;p65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4" name="Google Shape;3114;p65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5" name="Google Shape;3115;p6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6" name="Google Shape;3116;p65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7" name="Google Shape;3117;p65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8" name="Google Shape;3118;p65"/>
          <p:cNvSpPr/>
          <p:nvPr/>
        </p:nvSpPr>
        <p:spPr>
          <a:xfrm>
            <a:off x="1295400" y="2060575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9" y="0"/>
                </a:moveTo>
                <a:lnTo>
                  <a:pt x="0" y="0"/>
                </a:lnTo>
                <a:lnTo>
                  <a:pt x="0" y="304799"/>
                </a:lnTo>
                <a:lnTo>
                  <a:pt x="1600199" y="3047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9" name="Google Shape;3119;p65"/>
          <p:cNvSpPr/>
          <p:nvPr/>
        </p:nvSpPr>
        <p:spPr>
          <a:xfrm>
            <a:off x="1295400" y="2060575"/>
            <a:ext cx="1600200" cy="304800"/>
          </a:xfrm>
          <a:custGeom>
            <a:rect b="b" l="l" r="r" t="t"/>
            <a:pathLst>
              <a:path extrusionOk="0" h="304800" w="1600200">
                <a:moveTo>
                  <a:pt x="798825" y="304799"/>
                </a:moveTo>
                <a:lnTo>
                  <a:pt x="0" y="304799"/>
                </a:lnTo>
                <a:lnTo>
                  <a:pt x="0" y="0"/>
                </a:lnTo>
                <a:lnTo>
                  <a:pt x="1600199" y="0"/>
                </a:lnTo>
                <a:lnTo>
                  <a:pt x="1600199" y="304799"/>
                </a:lnTo>
                <a:lnTo>
                  <a:pt x="798825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0" name="Google Shape;3120;p65"/>
          <p:cNvSpPr/>
          <p:nvPr/>
        </p:nvSpPr>
        <p:spPr>
          <a:xfrm>
            <a:off x="4495800" y="2060575"/>
            <a:ext cx="1143000" cy="304800"/>
          </a:xfrm>
          <a:custGeom>
            <a:rect b="b" l="l" r="r" t="t"/>
            <a:pathLst>
              <a:path extrusionOk="0" h="304800" w="1143000">
                <a:moveTo>
                  <a:pt x="1142999" y="0"/>
                </a:moveTo>
                <a:lnTo>
                  <a:pt x="0" y="0"/>
                </a:lnTo>
                <a:lnTo>
                  <a:pt x="0" y="304799"/>
                </a:lnTo>
                <a:lnTo>
                  <a:pt x="1142999" y="304799"/>
                </a:lnTo>
                <a:lnTo>
                  <a:pt x="11429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1" name="Google Shape;3121;p65"/>
          <p:cNvSpPr/>
          <p:nvPr/>
        </p:nvSpPr>
        <p:spPr>
          <a:xfrm>
            <a:off x="4495800" y="2060575"/>
            <a:ext cx="1143000" cy="304800"/>
          </a:xfrm>
          <a:custGeom>
            <a:rect b="b" l="l" r="r" t="t"/>
            <a:pathLst>
              <a:path extrusionOk="0" h="304800" w="1143000">
                <a:moveTo>
                  <a:pt x="57021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142999" y="0"/>
                </a:lnTo>
                <a:lnTo>
                  <a:pt x="1142999" y="304799"/>
                </a:lnTo>
                <a:lnTo>
                  <a:pt x="570219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2" name="Google Shape;3122;p65"/>
          <p:cNvSpPr/>
          <p:nvPr/>
        </p:nvSpPr>
        <p:spPr>
          <a:xfrm>
            <a:off x="1295400" y="2443162"/>
            <a:ext cx="1600200" cy="838200"/>
          </a:xfrm>
          <a:custGeom>
            <a:rect b="b" l="l" r="r" t="t"/>
            <a:pathLst>
              <a:path extrusionOk="0" h="838200" w="1600200">
                <a:moveTo>
                  <a:pt x="1600199" y="0"/>
                </a:moveTo>
                <a:lnTo>
                  <a:pt x="0" y="0"/>
                </a:lnTo>
                <a:lnTo>
                  <a:pt x="0" y="838199"/>
                </a:lnTo>
                <a:lnTo>
                  <a:pt x="1600199" y="8381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3" name="Google Shape;3123;p65"/>
          <p:cNvSpPr/>
          <p:nvPr/>
        </p:nvSpPr>
        <p:spPr>
          <a:xfrm>
            <a:off x="1295400" y="2443162"/>
            <a:ext cx="1600200" cy="838200"/>
          </a:xfrm>
          <a:custGeom>
            <a:rect b="b" l="l" r="r" t="t"/>
            <a:pathLst>
              <a:path extrusionOk="0" h="838200" w="1600200">
                <a:moveTo>
                  <a:pt x="798825" y="838199"/>
                </a:moveTo>
                <a:lnTo>
                  <a:pt x="0" y="838199"/>
                </a:lnTo>
                <a:lnTo>
                  <a:pt x="0" y="0"/>
                </a:lnTo>
                <a:lnTo>
                  <a:pt x="1600199" y="0"/>
                </a:lnTo>
                <a:lnTo>
                  <a:pt x="1600199" y="838199"/>
                </a:lnTo>
                <a:lnTo>
                  <a:pt x="798825" y="838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4" name="Google Shape;3124;p65"/>
          <p:cNvSpPr/>
          <p:nvPr/>
        </p:nvSpPr>
        <p:spPr>
          <a:xfrm>
            <a:off x="4495800" y="2443162"/>
            <a:ext cx="1143000" cy="838200"/>
          </a:xfrm>
          <a:custGeom>
            <a:rect b="b" l="l" r="r" t="t"/>
            <a:pathLst>
              <a:path extrusionOk="0" h="838200" w="1143000">
                <a:moveTo>
                  <a:pt x="1142999" y="0"/>
                </a:moveTo>
                <a:lnTo>
                  <a:pt x="0" y="0"/>
                </a:lnTo>
                <a:lnTo>
                  <a:pt x="0" y="838199"/>
                </a:lnTo>
                <a:lnTo>
                  <a:pt x="1142999" y="838199"/>
                </a:lnTo>
                <a:lnTo>
                  <a:pt x="11429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5" name="Google Shape;3125;p65"/>
          <p:cNvSpPr/>
          <p:nvPr/>
        </p:nvSpPr>
        <p:spPr>
          <a:xfrm>
            <a:off x="4495800" y="2443162"/>
            <a:ext cx="1143000" cy="838200"/>
          </a:xfrm>
          <a:custGeom>
            <a:rect b="b" l="l" r="r" t="t"/>
            <a:pathLst>
              <a:path extrusionOk="0" h="838200" w="1143000">
                <a:moveTo>
                  <a:pt x="570219" y="838199"/>
                </a:moveTo>
                <a:lnTo>
                  <a:pt x="0" y="838199"/>
                </a:lnTo>
                <a:lnTo>
                  <a:pt x="0" y="0"/>
                </a:lnTo>
                <a:lnTo>
                  <a:pt x="1142999" y="0"/>
                </a:lnTo>
                <a:lnTo>
                  <a:pt x="1142999" y="838199"/>
                </a:lnTo>
                <a:lnTo>
                  <a:pt x="570219" y="838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6" name="Google Shape;3126;p65"/>
          <p:cNvSpPr/>
          <p:nvPr/>
        </p:nvSpPr>
        <p:spPr>
          <a:xfrm>
            <a:off x="5638800" y="2060575"/>
            <a:ext cx="1676400" cy="304800"/>
          </a:xfrm>
          <a:custGeom>
            <a:rect b="b" l="l" r="r" t="t"/>
            <a:pathLst>
              <a:path extrusionOk="0" h="304800" w="1676400">
                <a:moveTo>
                  <a:pt x="1676399" y="0"/>
                </a:moveTo>
                <a:lnTo>
                  <a:pt x="0" y="0"/>
                </a:lnTo>
                <a:lnTo>
                  <a:pt x="0" y="304799"/>
                </a:lnTo>
                <a:lnTo>
                  <a:pt x="1676399" y="3047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7" name="Google Shape;3127;p65"/>
          <p:cNvSpPr/>
          <p:nvPr/>
        </p:nvSpPr>
        <p:spPr>
          <a:xfrm>
            <a:off x="5638800" y="2060575"/>
            <a:ext cx="1676400" cy="304800"/>
          </a:xfrm>
          <a:custGeom>
            <a:rect b="b" l="l" r="r" t="t"/>
            <a:pathLst>
              <a:path extrusionOk="0" h="304800" w="1676400">
                <a:moveTo>
                  <a:pt x="83819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676399" y="0"/>
                </a:lnTo>
                <a:lnTo>
                  <a:pt x="1676399" y="304799"/>
                </a:lnTo>
                <a:lnTo>
                  <a:pt x="838199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8" name="Google Shape;3128;p65"/>
          <p:cNvSpPr/>
          <p:nvPr/>
        </p:nvSpPr>
        <p:spPr>
          <a:xfrm>
            <a:off x="5638800" y="2443162"/>
            <a:ext cx="1676400" cy="838200"/>
          </a:xfrm>
          <a:custGeom>
            <a:rect b="b" l="l" r="r" t="t"/>
            <a:pathLst>
              <a:path extrusionOk="0" h="838200" w="1676400">
                <a:moveTo>
                  <a:pt x="1676399" y="0"/>
                </a:moveTo>
                <a:lnTo>
                  <a:pt x="0" y="0"/>
                </a:lnTo>
                <a:lnTo>
                  <a:pt x="0" y="838199"/>
                </a:lnTo>
                <a:lnTo>
                  <a:pt x="1676399" y="8381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65"/>
          <p:cNvSpPr/>
          <p:nvPr/>
        </p:nvSpPr>
        <p:spPr>
          <a:xfrm>
            <a:off x="5638800" y="2443162"/>
            <a:ext cx="1676400" cy="838200"/>
          </a:xfrm>
          <a:custGeom>
            <a:rect b="b" l="l" r="r" t="t"/>
            <a:pathLst>
              <a:path extrusionOk="0" h="838200" w="1676400">
                <a:moveTo>
                  <a:pt x="838199" y="838199"/>
                </a:moveTo>
                <a:lnTo>
                  <a:pt x="0" y="838199"/>
                </a:lnTo>
                <a:lnTo>
                  <a:pt x="0" y="0"/>
                </a:lnTo>
                <a:lnTo>
                  <a:pt x="1676399" y="0"/>
                </a:lnTo>
                <a:lnTo>
                  <a:pt x="1676399" y="838199"/>
                </a:lnTo>
                <a:lnTo>
                  <a:pt x="838199" y="838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0" name="Google Shape;3130;p65"/>
          <p:cNvSpPr/>
          <p:nvPr/>
        </p:nvSpPr>
        <p:spPr>
          <a:xfrm>
            <a:off x="2895600" y="2060575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9" y="0"/>
                </a:moveTo>
                <a:lnTo>
                  <a:pt x="0" y="0"/>
                </a:lnTo>
                <a:lnTo>
                  <a:pt x="0" y="304799"/>
                </a:lnTo>
                <a:lnTo>
                  <a:pt x="1600199" y="3047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1" name="Google Shape;3131;p65"/>
          <p:cNvSpPr/>
          <p:nvPr/>
        </p:nvSpPr>
        <p:spPr>
          <a:xfrm>
            <a:off x="2895600" y="2060575"/>
            <a:ext cx="1600200" cy="304800"/>
          </a:xfrm>
          <a:custGeom>
            <a:rect b="b" l="l" r="r" t="t"/>
            <a:pathLst>
              <a:path extrusionOk="0" h="304800" w="1600200">
                <a:moveTo>
                  <a:pt x="79881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600199" y="0"/>
                </a:lnTo>
                <a:lnTo>
                  <a:pt x="1600199" y="304799"/>
                </a:lnTo>
                <a:lnTo>
                  <a:pt x="798819" y="3047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2" name="Google Shape;3132;p65"/>
          <p:cNvSpPr/>
          <p:nvPr/>
        </p:nvSpPr>
        <p:spPr>
          <a:xfrm>
            <a:off x="2895600" y="2443162"/>
            <a:ext cx="1600200" cy="838200"/>
          </a:xfrm>
          <a:custGeom>
            <a:rect b="b" l="l" r="r" t="t"/>
            <a:pathLst>
              <a:path extrusionOk="0" h="838200" w="1600200">
                <a:moveTo>
                  <a:pt x="1600199" y="0"/>
                </a:moveTo>
                <a:lnTo>
                  <a:pt x="0" y="0"/>
                </a:lnTo>
                <a:lnTo>
                  <a:pt x="0" y="838199"/>
                </a:lnTo>
                <a:lnTo>
                  <a:pt x="1600199" y="8381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3" name="Google Shape;3133;p65"/>
          <p:cNvSpPr/>
          <p:nvPr/>
        </p:nvSpPr>
        <p:spPr>
          <a:xfrm>
            <a:off x="2895600" y="2443162"/>
            <a:ext cx="1600200" cy="838200"/>
          </a:xfrm>
          <a:custGeom>
            <a:rect b="b" l="l" r="r" t="t"/>
            <a:pathLst>
              <a:path extrusionOk="0" h="838200" w="1600200">
                <a:moveTo>
                  <a:pt x="798819" y="838199"/>
                </a:moveTo>
                <a:lnTo>
                  <a:pt x="0" y="838199"/>
                </a:lnTo>
                <a:lnTo>
                  <a:pt x="0" y="0"/>
                </a:lnTo>
                <a:lnTo>
                  <a:pt x="1600199" y="0"/>
                </a:lnTo>
                <a:lnTo>
                  <a:pt x="1600199" y="838199"/>
                </a:lnTo>
                <a:lnTo>
                  <a:pt x="798819" y="8381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4" name="Google Shape;3134;p65"/>
          <p:cNvSpPr/>
          <p:nvPr/>
        </p:nvSpPr>
        <p:spPr>
          <a:xfrm>
            <a:off x="1219200" y="42672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9" y="0"/>
                </a:moveTo>
                <a:lnTo>
                  <a:pt x="0" y="0"/>
                </a:lnTo>
                <a:lnTo>
                  <a:pt x="0" y="304799"/>
                </a:lnTo>
                <a:lnTo>
                  <a:pt x="1600199" y="3047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5" name="Google Shape;3135;p65"/>
          <p:cNvSpPr/>
          <p:nvPr/>
        </p:nvSpPr>
        <p:spPr>
          <a:xfrm>
            <a:off x="4419600" y="4267200"/>
            <a:ext cx="1143000" cy="304800"/>
          </a:xfrm>
          <a:custGeom>
            <a:rect b="b" l="l" r="r" t="t"/>
            <a:pathLst>
              <a:path extrusionOk="0" h="304800" w="1143000">
                <a:moveTo>
                  <a:pt x="1142999" y="0"/>
                </a:moveTo>
                <a:lnTo>
                  <a:pt x="0" y="0"/>
                </a:lnTo>
                <a:lnTo>
                  <a:pt x="0" y="304799"/>
                </a:lnTo>
                <a:lnTo>
                  <a:pt x="1142999" y="304799"/>
                </a:lnTo>
                <a:lnTo>
                  <a:pt x="11429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6" name="Google Shape;3136;p65"/>
          <p:cNvSpPr/>
          <p:nvPr/>
        </p:nvSpPr>
        <p:spPr>
          <a:xfrm>
            <a:off x="1219200" y="4648200"/>
            <a:ext cx="1600200" cy="1143000"/>
          </a:xfrm>
          <a:custGeom>
            <a:rect b="b" l="l" r="r" t="t"/>
            <a:pathLst>
              <a:path extrusionOk="0" h="1143000" w="1600200">
                <a:moveTo>
                  <a:pt x="1600199" y="0"/>
                </a:moveTo>
                <a:lnTo>
                  <a:pt x="0" y="0"/>
                </a:lnTo>
                <a:lnTo>
                  <a:pt x="0" y="1142999"/>
                </a:lnTo>
                <a:lnTo>
                  <a:pt x="1600199" y="11429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7" name="Google Shape;3137;p65"/>
          <p:cNvSpPr/>
          <p:nvPr/>
        </p:nvSpPr>
        <p:spPr>
          <a:xfrm>
            <a:off x="4419600" y="4648200"/>
            <a:ext cx="1143000" cy="1143000"/>
          </a:xfrm>
          <a:custGeom>
            <a:rect b="b" l="l" r="r" t="t"/>
            <a:pathLst>
              <a:path extrusionOk="0" h="1143000" w="1143000">
                <a:moveTo>
                  <a:pt x="1142999" y="0"/>
                </a:moveTo>
                <a:lnTo>
                  <a:pt x="0" y="0"/>
                </a:lnTo>
                <a:lnTo>
                  <a:pt x="0" y="1142999"/>
                </a:lnTo>
                <a:lnTo>
                  <a:pt x="1142999" y="1142999"/>
                </a:lnTo>
                <a:lnTo>
                  <a:pt x="11429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65"/>
          <p:cNvSpPr/>
          <p:nvPr/>
        </p:nvSpPr>
        <p:spPr>
          <a:xfrm>
            <a:off x="5562600" y="4267200"/>
            <a:ext cx="1676400" cy="304800"/>
          </a:xfrm>
          <a:custGeom>
            <a:rect b="b" l="l" r="r" t="t"/>
            <a:pathLst>
              <a:path extrusionOk="0" h="304800" w="1676400">
                <a:moveTo>
                  <a:pt x="1676399" y="0"/>
                </a:moveTo>
                <a:lnTo>
                  <a:pt x="0" y="0"/>
                </a:lnTo>
                <a:lnTo>
                  <a:pt x="0" y="304799"/>
                </a:lnTo>
                <a:lnTo>
                  <a:pt x="1676399" y="3047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65"/>
          <p:cNvSpPr/>
          <p:nvPr/>
        </p:nvSpPr>
        <p:spPr>
          <a:xfrm>
            <a:off x="5562600" y="4648200"/>
            <a:ext cx="1676400" cy="1143000"/>
          </a:xfrm>
          <a:custGeom>
            <a:rect b="b" l="l" r="r" t="t"/>
            <a:pathLst>
              <a:path extrusionOk="0" h="1143000" w="1676400">
                <a:moveTo>
                  <a:pt x="1676399" y="0"/>
                </a:moveTo>
                <a:lnTo>
                  <a:pt x="0" y="0"/>
                </a:lnTo>
                <a:lnTo>
                  <a:pt x="0" y="1142999"/>
                </a:lnTo>
                <a:lnTo>
                  <a:pt x="1676399" y="1142999"/>
                </a:lnTo>
                <a:lnTo>
                  <a:pt x="16763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65"/>
          <p:cNvSpPr/>
          <p:nvPr/>
        </p:nvSpPr>
        <p:spPr>
          <a:xfrm>
            <a:off x="2819400" y="4267200"/>
            <a:ext cx="1600200" cy="304800"/>
          </a:xfrm>
          <a:custGeom>
            <a:rect b="b" l="l" r="r" t="t"/>
            <a:pathLst>
              <a:path extrusionOk="0" h="304800" w="1600200">
                <a:moveTo>
                  <a:pt x="1600199" y="0"/>
                </a:moveTo>
                <a:lnTo>
                  <a:pt x="0" y="0"/>
                </a:lnTo>
                <a:lnTo>
                  <a:pt x="0" y="304799"/>
                </a:lnTo>
                <a:lnTo>
                  <a:pt x="1600199" y="3047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1" name="Google Shape;3141;p65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4479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Outer Join – Example</a:t>
            </a:r>
            <a:endParaRPr/>
          </a:p>
        </p:txBody>
      </p:sp>
      <p:sp>
        <p:nvSpPr>
          <p:cNvPr id="3142" name="Google Shape;3142;p65"/>
          <p:cNvSpPr txBox="1"/>
          <p:nvPr/>
        </p:nvSpPr>
        <p:spPr>
          <a:xfrm>
            <a:off x="1417637" y="2117725"/>
            <a:ext cx="13541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loan_number</a:t>
            </a:r>
            <a:endParaRPr/>
          </a:p>
        </p:txBody>
      </p:sp>
      <p:sp>
        <p:nvSpPr>
          <p:cNvPr id="3143" name="Google Shape;3143;p65"/>
          <p:cNvSpPr txBox="1"/>
          <p:nvPr/>
        </p:nvSpPr>
        <p:spPr>
          <a:xfrm>
            <a:off x="4673600" y="2117725"/>
            <a:ext cx="787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</a:t>
            </a:r>
            <a:endParaRPr/>
          </a:p>
        </p:txBody>
      </p:sp>
      <p:sp>
        <p:nvSpPr>
          <p:cNvPr id="3144" name="Google Shape;3144;p65"/>
          <p:cNvSpPr txBox="1"/>
          <p:nvPr/>
        </p:nvSpPr>
        <p:spPr>
          <a:xfrm>
            <a:off x="1371600" y="24892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L-170</a:t>
            </a:r>
            <a:endParaRPr/>
          </a:p>
        </p:txBody>
      </p:sp>
      <p:sp>
        <p:nvSpPr>
          <p:cNvPr id="3145" name="Google Shape;3145;p65"/>
          <p:cNvSpPr txBox="1"/>
          <p:nvPr/>
        </p:nvSpPr>
        <p:spPr>
          <a:xfrm>
            <a:off x="1371600" y="2763837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L-230</a:t>
            </a:r>
            <a:endParaRPr/>
          </a:p>
        </p:txBody>
      </p:sp>
      <p:sp>
        <p:nvSpPr>
          <p:cNvPr id="3146" name="Google Shape;3146;p65"/>
          <p:cNvSpPr txBox="1"/>
          <p:nvPr/>
        </p:nvSpPr>
        <p:spPr>
          <a:xfrm>
            <a:off x="1371600" y="3036887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L-155</a:t>
            </a:r>
            <a:endParaRPr/>
          </a:p>
        </p:txBody>
      </p:sp>
      <p:sp>
        <p:nvSpPr>
          <p:cNvPr id="3147" name="Google Shape;3147;p65"/>
          <p:cNvSpPr txBox="1"/>
          <p:nvPr/>
        </p:nvSpPr>
        <p:spPr>
          <a:xfrm>
            <a:off x="4800600" y="24892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3000</a:t>
            </a:r>
            <a:endParaRPr/>
          </a:p>
        </p:txBody>
      </p:sp>
      <p:sp>
        <p:nvSpPr>
          <p:cNvPr id="3148" name="Google Shape;3148;p65"/>
          <p:cNvSpPr txBox="1"/>
          <p:nvPr/>
        </p:nvSpPr>
        <p:spPr>
          <a:xfrm>
            <a:off x="4800600" y="2763837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4000</a:t>
            </a:r>
            <a:endParaRPr/>
          </a:p>
        </p:txBody>
      </p:sp>
      <p:sp>
        <p:nvSpPr>
          <p:cNvPr id="3149" name="Google Shape;3149;p65"/>
          <p:cNvSpPr txBox="1"/>
          <p:nvPr/>
        </p:nvSpPr>
        <p:spPr>
          <a:xfrm>
            <a:off x="4878387" y="3038475"/>
            <a:ext cx="3778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3150" name="Google Shape;3150;p65"/>
          <p:cNvSpPr txBox="1"/>
          <p:nvPr/>
        </p:nvSpPr>
        <p:spPr>
          <a:xfrm>
            <a:off x="5646737" y="2117725"/>
            <a:ext cx="16621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</a:t>
            </a:r>
            <a:endParaRPr/>
          </a:p>
        </p:txBody>
      </p:sp>
      <p:sp>
        <p:nvSpPr>
          <p:cNvPr id="3151" name="Google Shape;3151;p65"/>
          <p:cNvSpPr txBox="1"/>
          <p:nvPr/>
        </p:nvSpPr>
        <p:spPr>
          <a:xfrm>
            <a:off x="5715000" y="2489200"/>
            <a:ext cx="6334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Jones</a:t>
            </a:r>
            <a:endParaRPr/>
          </a:p>
        </p:txBody>
      </p:sp>
      <p:sp>
        <p:nvSpPr>
          <p:cNvPr id="3152" name="Google Shape;3152;p65"/>
          <p:cNvSpPr txBox="1"/>
          <p:nvPr/>
        </p:nvSpPr>
        <p:spPr>
          <a:xfrm>
            <a:off x="5715000" y="2763837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Smith</a:t>
            </a:r>
            <a:endParaRPr/>
          </a:p>
        </p:txBody>
      </p:sp>
      <p:sp>
        <p:nvSpPr>
          <p:cNvPr id="3153" name="Google Shape;3153;p65"/>
          <p:cNvSpPr txBox="1"/>
          <p:nvPr/>
        </p:nvSpPr>
        <p:spPr>
          <a:xfrm>
            <a:off x="5715000" y="3036887"/>
            <a:ext cx="6715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Hayes</a:t>
            </a:r>
            <a:endParaRPr/>
          </a:p>
        </p:txBody>
      </p:sp>
      <p:sp>
        <p:nvSpPr>
          <p:cNvPr id="3154" name="Google Shape;3154;p65"/>
          <p:cNvSpPr txBox="1"/>
          <p:nvPr/>
        </p:nvSpPr>
        <p:spPr>
          <a:xfrm>
            <a:off x="2986087" y="2117725"/>
            <a:ext cx="14208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</a:t>
            </a:r>
            <a:endParaRPr/>
          </a:p>
        </p:txBody>
      </p:sp>
      <p:sp>
        <p:nvSpPr>
          <p:cNvPr id="3155" name="Google Shape;3155;p65"/>
          <p:cNvSpPr txBox="1"/>
          <p:nvPr/>
        </p:nvSpPr>
        <p:spPr>
          <a:xfrm>
            <a:off x="2971800" y="2489200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Downtown</a:t>
            </a:r>
            <a:endParaRPr/>
          </a:p>
        </p:txBody>
      </p:sp>
      <p:sp>
        <p:nvSpPr>
          <p:cNvPr id="3156" name="Google Shape;3156;p65"/>
          <p:cNvSpPr txBox="1"/>
          <p:nvPr/>
        </p:nvSpPr>
        <p:spPr>
          <a:xfrm>
            <a:off x="2971800" y="2763837"/>
            <a:ext cx="9890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Redwood</a:t>
            </a:r>
            <a:endParaRPr/>
          </a:p>
        </p:txBody>
      </p:sp>
      <p:sp>
        <p:nvSpPr>
          <p:cNvPr id="3157" name="Google Shape;3157;p65"/>
          <p:cNvSpPr txBox="1"/>
          <p:nvPr/>
        </p:nvSpPr>
        <p:spPr>
          <a:xfrm>
            <a:off x="2971800" y="3038475"/>
            <a:ext cx="3794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3158" name="Google Shape;3158;p65"/>
          <p:cNvSpPr/>
          <p:nvPr/>
        </p:nvSpPr>
        <p:spPr>
          <a:xfrm>
            <a:off x="2819400" y="4648200"/>
            <a:ext cx="1600200" cy="1143000"/>
          </a:xfrm>
          <a:custGeom>
            <a:rect b="b" l="l" r="r" t="t"/>
            <a:pathLst>
              <a:path extrusionOk="0" h="1143000" w="1600200">
                <a:moveTo>
                  <a:pt x="1600199" y="0"/>
                </a:moveTo>
                <a:lnTo>
                  <a:pt x="0" y="0"/>
                </a:lnTo>
                <a:lnTo>
                  <a:pt x="0" y="1142999"/>
                </a:lnTo>
                <a:lnTo>
                  <a:pt x="1600199" y="1142999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9" name="Google Shape;3159;p65"/>
          <p:cNvSpPr txBox="1"/>
          <p:nvPr/>
        </p:nvSpPr>
        <p:spPr>
          <a:xfrm>
            <a:off x="884237" y="3444875"/>
            <a:ext cx="2120900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90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2"/>
              <a:buFont typeface="MS Gothic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 Outer Join</a:t>
            </a:r>
            <a:endParaRPr/>
          </a:p>
          <a:p>
            <a:pPr indent="-219075" lvl="0" marL="231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	borrower</a:t>
            </a:r>
            <a:endParaRPr/>
          </a:p>
        </p:txBody>
      </p:sp>
      <p:sp>
        <p:nvSpPr>
          <p:cNvPr id="3160" name="Google Shape;3160;p65"/>
          <p:cNvSpPr/>
          <p:nvPr/>
        </p:nvSpPr>
        <p:spPr>
          <a:xfrm>
            <a:off x="1728787" y="3884612"/>
            <a:ext cx="152400" cy="153987"/>
          </a:xfrm>
          <a:custGeom>
            <a:rect b="b" l="l" r="r" t="t"/>
            <a:pathLst>
              <a:path extrusionOk="0" h="153670" w="152400">
                <a:moveTo>
                  <a:pt x="152399" y="153674"/>
                </a:moveTo>
                <a:lnTo>
                  <a:pt x="0" y="0"/>
                </a:lnTo>
                <a:lnTo>
                  <a:pt x="0" y="153674"/>
                </a:lnTo>
                <a:lnTo>
                  <a:pt x="152399" y="0"/>
                </a:lnTo>
                <a:lnTo>
                  <a:pt x="152399" y="153674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1" name="Google Shape;3161;p65"/>
          <p:cNvSpPr/>
          <p:nvPr/>
        </p:nvSpPr>
        <p:spPr>
          <a:xfrm>
            <a:off x="1619250" y="3895725"/>
            <a:ext cx="101600" cy="0"/>
          </a:xfrm>
          <a:custGeom>
            <a:rect b="b" l="l" r="r" t="t"/>
            <a:pathLst>
              <a:path extrusionOk="0" h="120000" w="101600">
                <a:moveTo>
                  <a:pt x="10159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2" name="Google Shape;3162;p65"/>
          <p:cNvSpPr/>
          <p:nvPr/>
        </p:nvSpPr>
        <p:spPr>
          <a:xfrm>
            <a:off x="1614487" y="4033837"/>
            <a:ext cx="101600" cy="0"/>
          </a:xfrm>
          <a:custGeom>
            <a:rect b="b" l="l" r="r" t="t"/>
            <a:pathLst>
              <a:path extrusionOk="0" h="120000" w="101600">
                <a:moveTo>
                  <a:pt x="101608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3" name="Google Shape;3163;p65"/>
          <p:cNvSpPr/>
          <p:nvPr/>
        </p:nvSpPr>
        <p:spPr>
          <a:xfrm>
            <a:off x="1900237" y="4033837"/>
            <a:ext cx="101600" cy="0"/>
          </a:xfrm>
          <a:custGeom>
            <a:rect b="b" l="l" r="r" t="t"/>
            <a:pathLst>
              <a:path extrusionOk="0" h="120000" w="101600">
                <a:moveTo>
                  <a:pt x="101608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65"/>
          <p:cNvSpPr/>
          <p:nvPr/>
        </p:nvSpPr>
        <p:spPr>
          <a:xfrm>
            <a:off x="1881187" y="3886200"/>
            <a:ext cx="101600" cy="0"/>
          </a:xfrm>
          <a:custGeom>
            <a:rect b="b" l="l" r="r" t="t"/>
            <a:pathLst>
              <a:path extrusionOk="0" h="120000" w="101600">
                <a:moveTo>
                  <a:pt x="101608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5" name="Google Shape;3165;p65"/>
          <p:cNvSpPr txBox="1"/>
          <p:nvPr/>
        </p:nvSpPr>
        <p:spPr>
          <a:xfrm>
            <a:off x="874712" y="1117600"/>
            <a:ext cx="2122487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0661" lvl="0" marL="23336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2"/>
              <a:buFont typeface="MS Gothic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Outer Join</a:t>
            </a:r>
            <a:endParaRPr/>
          </a:p>
          <a:p>
            <a:pPr indent="-220661" lvl="0" marL="233361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	</a:t>
            </a:r>
            <a:r>
              <a:rPr b="0" i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borrower</a:t>
            </a:r>
            <a:endParaRPr/>
          </a:p>
        </p:txBody>
      </p:sp>
      <p:sp>
        <p:nvSpPr>
          <p:cNvPr id="3166" name="Google Shape;3166;p65"/>
          <p:cNvSpPr/>
          <p:nvPr/>
        </p:nvSpPr>
        <p:spPr>
          <a:xfrm>
            <a:off x="1690687" y="1552575"/>
            <a:ext cx="152400" cy="152400"/>
          </a:xfrm>
          <a:custGeom>
            <a:rect b="b" l="l" r="r" t="t"/>
            <a:pathLst>
              <a:path extrusionOk="0" h="152400" w="152400">
                <a:moveTo>
                  <a:pt x="152399" y="152399"/>
                </a:moveTo>
                <a:lnTo>
                  <a:pt x="0" y="0"/>
                </a:lnTo>
                <a:lnTo>
                  <a:pt x="0" y="152399"/>
                </a:lnTo>
                <a:lnTo>
                  <a:pt x="152399" y="0"/>
                </a:lnTo>
                <a:lnTo>
                  <a:pt x="152399" y="152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7" name="Google Shape;3167;p65"/>
          <p:cNvSpPr/>
          <p:nvPr/>
        </p:nvSpPr>
        <p:spPr>
          <a:xfrm>
            <a:off x="1854200" y="1552575"/>
            <a:ext cx="101600" cy="0"/>
          </a:xfrm>
          <a:custGeom>
            <a:rect b="b" l="l" r="r" t="t"/>
            <a:pathLst>
              <a:path extrusionOk="0" h="120000" w="101600">
                <a:moveTo>
                  <a:pt x="101608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8" name="Google Shape;3168;p65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169" name="Google Shape;3169;p65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170" name="Google Shape;3170;p65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graphicFrame>
        <p:nvGraphicFramePr>
          <p:cNvPr id="3171" name="Google Shape;3171;p65"/>
          <p:cNvGraphicFramePr/>
          <p:nvPr/>
        </p:nvGraphicFramePr>
        <p:xfrm>
          <a:off x="1214437" y="4262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600200"/>
                <a:gridCol w="1600200"/>
                <a:gridCol w="1143000"/>
                <a:gridCol w="1676400"/>
              </a:tblGrid>
              <a:tr h="304800">
                <a:tc>
                  <a:txBody>
                    <a:bodyPr/>
                    <a:lstStyle/>
                    <a:p>
                      <a:pPr indent="0" lvl="0" marL="1301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loan_number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68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branch_name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57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amount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42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customer_name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72" name="Google Shape;3172;p65"/>
          <p:cNvGraphicFramePr/>
          <p:nvPr/>
        </p:nvGraphicFramePr>
        <p:xfrm>
          <a:off x="1214437" y="4643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{9BE38B33-B467-4961-B9B0-FFC9BF14F82C}</a:tableStyleId>
              </a:tblPr>
              <a:tblGrid>
                <a:gridCol w="1600200"/>
                <a:gridCol w="1600200"/>
                <a:gridCol w="1143000"/>
                <a:gridCol w="1676400"/>
              </a:tblGrid>
              <a:tr h="325425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L-170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Downtown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3127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Jones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L-230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Redwood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3127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Smith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L-260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Perryridge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3127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1700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L-155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413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Hayes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6" name="Shape 3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Google Shape;3177;p66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8" name="Google Shape;3178;p66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p66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0" name="Google Shape;3180;p66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66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2" name="Google Shape;3182;p66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3" name="Google Shape;3183;p66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4" name="Google Shape;3184;p66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5" name="Google Shape;3185;p66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6" name="Google Shape;3186;p66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7" name="Google Shape;3187;p66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8" name="Google Shape;3188;p66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9" name="Google Shape;3189;p66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0" name="Google Shape;3190;p66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1" name="Google Shape;3191;p66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2" name="Google Shape;3192;p66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3" name="Google Shape;3193;p66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4" name="Google Shape;3194;p66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5" name="Google Shape;3195;p66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6" name="Google Shape;3196;p66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7" name="Google Shape;3197;p66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8" name="Google Shape;3198;p66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9" name="Google Shape;3199;p66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0" name="Google Shape;3200;p6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1" name="Google Shape;3201;p66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2" name="Google Shape;3202;p66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3" name="Google Shape;3203;p66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305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Null Values</a:t>
            </a:r>
            <a:endParaRPr/>
          </a:p>
        </p:txBody>
      </p:sp>
      <p:sp>
        <p:nvSpPr>
          <p:cNvPr id="3204" name="Google Shape;3204;p66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205" name="Google Shape;3205;p66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206" name="Google Shape;3206;p66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207" name="Google Shape;3207;p66"/>
          <p:cNvSpPr txBox="1"/>
          <p:nvPr/>
        </p:nvSpPr>
        <p:spPr>
          <a:xfrm>
            <a:off x="914400" y="115887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208" name="Google Shape;3208;p66"/>
          <p:cNvSpPr txBox="1"/>
          <p:nvPr/>
        </p:nvSpPr>
        <p:spPr>
          <a:xfrm>
            <a:off x="1257300" y="1203325"/>
            <a:ext cx="70040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possible for tuples to have a null value, denoted by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for some</a:t>
            </a:r>
            <a:endParaRPr/>
          </a:p>
        </p:txBody>
      </p:sp>
      <p:sp>
        <p:nvSpPr>
          <p:cNvPr id="3209" name="Google Shape;3209;p66"/>
          <p:cNvSpPr txBox="1"/>
          <p:nvPr/>
        </p:nvSpPr>
        <p:spPr>
          <a:xfrm>
            <a:off x="1257300" y="1531937"/>
            <a:ext cx="1725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their attributes</a:t>
            </a:r>
            <a:endParaRPr/>
          </a:p>
        </p:txBody>
      </p:sp>
      <p:sp>
        <p:nvSpPr>
          <p:cNvPr id="3210" name="Google Shape;3210;p66"/>
          <p:cNvSpPr txBox="1"/>
          <p:nvPr/>
        </p:nvSpPr>
        <p:spPr>
          <a:xfrm>
            <a:off x="914400" y="19161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211" name="Google Shape;3211;p66"/>
          <p:cNvSpPr txBox="1"/>
          <p:nvPr/>
        </p:nvSpPr>
        <p:spPr>
          <a:xfrm>
            <a:off x="1257300" y="1960562"/>
            <a:ext cx="621347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signifies an unknown value or that a value does not exist.</a:t>
            </a:r>
            <a:endParaRPr/>
          </a:p>
        </p:txBody>
      </p:sp>
      <p:sp>
        <p:nvSpPr>
          <p:cNvPr id="3212" name="Google Shape;3212;p66"/>
          <p:cNvSpPr txBox="1"/>
          <p:nvPr/>
        </p:nvSpPr>
        <p:spPr>
          <a:xfrm>
            <a:off x="914400" y="234473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213" name="Google Shape;3213;p66"/>
          <p:cNvSpPr txBox="1"/>
          <p:nvPr/>
        </p:nvSpPr>
        <p:spPr>
          <a:xfrm>
            <a:off x="1257300" y="2389187"/>
            <a:ext cx="60229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result of any arithmetic expression involving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null.</a:t>
            </a:r>
            <a:endParaRPr/>
          </a:p>
        </p:txBody>
      </p:sp>
      <p:sp>
        <p:nvSpPr>
          <p:cNvPr id="3214" name="Google Shape;3214;p66"/>
          <p:cNvSpPr txBox="1"/>
          <p:nvPr/>
        </p:nvSpPr>
        <p:spPr>
          <a:xfrm>
            <a:off x="914400" y="27733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215" name="Google Shape;3215;p66"/>
          <p:cNvSpPr txBox="1"/>
          <p:nvPr/>
        </p:nvSpPr>
        <p:spPr>
          <a:xfrm>
            <a:off x="1257300" y="2817812"/>
            <a:ext cx="58197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Aggregate functions simply ignore null values (as in SQL)</a:t>
            </a:r>
            <a:endParaRPr/>
          </a:p>
        </p:txBody>
      </p:sp>
      <p:sp>
        <p:nvSpPr>
          <p:cNvPr id="3216" name="Google Shape;3216;p66"/>
          <p:cNvSpPr txBox="1"/>
          <p:nvPr/>
        </p:nvSpPr>
        <p:spPr>
          <a:xfrm>
            <a:off x="914400" y="32019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217" name="Google Shape;3217;p66"/>
          <p:cNvSpPr txBox="1"/>
          <p:nvPr/>
        </p:nvSpPr>
        <p:spPr>
          <a:xfrm>
            <a:off x="1257300" y="3246437"/>
            <a:ext cx="67945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duplicate elimination and grouping, null is treated like any other</a:t>
            </a:r>
            <a:endParaRPr/>
          </a:p>
        </p:txBody>
      </p:sp>
      <p:sp>
        <p:nvSpPr>
          <p:cNvPr id="3218" name="Google Shape;3218;p66"/>
          <p:cNvSpPr txBox="1"/>
          <p:nvPr/>
        </p:nvSpPr>
        <p:spPr>
          <a:xfrm>
            <a:off x="1257300" y="3576637"/>
            <a:ext cx="62674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value, and two nulls are assumed to be  the same (as in SQL)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2" name="Shape 3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3" name="Google Shape;3223;p67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67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5" name="Google Shape;3225;p67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6" name="Google Shape;3226;p67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7" name="Google Shape;3227;p67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8" name="Google Shape;3228;p67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9" name="Google Shape;3229;p67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0" name="Google Shape;3230;p67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1" name="Google Shape;3231;p67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2" name="Google Shape;3232;p67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3" name="Google Shape;3233;p67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4" name="Google Shape;3234;p67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67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6" name="Google Shape;3236;p67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67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8" name="Google Shape;3238;p67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9" name="Google Shape;3239;p67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0" name="Google Shape;3240;p67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1" name="Google Shape;3241;p67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2" name="Google Shape;3242;p67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3" name="Google Shape;3243;p67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4" name="Google Shape;3244;p67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5" name="Google Shape;3245;p67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6" name="Google Shape;3246;p67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7" name="Google Shape;3247;p67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8" name="Google Shape;3248;p67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9" name="Google Shape;3249;p67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305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Null Values</a:t>
            </a:r>
            <a:endParaRPr/>
          </a:p>
        </p:txBody>
      </p:sp>
      <p:sp>
        <p:nvSpPr>
          <p:cNvPr id="3250" name="Google Shape;3250;p67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251" name="Google Shape;3251;p67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252" name="Google Shape;3252;p67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253" name="Google Shape;3253;p67"/>
          <p:cNvSpPr txBox="1"/>
          <p:nvPr/>
        </p:nvSpPr>
        <p:spPr>
          <a:xfrm>
            <a:off x="895350" y="11445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254" name="Google Shape;3254;p67"/>
          <p:cNvSpPr txBox="1"/>
          <p:nvPr/>
        </p:nvSpPr>
        <p:spPr>
          <a:xfrm>
            <a:off x="1238250" y="1189037"/>
            <a:ext cx="696118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Comparisons with null values return the special truth value: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/>
          </a:p>
        </p:txBody>
      </p:sp>
      <p:sp>
        <p:nvSpPr>
          <p:cNvPr id="3255" name="Google Shape;3255;p67"/>
          <p:cNvSpPr txBox="1"/>
          <p:nvPr/>
        </p:nvSpPr>
        <p:spPr>
          <a:xfrm>
            <a:off x="1352550" y="15319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256" name="Google Shape;3256;p67"/>
          <p:cNvSpPr txBox="1"/>
          <p:nvPr/>
        </p:nvSpPr>
        <p:spPr>
          <a:xfrm>
            <a:off x="1638300" y="1563687"/>
            <a:ext cx="56562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 used instead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then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(A &lt; 5)</a:t>
            </a:r>
            <a:endParaRPr/>
          </a:p>
        </p:txBody>
      </p:sp>
      <p:sp>
        <p:nvSpPr>
          <p:cNvPr id="3257" name="Google Shape;3257;p67"/>
          <p:cNvSpPr txBox="1"/>
          <p:nvPr/>
        </p:nvSpPr>
        <p:spPr>
          <a:xfrm>
            <a:off x="1238250" y="1836737"/>
            <a:ext cx="5670550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not be equivalent to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&gt;= 5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Three-valued logic using the truth value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3258" name="Google Shape;3258;p67"/>
          <p:cNvSpPr txBox="1"/>
          <p:nvPr/>
        </p:nvSpPr>
        <p:spPr>
          <a:xfrm>
            <a:off x="895350" y="216693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259" name="Google Shape;3259;p67"/>
          <p:cNvSpPr txBox="1"/>
          <p:nvPr/>
        </p:nvSpPr>
        <p:spPr>
          <a:xfrm>
            <a:off x="1352550" y="255428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260" name="Google Shape;3260;p67"/>
          <p:cNvSpPr txBox="1"/>
          <p:nvPr/>
        </p:nvSpPr>
        <p:spPr>
          <a:xfrm>
            <a:off x="1638300" y="2586037"/>
            <a:ext cx="35417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OR: 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	=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</p:txBody>
      </p:sp>
      <p:sp>
        <p:nvSpPr>
          <p:cNvPr id="3261" name="Google Shape;3261;p67"/>
          <p:cNvSpPr txBox="1"/>
          <p:nvPr/>
        </p:nvSpPr>
        <p:spPr>
          <a:xfrm>
            <a:off x="2085975" y="2859087"/>
            <a:ext cx="3551237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	=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unknown</a:t>
            </a:r>
            <a:endParaRPr/>
          </a:p>
        </p:txBody>
      </p:sp>
      <p:sp>
        <p:nvSpPr>
          <p:cNvPr id="3262" name="Google Shape;3262;p67"/>
          <p:cNvSpPr txBox="1"/>
          <p:nvPr/>
        </p:nvSpPr>
        <p:spPr>
          <a:xfrm>
            <a:off x="1352550" y="34782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263" name="Google Shape;3263;p67"/>
          <p:cNvSpPr txBox="1"/>
          <p:nvPr/>
        </p:nvSpPr>
        <p:spPr>
          <a:xfrm>
            <a:off x="1638300" y="3508375"/>
            <a:ext cx="450532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AND:	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unknown,</a:t>
            </a:r>
            <a:endParaRPr/>
          </a:p>
        </p:txBody>
      </p:sp>
      <p:sp>
        <p:nvSpPr>
          <p:cNvPr id="3264" name="Google Shape;3264;p67"/>
          <p:cNvSpPr txBox="1"/>
          <p:nvPr/>
        </p:nvSpPr>
        <p:spPr>
          <a:xfrm>
            <a:off x="2343150" y="3783012"/>
            <a:ext cx="370840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false,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unknown</a:t>
            </a:r>
            <a:endParaRPr/>
          </a:p>
        </p:txBody>
      </p:sp>
      <p:sp>
        <p:nvSpPr>
          <p:cNvPr id="3265" name="Google Shape;3265;p67"/>
          <p:cNvSpPr txBox="1"/>
          <p:nvPr/>
        </p:nvSpPr>
        <p:spPr>
          <a:xfrm>
            <a:off x="1352550" y="44005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266" name="Google Shape;3266;p67"/>
          <p:cNvSpPr txBox="1"/>
          <p:nvPr/>
        </p:nvSpPr>
        <p:spPr>
          <a:xfrm>
            <a:off x="1638300" y="4430712"/>
            <a:ext cx="33591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	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unknown</a:t>
            </a:r>
            <a:endParaRPr/>
          </a:p>
        </p:txBody>
      </p:sp>
      <p:sp>
        <p:nvSpPr>
          <p:cNvPr id="3267" name="Google Shape;3267;p67"/>
          <p:cNvSpPr txBox="1"/>
          <p:nvPr/>
        </p:nvSpPr>
        <p:spPr>
          <a:xfrm>
            <a:off x="1352550" y="47752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268" name="Google Shape;3268;p67"/>
          <p:cNvSpPr txBox="1"/>
          <p:nvPr/>
        </p:nvSpPr>
        <p:spPr>
          <a:xfrm>
            <a:off x="1638300" y="4805362"/>
            <a:ext cx="6872287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SQL “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unknown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evaluates to true if predicate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evaluates to</a:t>
            </a:r>
            <a:endParaRPr/>
          </a:p>
        </p:txBody>
      </p:sp>
      <p:sp>
        <p:nvSpPr>
          <p:cNvPr id="3269" name="Google Shape;3269;p67"/>
          <p:cNvSpPr txBox="1"/>
          <p:nvPr/>
        </p:nvSpPr>
        <p:spPr>
          <a:xfrm>
            <a:off x="1638300" y="5081587"/>
            <a:ext cx="9382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/>
          </a:p>
        </p:txBody>
      </p:sp>
      <p:sp>
        <p:nvSpPr>
          <p:cNvPr id="3270" name="Google Shape;3270;p67"/>
          <p:cNvSpPr txBox="1"/>
          <p:nvPr/>
        </p:nvSpPr>
        <p:spPr>
          <a:xfrm>
            <a:off x="895350" y="54086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271" name="Google Shape;3271;p67"/>
          <p:cNvSpPr txBox="1"/>
          <p:nvPr/>
        </p:nvSpPr>
        <p:spPr>
          <a:xfrm>
            <a:off x="1238250" y="5453062"/>
            <a:ext cx="71310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of select	predicate is treated as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it evaluates to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5" name="Shape 3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" name="Google Shape;3276;p68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7" name="Google Shape;3277;p68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8" name="Google Shape;3278;p68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9" name="Google Shape;3279;p68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0" name="Google Shape;3280;p68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1" name="Google Shape;3281;p68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2" name="Google Shape;3282;p68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68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4" name="Google Shape;3284;p68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5" name="Google Shape;3285;p68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6" name="Google Shape;3286;p68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7" name="Google Shape;3287;p68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8" name="Google Shape;3288;p68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9" name="Google Shape;3289;p68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0" name="Google Shape;3290;p68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1" name="Google Shape;3291;p68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2" name="Google Shape;3292;p68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68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p68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5" name="Google Shape;3295;p68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p68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7" name="Google Shape;3297;p68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8" name="Google Shape;3298;p68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9" name="Google Shape;3299;p68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0" name="Google Shape;3300;p68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1" name="Google Shape;3301;p68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2" name="Google Shape;3302;p68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589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Modification of the Database</a:t>
            </a:r>
            <a:endParaRPr/>
          </a:p>
        </p:txBody>
      </p:sp>
      <p:sp>
        <p:nvSpPr>
          <p:cNvPr id="3303" name="Google Shape;3303;p68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304" name="Google Shape;3304;p68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305" name="Google Shape;3305;p68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306" name="Google Shape;3306;p68"/>
          <p:cNvSpPr txBox="1"/>
          <p:nvPr/>
        </p:nvSpPr>
        <p:spPr>
          <a:xfrm>
            <a:off x="876300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307" name="Google Shape;3307;p68"/>
          <p:cNvSpPr txBox="1"/>
          <p:nvPr/>
        </p:nvSpPr>
        <p:spPr>
          <a:xfrm>
            <a:off x="1217612" y="1162050"/>
            <a:ext cx="65452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content of the database may be modified using the following</a:t>
            </a:r>
            <a:endParaRPr/>
          </a:p>
        </p:txBody>
      </p:sp>
      <p:sp>
        <p:nvSpPr>
          <p:cNvPr id="3308" name="Google Shape;3308;p68"/>
          <p:cNvSpPr txBox="1"/>
          <p:nvPr/>
        </p:nvSpPr>
        <p:spPr>
          <a:xfrm>
            <a:off x="1217612" y="1436687"/>
            <a:ext cx="11541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operations:</a:t>
            </a:r>
            <a:endParaRPr/>
          </a:p>
        </p:txBody>
      </p:sp>
      <p:sp>
        <p:nvSpPr>
          <p:cNvPr id="3309" name="Google Shape;3309;p68"/>
          <p:cNvSpPr txBox="1"/>
          <p:nvPr/>
        </p:nvSpPr>
        <p:spPr>
          <a:xfrm>
            <a:off x="1333500" y="177958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310" name="Google Shape;3310;p68"/>
          <p:cNvSpPr txBox="1"/>
          <p:nvPr/>
        </p:nvSpPr>
        <p:spPr>
          <a:xfrm>
            <a:off x="1617662" y="1811337"/>
            <a:ext cx="8620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Deletion</a:t>
            </a:r>
            <a:endParaRPr/>
          </a:p>
        </p:txBody>
      </p:sp>
      <p:sp>
        <p:nvSpPr>
          <p:cNvPr id="3311" name="Google Shape;3311;p68"/>
          <p:cNvSpPr txBox="1"/>
          <p:nvPr/>
        </p:nvSpPr>
        <p:spPr>
          <a:xfrm>
            <a:off x="1333500" y="21542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312" name="Google Shape;3312;p68"/>
          <p:cNvSpPr txBox="1"/>
          <p:nvPr/>
        </p:nvSpPr>
        <p:spPr>
          <a:xfrm>
            <a:off x="1617662" y="2184400"/>
            <a:ext cx="9032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Insertion</a:t>
            </a:r>
            <a:endParaRPr/>
          </a:p>
        </p:txBody>
      </p:sp>
      <p:sp>
        <p:nvSpPr>
          <p:cNvPr id="3313" name="Google Shape;3313;p68"/>
          <p:cNvSpPr txBox="1"/>
          <p:nvPr/>
        </p:nvSpPr>
        <p:spPr>
          <a:xfrm>
            <a:off x="1333500" y="252888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314" name="Google Shape;3314;p68"/>
          <p:cNvSpPr txBox="1"/>
          <p:nvPr/>
        </p:nvSpPr>
        <p:spPr>
          <a:xfrm>
            <a:off x="1617662" y="2559050"/>
            <a:ext cx="9382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Updating</a:t>
            </a:r>
            <a:endParaRPr/>
          </a:p>
        </p:txBody>
      </p:sp>
      <p:sp>
        <p:nvSpPr>
          <p:cNvPr id="3315" name="Google Shape;3315;p68"/>
          <p:cNvSpPr txBox="1"/>
          <p:nvPr/>
        </p:nvSpPr>
        <p:spPr>
          <a:xfrm>
            <a:off x="876300" y="2887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316" name="Google Shape;3316;p68"/>
          <p:cNvSpPr txBox="1"/>
          <p:nvPr/>
        </p:nvSpPr>
        <p:spPr>
          <a:xfrm>
            <a:off x="1217612" y="2932112"/>
            <a:ext cx="57562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these operations are expressed using the assignment</a:t>
            </a:r>
            <a:endParaRPr/>
          </a:p>
        </p:txBody>
      </p:sp>
      <p:sp>
        <p:nvSpPr>
          <p:cNvPr id="3317" name="Google Shape;3317;p68"/>
          <p:cNvSpPr txBox="1"/>
          <p:nvPr/>
        </p:nvSpPr>
        <p:spPr>
          <a:xfrm>
            <a:off x="1217612" y="3206750"/>
            <a:ext cx="939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p69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3" name="Google Shape;3323;p69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4" name="Google Shape;3324;p69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69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6" name="Google Shape;3326;p69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7" name="Google Shape;3327;p69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8" name="Google Shape;3328;p69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9" name="Google Shape;3329;p69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0" name="Google Shape;3330;p69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1" name="Google Shape;3331;p69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2" name="Google Shape;3332;p69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3" name="Google Shape;3333;p69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4" name="Google Shape;3334;p69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5" name="Google Shape;3335;p69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6" name="Google Shape;3336;p69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7" name="Google Shape;3337;p69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8" name="Google Shape;3338;p69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9" name="Google Shape;3339;p69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0" name="Google Shape;3340;p69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1" name="Google Shape;3341;p69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2" name="Google Shape;3342;p69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3" name="Google Shape;3343;p69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4" name="Google Shape;3344;p69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5" name="Google Shape;3345;p69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6" name="Google Shape;3346;p69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7" name="Google Shape;3347;p69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8" name="Google Shape;3348;p69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242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Deletion</a:t>
            </a:r>
            <a:endParaRPr/>
          </a:p>
        </p:txBody>
      </p:sp>
      <p:sp>
        <p:nvSpPr>
          <p:cNvPr id="3349" name="Google Shape;3349;p69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350" name="Google Shape;3350;p69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351" name="Google Shape;3351;p69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352" name="Google Shape;3352;p69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353" name="Google Shape;3353;p69"/>
          <p:cNvSpPr txBox="1"/>
          <p:nvPr/>
        </p:nvSpPr>
        <p:spPr>
          <a:xfrm>
            <a:off x="1217612" y="1162050"/>
            <a:ext cx="57975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delete request is expressed similarly to a query, except</a:t>
            </a:r>
            <a:endParaRPr/>
          </a:p>
        </p:txBody>
      </p:sp>
      <p:sp>
        <p:nvSpPr>
          <p:cNvPr id="3354" name="Google Shape;3354;p69"/>
          <p:cNvSpPr txBox="1"/>
          <p:nvPr/>
        </p:nvSpPr>
        <p:spPr>
          <a:xfrm>
            <a:off x="1217612" y="1436687"/>
            <a:ext cx="63309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displaying tuples to the user, the selected tuples are removed from the database.</a:t>
            </a:r>
            <a:endParaRPr/>
          </a:p>
        </p:txBody>
      </p:sp>
      <p:sp>
        <p:nvSpPr>
          <p:cNvPr id="3355" name="Google Shape;3355;p69"/>
          <p:cNvSpPr txBox="1"/>
          <p:nvPr/>
        </p:nvSpPr>
        <p:spPr>
          <a:xfrm>
            <a:off x="874712" y="203993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356" name="Google Shape;3356;p69"/>
          <p:cNvSpPr txBox="1"/>
          <p:nvPr/>
        </p:nvSpPr>
        <p:spPr>
          <a:xfrm>
            <a:off x="1217612" y="2084387"/>
            <a:ext cx="59578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delete only whole tuples; cannot delete values on only</a:t>
            </a:r>
            <a:endParaRPr/>
          </a:p>
        </p:txBody>
      </p:sp>
      <p:sp>
        <p:nvSpPr>
          <p:cNvPr id="3357" name="Google Shape;3357;p69"/>
          <p:cNvSpPr txBox="1"/>
          <p:nvPr/>
        </p:nvSpPr>
        <p:spPr>
          <a:xfrm>
            <a:off x="1217612" y="2359025"/>
            <a:ext cx="19669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particular attributes</a:t>
            </a:r>
            <a:endParaRPr/>
          </a:p>
        </p:txBody>
      </p:sp>
      <p:sp>
        <p:nvSpPr>
          <p:cNvPr id="3358" name="Google Shape;3358;p69"/>
          <p:cNvSpPr txBox="1"/>
          <p:nvPr/>
        </p:nvSpPr>
        <p:spPr>
          <a:xfrm>
            <a:off x="874712" y="268922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359" name="Google Shape;3359;p69"/>
          <p:cNvSpPr txBox="1"/>
          <p:nvPr/>
        </p:nvSpPr>
        <p:spPr>
          <a:xfrm>
            <a:off x="1217612" y="2732087"/>
            <a:ext cx="48037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deletion is expressed in relational algebra by:</a:t>
            </a:r>
            <a:endParaRPr/>
          </a:p>
        </p:txBody>
      </p:sp>
      <p:sp>
        <p:nvSpPr>
          <p:cNvPr id="3360" name="Google Shape;3360;p69"/>
          <p:cNvSpPr txBox="1"/>
          <p:nvPr/>
        </p:nvSpPr>
        <p:spPr>
          <a:xfrm>
            <a:off x="1217612" y="3106737"/>
            <a:ext cx="5603875" cy="6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relation 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relational algebra query.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4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3365;p70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70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7" name="Google Shape;3367;p70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70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9" name="Google Shape;3369;p70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p70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1" name="Google Shape;3371;p70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2" name="Google Shape;3372;p70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3" name="Google Shape;3373;p70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4" name="Google Shape;3374;p70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5" name="Google Shape;3375;p70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6" name="Google Shape;3376;p70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7" name="Google Shape;3377;p70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8" name="Google Shape;3378;p70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9" name="Google Shape;3379;p70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0" name="Google Shape;3380;p70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70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70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3" name="Google Shape;3383;p70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70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70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6" name="Google Shape;3386;p70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7" name="Google Shape;3387;p70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70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70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70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1" name="Google Shape;3391;p70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7193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Deletion Examples</a:t>
            </a:r>
            <a:endParaRPr/>
          </a:p>
        </p:txBody>
      </p:sp>
      <p:sp>
        <p:nvSpPr>
          <p:cNvPr id="3392" name="Google Shape;3392;p70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393" name="Google Shape;3393;p70"/>
          <p:cNvSpPr txBox="1"/>
          <p:nvPr/>
        </p:nvSpPr>
        <p:spPr>
          <a:xfrm>
            <a:off x="1217612" y="1162050"/>
            <a:ext cx="52244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all account records in the Perryridge branch.</a:t>
            </a:r>
            <a:endParaRPr/>
          </a:p>
        </p:txBody>
      </p:sp>
      <p:sp>
        <p:nvSpPr>
          <p:cNvPr id="3394" name="Google Shape;3394;p70"/>
          <p:cNvSpPr txBox="1"/>
          <p:nvPr/>
        </p:nvSpPr>
        <p:spPr>
          <a:xfrm>
            <a:off x="904875" y="3506787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395" name="Google Shape;3395;p70"/>
          <p:cNvSpPr txBox="1"/>
          <p:nvPr/>
        </p:nvSpPr>
        <p:spPr>
          <a:xfrm>
            <a:off x="1252537" y="3551237"/>
            <a:ext cx="53609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all accounts at branches located in Needham.</a:t>
            </a:r>
            <a:endParaRPr/>
          </a:p>
        </p:txBody>
      </p:sp>
      <p:sp>
        <p:nvSpPr>
          <p:cNvPr id="3396" name="Google Shape;3396;p70"/>
          <p:cNvSpPr/>
          <p:nvPr/>
        </p:nvSpPr>
        <p:spPr>
          <a:xfrm>
            <a:off x="5449887" y="4833937"/>
            <a:ext cx="152400" cy="152400"/>
          </a:xfrm>
          <a:custGeom>
            <a:rect b="b" l="l" r="r" t="t"/>
            <a:pathLst>
              <a:path extrusionOk="0" h="152400" w="152400">
                <a:moveTo>
                  <a:pt x="0" y="0"/>
                </a:moveTo>
                <a:lnTo>
                  <a:pt x="0" y="152399"/>
                </a:lnTo>
                <a:lnTo>
                  <a:pt x="76199" y="76199"/>
                </a:lnTo>
                <a:lnTo>
                  <a:pt x="0" y="0"/>
                </a:lnTo>
                <a:close/>
              </a:path>
              <a:path extrusionOk="0" h="152400" w="152400">
                <a:moveTo>
                  <a:pt x="152399" y="0"/>
                </a:moveTo>
                <a:lnTo>
                  <a:pt x="76199" y="76199"/>
                </a:lnTo>
                <a:lnTo>
                  <a:pt x="152399" y="152399"/>
                </a:lnTo>
                <a:lnTo>
                  <a:pt x="152399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p70"/>
          <p:cNvSpPr/>
          <p:nvPr/>
        </p:nvSpPr>
        <p:spPr>
          <a:xfrm>
            <a:off x="5449887" y="4833937"/>
            <a:ext cx="152400" cy="152400"/>
          </a:xfrm>
          <a:custGeom>
            <a:rect b="b" l="l" r="r" t="t"/>
            <a:pathLst>
              <a:path extrusionOk="0" h="152400" w="152400">
                <a:moveTo>
                  <a:pt x="152399" y="152399"/>
                </a:moveTo>
                <a:lnTo>
                  <a:pt x="0" y="0"/>
                </a:lnTo>
                <a:lnTo>
                  <a:pt x="0" y="152399"/>
                </a:lnTo>
                <a:lnTo>
                  <a:pt x="152399" y="0"/>
                </a:lnTo>
                <a:lnTo>
                  <a:pt x="152399" y="152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8" name="Google Shape;3398;p70"/>
          <p:cNvSpPr/>
          <p:nvPr/>
        </p:nvSpPr>
        <p:spPr>
          <a:xfrm>
            <a:off x="5381625" y="4046537"/>
            <a:ext cx="153987" cy="152400"/>
          </a:xfrm>
          <a:custGeom>
            <a:rect b="b" l="l" r="r" t="t"/>
            <a:pathLst>
              <a:path extrusionOk="0" h="152400" w="153670">
                <a:moveTo>
                  <a:pt x="0" y="0"/>
                </a:moveTo>
                <a:lnTo>
                  <a:pt x="0" y="152399"/>
                </a:lnTo>
                <a:lnTo>
                  <a:pt x="76840" y="76199"/>
                </a:lnTo>
                <a:lnTo>
                  <a:pt x="0" y="0"/>
                </a:lnTo>
                <a:close/>
              </a:path>
              <a:path extrusionOk="0" h="152400" w="153670">
                <a:moveTo>
                  <a:pt x="153680" y="0"/>
                </a:moveTo>
                <a:lnTo>
                  <a:pt x="76840" y="76199"/>
                </a:lnTo>
                <a:lnTo>
                  <a:pt x="153680" y="152399"/>
                </a:lnTo>
                <a:lnTo>
                  <a:pt x="15368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9" name="Google Shape;3399;p70"/>
          <p:cNvSpPr/>
          <p:nvPr/>
        </p:nvSpPr>
        <p:spPr>
          <a:xfrm>
            <a:off x="5381625" y="4046537"/>
            <a:ext cx="153987" cy="152400"/>
          </a:xfrm>
          <a:custGeom>
            <a:rect b="b" l="l" r="r" t="t"/>
            <a:pathLst>
              <a:path extrusionOk="0" h="152400" w="153670">
                <a:moveTo>
                  <a:pt x="153680" y="152399"/>
                </a:moveTo>
                <a:lnTo>
                  <a:pt x="0" y="0"/>
                </a:lnTo>
                <a:lnTo>
                  <a:pt x="0" y="152399"/>
                </a:lnTo>
                <a:lnTo>
                  <a:pt x="153680" y="0"/>
                </a:lnTo>
                <a:lnTo>
                  <a:pt x="153680" y="152399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0" name="Google Shape;3400;p70"/>
          <p:cNvSpPr txBox="1"/>
          <p:nvPr/>
        </p:nvSpPr>
        <p:spPr>
          <a:xfrm>
            <a:off x="1301750" y="3952875"/>
            <a:ext cx="3690937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837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branch_city = “Needham”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endParaRPr/>
          </a:p>
        </p:txBody>
      </p:sp>
      <p:sp>
        <p:nvSpPr>
          <p:cNvPr id="3401" name="Google Shape;3401;p70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402" name="Google Shape;3402;p70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403" name="Google Shape;3403;p70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404" name="Google Shape;3404;p70"/>
          <p:cNvSpPr txBox="1"/>
          <p:nvPr/>
        </p:nvSpPr>
        <p:spPr>
          <a:xfrm>
            <a:off x="5351462" y="4019550"/>
            <a:ext cx="8620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405" name="Google Shape;3405;p70"/>
          <p:cNvSpPr txBox="1"/>
          <p:nvPr/>
        </p:nvSpPr>
        <p:spPr>
          <a:xfrm>
            <a:off x="1301750" y="4535487"/>
            <a:ext cx="4346575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30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account_number</a:t>
            </a:r>
            <a:r>
              <a:rPr b="0" baseline="30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 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branch_name, balance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406" name="Google Shape;3406;p70"/>
          <p:cNvSpPr txBox="1"/>
          <p:nvPr/>
        </p:nvSpPr>
        <p:spPr>
          <a:xfrm>
            <a:off x="1301750" y="5051425"/>
            <a:ext cx="3732212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customer_name, account_number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407" name="Google Shape;3407;p70"/>
          <p:cNvSpPr txBox="1"/>
          <p:nvPr/>
        </p:nvSpPr>
        <p:spPr>
          <a:xfrm>
            <a:off x="5327650" y="5051425"/>
            <a:ext cx="10398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depositor)</a:t>
            </a:r>
            <a:endParaRPr/>
          </a:p>
        </p:txBody>
      </p:sp>
      <p:sp>
        <p:nvSpPr>
          <p:cNvPr id="3408" name="Google Shape;3408;p70"/>
          <p:cNvSpPr txBox="1"/>
          <p:nvPr/>
        </p:nvSpPr>
        <p:spPr>
          <a:xfrm>
            <a:off x="1301750" y="5491162"/>
            <a:ext cx="265747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–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 –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409" name="Google Shape;3409;p70"/>
          <p:cNvSpPr txBox="1"/>
          <p:nvPr/>
        </p:nvSpPr>
        <p:spPr>
          <a:xfrm>
            <a:off x="892175" y="2303462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410" name="Google Shape;3410;p70"/>
          <p:cNvSpPr txBox="1"/>
          <p:nvPr/>
        </p:nvSpPr>
        <p:spPr>
          <a:xfrm>
            <a:off x="1252537" y="2357437"/>
            <a:ext cx="58785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all loan records with amount in the range of 0 to 50</a:t>
            </a:r>
            <a:endParaRPr/>
          </a:p>
        </p:txBody>
      </p:sp>
      <p:sp>
        <p:nvSpPr>
          <p:cNvPr id="3411" name="Google Shape;3411;p70"/>
          <p:cNvSpPr txBox="1"/>
          <p:nvPr/>
        </p:nvSpPr>
        <p:spPr>
          <a:xfrm>
            <a:off x="1527175" y="2820987"/>
            <a:ext cx="5253037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837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baseline="30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baseline="30000" i="0" lang="en-US" sz="3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30000" i="0" lang="en-US" sz="3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 </a:t>
            </a:r>
            <a:r>
              <a:rPr b="0" i="1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b="0" i="1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and amount </a:t>
            </a:r>
            <a:r>
              <a:rPr b="0" i="1" lang="en-US" sz="1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b="0" i="1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412" name="Google Shape;3412;p70"/>
          <p:cNvSpPr txBox="1"/>
          <p:nvPr/>
        </p:nvSpPr>
        <p:spPr>
          <a:xfrm>
            <a:off x="1460500" y="1576387"/>
            <a:ext cx="6529387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i="0" lang="en-US" sz="25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0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= “Perryridge”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6" name="Shape 3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" name="Google Shape;3417;p71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8" name="Google Shape;3418;p71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9" name="Google Shape;3419;p71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0" name="Google Shape;3420;p71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1" name="Google Shape;3421;p71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2" name="Google Shape;3422;p71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3" name="Google Shape;3423;p71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4" name="Google Shape;3424;p71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5" name="Google Shape;3425;p71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6" name="Google Shape;3426;p71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7" name="Google Shape;3427;p71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8" name="Google Shape;3428;p71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9" name="Google Shape;3429;p71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0" name="Google Shape;3430;p71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1" name="Google Shape;3431;p71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2" name="Google Shape;3432;p71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3" name="Google Shape;3433;p71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4" name="Google Shape;3434;p71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5" name="Google Shape;3435;p71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6" name="Google Shape;3436;p71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7" name="Google Shape;3437;p71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8" name="Google Shape;3438;p71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71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0" name="Google Shape;3440;p7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1" name="Google Shape;3441;p71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2" name="Google Shape;3442;p71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3" name="Google Shape;3443;p71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6671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Insertion</a:t>
            </a:r>
            <a:endParaRPr/>
          </a:p>
        </p:txBody>
      </p:sp>
      <p:sp>
        <p:nvSpPr>
          <p:cNvPr id="3444" name="Google Shape;3444;p71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445" name="Google Shape;3445;p71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446" name="Google Shape;3446;p71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447" name="Google Shape;3447;p71"/>
          <p:cNvSpPr txBox="1"/>
          <p:nvPr/>
        </p:nvSpPr>
        <p:spPr>
          <a:xfrm>
            <a:off x="915987" y="11826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448" name="Google Shape;3448;p71"/>
          <p:cNvSpPr txBox="1"/>
          <p:nvPr/>
        </p:nvSpPr>
        <p:spPr>
          <a:xfrm>
            <a:off x="1258887" y="1227137"/>
            <a:ext cx="39703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insert data into a relation, we either:</a:t>
            </a:r>
            <a:endParaRPr/>
          </a:p>
        </p:txBody>
      </p:sp>
      <p:sp>
        <p:nvSpPr>
          <p:cNvPr id="3449" name="Google Shape;3449;p71"/>
          <p:cNvSpPr txBox="1"/>
          <p:nvPr/>
        </p:nvSpPr>
        <p:spPr>
          <a:xfrm>
            <a:off x="1373187" y="15700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450" name="Google Shape;3450;p71"/>
          <p:cNvSpPr txBox="1"/>
          <p:nvPr/>
        </p:nvSpPr>
        <p:spPr>
          <a:xfrm>
            <a:off x="1658937" y="1601787"/>
            <a:ext cx="29305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specify a tuple to be inserted</a:t>
            </a:r>
            <a:endParaRPr/>
          </a:p>
        </p:txBody>
      </p:sp>
      <p:sp>
        <p:nvSpPr>
          <p:cNvPr id="3451" name="Google Shape;3451;p71"/>
          <p:cNvSpPr txBox="1"/>
          <p:nvPr/>
        </p:nvSpPr>
        <p:spPr>
          <a:xfrm>
            <a:off x="1373187" y="194468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452" name="Google Shape;3452;p71"/>
          <p:cNvSpPr txBox="1"/>
          <p:nvPr/>
        </p:nvSpPr>
        <p:spPr>
          <a:xfrm>
            <a:off x="1658937" y="1976437"/>
            <a:ext cx="58356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a query whose result is a set of tuples to be inserted</a:t>
            </a:r>
            <a:endParaRPr/>
          </a:p>
        </p:txBody>
      </p:sp>
      <p:sp>
        <p:nvSpPr>
          <p:cNvPr id="3453" name="Google Shape;3453;p71"/>
          <p:cNvSpPr txBox="1"/>
          <p:nvPr/>
        </p:nvSpPr>
        <p:spPr>
          <a:xfrm>
            <a:off x="915987" y="23034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454" name="Google Shape;3454;p71"/>
          <p:cNvSpPr txBox="1"/>
          <p:nvPr/>
        </p:nvSpPr>
        <p:spPr>
          <a:xfrm>
            <a:off x="1258887" y="2349500"/>
            <a:ext cx="50307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relational algebra, an insertion is expressed by:</a:t>
            </a:r>
            <a:endParaRPr/>
          </a:p>
        </p:txBody>
      </p:sp>
      <p:sp>
        <p:nvSpPr>
          <p:cNvPr id="3455" name="Google Shape;3455;p71"/>
          <p:cNvSpPr txBox="1"/>
          <p:nvPr/>
        </p:nvSpPr>
        <p:spPr>
          <a:xfrm>
            <a:off x="1258887" y="2725737"/>
            <a:ext cx="6134100" cy="627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	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relation 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relational algebra expression.</a:t>
            </a:r>
            <a:endParaRPr/>
          </a:p>
        </p:txBody>
      </p:sp>
      <p:sp>
        <p:nvSpPr>
          <p:cNvPr id="3456" name="Google Shape;3456;p71"/>
          <p:cNvSpPr txBox="1"/>
          <p:nvPr/>
        </p:nvSpPr>
        <p:spPr>
          <a:xfrm>
            <a:off x="915987" y="34274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457" name="Google Shape;3457;p71"/>
          <p:cNvSpPr txBox="1"/>
          <p:nvPr/>
        </p:nvSpPr>
        <p:spPr>
          <a:xfrm>
            <a:off x="1258887" y="3471862"/>
            <a:ext cx="70405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insertion of a single tuple is expressed by letting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a constant</a:t>
            </a:r>
            <a:endParaRPr/>
          </a:p>
        </p:txBody>
      </p:sp>
      <p:sp>
        <p:nvSpPr>
          <p:cNvPr id="3458" name="Google Shape;3458;p71"/>
          <p:cNvSpPr txBox="1"/>
          <p:nvPr/>
        </p:nvSpPr>
        <p:spPr>
          <a:xfrm>
            <a:off x="1258887" y="3746500"/>
            <a:ext cx="29384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 containing one tuple.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2" name="Shape 3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3" name="Google Shape;3463;p72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4" name="Google Shape;3464;p72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5" name="Google Shape;3465;p72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6" name="Google Shape;3466;p72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7" name="Google Shape;3467;p72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72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9" name="Google Shape;3469;p72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0" name="Google Shape;3470;p72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1" name="Google Shape;3471;p72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2" name="Google Shape;3472;p72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3" name="Google Shape;3473;p72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4" name="Google Shape;3474;p72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5" name="Google Shape;3475;p72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6" name="Google Shape;3476;p72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7" name="Google Shape;3477;p72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8" name="Google Shape;3478;p72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9" name="Google Shape;3479;p72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0" name="Google Shape;3480;p72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1" name="Google Shape;3481;p72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2" name="Google Shape;3482;p72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3" name="Google Shape;3483;p72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4" name="Google Shape;3484;p72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5" name="Google Shape;3485;p72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6" name="Google Shape;3486;p7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7" name="Google Shape;3487;p72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8" name="Google Shape;3488;p72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9" name="Google Shape;3489;p72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66223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Insertion Examples</a:t>
            </a:r>
            <a:endParaRPr/>
          </a:p>
        </p:txBody>
      </p:sp>
      <p:sp>
        <p:nvSpPr>
          <p:cNvPr id="3490" name="Google Shape;3490;p72"/>
          <p:cNvSpPr txBox="1"/>
          <p:nvPr/>
        </p:nvSpPr>
        <p:spPr>
          <a:xfrm>
            <a:off x="874712" y="1117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491" name="Google Shape;3491;p72"/>
          <p:cNvSpPr txBox="1"/>
          <p:nvPr/>
        </p:nvSpPr>
        <p:spPr>
          <a:xfrm>
            <a:off x="1217612" y="1162050"/>
            <a:ext cx="69516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information in the database specifying that Smith has $1200 in</a:t>
            </a:r>
            <a:endParaRPr/>
          </a:p>
        </p:txBody>
      </p:sp>
      <p:sp>
        <p:nvSpPr>
          <p:cNvPr id="3492" name="Google Shape;3492;p72"/>
          <p:cNvSpPr txBox="1"/>
          <p:nvPr/>
        </p:nvSpPr>
        <p:spPr>
          <a:xfrm>
            <a:off x="1217612" y="1436687"/>
            <a:ext cx="622300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A-973 at the Perryridge branch.</a:t>
            </a:r>
            <a:endParaRPr/>
          </a:p>
          <a:p>
            <a:pPr indent="0" lvl="0" marL="12700" marR="0" rtl="0" algn="l">
              <a:lnSpc>
                <a:spcPct val="136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	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{(“A-973”, “Perryridge”, 1200)} depositor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	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{(“Smith”, “A-973”)}</a:t>
            </a:r>
            <a:endParaRPr/>
          </a:p>
        </p:txBody>
      </p:sp>
      <p:sp>
        <p:nvSpPr>
          <p:cNvPr id="3493" name="Google Shape;3493;p72"/>
          <p:cNvSpPr txBox="1"/>
          <p:nvPr/>
        </p:nvSpPr>
        <p:spPr>
          <a:xfrm>
            <a:off x="873125" y="33289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494" name="Google Shape;3494;p72"/>
          <p:cNvSpPr txBox="1"/>
          <p:nvPr/>
        </p:nvSpPr>
        <p:spPr>
          <a:xfrm>
            <a:off x="1158875" y="3373437"/>
            <a:ext cx="56340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as a gift for all loan customers in the Perryridge</a:t>
            </a:r>
            <a:endParaRPr/>
          </a:p>
        </p:txBody>
      </p:sp>
      <p:sp>
        <p:nvSpPr>
          <p:cNvPr id="3495" name="Google Shape;3495;p72"/>
          <p:cNvSpPr txBox="1"/>
          <p:nvPr/>
        </p:nvSpPr>
        <p:spPr>
          <a:xfrm>
            <a:off x="1193800" y="3648075"/>
            <a:ext cx="6089650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branch, a $200 savings account.	Let the loan number serve as the account number for the new savings account.</a:t>
            </a:r>
            <a:endParaRPr/>
          </a:p>
        </p:txBody>
      </p:sp>
      <p:sp>
        <p:nvSpPr>
          <p:cNvPr id="3496" name="Google Shape;3496;p72"/>
          <p:cNvSpPr/>
          <p:nvPr/>
        </p:nvSpPr>
        <p:spPr>
          <a:xfrm>
            <a:off x="5487987" y="4532312"/>
            <a:ext cx="152400" cy="139700"/>
          </a:xfrm>
          <a:custGeom>
            <a:rect b="b" l="l" r="r" t="t"/>
            <a:pathLst>
              <a:path extrusionOk="0" h="139700" w="152400">
                <a:moveTo>
                  <a:pt x="152399" y="139708"/>
                </a:moveTo>
                <a:lnTo>
                  <a:pt x="0" y="0"/>
                </a:lnTo>
                <a:lnTo>
                  <a:pt x="0" y="139708"/>
                </a:lnTo>
                <a:lnTo>
                  <a:pt x="152399" y="0"/>
                </a:lnTo>
                <a:lnTo>
                  <a:pt x="152399" y="139708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7" name="Google Shape;3497;p72"/>
          <p:cNvSpPr txBox="1"/>
          <p:nvPr/>
        </p:nvSpPr>
        <p:spPr>
          <a:xfrm>
            <a:off x="1444625" y="4465637"/>
            <a:ext cx="3813175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7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baseline="30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 = “Perryridge”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</a:t>
            </a:r>
            <a:endParaRPr/>
          </a:p>
        </p:txBody>
      </p:sp>
      <p:sp>
        <p:nvSpPr>
          <p:cNvPr id="3498" name="Google Shape;3498;p72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499" name="Google Shape;3499;p72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500" name="Google Shape;3500;p72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501" name="Google Shape;3501;p72"/>
          <p:cNvSpPr txBox="1"/>
          <p:nvPr/>
        </p:nvSpPr>
        <p:spPr>
          <a:xfrm>
            <a:off x="5513387" y="4465637"/>
            <a:ext cx="677862" cy="2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loan))</a:t>
            </a:r>
            <a:endParaRPr/>
          </a:p>
        </p:txBody>
      </p:sp>
      <p:sp>
        <p:nvSpPr>
          <p:cNvPr id="3502" name="Google Shape;3502;p72"/>
          <p:cNvSpPr txBox="1"/>
          <p:nvPr/>
        </p:nvSpPr>
        <p:spPr>
          <a:xfrm>
            <a:off x="1444625" y="4924425"/>
            <a:ext cx="54483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baseline="30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baseline="30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loan_number, </a:t>
            </a:r>
            <a:r>
              <a:rPr b="0" baseline="30000" i="1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branch_name,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depositor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baseline="30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baseline="30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-US" sz="3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customer_name, loan_number 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6" name="Shape 3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7" name="Google Shape;3507;p73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8" name="Google Shape;3508;p73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9" name="Google Shape;3509;p73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0" name="Google Shape;3510;p73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1" name="Google Shape;3511;p73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2" name="Google Shape;3512;p73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3" name="Google Shape;3513;p73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4" name="Google Shape;3514;p73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73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6" name="Google Shape;3516;p73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7" name="Google Shape;3517;p73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8" name="Google Shape;3518;p73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9" name="Google Shape;3519;p73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0" name="Google Shape;3520;p73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1" name="Google Shape;3521;p73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2" name="Google Shape;3522;p73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3" name="Google Shape;3523;p73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4" name="Google Shape;3524;p73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5" name="Google Shape;3525;p73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6" name="Google Shape;3526;p73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7" name="Google Shape;3527;p73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8" name="Google Shape;3528;p73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9" name="Google Shape;3529;p73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0" name="Google Shape;3530;p7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1" name="Google Shape;3531;p73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2" name="Google Shape;3532;p73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3" name="Google Shape;3533;p7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644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Updating</a:t>
            </a:r>
            <a:endParaRPr/>
          </a:p>
        </p:txBody>
      </p:sp>
      <p:sp>
        <p:nvSpPr>
          <p:cNvPr id="3534" name="Google Shape;3534;p73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535" name="Google Shape;3535;p73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536" name="Google Shape;3536;p73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537" name="Google Shape;3537;p73"/>
          <p:cNvSpPr txBox="1"/>
          <p:nvPr/>
        </p:nvSpPr>
        <p:spPr>
          <a:xfrm>
            <a:off x="915987" y="11826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538" name="Google Shape;3538;p73"/>
          <p:cNvSpPr txBox="1"/>
          <p:nvPr/>
        </p:nvSpPr>
        <p:spPr>
          <a:xfrm>
            <a:off x="1258887" y="1227137"/>
            <a:ext cx="723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mechanism to change a value in a tuple without charging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 in</a:t>
            </a:r>
            <a:endParaRPr/>
          </a:p>
        </p:txBody>
      </p:sp>
      <p:sp>
        <p:nvSpPr>
          <p:cNvPr id="3539" name="Google Shape;3539;p73"/>
          <p:cNvSpPr txBox="1"/>
          <p:nvPr/>
        </p:nvSpPr>
        <p:spPr>
          <a:xfrm>
            <a:off x="1258887" y="1501775"/>
            <a:ext cx="9001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tuple</a:t>
            </a:r>
            <a:endParaRPr/>
          </a:p>
        </p:txBody>
      </p:sp>
      <p:sp>
        <p:nvSpPr>
          <p:cNvPr id="3540" name="Google Shape;3540;p73"/>
          <p:cNvSpPr txBox="1"/>
          <p:nvPr/>
        </p:nvSpPr>
        <p:spPr>
          <a:xfrm>
            <a:off x="915987" y="18303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541" name="Google Shape;3541;p73"/>
          <p:cNvSpPr txBox="1"/>
          <p:nvPr/>
        </p:nvSpPr>
        <p:spPr>
          <a:xfrm>
            <a:off x="1258887" y="1874837"/>
            <a:ext cx="54895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generalized projection operator to do this task</a:t>
            </a:r>
            <a:endParaRPr/>
          </a:p>
        </p:txBody>
      </p:sp>
      <p:sp>
        <p:nvSpPr>
          <p:cNvPr id="3542" name="Google Shape;3542;p73"/>
          <p:cNvSpPr txBox="1"/>
          <p:nvPr/>
        </p:nvSpPr>
        <p:spPr>
          <a:xfrm>
            <a:off x="915987" y="292417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543" name="Google Shape;3543;p73"/>
          <p:cNvSpPr txBox="1"/>
          <p:nvPr/>
        </p:nvSpPr>
        <p:spPr>
          <a:xfrm>
            <a:off x="1258887" y="2973387"/>
            <a:ext cx="16510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either</a:t>
            </a:r>
            <a:endParaRPr/>
          </a:p>
        </p:txBody>
      </p:sp>
      <p:sp>
        <p:nvSpPr>
          <p:cNvPr id="3544" name="Google Shape;3544;p73"/>
          <p:cNvSpPr txBox="1"/>
          <p:nvPr/>
        </p:nvSpPr>
        <p:spPr>
          <a:xfrm>
            <a:off x="1373187" y="33845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545" name="Google Shape;3545;p73"/>
          <p:cNvSpPr txBox="1"/>
          <p:nvPr/>
        </p:nvSpPr>
        <p:spPr>
          <a:xfrm>
            <a:off x="1658937" y="3413125"/>
            <a:ext cx="560387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if the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 is not updated, or,</a:t>
            </a:r>
            <a:endParaRPr/>
          </a:p>
        </p:txBody>
      </p:sp>
      <p:sp>
        <p:nvSpPr>
          <p:cNvPr id="3546" name="Google Shape;3546;p73"/>
          <p:cNvSpPr txBox="1"/>
          <p:nvPr/>
        </p:nvSpPr>
        <p:spPr>
          <a:xfrm>
            <a:off x="1373187" y="37766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547" name="Google Shape;3547;p73"/>
          <p:cNvSpPr txBox="1"/>
          <p:nvPr/>
        </p:nvSpPr>
        <p:spPr>
          <a:xfrm>
            <a:off x="1658937" y="3787775"/>
            <a:ext cx="6570662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attribute is to be updated F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expression, involving only</a:t>
            </a:r>
            <a:endParaRPr/>
          </a:p>
        </p:txBody>
      </p:sp>
      <p:sp>
        <p:nvSpPr>
          <p:cNvPr id="3548" name="Google Shape;3548;p73"/>
          <p:cNvSpPr txBox="1"/>
          <p:nvPr/>
        </p:nvSpPr>
        <p:spPr>
          <a:xfrm>
            <a:off x="1658937" y="4098925"/>
            <a:ext cx="67135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constants and the attributes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gives the new value for the attribute</a:t>
            </a:r>
            <a:endParaRPr/>
          </a:p>
        </p:txBody>
      </p:sp>
      <p:sp>
        <p:nvSpPr>
          <p:cNvPr id="3549" name="Google Shape;3549;p73"/>
          <p:cNvSpPr txBox="1"/>
          <p:nvPr/>
        </p:nvSpPr>
        <p:spPr>
          <a:xfrm>
            <a:off x="4214812" y="2411412"/>
            <a:ext cx="47148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550" name="Google Shape;3550;p73"/>
          <p:cNvSpPr txBox="1"/>
          <p:nvPr/>
        </p:nvSpPr>
        <p:spPr>
          <a:xfrm>
            <a:off x="3473450" y="2593975"/>
            <a:ext cx="733425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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3551" name="Google Shape;3551;p73"/>
          <p:cNvSpPr txBox="1"/>
          <p:nvPr/>
        </p:nvSpPr>
        <p:spPr>
          <a:xfrm>
            <a:off x="2578100" y="2414587"/>
            <a:ext cx="906462" cy="34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0" i="1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25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i="0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p74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7" name="Google Shape;3557;p74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8" name="Google Shape;3558;p74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9" name="Google Shape;3559;p74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0" name="Google Shape;3560;p74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1" name="Google Shape;3561;p74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2" name="Google Shape;3562;p74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3" name="Google Shape;3563;p74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4" name="Google Shape;3564;p74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5" name="Google Shape;3565;p74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6" name="Google Shape;3566;p74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7" name="Google Shape;3567;p74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8" name="Google Shape;3568;p74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9" name="Google Shape;3569;p74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0" name="Google Shape;3570;p74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1" name="Google Shape;3571;p74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2" name="Google Shape;3572;p74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3" name="Google Shape;3573;p74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4" name="Google Shape;3574;p74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5" name="Google Shape;3575;p74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6" name="Google Shape;3576;p74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7" name="Google Shape;3577;p74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8" name="Google Shape;3578;p74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9" name="Google Shape;3579;p7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0" name="Google Shape;3580;p74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1" name="Google Shape;3581;p74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2" name="Google Shape;3582;p74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832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Update Examples</a:t>
            </a:r>
            <a:endParaRPr/>
          </a:p>
        </p:txBody>
      </p:sp>
      <p:sp>
        <p:nvSpPr>
          <p:cNvPr id="3583" name="Google Shape;3583;p74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584" name="Google Shape;3584;p74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585" name="Google Shape;3585;p74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  <p:sp>
        <p:nvSpPr>
          <p:cNvPr id="3586" name="Google Shape;3586;p74"/>
          <p:cNvSpPr txBox="1"/>
          <p:nvPr/>
        </p:nvSpPr>
        <p:spPr>
          <a:xfrm>
            <a:off x="914400" y="12176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587" name="Google Shape;3587;p74"/>
          <p:cNvSpPr txBox="1"/>
          <p:nvPr/>
        </p:nvSpPr>
        <p:spPr>
          <a:xfrm>
            <a:off x="1257300" y="1262062"/>
            <a:ext cx="65055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interest payments by increasing all balances by 5 percent.</a:t>
            </a:r>
            <a:endParaRPr/>
          </a:p>
        </p:txBody>
      </p:sp>
      <p:sp>
        <p:nvSpPr>
          <p:cNvPr id="3588" name="Google Shape;3588;p74"/>
          <p:cNvSpPr txBox="1"/>
          <p:nvPr/>
        </p:nvSpPr>
        <p:spPr>
          <a:xfrm>
            <a:off x="935037" y="30622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589" name="Google Shape;3589;p74"/>
          <p:cNvSpPr txBox="1"/>
          <p:nvPr/>
        </p:nvSpPr>
        <p:spPr>
          <a:xfrm>
            <a:off x="1219200" y="3106737"/>
            <a:ext cx="63531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Pay all accounts with balances over $10,000 6 percent interest</a:t>
            </a:r>
            <a:endParaRPr/>
          </a:p>
        </p:txBody>
      </p:sp>
      <p:sp>
        <p:nvSpPr>
          <p:cNvPr id="3590" name="Google Shape;3590;p74"/>
          <p:cNvSpPr txBox="1"/>
          <p:nvPr/>
        </p:nvSpPr>
        <p:spPr>
          <a:xfrm>
            <a:off x="1254125" y="3381375"/>
            <a:ext cx="6981825" cy="1360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pay all others 5 percent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account_number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 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1.06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 </a:t>
            </a:r>
            <a:r>
              <a:rPr b="0" baseline="30000" i="1" lang="en-US" sz="15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&gt;</a:t>
            </a:r>
            <a:r>
              <a:rPr b="0" baseline="30000" i="1" lang="en-US" sz="1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10000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None/>
            </a:pP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account_number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 </a:t>
            </a:r>
            <a:r>
              <a:rPr b="0" baseline="30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0" baseline="3000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1.05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30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 </a:t>
            </a:r>
            <a:r>
              <a:rPr b="0" baseline="30000" i="1" lang="en-US" sz="15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b="0" baseline="30000" i="1" lang="en-US" sz="1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1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10000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/>
          </a:p>
        </p:txBody>
      </p:sp>
      <p:sp>
        <p:nvSpPr>
          <p:cNvPr id="3591" name="Google Shape;3591;p74"/>
          <p:cNvSpPr txBox="1"/>
          <p:nvPr/>
        </p:nvSpPr>
        <p:spPr>
          <a:xfrm>
            <a:off x="1625600" y="1785937"/>
            <a:ext cx="553878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-US" sz="27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account_number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branch_name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1.05 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75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7" name="Google Shape;3597;p75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8" name="Google Shape;3598;p75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9" name="Google Shape;3599;p75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0" name="Google Shape;3600;p75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1" name="Google Shape;3601;p75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2" name="Google Shape;3602;p75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3" name="Google Shape;3603;p75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4" name="Google Shape;3604;p75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5" name="Google Shape;3605;p75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6" name="Google Shape;3606;p75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7" name="Google Shape;3607;p75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8" name="Google Shape;3608;p75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9" name="Google Shape;3609;p75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0" name="Google Shape;3610;p75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1" name="Google Shape;3611;p75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2" name="Google Shape;3612;p75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3" name="Google Shape;3613;p75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4" name="Google Shape;3614;p75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5" name="Google Shape;3615;p75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6" name="Google Shape;3616;p75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7" name="Google Shape;3617;p75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75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9" name="Google Shape;3619;p75"/>
          <p:cNvSpPr txBox="1"/>
          <p:nvPr/>
        </p:nvSpPr>
        <p:spPr>
          <a:xfrm>
            <a:off x="2755900" y="5805487"/>
            <a:ext cx="3486150" cy="687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286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Concepts, 5</a:t>
            </a:r>
            <a:r>
              <a:rPr b="1" baseline="30000" i="0" lang="en-US" sz="13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6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Ed.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2862" marR="0" rtl="0" algn="ctr">
              <a:lnSpc>
                <a:spcPct val="116666"/>
              </a:lnSpc>
              <a:spcBef>
                <a:spcPts val="700"/>
              </a:spcBef>
              <a:spcAft>
                <a:spcPts val="0"/>
              </a:spcAft>
              <a:buClr>
                <a:srgbClr val="CC32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2862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See </a:t>
            </a:r>
            <a:r>
              <a:rPr b="1" i="0"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www.db-book.com </a:t>
            </a:r>
            <a:r>
              <a:rPr b="1" i="0" lang="en-US" sz="1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for conditions on re-use</a:t>
            </a:r>
            <a:endParaRPr/>
          </a:p>
        </p:txBody>
      </p:sp>
      <p:sp>
        <p:nvSpPr>
          <p:cNvPr id="3620" name="Google Shape;3620;p75"/>
          <p:cNvSpPr txBox="1"/>
          <p:nvPr/>
        </p:nvSpPr>
        <p:spPr>
          <a:xfrm>
            <a:off x="0" y="0"/>
            <a:ext cx="561975" cy="742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1" name="Google Shape;3621;p75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2" name="Google Shape;3622;p75"/>
          <p:cNvSpPr txBox="1"/>
          <p:nvPr/>
        </p:nvSpPr>
        <p:spPr>
          <a:xfrm>
            <a:off x="2933700" y="2971800"/>
            <a:ext cx="32797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End of Chapter 2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6" name="Shape 3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7" name="Google Shape;3627;p76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8" name="Google Shape;3628;p76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9" name="Google Shape;3629;p76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0" name="Google Shape;3630;p76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1" name="Google Shape;3631;p76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2" name="Google Shape;3632;p76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3" name="Google Shape;3633;p76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4" name="Google Shape;3634;p76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76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76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76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8" name="Google Shape;3638;p76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9" name="Google Shape;3639;p76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0" name="Google Shape;3640;p76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1" name="Google Shape;3641;p76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2" name="Google Shape;3642;p76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3" name="Google Shape;3643;p76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4" name="Google Shape;3644;p76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5" name="Google Shape;3645;p76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6" name="Google Shape;3646;p76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7" name="Google Shape;3647;p76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8" name="Google Shape;3648;p76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9" name="Google Shape;3649;p76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0" name="Google Shape;3650;p7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1" name="Google Shape;3651;p76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2" name="Google Shape;3652;p76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3" name="Google Shape;3653;p76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5684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2.3. The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branch </a:t>
            </a: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/>
          </a:p>
        </p:txBody>
      </p:sp>
      <p:sp>
        <p:nvSpPr>
          <p:cNvPr id="3654" name="Google Shape;3654;p76"/>
          <p:cNvSpPr/>
          <p:nvPr/>
        </p:nvSpPr>
        <p:spPr>
          <a:xfrm>
            <a:off x="1276350" y="1352550"/>
            <a:ext cx="4157662" cy="2719387"/>
          </a:xfrm>
          <a:custGeom>
            <a:rect b="b" l="l" r="r" t="t"/>
            <a:pathLst>
              <a:path extrusionOk="0" h="2719070" w="4157979">
                <a:moveTo>
                  <a:pt x="2078979" y="2719065"/>
                </a:moveTo>
                <a:lnTo>
                  <a:pt x="0" y="2719065"/>
                </a:lnTo>
                <a:lnTo>
                  <a:pt x="0" y="0"/>
                </a:lnTo>
                <a:lnTo>
                  <a:pt x="4157990" y="0"/>
                </a:lnTo>
                <a:lnTo>
                  <a:pt x="4157990" y="2719065"/>
                </a:lnTo>
                <a:lnTo>
                  <a:pt x="2078979" y="271906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5" name="Google Shape;3655;p76"/>
          <p:cNvSpPr txBox="1"/>
          <p:nvPr/>
        </p:nvSpPr>
        <p:spPr>
          <a:xfrm>
            <a:off x="1295400" y="1371600"/>
            <a:ext cx="4121150" cy="26828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6" name="Google Shape;3656;p76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657" name="Google Shape;3657;p76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658" name="Google Shape;3658;p76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2" name="Shape 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3" name="Google Shape;3663;p77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4" name="Google Shape;3664;p77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5" name="Google Shape;3665;p77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6" name="Google Shape;3666;p77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7" name="Google Shape;3667;p77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8" name="Google Shape;3668;p77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9" name="Google Shape;3669;p77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0" name="Google Shape;3670;p77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1" name="Google Shape;3671;p77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2" name="Google Shape;3672;p77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3" name="Google Shape;3673;p77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4" name="Google Shape;3674;p77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5" name="Google Shape;3675;p77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6" name="Google Shape;3676;p77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7" name="Google Shape;3677;p77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8" name="Google Shape;3678;p77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9" name="Google Shape;3679;p77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0" name="Google Shape;3680;p77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1" name="Google Shape;3681;p77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2" name="Google Shape;3682;p77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3" name="Google Shape;3683;p77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4" name="Google Shape;3684;p77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5" name="Google Shape;3685;p77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6" name="Google Shape;3686;p77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7" name="Google Shape;3687;p77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8" name="Google Shape;3688;p77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9" name="Google Shape;3689;p77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816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2.6: The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loan </a:t>
            </a: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/>
          </a:p>
        </p:txBody>
      </p:sp>
      <p:sp>
        <p:nvSpPr>
          <p:cNvPr id="3690" name="Google Shape;3690;p77"/>
          <p:cNvSpPr/>
          <p:nvPr/>
        </p:nvSpPr>
        <p:spPr>
          <a:xfrm>
            <a:off x="1571625" y="1235075"/>
            <a:ext cx="6691312" cy="4056062"/>
          </a:xfrm>
          <a:custGeom>
            <a:rect b="b" l="l" r="r" t="t"/>
            <a:pathLst>
              <a:path extrusionOk="0" h="4055110" w="6690359">
                <a:moveTo>
                  <a:pt x="3345173" y="4055095"/>
                </a:moveTo>
                <a:lnTo>
                  <a:pt x="0" y="4055095"/>
                </a:lnTo>
                <a:lnTo>
                  <a:pt x="0" y="0"/>
                </a:lnTo>
                <a:lnTo>
                  <a:pt x="6690353" y="0"/>
                </a:lnTo>
                <a:lnTo>
                  <a:pt x="6690353" y="4055095"/>
                </a:lnTo>
                <a:lnTo>
                  <a:pt x="3345173" y="405509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1" name="Google Shape;3691;p77"/>
          <p:cNvSpPr txBox="1"/>
          <p:nvPr/>
        </p:nvSpPr>
        <p:spPr>
          <a:xfrm>
            <a:off x="1590675" y="1254125"/>
            <a:ext cx="6654800" cy="40195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2" name="Google Shape;3692;p77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693" name="Google Shape;3693;p77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694" name="Google Shape;3694;p77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8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p78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0" name="Google Shape;3700;p78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1" name="Google Shape;3701;p78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2" name="Google Shape;3702;p78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3" name="Google Shape;3703;p78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78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5" name="Google Shape;3705;p78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6" name="Google Shape;3706;p78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7" name="Google Shape;3707;p78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8" name="Google Shape;3708;p78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9" name="Google Shape;3709;p78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0" name="Google Shape;3710;p78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1" name="Google Shape;3711;p78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p78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3" name="Google Shape;3713;p78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4" name="Google Shape;3714;p78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5" name="Google Shape;3715;p78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78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78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78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78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0" name="Google Shape;3720;p78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1" name="Google Shape;3721;p78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2" name="Google Shape;3722;p78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3" name="Google Shape;3723;p78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4" name="Google Shape;3724;p78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5" name="Google Shape;3725;p78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525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2.7: The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borrower </a:t>
            </a: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/>
          </a:p>
        </p:txBody>
      </p:sp>
      <p:sp>
        <p:nvSpPr>
          <p:cNvPr id="3726" name="Google Shape;3726;p78"/>
          <p:cNvSpPr/>
          <p:nvPr/>
        </p:nvSpPr>
        <p:spPr>
          <a:xfrm>
            <a:off x="2343150" y="2266950"/>
            <a:ext cx="4114800" cy="3460750"/>
          </a:xfrm>
          <a:custGeom>
            <a:rect b="b" l="l" r="r" t="t"/>
            <a:pathLst>
              <a:path extrusionOk="0" h="3460750" w="4114800">
                <a:moveTo>
                  <a:pt x="2057399" y="3460753"/>
                </a:moveTo>
                <a:lnTo>
                  <a:pt x="0" y="3460753"/>
                </a:lnTo>
                <a:lnTo>
                  <a:pt x="0" y="0"/>
                </a:lnTo>
                <a:lnTo>
                  <a:pt x="4114799" y="0"/>
                </a:lnTo>
                <a:lnTo>
                  <a:pt x="4114799" y="3460753"/>
                </a:lnTo>
                <a:lnTo>
                  <a:pt x="2057399" y="3460753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7" name="Google Shape;3727;p78"/>
          <p:cNvSpPr txBox="1"/>
          <p:nvPr/>
        </p:nvSpPr>
        <p:spPr>
          <a:xfrm>
            <a:off x="2362200" y="2286000"/>
            <a:ext cx="4078287" cy="34242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p78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729" name="Google Shape;3729;p78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730" name="Google Shape;3730;p78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4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5" name="Google Shape;3735;p79"/>
          <p:cNvSpPr txBox="1"/>
          <p:nvPr/>
        </p:nvSpPr>
        <p:spPr>
          <a:xfrm>
            <a:off x="1658937" y="207962"/>
            <a:ext cx="6173787" cy="982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43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2.9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ctr">
              <a:lnSpc>
                <a:spcPct val="77083"/>
              </a:lnSpc>
              <a:spcBef>
                <a:spcPts val="800"/>
              </a:spcBef>
              <a:spcAft>
                <a:spcPts val="0"/>
              </a:spcAft>
              <a:buClr>
                <a:srgbClr val="CC3200"/>
              </a:buClr>
              <a:buSzPts val="4800"/>
              <a:buFont typeface="Arial"/>
              <a:buNone/>
            </a:pPr>
            <a:r>
              <a:rPr b="1" baseline="30000" i="0" lang="en-US" sz="4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Result of </a:t>
            </a:r>
            <a:r>
              <a:rPr b="0" baseline="30000" i="0" lang="en-US" sz="4800" u="none">
                <a:solidFill>
                  <a:srgbClr val="CC32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branch_name = “Perryridge” </a:t>
            </a:r>
            <a:r>
              <a:rPr b="0" baseline="30000" i="0" lang="en-US" sz="4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baseline="30000" i="1" lang="en-US" sz="4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loan</a:t>
            </a:r>
            <a:r>
              <a:rPr b="0" baseline="30000" i="0" lang="en-US" sz="4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736" name="Google Shape;3736;p79"/>
          <p:cNvSpPr/>
          <p:nvPr/>
        </p:nvSpPr>
        <p:spPr>
          <a:xfrm>
            <a:off x="3181350" y="2732087"/>
            <a:ext cx="5657850" cy="1416050"/>
          </a:xfrm>
          <a:custGeom>
            <a:rect b="b" l="l" r="r" t="t"/>
            <a:pathLst>
              <a:path extrusionOk="0" h="1416050" w="5657850">
                <a:moveTo>
                  <a:pt x="2828300" y="1416045"/>
                </a:moveTo>
                <a:lnTo>
                  <a:pt x="0" y="1416045"/>
                </a:lnTo>
                <a:lnTo>
                  <a:pt x="0" y="0"/>
                </a:lnTo>
                <a:lnTo>
                  <a:pt x="5657849" y="0"/>
                </a:lnTo>
                <a:lnTo>
                  <a:pt x="5657849" y="1416045"/>
                </a:lnTo>
                <a:lnTo>
                  <a:pt x="2828300" y="141604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7" name="Google Shape;3737;p79"/>
          <p:cNvSpPr txBox="1"/>
          <p:nvPr/>
        </p:nvSpPr>
        <p:spPr>
          <a:xfrm>
            <a:off x="3200400" y="2751137"/>
            <a:ext cx="5621337" cy="13795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8" name="Google Shape;3738;p79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739" name="Google Shape;3739;p79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740" name="Google Shape;3740;p79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4" name="Shape 3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5" name="Google Shape;3745;p80"/>
          <p:cNvSpPr txBox="1"/>
          <p:nvPr/>
        </p:nvSpPr>
        <p:spPr>
          <a:xfrm>
            <a:off x="847725" y="120650"/>
            <a:ext cx="790733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2.10: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Loan number and the amount of the loan</a:t>
            </a:r>
            <a:endParaRPr/>
          </a:p>
        </p:txBody>
      </p:sp>
      <p:sp>
        <p:nvSpPr>
          <p:cNvPr id="3746" name="Google Shape;3746;p80"/>
          <p:cNvSpPr/>
          <p:nvPr/>
        </p:nvSpPr>
        <p:spPr>
          <a:xfrm>
            <a:off x="3638550" y="3046412"/>
            <a:ext cx="3543300" cy="3436937"/>
          </a:xfrm>
          <a:custGeom>
            <a:rect b="b" l="l" r="r" t="t"/>
            <a:pathLst>
              <a:path extrusionOk="0" h="3435985" w="3543300">
                <a:moveTo>
                  <a:pt x="1771649" y="3435364"/>
                </a:moveTo>
                <a:lnTo>
                  <a:pt x="0" y="3435364"/>
                </a:lnTo>
                <a:lnTo>
                  <a:pt x="0" y="0"/>
                </a:lnTo>
                <a:lnTo>
                  <a:pt x="3543299" y="0"/>
                </a:lnTo>
                <a:lnTo>
                  <a:pt x="3543299" y="3435364"/>
                </a:lnTo>
                <a:lnTo>
                  <a:pt x="1771649" y="3435364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7" name="Google Shape;3747;p80"/>
          <p:cNvSpPr txBox="1"/>
          <p:nvPr/>
        </p:nvSpPr>
        <p:spPr>
          <a:xfrm>
            <a:off x="3657600" y="3065462"/>
            <a:ext cx="3506787" cy="33988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8" name="Google Shape;3748;p80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749" name="Google Shape;3749;p80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750" name="Google Shape;3750;p80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4" name="Shape 3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5" name="Google Shape;3755;p81"/>
          <p:cNvSpPr txBox="1"/>
          <p:nvPr/>
        </p:nvSpPr>
        <p:spPr>
          <a:xfrm>
            <a:off x="847725" y="46037"/>
            <a:ext cx="790733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11200" lvl="0" marL="723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2.11: Names of all customers who have either an account or an loan</a:t>
            </a:r>
            <a:endParaRPr/>
          </a:p>
        </p:txBody>
      </p:sp>
      <p:sp>
        <p:nvSpPr>
          <p:cNvPr id="3756" name="Google Shape;3756;p81"/>
          <p:cNvSpPr/>
          <p:nvPr/>
        </p:nvSpPr>
        <p:spPr>
          <a:xfrm>
            <a:off x="3105150" y="1123950"/>
            <a:ext cx="2919412" cy="5518150"/>
          </a:xfrm>
          <a:custGeom>
            <a:rect b="b" l="l" r="r" t="t"/>
            <a:pathLst>
              <a:path extrusionOk="0" h="5518150" w="2919729">
                <a:moveTo>
                  <a:pt x="1459229" y="5518153"/>
                </a:moveTo>
                <a:lnTo>
                  <a:pt x="0" y="5518153"/>
                </a:lnTo>
                <a:lnTo>
                  <a:pt x="0" y="0"/>
                </a:lnTo>
                <a:lnTo>
                  <a:pt x="2919740" y="0"/>
                </a:lnTo>
                <a:lnTo>
                  <a:pt x="2919740" y="5518153"/>
                </a:lnTo>
                <a:lnTo>
                  <a:pt x="1459229" y="5518153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7" name="Google Shape;3757;p81"/>
          <p:cNvSpPr txBox="1"/>
          <p:nvPr/>
        </p:nvSpPr>
        <p:spPr>
          <a:xfrm>
            <a:off x="3124200" y="1143000"/>
            <a:ext cx="2882900" cy="54816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8" name="Google Shape;3758;p81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759" name="Google Shape;3759;p81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760" name="Google Shape;3760;p81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4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p82"/>
          <p:cNvSpPr txBox="1"/>
          <p:nvPr/>
        </p:nvSpPr>
        <p:spPr>
          <a:xfrm>
            <a:off x="982662" y="120650"/>
            <a:ext cx="7637462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2.12: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Customers with an account but no loan</a:t>
            </a:r>
            <a:endParaRPr/>
          </a:p>
        </p:txBody>
      </p:sp>
      <p:sp>
        <p:nvSpPr>
          <p:cNvPr id="3766" name="Google Shape;3766;p82"/>
          <p:cNvSpPr/>
          <p:nvPr/>
        </p:nvSpPr>
        <p:spPr>
          <a:xfrm>
            <a:off x="4552950" y="3167062"/>
            <a:ext cx="3314700" cy="2438400"/>
          </a:xfrm>
          <a:custGeom>
            <a:rect b="b" l="l" r="r" t="t"/>
            <a:pathLst>
              <a:path extrusionOk="0" h="2438400" w="3314700">
                <a:moveTo>
                  <a:pt x="1657349" y="2438393"/>
                </a:moveTo>
                <a:lnTo>
                  <a:pt x="0" y="2438393"/>
                </a:lnTo>
                <a:lnTo>
                  <a:pt x="0" y="0"/>
                </a:lnTo>
                <a:lnTo>
                  <a:pt x="3314699" y="0"/>
                </a:lnTo>
                <a:lnTo>
                  <a:pt x="3314699" y="2438393"/>
                </a:lnTo>
                <a:lnTo>
                  <a:pt x="1657349" y="2438393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7" name="Google Shape;3767;p82"/>
          <p:cNvSpPr txBox="1"/>
          <p:nvPr/>
        </p:nvSpPr>
        <p:spPr>
          <a:xfrm>
            <a:off x="4572000" y="3186112"/>
            <a:ext cx="3278187" cy="2401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8" name="Google Shape;3768;p82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769" name="Google Shape;3769;p82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770" name="Google Shape;3770;p82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4" name="Shape 3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5" name="Google Shape;3775;p83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6" name="Google Shape;3776;p83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7" name="Google Shape;3777;p83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8" name="Google Shape;3778;p83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9" name="Google Shape;3779;p83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0" name="Google Shape;3780;p83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1" name="Google Shape;3781;p83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2" name="Google Shape;3782;p83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3" name="Google Shape;3783;p83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4" name="Google Shape;3784;p83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5" name="Google Shape;3785;p83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6" name="Google Shape;3786;p83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7" name="Google Shape;3787;p83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8" name="Google Shape;3788;p83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9" name="Google Shape;3789;p83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0" name="Google Shape;3790;p83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1" name="Google Shape;3791;p83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2" name="Google Shape;3792;p83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3" name="Google Shape;3793;p83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4" name="Google Shape;3794;p83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5" name="Google Shape;3795;p83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6" name="Google Shape;3796;p83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7" name="Google Shape;3797;p83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8" name="Google Shape;3798;p8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9" name="Google Shape;3799;p83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83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8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4136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2.13: Result of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borrower </a:t>
            </a: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|X|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loan</a:t>
            </a:r>
            <a:endParaRPr/>
          </a:p>
        </p:txBody>
      </p:sp>
      <p:sp>
        <p:nvSpPr>
          <p:cNvPr id="3802" name="Google Shape;3802;p83"/>
          <p:cNvSpPr/>
          <p:nvPr/>
        </p:nvSpPr>
        <p:spPr>
          <a:xfrm>
            <a:off x="2705100" y="819150"/>
            <a:ext cx="3862387" cy="5757862"/>
          </a:xfrm>
          <a:custGeom>
            <a:rect b="b" l="l" r="r" t="t"/>
            <a:pathLst>
              <a:path extrusionOk="0" h="5758180" w="3862070">
                <a:moveTo>
                  <a:pt x="1930389" y="5758183"/>
                </a:moveTo>
                <a:lnTo>
                  <a:pt x="0" y="5758183"/>
                </a:lnTo>
                <a:lnTo>
                  <a:pt x="0" y="0"/>
                </a:lnTo>
                <a:lnTo>
                  <a:pt x="3862059" y="0"/>
                </a:lnTo>
                <a:lnTo>
                  <a:pt x="3862059" y="5758183"/>
                </a:lnTo>
                <a:lnTo>
                  <a:pt x="1930389" y="5758183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83"/>
          <p:cNvSpPr txBox="1"/>
          <p:nvPr/>
        </p:nvSpPr>
        <p:spPr>
          <a:xfrm>
            <a:off x="2724150" y="838200"/>
            <a:ext cx="3825875" cy="57213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83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805" name="Google Shape;3805;p83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806" name="Google Shape;3806;p83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0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1" name="Google Shape;3811;p84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2" name="Google Shape;3812;p84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3" name="Google Shape;3813;p84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4" name="Google Shape;3814;p84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5" name="Google Shape;3815;p84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6" name="Google Shape;3816;p84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7" name="Google Shape;3817;p84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8" name="Google Shape;3818;p84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9" name="Google Shape;3819;p84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0" name="Google Shape;3820;p84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1" name="Google Shape;3821;p84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2" name="Google Shape;3822;p84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3" name="Google Shape;3823;p84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4" name="Google Shape;3824;p84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5" name="Google Shape;3825;p84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6" name="Google Shape;3826;p84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7" name="Google Shape;3827;p84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8" name="Google Shape;3828;p84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9" name="Google Shape;3829;p84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0" name="Google Shape;3830;p84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1" name="Google Shape;3831;p84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2" name="Google Shape;3832;p84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3" name="Google Shape;3833;p84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4" name="Google Shape;3834;p8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5" name="Google Shape;3835;p84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6" name="Google Shape;3836;p84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7" name="Google Shape;3837;p84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2.14</a:t>
            </a:r>
            <a:endParaRPr/>
          </a:p>
        </p:txBody>
      </p:sp>
      <p:sp>
        <p:nvSpPr>
          <p:cNvPr id="3838" name="Google Shape;3838;p84"/>
          <p:cNvSpPr/>
          <p:nvPr/>
        </p:nvSpPr>
        <p:spPr>
          <a:xfrm>
            <a:off x="1071562" y="1138237"/>
            <a:ext cx="7110412" cy="4895850"/>
          </a:xfrm>
          <a:custGeom>
            <a:rect b="b" l="l" r="r" t="t"/>
            <a:pathLst>
              <a:path extrusionOk="0" h="4895850" w="7110730">
                <a:moveTo>
                  <a:pt x="3554736" y="4895855"/>
                </a:moveTo>
                <a:lnTo>
                  <a:pt x="0" y="4895855"/>
                </a:lnTo>
                <a:lnTo>
                  <a:pt x="0" y="0"/>
                </a:lnTo>
                <a:lnTo>
                  <a:pt x="7110715" y="0"/>
                </a:lnTo>
                <a:lnTo>
                  <a:pt x="7110715" y="4895855"/>
                </a:lnTo>
                <a:lnTo>
                  <a:pt x="3554736" y="489585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9" name="Google Shape;3839;p84"/>
          <p:cNvSpPr txBox="1"/>
          <p:nvPr/>
        </p:nvSpPr>
        <p:spPr>
          <a:xfrm>
            <a:off x="1090612" y="1157287"/>
            <a:ext cx="7073900" cy="48593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0" name="Google Shape;3840;p84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841" name="Google Shape;3841;p84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842" name="Google Shape;3842;p84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6" name="Shape 3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Google Shape;3847;p85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8" name="Google Shape;3848;p85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9" name="Google Shape;3849;p85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0" name="Google Shape;3850;p85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1" name="Google Shape;3851;p85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2" name="Google Shape;3852;p85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3" name="Google Shape;3853;p85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4" name="Google Shape;3854;p85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5" name="Google Shape;3855;p85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6" name="Google Shape;3856;p85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7" name="Google Shape;3857;p85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8" name="Google Shape;3858;p85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9" name="Google Shape;3859;p85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0" name="Google Shape;3860;p85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1" name="Google Shape;3861;p85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2" name="Google Shape;3862;p85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3" name="Google Shape;3863;p85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4" name="Google Shape;3864;p85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5" name="Google Shape;3865;p85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6" name="Google Shape;3866;p85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7" name="Google Shape;3867;p85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8" name="Google Shape;3868;p85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9" name="Google Shape;3869;p85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0" name="Google Shape;3870;p8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1" name="Google Shape;3871;p85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2" name="Google Shape;3872;p85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3" name="Google Shape;3873;p85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2.15</a:t>
            </a:r>
            <a:endParaRPr/>
          </a:p>
        </p:txBody>
      </p:sp>
      <p:sp>
        <p:nvSpPr>
          <p:cNvPr id="3874" name="Google Shape;3874;p85"/>
          <p:cNvSpPr/>
          <p:nvPr/>
        </p:nvSpPr>
        <p:spPr>
          <a:xfrm>
            <a:off x="1352550" y="1276350"/>
            <a:ext cx="3119437" cy="1798637"/>
          </a:xfrm>
          <a:custGeom>
            <a:rect b="b" l="l" r="r" t="t"/>
            <a:pathLst>
              <a:path extrusionOk="0" h="1798320" w="3119120">
                <a:moveTo>
                  <a:pt x="1559564" y="1798319"/>
                </a:moveTo>
                <a:lnTo>
                  <a:pt x="0" y="1798319"/>
                </a:lnTo>
                <a:lnTo>
                  <a:pt x="0" y="0"/>
                </a:lnTo>
                <a:lnTo>
                  <a:pt x="3119109" y="0"/>
                </a:lnTo>
                <a:lnTo>
                  <a:pt x="3119109" y="1798319"/>
                </a:lnTo>
                <a:lnTo>
                  <a:pt x="1559564" y="1798319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5" name="Google Shape;3875;p85"/>
          <p:cNvSpPr txBox="1"/>
          <p:nvPr/>
        </p:nvSpPr>
        <p:spPr>
          <a:xfrm>
            <a:off x="1371600" y="1295400"/>
            <a:ext cx="3082925" cy="17621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6" name="Google Shape;3876;p85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877" name="Google Shape;3877;p85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878" name="Google Shape;3878;p85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2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3" name="Google Shape;3883;p86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4" name="Google Shape;3884;p86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5" name="Google Shape;3885;p86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6" name="Google Shape;3886;p86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7" name="Google Shape;3887;p86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8" name="Google Shape;3888;p86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9" name="Google Shape;3889;p86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0" name="Google Shape;3890;p86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1" name="Google Shape;3891;p86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2" name="Google Shape;3892;p86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3" name="Google Shape;3893;p86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4" name="Google Shape;3894;p86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5" name="Google Shape;3895;p86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6" name="Google Shape;3896;p86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7" name="Google Shape;3897;p86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8" name="Google Shape;3898;p86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9" name="Google Shape;3899;p86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0" name="Google Shape;3900;p86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1" name="Google Shape;3901;p86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2" name="Google Shape;3902;p86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3" name="Google Shape;3903;p86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4" name="Google Shape;3904;p86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5" name="Google Shape;3905;p86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6" name="Google Shape;3906;p8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7" name="Google Shape;3907;p86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8" name="Google Shape;3908;p86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9" name="Google Shape;3909;p86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2.16</a:t>
            </a:r>
            <a:endParaRPr/>
          </a:p>
        </p:txBody>
      </p:sp>
      <p:sp>
        <p:nvSpPr>
          <p:cNvPr id="3910" name="Google Shape;3910;p86"/>
          <p:cNvSpPr/>
          <p:nvPr/>
        </p:nvSpPr>
        <p:spPr>
          <a:xfrm>
            <a:off x="4857750" y="3638550"/>
            <a:ext cx="1314450" cy="2452687"/>
          </a:xfrm>
          <a:custGeom>
            <a:rect b="b" l="l" r="r" t="t"/>
            <a:pathLst>
              <a:path extrusionOk="0" h="2452370" w="1314450">
                <a:moveTo>
                  <a:pt x="656600" y="2452365"/>
                </a:moveTo>
                <a:lnTo>
                  <a:pt x="0" y="2452365"/>
                </a:lnTo>
                <a:lnTo>
                  <a:pt x="0" y="0"/>
                </a:lnTo>
                <a:lnTo>
                  <a:pt x="1314449" y="0"/>
                </a:lnTo>
                <a:lnTo>
                  <a:pt x="1314449" y="2452365"/>
                </a:lnTo>
                <a:lnTo>
                  <a:pt x="656600" y="245236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1" name="Google Shape;3911;p86"/>
          <p:cNvSpPr txBox="1"/>
          <p:nvPr/>
        </p:nvSpPr>
        <p:spPr>
          <a:xfrm>
            <a:off x="4876800" y="3657600"/>
            <a:ext cx="1277937" cy="24161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2" name="Google Shape;3912;p86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913" name="Google Shape;3913;p86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914" name="Google Shape;3914;p86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8" name="Shape 3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9" name="Google Shape;3919;p87"/>
          <p:cNvSpPr txBox="1"/>
          <p:nvPr/>
        </p:nvSpPr>
        <p:spPr>
          <a:xfrm>
            <a:off x="1279525" y="274637"/>
            <a:ext cx="7046912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2.17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Largest account balance in the bank</a:t>
            </a:r>
            <a:endParaRPr/>
          </a:p>
        </p:txBody>
      </p:sp>
      <p:sp>
        <p:nvSpPr>
          <p:cNvPr id="3920" name="Google Shape;3920;p87"/>
          <p:cNvSpPr/>
          <p:nvPr/>
        </p:nvSpPr>
        <p:spPr>
          <a:xfrm>
            <a:off x="4781550" y="3703637"/>
            <a:ext cx="2128837" cy="1473200"/>
          </a:xfrm>
          <a:custGeom>
            <a:rect b="b" l="l" r="r" t="t"/>
            <a:pathLst>
              <a:path extrusionOk="0" h="1473200" w="2128520">
                <a:moveTo>
                  <a:pt x="1064270" y="1473195"/>
                </a:moveTo>
                <a:lnTo>
                  <a:pt x="0" y="1473195"/>
                </a:lnTo>
                <a:lnTo>
                  <a:pt x="0" y="0"/>
                </a:lnTo>
                <a:lnTo>
                  <a:pt x="2128509" y="0"/>
                </a:lnTo>
                <a:lnTo>
                  <a:pt x="2128509" y="1473195"/>
                </a:lnTo>
                <a:lnTo>
                  <a:pt x="1064270" y="147319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1" name="Google Shape;3921;p87"/>
          <p:cNvSpPr txBox="1"/>
          <p:nvPr/>
        </p:nvSpPr>
        <p:spPr>
          <a:xfrm>
            <a:off x="4800600" y="3722687"/>
            <a:ext cx="2092325" cy="14366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2" name="Google Shape;3922;p87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923" name="Google Shape;3923;p87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924" name="Google Shape;3924;p87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8" name="Shape 3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p88"/>
          <p:cNvSpPr txBox="1"/>
          <p:nvPr/>
        </p:nvSpPr>
        <p:spPr>
          <a:xfrm>
            <a:off x="930275" y="396875"/>
            <a:ext cx="7591425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2.18: Customers who live on the same street and in the same city as Smith</a:t>
            </a:r>
            <a:endParaRPr/>
          </a:p>
        </p:txBody>
      </p:sp>
      <p:sp>
        <p:nvSpPr>
          <p:cNvPr id="3930" name="Google Shape;3930;p88"/>
          <p:cNvSpPr/>
          <p:nvPr/>
        </p:nvSpPr>
        <p:spPr>
          <a:xfrm>
            <a:off x="4705350" y="3932237"/>
            <a:ext cx="3062287" cy="1731962"/>
          </a:xfrm>
          <a:custGeom>
            <a:rect b="b" l="l" r="r" t="t"/>
            <a:pathLst>
              <a:path extrusionOk="0" h="1732279" w="3061970">
                <a:moveTo>
                  <a:pt x="1530339" y="1732275"/>
                </a:moveTo>
                <a:lnTo>
                  <a:pt x="0" y="1732275"/>
                </a:lnTo>
                <a:lnTo>
                  <a:pt x="0" y="0"/>
                </a:lnTo>
                <a:lnTo>
                  <a:pt x="3061959" y="0"/>
                </a:lnTo>
                <a:lnTo>
                  <a:pt x="3061959" y="1732275"/>
                </a:lnTo>
                <a:lnTo>
                  <a:pt x="1530339" y="173227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1" name="Google Shape;3931;p88"/>
          <p:cNvSpPr txBox="1"/>
          <p:nvPr/>
        </p:nvSpPr>
        <p:spPr>
          <a:xfrm>
            <a:off x="4724400" y="3951287"/>
            <a:ext cx="3025775" cy="16954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2" name="Google Shape;3932;p88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933" name="Google Shape;3933;p88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934" name="Google Shape;3934;p88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8" name="Shape 3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9" name="Google Shape;3939;p89"/>
          <p:cNvSpPr txBox="1"/>
          <p:nvPr/>
        </p:nvSpPr>
        <p:spPr>
          <a:xfrm>
            <a:off x="1276350" y="198437"/>
            <a:ext cx="7050087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42925" lvl="0" marL="555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2.19: Customers with both an account and a loan at the bank</a:t>
            </a:r>
            <a:endParaRPr/>
          </a:p>
        </p:txBody>
      </p:sp>
      <p:sp>
        <p:nvSpPr>
          <p:cNvPr id="3940" name="Google Shape;3940;p89"/>
          <p:cNvSpPr/>
          <p:nvPr/>
        </p:nvSpPr>
        <p:spPr>
          <a:xfrm>
            <a:off x="5238750" y="3968750"/>
            <a:ext cx="2471737" cy="1822450"/>
          </a:xfrm>
          <a:custGeom>
            <a:rect b="b" l="l" r="r" t="t"/>
            <a:pathLst>
              <a:path extrusionOk="0" h="1822450" w="2471420">
                <a:moveTo>
                  <a:pt x="1235720" y="1822454"/>
                </a:moveTo>
                <a:lnTo>
                  <a:pt x="0" y="1822454"/>
                </a:lnTo>
                <a:lnTo>
                  <a:pt x="0" y="0"/>
                </a:lnTo>
                <a:lnTo>
                  <a:pt x="2471409" y="0"/>
                </a:lnTo>
                <a:lnTo>
                  <a:pt x="2471409" y="1822454"/>
                </a:lnTo>
                <a:lnTo>
                  <a:pt x="1235720" y="1822454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1" name="Google Shape;3941;p89"/>
          <p:cNvSpPr txBox="1"/>
          <p:nvPr/>
        </p:nvSpPr>
        <p:spPr>
          <a:xfrm>
            <a:off x="5257800" y="3987800"/>
            <a:ext cx="2435225" cy="17859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2" name="Google Shape;3942;p89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943" name="Google Shape;3943;p89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944" name="Google Shape;3944;p89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8" name="Shape 3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9" name="Google Shape;3949;p90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0" name="Google Shape;3950;p90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1" name="Google Shape;3951;p90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2" name="Google Shape;3952;p90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3" name="Google Shape;3953;p90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4" name="Google Shape;3954;p90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5" name="Google Shape;3955;p90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6" name="Google Shape;3956;p90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7" name="Google Shape;3957;p90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8" name="Google Shape;3958;p90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9" name="Google Shape;3959;p90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0" name="Google Shape;3960;p90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1" name="Google Shape;3961;p90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2" name="Google Shape;3962;p90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3" name="Google Shape;3963;p90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4" name="Google Shape;3964;p90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5" name="Google Shape;3965;p90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6" name="Google Shape;3966;p90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7" name="Google Shape;3967;p90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8" name="Google Shape;3968;p90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9" name="Google Shape;3969;p90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0" name="Google Shape;3970;p90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1" name="Google Shape;3971;p90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2" name="Google Shape;3972;p90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3" name="Google Shape;3973;p90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4" name="Google Shape;3974;p90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5" name="Google Shape;3975;p90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2.20</a:t>
            </a:r>
            <a:endParaRPr/>
          </a:p>
        </p:txBody>
      </p:sp>
      <p:sp>
        <p:nvSpPr>
          <p:cNvPr id="3976" name="Google Shape;3976;p90"/>
          <p:cNvSpPr/>
          <p:nvPr/>
        </p:nvSpPr>
        <p:spPr>
          <a:xfrm>
            <a:off x="1809750" y="1666875"/>
            <a:ext cx="6224587" cy="4024312"/>
          </a:xfrm>
          <a:custGeom>
            <a:rect b="b" l="l" r="r" t="t"/>
            <a:pathLst>
              <a:path extrusionOk="0" h="4024629" w="6224270">
                <a:moveTo>
                  <a:pt x="3112769" y="4024615"/>
                </a:moveTo>
                <a:lnTo>
                  <a:pt x="0" y="4024615"/>
                </a:lnTo>
                <a:lnTo>
                  <a:pt x="0" y="0"/>
                </a:lnTo>
                <a:lnTo>
                  <a:pt x="6224259" y="0"/>
                </a:lnTo>
                <a:lnTo>
                  <a:pt x="6224259" y="4024615"/>
                </a:lnTo>
                <a:lnTo>
                  <a:pt x="3112769" y="402461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7" name="Google Shape;3977;p90"/>
          <p:cNvSpPr txBox="1"/>
          <p:nvPr/>
        </p:nvSpPr>
        <p:spPr>
          <a:xfrm>
            <a:off x="1828800" y="1685925"/>
            <a:ext cx="6188075" cy="3987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8" name="Google Shape;3978;p90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3979" name="Google Shape;3979;p90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3980" name="Google Shape;3980;p90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4" name="Shape 3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" name="Google Shape;3985;p91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6" name="Google Shape;3986;p91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7" name="Google Shape;3987;p91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8" name="Google Shape;3988;p91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9" name="Google Shape;3989;p91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0" name="Google Shape;3990;p91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1" name="Google Shape;3991;p91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91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3" name="Google Shape;3993;p91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4" name="Google Shape;3994;p91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5" name="Google Shape;3995;p91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6" name="Google Shape;3996;p91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7" name="Google Shape;3997;p91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8" name="Google Shape;3998;p91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9" name="Google Shape;3999;p91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0" name="Google Shape;4000;p91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1" name="Google Shape;4001;p91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2" name="Google Shape;4002;p91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3" name="Google Shape;4003;p91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4" name="Google Shape;4004;p91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Google Shape;4005;p91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6" name="Google Shape;4006;p91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7" name="Google Shape;4007;p91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8" name="Google Shape;4008;p9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9" name="Google Shape;4009;p91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0" name="Google Shape;4010;p91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1" name="Google Shape;4011;p91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2.21</a:t>
            </a:r>
            <a:endParaRPr/>
          </a:p>
        </p:txBody>
      </p:sp>
      <p:sp>
        <p:nvSpPr>
          <p:cNvPr id="4012" name="Google Shape;4012;p91"/>
          <p:cNvSpPr/>
          <p:nvPr/>
        </p:nvSpPr>
        <p:spPr>
          <a:xfrm>
            <a:off x="5238750" y="3805237"/>
            <a:ext cx="2924175" cy="1900237"/>
          </a:xfrm>
          <a:custGeom>
            <a:rect b="b" l="l" r="r" t="t"/>
            <a:pathLst>
              <a:path extrusionOk="0" h="1901189" w="2924809">
                <a:moveTo>
                  <a:pt x="1461759" y="1901196"/>
                </a:moveTo>
                <a:lnTo>
                  <a:pt x="0" y="1901196"/>
                </a:lnTo>
                <a:lnTo>
                  <a:pt x="0" y="0"/>
                </a:lnTo>
                <a:lnTo>
                  <a:pt x="2924799" y="0"/>
                </a:lnTo>
                <a:lnTo>
                  <a:pt x="2924799" y="1901196"/>
                </a:lnTo>
                <a:lnTo>
                  <a:pt x="1461759" y="1901196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3" name="Google Shape;4013;p91"/>
          <p:cNvSpPr txBox="1"/>
          <p:nvPr/>
        </p:nvSpPr>
        <p:spPr>
          <a:xfrm>
            <a:off x="5257800" y="3824287"/>
            <a:ext cx="2887662" cy="18637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4" name="Google Shape;4014;p91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015" name="Google Shape;4015;p91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016" name="Google Shape;4016;p91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0" name="Shape 4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1" name="Google Shape;4021;p92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2" name="Google Shape;4022;p92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3" name="Google Shape;4023;p92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4" name="Google Shape;4024;p92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5" name="Google Shape;4025;p92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6" name="Google Shape;4026;p92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7" name="Google Shape;4027;p92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8" name="Google Shape;4028;p92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9" name="Google Shape;4029;p92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0" name="Google Shape;4030;p92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1" name="Google Shape;4031;p92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2" name="Google Shape;4032;p92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3" name="Google Shape;4033;p92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4" name="Google Shape;4034;p92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5" name="Google Shape;4035;p92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6" name="Google Shape;4036;p92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7" name="Google Shape;4037;p92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8" name="Google Shape;4038;p92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9" name="Google Shape;4039;p92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0" name="Google Shape;4040;p92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1" name="Google Shape;4041;p92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2" name="Google Shape;4042;p92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3" name="Google Shape;4043;p92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4" name="Google Shape;4044;p9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5" name="Google Shape;4045;p92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6" name="Google Shape;4046;p92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7" name="Google Shape;4047;p92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2.22</a:t>
            </a:r>
            <a:endParaRPr/>
          </a:p>
        </p:txBody>
      </p:sp>
      <p:sp>
        <p:nvSpPr>
          <p:cNvPr id="4048" name="Google Shape;4048;p92"/>
          <p:cNvSpPr/>
          <p:nvPr/>
        </p:nvSpPr>
        <p:spPr>
          <a:xfrm>
            <a:off x="4476750" y="3035300"/>
            <a:ext cx="3128962" cy="2012950"/>
          </a:xfrm>
          <a:custGeom>
            <a:rect b="b" l="l" r="r" t="t"/>
            <a:pathLst>
              <a:path extrusionOk="0" h="2012950" w="3129279">
                <a:moveTo>
                  <a:pt x="1564629" y="2012960"/>
                </a:moveTo>
                <a:lnTo>
                  <a:pt x="0" y="2012960"/>
                </a:lnTo>
                <a:lnTo>
                  <a:pt x="0" y="0"/>
                </a:lnTo>
                <a:lnTo>
                  <a:pt x="3129290" y="0"/>
                </a:lnTo>
                <a:lnTo>
                  <a:pt x="3129290" y="2012960"/>
                </a:lnTo>
                <a:lnTo>
                  <a:pt x="1564629" y="2012960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9" name="Google Shape;4049;p92"/>
          <p:cNvSpPr txBox="1"/>
          <p:nvPr/>
        </p:nvSpPr>
        <p:spPr>
          <a:xfrm>
            <a:off x="4495800" y="3054350"/>
            <a:ext cx="3092450" cy="19764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0" name="Google Shape;4050;p92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051" name="Google Shape;4051;p92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052" name="Google Shape;4052;p92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6" name="Shape 4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7" name="Google Shape;4057;p93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8" name="Google Shape;4058;p93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9" name="Google Shape;4059;p93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0" name="Google Shape;4060;p93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1" name="Google Shape;4061;p93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2" name="Google Shape;4062;p93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3" name="Google Shape;4063;p93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4" name="Google Shape;4064;p93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5" name="Google Shape;4065;p93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6" name="Google Shape;4066;p93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7" name="Google Shape;4067;p93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8" name="Google Shape;4068;p93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9" name="Google Shape;4069;p93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0" name="Google Shape;4070;p93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1" name="Google Shape;4071;p93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2" name="Google Shape;4072;p93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3" name="Google Shape;4073;p93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4" name="Google Shape;4074;p93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5" name="Google Shape;4075;p93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6" name="Google Shape;4076;p93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7" name="Google Shape;4077;p93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8" name="Google Shape;4078;p93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9" name="Google Shape;4079;p93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0" name="Google Shape;4080;p9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1" name="Google Shape;4081;p93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2" name="Google Shape;4082;p93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3" name="Google Shape;4083;p9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2.23</a:t>
            </a:r>
            <a:endParaRPr/>
          </a:p>
        </p:txBody>
      </p:sp>
      <p:sp>
        <p:nvSpPr>
          <p:cNvPr id="4084" name="Google Shape;4084;p93"/>
          <p:cNvSpPr/>
          <p:nvPr/>
        </p:nvSpPr>
        <p:spPr>
          <a:xfrm>
            <a:off x="3486150" y="2692400"/>
            <a:ext cx="4648200" cy="3498850"/>
          </a:xfrm>
          <a:custGeom>
            <a:rect b="b" l="l" r="r" t="t"/>
            <a:pathLst>
              <a:path extrusionOk="0" h="3498850" w="4648200">
                <a:moveTo>
                  <a:pt x="2324099" y="3498860"/>
                </a:moveTo>
                <a:lnTo>
                  <a:pt x="0" y="3498860"/>
                </a:lnTo>
                <a:lnTo>
                  <a:pt x="0" y="0"/>
                </a:lnTo>
                <a:lnTo>
                  <a:pt x="4648199" y="0"/>
                </a:lnTo>
                <a:lnTo>
                  <a:pt x="4648199" y="3498860"/>
                </a:lnTo>
                <a:lnTo>
                  <a:pt x="2324099" y="3498860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5" name="Google Shape;4085;p93"/>
          <p:cNvSpPr txBox="1"/>
          <p:nvPr/>
        </p:nvSpPr>
        <p:spPr>
          <a:xfrm>
            <a:off x="3505200" y="2711450"/>
            <a:ext cx="4611687" cy="34623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6" name="Google Shape;4086;p93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087" name="Google Shape;4087;p93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088" name="Google Shape;4088;p93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2" name="Shape 4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3" name="Google Shape;4093;p94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4" name="Google Shape;4094;p94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5" name="Google Shape;4095;p94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6" name="Google Shape;4096;p94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7" name="Google Shape;4097;p94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8" name="Google Shape;4098;p94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9" name="Google Shape;4099;p94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0" name="Google Shape;4100;p94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1" name="Google Shape;4101;p94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2" name="Google Shape;4102;p94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3" name="Google Shape;4103;p94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4" name="Google Shape;4104;p94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5" name="Google Shape;4105;p94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6" name="Google Shape;4106;p94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7" name="Google Shape;4107;p94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8" name="Google Shape;4108;p94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9" name="Google Shape;4109;p94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0" name="Google Shape;4110;p94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1" name="Google Shape;4111;p94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2" name="Google Shape;4112;p94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3" name="Google Shape;4113;p94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4" name="Google Shape;4114;p94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5" name="Google Shape;4115;p94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6" name="Google Shape;4116;p9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7" name="Google Shape;4117;p94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8" name="Google Shape;4118;p94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9" name="Google Shape;4119;p94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826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2.24: The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credit_info </a:t>
            </a: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/>
          </a:p>
        </p:txBody>
      </p:sp>
      <p:sp>
        <p:nvSpPr>
          <p:cNvPr id="4120" name="Google Shape;4120;p94"/>
          <p:cNvSpPr/>
          <p:nvPr/>
        </p:nvSpPr>
        <p:spPr>
          <a:xfrm>
            <a:off x="1114425" y="2009775"/>
            <a:ext cx="6919912" cy="2682875"/>
          </a:xfrm>
          <a:custGeom>
            <a:rect b="b" l="l" r="r" t="t"/>
            <a:pathLst>
              <a:path extrusionOk="0" h="2681604" w="6918959">
                <a:moveTo>
                  <a:pt x="3459473" y="2680984"/>
                </a:moveTo>
                <a:lnTo>
                  <a:pt x="0" y="2680984"/>
                </a:lnTo>
                <a:lnTo>
                  <a:pt x="0" y="0"/>
                </a:lnTo>
                <a:lnTo>
                  <a:pt x="6918953" y="0"/>
                </a:lnTo>
                <a:lnTo>
                  <a:pt x="6918953" y="2680984"/>
                </a:lnTo>
                <a:lnTo>
                  <a:pt x="3459473" y="2680984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1" name="Google Shape;4121;p94"/>
          <p:cNvSpPr txBox="1"/>
          <p:nvPr/>
        </p:nvSpPr>
        <p:spPr>
          <a:xfrm>
            <a:off x="1133475" y="2028825"/>
            <a:ext cx="6883400" cy="26447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2" name="Google Shape;4122;p94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123" name="Google Shape;4123;p94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124" name="Google Shape;4124;p94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8" name="Shape 4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9" name="Google Shape;4129;p95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0" name="Google Shape;4130;p95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1" name="Google Shape;4131;p95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2" name="Google Shape;4132;p95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3" name="Google Shape;4133;p95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4" name="Google Shape;4134;p95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5" name="Google Shape;4135;p95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6" name="Google Shape;4136;p95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7" name="Google Shape;4137;p95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8" name="Google Shape;4138;p95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9" name="Google Shape;4139;p95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0" name="Google Shape;4140;p95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1" name="Google Shape;4141;p95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2" name="Google Shape;4142;p95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3" name="Google Shape;4143;p95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4" name="Google Shape;4144;p95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5" name="Google Shape;4145;p95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6" name="Google Shape;4146;p95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7" name="Google Shape;4147;p95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8" name="Google Shape;4148;p95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9" name="Google Shape;4149;p95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0" name="Google Shape;4150;p95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1" name="Google Shape;4151;p95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2" name="Google Shape;4152;p9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3" name="Google Shape;4153;p95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4" name="Google Shape;4154;p95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5" name="Google Shape;4155;p95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2.25</a:t>
            </a:r>
            <a:endParaRPr/>
          </a:p>
        </p:txBody>
      </p:sp>
      <p:sp>
        <p:nvSpPr>
          <p:cNvPr id="4156" name="Google Shape;4156;p95"/>
          <p:cNvSpPr/>
          <p:nvPr/>
        </p:nvSpPr>
        <p:spPr>
          <a:xfrm>
            <a:off x="3333750" y="2984500"/>
            <a:ext cx="4814887" cy="2174875"/>
          </a:xfrm>
          <a:custGeom>
            <a:rect b="b" l="l" r="r" t="t"/>
            <a:pathLst>
              <a:path extrusionOk="0" h="2175510" w="4814570">
                <a:moveTo>
                  <a:pt x="2406639" y="2175503"/>
                </a:moveTo>
                <a:lnTo>
                  <a:pt x="0" y="2175503"/>
                </a:lnTo>
                <a:lnTo>
                  <a:pt x="0" y="0"/>
                </a:lnTo>
                <a:lnTo>
                  <a:pt x="4814559" y="0"/>
                </a:lnTo>
                <a:lnTo>
                  <a:pt x="4814559" y="2175503"/>
                </a:lnTo>
                <a:lnTo>
                  <a:pt x="2406639" y="2175503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7" name="Google Shape;4157;p95"/>
          <p:cNvSpPr txBox="1"/>
          <p:nvPr/>
        </p:nvSpPr>
        <p:spPr>
          <a:xfrm>
            <a:off x="3352800" y="3003550"/>
            <a:ext cx="4778375" cy="213836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8" name="Google Shape;4158;p95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159" name="Google Shape;4159;p95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160" name="Google Shape;4160;p95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4" name="Shape 4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5" name="Google Shape;4165;p96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6" name="Google Shape;4166;p96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7" name="Google Shape;4167;p96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8" name="Google Shape;4168;p96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9" name="Google Shape;4169;p96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0" name="Google Shape;4170;p96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1" name="Google Shape;4171;p96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2" name="Google Shape;4172;p96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3" name="Google Shape;4173;p96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4" name="Google Shape;4174;p96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5" name="Google Shape;4175;p96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6" name="Google Shape;4176;p96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7" name="Google Shape;4177;p96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8" name="Google Shape;4178;p96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9" name="Google Shape;4179;p96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0" name="Google Shape;4180;p96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1" name="Google Shape;4181;p96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2" name="Google Shape;4182;p96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3" name="Google Shape;4183;p96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4" name="Google Shape;4184;p96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5" name="Google Shape;4185;p96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6" name="Google Shape;4186;p96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7" name="Google Shape;4187;p96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8" name="Google Shape;4188;p9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9" name="Google Shape;4189;p96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0" name="Google Shape;4190;p96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1" name="Google Shape;4191;p96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87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2.26: The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pt_works </a:t>
            </a: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/>
          </a:p>
        </p:txBody>
      </p:sp>
      <p:sp>
        <p:nvSpPr>
          <p:cNvPr id="4192" name="Google Shape;4192;p96"/>
          <p:cNvSpPr/>
          <p:nvPr/>
        </p:nvSpPr>
        <p:spPr>
          <a:xfrm>
            <a:off x="1647825" y="1195387"/>
            <a:ext cx="6291262" cy="4224337"/>
          </a:xfrm>
          <a:custGeom>
            <a:rect b="b" l="l" r="r" t="t"/>
            <a:pathLst>
              <a:path extrusionOk="0" h="4225290" w="6291580">
                <a:moveTo>
                  <a:pt x="3145785" y="4225296"/>
                </a:moveTo>
                <a:lnTo>
                  <a:pt x="0" y="4225296"/>
                </a:lnTo>
                <a:lnTo>
                  <a:pt x="0" y="0"/>
                </a:lnTo>
                <a:lnTo>
                  <a:pt x="6291565" y="0"/>
                </a:lnTo>
                <a:lnTo>
                  <a:pt x="6291565" y="4225296"/>
                </a:lnTo>
                <a:lnTo>
                  <a:pt x="3145785" y="4225296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3" name="Google Shape;4193;p96"/>
          <p:cNvSpPr txBox="1"/>
          <p:nvPr/>
        </p:nvSpPr>
        <p:spPr>
          <a:xfrm>
            <a:off x="1666875" y="1214437"/>
            <a:ext cx="6254750" cy="41878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4" name="Google Shape;4194;p96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195" name="Google Shape;4195;p96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196" name="Google Shape;4196;p96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0" name="Shape 4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" name="Google Shape;4201;p97"/>
          <p:cNvSpPr txBox="1"/>
          <p:nvPr/>
        </p:nvSpPr>
        <p:spPr>
          <a:xfrm>
            <a:off x="1062037" y="120650"/>
            <a:ext cx="7480300" cy="925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2.27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pt_works </a:t>
            </a: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relation after regrouping</a:t>
            </a:r>
            <a:endParaRPr/>
          </a:p>
        </p:txBody>
      </p:sp>
      <p:sp>
        <p:nvSpPr>
          <p:cNvPr id="4202" name="Google Shape;4202;p97"/>
          <p:cNvSpPr/>
          <p:nvPr/>
        </p:nvSpPr>
        <p:spPr>
          <a:xfrm>
            <a:off x="1352550" y="1733550"/>
            <a:ext cx="6334125" cy="4456112"/>
          </a:xfrm>
          <a:custGeom>
            <a:rect b="b" l="l" r="r" t="t"/>
            <a:pathLst>
              <a:path extrusionOk="0" h="4456430" w="6334759">
                <a:moveTo>
                  <a:pt x="3167390" y="4456425"/>
                </a:moveTo>
                <a:lnTo>
                  <a:pt x="0" y="4456425"/>
                </a:lnTo>
                <a:lnTo>
                  <a:pt x="0" y="0"/>
                </a:lnTo>
                <a:lnTo>
                  <a:pt x="6334749" y="0"/>
                </a:lnTo>
                <a:lnTo>
                  <a:pt x="6334749" y="4456425"/>
                </a:lnTo>
                <a:lnTo>
                  <a:pt x="3167390" y="445642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3" name="Google Shape;4203;p97"/>
          <p:cNvSpPr txBox="1"/>
          <p:nvPr/>
        </p:nvSpPr>
        <p:spPr>
          <a:xfrm>
            <a:off x="1371600" y="1752600"/>
            <a:ext cx="6297612" cy="441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4" name="Google Shape;4204;p97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205" name="Google Shape;4205;p97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206" name="Google Shape;4206;p97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0" name="Shape 4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1" name="Google Shape;4211;p98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2" name="Google Shape;4212;p98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3" name="Google Shape;4213;p98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4" name="Google Shape;4214;p98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5" name="Google Shape;4215;p98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6" name="Google Shape;4216;p98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7" name="Google Shape;4217;p98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8" name="Google Shape;4218;p98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9" name="Google Shape;4219;p98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0" name="Google Shape;4220;p98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1" name="Google Shape;4221;p98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2" name="Google Shape;4222;p98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3" name="Google Shape;4223;p98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4" name="Google Shape;4224;p98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5" name="Google Shape;4225;p98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6" name="Google Shape;4226;p98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7" name="Google Shape;4227;p98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8" name="Google Shape;4228;p98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9" name="Google Shape;4229;p98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0" name="Google Shape;4230;p98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1" name="Google Shape;4231;p98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2" name="Google Shape;4232;p98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3" name="Google Shape;4233;p98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4" name="Google Shape;4234;p98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5" name="Google Shape;4235;p98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6" name="Google Shape;4236;p98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7" name="Google Shape;4237;p98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2.28</a:t>
            </a:r>
            <a:endParaRPr/>
          </a:p>
        </p:txBody>
      </p:sp>
      <p:sp>
        <p:nvSpPr>
          <p:cNvPr id="4238" name="Google Shape;4238;p98"/>
          <p:cNvSpPr/>
          <p:nvPr/>
        </p:nvSpPr>
        <p:spPr>
          <a:xfrm>
            <a:off x="1276350" y="2066925"/>
            <a:ext cx="6538912" cy="2738437"/>
          </a:xfrm>
          <a:custGeom>
            <a:rect b="b" l="l" r="r" t="t"/>
            <a:pathLst>
              <a:path extrusionOk="0" h="2739390" w="6539230">
                <a:moveTo>
                  <a:pt x="3268979" y="2739383"/>
                </a:moveTo>
                <a:lnTo>
                  <a:pt x="0" y="2739383"/>
                </a:lnTo>
                <a:lnTo>
                  <a:pt x="0" y="0"/>
                </a:lnTo>
                <a:lnTo>
                  <a:pt x="6539240" y="0"/>
                </a:lnTo>
                <a:lnTo>
                  <a:pt x="6539240" y="2739383"/>
                </a:lnTo>
                <a:lnTo>
                  <a:pt x="3268979" y="2739383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9" name="Google Shape;4239;p98"/>
          <p:cNvSpPr txBox="1"/>
          <p:nvPr/>
        </p:nvSpPr>
        <p:spPr>
          <a:xfrm>
            <a:off x="1295400" y="2085975"/>
            <a:ext cx="6502400" cy="27019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0" name="Google Shape;4240;p98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241" name="Google Shape;4241;p98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242" name="Google Shape;4242;p98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6" name="Shape 4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7" name="Google Shape;4247;p99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8" name="Google Shape;4248;p99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9" name="Google Shape;4249;p99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0" name="Google Shape;4250;p99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1" name="Google Shape;4251;p99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2" name="Google Shape;4252;p99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3" name="Google Shape;4253;p99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4" name="Google Shape;4254;p99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5" name="Google Shape;4255;p99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6" name="Google Shape;4256;p99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7" name="Google Shape;4257;p99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8" name="Google Shape;4258;p99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9" name="Google Shape;4259;p99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0" name="Google Shape;4260;p99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1" name="Google Shape;4261;p99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2" name="Google Shape;4262;p99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3" name="Google Shape;4263;p99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4" name="Google Shape;4264;p99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5" name="Google Shape;4265;p99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6" name="Google Shape;4266;p99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7" name="Google Shape;4267;p99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8" name="Google Shape;4268;p99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9" name="Google Shape;4269;p99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0" name="Google Shape;4270;p99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1" name="Google Shape;4271;p99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2" name="Google Shape;4272;p99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3" name="Google Shape;4273;p99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2.29</a:t>
            </a:r>
            <a:endParaRPr/>
          </a:p>
        </p:txBody>
      </p:sp>
      <p:sp>
        <p:nvSpPr>
          <p:cNvPr id="4274" name="Google Shape;4274;p99"/>
          <p:cNvSpPr/>
          <p:nvPr/>
        </p:nvSpPr>
        <p:spPr>
          <a:xfrm>
            <a:off x="1114425" y="1738312"/>
            <a:ext cx="7077075" cy="2181225"/>
          </a:xfrm>
          <a:custGeom>
            <a:rect b="b" l="l" r="r" t="t"/>
            <a:pathLst>
              <a:path extrusionOk="0" h="2180590" w="7076440">
                <a:moveTo>
                  <a:pt x="3538234" y="2180575"/>
                </a:moveTo>
                <a:lnTo>
                  <a:pt x="0" y="2180575"/>
                </a:lnTo>
                <a:lnTo>
                  <a:pt x="0" y="0"/>
                </a:lnTo>
                <a:lnTo>
                  <a:pt x="7076443" y="0"/>
                </a:lnTo>
                <a:lnTo>
                  <a:pt x="7076443" y="2180575"/>
                </a:lnTo>
                <a:lnTo>
                  <a:pt x="3538234" y="218057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5" name="Google Shape;4275;p99"/>
          <p:cNvSpPr txBox="1"/>
          <p:nvPr/>
        </p:nvSpPr>
        <p:spPr>
          <a:xfrm>
            <a:off x="1133475" y="1757362"/>
            <a:ext cx="7040562" cy="214471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6" name="Google Shape;4276;p99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277" name="Google Shape;4277;p99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278" name="Google Shape;4278;p99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2" name="Shape 4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3" name="Google Shape;4283;p100"/>
          <p:cNvSpPr txBox="1"/>
          <p:nvPr/>
        </p:nvSpPr>
        <p:spPr>
          <a:xfrm>
            <a:off x="1220787" y="198437"/>
            <a:ext cx="71628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2.30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employee </a:t>
            </a: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1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ft_works relations</a:t>
            </a:r>
            <a:endParaRPr/>
          </a:p>
        </p:txBody>
      </p:sp>
      <p:sp>
        <p:nvSpPr>
          <p:cNvPr id="4284" name="Google Shape;4284;p100"/>
          <p:cNvSpPr/>
          <p:nvPr/>
        </p:nvSpPr>
        <p:spPr>
          <a:xfrm>
            <a:off x="1733550" y="1657350"/>
            <a:ext cx="6224587" cy="4625975"/>
          </a:xfrm>
          <a:custGeom>
            <a:rect b="b" l="l" r="r" t="t"/>
            <a:pathLst>
              <a:path extrusionOk="0" h="4626610" w="6224270">
                <a:moveTo>
                  <a:pt x="3111489" y="4626613"/>
                </a:moveTo>
                <a:lnTo>
                  <a:pt x="0" y="4626613"/>
                </a:lnTo>
                <a:lnTo>
                  <a:pt x="0" y="0"/>
                </a:lnTo>
                <a:lnTo>
                  <a:pt x="6224259" y="0"/>
                </a:lnTo>
                <a:lnTo>
                  <a:pt x="6224259" y="4626613"/>
                </a:lnTo>
                <a:lnTo>
                  <a:pt x="3111489" y="4626613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5" name="Google Shape;4285;p100"/>
          <p:cNvSpPr txBox="1"/>
          <p:nvPr/>
        </p:nvSpPr>
        <p:spPr>
          <a:xfrm>
            <a:off x="1752600" y="1676400"/>
            <a:ext cx="6188075" cy="45894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6" name="Google Shape;4286;p100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287" name="Google Shape;4287;p100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288" name="Google Shape;4288;p100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2" name="Shape 4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3" name="Google Shape;4293;p101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4" name="Google Shape;4294;p101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5" name="Google Shape;4295;p101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6" name="Google Shape;4296;p101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7" name="Google Shape;4297;p101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8" name="Google Shape;4298;p101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9" name="Google Shape;4299;p101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0" name="Google Shape;4300;p101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1" name="Google Shape;4301;p101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2" name="Google Shape;4302;p101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3" name="Google Shape;4303;p101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4" name="Google Shape;4304;p101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5" name="Google Shape;4305;p101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6" name="Google Shape;4306;p101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7" name="Google Shape;4307;p101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8" name="Google Shape;4308;p101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9" name="Google Shape;4309;p101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0" name="Google Shape;4310;p101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1" name="Google Shape;4311;p101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2" name="Google Shape;4312;p101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3" name="Google Shape;4313;p101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4" name="Google Shape;4314;p101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5" name="Google Shape;4315;p101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6" name="Google Shape;4316;p10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7" name="Google Shape;4317;p101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8" name="Google Shape;4318;p101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9" name="Google Shape;4319;p101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2.31</a:t>
            </a:r>
            <a:endParaRPr/>
          </a:p>
        </p:txBody>
      </p:sp>
      <p:sp>
        <p:nvSpPr>
          <p:cNvPr id="4320" name="Google Shape;4320;p101"/>
          <p:cNvSpPr/>
          <p:nvPr/>
        </p:nvSpPr>
        <p:spPr>
          <a:xfrm>
            <a:off x="409575" y="2119312"/>
            <a:ext cx="8172450" cy="1485900"/>
          </a:xfrm>
          <a:custGeom>
            <a:rect b="b" l="l" r="r" t="t"/>
            <a:pathLst>
              <a:path extrusionOk="0" h="1485900" w="8172450">
                <a:moveTo>
                  <a:pt x="4085593" y="1485899"/>
                </a:moveTo>
                <a:lnTo>
                  <a:pt x="0" y="1485899"/>
                </a:lnTo>
                <a:lnTo>
                  <a:pt x="0" y="0"/>
                </a:lnTo>
                <a:lnTo>
                  <a:pt x="8172443" y="0"/>
                </a:lnTo>
                <a:lnTo>
                  <a:pt x="8172443" y="1485899"/>
                </a:lnTo>
                <a:lnTo>
                  <a:pt x="4085593" y="1485899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1" name="Google Shape;4321;p101"/>
          <p:cNvSpPr txBox="1"/>
          <p:nvPr/>
        </p:nvSpPr>
        <p:spPr>
          <a:xfrm>
            <a:off x="428625" y="2138362"/>
            <a:ext cx="8134350" cy="144938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2" name="Google Shape;4322;p101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323" name="Google Shape;4323;p101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324" name="Google Shape;4324;p101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8" name="Shape 4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9" name="Google Shape;4329;p102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0" name="Google Shape;4330;p102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1" name="Google Shape;4331;p102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2" name="Google Shape;4332;p102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3" name="Google Shape;4333;p102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4" name="Google Shape;4334;p102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102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6" name="Google Shape;4336;p102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7" name="Google Shape;4337;p102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8" name="Google Shape;4338;p102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9" name="Google Shape;4339;p102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0" name="Google Shape;4340;p102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1" name="Google Shape;4341;p102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2" name="Google Shape;4342;p102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3" name="Google Shape;4343;p102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4" name="Google Shape;4344;p102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5" name="Google Shape;4345;p102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6" name="Google Shape;4346;p102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7" name="Google Shape;4347;p102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8" name="Google Shape;4348;p102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9" name="Google Shape;4349;p102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0" name="Google Shape;4350;p102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1" name="Google Shape;4351;p102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2" name="Google Shape;4352;p10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3" name="Google Shape;4353;p102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4" name="Google Shape;4354;p102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5" name="Google Shape;4355;p102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2.32</a:t>
            </a:r>
            <a:endParaRPr/>
          </a:p>
        </p:txBody>
      </p:sp>
      <p:sp>
        <p:nvSpPr>
          <p:cNvPr id="4356" name="Google Shape;4356;p102"/>
          <p:cNvSpPr/>
          <p:nvPr/>
        </p:nvSpPr>
        <p:spPr>
          <a:xfrm>
            <a:off x="1100137" y="1881187"/>
            <a:ext cx="7340600" cy="1566862"/>
          </a:xfrm>
          <a:custGeom>
            <a:rect b="b" l="l" r="r" t="t"/>
            <a:pathLst>
              <a:path extrusionOk="0" h="1567179" w="7341234">
                <a:moveTo>
                  <a:pt x="3670303" y="1567190"/>
                </a:moveTo>
                <a:lnTo>
                  <a:pt x="0" y="1567190"/>
                </a:lnTo>
                <a:lnTo>
                  <a:pt x="0" y="0"/>
                </a:lnTo>
                <a:lnTo>
                  <a:pt x="7340614" y="0"/>
                </a:lnTo>
                <a:lnTo>
                  <a:pt x="7340614" y="1567190"/>
                </a:lnTo>
                <a:lnTo>
                  <a:pt x="3670303" y="1567190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7" name="Google Shape;4357;p102"/>
          <p:cNvSpPr txBox="1"/>
          <p:nvPr/>
        </p:nvSpPr>
        <p:spPr>
          <a:xfrm>
            <a:off x="1119187" y="1900237"/>
            <a:ext cx="7304087" cy="15303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8" name="Google Shape;4358;p102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359" name="Google Shape;4359;p102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360" name="Google Shape;4360;p102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4" name="Shape 4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5" name="Google Shape;4365;p103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6" name="Google Shape;4366;p103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7" name="Google Shape;4367;p103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8" name="Google Shape;4368;p103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9" name="Google Shape;4369;p103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0" name="Google Shape;4370;p103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1" name="Google Shape;4371;p103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2" name="Google Shape;4372;p103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3" name="Google Shape;4373;p103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4" name="Google Shape;4374;p103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5" name="Google Shape;4375;p103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6" name="Google Shape;4376;p103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7" name="Google Shape;4377;p103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8" name="Google Shape;4378;p103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9" name="Google Shape;4379;p103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0" name="Google Shape;4380;p103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1" name="Google Shape;4381;p103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2" name="Google Shape;4382;p103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3" name="Google Shape;4383;p103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4" name="Google Shape;4384;p103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5" name="Google Shape;4385;p103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6" name="Google Shape;4386;p103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7" name="Google Shape;4387;p103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8" name="Google Shape;4388;p10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9" name="Google Shape;4389;p103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0" name="Google Shape;4390;p103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1" name="Google Shape;4391;p103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2.33</a:t>
            </a:r>
            <a:endParaRPr/>
          </a:p>
        </p:txBody>
      </p:sp>
      <p:sp>
        <p:nvSpPr>
          <p:cNvPr id="4392" name="Google Shape;4392;p103"/>
          <p:cNvSpPr/>
          <p:nvPr/>
        </p:nvSpPr>
        <p:spPr>
          <a:xfrm>
            <a:off x="942975" y="2755900"/>
            <a:ext cx="6934200" cy="1549400"/>
          </a:xfrm>
          <a:custGeom>
            <a:rect b="b" l="l" r="r" t="t"/>
            <a:pathLst>
              <a:path extrusionOk="0" h="1549400" w="6934200">
                <a:moveTo>
                  <a:pt x="3467106" y="1549389"/>
                </a:moveTo>
                <a:lnTo>
                  <a:pt x="0" y="1549389"/>
                </a:lnTo>
                <a:lnTo>
                  <a:pt x="0" y="0"/>
                </a:lnTo>
                <a:lnTo>
                  <a:pt x="6934205" y="0"/>
                </a:lnTo>
                <a:lnTo>
                  <a:pt x="6934205" y="1549389"/>
                </a:lnTo>
                <a:lnTo>
                  <a:pt x="3467106" y="1549389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3" name="Google Shape;4393;p103"/>
          <p:cNvSpPr txBox="1"/>
          <p:nvPr/>
        </p:nvSpPr>
        <p:spPr>
          <a:xfrm>
            <a:off x="962025" y="2774950"/>
            <a:ext cx="6896100" cy="151288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4" name="Google Shape;4394;p103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395" name="Google Shape;4395;p103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396" name="Google Shape;4396;p103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0" name="Shape 4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1" name="Google Shape;4401;p104"/>
          <p:cNvSpPr/>
          <p:nvPr/>
        </p:nvSpPr>
        <p:spPr>
          <a:xfrm>
            <a:off x="0" y="1008062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2" name="Google Shape;4402;p104"/>
          <p:cNvSpPr/>
          <p:nvPr/>
        </p:nvSpPr>
        <p:spPr>
          <a:xfrm>
            <a:off x="0" y="1263650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3" name="Google Shape;4403;p104"/>
          <p:cNvSpPr/>
          <p:nvPr/>
        </p:nvSpPr>
        <p:spPr>
          <a:xfrm>
            <a:off x="0" y="1519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4" name="Google Shape;4404;p104"/>
          <p:cNvSpPr/>
          <p:nvPr/>
        </p:nvSpPr>
        <p:spPr>
          <a:xfrm>
            <a:off x="0" y="1774825"/>
            <a:ext cx="9144000" cy="252412"/>
          </a:xfrm>
          <a:custGeom>
            <a:rect b="b" l="l" r="r" t="t"/>
            <a:pathLst>
              <a:path extrusionOk="0" h="252094" w="9144000">
                <a:moveTo>
                  <a:pt x="0" y="251960"/>
                </a:moveTo>
                <a:lnTo>
                  <a:pt x="9144000" y="251960"/>
                </a:lnTo>
                <a:lnTo>
                  <a:pt x="9144000" y="0"/>
                </a:lnTo>
                <a:lnTo>
                  <a:pt x="0" y="0"/>
                </a:lnTo>
                <a:lnTo>
                  <a:pt x="0" y="251960"/>
                </a:lnTo>
              </a:path>
            </a:pathLst>
          </a:custGeom>
          <a:solidFill>
            <a:srgbClr val="E3E3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5" name="Google Shape;4405;p104"/>
          <p:cNvSpPr/>
          <p:nvPr/>
        </p:nvSpPr>
        <p:spPr>
          <a:xfrm>
            <a:off x="0" y="2027237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650"/>
                </a:moveTo>
                <a:lnTo>
                  <a:pt x="9144000" y="255650"/>
                </a:lnTo>
                <a:lnTo>
                  <a:pt x="9144000" y="0"/>
                </a:lnTo>
                <a:lnTo>
                  <a:pt x="0" y="0"/>
                </a:lnTo>
                <a:lnTo>
                  <a:pt x="0" y="255650"/>
                </a:lnTo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6" name="Google Shape;4406;p104"/>
          <p:cNvSpPr/>
          <p:nvPr/>
        </p:nvSpPr>
        <p:spPr>
          <a:xfrm>
            <a:off x="0" y="2282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531"/>
                </a:moveTo>
                <a:lnTo>
                  <a:pt x="9144000" y="255531"/>
                </a:lnTo>
                <a:lnTo>
                  <a:pt x="9144000" y="0"/>
                </a:lnTo>
                <a:lnTo>
                  <a:pt x="0" y="0"/>
                </a:lnTo>
                <a:lnTo>
                  <a:pt x="0" y="255531"/>
                </a:lnTo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7" name="Google Shape;4407;p104"/>
          <p:cNvSpPr/>
          <p:nvPr/>
        </p:nvSpPr>
        <p:spPr>
          <a:xfrm>
            <a:off x="0" y="2538412"/>
            <a:ext cx="9144000" cy="252412"/>
          </a:xfrm>
          <a:custGeom>
            <a:rect b="b" l="l" r="r" t="t"/>
            <a:pathLst>
              <a:path extrusionOk="0" h="252730" w="9144000">
                <a:moveTo>
                  <a:pt x="0" y="252221"/>
                </a:moveTo>
                <a:lnTo>
                  <a:pt x="9144000" y="252221"/>
                </a:lnTo>
                <a:lnTo>
                  <a:pt x="9144000" y="0"/>
                </a:lnTo>
                <a:lnTo>
                  <a:pt x="0" y="0"/>
                </a:lnTo>
                <a:lnTo>
                  <a:pt x="0" y="252221"/>
                </a:lnTo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8" name="Google Shape;4408;p104"/>
          <p:cNvSpPr/>
          <p:nvPr/>
        </p:nvSpPr>
        <p:spPr>
          <a:xfrm>
            <a:off x="0" y="2790825"/>
            <a:ext cx="9144000" cy="255587"/>
          </a:xfrm>
          <a:custGeom>
            <a:rect b="b" l="l" r="r" t="t"/>
            <a:pathLst>
              <a:path extrusionOk="0" h="255905" w="9144000">
                <a:moveTo>
                  <a:pt x="0" y="255389"/>
                </a:moveTo>
                <a:lnTo>
                  <a:pt x="9144000" y="255389"/>
                </a:lnTo>
                <a:lnTo>
                  <a:pt x="9144000" y="0"/>
                </a:lnTo>
                <a:lnTo>
                  <a:pt x="0" y="0"/>
                </a:lnTo>
                <a:lnTo>
                  <a:pt x="0" y="255389"/>
                </a:lnTo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9" name="Google Shape;4409;p104"/>
          <p:cNvSpPr/>
          <p:nvPr/>
        </p:nvSpPr>
        <p:spPr>
          <a:xfrm>
            <a:off x="0" y="3044825"/>
            <a:ext cx="9144000" cy="249237"/>
          </a:xfrm>
          <a:custGeom>
            <a:rect b="b" l="l" r="r" t="t"/>
            <a:pathLst>
              <a:path extrusionOk="0" h="248920" w="9144000">
                <a:moveTo>
                  <a:pt x="0" y="248792"/>
                </a:moveTo>
                <a:lnTo>
                  <a:pt x="9144000" y="248792"/>
                </a:lnTo>
                <a:lnTo>
                  <a:pt x="9144000" y="0"/>
                </a:lnTo>
                <a:lnTo>
                  <a:pt x="0" y="0"/>
                </a:lnTo>
                <a:lnTo>
                  <a:pt x="0" y="248792"/>
                </a:lnTo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0" name="Google Shape;4410;p104"/>
          <p:cNvSpPr/>
          <p:nvPr/>
        </p:nvSpPr>
        <p:spPr>
          <a:xfrm>
            <a:off x="0" y="3294062"/>
            <a:ext cx="9144000" cy="261937"/>
          </a:xfrm>
          <a:custGeom>
            <a:rect b="b" l="l" r="r" t="t"/>
            <a:pathLst>
              <a:path extrusionOk="0" h="262254" w="9144000">
                <a:moveTo>
                  <a:pt x="0" y="261699"/>
                </a:moveTo>
                <a:lnTo>
                  <a:pt x="9144000" y="261699"/>
                </a:lnTo>
                <a:lnTo>
                  <a:pt x="9144000" y="0"/>
                </a:lnTo>
                <a:lnTo>
                  <a:pt x="0" y="0"/>
                </a:lnTo>
                <a:lnTo>
                  <a:pt x="0" y="261699"/>
                </a:lnTo>
              </a:path>
            </a:pathLst>
          </a:custGeom>
          <a:solidFill>
            <a:srgbClr val="E9E9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1" name="Google Shape;4411;p104"/>
          <p:cNvSpPr/>
          <p:nvPr/>
        </p:nvSpPr>
        <p:spPr>
          <a:xfrm>
            <a:off x="0" y="3556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2" name="Google Shape;4412;p104"/>
          <p:cNvSpPr/>
          <p:nvPr/>
        </p:nvSpPr>
        <p:spPr>
          <a:xfrm>
            <a:off x="0" y="3810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805"/>
                </a:moveTo>
                <a:lnTo>
                  <a:pt x="9144000" y="253805"/>
                </a:lnTo>
                <a:lnTo>
                  <a:pt x="9144000" y="0"/>
                </a:lnTo>
                <a:lnTo>
                  <a:pt x="0" y="0"/>
                </a:lnTo>
                <a:lnTo>
                  <a:pt x="0" y="25380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3" name="Google Shape;4413;p104"/>
          <p:cNvSpPr/>
          <p:nvPr/>
        </p:nvSpPr>
        <p:spPr>
          <a:xfrm>
            <a:off x="0" y="4064000"/>
            <a:ext cx="9144000" cy="254000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4" name="Google Shape;4414;p104"/>
          <p:cNvSpPr/>
          <p:nvPr/>
        </p:nvSpPr>
        <p:spPr>
          <a:xfrm>
            <a:off x="0" y="431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5" name="Google Shape;4415;p104"/>
          <p:cNvSpPr/>
          <p:nvPr/>
        </p:nvSpPr>
        <p:spPr>
          <a:xfrm>
            <a:off x="0" y="4572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6" name="Google Shape;4416;p104"/>
          <p:cNvSpPr/>
          <p:nvPr/>
        </p:nvSpPr>
        <p:spPr>
          <a:xfrm>
            <a:off x="0" y="4826000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7" name="Google Shape;4417;p104"/>
          <p:cNvSpPr/>
          <p:nvPr/>
        </p:nvSpPr>
        <p:spPr>
          <a:xfrm>
            <a:off x="0" y="5080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74"/>
                </a:moveTo>
                <a:lnTo>
                  <a:pt x="9144000" y="254174"/>
                </a:lnTo>
                <a:lnTo>
                  <a:pt x="9144000" y="0"/>
                </a:lnTo>
                <a:lnTo>
                  <a:pt x="0" y="0"/>
                </a:lnTo>
                <a:lnTo>
                  <a:pt x="0" y="254174"/>
                </a:lnTo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8" name="Google Shape;4418;p104"/>
          <p:cNvSpPr/>
          <p:nvPr/>
        </p:nvSpPr>
        <p:spPr>
          <a:xfrm>
            <a:off x="0" y="5334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9" name="Google Shape;4419;p104"/>
          <p:cNvSpPr/>
          <p:nvPr/>
        </p:nvSpPr>
        <p:spPr>
          <a:xfrm>
            <a:off x="0" y="5588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0" name="Google Shape;4420;p104"/>
          <p:cNvSpPr/>
          <p:nvPr/>
        </p:nvSpPr>
        <p:spPr>
          <a:xfrm>
            <a:off x="0" y="5843587"/>
            <a:ext cx="9144000" cy="254000"/>
          </a:xfrm>
          <a:custGeom>
            <a:rect b="b" l="l" r="r" t="t"/>
            <a:pathLst>
              <a:path extrusionOk="0" h="254000" w="9144000">
                <a:moveTo>
                  <a:pt x="0" y="253793"/>
                </a:moveTo>
                <a:lnTo>
                  <a:pt x="9144000" y="253793"/>
                </a:lnTo>
                <a:lnTo>
                  <a:pt x="9144000" y="0"/>
                </a:lnTo>
                <a:lnTo>
                  <a:pt x="0" y="0"/>
                </a:lnTo>
                <a:lnTo>
                  <a:pt x="0" y="253793"/>
                </a:lnTo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1" name="Google Shape;4421;p104"/>
          <p:cNvSpPr/>
          <p:nvPr/>
        </p:nvSpPr>
        <p:spPr>
          <a:xfrm>
            <a:off x="0" y="6096000"/>
            <a:ext cx="9144000" cy="255587"/>
          </a:xfrm>
          <a:custGeom>
            <a:rect b="b" l="l" r="r" t="t"/>
            <a:pathLst>
              <a:path extrusionOk="0" h="254635" w="9144000">
                <a:moveTo>
                  <a:pt x="0" y="254162"/>
                </a:moveTo>
                <a:lnTo>
                  <a:pt x="9144000" y="254162"/>
                </a:lnTo>
                <a:lnTo>
                  <a:pt x="9144000" y="0"/>
                </a:lnTo>
                <a:lnTo>
                  <a:pt x="0" y="0"/>
                </a:lnTo>
                <a:lnTo>
                  <a:pt x="0" y="254162"/>
                </a:lnTo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2" name="Google Shape;4422;p104"/>
          <p:cNvSpPr/>
          <p:nvPr/>
        </p:nvSpPr>
        <p:spPr>
          <a:xfrm>
            <a:off x="0" y="6350000"/>
            <a:ext cx="9144000" cy="255587"/>
          </a:xfrm>
          <a:custGeom>
            <a:rect b="b" l="l" r="r" t="t"/>
            <a:pathLst>
              <a:path extrusionOk="0" h="254634" w="9144000">
                <a:moveTo>
                  <a:pt x="0" y="254150"/>
                </a:moveTo>
                <a:lnTo>
                  <a:pt x="9144000" y="254150"/>
                </a:lnTo>
                <a:lnTo>
                  <a:pt x="9144000" y="0"/>
                </a:lnTo>
                <a:lnTo>
                  <a:pt x="0" y="0"/>
                </a:lnTo>
                <a:lnTo>
                  <a:pt x="0" y="25415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3" name="Google Shape;4423;p104"/>
          <p:cNvSpPr/>
          <p:nvPr/>
        </p:nvSpPr>
        <p:spPr>
          <a:xfrm>
            <a:off x="0" y="6605587"/>
            <a:ext cx="9144000" cy="252412"/>
          </a:xfrm>
          <a:custGeom>
            <a:rect b="b" l="l" r="r" t="t"/>
            <a:pathLst>
              <a:path extrusionOk="0" h="253365" w="9144000">
                <a:moveTo>
                  <a:pt x="0" y="253091"/>
                </a:moveTo>
                <a:lnTo>
                  <a:pt x="9144000" y="253091"/>
                </a:lnTo>
                <a:lnTo>
                  <a:pt x="9144000" y="0"/>
                </a:lnTo>
                <a:lnTo>
                  <a:pt x="0" y="0"/>
                </a:lnTo>
                <a:lnTo>
                  <a:pt x="0" y="253091"/>
                </a:lnTo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4" name="Google Shape;4424;p10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5" name="Google Shape;4425;p104"/>
          <p:cNvSpPr txBox="1"/>
          <p:nvPr/>
        </p:nvSpPr>
        <p:spPr>
          <a:xfrm>
            <a:off x="0" y="0"/>
            <a:ext cx="661987" cy="877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6" name="Google Shape;4426;p104"/>
          <p:cNvSpPr txBox="1"/>
          <p:nvPr/>
        </p:nvSpPr>
        <p:spPr>
          <a:xfrm>
            <a:off x="8528050" y="6053137"/>
            <a:ext cx="615950" cy="615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7" name="Google Shape;4427;p104"/>
          <p:cNvSpPr txBox="1"/>
          <p:nvPr>
            <p:ph type="title"/>
          </p:nvPr>
        </p:nvSpPr>
        <p:spPr>
          <a:xfrm>
            <a:off x="280987" y="239712"/>
            <a:ext cx="8582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45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Figure 2.34</a:t>
            </a:r>
            <a:endParaRPr/>
          </a:p>
        </p:txBody>
      </p:sp>
      <p:sp>
        <p:nvSpPr>
          <p:cNvPr id="4428" name="Google Shape;4428;p104"/>
          <p:cNvSpPr/>
          <p:nvPr/>
        </p:nvSpPr>
        <p:spPr>
          <a:xfrm>
            <a:off x="1062037" y="1677987"/>
            <a:ext cx="7319962" cy="1855787"/>
          </a:xfrm>
          <a:custGeom>
            <a:rect b="b" l="l" r="r" t="t"/>
            <a:pathLst>
              <a:path extrusionOk="0" h="1855470" w="7320280">
                <a:moveTo>
                  <a:pt x="3660154" y="1855469"/>
                </a:moveTo>
                <a:lnTo>
                  <a:pt x="0" y="1855469"/>
                </a:lnTo>
                <a:lnTo>
                  <a:pt x="0" y="0"/>
                </a:lnTo>
                <a:lnTo>
                  <a:pt x="7320283" y="0"/>
                </a:lnTo>
                <a:lnTo>
                  <a:pt x="7320283" y="1855469"/>
                </a:lnTo>
                <a:lnTo>
                  <a:pt x="3660154" y="1855469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9" name="Google Shape;4429;p104"/>
          <p:cNvSpPr txBox="1"/>
          <p:nvPr/>
        </p:nvSpPr>
        <p:spPr>
          <a:xfrm>
            <a:off x="1081087" y="1697037"/>
            <a:ext cx="7283450" cy="181768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0" name="Google Shape;4430;p104"/>
          <p:cNvSpPr txBox="1"/>
          <p:nvPr/>
        </p:nvSpPr>
        <p:spPr>
          <a:xfrm>
            <a:off x="77787" y="6670675"/>
            <a:ext cx="33321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System Concepts - 5</a:t>
            </a:r>
            <a:r>
              <a:rPr b="1" baseline="30000" i="0" lang="en-US" sz="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th  </a:t>
            </a: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Edition, June 15,  2005</a:t>
            </a:r>
            <a:endParaRPr/>
          </a:p>
        </p:txBody>
      </p:sp>
      <p:sp>
        <p:nvSpPr>
          <p:cNvPr id="4431" name="Google Shape;4431;p104"/>
          <p:cNvSpPr txBox="1"/>
          <p:nvPr/>
        </p:nvSpPr>
        <p:spPr>
          <a:xfrm>
            <a:off x="4333875" y="6670675"/>
            <a:ext cx="74771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2.&lt;number&gt;</a:t>
            </a:r>
            <a:endParaRPr/>
          </a:p>
        </p:txBody>
      </p:sp>
      <p:sp>
        <p:nvSpPr>
          <p:cNvPr id="4432" name="Google Shape;4432;p104"/>
          <p:cNvSpPr txBox="1"/>
          <p:nvPr/>
        </p:nvSpPr>
        <p:spPr>
          <a:xfrm>
            <a:off x="6842125" y="6670675"/>
            <a:ext cx="2227262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©Silberschatz, Korth and Sudarshan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98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98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98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