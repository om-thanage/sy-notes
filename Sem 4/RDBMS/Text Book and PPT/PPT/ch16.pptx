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</p:sldIdLst>
  <p:sldSz cy="6858000" cx="9144000"/>
  <p:notesSz cx="7315200" cy="9601200"/>
  <p:embeddedFontLst>
    <p:embeddedFont>
      <p:font typeface="Helvetica Neue"/>
      <p:regular r:id="rId86"/>
      <p:bold r:id="rId87"/>
      <p:italic r:id="rId88"/>
      <p:boldItalic r:id="rId8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80">
          <p15:clr>
            <a:srgbClr val="000000"/>
          </p15:clr>
        </p15:guide>
        <p15:guide id="2" pos="52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80" orient="horz"/>
        <p:guide pos="5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font" Target="fonts/HelveticaNeue-regular.fntdata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font" Target="fonts/HelveticaNeue-italic.fntdata"/><Relationship Id="rId43" Type="http://schemas.openxmlformats.org/officeDocument/2006/relationships/slide" Target="slides/slide38.xml"/><Relationship Id="rId87" Type="http://schemas.openxmlformats.org/officeDocument/2006/relationships/font" Target="fonts/HelveticaNeue-bold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HelveticaNeue-boldItalic.fntdata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5e532ed4cfcde57_0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5e532ed4cfcde57_0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5e532ed4cfcde57_0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4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5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5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5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5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5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5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5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5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6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6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6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6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6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6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6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6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6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6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7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7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7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7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7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7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7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7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7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7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7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7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db-book.com/" TargetMode="Externa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lvl="2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lvl="3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lvl="5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lvl="6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lvl="7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lvl="8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2862262" y="5780087"/>
            <a:ext cx="3448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6596062" y="62182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1524000" y="1397000"/>
            <a:ext cx="609600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2487612" y="5726112"/>
            <a:ext cx="4251325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b="1" i="0" lang="en-US" sz="16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 5</a:t>
            </a:r>
            <a:r>
              <a:rPr b="1" baseline="30000" i="0" lang="en-US" sz="16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6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Ed.</a:t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b="1" i="0" lang="en-US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Silberschatz, Korth and Sudarshan, 2005 </a:t>
            </a:r>
            <a:br>
              <a:rPr b="1" i="0" lang="en-US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See </a:t>
            </a:r>
            <a:r>
              <a:rPr b="1" i="0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"/>
              </a:rPr>
              <a:t>www.db-book.com</a:t>
            </a:r>
            <a:r>
              <a:rPr b="1" i="0" lang="en-US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conditions on re-use </a:t>
            </a:r>
            <a:endParaRPr/>
          </a:p>
        </p:txBody>
      </p:sp>
      <p:pic>
        <p:nvPicPr>
          <p:cNvPr id="26" name="Google Shape;2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5880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2"/>
          <p:cNvPicPr preferRelativeResize="0"/>
          <p:nvPr/>
        </p:nvPicPr>
        <p:blipFill rotWithShape="1">
          <a:blip r:embed="rId4">
            <a:alphaModFix/>
          </a:blip>
          <a:srcRect b="26144" l="0" r="0" t="0"/>
          <a:stretch/>
        </p:blipFill>
        <p:spPr>
          <a:xfrm>
            <a:off x="8528050" y="6053137"/>
            <a:ext cx="615950" cy="614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42900" lvl="3" marL="1828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on left, text on right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endParaRPr/>
          </a:p>
        </p:txBody>
      </p:sp>
      <p:sp>
        <p:nvSpPr>
          <p:cNvPr id="13" name="Google Shape;13;p1"/>
          <p:cNvSpPr txBox="1"/>
          <p:nvPr/>
        </p:nvSpPr>
        <p:spPr>
          <a:xfrm>
            <a:off x="4446587" y="6613525"/>
            <a:ext cx="5143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16.</a:t>
            </a:r>
            <a:fld id="{00000000-1234-1234-1234-123412341234}" type="slidenum"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4" name="Google Shape;14;p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5" name="Google Shape;15;p1"/>
          <p:cNvSpPr txBox="1"/>
          <p:nvPr/>
        </p:nvSpPr>
        <p:spPr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 - 5</a:t>
            </a:r>
            <a:r>
              <a:rPr b="1" baseline="30000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61" w="285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" name="Google Shape;17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660400" cy="877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2">
            <a:alphaModFix/>
          </a:blip>
          <a:srcRect b="26144" l="0" r="0" t="0"/>
          <a:stretch/>
        </p:blipFill>
        <p:spPr>
          <a:xfrm>
            <a:off x="8528050" y="6053137"/>
            <a:ext cx="615950" cy="6143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3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7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5.png"/><Relationship Id="rId4" Type="http://schemas.openxmlformats.org/officeDocument/2006/relationships/image" Target="../media/image1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4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8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2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2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9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1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0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3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6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6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16 : Concurrency Control </a:t>
            </a:r>
            <a:endParaRPr/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1371600" y="4762500"/>
            <a:ext cx="64008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Version: Oct 5, 2006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16: Concurrency Control</a:t>
            </a:r>
            <a:endParaRPr/>
          </a:p>
        </p:txBody>
      </p:sp>
      <p:sp>
        <p:nvSpPr>
          <p:cNvPr id="54" name="Google Shape;54;p7"/>
          <p:cNvSpPr txBox="1"/>
          <p:nvPr>
            <p:ph idx="4294967295" type="body"/>
          </p:nvPr>
        </p:nvSpPr>
        <p:spPr>
          <a:xfrm>
            <a:off x="825500" y="1079500"/>
            <a:ext cx="7848600" cy="3381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Lock-Based Protocols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Timestamp-Based Protocols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Validation-Based Protocols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Multiple Granularity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Multiversion Schemes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and Delete Operations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Concurrency in Index Structures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Lock-Based Protocols</a:t>
            </a:r>
            <a:endParaRPr/>
          </a:p>
        </p:txBody>
      </p:sp>
      <p:sp>
        <p:nvSpPr>
          <p:cNvPr id="60" name="Google Shape;60;p8"/>
          <p:cNvSpPr txBox="1"/>
          <p:nvPr>
            <p:ph idx="4294967295" type="body"/>
          </p:nvPr>
        </p:nvSpPr>
        <p:spPr>
          <a:xfrm>
            <a:off x="825500" y="1079500"/>
            <a:ext cx="81153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lock is a mechanism to control concurrent access to a data item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items can be locked in two modes 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 </a:t>
            </a:r>
            <a:r>
              <a:rPr b="0" i="1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exclusive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(X) mode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Data item can be both read as well as   </a:t>
            </a:r>
            <a:endParaRPr/>
          </a:p>
          <a:p>
            <a:pPr indent="-342900" lvl="0" marL="342900" marR="0" rtl="0" algn="l">
              <a:lnSpc>
                <a:spcPct val="6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written. X-lock is requested using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lock-X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instruction.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 </a:t>
            </a:r>
            <a:r>
              <a:rPr b="0" i="1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shared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(S) mode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Data item can only be read. S-lock is          </a:t>
            </a:r>
            <a:endParaRPr/>
          </a:p>
          <a:p>
            <a:pPr indent="-342900" lvl="0" marL="342900" marR="0" rtl="0" algn="l">
              <a:lnSpc>
                <a:spcPct val="6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requested using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lock-S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instruction.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 requests are made to concurrency-control manager. Transaction can proceed only after request is granted.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Lock-Based Protocols (Cont.)</a:t>
            </a:r>
            <a:endParaRPr/>
          </a:p>
        </p:txBody>
      </p:sp>
      <p:sp>
        <p:nvSpPr>
          <p:cNvPr id="66" name="Google Shape;66;p9"/>
          <p:cNvSpPr txBox="1"/>
          <p:nvPr>
            <p:ph idx="4294967295" type="body"/>
          </p:nvPr>
        </p:nvSpPr>
        <p:spPr>
          <a:xfrm>
            <a:off x="825500" y="1079500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Lock-compatibility matrix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transaction may be granted a lock on an item if the requested lock is compatible with locks already held on the item by other transactions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Any number of transactions can hold shared locks on an item,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if any transaction holds an exclusive on the item no other transaction may hold any lock on the item.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a lock cannot be granted, the requesting transaction is made to wait till all incompatible locks held by other transactions have been released.  The lock is then granted.</a:t>
            </a:r>
            <a:endParaRPr/>
          </a:p>
        </p:txBody>
      </p:sp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21665" l="4997" r="6250" t="19999"/>
          <a:stretch/>
        </p:blipFill>
        <p:spPr>
          <a:xfrm>
            <a:off x="3200400" y="1689100"/>
            <a:ext cx="2097087" cy="1033462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Lock-Based Protocols (Cont.)</a:t>
            </a:r>
            <a:endParaRPr/>
          </a:p>
        </p:txBody>
      </p:sp>
      <p:sp>
        <p:nvSpPr>
          <p:cNvPr id="73" name="Google Shape;73;p10"/>
          <p:cNvSpPr txBox="1"/>
          <p:nvPr>
            <p:ph idx="4294967295" type="body"/>
          </p:nvPr>
        </p:nvSpPr>
        <p:spPr>
          <a:xfrm>
            <a:off x="825500" y="1079500"/>
            <a:ext cx="81153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a transaction performing locking: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lock-S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(A)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read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(A)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unlock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(A)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lock-S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(B)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read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(B)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unlock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(B)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display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(A+B)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Locking as above is not sufficient to guarantee serializability — if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get updated in-between the read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the displayed sum would be wrong.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locking protocol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set of rules followed by all transactions while requesting and releasing locks. Locking protocols restrict the set of possible schedules.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Pitfalls of Lock-Based Protocols</a:t>
            </a:r>
            <a:endParaRPr/>
          </a:p>
        </p:txBody>
      </p:sp>
      <p:sp>
        <p:nvSpPr>
          <p:cNvPr id="79" name="Google Shape;79;p11"/>
          <p:cNvSpPr txBox="1"/>
          <p:nvPr>
            <p:ph idx="4294967295" type="body"/>
          </p:nvPr>
        </p:nvSpPr>
        <p:spPr>
          <a:xfrm>
            <a:off x="825500" y="1079500"/>
            <a:ext cx="7848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the partial schedule</a:t>
            </a:r>
            <a:endParaRPr/>
          </a:p>
          <a:p>
            <a:pPr indent="-24003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24003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Neither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make progress — executing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lock-S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(B)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causes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wait for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release its lock 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while executing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lock-X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(A)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causes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wait for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release its lock 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Such a situation is called a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deadlock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handle a deadlock one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must be rolled back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its locks released.</a:t>
            </a:r>
            <a:endParaRPr/>
          </a:p>
        </p:txBody>
      </p:sp>
      <p:pic>
        <p:nvPicPr>
          <p:cNvPr id="80" name="Google Shape;80;p11"/>
          <p:cNvPicPr preferRelativeResize="0"/>
          <p:nvPr/>
        </p:nvPicPr>
        <p:blipFill rotWithShape="1">
          <a:blip r:embed="rId3">
            <a:alphaModFix/>
          </a:blip>
          <a:srcRect b="1448" l="14131" r="13043" t="2899"/>
          <a:stretch/>
        </p:blipFill>
        <p:spPr>
          <a:xfrm>
            <a:off x="3252787" y="1574800"/>
            <a:ext cx="2665412" cy="262572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>
            <a:off x="762000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Pitfalls of Lock-Based Protocols (Cont.)</a:t>
            </a:r>
            <a:endParaRPr/>
          </a:p>
        </p:txBody>
      </p:sp>
      <p:sp>
        <p:nvSpPr>
          <p:cNvPr id="86" name="Google Shape;86;p12"/>
          <p:cNvSpPr txBox="1"/>
          <p:nvPr>
            <p:ph idx="4294967295" type="body"/>
          </p:nvPr>
        </p:nvSpPr>
        <p:spPr>
          <a:xfrm>
            <a:off x="825500" y="1079500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potential for deadlock exists in most locking protocols. Deadlocks are a necessary evil.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Starvation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also possible if concurrency control manager is badly designed. For example: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transaction may be waiting for an X-lock on an item, while a sequence of other transactions request and are granted an S-lock on the same item. 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same transaction is repeatedly rolled back due to deadlocks.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Concurrency control manager can be designed to prevent starvation.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Two-Phase Locking Protocol</a:t>
            </a:r>
            <a:endParaRPr/>
          </a:p>
        </p:txBody>
      </p:sp>
      <p:sp>
        <p:nvSpPr>
          <p:cNvPr id="92" name="Google Shape;92;p13"/>
          <p:cNvSpPr txBox="1"/>
          <p:nvPr>
            <p:ph idx="4294967295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is a protocol which ensures conflict-serializable schedules.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Phase 1: Growing Phase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may obtain locks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may not release locks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Phase 2: Shrinking Phase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may release locks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may not obtain locks</a:t>
            </a:r>
            <a:endParaRPr/>
          </a:p>
          <a:p>
            <a:pPr indent="-342900" lvl="0" marL="342900" marR="0" rtl="0" algn="l">
              <a:lnSpc>
                <a:spcPct val="12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protocol assures serializability. It can be proved that the transactions can be serialized in the order of their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 points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(i.e. the point where a transaction acquired its final lock).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914400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Two-Phase Locking Protocol (Cont.)</a:t>
            </a:r>
            <a:endParaRPr/>
          </a:p>
        </p:txBody>
      </p:sp>
      <p:sp>
        <p:nvSpPr>
          <p:cNvPr id="98" name="Google Shape;98;p14"/>
          <p:cNvSpPr txBox="1"/>
          <p:nvPr>
            <p:ph idx="4294967295" type="body"/>
          </p:nvPr>
        </p:nvSpPr>
        <p:spPr>
          <a:xfrm>
            <a:off x="825500" y="1079500"/>
            <a:ext cx="7661275" cy="317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Two-phase locking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does not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ensure freedom from deadlocks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Cascading roll-back is possible under two-phase locking. To avoid this, follow a modified protocol called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 two-phase locking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Here a transaction must </a:t>
            </a:r>
            <a:r>
              <a:rPr b="0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hold all its exclusive locks till it commits/aborts.</a:t>
            </a:r>
            <a:endParaRPr>
              <a:highlight>
                <a:srgbClr val="FFFF00"/>
              </a:highlight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00"/>
              </a:highlight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Rigorous two-phase locking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even stricter: here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locks are held till commit/abort. In this protocol transactions can be serialized in the order in which they commit.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838200" y="-762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Two-Phase Locking Protocol (Cont.)</a:t>
            </a:r>
            <a:endParaRPr/>
          </a:p>
        </p:txBody>
      </p:sp>
      <p:sp>
        <p:nvSpPr>
          <p:cNvPr id="104" name="Google Shape;104;p15"/>
          <p:cNvSpPr txBox="1"/>
          <p:nvPr>
            <p:ph idx="4294967295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 can be conflict serializable schedules that cannot be obtained if two-phase locking is used.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However, in the absence of extra information (e.g., ordering of  access to data), two-phase locking is needed for conflict serializability in the following sense: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Given a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does not follow two-phase locking, we can find a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uses two-phase locking, and a schedule for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is not conflict serializable.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 Conversions</a:t>
            </a:r>
            <a:endParaRPr/>
          </a:p>
        </p:txBody>
      </p:sp>
      <p:sp>
        <p:nvSpPr>
          <p:cNvPr id="110" name="Google Shape;110;p16"/>
          <p:cNvSpPr txBox="1"/>
          <p:nvPr>
            <p:ph idx="4294967295" type="body"/>
          </p:nvPr>
        </p:nvSpPr>
        <p:spPr>
          <a:xfrm>
            <a:off x="825500" y="1079500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Two-phase locking with lock conversions: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–   First Phase:       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acquire a lock-S on item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acquire a lock-X on item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convert a lock-S to a lock-X (upgrade)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–   Second Phase: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release a lock-S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release a lock-X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convert a lock-X to a lock-S  (downgrade)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protocol assures serializability. But still relies on the programmer to insert the various  locking instructions.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Automatic Acquisition of Locks</a:t>
            </a:r>
            <a:endParaRPr/>
          </a:p>
        </p:txBody>
      </p:sp>
      <p:sp>
        <p:nvSpPr>
          <p:cNvPr id="116" name="Google Shape;116;p17"/>
          <p:cNvSpPr txBox="1"/>
          <p:nvPr>
            <p:ph idx="4294967295" type="body"/>
          </p:nvPr>
        </p:nvSpPr>
        <p:spPr>
          <a:xfrm>
            <a:off x="825500" y="1079500"/>
            <a:ext cx="7848600" cy="5210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issues the standard read/write instruction, without explicit locking calls.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operation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processed as: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has a lock 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read(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else begin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if necessary wait until no other 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transaction has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lock-X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grant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lock-S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read(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end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Automatic Acquisition of Locks (Cont.)</a:t>
            </a:r>
            <a:endParaRPr/>
          </a:p>
        </p:txBody>
      </p:sp>
      <p:sp>
        <p:nvSpPr>
          <p:cNvPr id="122" name="Google Shape;122;p18"/>
          <p:cNvSpPr txBox="1"/>
          <p:nvPr>
            <p:ph idx="4294967295" type="body"/>
          </p:nvPr>
        </p:nvSpPr>
        <p:spPr>
          <a:xfrm>
            <a:off x="825500" y="1079500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(D)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processed as: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has a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lock-X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then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342900" lvl="0" marL="342900" marR="0" rtl="0" algn="l">
              <a:lnSpc>
                <a:spcPct val="6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write(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else begin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if necessary wait until no other trans. has any lock 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if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has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lock-S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then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upgrade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lock 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to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lock-X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else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grant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lock-X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write(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end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locks are released after commit or abort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Implementation of Locking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825500" y="1079500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lock manager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be implemented as a separate process to which transactions send lock and unlock requests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lock manager replies to a lock request by sending a lock grant messages (or a message asking the transaction to roll back, in case of  a deadlock)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requesting transaction waits until its request is answered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lock manager maintains a data-structure called a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 table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record granted locks and pending requests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lock table is usually implemented as an in-memory hash table indexed on the name of the data item being locked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 Table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4610100" y="1079500"/>
            <a:ext cx="4191000" cy="5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Black rectangles indicate granted locks, white ones indicate waiting requests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 table also records the type of lock granted or requested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request is added to the end of the queue of requests for the data item, and granted if it is compatible with all earlier locks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Unlock requests result in the request being deleted, and later requests are checked to see if they can now be granted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transaction aborts, all waiting or granted requests of the transaction are deleted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 manager may keep a list of locks held by each transaction, to implement this efficiently</a:t>
            </a:r>
            <a:endParaRPr/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3">
            <a:alphaModFix/>
          </a:blip>
          <a:srcRect b="2419" l="19557" r="20765" t="1344"/>
          <a:stretch/>
        </p:blipFill>
        <p:spPr>
          <a:xfrm>
            <a:off x="825500" y="1079500"/>
            <a:ext cx="3543300" cy="42862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grpSp>
        <p:nvGrpSpPr>
          <p:cNvPr id="136" name="Google Shape;136;p20"/>
          <p:cNvGrpSpPr/>
          <p:nvPr/>
        </p:nvGrpSpPr>
        <p:grpSpPr>
          <a:xfrm>
            <a:off x="3022600" y="4606925"/>
            <a:ext cx="1335087" cy="730250"/>
            <a:chOff x="840" y="3502"/>
            <a:chExt cx="841" cy="460"/>
          </a:xfrm>
        </p:grpSpPr>
        <p:sp>
          <p:nvSpPr>
            <p:cNvPr id="137" name="Google Shape;137;p20"/>
            <p:cNvSpPr/>
            <p:nvPr/>
          </p:nvSpPr>
          <p:spPr>
            <a:xfrm>
              <a:off x="840" y="3808"/>
              <a:ext cx="112" cy="9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" name="Google Shape;138;p20"/>
            <p:cNvSpPr/>
            <p:nvPr/>
          </p:nvSpPr>
          <p:spPr>
            <a:xfrm>
              <a:off x="840" y="3600"/>
              <a:ext cx="112" cy="9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" name="Google Shape;139;p20"/>
            <p:cNvSpPr txBox="1"/>
            <p:nvPr/>
          </p:nvSpPr>
          <p:spPr>
            <a:xfrm>
              <a:off x="1102" y="3502"/>
              <a:ext cx="57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lvetica Neu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Granted</a:t>
              </a:r>
              <a:endParaRPr/>
            </a:p>
          </p:txBody>
        </p:sp>
        <p:sp>
          <p:nvSpPr>
            <p:cNvPr id="140" name="Google Shape;140;p20"/>
            <p:cNvSpPr txBox="1"/>
            <p:nvPr/>
          </p:nvSpPr>
          <p:spPr>
            <a:xfrm>
              <a:off x="1078" y="3750"/>
              <a:ext cx="54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lvetica Neu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Waiting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Graph-Based Protocols</a:t>
            </a:r>
            <a:endParaRPr/>
          </a:p>
        </p:txBody>
      </p:sp>
      <p:sp>
        <p:nvSpPr>
          <p:cNvPr id="146" name="Google Shape;146;p21"/>
          <p:cNvSpPr txBox="1"/>
          <p:nvPr>
            <p:ph idx="4294967295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Graph-based protocols are an alternative to two-phase locking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Impose a partial ordering → on the set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{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d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,..., d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 of all data items.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then any transaction accessing both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must access d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before accessing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Implies that the set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may now be viewed as a directed acyclic graph, called a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graph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tree-protocol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simple kind of graph protocol.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552450" y="-762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Tree Protocol</a:t>
            </a:r>
            <a:endParaRPr/>
          </a:p>
        </p:txBody>
      </p:sp>
      <p:sp>
        <p:nvSpPr>
          <p:cNvPr id="152" name="Google Shape;152;p22"/>
          <p:cNvSpPr txBox="1"/>
          <p:nvPr>
            <p:ph idx="4294967295" type="body"/>
          </p:nvPr>
        </p:nvSpPr>
        <p:spPr>
          <a:xfrm>
            <a:off x="825500" y="4308475"/>
            <a:ext cx="7661275" cy="2097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Only exclusive locks are allowed.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first lock by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may be on any data item. Subsequently, a data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be locked by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only if the parent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currently locked by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items may be unlocked at any time.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data item that has been locked and unlocked by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cannot subsequently be relocked by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</p:txBody>
      </p:sp>
      <p:pic>
        <p:nvPicPr>
          <p:cNvPr id="153" name="Google Shape;153;p22"/>
          <p:cNvPicPr preferRelativeResize="0"/>
          <p:nvPr/>
        </p:nvPicPr>
        <p:blipFill rotWithShape="1">
          <a:blip r:embed="rId3">
            <a:alphaModFix/>
          </a:blip>
          <a:srcRect b="2324" l="16278" r="16279" t="3100"/>
          <a:stretch/>
        </p:blipFill>
        <p:spPr>
          <a:xfrm>
            <a:off x="2908300" y="1079500"/>
            <a:ext cx="2816225" cy="29622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Graph-Based Protocols (Cont.)</a:t>
            </a:r>
            <a:endParaRPr/>
          </a:p>
        </p:txBody>
      </p:sp>
      <p:sp>
        <p:nvSpPr>
          <p:cNvPr id="159" name="Google Shape;159;p23"/>
          <p:cNvSpPr txBox="1"/>
          <p:nvPr>
            <p:ph idx="4294967295" type="body"/>
          </p:nvPr>
        </p:nvSpPr>
        <p:spPr>
          <a:xfrm>
            <a:off x="825500" y="1079500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tree protocol ensures conflict serializability as well as freedom from deadlock.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Unlocking may occur earlier in the tree-locking protocol than in the two-phase locking protocol.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shorter waiting times, and increase in concurrency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protocol is deadlock-free, no rollbacks are required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Drawbacks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Protocol does not guarantee recoverability or cascade freedom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to introduce commit dependencies to ensure recoverability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Transactions may have to lock data items that they do not access.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increased locking overhead, and additional waiting time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potential decrease in concurrency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Schedules not possible under two-phase locking are possible under tree protocol, and vice versa.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Multiple Granularity</a:t>
            </a:r>
            <a:endParaRPr/>
          </a:p>
        </p:txBody>
      </p:sp>
      <p:sp>
        <p:nvSpPr>
          <p:cNvPr id="165" name="Google Shape;165;p24"/>
          <p:cNvSpPr txBox="1"/>
          <p:nvPr>
            <p:ph idx="4294967295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Allow  data items to be of various sizes and define a hierarchy of data granularities, where the small granularities are nested within larger ones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be represented graphically as a tree (but don't confuse with tree-locking protocol)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a transaction locks a node in the tree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explicitly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it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implicitly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locks all the node's descendents in the same mode.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Granularity of locking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(level in tree where locking is done):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granularity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(lower in tree): high concurrency, high locking overhead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coarse granularity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(higher in tree): low locking overhead, low concurrency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Granularity Hierarchy</a:t>
            </a:r>
            <a:endParaRPr/>
          </a:p>
        </p:txBody>
      </p:sp>
      <p:sp>
        <p:nvSpPr>
          <p:cNvPr id="171" name="Google Shape;171;p25"/>
          <p:cNvSpPr txBox="1"/>
          <p:nvPr>
            <p:ph idx="4294967295" type="body"/>
          </p:nvPr>
        </p:nvSpPr>
        <p:spPr>
          <a:xfrm>
            <a:off x="825500" y="1549400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003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The levels, starting from the coarsest (top) level are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area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file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record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</p:txBody>
      </p:sp>
      <p:pic>
        <p:nvPicPr>
          <p:cNvPr id="172" name="Google Shape;172;p25"/>
          <p:cNvPicPr preferRelativeResize="0"/>
          <p:nvPr/>
        </p:nvPicPr>
        <p:blipFill rotWithShape="1">
          <a:blip r:embed="rId3">
            <a:alphaModFix/>
          </a:blip>
          <a:srcRect b="16570" l="1499" r="1285" t="16000"/>
          <a:stretch/>
        </p:blipFill>
        <p:spPr>
          <a:xfrm>
            <a:off x="1511300" y="1206500"/>
            <a:ext cx="5761037" cy="29972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Intention Lock Modes</a:t>
            </a:r>
            <a:endParaRPr/>
          </a:p>
        </p:txBody>
      </p:sp>
      <p:sp>
        <p:nvSpPr>
          <p:cNvPr id="178" name="Google Shape;178;p26"/>
          <p:cNvSpPr txBox="1"/>
          <p:nvPr>
            <p:ph idx="4294967295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addition to S and X lock modes, there are three additional lock modes with multiple granularity: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intention-shared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(IS): indicates explicit locking at a lower level of the tree but only with shared locks.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intention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b="1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exclusive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(IX): indicates explicit locking at a lower level with exclusive or shared locks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shared and intention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b="1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exclusive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(SIX): the subtree rooted by that node is locked explicitly in shared mode and explicit locking is being done at a lower level with exclusive-mode locks.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intention locks allow a higher level node to be locked in S or X mode without having to check all descendent nodes.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165100" y="228600"/>
            <a:ext cx="876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Compatibility Matrix with</a:t>
            </a:r>
            <a:b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Intention Lock Modes</a:t>
            </a:r>
            <a:endParaRPr/>
          </a:p>
        </p:txBody>
      </p:sp>
      <p:sp>
        <p:nvSpPr>
          <p:cNvPr id="184" name="Google Shape;184;p27"/>
          <p:cNvSpPr txBox="1"/>
          <p:nvPr>
            <p:ph idx="4294967295" type="body"/>
          </p:nvPr>
        </p:nvSpPr>
        <p:spPr>
          <a:xfrm>
            <a:off x="825500" y="1079500"/>
            <a:ext cx="7848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compatibility matrix for all lock modes is: </a:t>
            </a:r>
            <a:endParaRPr/>
          </a:p>
        </p:txBody>
      </p:sp>
      <p:grpSp>
        <p:nvGrpSpPr>
          <p:cNvPr id="185" name="Google Shape;185;p27"/>
          <p:cNvGrpSpPr/>
          <p:nvPr/>
        </p:nvGrpSpPr>
        <p:grpSpPr>
          <a:xfrm>
            <a:off x="1928812" y="1866900"/>
            <a:ext cx="4624387" cy="3810000"/>
            <a:chOff x="831" y="1104"/>
            <a:chExt cx="2913" cy="2400"/>
          </a:xfrm>
        </p:grpSpPr>
        <p:cxnSp>
          <p:nvCxnSpPr>
            <p:cNvPr id="186" name="Google Shape;186;p27"/>
            <p:cNvCxnSpPr/>
            <p:nvPr/>
          </p:nvCxnSpPr>
          <p:spPr>
            <a:xfrm>
              <a:off x="1296" y="1104"/>
              <a:ext cx="0" cy="2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7" name="Google Shape;187;p27"/>
            <p:cNvCxnSpPr/>
            <p:nvPr/>
          </p:nvCxnSpPr>
          <p:spPr>
            <a:xfrm>
              <a:off x="1776" y="1137"/>
              <a:ext cx="0" cy="236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8" name="Google Shape;188;p27"/>
            <p:cNvCxnSpPr/>
            <p:nvPr/>
          </p:nvCxnSpPr>
          <p:spPr>
            <a:xfrm>
              <a:off x="2256" y="1152"/>
              <a:ext cx="0" cy="2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9" name="Google Shape;189;p27"/>
            <p:cNvCxnSpPr/>
            <p:nvPr/>
          </p:nvCxnSpPr>
          <p:spPr>
            <a:xfrm>
              <a:off x="2736" y="1152"/>
              <a:ext cx="0" cy="2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0" name="Google Shape;190;p27"/>
            <p:cNvCxnSpPr/>
            <p:nvPr/>
          </p:nvCxnSpPr>
          <p:spPr>
            <a:xfrm>
              <a:off x="3264" y="1152"/>
              <a:ext cx="0" cy="2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1" name="Google Shape;191;p27"/>
            <p:cNvCxnSpPr/>
            <p:nvPr/>
          </p:nvCxnSpPr>
          <p:spPr>
            <a:xfrm>
              <a:off x="3744" y="1152"/>
              <a:ext cx="0" cy="2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2" name="Google Shape;192;p27"/>
            <p:cNvCxnSpPr/>
            <p:nvPr/>
          </p:nvCxnSpPr>
          <p:spPr>
            <a:xfrm>
              <a:off x="864" y="1392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3" name="Google Shape;193;p27"/>
            <p:cNvCxnSpPr/>
            <p:nvPr/>
          </p:nvCxnSpPr>
          <p:spPr>
            <a:xfrm>
              <a:off x="849" y="1776"/>
              <a:ext cx="289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4" name="Google Shape;194;p27"/>
            <p:cNvCxnSpPr/>
            <p:nvPr/>
          </p:nvCxnSpPr>
          <p:spPr>
            <a:xfrm>
              <a:off x="864" y="2160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5" name="Google Shape;195;p27"/>
            <p:cNvCxnSpPr/>
            <p:nvPr/>
          </p:nvCxnSpPr>
          <p:spPr>
            <a:xfrm>
              <a:off x="864" y="2592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6" name="Google Shape;196;p27"/>
            <p:cNvCxnSpPr/>
            <p:nvPr/>
          </p:nvCxnSpPr>
          <p:spPr>
            <a:xfrm>
              <a:off x="864" y="3024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7" name="Google Shape;197;p27"/>
            <p:cNvCxnSpPr/>
            <p:nvPr/>
          </p:nvCxnSpPr>
          <p:spPr>
            <a:xfrm>
              <a:off x="864" y="3504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98" name="Google Shape;198;p27"/>
            <p:cNvSpPr txBox="1"/>
            <p:nvPr/>
          </p:nvSpPr>
          <p:spPr>
            <a:xfrm>
              <a:off x="1382" y="1186"/>
              <a:ext cx="267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IS</a:t>
              </a:r>
              <a:endParaRPr/>
            </a:p>
          </p:txBody>
        </p:sp>
        <p:sp>
          <p:nvSpPr>
            <p:cNvPr id="199" name="Google Shape;199;p27"/>
            <p:cNvSpPr txBox="1"/>
            <p:nvPr/>
          </p:nvSpPr>
          <p:spPr>
            <a:xfrm>
              <a:off x="1872" y="1168"/>
              <a:ext cx="267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IX</a:t>
              </a:r>
              <a:endParaRPr/>
            </a:p>
          </p:txBody>
        </p:sp>
        <p:sp>
          <p:nvSpPr>
            <p:cNvPr id="200" name="Google Shape;200;p27"/>
            <p:cNvSpPr txBox="1"/>
            <p:nvPr/>
          </p:nvSpPr>
          <p:spPr>
            <a:xfrm>
              <a:off x="2372" y="1162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</a:t>
              </a:r>
              <a:endParaRPr/>
            </a:p>
          </p:txBody>
        </p:sp>
        <p:sp>
          <p:nvSpPr>
            <p:cNvPr id="201" name="Google Shape;201;p27"/>
            <p:cNvSpPr txBox="1"/>
            <p:nvPr/>
          </p:nvSpPr>
          <p:spPr>
            <a:xfrm>
              <a:off x="2784" y="1159"/>
              <a:ext cx="41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 IX</a:t>
              </a:r>
              <a:endParaRPr/>
            </a:p>
          </p:txBody>
        </p:sp>
        <p:sp>
          <p:nvSpPr>
            <p:cNvPr id="202" name="Google Shape;202;p27"/>
            <p:cNvSpPr txBox="1"/>
            <p:nvPr/>
          </p:nvSpPr>
          <p:spPr>
            <a:xfrm>
              <a:off x="3312" y="1171"/>
              <a:ext cx="267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 </a:t>
              </a:r>
              <a:endParaRPr/>
            </a:p>
          </p:txBody>
        </p:sp>
        <p:sp>
          <p:nvSpPr>
            <p:cNvPr id="203" name="Google Shape;203;p27"/>
            <p:cNvSpPr txBox="1"/>
            <p:nvPr/>
          </p:nvSpPr>
          <p:spPr>
            <a:xfrm>
              <a:off x="971" y="1471"/>
              <a:ext cx="267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IS</a:t>
              </a:r>
              <a:endParaRPr/>
            </a:p>
          </p:txBody>
        </p:sp>
        <p:sp>
          <p:nvSpPr>
            <p:cNvPr id="204" name="Google Shape;204;p27"/>
            <p:cNvSpPr txBox="1"/>
            <p:nvPr/>
          </p:nvSpPr>
          <p:spPr>
            <a:xfrm>
              <a:off x="947" y="1828"/>
              <a:ext cx="267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IX</a:t>
              </a:r>
              <a:endParaRPr/>
            </a:p>
          </p:txBody>
        </p:sp>
        <p:sp>
          <p:nvSpPr>
            <p:cNvPr id="205" name="Google Shape;205;p27"/>
            <p:cNvSpPr txBox="1"/>
            <p:nvPr/>
          </p:nvSpPr>
          <p:spPr>
            <a:xfrm>
              <a:off x="960" y="2230"/>
              <a:ext cx="22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</a:t>
              </a:r>
              <a:endParaRPr/>
            </a:p>
          </p:txBody>
        </p:sp>
        <p:sp>
          <p:nvSpPr>
            <p:cNvPr id="206" name="Google Shape;206;p27"/>
            <p:cNvSpPr txBox="1"/>
            <p:nvPr/>
          </p:nvSpPr>
          <p:spPr>
            <a:xfrm>
              <a:off x="831" y="2671"/>
              <a:ext cx="41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 IX</a:t>
              </a:r>
              <a:endParaRPr/>
            </a:p>
          </p:txBody>
        </p:sp>
        <p:sp>
          <p:nvSpPr>
            <p:cNvPr id="207" name="Google Shape;207;p27"/>
            <p:cNvSpPr txBox="1"/>
            <p:nvPr/>
          </p:nvSpPr>
          <p:spPr>
            <a:xfrm>
              <a:off x="912" y="3151"/>
              <a:ext cx="267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 </a:t>
              </a:r>
              <a:endParaRPr/>
            </a:p>
          </p:txBody>
        </p:sp>
        <p:sp>
          <p:nvSpPr>
            <p:cNvPr id="208" name="Google Shape;208;p27"/>
            <p:cNvSpPr txBox="1"/>
            <p:nvPr/>
          </p:nvSpPr>
          <p:spPr>
            <a:xfrm>
              <a:off x="1382" y="1448"/>
              <a:ext cx="24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✔</a:t>
              </a:r>
              <a:endParaRPr/>
            </a:p>
          </p:txBody>
        </p:sp>
        <p:sp>
          <p:nvSpPr>
            <p:cNvPr id="209" name="Google Shape;209;p27"/>
            <p:cNvSpPr txBox="1"/>
            <p:nvPr/>
          </p:nvSpPr>
          <p:spPr>
            <a:xfrm>
              <a:off x="1365" y="1855"/>
              <a:ext cx="24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✔</a:t>
              </a:r>
              <a:endParaRPr/>
            </a:p>
          </p:txBody>
        </p:sp>
        <p:sp>
          <p:nvSpPr>
            <p:cNvPr id="210" name="Google Shape;210;p27"/>
            <p:cNvSpPr txBox="1"/>
            <p:nvPr/>
          </p:nvSpPr>
          <p:spPr>
            <a:xfrm>
              <a:off x="1365" y="2287"/>
              <a:ext cx="24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✔</a:t>
              </a:r>
              <a:endParaRPr/>
            </a:p>
          </p:txBody>
        </p:sp>
        <p:sp>
          <p:nvSpPr>
            <p:cNvPr id="211" name="Google Shape;211;p27"/>
            <p:cNvSpPr txBox="1"/>
            <p:nvPr/>
          </p:nvSpPr>
          <p:spPr>
            <a:xfrm>
              <a:off x="1392" y="2719"/>
              <a:ext cx="24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✔</a:t>
              </a:r>
              <a:endParaRPr/>
            </a:p>
          </p:txBody>
        </p:sp>
        <p:sp>
          <p:nvSpPr>
            <p:cNvPr id="212" name="Google Shape;212;p27"/>
            <p:cNvSpPr txBox="1"/>
            <p:nvPr/>
          </p:nvSpPr>
          <p:spPr>
            <a:xfrm>
              <a:off x="1392" y="3178"/>
              <a:ext cx="20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×</a:t>
              </a:r>
              <a:endParaRPr/>
            </a:p>
          </p:txBody>
        </p:sp>
        <p:sp>
          <p:nvSpPr>
            <p:cNvPr id="213" name="Google Shape;213;p27"/>
            <p:cNvSpPr txBox="1"/>
            <p:nvPr/>
          </p:nvSpPr>
          <p:spPr>
            <a:xfrm>
              <a:off x="1824" y="1471"/>
              <a:ext cx="24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✔</a:t>
              </a:r>
              <a:endParaRPr/>
            </a:p>
          </p:txBody>
        </p:sp>
        <p:sp>
          <p:nvSpPr>
            <p:cNvPr id="214" name="Google Shape;214;p27"/>
            <p:cNvSpPr txBox="1"/>
            <p:nvPr/>
          </p:nvSpPr>
          <p:spPr>
            <a:xfrm>
              <a:off x="2325" y="1471"/>
              <a:ext cx="24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✔</a:t>
              </a:r>
              <a:endParaRPr/>
            </a:p>
          </p:txBody>
        </p:sp>
        <p:sp>
          <p:nvSpPr>
            <p:cNvPr id="215" name="Google Shape;215;p27"/>
            <p:cNvSpPr txBox="1"/>
            <p:nvPr/>
          </p:nvSpPr>
          <p:spPr>
            <a:xfrm>
              <a:off x="2853" y="1471"/>
              <a:ext cx="24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✔</a:t>
              </a:r>
              <a:endParaRPr/>
            </a:p>
          </p:txBody>
        </p:sp>
        <p:sp>
          <p:nvSpPr>
            <p:cNvPr id="216" name="Google Shape;216;p27"/>
            <p:cNvSpPr txBox="1"/>
            <p:nvPr/>
          </p:nvSpPr>
          <p:spPr>
            <a:xfrm>
              <a:off x="1872" y="1855"/>
              <a:ext cx="24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✔</a:t>
              </a:r>
              <a:endParaRPr/>
            </a:p>
          </p:txBody>
        </p:sp>
        <p:sp>
          <p:nvSpPr>
            <p:cNvPr id="217" name="Google Shape;217;p27"/>
            <p:cNvSpPr txBox="1"/>
            <p:nvPr/>
          </p:nvSpPr>
          <p:spPr>
            <a:xfrm>
              <a:off x="2352" y="2287"/>
              <a:ext cx="24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✔</a:t>
              </a:r>
              <a:endParaRPr/>
            </a:p>
          </p:txBody>
        </p:sp>
        <p:sp>
          <p:nvSpPr>
            <p:cNvPr id="218" name="Google Shape;218;p27"/>
            <p:cNvSpPr txBox="1"/>
            <p:nvPr/>
          </p:nvSpPr>
          <p:spPr>
            <a:xfrm>
              <a:off x="1910" y="2261"/>
              <a:ext cx="20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×</a:t>
              </a:r>
              <a:endParaRPr/>
            </a:p>
          </p:txBody>
        </p:sp>
        <p:sp>
          <p:nvSpPr>
            <p:cNvPr id="219" name="Google Shape;219;p27"/>
            <p:cNvSpPr txBox="1"/>
            <p:nvPr/>
          </p:nvSpPr>
          <p:spPr>
            <a:xfrm>
              <a:off x="1891" y="2719"/>
              <a:ext cx="20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×</a:t>
              </a:r>
              <a:endParaRPr/>
            </a:p>
          </p:txBody>
        </p:sp>
        <p:sp>
          <p:nvSpPr>
            <p:cNvPr id="220" name="Google Shape;220;p27"/>
            <p:cNvSpPr txBox="1"/>
            <p:nvPr/>
          </p:nvSpPr>
          <p:spPr>
            <a:xfrm>
              <a:off x="1891" y="3151"/>
              <a:ext cx="20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×</a:t>
              </a:r>
              <a:endParaRPr/>
            </a:p>
          </p:txBody>
        </p:sp>
        <p:sp>
          <p:nvSpPr>
            <p:cNvPr id="221" name="Google Shape;221;p27"/>
            <p:cNvSpPr txBox="1"/>
            <p:nvPr/>
          </p:nvSpPr>
          <p:spPr>
            <a:xfrm>
              <a:off x="2371" y="3151"/>
              <a:ext cx="20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×</a:t>
              </a:r>
              <a:endParaRPr/>
            </a:p>
          </p:txBody>
        </p:sp>
        <p:sp>
          <p:nvSpPr>
            <p:cNvPr id="222" name="Google Shape;222;p27"/>
            <p:cNvSpPr txBox="1"/>
            <p:nvPr/>
          </p:nvSpPr>
          <p:spPr>
            <a:xfrm>
              <a:off x="2881" y="3151"/>
              <a:ext cx="20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×</a:t>
              </a:r>
              <a:endParaRPr/>
            </a:p>
          </p:txBody>
        </p:sp>
        <p:sp>
          <p:nvSpPr>
            <p:cNvPr id="223" name="Google Shape;223;p27"/>
            <p:cNvSpPr txBox="1"/>
            <p:nvPr/>
          </p:nvSpPr>
          <p:spPr>
            <a:xfrm>
              <a:off x="3412" y="3151"/>
              <a:ext cx="20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×</a:t>
              </a:r>
              <a:endParaRPr/>
            </a:p>
          </p:txBody>
        </p:sp>
        <p:sp>
          <p:nvSpPr>
            <p:cNvPr id="224" name="Google Shape;224;p27"/>
            <p:cNvSpPr txBox="1"/>
            <p:nvPr/>
          </p:nvSpPr>
          <p:spPr>
            <a:xfrm>
              <a:off x="3408" y="2719"/>
              <a:ext cx="20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×</a:t>
              </a:r>
              <a:endParaRPr/>
            </a:p>
          </p:txBody>
        </p:sp>
        <p:sp>
          <p:nvSpPr>
            <p:cNvPr id="225" name="Google Shape;225;p27"/>
            <p:cNvSpPr txBox="1"/>
            <p:nvPr/>
          </p:nvSpPr>
          <p:spPr>
            <a:xfrm>
              <a:off x="2371" y="2719"/>
              <a:ext cx="20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×</a:t>
              </a:r>
              <a:endParaRPr/>
            </a:p>
          </p:txBody>
        </p:sp>
        <p:sp>
          <p:nvSpPr>
            <p:cNvPr id="226" name="Google Shape;226;p27"/>
            <p:cNvSpPr txBox="1"/>
            <p:nvPr/>
          </p:nvSpPr>
          <p:spPr>
            <a:xfrm>
              <a:off x="2899" y="2719"/>
              <a:ext cx="20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×</a:t>
              </a:r>
              <a:endParaRPr/>
            </a:p>
          </p:txBody>
        </p:sp>
        <p:sp>
          <p:nvSpPr>
            <p:cNvPr id="227" name="Google Shape;227;p27"/>
            <p:cNvSpPr txBox="1"/>
            <p:nvPr/>
          </p:nvSpPr>
          <p:spPr>
            <a:xfrm>
              <a:off x="2382" y="1855"/>
              <a:ext cx="20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×</a:t>
              </a:r>
              <a:endParaRPr/>
            </a:p>
          </p:txBody>
        </p:sp>
        <p:sp>
          <p:nvSpPr>
            <p:cNvPr id="228" name="Google Shape;228;p27"/>
            <p:cNvSpPr txBox="1"/>
            <p:nvPr/>
          </p:nvSpPr>
          <p:spPr>
            <a:xfrm>
              <a:off x="2899" y="1855"/>
              <a:ext cx="20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×</a:t>
              </a:r>
              <a:endParaRPr/>
            </a:p>
          </p:txBody>
        </p:sp>
        <p:sp>
          <p:nvSpPr>
            <p:cNvPr id="229" name="Google Shape;229;p27"/>
            <p:cNvSpPr txBox="1"/>
            <p:nvPr/>
          </p:nvSpPr>
          <p:spPr>
            <a:xfrm>
              <a:off x="3412" y="1471"/>
              <a:ext cx="20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×</a:t>
              </a:r>
              <a:endParaRPr/>
            </a:p>
          </p:txBody>
        </p:sp>
        <p:sp>
          <p:nvSpPr>
            <p:cNvPr id="230" name="Google Shape;230;p27"/>
            <p:cNvSpPr txBox="1"/>
            <p:nvPr/>
          </p:nvSpPr>
          <p:spPr>
            <a:xfrm>
              <a:off x="3394" y="1807"/>
              <a:ext cx="20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×</a:t>
              </a:r>
              <a:endParaRPr/>
            </a:p>
          </p:txBody>
        </p:sp>
        <p:sp>
          <p:nvSpPr>
            <p:cNvPr id="231" name="Google Shape;231;p27"/>
            <p:cNvSpPr txBox="1"/>
            <p:nvPr/>
          </p:nvSpPr>
          <p:spPr>
            <a:xfrm>
              <a:off x="3412" y="2239"/>
              <a:ext cx="20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×</a:t>
              </a:r>
              <a:endParaRPr/>
            </a:p>
          </p:txBody>
        </p:sp>
        <p:sp>
          <p:nvSpPr>
            <p:cNvPr id="232" name="Google Shape;232;p27"/>
            <p:cNvSpPr txBox="1"/>
            <p:nvPr/>
          </p:nvSpPr>
          <p:spPr>
            <a:xfrm>
              <a:off x="2899" y="2239"/>
              <a:ext cx="20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×</a:t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Multiple Granularity Locking Scheme</a:t>
            </a:r>
            <a:endParaRPr/>
          </a:p>
        </p:txBody>
      </p:sp>
      <p:sp>
        <p:nvSpPr>
          <p:cNvPr id="238" name="Google Shape;238;p28"/>
          <p:cNvSpPr txBox="1"/>
          <p:nvPr>
            <p:ph idx="4294967295" type="body"/>
          </p:nvPr>
        </p:nvSpPr>
        <p:spPr>
          <a:xfrm>
            <a:off x="825500" y="1079500"/>
            <a:ext cx="8013700" cy="5057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lock a node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using the following rules: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lock compatibility matrix must be observed.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root of the tree must be locked first, and may be locked in any mode.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node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be locked by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S or IS mode only if the parent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currently locked by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either IX or IS mode.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node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be locked by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X, SIX, or IX mode only if the parent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currently locked by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either IX or SIX mode.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lock a node only if it has not previously unlocked any node (that is,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two-phase).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unlock a node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only if none of the children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are currently locked by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Observe that locks are acquired in root-to-leaf order, whereas they are released in leaf-to-root order.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Deadlock Handling</a:t>
            </a:r>
            <a:endParaRPr/>
          </a:p>
        </p:txBody>
      </p:sp>
      <p:sp>
        <p:nvSpPr>
          <p:cNvPr id="244" name="Google Shape;244;p29"/>
          <p:cNvSpPr txBox="1"/>
          <p:nvPr>
            <p:ph idx="4294967295" type="body"/>
          </p:nvPr>
        </p:nvSpPr>
        <p:spPr>
          <a:xfrm>
            <a:off x="825500" y="1079500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the following two transactions: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   write 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           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  write(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write(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                       write(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 with deadlock</a:t>
            </a:r>
            <a:endParaRPr/>
          </a:p>
        </p:txBody>
      </p:sp>
      <p:cxnSp>
        <p:nvCxnSpPr>
          <p:cNvPr id="245" name="Google Shape;245;p29"/>
          <p:cNvCxnSpPr/>
          <p:nvPr/>
        </p:nvCxnSpPr>
        <p:spPr>
          <a:xfrm>
            <a:off x="1524000" y="3657600"/>
            <a:ext cx="5410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46" name="Google Shape;246;p29"/>
          <p:cNvCxnSpPr/>
          <p:nvPr/>
        </p:nvCxnSpPr>
        <p:spPr>
          <a:xfrm>
            <a:off x="1524000" y="3276600"/>
            <a:ext cx="0" cy="25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47" name="Google Shape;247;p29"/>
          <p:cNvCxnSpPr/>
          <p:nvPr/>
        </p:nvCxnSpPr>
        <p:spPr>
          <a:xfrm>
            <a:off x="4343400" y="3276600"/>
            <a:ext cx="0" cy="266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48" name="Google Shape;248;p29"/>
          <p:cNvSpPr txBox="1"/>
          <p:nvPr/>
        </p:nvSpPr>
        <p:spPr>
          <a:xfrm>
            <a:off x="2803525" y="3211512"/>
            <a:ext cx="431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249" name="Google Shape;249;p29"/>
          <p:cNvSpPr txBox="1"/>
          <p:nvPr/>
        </p:nvSpPr>
        <p:spPr>
          <a:xfrm>
            <a:off x="5216525" y="3216275"/>
            <a:ext cx="431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250" name="Google Shape;250;p29"/>
          <p:cNvSpPr txBox="1"/>
          <p:nvPr/>
        </p:nvSpPr>
        <p:spPr>
          <a:xfrm>
            <a:off x="1660525" y="3821112"/>
            <a:ext cx="1538287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lock-X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/>
          </a:p>
        </p:txBody>
      </p:sp>
      <p:sp>
        <p:nvSpPr>
          <p:cNvPr id="251" name="Google Shape;251;p29"/>
          <p:cNvSpPr txBox="1"/>
          <p:nvPr/>
        </p:nvSpPr>
        <p:spPr>
          <a:xfrm>
            <a:off x="4419600" y="4359275"/>
            <a:ext cx="2425700" cy="100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lock-X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wait for </a:t>
            </a: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lock-X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/>
          </a:p>
        </p:txBody>
      </p:sp>
      <p:cxnSp>
        <p:nvCxnSpPr>
          <p:cNvPr id="252" name="Google Shape;252;p29"/>
          <p:cNvCxnSpPr/>
          <p:nvPr/>
        </p:nvCxnSpPr>
        <p:spPr>
          <a:xfrm>
            <a:off x="6934200" y="3314700"/>
            <a:ext cx="0" cy="2628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53" name="Google Shape;253;p29"/>
          <p:cNvSpPr txBox="1"/>
          <p:nvPr/>
        </p:nvSpPr>
        <p:spPr>
          <a:xfrm>
            <a:off x="1660525" y="5292725"/>
            <a:ext cx="24257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wait for </a:t>
            </a: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lock-X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Deadlock Handling</a:t>
            </a:r>
            <a:endParaRPr/>
          </a:p>
        </p:txBody>
      </p:sp>
      <p:sp>
        <p:nvSpPr>
          <p:cNvPr id="259" name="Google Shape;259;p30"/>
          <p:cNvSpPr txBox="1"/>
          <p:nvPr>
            <p:ph idx="4294967295" type="body"/>
          </p:nvPr>
        </p:nvSpPr>
        <p:spPr>
          <a:xfrm>
            <a:off x="814387" y="1093787"/>
            <a:ext cx="7661275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 is deadlocked if there is a set of transactions such that every transaction in the set is waiting for another transaction in the set.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1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Deadlock prevention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protocols ensure that the system will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never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enter into a deadlock state. Some prevention strategies 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Require that each transaction locks all its data items before it begins execution (predeclaration).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Impose partial ordering of all data items and require that a transaction can lock data items only in the order specified by the partial order (graph-based protocol).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Deadlock Prevention Strategies</a:t>
            </a:r>
            <a:endParaRPr/>
          </a:p>
        </p:txBody>
      </p:sp>
      <p:sp>
        <p:nvSpPr>
          <p:cNvPr id="265" name="Google Shape;265;p31"/>
          <p:cNvSpPr txBox="1"/>
          <p:nvPr>
            <p:ph idx="4294967295" type="body"/>
          </p:nvPr>
        </p:nvSpPr>
        <p:spPr>
          <a:xfrm>
            <a:off x="825500" y="1079500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Following schemes use transaction timestamps for the sake of deadlock prevention alone.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wait-die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scheme — non-preemptive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older transaction may wait for younger one to release data item. Younger transactions never wait for older ones; they are rolled back instead.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transaction may die several times before acquiring needed data item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wound-wait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scheme — preemptive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older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wounds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(forces rollback) of younger transaction instead of waiting for it. Younger transactions may wait for older ones.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may be fewer rollbacks than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wait-die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scheme.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Deadlock prevention (Cont.)</a:t>
            </a:r>
            <a:endParaRPr/>
          </a:p>
        </p:txBody>
      </p:sp>
      <p:sp>
        <p:nvSpPr>
          <p:cNvPr id="271" name="Google Shape;271;p32"/>
          <p:cNvSpPr txBox="1"/>
          <p:nvPr>
            <p:ph idx="4294967295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Both in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wait-die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in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wound-wait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schemes, a rolled back transactions is restarted with its original timestamp. Older transactions thus have precedence over newer ones, and starvation is hence avoided.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Timeout-Based Schemes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transaction waits for a lock only for a specified amount of time. After that, the wait times out and the transaction is rolled back.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thus deadlocks are not possible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 to implement; but starvation is possible. Also difficult to determine good value of the timeout interval.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Deadlock Detection</a:t>
            </a:r>
            <a:endParaRPr/>
          </a:p>
        </p:txBody>
      </p:sp>
      <p:sp>
        <p:nvSpPr>
          <p:cNvPr id="277" name="Google Shape;277;p33"/>
          <p:cNvSpPr txBox="1"/>
          <p:nvPr>
            <p:ph idx="4294967295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Deadlocks can be described as a </a:t>
            </a:r>
            <a:r>
              <a:rPr b="0" i="1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wait-for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graph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which consists of a pair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set of vertices (all the transactions in the system)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set of edges; each element is an ordered pair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in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then there is a directed edge from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implying that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waiting for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release a data item.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requests a data item currently being held by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then the edge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inserted in the wait-for graph. This edge is removed only when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no longer holding a data item needed by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system is in a deadlock state if and only if the wait-for graph has a cycle.  Must invoke a deadlock-detection algorithm periodically to look for cycles.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 txBox="1"/>
          <p:nvPr>
            <p:ph type="title"/>
          </p:nvPr>
        </p:nvSpPr>
        <p:spPr>
          <a:xfrm>
            <a:off x="552450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Deadlock Detection (Cont.)</a:t>
            </a:r>
            <a:endParaRPr/>
          </a:p>
        </p:txBody>
      </p:sp>
      <p:pic>
        <p:nvPicPr>
          <p:cNvPr id="283" name="Google Shape;28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1481137"/>
            <a:ext cx="3759200" cy="295116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84" name="Google Shape;284;p34"/>
          <p:cNvSpPr txBox="1"/>
          <p:nvPr/>
        </p:nvSpPr>
        <p:spPr>
          <a:xfrm>
            <a:off x="909637" y="4673600"/>
            <a:ext cx="35210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Wait-for graph without a cycle</a:t>
            </a:r>
            <a:endParaRPr/>
          </a:p>
        </p:txBody>
      </p:sp>
      <p:sp>
        <p:nvSpPr>
          <p:cNvPr id="285" name="Google Shape;285;p34"/>
          <p:cNvSpPr txBox="1"/>
          <p:nvPr/>
        </p:nvSpPr>
        <p:spPr>
          <a:xfrm>
            <a:off x="5284787" y="4640262"/>
            <a:ext cx="31686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Wait-for graph with a cycle</a:t>
            </a:r>
            <a:endParaRPr/>
          </a:p>
        </p:txBody>
      </p:sp>
      <p:pic>
        <p:nvPicPr>
          <p:cNvPr id="286" name="Google Shape;286;p34"/>
          <p:cNvPicPr preferRelativeResize="0"/>
          <p:nvPr/>
        </p:nvPicPr>
        <p:blipFill rotWithShape="1">
          <a:blip r:embed="rId4">
            <a:alphaModFix/>
          </a:blip>
          <a:srcRect b="3508" l="11184" r="10524" t="3800"/>
          <a:stretch/>
        </p:blipFill>
        <p:spPr>
          <a:xfrm>
            <a:off x="5308600" y="1549400"/>
            <a:ext cx="3289300" cy="29210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Deadlock Recovery</a:t>
            </a:r>
            <a:endParaRPr/>
          </a:p>
        </p:txBody>
      </p:sp>
      <p:sp>
        <p:nvSpPr>
          <p:cNvPr id="292" name="Google Shape;292;p35"/>
          <p:cNvSpPr txBox="1"/>
          <p:nvPr>
            <p:ph idx="4294967295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deadlock is  detected 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transaction will have to rolled back (made a victim) to break deadlock.  Select that transaction as victim that will incur minimum cost.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Rollback -- determine how far to roll back transaction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 rollback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Abort the transaction and then restart it.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effective to roll back transaction only as far as necessary to break deadlock.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Starvation happens if same transaction is always chosen as victim. Include the number of rollbacks in the cost factor to avoid starvation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 Approaches to Concurrency Control</a:t>
            </a:r>
            <a:endParaRPr/>
          </a:p>
        </p:txBody>
      </p:sp>
      <p:sp>
        <p:nvSpPr>
          <p:cNvPr id="298" name="Google Shape;298;p3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003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Timestamp-Based Protocols</a:t>
            </a:r>
            <a:endParaRPr/>
          </a:p>
        </p:txBody>
      </p:sp>
      <p:sp>
        <p:nvSpPr>
          <p:cNvPr id="304" name="Google Shape;304;p37"/>
          <p:cNvSpPr txBox="1"/>
          <p:nvPr>
            <p:ph idx="4294967295" type="body"/>
          </p:nvPr>
        </p:nvSpPr>
        <p:spPr>
          <a:xfrm>
            <a:off x="825500" y="1079500"/>
            <a:ext cx="8362950" cy="391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transaction is issued a timestamp when it enters the system. If an old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has time-stamp TS(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a new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assigned time-stamp TS(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such that TS(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&lt;TS(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 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protocol manages concurrent execution such that the time-stamps determine the serializability order.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order to assure such behavior, the protocol maintains for each data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 timestamp values: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W-timestamp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the largest time-stamp of any transaction that executed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successfully.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R-timestamp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the largest time-stamp of any transaction that executed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successfully.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/>
          <p:nvPr>
            <p:ph type="title"/>
          </p:nvPr>
        </p:nvSpPr>
        <p:spPr>
          <a:xfrm>
            <a:off x="552450" y="3143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Timestamp-Based Protocols (Cont.)</a:t>
            </a:r>
            <a:endParaRPr/>
          </a:p>
        </p:txBody>
      </p:sp>
      <p:sp>
        <p:nvSpPr>
          <p:cNvPr id="310" name="Google Shape;310;p38"/>
          <p:cNvSpPr txBox="1"/>
          <p:nvPr>
            <p:ph idx="4294967295" type="body"/>
          </p:nvPr>
        </p:nvSpPr>
        <p:spPr>
          <a:xfrm>
            <a:off x="825500" y="1079500"/>
            <a:ext cx="7661275" cy="3705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timestamp ordering protocol ensures that any conflicting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read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operations are executed in timestamp order.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Suppose a transaction 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issues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TS(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≤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-timestamp(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then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needs to read a value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that was already overwritten.</a:t>
            </a:r>
            <a:endParaRPr/>
          </a:p>
          <a:p>
            <a:pPr indent="-342900" lvl="2" marL="12001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Hence,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operation is rejected,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rolled back.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TS(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)≥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-timestamp(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then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operation is executed, and R-timestamp(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set to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(R-timestamp(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TS(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Timestamp-Based Protocols (Cont.)</a:t>
            </a:r>
            <a:endParaRPr/>
          </a:p>
        </p:txBody>
      </p:sp>
      <p:sp>
        <p:nvSpPr>
          <p:cNvPr id="316" name="Google Shape;316;p39"/>
          <p:cNvSpPr txBox="1"/>
          <p:nvPr>
            <p:ph idx="4294967295" type="body"/>
          </p:nvPr>
        </p:nvSpPr>
        <p:spPr>
          <a:xfrm>
            <a:off x="814387" y="1093787"/>
            <a:ext cx="7661275" cy="3706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Suppose that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issues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TS(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&lt; R-timestamp(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then the value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producing was needed previously, and the system assumed that that value would never be produced. </a:t>
            </a:r>
            <a:endParaRPr/>
          </a:p>
          <a:p>
            <a:pPr indent="-342900" lvl="2" marL="12001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Hence,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operation is rejected,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rolled back.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TS(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&lt; W-timestamp(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then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attempting to write an obsolete value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/>
          </a:p>
          <a:p>
            <a:pPr indent="-342900" lvl="2" marL="12001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Hence, this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operation is rejected,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rolled back.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Otherwise,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write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operation is executed, and W-timestamp(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set to TS(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Use of the Protocol</a:t>
            </a:r>
            <a:endParaRPr/>
          </a:p>
        </p:txBody>
      </p:sp>
      <p:sp>
        <p:nvSpPr>
          <p:cNvPr id="322" name="Google Shape;322;p40"/>
          <p:cNvSpPr txBox="1"/>
          <p:nvPr>
            <p:ph idx="4294967295" type="body"/>
          </p:nvPr>
        </p:nvSpPr>
        <p:spPr>
          <a:xfrm>
            <a:off x="825500" y="1079500"/>
            <a:ext cx="81915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partial schedule for several data items for transactions with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timestamps 1, 2, 3, 4, 5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endParaRPr/>
          </a:p>
        </p:txBody>
      </p:sp>
      <p:cxnSp>
        <p:nvCxnSpPr>
          <p:cNvPr id="323" name="Google Shape;323;p40"/>
          <p:cNvCxnSpPr/>
          <p:nvPr/>
        </p:nvCxnSpPr>
        <p:spPr>
          <a:xfrm>
            <a:off x="1905000" y="2057400"/>
            <a:ext cx="0" cy="350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24" name="Google Shape;324;p40"/>
          <p:cNvCxnSpPr/>
          <p:nvPr/>
        </p:nvCxnSpPr>
        <p:spPr>
          <a:xfrm>
            <a:off x="3048000" y="2057400"/>
            <a:ext cx="0" cy="350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25" name="Google Shape;325;p40"/>
          <p:cNvCxnSpPr/>
          <p:nvPr/>
        </p:nvCxnSpPr>
        <p:spPr>
          <a:xfrm>
            <a:off x="4152900" y="2076450"/>
            <a:ext cx="0" cy="350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26" name="Google Shape;326;p40"/>
          <p:cNvCxnSpPr/>
          <p:nvPr/>
        </p:nvCxnSpPr>
        <p:spPr>
          <a:xfrm>
            <a:off x="5276850" y="2076450"/>
            <a:ext cx="0" cy="350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27" name="Google Shape;327;p40"/>
          <p:cNvCxnSpPr/>
          <p:nvPr/>
        </p:nvCxnSpPr>
        <p:spPr>
          <a:xfrm>
            <a:off x="6362700" y="2095500"/>
            <a:ext cx="0" cy="350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28" name="Google Shape;328;p40"/>
          <p:cNvCxnSpPr/>
          <p:nvPr/>
        </p:nvCxnSpPr>
        <p:spPr>
          <a:xfrm>
            <a:off x="7391400" y="2095500"/>
            <a:ext cx="0" cy="350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29" name="Google Shape;329;p40"/>
          <p:cNvCxnSpPr/>
          <p:nvPr/>
        </p:nvCxnSpPr>
        <p:spPr>
          <a:xfrm>
            <a:off x="1905000" y="2438400"/>
            <a:ext cx="5486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30" name="Google Shape;330;p40"/>
          <p:cNvSpPr txBox="1"/>
          <p:nvPr/>
        </p:nvSpPr>
        <p:spPr>
          <a:xfrm>
            <a:off x="2270125" y="1992312"/>
            <a:ext cx="431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331" name="Google Shape;331;p40"/>
          <p:cNvSpPr txBox="1"/>
          <p:nvPr/>
        </p:nvSpPr>
        <p:spPr>
          <a:xfrm>
            <a:off x="3355975" y="1997075"/>
            <a:ext cx="431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332" name="Google Shape;332;p40"/>
          <p:cNvSpPr txBox="1"/>
          <p:nvPr/>
        </p:nvSpPr>
        <p:spPr>
          <a:xfrm>
            <a:off x="4410075" y="2000250"/>
            <a:ext cx="431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333" name="Google Shape;333;p40"/>
          <p:cNvSpPr txBox="1"/>
          <p:nvPr/>
        </p:nvSpPr>
        <p:spPr>
          <a:xfrm>
            <a:off x="5629275" y="2000250"/>
            <a:ext cx="431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334" name="Google Shape;334;p40"/>
          <p:cNvSpPr txBox="1"/>
          <p:nvPr/>
        </p:nvSpPr>
        <p:spPr>
          <a:xfrm>
            <a:off x="6629400" y="2000250"/>
            <a:ext cx="431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335" name="Google Shape;335;p40"/>
          <p:cNvSpPr txBox="1"/>
          <p:nvPr/>
        </p:nvSpPr>
        <p:spPr>
          <a:xfrm>
            <a:off x="3146425" y="2544762"/>
            <a:ext cx="10302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sp>
        <p:nvSpPr>
          <p:cNvPr id="336" name="Google Shape;336;p40"/>
          <p:cNvSpPr txBox="1"/>
          <p:nvPr/>
        </p:nvSpPr>
        <p:spPr>
          <a:xfrm>
            <a:off x="6384925" y="2373312"/>
            <a:ext cx="11001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/>
          </a:p>
        </p:txBody>
      </p:sp>
      <p:sp>
        <p:nvSpPr>
          <p:cNvPr id="337" name="Google Shape;337;p40"/>
          <p:cNvSpPr txBox="1"/>
          <p:nvPr/>
        </p:nvSpPr>
        <p:spPr>
          <a:xfrm>
            <a:off x="1981200" y="2762250"/>
            <a:ext cx="10302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sp>
        <p:nvSpPr>
          <p:cNvPr id="338" name="Google Shape;338;p40"/>
          <p:cNvSpPr txBox="1"/>
          <p:nvPr/>
        </p:nvSpPr>
        <p:spPr>
          <a:xfrm>
            <a:off x="4175125" y="3006725"/>
            <a:ext cx="11287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/>
          </a:p>
        </p:txBody>
      </p:sp>
      <p:sp>
        <p:nvSpPr>
          <p:cNvPr id="339" name="Google Shape;339;p40"/>
          <p:cNvSpPr txBox="1"/>
          <p:nvPr/>
        </p:nvSpPr>
        <p:spPr>
          <a:xfrm>
            <a:off x="4175125" y="3273425"/>
            <a:ext cx="11144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/>
          </a:p>
        </p:txBody>
      </p:sp>
      <p:sp>
        <p:nvSpPr>
          <p:cNvPr id="340" name="Google Shape;340;p40"/>
          <p:cNvSpPr txBox="1"/>
          <p:nvPr/>
        </p:nvSpPr>
        <p:spPr>
          <a:xfrm>
            <a:off x="6362700" y="3521075"/>
            <a:ext cx="10858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/>
          </a:p>
        </p:txBody>
      </p:sp>
      <p:sp>
        <p:nvSpPr>
          <p:cNvPr id="341" name="Google Shape;341;p40"/>
          <p:cNvSpPr txBox="1"/>
          <p:nvPr/>
        </p:nvSpPr>
        <p:spPr>
          <a:xfrm>
            <a:off x="3048000" y="3752850"/>
            <a:ext cx="11001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/>
          </a:p>
        </p:txBody>
      </p:sp>
      <p:sp>
        <p:nvSpPr>
          <p:cNvPr id="342" name="Google Shape;342;p40"/>
          <p:cNvSpPr txBox="1"/>
          <p:nvPr/>
        </p:nvSpPr>
        <p:spPr>
          <a:xfrm>
            <a:off x="3068637" y="4035425"/>
            <a:ext cx="9017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abort  </a:t>
            </a:r>
            <a:endParaRPr/>
          </a:p>
        </p:txBody>
      </p:sp>
      <p:sp>
        <p:nvSpPr>
          <p:cNvPr id="343" name="Google Shape;343;p40"/>
          <p:cNvSpPr txBox="1"/>
          <p:nvPr/>
        </p:nvSpPr>
        <p:spPr>
          <a:xfrm>
            <a:off x="1905000" y="4187825"/>
            <a:ext cx="11001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/>
          </a:p>
        </p:txBody>
      </p:sp>
      <p:sp>
        <p:nvSpPr>
          <p:cNvPr id="344" name="Google Shape;344;p40"/>
          <p:cNvSpPr txBox="1"/>
          <p:nvPr/>
        </p:nvSpPr>
        <p:spPr>
          <a:xfrm>
            <a:off x="4179887" y="4400550"/>
            <a:ext cx="11144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/>
          </a:p>
        </p:txBody>
      </p:sp>
      <p:sp>
        <p:nvSpPr>
          <p:cNvPr id="345" name="Google Shape;345;p40"/>
          <p:cNvSpPr txBox="1"/>
          <p:nvPr/>
        </p:nvSpPr>
        <p:spPr>
          <a:xfrm>
            <a:off x="4292600" y="4645025"/>
            <a:ext cx="9017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abort  </a:t>
            </a:r>
            <a:endParaRPr/>
          </a:p>
        </p:txBody>
      </p:sp>
      <p:sp>
        <p:nvSpPr>
          <p:cNvPr id="346" name="Google Shape;346;p40"/>
          <p:cNvSpPr txBox="1"/>
          <p:nvPr/>
        </p:nvSpPr>
        <p:spPr>
          <a:xfrm>
            <a:off x="6381750" y="4838700"/>
            <a:ext cx="11287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/>
          </a:p>
        </p:txBody>
      </p:sp>
      <p:sp>
        <p:nvSpPr>
          <p:cNvPr id="347" name="Google Shape;347;p40"/>
          <p:cNvSpPr txBox="1"/>
          <p:nvPr/>
        </p:nvSpPr>
        <p:spPr>
          <a:xfrm>
            <a:off x="6381750" y="5162550"/>
            <a:ext cx="11842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"/>
          <p:cNvSpPr txBox="1"/>
          <p:nvPr>
            <p:ph type="title"/>
          </p:nvPr>
        </p:nvSpPr>
        <p:spPr>
          <a:xfrm>
            <a:off x="533400" y="0"/>
            <a:ext cx="861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Correctness of Timestamp-Ordering Protocol</a:t>
            </a:r>
            <a:endParaRPr/>
          </a:p>
        </p:txBody>
      </p:sp>
      <p:sp>
        <p:nvSpPr>
          <p:cNvPr id="353" name="Google Shape;353;p41"/>
          <p:cNvSpPr txBox="1"/>
          <p:nvPr>
            <p:ph idx="4294967295" type="body"/>
          </p:nvPr>
        </p:nvSpPr>
        <p:spPr>
          <a:xfrm>
            <a:off x="825500" y="1079500"/>
            <a:ext cx="7886700" cy="5286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timestamp-ordering protocol guarantees serializability since all the arcs in the precedence graph are of the form: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Thus, there will be no cycles in the precedence graph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Timestamp protocol ensures freedom from deadlock as no transaction ever waits. 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the schedule may not be cascade-free, and may  not even be recoverable.</a:t>
            </a:r>
            <a:endParaRPr/>
          </a:p>
        </p:txBody>
      </p:sp>
      <p:sp>
        <p:nvSpPr>
          <p:cNvPr id="354" name="Google Shape;354;p41"/>
          <p:cNvSpPr/>
          <p:nvPr/>
        </p:nvSpPr>
        <p:spPr>
          <a:xfrm>
            <a:off x="1333500" y="1752600"/>
            <a:ext cx="1752600" cy="182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41"/>
          <p:cNvSpPr/>
          <p:nvPr/>
        </p:nvSpPr>
        <p:spPr>
          <a:xfrm>
            <a:off x="5981700" y="1752600"/>
            <a:ext cx="1752600" cy="182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41"/>
          <p:cNvSpPr txBox="1"/>
          <p:nvPr/>
        </p:nvSpPr>
        <p:spPr>
          <a:xfrm>
            <a:off x="1612900" y="2130425"/>
            <a:ext cx="13906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smaller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timestamp</a:t>
            </a:r>
            <a:endParaRPr/>
          </a:p>
        </p:txBody>
      </p:sp>
      <p:sp>
        <p:nvSpPr>
          <p:cNvPr id="357" name="Google Shape;357;p41"/>
          <p:cNvSpPr txBox="1"/>
          <p:nvPr/>
        </p:nvSpPr>
        <p:spPr>
          <a:xfrm>
            <a:off x="6262687" y="2132012"/>
            <a:ext cx="13017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larger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timestamp </a:t>
            </a:r>
            <a:endParaRPr/>
          </a:p>
        </p:txBody>
      </p:sp>
      <p:cxnSp>
        <p:nvCxnSpPr>
          <p:cNvPr id="358" name="Google Shape;358;p41"/>
          <p:cNvCxnSpPr/>
          <p:nvPr/>
        </p:nvCxnSpPr>
        <p:spPr>
          <a:xfrm>
            <a:off x="3086100" y="2667000"/>
            <a:ext cx="289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Recoverability and Cascade Freedom</a:t>
            </a:r>
            <a:endParaRPr/>
          </a:p>
        </p:txBody>
      </p:sp>
      <p:sp>
        <p:nvSpPr>
          <p:cNvPr id="364" name="Google Shape;364;p42"/>
          <p:cNvSpPr txBox="1"/>
          <p:nvPr>
            <p:ph idx="4294967295" type="body"/>
          </p:nvPr>
        </p:nvSpPr>
        <p:spPr>
          <a:xfrm>
            <a:off x="814387" y="1093787"/>
            <a:ext cx="7813675" cy="52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with timestamp-ordering protocol: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Suppose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aborts, but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has read a data item written by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must abort; if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had been allowed to commit earlier, the schedule is not recoverable.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Further, any transaction that has read a data item written by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must abort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can lead to cascading rollback --- that is, a chain of rollbacks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Solution 1: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transaction is structured such that its writes are all performed at the end of its processing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writes of a transaction form an atomic action; no transaction may execute while a transaction is being written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transaction that aborts is restarted with a new timestamp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 2: Limited form of locking: wait for data to be committed before reading it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 3: Use commit dependencies to ensure recoverability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Thomas’ Write Rule</a:t>
            </a:r>
            <a:endParaRPr/>
          </a:p>
        </p:txBody>
      </p:sp>
      <p:sp>
        <p:nvSpPr>
          <p:cNvPr id="370" name="Google Shape;370;p43"/>
          <p:cNvSpPr txBox="1"/>
          <p:nvPr>
            <p:ph idx="4294967295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Modified version of the timestamp-ordering protocol in which obsolete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write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operations may be ignored under certain circumstances.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attempts to write data item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if TS(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W-timestamp(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then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attempting to write an obsolete value of {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}. </a:t>
            </a:r>
            <a:endParaRPr/>
          </a:p>
          <a:p>
            <a:pPr indent="-285750" lvl="1" marL="742950" marR="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Rather than rolling back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 the timestamp ordering protocol would have done, this {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 operation can be ignored.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Otherwise this protocol is the same as the timestamp ordering protocol.</a:t>
            </a:r>
            <a:endParaRPr/>
          </a:p>
          <a:p>
            <a:pPr indent="-342900" lvl="0" marL="342900" marR="0" rtl="0" algn="l">
              <a:lnSpc>
                <a:spcPct val="12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Thomas' Write Rule allows greater potential concurrency. </a:t>
            </a:r>
            <a:endParaRPr/>
          </a:p>
          <a:p>
            <a:pPr indent="-285750" lvl="1" marL="742950" marR="0" rtl="0" algn="l">
              <a:lnSpc>
                <a:spcPct val="12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Allows some view-serializable schedules that are not conflict-serializable.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Validation-Based Protocol</a:t>
            </a:r>
            <a:endParaRPr/>
          </a:p>
        </p:txBody>
      </p:sp>
      <p:sp>
        <p:nvSpPr>
          <p:cNvPr id="376" name="Google Shape;376;p44"/>
          <p:cNvSpPr txBox="1"/>
          <p:nvPr>
            <p:ph idx="4294967295" type="body"/>
          </p:nvPr>
        </p:nvSpPr>
        <p:spPr>
          <a:xfrm>
            <a:off x="825500" y="1079500"/>
            <a:ext cx="7988300" cy="5210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of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done in three phases.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1.  Read and execution phase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writes only to         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temporary local variables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2.  Validation phase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performs a ``validation test'' </a:t>
            </a:r>
            <a:endParaRPr/>
          </a:p>
          <a:p>
            <a:pPr indent="-342900" lvl="0" marL="342900" marR="0" rtl="0" algn="l">
              <a:lnSpc>
                <a:spcPct val="6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to determine if local variables can be written without violating         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serializability.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3.  Write phase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If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validated, the updates are applied to the </a:t>
            </a:r>
            <a:endParaRPr/>
          </a:p>
          <a:p>
            <a:pPr indent="-342900" lvl="0" marL="342900" marR="0" rtl="0" algn="l">
              <a:lnSpc>
                <a:spcPct val="5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database; otherwise, 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rolled back.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three phases of concurrently executing transactions can be    interleaved, but each transaction must go through the three phases in that order.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Assume for simplicity that the validation and write phase occur together, atomically and serially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I.e., only one transaction executes validation/write at a time.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Also called as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optimistic concurrency control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since transaction executes fully in the hope that all will go well during validation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Validation-Based Protocol (Cont.)</a:t>
            </a:r>
            <a:endParaRPr/>
          </a:p>
        </p:txBody>
      </p:sp>
      <p:sp>
        <p:nvSpPr>
          <p:cNvPr id="382" name="Google Shape;382;p45"/>
          <p:cNvSpPr txBox="1"/>
          <p:nvPr>
            <p:ph idx="4294967295" type="body"/>
          </p:nvPr>
        </p:nvSpPr>
        <p:spPr>
          <a:xfrm>
            <a:off x="814387" y="1093787"/>
            <a:ext cx="7661275" cy="40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transaction 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has 3 timestamps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: the time when 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started its execution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Validation(T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 the time when 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entered its validation phase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Finish(T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: the time when 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finished its write phase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Serializability order is determined by timestamp given at validation time,  to increase concurrency.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Thus TS(T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given the value of Validation(T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protocol is useful and gives greater degree of concurrency if probability of conflicts is low.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because the serializability order is not pre-decided, and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relatively few transactions will have to be rolled back.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Validation Test for Transaction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1" baseline="-25000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endParaRPr/>
          </a:p>
        </p:txBody>
      </p:sp>
      <p:sp>
        <p:nvSpPr>
          <p:cNvPr id="388" name="Google Shape;388;p46"/>
          <p:cNvSpPr txBox="1"/>
          <p:nvPr>
            <p:ph idx="4294967295" type="body"/>
          </p:nvPr>
        </p:nvSpPr>
        <p:spPr>
          <a:xfrm>
            <a:off x="814387" y="1093787"/>
            <a:ext cx="7661275" cy="4856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for all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TS 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&lt; TS 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either one of the following condition holds: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finish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&lt;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&lt;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finish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&lt;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set of data items written by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does not intersect with the set of data items read by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then validation succeeds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be committed.  Otherwise, validation fails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aborted.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Justification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Either the first condition is satisfied, and there is no overlapped execution, or the second condition is satisfied and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writes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 not affect reads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since they occur after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has finished its reads.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writes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 not affect reads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since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does not read  any item written by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 Produced by Validation</a:t>
            </a:r>
            <a:endParaRPr/>
          </a:p>
        </p:txBody>
      </p:sp>
      <p:sp>
        <p:nvSpPr>
          <p:cNvPr id="400" name="Google Shape;400;p48"/>
          <p:cNvSpPr txBox="1"/>
          <p:nvPr>
            <p:ph idx="4294967295" type="body"/>
          </p:nvPr>
        </p:nvSpPr>
        <p:spPr>
          <a:xfrm>
            <a:off x="825500" y="1079500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schedule produced using validation</a:t>
            </a:r>
            <a:endParaRPr/>
          </a:p>
        </p:txBody>
      </p:sp>
      <p:cxnSp>
        <p:nvCxnSpPr>
          <p:cNvPr id="401" name="Google Shape;401;p48"/>
          <p:cNvCxnSpPr/>
          <p:nvPr/>
        </p:nvCxnSpPr>
        <p:spPr>
          <a:xfrm>
            <a:off x="1828800" y="2362200"/>
            <a:ext cx="472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2" name="Google Shape;402;p48"/>
          <p:cNvCxnSpPr/>
          <p:nvPr/>
        </p:nvCxnSpPr>
        <p:spPr>
          <a:xfrm>
            <a:off x="4267200" y="1981200"/>
            <a:ext cx="0" cy="358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03" name="Google Shape;403;p48"/>
          <p:cNvSpPr txBox="1"/>
          <p:nvPr/>
        </p:nvSpPr>
        <p:spPr>
          <a:xfrm>
            <a:off x="2619375" y="1916112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</a:t>
            </a:r>
            <a:endParaRPr/>
          </a:p>
        </p:txBody>
      </p:sp>
      <p:sp>
        <p:nvSpPr>
          <p:cNvPr id="404" name="Google Shape;404;p48"/>
          <p:cNvSpPr txBox="1"/>
          <p:nvPr/>
        </p:nvSpPr>
        <p:spPr>
          <a:xfrm>
            <a:off x="5133975" y="1920875"/>
            <a:ext cx="523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</a:t>
            </a:r>
            <a:endParaRPr/>
          </a:p>
        </p:txBody>
      </p:sp>
      <p:sp>
        <p:nvSpPr>
          <p:cNvPr id="405" name="Google Shape;405;p48"/>
          <p:cNvSpPr txBox="1"/>
          <p:nvPr/>
        </p:nvSpPr>
        <p:spPr>
          <a:xfrm>
            <a:off x="2422525" y="2373312"/>
            <a:ext cx="10588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sp>
        <p:nvSpPr>
          <p:cNvPr id="406" name="Google Shape;406;p48"/>
          <p:cNvSpPr txBox="1"/>
          <p:nvPr/>
        </p:nvSpPr>
        <p:spPr>
          <a:xfrm>
            <a:off x="4837088" y="2587625"/>
            <a:ext cx="25062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B-50</a:t>
            </a:r>
            <a:endParaRPr b="0" i="0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=A +50</a:t>
            </a:r>
            <a:endParaRPr/>
          </a:p>
        </p:txBody>
      </p:sp>
      <p:sp>
        <p:nvSpPr>
          <p:cNvPr id="407" name="Google Shape;407;p48"/>
          <p:cNvSpPr txBox="1"/>
          <p:nvPr/>
        </p:nvSpPr>
        <p:spPr>
          <a:xfrm>
            <a:off x="2209800" y="3714750"/>
            <a:ext cx="1784350" cy="100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validate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display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sp>
        <p:nvSpPr>
          <p:cNvPr id="408" name="Google Shape;408;p48"/>
          <p:cNvSpPr txBox="1"/>
          <p:nvPr/>
        </p:nvSpPr>
        <p:spPr>
          <a:xfrm>
            <a:off x="4603750" y="4572000"/>
            <a:ext cx="1228725" cy="100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validate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Multiversion Schemes</a:t>
            </a:r>
            <a:endParaRPr/>
          </a:p>
        </p:txBody>
      </p:sp>
      <p:sp>
        <p:nvSpPr>
          <p:cNvPr id="414" name="Google Shape;414;p49"/>
          <p:cNvSpPr txBox="1"/>
          <p:nvPr>
            <p:ph idx="4294967295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Multiversion schemes keep old versions of data item to increase concurrency.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Multiversion Timestamp Ordering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Multiversion Two-Phase Locking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successful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results in the creation of a new version of the data item written.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timestamps to label versions.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operation is issued, select an appropriate version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based on the timestamp of the transaction, and return the value of the selected version.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never have to wait as an appropriate version is returned immediately.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Multiversion Timestamp Ordering</a:t>
            </a:r>
            <a:endParaRPr/>
          </a:p>
        </p:txBody>
      </p:sp>
      <p:sp>
        <p:nvSpPr>
          <p:cNvPr id="420" name="Google Shape;420;p50"/>
          <p:cNvSpPr txBox="1"/>
          <p:nvPr>
            <p:ph idx="4294967295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data item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has a sequence of versions &lt;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Q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,...., Q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&gt;. Each version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contains three data fields: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-- the value of version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W-timestamp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-- timestamp of the transaction that created (wrote) version Q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R-timestamp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-- largest timestamp of a transaction that successfully read version Q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a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creates a new version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Q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's W-timestamp and R-timestamp are initialized to TS(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R-timestamp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updated whenever a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reads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and TS(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&gt; R-timestamp(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Multiversion Timestamp Ordering (Cont)</a:t>
            </a:r>
            <a:endParaRPr/>
          </a:p>
        </p:txBody>
      </p:sp>
      <p:sp>
        <p:nvSpPr>
          <p:cNvPr id="426" name="Google Shape;426;p51"/>
          <p:cNvSpPr txBox="1"/>
          <p:nvPr>
            <p:ph idx="4294967295" type="body"/>
          </p:nvPr>
        </p:nvSpPr>
        <p:spPr>
          <a:xfrm>
            <a:off x="825500" y="1079500"/>
            <a:ext cx="7886700" cy="5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Suppose that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issues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or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operation.  Let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denote the version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whose write timestamp is the largest write timestamp less than or equal to TS(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issues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then the value returned is the       content of version Q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issues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write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2" marL="12001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TS(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R-timestamp(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then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rolled back. </a:t>
            </a:r>
            <a:endParaRPr/>
          </a:p>
          <a:p>
            <a:pPr indent="-342900" lvl="2" marL="12001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TS(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W-timestamp(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the contents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are overwritten</a:t>
            </a:r>
            <a:endParaRPr/>
          </a:p>
          <a:p>
            <a:pPr indent="-342900" lvl="2" marL="12001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else a new version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created.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Observe that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always succeed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write by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rejected if some other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(in the serialization order defined by the timestamp values) should read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's write, has already read a version created by a transaction older than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Protocol guarantees serializability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Multiversion Two-Phase Locking</a:t>
            </a:r>
            <a:endParaRPr/>
          </a:p>
        </p:txBody>
      </p:sp>
      <p:sp>
        <p:nvSpPr>
          <p:cNvPr id="432" name="Google Shape;432;p52"/>
          <p:cNvSpPr txBox="1"/>
          <p:nvPr>
            <p:ph idx="4294967295" type="body"/>
          </p:nvPr>
        </p:nvSpPr>
        <p:spPr>
          <a:xfrm>
            <a:off x="825500" y="1079500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Differentiates between read-only transactions and update transactions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 transactions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acquire read and write locks, and hold all locks up to the end of the transaction. That is, update transactions follow rigorous two-phase locking.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successful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results in the creation of a new version of the data item written.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version of a data item has a single timestamp whose value is obtained from a counter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ts-counter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is incremented during commit processing.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Read-only transactions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are assigned a timestamp by reading the current value of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ts-counter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before they start execution; they follow the multiversion timestamp-ordering protocol for performing reads.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Multiversion Two-Phase Locking (Cont.)</a:t>
            </a:r>
            <a:endParaRPr/>
          </a:p>
        </p:txBody>
      </p:sp>
      <p:sp>
        <p:nvSpPr>
          <p:cNvPr id="438" name="Google Shape;438;p53"/>
          <p:cNvSpPr txBox="1"/>
          <p:nvPr>
            <p:ph idx="4294967295" type="body"/>
          </p:nvPr>
        </p:nvSpPr>
        <p:spPr>
          <a:xfrm>
            <a:off x="825500" y="1079500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an update transaction wants to read a data item: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obtains a shared lock on it, and reads the latest version.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it wants to write an item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obtains X lock on; it then creates a new version of the item and sets this version's timestamp to ∞.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update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completes, commit processing occurs: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sets timestamp on the versions it has created to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ts-counter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increments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ts-counter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by 1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Read-only transactions that start after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increments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ts-counter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will see the values updated by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Read-only transactions that start before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increments the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ts-counter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will see the value before the updates by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Only serializable schedules are produced.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MVCC: Implementation Issues</a:t>
            </a:r>
            <a:endParaRPr/>
          </a:p>
        </p:txBody>
      </p:sp>
      <p:sp>
        <p:nvSpPr>
          <p:cNvPr id="444" name="Google Shape;444;p54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Creation of multiple versions increases storage overhead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Extra tuples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Extra space in each tuple for storing version information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Versions can, however, be garbage collected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if Q has two versions Q5 and Q9, and the oldest active transaction has timestamp &gt; 9, than Q5 will never be required again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and Delete Operations</a:t>
            </a:r>
            <a:endParaRPr/>
          </a:p>
        </p:txBody>
      </p:sp>
      <p:sp>
        <p:nvSpPr>
          <p:cNvPr id="450" name="Google Shape;450;p55"/>
          <p:cNvSpPr txBox="1"/>
          <p:nvPr>
            <p:ph idx="4294967295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two-phase locking is used 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operation may be performed only if the transaction deleting the tuple has an exclusive lock on the tuple to be deleted.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transaction that inserts a new tuple into the database is given an X-mode lock on the tuple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Insertions and deletions can lead to 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phantom phenomenon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transaction that scans a relation 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(e.g., find sum of balances of all accounts in Perryridge) 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a transaction that inserts a tuple in the relation 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(e.g., insert a new account at Perryridge)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(conceptually) conflict in spite of not accessing any tuple in common.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only tuple locks are used, non-serializable schedules can result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the scan transaction does not see the new account, but reads some other tuple written by the update transaction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 and Delete Operations (Cont.)</a:t>
            </a:r>
            <a:endParaRPr/>
          </a:p>
        </p:txBody>
      </p:sp>
      <p:sp>
        <p:nvSpPr>
          <p:cNvPr id="456" name="Google Shape;456;p56"/>
          <p:cNvSpPr txBox="1"/>
          <p:nvPr>
            <p:ph idx="4294967295" type="body"/>
          </p:nvPr>
        </p:nvSpPr>
        <p:spPr>
          <a:xfrm>
            <a:off x="825500" y="1079500"/>
            <a:ext cx="8229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transaction scanning the relation is reading  information that indicates what tuples the relation contains, while a transaction inserting a tuple updates the same information.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information should be locked.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solution: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Associate a data item with the relation, to represent the information about what tuples the relation contains.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Transactions scanning the relation acquire a shared lock in the data item,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Transactions inserting or deleting a tuple acquire an exclusive lock on the data item. (Note: locks on the data item do not conflict with locks on individual tuples.)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Above protocol provides very low concurrency for insertions/deletions.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Index locking protocols provide higher concurrency while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preventing the phantom phenomenon, by requiring locks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certain index buckets. 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Index Locking Protocol</a:t>
            </a:r>
            <a:endParaRPr/>
          </a:p>
        </p:txBody>
      </p:sp>
      <p:sp>
        <p:nvSpPr>
          <p:cNvPr id="462" name="Google Shape;462;p57"/>
          <p:cNvSpPr txBox="1"/>
          <p:nvPr>
            <p:ph idx="4294967295" type="body"/>
          </p:nvPr>
        </p:nvSpPr>
        <p:spPr>
          <a:xfrm>
            <a:off x="814387" y="1093787"/>
            <a:ext cx="8093075" cy="529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Index locking protocol: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relation must have at least one index.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transaction can access tuples only after finding them through one or more indices on the relation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performs a lookup must lock all the index leaf nodes that it accesses, in S-mode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Even if the leaf node does not contain any tuple satisfying the index lookup (e.g. for a range query, no tuple in a leaf is in the range)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transaction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inserts, updates or deletes a tuple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a relation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must update all indices to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must obtain exclusive locks on all index leaf nodes affected by the insert/update/delete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rules of the two-phase locking protocol must be observed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Guarantees that phantom phenomenon won’t occur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Weak Levels of Consistency</a:t>
            </a:r>
            <a:endParaRPr/>
          </a:p>
        </p:txBody>
      </p:sp>
      <p:sp>
        <p:nvSpPr>
          <p:cNvPr id="468" name="Google Shape;468;p58"/>
          <p:cNvSpPr txBox="1"/>
          <p:nvPr>
            <p:ph idx="1" type="body"/>
          </p:nvPr>
        </p:nvSpPr>
        <p:spPr>
          <a:xfrm>
            <a:off x="825500" y="1079500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Degree-two consistency: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differs from two-phase locking in that S-locks may be released at any time, and locks may be acquired at any time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X-locks must be held till end of transaction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Serializability is not guaranteed, programmer must ensure that no erroneous database state will occur]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Cursor stability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reads, each tuple is locked, read, and lock is immediately released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X-locks are held till end of transaction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Special case of degree-two consistency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Weak Levels of Consistency in SQL</a:t>
            </a:r>
            <a:endParaRPr/>
          </a:p>
        </p:txBody>
      </p:sp>
      <p:sp>
        <p:nvSpPr>
          <p:cNvPr id="474" name="Google Shape;474;p59"/>
          <p:cNvSpPr txBox="1"/>
          <p:nvPr>
            <p:ph idx="1" type="body"/>
          </p:nvPr>
        </p:nvSpPr>
        <p:spPr>
          <a:xfrm>
            <a:off x="825500" y="1079500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allows non-serializable executions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Serializable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default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Repeatable read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allows only committed records to be read, and repeating a read should return the same value (so read locks should be retained)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However, the phantom phenomenon need not be prevented</a:t>
            </a:r>
            <a:endParaRPr/>
          </a:p>
          <a:p>
            <a:pPr indent="-228600" lvl="3" marL="14287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T1 may see some records inserted by T2, but may not see others inserted by T2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 committed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same as degree two consistency, but most systems implement it as cursor-stability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 uncommitted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allows even uncommitted data to be read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many database systems, read committed is the default consistency level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 to be explicitly changed to serializable when required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isolation level serializable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Concurrency in Index Structures</a:t>
            </a:r>
            <a:endParaRPr/>
          </a:p>
        </p:txBody>
      </p:sp>
      <p:sp>
        <p:nvSpPr>
          <p:cNvPr id="480" name="Google Shape;480;p60"/>
          <p:cNvSpPr txBox="1"/>
          <p:nvPr>
            <p:ph idx="4294967295" type="body"/>
          </p:nvPr>
        </p:nvSpPr>
        <p:spPr>
          <a:xfrm>
            <a:off x="825500" y="1079500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Indices are unlike other database items in that their only job is to help in accessing data.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Index-structures are typically accessed very often, much more than other database items.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Treating index-structures like other database items, e.g. by 2-phase locking of index nodes can lead to low concurrency. 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 are several index concurrency protocols where locks on internal nodes are released early, and not in a two-phase fashion.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is acceptable to have nonserializable concurrent access to an index as long as the accuracy of the index is maintained.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particular, the exact values read in an internal node of a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-tree are irrelevant so long as we land up in the correct leaf node.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Concurrency in Index Structures (Cont.)</a:t>
            </a:r>
            <a:endParaRPr/>
          </a:p>
        </p:txBody>
      </p:sp>
      <p:sp>
        <p:nvSpPr>
          <p:cNvPr id="486" name="Google Shape;486;p61"/>
          <p:cNvSpPr txBox="1"/>
          <p:nvPr>
            <p:ph idx="4294967295" type="body"/>
          </p:nvPr>
        </p:nvSpPr>
        <p:spPr>
          <a:xfrm>
            <a:off x="825500" y="1079500"/>
            <a:ext cx="7848600" cy="52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index concurrency protocol: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</a:t>
            </a:r>
            <a:r>
              <a:rPr b="1" i="0" lang="en-US" sz="16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crabbing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instead of two-phase locking on the nodes of the B</a:t>
            </a:r>
            <a:r>
              <a:rPr b="0" baseline="3000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-tree, as follows.  During search/insertion/deletion: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 lock the root node in shared mode.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 locking all required children of a node in shared mode, release the lock on the node.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During insertion/deletion, upgrade leaf node locks to exclusive mode.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splitting or coalescing requires changes to a parent, lock the parent in exclusive mode.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Above protocol can cause excessive deadlocks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Searches coming down the tree deadlock with updates going up the tree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abort and restart search, without affecting transaction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Better protocols are available; see Section 16.9 for one such protocol, the B-link tree protocol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Intuition: release lock on parent before acquiring lock on child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Char char="4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deal with changes that may have happened between lock release and acquire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Next-Key Locking</a:t>
            </a:r>
            <a:endParaRPr/>
          </a:p>
        </p:txBody>
      </p:sp>
      <p:sp>
        <p:nvSpPr>
          <p:cNvPr id="492" name="Google Shape;492;p62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Index-locking protocol to prevent phantoms required locking entire leaf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result in poor concurrency if there are many inserts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Alternative: for an index lookup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 all values that satisfy index lookup (match lookup value, or fall in lookup range)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Also lock next key value in index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 mode: S for lookups, X for insert/delete/update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Ensures that range queries will conflict with inserts/deletes/updates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Regardless of which happens first, as long as both are concurrent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3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Extra Slides</a:t>
            </a:r>
            <a:endParaRPr/>
          </a:p>
        </p:txBody>
      </p:sp>
      <p:sp>
        <p:nvSpPr>
          <p:cNvPr id="498" name="Google Shape;498;p6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003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Snapshot Isolation	</a:t>
            </a:r>
            <a:endParaRPr/>
          </a:p>
        </p:txBody>
      </p:sp>
      <p:sp>
        <p:nvSpPr>
          <p:cNvPr id="504" name="Google Shape;504;p64"/>
          <p:cNvSpPr txBox="1"/>
          <p:nvPr>
            <p:ph idx="1" type="body"/>
          </p:nvPr>
        </p:nvSpPr>
        <p:spPr>
          <a:xfrm>
            <a:off x="712787" y="1093787"/>
            <a:ext cx="7762875" cy="5081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Motivation: Decision support queries that read large amounts of data have concurrency conflicts with OLTP transactions that update a few rows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Poor performance results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 1:  Give logical “snapshot” of database state to read only transactions, read-write transactions use normal locking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Multiversion 2-phase locking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 well, but how does system know a transaction is read only?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 2: Give snapshot of database state to every transaction, updates alone use 2-phase locking to guard against concurrent updates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Problem: variety of anomalies such as lost update can result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Partial solution: snapshot isolation level (next slide)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Proposed by Berenson et al, SIGMOD 1995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Variants implemented in many database systems </a:t>
            </a:r>
            <a:endParaRPr/>
          </a:p>
          <a:p>
            <a:pPr indent="-228600" lvl="3" marL="14287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Oracle, PostgreSQL, SQL Server 2005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5"/>
          <p:cNvSpPr txBox="1"/>
          <p:nvPr>
            <p:ph idx="4294967295"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Snapshot Isolation</a:t>
            </a:r>
            <a:endParaRPr/>
          </a:p>
        </p:txBody>
      </p:sp>
      <p:sp>
        <p:nvSpPr>
          <p:cNvPr id="510" name="Google Shape;510;p65"/>
          <p:cNvSpPr txBox="1"/>
          <p:nvPr>
            <p:ph idx="4294967295" type="body"/>
          </p:nvPr>
        </p:nvSpPr>
        <p:spPr>
          <a:xfrm>
            <a:off x="534987" y="1093787"/>
            <a:ext cx="4541837" cy="529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transaction T1 executing with Snapshot Isolation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takes snapshot of committed data at start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always reads/modifies data in its own snapshot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updates of concurrent transactions are not visible to T1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writes of T1 complete when it commits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First-committer-wins rule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Char char="4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Commits only if no other concurrent transaction has already written data that T1 intends to write.</a:t>
            </a:r>
            <a:endParaRPr/>
          </a:p>
        </p:txBody>
      </p:sp>
      <p:grpSp>
        <p:nvGrpSpPr>
          <p:cNvPr id="511" name="Google Shape;511;p65"/>
          <p:cNvGrpSpPr/>
          <p:nvPr/>
        </p:nvGrpSpPr>
        <p:grpSpPr>
          <a:xfrm>
            <a:off x="5537200" y="1144587"/>
            <a:ext cx="3289300" cy="4841875"/>
            <a:chOff x="3488" y="721"/>
            <a:chExt cx="2072" cy="3050"/>
          </a:xfrm>
        </p:grpSpPr>
        <p:sp>
          <p:nvSpPr>
            <p:cNvPr id="512" name="Google Shape;512;p65"/>
            <p:cNvSpPr txBox="1"/>
            <p:nvPr/>
          </p:nvSpPr>
          <p:spPr>
            <a:xfrm>
              <a:off x="4967" y="2728"/>
              <a:ext cx="593" cy="1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3" name="Google Shape;513;p65"/>
            <p:cNvSpPr txBox="1"/>
            <p:nvPr/>
          </p:nvSpPr>
          <p:spPr>
            <a:xfrm>
              <a:off x="4178" y="2728"/>
              <a:ext cx="789" cy="1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lvetica Neu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R(Z) 🡪 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lvetica Neu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R(Y) 🡪 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lvetica Neu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W(X:=3)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lvetica Neu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Commit-Req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lvetica Neu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Abort</a:t>
              </a:r>
              <a:endParaRPr/>
            </a:p>
          </p:txBody>
        </p:sp>
        <p:sp>
          <p:nvSpPr>
            <p:cNvPr id="514" name="Google Shape;514;p65"/>
            <p:cNvSpPr txBox="1"/>
            <p:nvPr/>
          </p:nvSpPr>
          <p:spPr>
            <a:xfrm>
              <a:off x="3488" y="2728"/>
              <a:ext cx="690" cy="1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5" name="Google Shape;515;p65"/>
            <p:cNvSpPr txBox="1"/>
            <p:nvPr/>
          </p:nvSpPr>
          <p:spPr>
            <a:xfrm>
              <a:off x="4967" y="2101"/>
              <a:ext cx="593" cy="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lvetica Neu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W(X:=2)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lvetica Neu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W(Z:=3)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lvetica Neu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Commit</a:t>
              </a:r>
              <a:endParaRPr/>
            </a:p>
          </p:txBody>
        </p:sp>
        <p:sp>
          <p:nvSpPr>
            <p:cNvPr id="516" name="Google Shape;516;p65"/>
            <p:cNvSpPr txBox="1"/>
            <p:nvPr/>
          </p:nvSpPr>
          <p:spPr>
            <a:xfrm>
              <a:off x="4178" y="2101"/>
              <a:ext cx="789" cy="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7" name="Google Shape;517;p65"/>
            <p:cNvSpPr txBox="1"/>
            <p:nvPr/>
          </p:nvSpPr>
          <p:spPr>
            <a:xfrm>
              <a:off x="3488" y="2101"/>
              <a:ext cx="690" cy="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8" name="Google Shape;518;p65"/>
            <p:cNvSpPr txBox="1"/>
            <p:nvPr/>
          </p:nvSpPr>
          <p:spPr>
            <a:xfrm>
              <a:off x="4967" y="1408"/>
              <a:ext cx="593" cy="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9" name="Google Shape;519;p65"/>
            <p:cNvSpPr txBox="1"/>
            <p:nvPr/>
          </p:nvSpPr>
          <p:spPr>
            <a:xfrm>
              <a:off x="4178" y="1408"/>
              <a:ext cx="789" cy="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lvetica Neu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Start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lvetica Neu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R(X) 🡪 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lvetica Neu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R(Y)🡪 1</a:t>
              </a:r>
              <a:endParaRPr/>
            </a:p>
          </p:txBody>
        </p:sp>
        <p:sp>
          <p:nvSpPr>
            <p:cNvPr id="520" name="Google Shape;520;p65"/>
            <p:cNvSpPr txBox="1"/>
            <p:nvPr/>
          </p:nvSpPr>
          <p:spPr>
            <a:xfrm>
              <a:off x="3488" y="1408"/>
              <a:ext cx="690" cy="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1" name="Google Shape;521;p65"/>
            <p:cNvSpPr txBox="1"/>
            <p:nvPr/>
          </p:nvSpPr>
          <p:spPr>
            <a:xfrm>
              <a:off x="4967" y="968"/>
              <a:ext cx="593" cy="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2" name="Google Shape;522;p65"/>
            <p:cNvSpPr txBox="1"/>
            <p:nvPr/>
          </p:nvSpPr>
          <p:spPr>
            <a:xfrm>
              <a:off x="4178" y="968"/>
              <a:ext cx="789" cy="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3" name="Google Shape;523;p65"/>
            <p:cNvSpPr txBox="1"/>
            <p:nvPr/>
          </p:nvSpPr>
          <p:spPr>
            <a:xfrm>
              <a:off x="3488" y="968"/>
              <a:ext cx="690" cy="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lvetica Neu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W(Y := 1)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lvetica Neu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Commit</a:t>
              </a:r>
              <a:endParaRPr/>
            </a:p>
          </p:txBody>
        </p:sp>
        <p:sp>
          <p:nvSpPr>
            <p:cNvPr id="524" name="Google Shape;524;p65"/>
            <p:cNvSpPr txBox="1"/>
            <p:nvPr/>
          </p:nvSpPr>
          <p:spPr>
            <a:xfrm>
              <a:off x="4967" y="721"/>
              <a:ext cx="593" cy="2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lvetica Neue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T3</a:t>
              </a:r>
              <a:endParaRPr/>
            </a:p>
          </p:txBody>
        </p:sp>
        <p:sp>
          <p:nvSpPr>
            <p:cNvPr id="525" name="Google Shape;525;p65"/>
            <p:cNvSpPr txBox="1"/>
            <p:nvPr/>
          </p:nvSpPr>
          <p:spPr>
            <a:xfrm>
              <a:off x="4178" y="721"/>
              <a:ext cx="789" cy="2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lvetica Neue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T2</a:t>
              </a:r>
              <a:endParaRPr/>
            </a:p>
          </p:txBody>
        </p:sp>
        <p:sp>
          <p:nvSpPr>
            <p:cNvPr id="526" name="Google Shape;526;p65"/>
            <p:cNvSpPr txBox="1"/>
            <p:nvPr/>
          </p:nvSpPr>
          <p:spPr>
            <a:xfrm>
              <a:off x="3488" y="721"/>
              <a:ext cx="690" cy="2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lvetica Neue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T1</a:t>
              </a:r>
              <a:endParaRPr/>
            </a:p>
          </p:txBody>
        </p:sp>
        <p:cxnSp>
          <p:nvCxnSpPr>
            <p:cNvPr id="527" name="Google Shape;527;p65"/>
            <p:cNvCxnSpPr/>
            <p:nvPr/>
          </p:nvCxnSpPr>
          <p:spPr>
            <a:xfrm>
              <a:off x="3488" y="721"/>
              <a:ext cx="2072" cy="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28" name="Google Shape;528;p65"/>
            <p:cNvCxnSpPr/>
            <p:nvPr/>
          </p:nvCxnSpPr>
          <p:spPr>
            <a:xfrm>
              <a:off x="3488" y="968"/>
              <a:ext cx="207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29" name="Google Shape;529;p65"/>
            <p:cNvCxnSpPr/>
            <p:nvPr/>
          </p:nvCxnSpPr>
          <p:spPr>
            <a:xfrm>
              <a:off x="3488" y="1408"/>
              <a:ext cx="207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30" name="Google Shape;530;p65"/>
            <p:cNvCxnSpPr/>
            <p:nvPr/>
          </p:nvCxnSpPr>
          <p:spPr>
            <a:xfrm>
              <a:off x="3488" y="2101"/>
              <a:ext cx="207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31" name="Google Shape;531;p65"/>
            <p:cNvCxnSpPr/>
            <p:nvPr/>
          </p:nvCxnSpPr>
          <p:spPr>
            <a:xfrm>
              <a:off x="3488" y="2728"/>
              <a:ext cx="207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32" name="Google Shape;532;p65"/>
            <p:cNvCxnSpPr/>
            <p:nvPr/>
          </p:nvCxnSpPr>
          <p:spPr>
            <a:xfrm>
              <a:off x="3488" y="3771"/>
              <a:ext cx="2072" cy="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33" name="Google Shape;533;p65"/>
            <p:cNvCxnSpPr/>
            <p:nvPr/>
          </p:nvCxnSpPr>
          <p:spPr>
            <a:xfrm>
              <a:off x="3488" y="721"/>
              <a:ext cx="0" cy="305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34" name="Google Shape;534;p65"/>
            <p:cNvCxnSpPr/>
            <p:nvPr/>
          </p:nvCxnSpPr>
          <p:spPr>
            <a:xfrm>
              <a:off x="4178" y="721"/>
              <a:ext cx="0" cy="305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35" name="Google Shape;535;p65"/>
            <p:cNvCxnSpPr/>
            <p:nvPr/>
          </p:nvCxnSpPr>
          <p:spPr>
            <a:xfrm>
              <a:off x="4967" y="721"/>
              <a:ext cx="0" cy="305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36" name="Google Shape;536;p65"/>
            <p:cNvCxnSpPr/>
            <p:nvPr/>
          </p:nvCxnSpPr>
          <p:spPr>
            <a:xfrm>
              <a:off x="5560" y="721"/>
              <a:ext cx="0" cy="305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537" name="Google Shape;537;p65"/>
          <p:cNvSpPr txBox="1"/>
          <p:nvPr/>
        </p:nvSpPr>
        <p:spPr>
          <a:xfrm>
            <a:off x="2046287" y="5165725"/>
            <a:ext cx="336708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b="0" i="0" lang="en-US" sz="16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Concurrent updates not visible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b="0" i="0" lang="en-US" sz="16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Own updates are visible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b="0" i="0" lang="en-US" sz="16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first-committer of X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b="0" i="0" lang="en-US" sz="16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Serialization error, T2 is rolled back</a:t>
            </a:r>
            <a:endParaRPr/>
          </a:p>
        </p:txBody>
      </p:sp>
      <p:cxnSp>
        <p:nvCxnSpPr>
          <p:cNvPr id="538" name="Google Shape;538;p65"/>
          <p:cNvCxnSpPr/>
          <p:nvPr/>
        </p:nvCxnSpPr>
        <p:spPr>
          <a:xfrm flipH="1" rot="10800000">
            <a:off x="5359400" y="4533900"/>
            <a:ext cx="1295400" cy="78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39" name="Google Shape;539;p65"/>
          <p:cNvCxnSpPr/>
          <p:nvPr/>
        </p:nvCxnSpPr>
        <p:spPr>
          <a:xfrm flipH="1" rot="10800000">
            <a:off x="5359400" y="4813300"/>
            <a:ext cx="1308100" cy="74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40" name="Google Shape;540;p65"/>
          <p:cNvCxnSpPr/>
          <p:nvPr/>
        </p:nvCxnSpPr>
        <p:spPr>
          <a:xfrm flipH="1" rot="10800000">
            <a:off x="5359400" y="5143500"/>
            <a:ext cx="1295400" cy="66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41" name="Google Shape;541;p65"/>
          <p:cNvCxnSpPr/>
          <p:nvPr/>
        </p:nvCxnSpPr>
        <p:spPr>
          <a:xfrm flipH="1" rot="10800000">
            <a:off x="5372100" y="5842000"/>
            <a:ext cx="1295400" cy="20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Benefits of SI</a:t>
            </a:r>
            <a:endParaRPr/>
          </a:p>
        </p:txBody>
      </p:sp>
      <p:sp>
        <p:nvSpPr>
          <p:cNvPr id="547" name="Google Shape;547;p66"/>
          <p:cNvSpPr txBox="1"/>
          <p:nvPr>
            <p:ph idx="1" type="body"/>
          </p:nvPr>
        </p:nvSpPr>
        <p:spPr>
          <a:xfrm>
            <a:off x="814387" y="1093787"/>
            <a:ext cx="7661275" cy="5043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Reading is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never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blocked,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also doesn’t block other txns activities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Performance similar to Read Committed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Avoids the usual anomalies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dirty read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lost update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non-repeatable read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Predicate based selects are repeatable (no phantoms)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Problems with SI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 does not always give serializable executions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Serializable: among two concurrent txns, one sees the effects of the other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SI: neither sees the effects of the other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Result: Integrity constraints can be violated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Snapshot Isolation</a:t>
            </a:r>
            <a:endParaRPr/>
          </a:p>
        </p:txBody>
      </p:sp>
      <p:sp>
        <p:nvSpPr>
          <p:cNvPr id="553" name="Google Shape;553;p67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of problem with SI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T1: x:=y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T2: y:= x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Initially x = 3 and y = 17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Serial execution:  x = ??, y = ??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both transactions start at the same time, with snapshot isolation:  x = ?? , y = ??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Called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skew write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Skew also occurs with inserts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E.g: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max order number among all orders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new order with order number = previous max + 1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Snapshot Isolation Anomalies</a:t>
            </a:r>
            <a:endParaRPr/>
          </a:p>
        </p:txBody>
      </p:sp>
      <p:sp>
        <p:nvSpPr>
          <p:cNvPr id="559" name="Google Shape;559;p68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 breaks serializability when txns modify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different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items, each based on a previous state of the item the other modified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very commin in practice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Eg. the TPC-C benchmark runs correctly under SI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txns conflict due to modifying different data, there is usually also a shared item they both modify too (like a total quantity) so SI will abort one of them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does occur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 developers should be careful about write skew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 can also cause a read-only transaction anomaly, where read-only transaction may see an inconsistent state even if updaters are serializable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omit details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 In Oracle and PostgreSQL</a:t>
            </a:r>
            <a:endParaRPr/>
          </a:p>
        </p:txBody>
      </p:sp>
      <p:sp>
        <p:nvSpPr>
          <p:cNvPr id="565" name="Google Shape;565;p69"/>
          <p:cNvSpPr txBox="1"/>
          <p:nvPr>
            <p:ph idx="1" type="body"/>
          </p:nvPr>
        </p:nvSpPr>
        <p:spPr>
          <a:xfrm>
            <a:off x="534987" y="1093787"/>
            <a:ext cx="8207375" cy="5475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Warning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SI used when isolation level is set to serializable, by Oracle</a:t>
            </a: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PostgreSQL</a:t>
            </a: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PostgreSQL’s implementation of SI described in Section 26.4.1.3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Oracle implements “first updater wins” rule (variant of “first committer wins”)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concurrent writer check is done at time of write, not at commit time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Allows transactions to be rolled back earlier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Neither supports true serializable execution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sidestep for specific queries by using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.. for update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Oracle and PostgreSQL</a:t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Locks the data which is read, preventing concurrent updates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(orderno)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orders </a:t>
            </a:r>
            <a:r>
              <a:rPr b="1" i="0" lang="en-US" sz="1800" u="sng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update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 value into local variable maxorder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 orders (maxorder+1, …)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0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of Chapter</a:t>
            </a:r>
            <a:endParaRPr/>
          </a:p>
        </p:txBody>
      </p:sp>
      <p:sp>
        <p:nvSpPr>
          <p:cNvPr id="571" name="Google Shape;571;p7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Thanks to Alan Fekete and Sudhir Jorwekar for Snapshot Isolation examples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1"/>
          <p:cNvSpPr txBox="1"/>
          <p:nvPr>
            <p:ph type="title"/>
          </p:nvPr>
        </p:nvSpPr>
        <p:spPr>
          <a:xfrm>
            <a:off x="806450" y="2317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Snapshot Read</a:t>
            </a:r>
            <a:endParaRPr/>
          </a:p>
        </p:txBody>
      </p:sp>
      <p:pic>
        <p:nvPicPr>
          <p:cNvPr id="577" name="Google Shape;577;p7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1087" y="1449387"/>
            <a:ext cx="7661275" cy="4903787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71"/>
          <p:cNvSpPr txBox="1"/>
          <p:nvPr/>
        </p:nvSpPr>
        <p:spPr>
          <a:xfrm>
            <a:off x="1093787" y="865187"/>
            <a:ext cx="7661275" cy="611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Concurrent updates invisible to snapshot read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Snapshot Write: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First Committer Wins</a:t>
            </a:r>
            <a:endParaRPr/>
          </a:p>
        </p:txBody>
      </p:sp>
      <p:sp>
        <p:nvSpPr>
          <p:cNvPr id="584" name="Google Shape;584;p72"/>
          <p:cNvSpPr txBox="1"/>
          <p:nvPr>
            <p:ph idx="1" type="body"/>
          </p:nvPr>
        </p:nvSpPr>
        <p:spPr>
          <a:xfrm>
            <a:off x="1081087" y="5322887"/>
            <a:ext cx="7661275" cy="1322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Variant: “</a:t>
            </a:r>
            <a:r>
              <a:rPr b="1" i="0" lang="en-US" sz="16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First-updater-wins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Char char="4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 for concurrent updates when write occurs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Char char="4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(Oracle uses this plus some extra features)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33CC33"/>
              </a:buClr>
              <a:buSzPts val="1200"/>
              <a:buFont typeface="Arimo"/>
              <a:buChar char="4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Differs only in when abort occurs, otherwise equivalent </a:t>
            </a:r>
            <a:endParaRPr/>
          </a:p>
        </p:txBody>
      </p:sp>
      <p:pic>
        <p:nvPicPr>
          <p:cNvPr id="585" name="Google Shape;585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0162" y="1062037"/>
            <a:ext cx="6907212" cy="428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3"/>
          <p:cNvSpPr txBox="1"/>
          <p:nvPr>
            <p:ph type="title"/>
          </p:nvPr>
        </p:nvSpPr>
        <p:spPr>
          <a:xfrm>
            <a:off x="704850" y="244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 Non-Serializability even for Read-Only Transactions</a:t>
            </a:r>
            <a:endParaRPr/>
          </a:p>
        </p:txBody>
      </p:sp>
      <p:pic>
        <p:nvPicPr>
          <p:cNvPr id="591" name="Google Shape;591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075" y="795337"/>
            <a:ext cx="603885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0387" y="2779712"/>
            <a:ext cx="5991225" cy="37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4"/>
          <p:cNvSpPr txBox="1"/>
          <p:nvPr>
            <p:ph type="title"/>
          </p:nvPr>
        </p:nvSpPr>
        <p:spPr>
          <a:xfrm>
            <a:off x="647700" y="4699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Partial Schedule Under Two-Phase Locking</a:t>
            </a:r>
            <a:endParaRPr/>
          </a:p>
        </p:txBody>
      </p:sp>
      <p:pic>
        <p:nvPicPr>
          <p:cNvPr id="598" name="Google Shape;598;p74"/>
          <p:cNvPicPr preferRelativeResize="0"/>
          <p:nvPr/>
        </p:nvPicPr>
        <p:blipFill rotWithShape="1">
          <a:blip r:embed="rId3">
            <a:alphaModFix/>
          </a:blip>
          <a:srcRect b="1376" l="11886" r="12144" t="2067"/>
          <a:stretch/>
        </p:blipFill>
        <p:spPr>
          <a:xfrm>
            <a:off x="2489200" y="1397000"/>
            <a:ext cx="4343400" cy="41402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5"/>
          <p:cNvSpPr txBox="1"/>
          <p:nvPr>
            <p:ph type="title"/>
          </p:nvPr>
        </p:nvSpPr>
        <p:spPr>
          <a:xfrm>
            <a:off x="635000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Incomplete Schedule With a Lock Conversion</a:t>
            </a:r>
            <a:endParaRPr/>
          </a:p>
        </p:txBody>
      </p:sp>
      <p:pic>
        <p:nvPicPr>
          <p:cNvPr id="604" name="Google Shape;604;p75"/>
          <p:cNvPicPr preferRelativeResize="0"/>
          <p:nvPr/>
        </p:nvPicPr>
        <p:blipFill rotWithShape="1">
          <a:blip r:embed="rId3">
            <a:alphaModFix/>
          </a:blip>
          <a:srcRect b="2873" l="17240" r="17886" t="2586"/>
          <a:stretch/>
        </p:blipFill>
        <p:spPr>
          <a:xfrm>
            <a:off x="3111500" y="1255712"/>
            <a:ext cx="3475037" cy="379888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Tree-Structured Database Graph</a:t>
            </a:r>
            <a:endParaRPr/>
          </a:p>
        </p:txBody>
      </p:sp>
      <p:pic>
        <p:nvPicPr>
          <p:cNvPr id="610" name="Google Shape;610;p76"/>
          <p:cNvPicPr preferRelativeResize="0"/>
          <p:nvPr/>
        </p:nvPicPr>
        <p:blipFill rotWithShape="1">
          <a:blip r:embed="rId3">
            <a:alphaModFix/>
          </a:blip>
          <a:srcRect b="1538" l="16613" r="16844" t="2154"/>
          <a:stretch/>
        </p:blipFill>
        <p:spPr>
          <a:xfrm>
            <a:off x="2451100" y="960437"/>
            <a:ext cx="4462462" cy="484346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Serializable Schedule Under the Tree Protocol</a:t>
            </a:r>
            <a:endParaRPr/>
          </a:p>
        </p:txBody>
      </p:sp>
      <p:pic>
        <p:nvPicPr>
          <p:cNvPr id="616" name="Google Shape;616;p77"/>
          <p:cNvPicPr preferRelativeResize="0"/>
          <p:nvPr/>
        </p:nvPicPr>
        <p:blipFill rotWithShape="1">
          <a:blip r:embed="rId3">
            <a:alphaModFix/>
          </a:blip>
          <a:srcRect b="1355" l="7626" r="7625" t="1016"/>
          <a:stretch/>
        </p:blipFill>
        <p:spPr>
          <a:xfrm>
            <a:off x="2108200" y="1438275"/>
            <a:ext cx="4906962" cy="423862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7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 3</a:t>
            </a:r>
            <a:endParaRPr/>
          </a:p>
        </p:txBody>
      </p:sp>
      <p:pic>
        <p:nvPicPr>
          <p:cNvPr id="622" name="Google Shape;622;p78"/>
          <p:cNvPicPr preferRelativeResize="0"/>
          <p:nvPr/>
        </p:nvPicPr>
        <p:blipFill rotWithShape="1">
          <a:blip r:embed="rId3">
            <a:alphaModFix/>
          </a:blip>
          <a:srcRect b="2153" l="7845" r="8999" t="1538"/>
          <a:stretch/>
        </p:blipFill>
        <p:spPr>
          <a:xfrm>
            <a:off x="2273300" y="1155700"/>
            <a:ext cx="4576762" cy="39751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9"/>
          <p:cNvSpPr txBox="1"/>
          <p:nvPr>
            <p:ph type="title"/>
          </p:nvPr>
        </p:nvSpPr>
        <p:spPr>
          <a:xfrm>
            <a:off x="685800" y="0"/>
            <a:ext cx="80772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 4</a:t>
            </a:r>
            <a:endParaRPr/>
          </a:p>
        </p:txBody>
      </p:sp>
      <p:pic>
        <p:nvPicPr>
          <p:cNvPr id="628" name="Google Shape;628;p79"/>
          <p:cNvPicPr preferRelativeResize="0"/>
          <p:nvPr/>
        </p:nvPicPr>
        <p:blipFill rotWithShape="1">
          <a:blip r:embed="rId3">
            <a:alphaModFix/>
          </a:blip>
          <a:srcRect b="17272" l="1818" r="3862" t="17272"/>
          <a:stretch/>
        </p:blipFill>
        <p:spPr>
          <a:xfrm>
            <a:off x="2832100" y="1612900"/>
            <a:ext cx="3797300" cy="19764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8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 5, A Schedule Produced by Using Validation</a:t>
            </a:r>
            <a:endParaRPr/>
          </a:p>
        </p:txBody>
      </p:sp>
      <p:pic>
        <p:nvPicPr>
          <p:cNvPr id="634" name="Google Shape;634;p80"/>
          <p:cNvPicPr preferRelativeResize="0"/>
          <p:nvPr/>
        </p:nvPicPr>
        <p:blipFill rotWithShape="1">
          <a:blip r:embed="rId3">
            <a:alphaModFix/>
          </a:blip>
          <a:srcRect b="2069" l="15260" r="17070" t="2413"/>
          <a:stretch/>
        </p:blipFill>
        <p:spPr>
          <a:xfrm>
            <a:off x="2603500" y="1214437"/>
            <a:ext cx="3830637" cy="405606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8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Compatibility Matrix</a:t>
            </a:r>
            <a:endParaRPr/>
          </a:p>
        </p:txBody>
      </p:sp>
      <p:pic>
        <p:nvPicPr>
          <p:cNvPr id="640" name="Google Shape;640;p81"/>
          <p:cNvPicPr preferRelativeResize="0"/>
          <p:nvPr/>
        </p:nvPicPr>
        <p:blipFill rotWithShape="1">
          <a:blip r:embed="rId3">
            <a:alphaModFix/>
          </a:blip>
          <a:srcRect b="22518" l="1110" r="1554" t="22222"/>
          <a:stretch/>
        </p:blipFill>
        <p:spPr>
          <a:xfrm>
            <a:off x="2032000" y="1517650"/>
            <a:ext cx="5562600" cy="23685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82"/>
          <p:cNvSpPr txBox="1"/>
          <p:nvPr>
            <p:ph type="title"/>
          </p:nvPr>
        </p:nvSpPr>
        <p:spPr>
          <a:xfrm>
            <a:off x="685800" y="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Nonserializable Schedule with Degree-Two Consistency</a:t>
            </a:r>
            <a:endParaRPr/>
          </a:p>
        </p:txBody>
      </p:sp>
      <p:pic>
        <p:nvPicPr>
          <p:cNvPr id="646" name="Google Shape;646;p82"/>
          <p:cNvPicPr preferRelativeResize="0"/>
          <p:nvPr/>
        </p:nvPicPr>
        <p:blipFill rotWithShape="1">
          <a:blip r:embed="rId3">
            <a:alphaModFix/>
          </a:blip>
          <a:srcRect b="2190" l="19522" r="19931" t="2740"/>
          <a:stretch/>
        </p:blipFill>
        <p:spPr>
          <a:xfrm>
            <a:off x="2959100" y="1168400"/>
            <a:ext cx="3741737" cy="44069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8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1" baseline="30000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-Tree For </a:t>
            </a:r>
            <a:r>
              <a:rPr b="0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File with </a:t>
            </a:r>
            <a:r>
              <a:rPr b="0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3.</a:t>
            </a:r>
            <a:endParaRPr/>
          </a:p>
        </p:txBody>
      </p:sp>
      <p:pic>
        <p:nvPicPr>
          <p:cNvPr id="652" name="Google Shape;652;p83"/>
          <p:cNvPicPr preferRelativeResize="0"/>
          <p:nvPr/>
        </p:nvPicPr>
        <p:blipFill rotWithShape="1">
          <a:blip r:embed="rId3">
            <a:alphaModFix/>
          </a:blip>
          <a:srcRect b="32194" l="1280" r="854" t="32192"/>
          <a:stretch/>
        </p:blipFill>
        <p:spPr>
          <a:xfrm>
            <a:off x="495300" y="1752600"/>
            <a:ext cx="8004175" cy="21844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84"/>
          <p:cNvSpPr txBox="1"/>
          <p:nvPr>
            <p:ph type="title"/>
          </p:nvPr>
        </p:nvSpPr>
        <p:spPr>
          <a:xfrm>
            <a:off x="685800" y="165100"/>
            <a:ext cx="8077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Insertion of “Clearview” Into the B</a:t>
            </a:r>
            <a:r>
              <a:rPr b="1" baseline="30000" i="0" lang="en-US" sz="24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r>
              <a:rPr b="1" i="0" lang="en-US" sz="24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-Tree of Figure 16.21</a:t>
            </a:r>
            <a:endParaRPr/>
          </a:p>
        </p:txBody>
      </p:sp>
      <p:pic>
        <p:nvPicPr>
          <p:cNvPr id="658" name="Google Shape;658;p84"/>
          <p:cNvPicPr preferRelativeResize="0"/>
          <p:nvPr/>
        </p:nvPicPr>
        <p:blipFill rotWithShape="1">
          <a:blip r:embed="rId3">
            <a:alphaModFix/>
          </a:blip>
          <a:srcRect b="31947" l="1364" r="779" t="32208"/>
          <a:stretch/>
        </p:blipFill>
        <p:spPr>
          <a:xfrm>
            <a:off x="660400" y="1943100"/>
            <a:ext cx="7535862" cy="20701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8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Lock-Compatibility Matrix</a:t>
            </a:r>
            <a:endParaRPr/>
          </a:p>
        </p:txBody>
      </p:sp>
      <p:pic>
        <p:nvPicPr>
          <p:cNvPr id="664" name="Google Shape;664;p85"/>
          <p:cNvPicPr preferRelativeResize="0"/>
          <p:nvPr/>
        </p:nvPicPr>
        <p:blipFill rotWithShape="1">
          <a:blip r:embed="rId3">
            <a:alphaModFix/>
          </a:blip>
          <a:srcRect b="19032" l="2418" r="3144" t="19032"/>
          <a:stretch/>
        </p:blipFill>
        <p:spPr>
          <a:xfrm>
            <a:off x="2311400" y="1612900"/>
            <a:ext cx="4957762" cy="24384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b-5-grey">
  <a:themeElements>
    <a:clrScheme name="default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CCECFF"/>
      </a:accent3>
      <a:accent4>
        <a:srgbClr val="FFFFFF"/>
      </a:accent4>
      <a:accent5>
        <a:srgbClr val="CCCC00"/>
      </a:accent5>
      <a:accent6>
        <a:srgbClr val="CCECFF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