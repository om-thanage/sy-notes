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6858000" cx="9144000"/>
  <p:notesSz cx="7315200" cy="9601200"/>
  <p:embeddedFontLst>
    <p:embeddedFont>
      <p:font typeface="Libre Baskerville"/>
      <p:regular r:id="rId88"/>
      <p:bold r:id="rId89"/>
      <p:italic r:id="rId90"/>
    </p:embeddedFont>
    <p:embeddedFont>
      <p:font typeface="Helvetica Neue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0">
          <p15:clr>
            <a:srgbClr val="000000"/>
          </p15:clr>
        </p15:guide>
        <p15:guide id="2" pos="53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0" orient="horz"/>
        <p:guide pos="5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LibreBaskerville-regular.fntdata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LibreBaskerville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94" Type="http://schemas.openxmlformats.org/officeDocument/2006/relationships/font" Target="fonts/HelveticaNeue-boldItalic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HelveticaNeue-regular.fntdata"/><Relationship Id="rId90" Type="http://schemas.openxmlformats.org/officeDocument/2006/relationships/font" Target="fonts/LibreBaskerville-italic.fntdata"/><Relationship Id="rId93" Type="http://schemas.openxmlformats.org/officeDocument/2006/relationships/font" Target="fonts/HelveticaNeue-italic.fntdata"/><Relationship Id="rId92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7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7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8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8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673350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www.db-book.com</a:t>
            </a: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4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855662" y="1222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55662" y="1222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4491037" y="6613525"/>
            <a:ext cx="4254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</a:t>
            </a:r>
            <a:fld id="{00000000-1234-1234-1234-123412341234}" type="slidenum"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/>
        </p:nvSpPr>
        <p:spPr>
          <a:xfrm>
            <a:off x="0" y="6613525"/>
            <a:ext cx="3421062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- 5</a:t>
            </a:r>
            <a:r>
              <a:rPr b="1" baseline="30000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Edition, July 11, 2005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6:  Entity-Relationship Model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52487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6:  Entity-Relationship Model</a:t>
            </a:r>
            <a:endParaRPr/>
          </a:p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Issues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Extended E-R Features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the Bank Database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Reduction to Relation Schemas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Modeling</a:t>
            </a:r>
            <a:endParaRPr/>
          </a:p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modeled as: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collection of entities,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among entities.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an object that exists and is distinguishable from other objects.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specific person, company, event, plant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Entities have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people have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addresses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entities of the same type that share the same properties.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set of all persons, companies, trees, holidays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1128712" y="850900"/>
            <a:ext cx="7410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customer_id   customer_  customer_  customer_            loan_    amount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name     street         city                      number</a:t>
            </a:r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3">
            <a:alphaModFix/>
          </a:blip>
          <a:srcRect b="8434" l="2493" r="1528" t="7653"/>
          <a:stretch/>
        </p:blipFill>
        <p:spPr>
          <a:xfrm>
            <a:off x="1044575" y="1592262"/>
            <a:ext cx="7272337" cy="47688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</a:t>
            </a:r>
            <a:endParaRPr/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association among several entities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Hayes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A-102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	relationship set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mathematical relation among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≥ 2 entities, each taken from entity sets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{(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|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 relationship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(Hayes, A-102)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76" name="Google Shape;76;p10"/>
          <p:cNvPicPr preferRelativeResize="0"/>
          <p:nvPr/>
        </p:nvPicPr>
        <p:blipFill rotWithShape="1">
          <a:blip r:embed="rId3">
            <a:alphaModFix/>
          </a:blip>
          <a:srcRect b="8157" l="1972" r="1971" t="7632"/>
          <a:stretch/>
        </p:blipFill>
        <p:spPr>
          <a:xfrm>
            <a:off x="1095375" y="1414462"/>
            <a:ext cx="6953250" cy="45720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(Cont.)</a:t>
            </a:r>
            <a:endParaRPr/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855662" y="1222375"/>
            <a:ext cx="784860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also be property of a relationship set.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instance,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 between entity sets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 have the attribute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access-date</a:t>
            </a:r>
            <a:endParaRPr/>
          </a:p>
        </p:txBody>
      </p:sp>
      <p:pic>
        <p:nvPicPr>
          <p:cNvPr id="83" name="Google Shape;83;p11"/>
          <p:cNvPicPr preferRelativeResize="0"/>
          <p:nvPr/>
        </p:nvPicPr>
        <p:blipFill rotWithShape="1">
          <a:blip r:embed="rId3">
            <a:alphaModFix/>
          </a:blip>
          <a:srcRect b="6394" l="435" r="654" t="6686"/>
          <a:stretch/>
        </p:blipFill>
        <p:spPr>
          <a:xfrm>
            <a:off x="1804987" y="2478087"/>
            <a:ext cx="5789612" cy="38163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Degree of a Relationship Set</a:t>
            </a:r>
            <a:endParaRPr/>
          </a:p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855662" y="1222375"/>
            <a:ext cx="7221537" cy="419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Refers to number of entity sets that participate in a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that involve two entity sets are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(or degree two).  Generally, most relationship sets in a database system are binary.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may involve more than two entity sets. 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Relationships between more than two entity sets are rare.  Most relationships are binary. (More on this later.)</a:t>
            </a:r>
            <a:endParaRPr/>
          </a:p>
        </p:txBody>
      </p:sp>
      <p:sp>
        <p:nvSpPr>
          <p:cNvPr id="90" name="Google Shape;90;p12"/>
          <p:cNvSpPr txBox="1"/>
          <p:nvPr/>
        </p:nvSpPr>
        <p:spPr>
          <a:xfrm>
            <a:off x="1085850" y="3246437"/>
            <a:ext cx="69024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1" marL="692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Suppose employees of a bank may have jobs (responsibilities) at multiple branches, with different jobs at different branches.  Then there is a ternary relationship set between entity sets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employee,  job, and branch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endParaRPr/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855662" y="1222375"/>
            <a:ext cx="7966075" cy="539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is represented by a set of attributes, that is descriptive properties possessed by all members of an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1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the set of permitted values for each attribute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 types: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Single-valued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multi-valued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multivalued attribute: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phone_numbers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computed from other attributes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age, given date_of_birth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454150" y="1793875"/>
            <a:ext cx="6094412" cy="129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=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customer_id, customer_name, 		     customer_street, customer_city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loan =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amount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Attributes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28868" l="421" r="1050" t="28588"/>
          <a:stretch/>
        </p:blipFill>
        <p:spPr>
          <a:xfrm>
            <a:off x="846137" y="1724025"/>
            <a:ext cx="7578725" cy="24542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Cardinality Constraints</a:t>
            </a:r>
            <a:endParaRPr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855662" y="1222375"/>
            <a:ext cx="7505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 the number of entities to which another entity can be associated via a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useful in describing binary relationship sets.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binary relationship set the mapping cardinality must be one of the following types: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one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many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one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many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895475" y="5283200"/>
            <a:ext cx="1416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one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665787" y="5283200"/>
            <a:ext cx="1492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many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25525" y="5626100"/>
            <a:ext cx="701833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Some elements in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not be mapped to any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elements in the other set</a:t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3">
            <a:alphaModFix/>
          </a:blip>
          <a:srcRect b="9706" l="624" r="415" t="9707"/>
          <a:stretch/>
        </p:blipFill>
        <p:spPr>
          <a:xfrm>
            <a:off x="1363662" y="920750"/>
            <a:ext cx="6796087" cy="41513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 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992312" y="5321300"/>
            <a:ext cx="1436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one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589587" y="5321300"/>
            <a:ext cx="1609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many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177925" y="5702300"/>
            <a:ext cx="70072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Some elements in A and B may not be mapped to any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elements in the other set</a:t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9805" l="580" r="387" t="9547"/>
          <a:stretch/>
        </p:blipFill>
        <p:spPr>
          <a:xfrm>
            <a:off x="1346200" y="969962"/>
            <a:ext cx="6816725" cy="41640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855662" y="1222375"/>
            <a:ext cx="7334250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 key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an entity set is a set of one or more attributes whose values uniquely determine each entity.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key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an entity set is a minimal super key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candidate key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candidate key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several candidate keys may exist, one of the candidate keys is selected to be the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 for Relationship Sets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combination of primary keys of the participating entity sets forms a super key of a relationship set.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customer_id, account_number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the super key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this means a pair of entity sets can have at most one relationship in a particular relationship set. 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if we wish to track all access_dates to each account by each customer, we cannot assume a relationship for each access.  We can use a multivalued attribute though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consider the mapping cardinality of the relationship set when deciding what are the candidate keys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consider semantics of relationship set in selecting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case of more than one candidate key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469900" y="0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Diagrams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855662" y="3494087"/>
            <a:ext cx="8505825" cy="28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Rectangles represent entity sets.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Diamonds represent relationship sets.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 link attributes to entity sets and entity sets to relationship sets.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Ellipses represent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Double ellipses represent multivalued attributes.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Dashed ellipses denote derived attributes.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Underline indicates primary key attributes (will study later)</a:t>
            </a:r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31024" l="422" r="633" t="30743"/>
          <a:stretch/>
        </p:blipFill>
        <p:spPr>
          <a:xfrm>
            <a:off x="1041400" y="1200150"/>
            <a:ext cx="7175500" cy="20796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835025" y="103187"/>
            <a:ext cx="7831137" cy="846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With Composite, Multivalued, and Derived Attributes</a:t>
            </a:r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/>
          </a:blip>
          <a:srcRect b="15975" l="599" r="997" t="15975"/>
          <a:stretch/>
        </p:blipFill>
        <p:spPr>
          <a:xfrm>
            <a:off x="471487" y="1520825"/>
            <a:ext cx="8242300" cy="42751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with Attributes</a:t>
            </a:r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 b="29177" l="637" r="637" t="28894"/>
          <a:stretch/>
        </p:blipFill>
        <p:spPr>
          <a:xfrm>
            <a:off x="617537" y="1533525"/>
            <a:ext cx="7999412" cy="25479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55662" y="1222375"/>
            <a:ext cx="7791450" cy="2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 of a relationship need not be distinct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labels “manager” and “worker” are called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they specify how employee entities interact via the works_for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 are indicated in E-R diagrams by labeling the lines that connect diamonds to rectangles.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labels are optional, and are used to clarify semantics of the relationship</a:t>
            </a:r>
            <a:endParaRPr/>
          </a:p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17994" l="578" r="577" t="17994"/>
          <a:stretch/>
        </p:blipFill>
        <p:spPr>
          <a:xfrm>
            <a:off x="1316037" y="3609975"/>
            <a:ext cx="6046787" cy="29368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Constraints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855662" y="1222375"/>
            <a:ext cx="7848600" cy="2468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express cardinality constraints by drawing either a directed line (→), signifying “one,” or an undirected line (—), signifying “many,” between the relationship set and the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One-to-one relationship: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is associated with at most one loan via the relationship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loan is associated with at most one customer via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8191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One-To-Many Relationship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855662" y="1222375"/>
            <a:ext cx="78486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one-to-many relationship a loan is associated with at most one customer via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 customer is associated with several (including 0) loans via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72424" l="16525" r="16736" t="846"/>
          <a:stretch/>
        </p:blipFill>
        <p:spPr>
          <a:xfrm>
            <a:off x="917575" y="2454275"/>
            <a:ext cx="8037512" cy="24145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512762" y="123825"/>
            <a:ext cx="811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Many-To-One Relationships</a:t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39992" l="16525" r="16736" t="31746"/>
          <a:stretch/>
        </p:blipFill>
        <p:spPr>
          <a:xfrm>
            <a:off x="1287462" y="2405062"/>
            <a:ext cx="7508875" cy="23844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855662" y="1222375"/>
            <a:ext cx="7848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many-to-one relationship a loan is associated with several (including 0) customers via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 customer is associated with at most one loan via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Many-To-Many Relationship</a:t>
            </a:r>
            <a:endParaRPr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855662" y="1222375"/>
            <a:ext cx="7029450" cy="154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is associated with several (possibly 0) loans via borrower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loan is associated with several (possibly 0) customers via borrower</a:t>
            </a:r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 b="30732" l="1063" r="1063" t="30731"/>
          <a:stretch/>
        </p:blipFill>
        <p:spPr>
          <a:xfrm>
            <a:off x="855662" y="2909887"/>
            <a:ext cx="7723187" cy="22812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1130300" y="298450"/>
            <a:ext cx="7594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Participation of an Entity Set in a Relationship Set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855662" y="1222375"/>
            <a:ext cx="8372475" cy="25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participation (indicated by double line):  every entity in the entity set participates in at least one relationship in the relationship set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participation of loan in borrower is total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every loan must have a customer associated to it via borrower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 participation:  some entities may not participate in any relationship in the relationship set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participation of customer in borrower is partial</a:t>
            </a:r>
            <a:endParaRPr/>
          </a:p>
        </p:txBody>
      </p:sp>
      <p:pic>
        <p:nvPicPr>
          <p:cNvPr id="199" name="Google Shape;199;p28"/>
          <p:cNvPicPr preferRelativeResize="0"/>
          <p:nvPr/>
        </p:nvPicPr>
        <p:blipFill rotWithShape="1">
          <a:blip r:embed="rId3">
            <a:alphaModFix/>
          </a:blip>
          <a:srcRect b="34634" l="384" r="576" t="34634"/>
          <a:stretch/>
        </p:blipFill>
        <p:spPr>
          <a:xfrm>
            <a:off x="603250" y="3778250"/>
            <a:ext cx="8104187" cy="18859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866775" y="-25400"/>
            <a:ext cx="84201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Notation for Cardinality Limits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855662" y="1222375"/>
            <a:ext cx="7689850" cy="191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limits can also express participation constraints</a:t>
            </a:r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31015" l="433" r="434" t="30724"/>
          <a:stretch/>
        </p:blipFill>
        <p:spPr>
          <a:xfrm>
            <a:off x="1044575" y="2214562"/>
            <a:ext cx="7354887" cy="21288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9810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Helvetica Neue"/>
              <a:buNone/>
            </a:pPr>
            <a:r>
              <a:rPr b="1" i="0" lang="en-US" sz="31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Diagram with a Ternary Relationship</a:t>
            </a:r>
            <a:endParaRPr/>
          </a:p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 b="25439" l="755" r="377" t="25691"/>
          <a:stretch/>
        </p:blipFill>
        <p:spPr>
          <a:xfrm>
            <a:off x="790575" y="1671637"/>
            <a:ext cx="7477125" cy="27717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647700" y="4524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Constraints on Ternary Relationship</a:t>
            </a:r>
            <a:endParaRPr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855662" y="1222375"/>
            <a:ext cx="8285162" cy="457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allow at most one arrow out of a ternary (or greater degree) relationship to indicate a cardinality constraint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an arrow from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job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indicates each employee works on at most one job at any branch.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is more than one arrow, there are two ways of defining the meaning.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 a ternary relationship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arrows 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could mean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1.  each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is associated with a unique entity from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2.  each pair of entities from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associated with a unique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entity, 	    and each pair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C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associated with a unique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alternative has been used in different formalisms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confusion we outlaw more than one arrow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Issues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855662" y="1222375"/>
            <a:ext cx="7251700" cy="4702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of entity sets vs. attributes</a:t>
            </a:r>
            <a:b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Choice mainly depends on the structure of the enterprise being modeled, and on the semantics associated with the attribute in question.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of entity sets vs. relationship sets</a:t>
            </a:r>
            <a:b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Possible guideline is to designate a relationship set to describe an action that occurs between entities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versus n-ary relationship sets</a:t>
            </a:r>
            <a:b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it is possible to replace any nonbinary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-ary,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2) relationship set by a number of distinct binary relationship sets,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-ary relationship set shows more clearly that several entities participate in a single relationship.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Placement of relationship attributes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838200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Vs. Non-Binary Relationships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855662" y="1222375"/>
            <a:ext cx="7740650" cy="3868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relationships that appear to be non-binary may be better represented using binary relationships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A ternary relationship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a child to his/her father and mother, is best replaced by two binary relationships,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father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mother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two binary relationships allows partial information (e.g. only mother being know)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there are some relationships that are naturally non-binary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855662" y="3413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Non-Binary Relationships to Binary Form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855662" y="1222375"/>
            <a:ext cx="821690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general, any non-binary relationship can be represented using binary relationships by creating an artificial entity set.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entity sets A, B and C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an entity set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three relationship sets: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1.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2.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3.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special identifying attribute for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any attributes of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relationship 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b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c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R,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1. a new entity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entity set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add 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a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3. add 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b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4. add (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c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 rotWithShape="1">
          <a:blip r:embed="rId3">
            <a:alphaModFix/>
          </a:blip>
          <a:srcRect b="29225" l="405" r="607" t="28410"/>
          <a:stretch/>
        </p:blipFill>
        <p:spPr>
          <a:xfrm>
            <a:off x="1968500" y="4875212"/>
            <a:ext cx="5327650" cy="17113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693737" y="0"/>
            <a:ext cx="8450262" cy="1030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Non-Binary Relationships (Cont.)</a:t>
            </a:r>
            <a:endParaRPr/>
          </a:p>
        </p:txBody>
      </p:sp>
      <p:sp>
        <p:nvSpPr>
          <p:cNvPr id="243" name="Google Shape;243;p35"/>
          <p:cNvSpPr txBox="1"/>
          <p:nvPr>
            <p:ph idx="1" type="body"/>
          </p:nvPr>
        </p:nvSpPr>
        <p:spPr>
          <a:xfrm>
            <a:off x="855662" y="1222375"/>
            <a:ext cx="7194550" cy="376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need to translate constraints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Translating all constraints may not be possible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may be instances in the translated schema that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correspond to any instance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add constraints to the relationships 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ensure that a newly created entity corresponds to exactly one entity in each of entity sets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avoid creating an identifying attribute by making E a weak entity set (described shortly) identified by the three relationship sets 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Helvetica Neue"/>
              <a:buNone/>
            </a:pPr>
            <a:r>
              <a:rPr b="1" i="0" lang="en-US" sz="2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 affect ER Design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855662" y="1222375"/>
            <a:ext cx="8001000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make access-date an attribute of account, instead of a relationship attribute, if each account can have only one customer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the relationship from account to customer is many to one, or equivalently, customer to account is one to many</a:t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 rotWithShape="1">
          <a:blip r:embed="rId3">
            <a:alphaModFix/>
          </a:blip>
          <a:srcRect b="11745" l="418" r="1047" t="12306"/>
          <a:stretch/>
        </p:blipFill>
        <p:spPr>
          <a:xfrm>
            <a:off x="1281112" y="2640012"/>
            <a:ext cx="6710362" cy="38798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about doing an ER design interactively on the board?</a:t>
            </a:r>
            <a:b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Suggest an application to be modeled.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</a:t>
            </a:r>
            <a:endParaRPr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set that does not have a primary key is referred to as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existence of a weak entity set depends on the existence of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identifying entity set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 must relate to the identifying entity set via a total, one-to-many relationship set from the identifying to the weak entity set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Identifying relationship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depicted using a double diamond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discriminator</a:t>
            </a:r>
            <a:r>
              <a:rPr b="1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partial key)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 weak entity set is the set of attributes that distinguishes among all the entities of a weak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primary key of a weak entity set is formed by the primary key of the strong entity set on which the weak entity set is existence dependent, plus the weak entity set’s discriminator.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53975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 (Cont.)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855662" y="1222375"/>
            <a:ext cx="7478712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depict a weak entity set by double rectangles.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underline the discriminator of a weak entity set  with a dashed line.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payment_number – discriminator of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payment_number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 rotWithShape="1">
          <a:blip r:embed="rId3">
            <a:alphaModFix/>
          </a:blip>
          <a:srcRect b="28148" l="555" r="555" t="28395"/>
          <a:stretch/>
        </p:blipFill>
        <p:spPr>
          <a:xfrm>
            <a:off x="823912" y="3789362"/>
            <a:ext cx="7629525" cy="25146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647700" y="1190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 (Cont.)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855662" y="1222375"/>
            <a:ext cx="7385050" cy="391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primary key of the strong entity set is not explicitly stored with the weak entity set, since it is implicit in the identifying relationship.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were explicitly stored,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could be made a strong entity, but then the relationship between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duplicated by an implicit relationship defined by the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common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Weak Entity Set Examples</a:t>
            </a:r>
            <a:endParaRPr/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855662" y="1222375"/>
            <a:ext cx="7391400" cy="31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university,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strong entity and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course_offering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modeled as a weak entity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discriminator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course_offering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semester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(including year)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(if there is more than one section)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model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course_offering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a strong entity we would model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an attribute.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Then the relationship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implicit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Extended E-R Features: Specialization</a:t>
            </a:r>
            <a:endParaRPr/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855662" y="1222375"/>
            <a:ext cx="80264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Top-down design process; we designate subgroupings within an entity set that are distinctive from other entities in the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subgroupings become lower-level entity sets that have attributes or participate in relationships that do not apply to the higher-level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Depicted by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triangle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component labeled ISA (E.g.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“is a”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 inheritance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 lower-level entity set inherits all the attributes and relationship participation of the higher-level entity set to which it is linked.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Example</a:t>
            </a:r>
            <a:endParaRPr/>
          </a:p>
        </p:txBody>
      </p:sp>
      <p:pic>
        <p:nvPicPr>
          <p:cNvPr id="292" name="Google Shape;292;p43"/>
          <p:cNvPicPr preferRelativeResize="0"/>
          <p:nvPr/>
        </p:nvPicPr>
        <p:blipFill rotWithShape="1">
          <a:blip r:embed="rId3">
            <a:alphaModFix/>
          </a:blip>
          <a:srcRect b="814" l="11616" r="11819" t="1086"/>
          <a:stretch/>
        </p:blipFill>
        <p:spPr>
          <a:xfrm>
            <a:off x="1804987" y="1014412"/>
            <a:ext cx="5367337" cy="51577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Extended ER Features: Generalization</a:t>
            </a:r>
            <a:endParaRPr/>
          </a:p>
        </p:txBody>
      </p:sp>
      <p:sp>
        <p:nvSpPr>
          <p:cNvPr id="298" name="Google Shape;298;p44"/>
          <p:cNvSpPr txBox="1"/>
          <p:nvPr>
            <p:ph idx="1" type="body"/>
          </p:nvPr>
        </p:nvSpPr>
        <p:spPr>
          <a:xfrm>
            <a:off x="855662" y="1222375"/>
            <a:ext cx="7253287" cy="267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bottom-up design process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combine a number of entity sets that share the same features into a higher-level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and generalization are simple inversions of each other; they are represented in an E-R diagram in the same way.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terms specialization and generalization are used interchangeably.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814387" y="-22225"/>
            <a:ext cx="84582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and Generalization (Cont.)</a:t>
            </a:r>
            <a:endParaRPr/>
          </a:p>
        </p:txBody>
      </p:sp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855662" y="1222375"/>
            <a:ext cx="7797800" cy="402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have multiple specializations of an entity set based on different features.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permanent_employee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temporary_employee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in addition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officer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secretary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particular employee would be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member of one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permanent_employee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temporary_employee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also a member of one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secretary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ISA relationship also referred to as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superclass - subclass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898525" y="85725"/>
            <a:ext cx="8077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Constraints on a Specialization/Generalization</a:t>
            </a:r>
            <a:endParaRPr/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855662" y="1222375"/>
            <a:ext cx="7502525" cy="491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 on which entities can be members of a given lower-level entity set.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condition-defined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all customers over 65 years are members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senior-citizen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senior-citizen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ISA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user-defined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 on whether or not entities may belong to more than one lower-level entity set within a single generalization.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Disjoint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can belong to only one lower-level entity set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Noted in E-R diagram by writing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disjoint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next to the ISA triangle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Overlapping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can belong to more than one lower-level entity set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>
            <p:ph type="title"/>
          </p:nvPr>
        </p:nvSpPr>
        <p:spPr>
          <a:xfrm>
            <a:off x="855662" y="-242887"/>
            <a:ext cx="80772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Constraints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 Specialization/Generalization (Cont.)</a:t>
            </a:r>
            <a:endParaRPr/>
          </a:p>
        </p:txBody>
      </p:sp>
      <p:sp>
        <p:nvSpPr>
          <p:cNvPr id="316" name="Google Shape;316;p47"/>
          <p:cNvSpPr txBox="1"/>
          <p:nvPr>
            <p:ph idx="1" type="body"/>
          </p:nvPr>
        </p:nvSpPr>
        <p:spPr>
          <a:xfrm>
            <a:off x="855662" y="1222375"/>
            <a:ext cx="6869112" cy="286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Completeness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-- specifies whether or not an entity in the higher-level entity set must belong to at least one of the lower-level entity sets within a generalization.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an entity must belong to one of the lower-level entity sets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an entity need not belong to one of the lower-level entity sets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1209675" y="52387"/>
            <a:ext cx="6726237" cy="6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</a:t>
            </a:r>
            <a:endParaRPr/>
          </a:p>
        </p:txBody>
      </p:sp>
      <p:sp>
        <p:nvSpPr>
          <p:cNvPr id="322" name="Google Shape;322;p48"/>
          <p:cNvSpPr txBox="1"/>
          <p:nvPr/>
        </p:nvSpPr>
        <p:spPr>
          <a:xfrm>
            <a:off x="855662" y="1222375"/>
            <a:ext cx="7985125" cy="10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Consider the ternary relationship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we saw earlier</a:t>
            </a:r>
            <a:endParaRPr/>
          </a:p>
          <a:p>
            <a:pPr indent="-10287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Suppose we want to record managers for tasks performed by an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employee at a branch</a:t>
            </a:r>
            <a:endParaRPr/>
          </a:p>
        </p:txBody>
      </p:sp>
      <p:pic>
        <p:nvPicPr>
          <p:cNvPr id="323" name="Google Shape;323;p48"/>
          <p:cNvPicPr preferRelativeResize="0"/>
          <p:nvPr/>
        </p:nvPicPr>
        <p:blipFill rotWithShape="1">
          <a:blip r:embed="rId3">
            <a:alphaModFix/>
          </a:blip>
          <a:srcRect b="2776" l="416" r="624" t="2777"/>
          <a:stretch/>
        </p:blipFill>
        <p:spPr>
          <a:xfrm>
            <a:off x="1817687" y="2414587"/>
            <a:ext cx="5335587" cy="38195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 (Cont.)</a:t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855662" y="1222375"/>
            <a:ext cx="8556625" cy="522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overlapping information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 corresponds to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some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relationships may not correspond to any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relationships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we can’t discard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Eliminate this redundancy via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Treat relationship as an abstract entity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relationships between relationships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Abstraction of relationship into new entity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introducing redundancy, the following diagram represents: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employee works on a particular job at a particular branch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employee, branch, job combination may have an associated manager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With Aggregation</a:t>
            </a:r>
            <a:endParaRPr/>
          </a:p>
        </p:txBody>
      </p:sp>
      <p:pic>
        <p:nvPicPr>
          <p:cNvPr id="335" name="Google Shape;335;p50"/>
          <p:cNvPicPr preferRelativeResize="0"/>
          <p:nvPr/>
        </p:nvPicPr>
        <p:blipFill rotWithShape="1">
          <a:blip r:embed="rId3">
            <a:alphaModFix/>
          </a:blip>
          <a:srcRect b="546" l="1232" r="1642" t="1918"/>
          <a:stretch/>
        </p:blipFill>
        <p:spPr>
          <a:xfrm>
            <a:off x="1260475" y="1089025"/>
            <a:ext cx="6883400" cy="52435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36" name="Google Shape;336;p50"/>
          <p:cNvSpPr/>
          <p:nvPr/>
        </p:nvSpPr>
        <p:spPr>
          <a:xfrm>
            <a:off x="4686300" y="3213100"/>
            <a:ext cx="254000" cy="2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Design Decisions</a:t>
            </a:r>
            <a:endParaRPr/>
          </a:p>
        </p:txBody>
      </p:sp>
      <p:sp>
        <p:nvSpPr>
          <p:cNvPr id="342" name="Google Shape;342;p51"/>
          <p:cNvSpPr txBox="1"/>
          <p:nvPr>
            <p:ph idx="1" type="body"/>
          </p:nvPr>
        </p:nvSpPr>
        <p:spPr>
          <a:xfrm>
            <a:off x="855662" y="1222375"/>
            <a:ext cx="7397750" cy="4687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an attribute or entity set to represent an object.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Whether a real-world concept is best expressed by an entity set or a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 ternary relationship versus a pair of binary relationships.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 strong or weak entity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specialization/generalization – contributes to modularity in the design.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aggregation – can treat the aggregate entity set as a single unit without concern for the details of its internal structure.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/>
          <p:nvPr>
            <p:ph type="title"/>
          </p:nvPr>
        </p:nvSpPr>
        <p:spPr>
          <a:xfrm>
            <a:off x="895350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a Banking Enterprise</a:t>
            </a:r>
            <a:endParaRPr/>
          </a:p>
        </p:txBody>
      </p:sp>
      <p:pic>
        <p:nvPicPr>
          <p:cNvPr id="348" name="Google Shape;348;p52"/>
          <p:cNvPicPr preferRelativeResize="0"/>
          <p:nvPr/>
        </p:nvPicPr>
        <p:blipFill rotWithShape="1">
          <a:blip r:embed="rId3">
            <a:alphaModFix/>
          </a:blip>
          <a:srcRect b="839" l="13024" r="13024" t="559"/>
          <a:stretch/>
        </p:blipFill>
        <p:spPr>
          <a:xfrm>
            <a:off x="1770062" y="800100"/>
            <a:ext cx="5668962" cy="56689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3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about doing another ER design interactively on the board?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/>
          <p:nvPr>
            <p:ph type="title"/>
          </p:nvPr>
        </p:nvSpPr>
        <p:spPr>
          <a:xfrm>
            <a:off x="403225" y="184150"/>
            <a:ext cx="9267825" cy="4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Symbols Used in E-R Notation</a:t>
            </a:r>
            <a:endParaRPr/>
          </a:p>
        </p:txBody>
      </p:sp>
      <p:pic>
        <p:nvPicPr>
          <p:cNvPr id="359" name="Google Shape;359;p54"/>
          <p:cNvPicPr preferRelativeResize="0"/>
          <p:nvPr/>
        </p:nvPicPr>
        <p:blipFill rotWithShape="1">
          <a:blip r:embed="rId3">
            <a:alphaModFix/>
          </a:blip>
          <a:srcRect b="1396" l="20950" r="21368" t="558"/>
          <a:stretch/>
        </p:blipFill>
        <p:spPr>
          <a:xfrm>
            <a:off x="2298700" y="985837"/>
            <a:ext cx="4340225" cy="5532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Symbols (Cont.)</a:t>
            </a:r>
            <a:endParaRPr/>
          </a:p>
        </p:txBody>
      </p:sp>
      <p:pic>
        <p:nvPicPr>
          <p:cNvPr id="365" name="Google Shape;365;p55"/>
          <p:cNvPicPr preferRelativeResize="0"/>
          <p:nvPr/>
        </p:nvPicPr>
        <p:blipFill rotWithShape="1">
          <a:blip r:embed="rId3">
            <a:alphaModFix/>
          </a:blip>
          <a:srcRect b="6074" l="22080" r="22781" t="46487"/>
          <a:stretch/>
        </p:blipFill>
        <p:spPr>
          <a:xfrm>
            <a:off x="1155700" y="1138237"/>
            <a:ext cx="6896100" cy="44497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type="title"/>
          </p:nvPr>
        </p:nvSpPr>
        <p:spPr>
          <a:xfrm>
            <a:off x="885825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Reduction to Relation Schemas</a:t>
            </a:r>
            <a:endParaRPr/>
          </a:p>
        </p:txBody>
      </p:sp>
      <p:sp>
        <p:nvSpPr>
          <p:cNvPr id="371" name="Google Shape;371;p56"/>
          <p:cNvSpPr txBox="1"/>
          <p:nvPr>
            <p:ph idx="1" type="body"/>
          </p:nvPr>
        </p:nvSpPr>
        <p:spPr>
          <a:xfrm>
            <a:off x="855662" y="1222375"/>
            <a:ext cx="6862762" cy="41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keys allow entity sets and relationship sets to be expressed uniformly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schemas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represent the contents of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database which conforms to an E-R diagram can be represented by a collection of schemas.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entity set and relationship set there is a unique schema that is assigned the name of the corresponding entity set or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schema has a number of columns (generally corresponding to attributes), which have unique names.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Entity Sets as Schemas</a:t>
            </a:r>
            <a:endParaRPr/>
          </a:p>
        </p:txBody>
      </p:sp>
      <p:sp>
        <p:nvSpPr>
          <p:cNvPr id="377" name="Google Shape;377;p57"/>
          <p:cNvSpPr txBox="1"/>
          <p:nvPr>
            <p:ph idx="1" type="body"/>
          </p:nvPr>
        </p:nvSpPr>
        <p:spPr>
          <a:xfrm>
            <a:off x="481012" y="1222375"/>
            <a:ext cx="841533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strong entity set reduces to a schema with the same attributes.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weak entity set becomes a table that includes a column for the primary key of the identifying strong entity set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 =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0" i="1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payment_number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payment_date, payment_amount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78" name="Google Shape;378;p57"/>
          <p:cNvSpPr txBox="1"/>
          <p:nvPr/>
        </p:nvSpPr>
        <p:spPr>
          <a:xfrm>
            <a:off x="906462" y="3119437"/>
            <a:ext cx="7451725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8"/>
          <p:cNvSpPr txBox="1"/>
          <p:nvPr>
            <p:ph type="title"/>
          </p:nvPr>
        </p:nvSpPr>
        <p:spPr>
          <a:xfrm>
            <a:off x="714375" y="481012"/>
            <a:ext cx="8429625" cy="603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Relationship Sets as Schemas</a:t>
            </a:r>
            <a:endParaRPr/>
          </a:p>
        </p:txBody>
      </p:sp>
      <p:sp>
        <p:nvSpPr>
          <p:cNvPr id="384" name="Google Shape;384;p58"/>
          <p:cNvSpPr txBox="1"/>
          <p:nvPr>
            <p:ph idx="1" type="body"/>
          </p:nvPr>
        </p:nvSpPr>
        <p:spPr>
          <a:xfrm>
            <a:off x="855662" y="1222375"/>
            <a:ext cx="7959725" cy="322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many-to-many relationship set is represented as a schema with attributes for the primary keys of the two participating entity sets, and any descriptive attributes of the relationship set.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schema for relationship set borrower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=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customer_id, loan_number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Redundancy of Schemas</a:t>
            </a:r>
            <a:endParaRPr/>
          </a:p>
        </p:txBody>
      </p:sp>
      <p:pic>
        <p:nvPicPr>
          <p:cNvPr id="390" name="Google Shape;390;p59"/>
          <p:cNvPicPr preferRelativeResize="0"/>
          <p:nvPr/>
        </p:nvPicPr>
        <p:blipFill rotWithShape="1">
          <a:blip r:embed="rId3">
            <a:alphaModFix/>
          </a:blip>
          <a:srcRect b="30377" l="1163" r="831" t="30377"/>
          <a:stretch/>
        </p:blipFill>
        <p:spPr>
          <a:xfrm>
            <a:off x="803275" y="3225800"/>
            <a:ext cx="8077200" cy="2425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1" name="Google Shape;391;p59"/>
          <p:cNvSpPr txBox="1"/>
          <p:nvPr/>
        </p:nvSpPr>
        <p:spPr>
          <a:xfrm>
            <a:off x="855662" y="1222375"/>
            <a:ext cx="7524750" cy="212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Many-to-one and one-to-many relationship sets that are total on the many-side can be represented by adding an extra attribute to the “many” side, containing the primary key of the “one” side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Instead of creating a schema for relationship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add an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the schema arising from entity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Redundancy of Schemas (Cont.)</a:t>
            </a:r>
            <a:endParaRPr/>
          </a:p>
        </p:txBody>
      </p:sp>
      <p:sp>
        <p:nvSpPr>
          <p:cNvPr id="397" name="Google Shape;397;p60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one-to-one relationship sets, either side can be chosen to act as the “many” side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extra attribute can be added to either of the tables corresponding to the two entity sets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participation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the “many” side, replacing a schema by an extra attribute in the schema corresponding to the “many” side could result in null values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schema corresponding to a relationship set linking a weak entity set to its identifying strong entity set is redundant.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schema already contains the attributes that would appear in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loan_payment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schema (i.e.,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payment_number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1"/>
          <p:cNvSpPr txBox="1"/>
          <p:nvPr>
            <p:ph type="title"/>
          </p:nvPr>
        </p:nvSpPr>
        <p:spPr>
          <a:xfrm>
            <a:off x="981075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and Multivalued Attributes</a:t>
            </a:r>
            <a:endParaRPr/>
          </a:p>
        </p:txBody>
      </p:sp>
      <p:sp>
        <p:nvSpPr>
          <p:cNvPr id="403" name="Google Shape;403;p61"/>
          <p:cNvSpPr txBox="1"/>
          <p:nvPr>
            <p:ph idx="1" type="body"/>
          </p:nvPr>
        </p:nvSpPr>
        <p:spPr>
          <a:xfrm>
            <a:off x="622300" y="906462"/>
            <a:ext cx="8053387" cy="578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attributes are flattened out by creating a separate attribute for each component attribute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given entity set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with composite attribute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component attributes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first_name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last_name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schema corresponding to the entity set has two attributes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name.first_name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name.last_name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multivalued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an entity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represented by a separate schema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attributes corresponding to the primary key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an attribute corresponding to multivalued attribute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Multivalued attribute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dependent_names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represented by a schema: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employee_dependent_names =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sng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employee_id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value of the multivalued attribute maps to a separate tuple of the relation on schema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 an employee entity with primary key  123-45-6789 and dependents  Jack and Jane maps to two tuples:  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(123-45-6789 , Jack) and (123-45-6789 , Jane) 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2"/>
          <p:cNvSpPr txBox="1"/>
          <p:nvPr>
            <p:ph type="title"/>
          </p:nvPr>
        </p:nvSpPr>
        <p:spPr>
          <a:xfrm>
            <a:off x="808037" y="5064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Specialization via Schemas</a:t>
            </a:r>
            <a:endParaRPr/>
          </a:p>
        </p:txBody>
      </p:sp>
      <p:sp>
        <p:nvSpPr>
          <p:cNvPr id="409" name="Google Shape;409;p62"/>
          <p:cNvSpPr txBox="1"/>
          <p:nvPr>
            <p:ph idx="1" type="body"/>
          </p:nvPr>
        </p:nvSpPr>
        <p:spPr>
          <a:xfrm>
            <a:off x="855662" y="1222375"/>
            <a:ext cx="7526337" cy="41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1: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schema for the higher-level entity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schema for each lower-level entity set, include primary key of higher-level entity set and local attributes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schema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0" lang="en-US" sz="18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br>
              <a:rPr b="0" i="0" lang="en-US" sz="1800" u="none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	   name, street, city  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customer	   name, credit_rating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employee	   name, salary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Drawback:  getting information about, an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requires accessing two relations, the one corresponding to the low-level schema and the one corresponding to the high-level schema</a:t>
            </a:r>
            <a:endParaRPr/>
          </a:p>
        </p:txBody>
      </p:sp>
      <p:cxnSp>
        <p:nvCxnSpPr>
          <p:cNvPr id="410" name="Google Shape;410;p62"/>
          <p:cNvCxnSpPr/>
          <p:nvPr/>
        </p:nvCxnSpPr>
        <p:spPr>
          <a:xfrm>
            <a:off x="855662" y="3121025"/>
            <a:ext cx="6118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1" name="Google Shape;411;p62"/>
          <p:cNvCxnSpPr/>
          <p:nvPr/>
        </p:nvCxnSpPr>
        <p:spPr>
          <a:xfrm>
            <a:off x="3230562" y="2670175"/>
            <a:ext cx="0" cy="1200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3"/>
          <p:cNvSpPr txBox="1"/>
          <p:nvPr>
            <p:ph type="title"/>
          </p:nvPr>
        </p:nvSpPr>
        <p:spPr>
          <a:xfrm>
            <a:off x="855662" y="3984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Specialization as Schemas (Cont.)</a:t>
            </a:r>
            <a:endParaRPr/>
          </a:p>
        </p:txBody>
      </p:sp>
      <p:sp>
        <p:nvSpPr>
          <p:cNvPr id="417" name="Google Shape;417;p63"/>
          <p:cNvSpPr txBox="1"/>
          <p:nvPr>
            <p:ph idx="1" type="body"/>
          </p:nvPr>
        </p:nvSpPr>
        <p:spPr>
          <a:xfrm>
            <a:off x="855662" y="1222375"/>
            <a:ext cx="8323262" cy="51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2: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schema for each entity set with all local and inherited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0" i="0" lang="en-US" sz="18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	name, street, city	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	name, street, city, credit_rating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 	name, street, city, salary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specialization is total, the schema for the generalized entity set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not required to store information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defined as a “view” relation containing union of specialization relations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explicit schema may still be needed for foreign key constraints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Drawback: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street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be stored redundantly for people who are both customers and employees</a:t>
            </a:r>
            <a:endParaRPr/>
          </a:p>
        </p:txBody>
      </p:sp>
      <p:cxnSp>
        <p:nvCxnSpPr>
          <p:cNvPr id="418" name="Google Shape;418;p63"/>
          <p:cNvCxnSpPr/>
          <p:nvPr/>
        </p:nvCxnSpPr>
        <p:spPr>
          <a:xfrm>
            <a:off x="898525" y="2498725"/>
            <a:ext cx="6118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9" name="Google Shape;419;p63"/>
          <p:cNvCxnSpPr/>
          <p:nvPr/>
        </p:nvCxnSpPr>
        <p:spPr>
          <a:xfrm>
            <a:off x="2881312" y="2052637"/>
            <a:ext cx="0" cy="1139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4"/>
          <p:cNvSpPr txBox="1"/>
          <p:nvPr>
            <p:ph type="title"/>
          </p:nvPr>
        </p:nvSpPr>
        <p:spPr>
          <a:xfrm>
            <a:off x="942975" y="-180975"/>
            <a:ext cx="8131175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Schemas Corresponding to Aggregation</a:t>
            </a:r>
            <a:endParaRPr/>
          </a:p>
        </p:txBody>
      </p:sp>
      <p:sp>
        <p:nvSpPr>
          <p:cNvPr id="425" name="Google Shape;425;p64"/>
          <p:cNvSpPr txBox="1"/>
          <p:nvPr/>
        </p:nvSpPr>
        <p:spPr>
          <a:xfrm>
            <a:off x="855662" y="1222375"/>
            <a:ext cx="7562850" cy="352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represent aggregation, create a schema containing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of the aggregated relationship,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primary key of the associated entity set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descriptive attributes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5"/>
          <p:cNvSpPr txBox="1"/>
          <p:nvPr>
            <p:ph type="title"/>
          </p:nvPr>
        </p:nvSpPr>
        <p:spPr>
          <a:xfrm>
            <a:off x="757237" y="582612"/>
            <a:ext cx="737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Schemas Corresponding to Aggregation (Cont.)</a:t>
            </a:r>
            <a:endParaRPr/>
          </a:p>
        </p:txBody>
      </p:sp>
      <p:pic>
        <p:nvPicPr>
          <p:cNvPr id="431" name="Google Shape;431;p65"/>
          <p:cNvPicPr preferRelativeResize="0"/>
          <p:nvPr/>
        </p:nvPicPr>
        <p:blipFill rotWithShape="1">
          <a:blip r:embed="rId3">
            <a:alphaModFix/>
          </a:blip>
          <a:srcRect b="1567" l="2745" r="2940" t="1307"/>
          <a:stretch/>
        </p:blipFill>
        <p:spPr>
          <a:xfrm>
            <a:off x="2014537" y="3200400"/>
            <a:ext cx="4662487" cy="32877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32" name="Google Shape;432;p65"/>
          <p:cNvSpPr txBox="1"/>
          <p:nvPr/>
        </p:nvSpPr>
        <p:spPr>
          <a:xfrm>
            <a:off x="865187" y="1065212"/>
            <a:ext cx="7545387" cy="181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to represent aggregation manages between relationship works_on and entity set manager, create a schema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employee_id, branch_name, title, 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Schema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works_on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redundant provided we are willing to store null values for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relation on schema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	</a:t>
            </a:r>
            <a:endParaRPr/>
          </a:p>
        </p:txBody>
      </p:sp>
      <p:sp>
        <p:nvSpPr>
          <p:cNvPr id="438" name="Google Shape;438;p66"/>
          <p:cNvSpPr txBox="1"/>
          <p:nvPr>
            <p:ph idx="1" type="body"/>
          </p:nvPr>
        </p:nvSpPr>
        <p:spPr>
          <a:xfrm>
            <a:off x="855662" y="122237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Unified Modeling Language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 has many components to graphically model different aspects of an entire software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 Class Diagrams correspond to E-R Diagram, but several differences.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"/>
          <p:cNvSpPr txBox="1"/>
          <p:nvPr>
            <p:ph type="title"/>
          </p:nvPr>
        </p:nvSpPr>
        <p:spPr>
          <a:xfrm>
            <a:off x="68580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UML Class Diagram Notation</a:t>
            </a:r>
            <a:endParaRPr/>
          </a:p>
        </p:txBody>
      </p:sp>
      <p:pic>
        <p:nvPicPr>
          <p:cNvPr id="444" name="Google Shape;444;p67"/>
          <p:cNvPicPr preferRelativeResize="0"/>
          <p:nvPr/>
        </p:nvPicPr>
        <p:blipFill rotWithShape="1">
          <a:blip r:embed="rId3">
            <a:alphaModFix/>
          </a:blip>
          <a:srcRect b="49729" l="18739" r="18919" t="719"/>
          <a:stretch/>
        </p:blipFill>
        <p:spPr>
          <a:xfrm>
            <a:off x="855662" y="1093787"/>
            <a:ext cx="7870825" cy="46910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 Class Diagrams (Cont.)</a:t>
            </a:r>
            <a:endParaRPr/>
          </a:p>
        </p:txBody>
      </p:sp>
      <p:sp>
        <p:nvSpPr>
          <p:cNvPr id="450" name="Google Shape;450;p68"/>
          <p:cNvSpPr txBox="1"/>
          <p:nvPr>
            <p:ph idx="1" type="body"/>
          </p:nvPr>
        </p:nvSpPr>
        <p:spPr>
          <a:xfrm>
            <a:off x="855662" y="1222375"/>
            <a:ext cx="777875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 are shown as boxes, and attributes are shown within  the box, rather than as separate ellipses in E-R diagrams.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relationship sets are represented in UML by just drawing a line connecting the entity sets. The relationship set name is written adjacent to the line.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role played by an entity set in a relationship set may also be specified by writing the role name on the line, adjacent to the entity set.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relationship set name may alternatively be written in a box, along with attributes of the relationship set, and the box is connected, using a dotted line, to the line depicting the  relationship set.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Non-binary relationships drawn using diamonds, just as in ER diagrams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9"/>
          <p:cNvSpPr txBox="1"/>
          <p:nvPr>
            <p:ph type="title"/>
          </p:nvPr>
        </p:nvSpPr>
        <p:spPr>
          <a:xfrm>
            <a:off x="738187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 Class Diagram Notation (Cont.)</a:t>
            </a:r>
            <a:endParaRPr/>
          </a:p>
        </p:txBody>
      </p:sp>
      <p:pic>
        <p:nvPicPr>
          <p:cNvPr id="456" name="Google Shape;456;p69"/>
          <p:cNvPicPr preferRelativeResize="0"/>
          <p:nvPr/>
        </p:nvPicPr>
        <p:blipFill rotWithShape="1">
          <a:blip r:embed="rId3">
            <a:alphaModFix/>
          </a:blip>
          <a:srcRect b="2400" l="18739" r="18919" t="50691"/>
          <a:stretch/>
        </p:blipFill>
        <p:spPr>
          <a:xfrm>
            <a:off x="855662" y="1085850"/>
            <a:ext cx="7551737" cy="4262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57" name="Google Shape;457;p69"/>
          <p:cNvSpPr txBox="1"/>
          <p:nvPr/>
        </p:nvSpPr>
        <p:spPr>
          <a:xfrm>
            <a:off x="962025" y="5600700"/>
            <a:ext cx="674211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 reversal of position in cardinality constraint depiction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Generalization can use merged or separate arrows independent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of disjoint/overlapping</a:t>
            </a:r>
            <a:endParaRPr/>
          </a:p>
        </p:txBody>
      </p:sp>
      <p:cxnSp>
        <p:nvCxnSpPr>
          <p:cNvPr id="458" name="Google Shape;458;p69"/>
          <p:cNvCxnSpPr/>
          <p:nvPr/>
        </p:nvCxnSpPr>
        <p:spPr>
          <a:xfrm>
            <a:off x="6111875" y="2905125"/>
            <a:ext cx="11334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9" name="Google Shape;459;p69"/>
          <p:cNvSpPr txBox="1"/>
          <p:nvPr/>
        </p:nvSpPr>
        <p:spPr>
          <a:xfrm>
            <a:off x="7023100" y="2673350"/>
            <a:ext cx="1235075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None/>
            </a:pPr>
            <a:r>
              <a:rPr b="0" i="0" lang="en-US" sz="1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overlapping</a:t>
            </a:r>
            <a:endParaRPr/>
          </a:p>
        </p:txBody>
      </p:sp>
      <p:sp>
        <p:nvSpPr>
          <p:cNvPr id="460" name="Google Shape;460;p69"/>
          <p:cNvSpPr txBox="1"/>
          <p:nvPr/>
        </p:nvSpPr>
        <p:spPr>
          <a:xfrm>
            <a:off x="7212012" y="4354512"/>
            <a:ext cx="815975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None/>
            </a:pPr>
            <a:r>
              <a:rPr b="0" i="0" lang="en-US" sz="1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disjoint</a:t>
            </a:r>
            <a:endParaRPr/>
          </a:p>
        </p:txBody>
      </p:sp>
      <p:grpSp>
        <p:nvGrpSpPr>
          <p:cNvPr id="461" name="Google Shape;461;p69"/>
          <p:cNvGrpSpPr/>
          <p:nvPr/>
        </p:nvGrpSpPr>
        <p:grpSpPr>
          <a:xfrm>
            <a:off x="6064250" y="2636837"/>
            <a:ext cx="314325" cy="179387"/>
            <a:chOff x="5395" y="1332"/>
            <a:chExt cx="198" cy="113"/>
          </a:xfrm>
        </p:grpSpPr>
        <p:sp>
          <p:nvSpPr>
            <p:cNvPr id="462" name="Google Shape;462;p69"/>
            <p:cNvSpPr/>
            <p:nvPr/>
          </p:nvSpPr>
          <p:spPr>
            <a:xfrm>
              <a:off x="5395" y="1334"/>
              <a:ext cx="198" cy="1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69"/>
            <p:cNvSpPr/>
            <p:nvPr/>
          </p:nvSpPr>
          <p:spPr>
            <a:xfrm>
              <a:off x="5445" y="1332"/>
              <a:ext cx="96" cy="101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64" name="Google Shape;464;p69"/>
          <p:cNvGrpSpPr/>
          <p:nvPr/>
        </p:nvGrpSpPr>
        <p:grpSpPr>
          <a:xfrm>
            <a:off x="6842125" y="2627312"/>
            <a:ext cx="314325" cy="179387"/>
            <a:chOff x="5395" y="1332"/>
            <a:chExt cx="198" cy="113"/>
          </a:xfrm>
        </p:grpSpPr>
        <p:sp>
          <p:nvSpPr>
            <p:cNvPr id="465" name="Google Shape;465;p69"/>
            <p:cNvSpPr/>
            <p:nvPr/>
          </p:nvSpPr>
          <p:spPr>
            <a:xfrm>
              <a:off x="5395" y="1334"/>
              <a:ext cx="198" cy="1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69"/>
            <p:cNvSpPr/>
            <p:nvPr/>
          </p:nvSpPr>
          <p:spPr>
            <a:xfrm>
              <a:off x="5445" y="1332"/>
              <a:ext cx="96" cy="101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67" name="Google Shape;467;p69"/>
          <p:cNvGrpSpPr/>
          <p:nvPr/>
        </p:nvGrpSpPr>
        <p:grpSpPr>
          <a:xfrm>
            <a:off x="6530975" y="4308475"/>
            <a:ext cx="314325" cy="179387"/>
            <a:chOff x="5395" y="1332"/>
            <a:chExt cx="198" cy="113"/>
          </a:xfrm>
        </p:grpSpPr>
        <p:sp>
          <p:nvSpPr>
            <p:cNvPr id="468" name="Google Shape;468;p69"/>
            <p:cNvSpPr/>
            <p:nvPr/>
          </p:nvSpPr>
          <p:spPr>
            <a:xfrm>
              <a:off x="5395" y="1334"/>
              <a:ext cx="198" cy="1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9" name="Google Shape;469;p69"/>
            <p:cNvSpPr/>
            <p:nvPr/>
          </p:nvSpPr>
          <p:spPr>
            <a:xfrm>
              <a:off x="5445" y="1332"/>
              <a:ext cx="96" cy="101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0"/>
          <p:cNvSpPr txBox="1"/>
          <p:nvPr>
            <p:ph type="title"/>
          </p:nvPr>
        </p:nvSpPr>
        <p:spPr>
          <a:xfrm>
            <a:off x="709612" y="1047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UML Class Diagrams (Contd.)</a:t>
            </a:r>
            <a:endParaRPr/>
          </a:p>
        </p:txBody>
      </p:sp>
      <p:sp>
        <p:nvSpPr>
          <p:cNvPr id="475" name="Google Shape;475;p70"/>
          <p:cNvSpPr txBox="1"/>
          <p:nvPr>
            <p:ph idx="4294967295" type="body"/>
          </p:nvPr>
        </p:nvSpPr>
        <p:spPr>
          <a:xfrm>
            <a:off x="855662" y="1222375"/>
            <a:ext cx="7119937" cy="4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constraints are specified in the form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l..h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denotes the minimum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maximum number of relationships an entity can participate in.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Beware: the positioning of the constraints is exactly the reverse of the positioning of constraints in E-R diagrams.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constraint 0..* on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side and 0..1 on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side means that each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entity can participate in at most one relationship, whereas each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entity can participate in many relationships; in other words, the relationship is many to one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values, such as 1 or * may be written on edges; The single value 1 on an edge is treated as equivalent to 1..1, while * is equivalent to 0..*.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2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2.10</a:t>
            </a:r>
            <a:endParaRPr/>
          </a:p>
        </p:txBody>
      </p:sp>
      <p:pic>
        <p:nvPicPr>
          <p:cNvPr id="486" name="Google Shape;486;p72"/>
          <p:cNvPicPr preferRelativeResize="0"/>
          <p:nvPr/>
        </p:nvPicPr>
        <p:blipFill rotWithShape="1">
          <a:blip r:embed="rId3">
            <a:alphaModFix/>
          </a:blip>
          <a:srcRect b="1185" l="9953" r="10307" t="1422"/>
          <a:stretch/>
        </p:blipFill>
        <p:spPr>
          <a:xfrm>
            <a:off x="1816100" y="787400"/>
            <a:ext cx="5697537" cy="5219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2.15</a:t>
            </a:r>
            <a:endParaRPr/>
          </a:p>
        </p:txBody>
      </p:sp>
      <p:pic>
        <p:nvPicPr>
          <p:cNvPr id="492" name="Google Shape;492;p73"/>
          <p:cNvPicPr preferRelativeResize="0"/>
          <p:nvPr/>
        </p:nvPicPr>
        <p:blipFill rotWithShape="1">
          <a:blip r:embed="rId3">
            <a:alphaModFix/>
          </a:blip>
          <a:srcRect b="4048" l="1071" r="1070" t="3810"/>
          <a:stretch/>
        </p:blipFill>
        <p:spPr>
          <a:xfrm>
            <a:off x="1295400" y="1079500"/>
            <a:ext cx="6959600" cy="49149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2.22</a:t>
            </a:r>
            <a:endParaRPr/>
          </a:p>
        </p:txBody>
      </p:sp>
      <p:pic>
        <p:nvPicPr>
          <p:cNvPr id="498" name="Google Shape;498;p74"/>
          <p:cNvPicPr preferRelativeResize="0"/>
          <p:nvPr/>
        </p:nvPicPr>
        <p:blipFill rotWithShape="1">
          <a:blip r:embed="rId3">
            <a:alphaModFix/>
          </a:blip>
          <a:srcRect b="13720" l="1394" r="1743" t="13954"/>
          <a:stretch/>
        </p:blipFill>
        <p:spPr>
          <a:xfrm>
            <a:off x="1041400" y="1092200"/>
            <a:ext cx="7053262" cy="3949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2.15</a:t>
            </a:r>
            <a:endParaRPr/>
          </a:p>
        </p:txBody>
      </p:sp>
      <p:pic>
        <p:nvPicPr>
          <p:cNvPr id="504" name="Google Shape;504;p75"/>
          <p:cNvPicPr preferRelativeResize="0"/>
          <p:nvPr/>
        </p:nvPicPr>
        <p:blipFill rotWithShape="1">
          <a:blip r:embed="rId3">
            <a:alphaModFix/>
          </a:blip>
          <a:srcRect b="4048" l="1071" r="1070" t="3810"/>
          <a:stretch/>
        </p:blipFill>
        <p:spPr>
          <a:xfrm>
            <a:off x="1295400" y="1079500"/>
            <a:ext cx="6959600" cy="49149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Existence Dependencies</a:t>
            </a:r>
            <a:endParaRPr/>
          </a:p>
        </p:txBody>
      </p:sp>
      <p:sp>
        <p:nvSpPr>
          <p:cNvPr id="510" name="Google Shape;510;p76"/>
          <p:cNvSpPr txBox="1"/>
          <p:nvPr>
            <p:ph idx="1" type="body"/>
          </p:nvPr>
        </p:nvSpPr>
        <p:spPr>
          <a:xfrm>
            <a:off x="855662" y="1222375"/>
            <a:ext cx="7029450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existence of entity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depends on the existence of entity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be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existence dependent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dominant entity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 example below,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subordinate entity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 example below,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grpSp>
        <p:nvGrpSpPr>
          <p:cNvPr id="511" name="Google Shape;511;p76"/>
          <p:cNvGrpSpPr/>
          <p:nvPr/>
        </p:nvGrpSpPr>
        <p:grpSpPr>
          <a:xfrm>
            <a:off x="1438275" y="3160712"/>
            <a:ext cx="6340475" cy="1370012"/>
            <a:chOff x="987" y="2364"/>
            <a:chExt cx="3994" cy="863"/>
          </a:xfrm>
        </p:grpSpPr>
        <p:sp>
          <p:nvSpPr>
            <p:cNvPr id="512" name="Google Shape;512;p76"/>
            <p:cNvSpPr/>
            <p:nvPr/>
          </p:nvSpPr>
          <p:spPr>
            <a:xfrm>
              <a:off x="2300" y="2364"/>
              <a:ext cx="854" cy="863"/>
            </a:xfrm>
            <a:prstGeom prst="diamond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loan-payment</a:t>
              </a:r>
              <a:endParaRPr/>
            </a:p>
          </p:txBody>
        </p:sp>
        <p:sp>
          <p:nvSpPr>
            <p:cNvPr id="513" name="Google Shape;513;p76"/>
            <p:cNvSpPr txBox="1"/>
            <p:nvPr/>
          </p:nvSpPr>
          <p:spPr>
            <a:xfrm>
              <a:off x="4209" y="2681"/>
              <a:ext cx="772" cy="209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payment</a:t>
              </a:r>
              <a:endParaRPr/>
            </a:p>
          </p:txBody>
        </p:sp>
        <p:sp>
          <p:nvSpPr>
            <p:cNvPr id="514" name="Google Shape;514;p76"/>
            <p:cNvSpPr txBox="1"/>
            <p:nvPr/>
          </p:nvSpPr>
          <p:spPr>
            <a:xfrm>
              <a:off x="987" y="2677"/>
              <a:ext cx="454" cy="209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loan</a:t>
              </a:r>
              <a:endParaRPr/>
            </a:p>
          </p:txBody>
        </p:sp>
        <p:cxnSp>
          <p:nvCxnSpPr>
            <p:cNvPr id="515" name="Google Shape;515;p76"/>
            <p:cNvCxnSpPr/>
            <p:nvPr/>
          </p:nvCxnSpPr>
          <p:spPr>
            <a:xfrm rot="10800000">
              <a:off x="1463" y="2791"/>
              <a:ext cx="8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stealth"/>
            </a:ln>
          </p:spPr>
        </p:cxnSp>
        <p:cxnSp>
          <p:nvCxnSpPr>
            <p:cNvPr id="516" name="Google Shape;516;p76"/>
            <p:cNvCxnSpPr/>
            <p:nvPr/>
          </p:nvCxnSpPr>
          <p:spPr>
            <a:xfrm>
              <a:off x="3136" y="2791"/>
              <a:ext cx="105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17" name="Google Shape;517;p76"/>
          <p:cNvSpPr txBox="1"/>
          <p:nvPr/>
        </p:nvSpPr>
        <p:spPr>
          <a:xfrm>
            <a:off x="717550" y="4813300"/>
            <a:ext cx="75850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 is deleted, then all its associated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payment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entities must be deleted also.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6.8</a:t>
            </a:r>
            <a:endParaRPr/>
          </a:p>
        </p:txBody>
      </p:sp>
      <p:pic>
        <p:nvPicPr>
          <p:cNvPr id="523" name="Google Shape;523;p77"/>
          <p:cNvPicPr preferRelativeResize="0"/>
          <p:nvPr/>
        </p:nvPicPr>
        <p:blipFill rotWithShape="1">
          <a:blip r:embed="rId3">
            <a:alphaModFix/>
          </a:blip>
          <a:srcRect b="762" l="16412" r="16602" t="764"/>
          <a:stretch/>
        </p:blipFill>
        <p:spPr>
          <a:xfrm>
            <a:off x="2171700" y="857250"/>
            <a:ext cx="5014912" cy="55292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6.15</a:t>
            </a:r>
            <a:endParaRPr/>
          </a:p>
        </p:txBody>
      </p:sp>
      <p:pic>
        <p:nvPicPr>
          <p:cNvPr id="529" name="Google Shape;529;p78"/>
          <p:cNvPicPr preferRelativeResize="0"/>
          <p:nvPr/>
        </p:nvPicPr>
        <p:blipFill rotWithShape="1">
          <a:blip r:embed="rId3">
            <a:alphaModFix/>
          </a:blip>
          <a:srcRect b="801" l="11430" r="11430" t="802"/>
          <a:stretch/>
        </p:blipFill>
        <p:spPr>
          <a:xfrm>
            <a:off x="1976437" y="1057275"/>
            <a:ext cx="5495925" cy="52578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6.16</a:t>
            </a:r>
            <a:endParaRPr/>
          </a:p>
        </p:txBody>
      </p:sp>
      <p:pic>
        <p:nvPicPr>
          <p:cNvPr id="535" name="Google Shape;535;p79"/>
          <p:cNvPicPr preferRelativeResize="0"/>
          <p:nvPr/>
        </p:nvPicPr>
        <p:blipFill rotWithShape="1">
          <a:blip r:embed="rId3">
            <a:alphaModFix/>
          </a:blip>
          <a:srcRect b="18556" l="385" r="386" t="18556"/>
          <a:stretch/>
        </p:blipFill>
        <p:spPr>
          <a:xfrm>
            <a:off x="919162" y="1885950"/>
            <a:ext cx="7334250" cy="34861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6.26</a:t>
            </a:r>
            <a:endParaRPr/>
          </a:p>
        </p:txBody>
      </p:sp>
      <p:pic>
        <p:nvPicPr>
          <p:cNvPr id="541" name="Google Shape;541;p80"/>
          <p:cNvPicPr preferRelativeResize="0"/>
          <p:nvPr/>
        </p:nvPicPr>
        <p:blipFill rotWithShape="1">
          <a:blip r:embed="rId3">
            <a:alphaModFix/>
          </a:blip>
          <a:srcRect b="2221" l="12500" r="12289" t="555"/>
          <a:stretch/>
        </p:blipFill>
        <p:spPr>
          <a:xfrm>
            <a:off x="1947862" y="842962"/>
            <a:ext cx="5157787" cy="50006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6.27</a:t>
            </a:r>
            <a:endParaRPr/>
          </a:p>
        </p:txBody>
      </p:sp>
      <p:pic>
        <p:nvPicPr>
          <p:cNvPr id="547" name="Google Shape;547;p81"/>
          <p:cNvPicPr preferRelativeResize="0"/>
          <p:nvPr/>
        </p:nvPicPr>
        <p:blipFill rotWithShape="1">
          <a:blip r:embed="rId3">
            <a:alphaModFix/>
          </a:blip>
          <a:srcRect b="30502" l="398" r="994" t="31034"/>
          <a:stretch/>
        </p:blipFill>
        <p:spPr>
          <a:xfrm>
            <a:off x="895350" y="1614487"/>
            <a:ext cx="7081837" cy="20716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6.28</a:t>
            </a:r>
            <a:endParaRPr/>
          </a:p>
        </p:txBody>
      </p:sp>
      <p:pic>
        <p:nvPicPr>
          <p:cNvPr id="553" name="Google Shape;553;p82"/>
          <p:cNvPicPr preferRelativeResize="0"/>
          <p:nvPr/>
        </p:nvPicPr>
        <p:blipFill rotWithShape="1">
          <a:blip r:embed="rId3">
            <a:alphaModFix/>
          </a:blip>
          <a:srcRect b="1352" l="20094" r="20703" t="540"/>
          <a:stretch/>
        </p:blipFill>
        <p:spPr>
          <a:xfrm>
            <a:off x="2405062" y="1006475"/>
            <a:ext cx="4167187" cy="51800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6.29</a:t>
            </a:r>
            <a:endParaRPr/>
          </a:p>
        </p:txBody>
      </p:sp>
      <p:pic>
        <p:nvPicPr>
          <p:cNvPr id="559" name="Google Shape;559;p83"/>
          <p:cNvPicPr preferRelativeResize="0"/>
          <p:nvPr/>
        </p:nvPicPr>
        <p:blipFill rotWithShape="1">
          <a:blip r:embed="rId3">
            <a:alphaModFix/>
          </a:blip>
          <a:srcRect b="3822" l="717" r="954" t="3184"/>
          <a:stretch/>
        </p:blipFill>
        <p:spPr>
          <a:xfrm>
            <a:off x="1833562" y="1385887"/>
            <a:ext cx="5881687" cy="41719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6.30</a:t>
            </a:r>
            <a:endParaRPr/>
          </a:p>
        </p:txBody>
      </p:sp>
      <p:pic>
        <p:nvPicPr>
          <p:cNvPr id="565" name="Google Shape;565;p84"/>
          <p:cNvPicPr preferRelativeResize="0"/>
          <p:nvPr/>
        </p:nvPicPr>
        <p:blipFill rotWithShape="1">
          <a:blip r:embed="rId3">
            <a:alphaModFix/>
          </a:blip>
          <a:srcRect b="13887" l="625" r="416" t="14443"/>
          <a:stretch/>
        </p:blipFill>
        <p:spPr>
          <a:xfrm>
            <a:off x="1490662" y="1357312"/>
            <a:ext cx="6786562" cy="36861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6.31</a:t>
            </a:r>
            <a:endParaRPr/>
          </a:p>
        </p:txBody>
      </p:sp>
      <p:pic>
        <p:nvPicPr>
          <p:cNvPr id="571" name="Google Shape;571;p85"/>
          <p:cNvPicPr preferRelativeResize="0"/>
          <p:nvPr/>
        </p:nvPicPr>
        <p:blipFill rotWithShape="1">
          <a:blip r:embed="rId3">
            <a:alphaModFix/>
          </a:blip>
          <a:srcRect b="833" l="9165" r="10000" t="832"/>
          <a:stretch/>
        </p:blipFill>
        <p:spPr>
          <a:xfrm>
            <a:off x="2066925" y="1042987"/>
            <a:ext cx="5543550" cy="50577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6"/>
          <p:cNvSpPr txBox="1"/>
          <p:nvPr>
            <p:ph type="title"/>
          </p:nvPr>
        </p:nvSpPr>
        <p:spPr>
          <a:xfrm>
            <a:off x="758825" y="673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E-R Notations</a:t>
            </a:r>
            <a:b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6.24</a:t>
            </a:r>
            <a:endParaRPr/>
          </a:p>
        </p:txBody>
      </p:sp>
      <p:pic>
        <p:nvPicPr>
          <p:cNvPr id="577" name="Google Shape;577;p86"/>
          <p:cNvPicPr preferRelativeResize="0"/>
          <p:nvPr/>
        </p:nvPicPr>
        <p:blipFill rotWithShape="1">
          <a:blip r:embed="rId3">
            <a:alphaModFix/>
          </a:blip>
          <a:srcRect b="15833" l="625" r="1875" t="15276"/>
          <a:stretch/>
        </p:blipFill>
        <p:spPr>
          <a:xfrm>
            <a:off x="728662" y="1409700"/>
            <a:ext cx="7564437" cy="4008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b-5-grey">
  <a:themeElements>
    <a:clrScheme name="default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CCECFF"/>
      </a:accent3>
      <a:accent4>
        <a:srgbClr val="FFFFFF"/>
      </a:accent4>
      <a:accent5>
        <a:srgbClr val="CCCC00"/>
      </a:accent5>
      <a:accent6>
        <a:srgbClr val="CCECFF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