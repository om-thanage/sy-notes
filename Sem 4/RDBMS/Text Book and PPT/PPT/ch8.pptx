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1"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Lst>
  <p:sldSz cy="6858000" cx="9144000"/>
  <p:notesSz cx="7315200" cy="9601200"/>
  <p:embeddedFontLst>
    <p:embeddedFont>
      <p:font typeface="Helvetica Neue"/>
      <p:regular r:id="rId58"/>
      <p:bold r:id="rId59"/>
      <p:italic r:id="rId60"/>
      <p:boldItalic r:id="rId6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1" Type="http://schemas.openxmlformats.org/officeDocument/2006/relationships/font" Target="fonts/HelveticaNeue-boldItalic.fnt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60" Type="http://schemas.openxmlformats.org/officeDocument/2006/relationships/font" Target="fonts/HelveticaNeue-italic.fntdata"/><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font" Target="fonts/HelveticaNeue-bold.fntdata"/><Relationship Id="rId14" Type="http://schemas.openxmlformats.org/officeDocument/2006/relationships/slide" Target="slides/slide9.xml"/><Relationship Id="rId58" Type="http://schemas.openxmlformats.org/officeDocument/2006/relationships/font" Target="fonts/HelveticaNeue-regular.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12" type="sldNum"/>
          </p:nvPr>
        </p:nvSpPr>
        <p:spPr>
          <a:xfrm>
            <a:off x="4144962" y="9121775"/>
            <a:ext cx="3170237" cy="479425"/>
          </a:xfrm>
          <a:prstGeom prst="rect">
            <a:avLst/>
          </a:prstGeom>
          <a:noFill/>
          <a:ln>
            <a:noFill/>
          </a:ln>
        </p:spPr>
        <p:txBody>
          <a:bodyPr anchorCtr="0" anchor="b" bIns="48325" lIns="96650" spcFirstLastPara="1" rIns="96650" wrap="square" tIns="48325">
            <a:noAutofit/>
          </a:bodyPr>
          <a:lstStyle/>
          <a:p>
            <a:pPr indent="0" lvl="0" marL="0" marR="0" rtl="0" algn="l">
              <a:lnSpc>
                <a:spcPct val="100000"/>
              </a:lnSpc>
              <a:spcBef>
                <a:spcPts val="0"/>
              </a:spcBef>
              <a:spcAft>
                <a:spcPts val="0"/>
              </a:spcAft>
              <a:buNone/>
            </a:pPr>
            <a:fld id="{00000000-1234-1234-1234-123412341234}" type="slidenum">
              <a:rPr b="0" i="0" lang="en-US" sz="2400" u="none" cap="none" strike="noStrike">
                <a:solidFill>
                  <a:srgbClr val="000000"/>
                </a:solidFill>
                <a:latin typeface="Times New Roman"/>
                <a:ea typeface="Times New Roman"/>
                <a:cs typeface="Times New Roman"/>
                <a:sym typeface="Times New Roman"/>
              </a:rPr>
              <a:t>‹#›</a:t>
            </a:fld>
            <a:endParaRPr/>
          </a:p>
        </p:txBody>
      </p:sp>
      <p:sp>
        <p:nvSpPr>
          <p:cNvPr id="4" name="Google Shape;4;n"/>
          <p:cNvSpPr txBox="1"/>
          <p:nvPr>
            <p:ph idx="2" type="hdr"/>
          </p:nvPr>
        </p:nvSpPr>
        <p:spPr>
          <a:xfrm>
            <a:off x="0" y="0"/>
            <a:ext cx="3170237" cy="479425"/>
          </a:xfrm>
          <a:prstGeom prst="rect">
            <a:avLst/>
          </a:prstGeom>
          <a:noFill/>
          <a:ln>
            <a:noFill/>
          </a:ln>
        </p:spPr>
        <p:txBody>
          <a:bodyPr anchorCtr="0" anchor="t" bIns="48325" lIns="96650" spcFirstLastPara="1" rIns="96650" wrap="square" tIns="48325">
            <a:noAutofit/>
          </a:bodyPr>
          <a:lstStyle>
            <a:lvl1pPr lvl="0" marR="0" rtl="0" algn="l">
              <a:lnSpc>
                <a:spcPct val="100000"/>
              </a:lnSpc>
              <a:spcBef>
                <a:spcPts val="0"/>
              </a:spcBef>
              <a:spcAft>
                <a:spcPts val="0"/>
              </a:spcAft>
              <a:buSzPts val="1400"/>
              <a:buNone/>
              <a:defRPr b="0" i="0" sz="1300" u="non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9pPr>
          </a:lstStyle>
          <a:p/>
        </p:txBody>
      </p:sp>
      <p:sp>
        <p:nvSpPr>
          <p:cNvPr id="5" name="Google Shape;5;n"/>
          <p:cNvSpPr txBox="1"/>
          <p:nvPr>
            <p:ph idx="10" type="dt"/>
          </p:nvPr>
        </p:nvSpPr>
        <p:spPr>
          <a:xfrm>
            <a:off x="4144962" y="0"/>
            <a:ext cx="3170237" cy="479425"/>
          </a:xfrm>
          <a:prstGeom prst="rect">
            <a:avLst/>
          </a:prstGeom>
          <a:noFill/>
          <a:ln>
            <a:noFill/>
          </a:ln>
        </p:spPr>
        <p:txBody>
          <a:bodyPr anchorCtr="0" anchor="t" bIns="48325" lIns="96650" spcFirstLastPara="1" rIns="96650" wrap="square" tIns="48325">
            <a:noAutofit/>
          </a:bodyPr>
          <a:lstStyle>
            <a:lvl1pPr lvl="0" marR="0" rtl="0" algn="r">
              <a:lnSpc>
                <a:spcPct val="100000"/>
              </a:lnSpc>
              <a:spcBef>
                <a:spcPts val="0"/>
              </a:spcBef>
              <a:spcAft>
                <a:spcPts val="0"/>
              </a:spcAft>
              <a:buSzPts val="1400"/>
              <a:buNone/>
              <a:defRPr b="0" i="0" sz="1300" u="non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9pPr>
          </a:lstStyle>
          <a:p/>
        </p:txBody>
      </p:sp>
      <p:sp>
        <p:nvSpPr>
          <p:cNvPr id="6" name="Google Shape;6;n"/>
          <p:cNvSpPr/>
          <p:nvPr>
            <p:ph idx="3"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7" name="Google Shape;7;n"/>
          <p:cNvSpPr txBox="1"/>
          <p:nvPr>
            <p:ph idx="1" type="body"/>
          </p:nvPr>
        </p:nvSpPr>
        <p:spPr>
          <a:xfrm>
            <a:off x="974725" y="4560887"/>
            <a:ext cx="5365750" cy="4319587"/>
          </a:xfrm>
          <a:prstGeom prst="rect">
            <a:avLst/>
          </a:prstGeom>
          <a:noFill/>
          <a:ln>
            <a:noFill/>
          </a:ln>
        </p:spPr>
        <p:txBody>
          <a:bodyPr anchorCtr="0" anchor="t" bIns="48325" lIns="96650" spcFirstLastPara="1" rIns="96650" wrap="square" tIns="48325">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8" name="Google Shape;8;n"/>
          <p:cNvSpPr txBox="1"/>
          <p:nvPr>
            <p:ph idx="11" type="ftr"/>
          </p:nvPr>
        </p:nvSpPr>
        <p:spPr>
          <a:xfrm>
            <a:off x="0" y="9121775"/>
            <a:ext cx="3170237" cy="479425"/>
          </a:xfrm>
          <a:prstGeom prst="rect">
            <a:avLst/>
          </a:prstGeom>
          <a:noFill/>
          <a:ln>
            <a:noFill/>
          </a:ln>
        </p:spPr>
        <p:txBody>
          <a:bodyPr anchorCtr="0" anchor="b" bIns="48325" lIns="96650" spcFirstLastPara="1" rIns="96650" wrap="square" tIns="48325">
            <a:noAutofit/>
          </a:bodyPr>
          <a:lstStyle>
            <a:lvl1pPr lvl="0" marR="0" rtl="0" algn="l">
              <a:lnSpc>
                <a:spcPct val="100000"/>
              </a:lnSpc>
              <a:spcBef>
                <a:spcPts val="0"/>
              </a:spcBef>
              <a:spcAft>
                <a:spcPts val="0"/>
              </a:spcAft>
              <a:buSzPts val="1400"/>
              <a:buNone/>
              <a:defRPr b="0" i="0" sz="1300" u="non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9pPr>
          </a:lstStyle>
          <a:p/>
        </p:txBody>
      </p:sp>
      <p:sp>
        <p:nvSpPr>
          <p:cNvPr id="9" name="Google Shape;9;n"/>
          <p:cNvSpPr txBox="1"/>
          <p:nvPr>
            <p:ph idx="4" type="sldNum"/>
          </p:nvPr>
        </p:nvSpPr>
        <p:spPr>
          <a:xfrm>
            <a:off x="4144962" y="9121775"/>
            <a:ext cx="3170237" cy="479425"/>
          </a:xfrm>
          <a:prstGeom prst="rect">
            <a:avLst/>
          </a:prstGeom>
          <a:noFill/>
          <a:ln>
            <a:noFill/>
          </a:ln>
        </p:spPr>
        <p:txBody>
          <a:bodyPr anchorCtr="0" anchor="b" bIns="48325" lIns="96650" spcFirstLastPara="1" rIns="96650" wrap="square" tIns="48325">
            <a:noAutofit/>
          </a:bodyPr>
          <a:lstStyle/>
          <a:p>
            <a:pPr indent="0" lvl="0" marL="0" marR="0" rtl="0" algn="r">
              <a:lnSpc>
                <a:spcPct val="100000"/>
              </a:lnSpc>
              <a:spcBef>
                <a:spcPts val="0"/>
              </a:spcBef>
              <a:spcAft>
                <a:spcPts val="0"/>
              </a:spcAft>
              <a:buClr>
                <a:srgbClr val="000000"/>
              </a:buClr>
              <a:buSzPts val="1300"/>
              <a:buFont typeface="Times New Roman"/>
              <a:buNone/>
            </a:pPr>
            <a:fld id="{00000000-1234-1234-1234-123412341234}" type="slidenum">
              <a:rPr b="0" i="0" lang="en-US" sz="1300" u="none">
                <a:solidFill>
                  <a:srgbClr val="000000"/>
                </a:solidFill>
                <a:latin typeface="Times New Roman"/>
                <a:ea typeface="Times New Roman"/>
                <a:cs typeface="Times New Roman"/>
                <a:sym typeface="Times New Roman"/>
              </a:rPr>
              <a:t>‹#›</a:t>
            </a:fld>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 name="Shape 41"/>
        <p:cNvGrpSpPr/>
        <p:nvPr/>
      </p:nvGrpSpPr>
      <p:grpSpPr>
        <a:xfrm>
          <a:off x="0" y="0"/>
          <a:ext cx="0" cy="0"/>
          <a:chOff x="0" y="0"/>
          <a:chExt cx="0" cy="0"/>
        </a:xfrm>
      </p:grpSpPr>
      <p:sp>
        <p:nvSpPr>
          <p:cNvPr id="42" name="Google Shape;42;p1:notes"/>
          <p:cNvSpPr txBox="1"/>
          <p:nvPr>
            <p:ph idx="12" type="sldNum"/>
          </p:nvPr>
        </p:nvSpPr>
        <p:spPr>
          <a:xfrm>
            <a:off x="4144962" y="9121775"/>
            <a:ext cx="3170237" cy="479425"/>
          </a:xfrm>
          <a:prstGeom prst="rect">
            <a:avLst/>
          </a:prstGeom>
          <a:noFill/>
          <a:ln>
            <a:noFill/>
          </a:ln>
        </p:spPr>
        <p:txBody>
          <a:bodyPr anchorCtr="0" anchor="b" bIns="48325" lIns="96650" spcFirstLastPara="1" rIns="96650" wrap="square" tIns="48325">
            <a:noAutofit/>
          </a:bodyPr>
          <a:lstStyle/>
          <a:p>
            <a:pPr indent="0" lvl="0" marL="0" rtl="0" algn="l">
              <a:lnSpc>
                <a:spcPct val="100000"/>
              </a:lnSpc>
              <a:spcBef>
                <a:spcPts val="0"/>
              </a:spcBef>
              <a:spcAft>
                <a:spcPts val="0"/>
              </a:spcAft>
              <a:buNone/>
            </a:pPr>
            <a:fld id="{00000000-1234-1234-1234-123412341234}" type="slidenum">
              <a:rPr lang="en-US"/>
              <a:t>‹#›</a:t>
            </a:fld>
            <a:endParaRPr/>
          </a:p>
        </p:txBody>
      </p:sp>
      <p:sp>
        <p:nvSpPr>
          <p:cNvPr id="43" name="Google Shape;43;p1: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solidFill>
            <a:srgbClr val="FFFFFF"/>
          </a:solidFill>
          <a:ln>
            <a:noFill/>
          </a:ln>
        </p:spPr>
      </p:sp>
      <p:sp>
        <p:nvSpPr>
          <p:cNvPr id="44" name="Google Shape;44;p1:notes"/>
          <p:cNvSpPr txBox="1"/>
          <p:nvPr>
            <p:ph idx="1" type="body"/>
          </p:nvPr>
        </p:nvSpPr>
        <p:spPr>
          <a:xfrm>
            <a:off x="974725" y="4560887"/>
            <a:ext cx="5365750" cy="4319587"/>
          </a:xfrm>
          <a:prstGeom prst="rect">
            <a:avLst/>
          </a:prstGeom>
          <a:noFill/>
          <a:ln>
            <a:noFill/>
          </a:ln>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 name="Shape 47"/>
        <p:cNvGrpSpPr/>
        <p:nvPr/>
      </p:nvGrpSpPr>
      <p:grpSpPr>
        <a:xfrm>
          <a:off x="0" y="0"/>
          <a:ext cx="0" cy="0"/>
          <a:chOff x="0" y="0"/>
          <a:chExt cx="0" cy="0"/>
        </a:xfrm>
      </p:grpSpPr>
      <p:sp>
        <p:nvSpPr>
          <p:cNvPr id="48" name="Google Shape;48;p2:notes"/>
          <p:cNvSpPr txBox="1"/>
          <p:nvPr>
            <p:ph idx="1" type="body"/>
          </p:nvPr>
        </p:nvSpPr>
        <p:spPr>
          <a:xfrm>
            <a:off x="974725" y="4560887"/>
            <a:ext cx="5365750" cy="4319587"/>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49" name="Google Shape;49;p2: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3:notes"/>
          <p:cNvSpPr txBox="1"/>
          <p:nvPr>
            <p:ph idx="1" type="body"/>
          </p:nvPr>
        </p:nvSpPr>
        <p:spPr>
          <a:xfrm>
            <a:off x="974725" y="4560887"/>
            <a:ext cx="5365750" cy="4319587"/>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56" name="Google Shape;56;p3: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p4:notes"/>
          <p:cNvSpPr txBox="1"/>
          <p:nvPr>
            <p:ph idx="1" type="body"/>
          </p:nvPr>
        </p:nvSpPr>
        <p:spPr>
          <a:xfrm>
            <a:off x="974725" y="4560887"/>
            <a:ext cx="5365750" cy="4319587"/>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63" name="Google Shape;63;p4: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5:notes"/>
          <p:cNvSpPr txBox="1"/>
          <p:nvPr>
            <p:ph idx="1" type="body"/>
          </p:nvPr>
        </p:nvSpPr>
        <p:spPr>
          <a:xfrm>
            <a:off x="974725" y="4560887"/>
            <a:ext cx="5365750" cy="4319587"/>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70" name="Google Shape;70;p5: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p6:notes"/>
          <p:cNvSpPr txBox="1"/>
          <p:nvPr>
            <p:ph idx="1" type="body"/>
          </p:nvPr>
        </p:nvSpPr>
        <p:spPr>
          <a:xfrm>
            <a:off x="974725" y="4560887"/>
            <a:ext cx="5365750" cy="4319587"/>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77" name="Google Shape;77;p6: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7:notes"/>
          <p:cNvSpPr txBox="1"/>
          <p:nvPr>
            <p:ph idx="1" type="body"/>
          </p:nvPr>
        </p:nvSpPr>
        <p:spPr>
          <a:xfrm>
            <a:off x="974725" y="4560887"/>
            <a:ext cx="5365750" cy="4319587"/>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84" name="Google Shape;84;p7: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8:notes"/>
          <p:cNvSpPr txBox="1"/>
          <p:nvPr>
            <p:ph idx="1" type="body"/>
          </p:nvPr>
        </p:nvSpPr>
        <p:spPr>
          <a:xfrm>
            <a:off x="974725" y="4560887"/>
            <a:ext cx="5365750" cy="4319587"/>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91" name="Google Shape;91;p8: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9:notes"/>
          <p:cNvSpPr txBox="1"/>
          <p:nvPr>
            <p:ph idx="1" type="body"/>
          </p:nvPr>
        </p:nvSpPr>
        <p:spPr>
          <a:xfrm>
            <a:off x="974725" y="4560887"/>
            <a:ext cx="5365750" cy="4319587"/>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98" name="Google Shape;98;p9: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10:notes"/>
          <p:cNvSpPr txBox="1"/>
          <p:nvPr>
            <p:ph idx="1" type="body"/>
          </p:nvPr>
        </p:nvSpPr>
        <p:spPr>
          <a:xfrm>
            <a:off x="974725" y="4560887"/>
            <a:ext cx="5365750" cy="4319587"/>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105" name="Google Shape;105;p10: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11:notes"/>
          <p:cNvSpPr txBox="1"/>
          <p:nvPr>
            <p:ph idx="1" type="body"/>
          </p:nvPr>
        </p:nvSpPr>
        <p:spPr>
          <a:xfrm>
            <a:off x="974725" y="4560887"/>
            <a:ext cx="5365750" cy="4319587"/>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112" name="Google Shape;112;p11: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12:notes"/>
          <p:cNvSpPr txBox="1"/>
          <p:nvPr>
            <p:ph idx="1" type="body"/>
          </p:nvPr>
        </p:nvSpPr>
        <p:spPr>
          <a:xfrm>
            <a:off x="974725" y="4560887"/>
            <a:ext cx="5365750" cy="4319587"/>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119" name="Google Shape;119;p12: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13:notes"/>
          <p:cNvSpPr txBox="1"/>
          <p:nvPr>
            <p:ph idx="1" type="body"/>
          </p:nvPr>
        </p:nvSpPr>
        <p:spPr>
          <a:xfrm>
            <a:off x="974725" y="4560887"/>
            <a:ext cx="5365750" cy="4319587"/>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126" name="Google Shape;126;p13: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14:notes"/>
          <p:cNvSpPr txBox="1"/>
          <p:nvPr>
            <p:ph idx="1" type="body"/>
          </p:nvPr>
        </p:nvSpPr>
        <p:spPr>
          <a:xfrm>
            <a:off x="974725" y="4560887"/>
            <a:ext cx="5365750" cy="4319587"/>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133" name="Google Shape;133;p14: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15:notes"/>
          <p:cNvSpPr txBox="1"/>
          <p:nvPr>
            <p:ph idx="1" type="body"/>
          </p:nvPr>
        </p:nvSpPr>
        <p:spPr>
          <a:xfrm>
            <a:off x="974725" y="4560887"/>
            <a:ext cx="5365750" cy="4319587"/>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140" name="Google Shape;140;p15: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16:notes"/>
          <p:cNvSpPr txBox="1"/>
          <p:nvPr>
            <p:ph idx="1" type="body"/>
          </p:nvPr>
        </p:nvSpPr>
        <p:spPr>
          <a:xfrm>
            <a:off x="974725" y="4560887"/>
            <a:ext cx="5365750" cy="4319587"/>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147" name="Google Shape;147;p16: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17:notes"/>
          <p:cNvSpPr txBox="1"/>
          <p:nvPr>
            <p:ph idx="1" type="body"/>
          </p:nvPr>
        </p:nvSpPr>
        <p:spPr>
          <a:xfrm>
            <a:off x="974725" y="4560887"/>
            <a:ext cx="5365750" cy="4319587"/>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156" name="Google Shape;156;p17: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18:notes"/>
          <p:cNvSpPr txBox="1"/>
          <p:nvPr>
            <p:ph idx="1" type="body"/>
          </p:nvPr>
        </p:nvSpPr>
        <p:spPr>
          <a:xfrm>
            <a:off x="974725" y="4560887"/>
            <a:ext cx="5365750" cy="4319587"/>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163" name="Google Shape;163;p18: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19:notes"/>
          <p:cNvSpPr txBox="1"/>
          <p:nvPr>
            <p:ph idx="1" type="body"/>
          </p:nvPr>
        </p:nvSpPr>
        <p:spPr>
          <a:xfrm>
            <a:off x="974725" y="4560887"/>
            <a:ext cx="5365750" cy="4319587"/>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170" name="Google Shape;170;p19: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20:notes"/>
          <p:cNvSpPr txBox="1"/>
          <p:nvPr>
            <p:ph idx="1" type="body"/>
          </p:nvPr>
        </p:nvSpPr>
        <p:spPr>
          <a:xfrm>
            <a:off x="974725" y="4560887"/>
            <a:ext cx="5365750" cy="4319587"/>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177" name="Google Shape;177;p20: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21:notes"/>
          <p:cNvSpPr txBox="1"/>
          <p:nvPr>
            <p:ph idx="1" type="body"/>
          </p:nvPr>
        </p:nvSpPr>
        <p:spPr>
          <a:xfrm>
            <a:off x="974725" y="4560887"/>
            <a:ext cx="5365750" cy="4319587"/>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184" name="Google Shape;184;p21: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22:notes"/>
          <p:cNvSpPr txBox="1"/>
          <p:nvPr>
            <p:ph idx="1" type="body"/>
          </p:nvPr>
        </p:nvSpPr>
        <p:spPr>
          <a:xfrm>
            <a:off x="974725" y="4560887"/>
            <a:ext cx="5365750" cy="4319587"/>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191" name="Google Shape;191;p22: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23:notes"/>
          <p:cNvSpPr txBox="1"/>
          <p:nvPr>
            <p:ph idx="1" type="body"/>
          </p:nvPr>
        </p:nvSpPr>
        <p:spPr>
          <a:xfrm>
            <a:off x="974725" y="4560887"/>
            <a:ext cx="5365750" cy="4319587"/>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198" name="Google Shape;198;p23: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24:notes"/>
          <p:cNvSpPr txBox="1"/>
          <p:nvPr>
            <p:ph idx="1" type="body"/>
          </p:nvPr>
        </p:nvSpPr>
        <p:spPr>
          <a:xfrm>
            <a:off x="974725" y="4560887"/>
            <a:ext cx="5365750" cy="4319587"/>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205" name="Google Shape;205;p24: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25:notes"/>
          <p:cNvSpPr txBox="1"/>
          <p:nvPr>
            <p:ph idx="1" type="body"/>
          </p:nvPr>
        </p:nvSpPr>
        <p:spPr>
          <a:xfrm>
            <a:off x="974725" y="4560887"/>
            <a:ext cx="5365750" cy="4319587"/>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212" name="Google Shape;212;p25: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26:notes"/>
          <p:cNvSpPr txBox="1"/>
          <p:nvPr>
            <p:ph idx="1" type="body"/>
          </p:nvPr>
        </p:nvSpPr>
        <p:spPr>
          <a:xfrm>
            <a:off x="974725" y="4560887"/>
            <a:ext cx="5365750" cy="4319587"/>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219" name="Google Shape;219;p26: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27:notes"/>
          <p:cNvSpPr txBox="1"/>
          <p:nvPr>
            <p:ph idx="1" type="body"/>
          </p:nvPr>
        </p:nvSpPr>
        <p:spPr>
          <a:xfrm>
            <a:off x="974725" y="4560887"/>
            <a:ext cx="5365750" cy="4319587"/>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226" name="Google Shape;226;p27: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28:notes"/>
          <p:cNvSpPr txBox="1"/>
          <p:nvPr>
            <p:ph idx="1" type="body"/>
          </p:nvPr>
        </p:nvSpPr>
        <p:spPr>
          <a:xfrm>
            <a:off x="974725" y="4560887"/>
            <a:ext cx="5365750" cy="4319587"/>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233" name="Google Shape;233;p28: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29:notes"/>
          <p:cNvSpPr txBox="1"/>
          <p:nvPr>
            <p:ph idx="1" type="body"/>
          </p:nvPr>
        </p:nvSpPr>
        <p:spPr>
          <a:xfrm>
            <a:off x="974725" y="4560887"/>
            <a:ext cx="5365750" cy="4319587"/>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240" name="Google Shape;240;p29: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30:notes"/>
          <p:cNvSpPr txBox="1"/>
          <p:nvPr>
            <p:ph idx="1" type="body"/>
          </p:nvPr>
        </p:nvSpPr>
        <p:spPr>
          <a:xfrm>
            <a:off x="974725" y="4560887"/>
            <a:ext cx="5365750" cy="4319587"/>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247" name="Google Shape;247;p30: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31:notes"/>
          <p:cNvSpPr txBox="1"/>
          <p:nvPr>
            <p:ph idx="1" type="body"/>
          </p:nvPr>
        </p:nvSpPr>
        <p:spPr>
          <a:xfrm>
            <a:off x="974725" y="4560887"/>
            <a:ext cx="5365750" cy="4319587"/>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254" name="Google Shape;254;p31: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32:notes"/>
          <p:cNvSpPr txBox="1"/>
          <p:nvPr>
            <p:ph idx="1" type="body"/>
          </p:nvPr>
        </p:nvSpPr>
        <p:spPr>
          <a:xfrm>
            <a:off x="974725" y="4560887"/>
            <a:ext cx="5365750" cy="4319587"/>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261" name="Google Shape;261;p32: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33:notes"/>
          <p:cNvSpPr txBox="1"/>
          <p:nvPr>
            <p:ph idx="1" type="body"/>
          </p:nvPr>
        </p:nvSpPr>
        <p:spPr>
          <a:xfrm>
            <a:off x="974725" y="4560887"/>
            <a:ext cx="5365750" cy="4319587"/>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268" name="Google Shape;268;p33: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34:notes"/>
          <p:cNvSpPr txBox="1"/>
          <p:nvPr>
            <p:ph idx="1" type="body"/>
          </p:nvPr>
        </p:nvSpPr>
        <p:spPr>
          <a:xfrm>
            <a:off x="974725" y="4560887"/>
            <a:ext cx="5365750" cy="4319587"/>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275" name="Google Shape;275;p34: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35:notes"/>
          <p:cNvSpPr txBox="1"/>
          <p:nvPr>
            <p:ph idx="1" type="body"/>
          </p:nvPr>
        </p:nvSpPr>
        <p:spPr>
          <a:xfrm>
            <a:off x="974725" y="4560887"/>
            <a:ext cx="5365750" cy="4319587"/>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282" name="Google Shape;282;p35: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36:notes"/>
          <p:cNvSpPr txBox="1"/>
          <p:nvPr>
            <p:ph idx="1" type="body"/>
          </p:nvPr>
        </p:nvSpPr>
        <p:spPr>
          <a:xfrm>
            <a:off x="974725" y="4560887"/>
            <a:ext cx="5365750" cy="4319587"/>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289" name="Google Shape;289;p36: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37:notes"/>
          <p:cNvSpPr txBox="1"/>
          <p:nvPr>
            <p:ph idx="1" type="body"/>
          </p:nvPr>
        </p:nvSpPr>
        <p:spPr>
          <a:xfrm>
            <a:off x="974725" y="4560887"/>
            <a:ext cx="5365750" cy="4319587"/>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296" name="Google Shape;296;p37: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38:notes"/>
          <p:cNvSpPr txBox="1"/>
          <p:nvPr>
            <p:ph idx="1" type="body"/>
          </p:nvPr>
        </p:nvSpPr>
        <p:spPr>
          <a:xfrm>
            <a:off x="974725" y="4560887"/>
            <a:ext cx="5365750" cy="4319587"/>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303" name="Google Shape;303;p38: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39:notes"/>
          <p:cNvSpPr txBox="1"/>
          <p:nvPr>
            <p:ph idx="1" type="body"/>
          </p:nvPr>
        </p:nvSpPr>
        <p:spPr>
          <a:xfrm>
            <a:off x="974725" y="4560887"/>
            <a:ext cx="5365750" cy="4319587"/>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322" name="Google Shape;322;p39: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40:notes"/>
          <p:cNvSpPr txBox="1"/>
          <p:nvPr>
            <p:ph idx="1" type="body"/>
          </p:nvPr>
        </p:nvSpPr>
        <p:spPr>
          <a:xfrm>
            <a:off x="974725" y="4560887"/>
            <a:ext cx="5365750" cy="4319587"/>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329" name="Google Shape;329;p40: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41:notes"/>
          <p:cNvSpPr txBox="1"/>
          <p:nvPr>
            <p:ph idx="1" type="body"/>
          </p:nvPr>
        </p:nvSpPr>
        <p:spPr>
          <a:xfrm>
            <a:off x="974725" y="4560887"/>
            <a:ext cx="5365750" cy="4319587"/>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336" name="Google Shape;336;p41: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p42:notes"/>
          <p:cNvSpPr txBox="1"/>
          <p:nvPr>
            <p:ph idx="1" type="body"/>
          </p:nvPr>
        </p:nvSpPr>
        <p:spPr>
          <a:xfrm>
            <a:off x="974725" y="4560887"/>
            <a:ext cx="5365750" cy="4319587"/>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343" name="Google Shape;343;p42: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p43:notes"/>
          <p:cNvSpPr txBox="1"/>
          <p:nvPr>
            <p:ph idx="1" type="body"/>
          </p:nvPr>
        </p:nvSpPr>
        <p:spPr>
          <a:xfrm>
            <a:off x="974725" y="4560887"/>
            <a:ext cx="5365750" cy="4319587"/>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350" name="Google Shape;350;p43: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p44:notes"/>
          <p:cNvSpPr txBox="1"/>
          <p:nvPr>
            <p:ph idx="1" type="body"/>
          </p:nvPr>
        </p:nvSpPr>
        <p:spPr>
          <a:xfrm>
            <a:off x="974725" y="4560887"/>
            <a:ext cx="5365750" cy="4319587"/>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357" name="Google Shape;357;p44: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p45:notes"/>
          <p:cNvSpPr txBox="1"/>
          <p:nvPr>
            <p:ph idx="1" type="body"/>
          </p:nvPr>
        </p:nvSpPr>
        <p:spPr>
          <a:xfrm>
            <a:off x="974725" y="4560887"/>
            <a:ext cx="5365750" cy="4319587"/>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364" name="Google Shape;364;p45: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46:notes"/>
          <p:cNvSpPr txBox="1"/>
          <p:nvPr>
            <p:ph idx="1" type="body"/>
          </p:nvPr>
        </p:nvSpPr>
        <p:spPr>
          <a:xfrm>
            <a:off x="974725" y="4560887"/>
            <a:ext cx="5365750" cy="4319587"/>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371" name="Google Shape;371;p46: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p47:notes"/>
          <p:cNvSpPr txBox="1"/>
          <p:nvPr>
            <p:ph idx="1" type="body"/>
          </p:nvPr>
        </p:nvSpPr>
        <p:spPr>
          <a:xfrm>
            <a:off x="974725" y="4560887"/>
            <a:ext cx="5365750" cy="4319587"/>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378" name="Google Shape;378;p47: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p48:notes"/>
          <p:cNvSpPr txBox="1"/>
          <p:nvPr>
            <p:ph idx="1" type="body"/>
          </p:nvPr>
        </p:nvSpPr>
        <p:spPr>
          <a:xfrm>
            <a:off x="974725" y="4560887"/>
            <a:ext cx="5365750" cy="4319587"/>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385" name="Google Shape;385;p48: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p49:notes"/>
          <p:cNvSpPr txBox="1"/>
          <p:nvPr>
            <p:ph idx="1" type="body"/>
          </p:nvPr>
        </p:nvSpPr>
        <p:spPr>
          <a:xfrm>
            <a:off x="974725" y="4560887"/>
            <a:ext cx="5365750" cy="4319587"/>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392" name="Google Shape;392;p49: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p50:notes"/>
          <p:cNvSpPr txBox="1"/>
          <p:nvPr>
            <p:ph idx="1" type="body"/>
          </p:nvPr>
        </p:nvSpPr>
        <p:spPr>
          <a:xfrm>
            <a:off x="974725" y="4560887"/>
            <a:ext cx="5365750" cy="4319587"/>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399" name="Google Shape;399;p50: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51:notes"/>
          <p:cNvSpPr txBox="1"/>
          <p:nvPr>
            <p:ph idx="1" type="body"/>
          </p:nvPr>
        </p:nvSpPr>
        <p:spPr>
          <a:xfrm>
            <a:off x="974725" y="4560887"/>
            <a:ext cx="5365750" cy="4319587"/>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406" name="Google Shape;406;p51: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p52:notes"/>
          <p:cNvSpPr txBox="1"/>
          <p:nvPr>
            <p:ph idx="1" type="body"/>
          </p:nvPr>
        </p:nvSpPr>
        <p:spPr>
          <a:xfrm>
            <a:off x="974725" y="4560887"/>
            <a:ext cx="5365750" cy="4319587"/>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413" name="Google Shape;413;p52: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www.db-book.com/" TargetMode="External"/><Relationship Id="rId3" Type="http://schemas.openxmlformats.org/officeDocument/2006/relationships/image" Target="../media/image7.jpg"/><Relationship Id="rId4" Type="http://schemas.openxmlformats.org/officeDocument/2006/relationships/image" Target="../media/image4.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bg>
      <p:bgPr>
        <a:gradFill>
          <a:gsLst>
            <a:gs pos="0">
              <a:srgbClr val="DDDDDD"/>
            </a:gs>
            <a:gs pos="100000">
              <a:srgbClr val="F8F8F8"/>
            </a:gs>
          </a:gsLst>
          <a:lin ang="5400000" scaled="0"/>
        </a:gradFill>
      </p:bgPr>
    </p:bg>
    <p:spTree>
      <p:nvGrpSpPr>
        <p:cNvPr id="20" name="Shape 20"/>
        <p:cNvGrpSpPr/>
        <p:nvPr/>
      </p:nvGrpSpPr>
      <p:grpSpPr>
        <a:xfrm>
          <a:off x="0" y="0"/>
          <a:ext cx="0" cy="0"/>
          <a:chOff x="0" y="0"/>
          <a:chExt cx="0" cy="0"/>
        </a:xfrm>
      </p:grpSpPr>
      <p:sp>
        <p:nvSpPr>
          <p:cNvPr id="21" name="Google Shape;21;p2"/>
          <p:cNvSpPr txBox="1"/>
          <p:nvPr>
            <p:ph type="ctrTitle"/>
          </p:nvPr>
        </p:nvSpPr>
        <p:spPr>
          <a:xfrm>
            <a:off x="685800" y="2286000"/>
            <a:ext cx="7772400" cy="1143000"/>
          </a:xfrm>
          <a:prstGeom prst="rect">
            <a:avLst/>
          </a:prstGeom>
          <a:noFill/>
          <a:ln>
            <a:noFill/>
          </a:ln>
        </p:spPr>
        <p:txBody>
          <a:bodyPr anchorCtr="0" anchor="b"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2" name="Google Shape;22;p2"/>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lvl1pPr lvl="0" algn="l">
              <a:lnSpc>
                <a:spcPct val="100000"/>
              </a:lnSpc>
              <a:spcBef>
                <a:spcPts val="630"/>
              </a:spcBef>
              <a:spcAft>
                <a:spcPts val="0"/>
              </a:spcAft>
              <a:buSzPts val="1620"/>
              <a:buChar char="●"/>
              <a:defRPr/>
            </a:lvl1pPr>
            <a:lvl2pPr lvl="1" algn="l">
              <a:lnSpc>
                <a:spcPct val="100000"/>
              </a:lnSpc>
              <a:spcBef>
                <a:spcPts val="630"/>
              </a:spcBef>
              <a:spcAft>
                <a:spcPts val="0"/>
              </a:spcAft>
              <a:buSzPts val="1440"/>
              <a:buChar char="●"/>
              <a:defRPr/>
            </a:lvl2pPr>
            <a:lvl3pPr lvl="2" algn="l">
              <a:lnSpc>
                <a:spcPct val="100000"/>
              </a:lnSpc>
              <a:spcBef>
                <a:spcPts val="630"/>
              </a:spcBef>
              <a:spcAft>
                <a:spcPts val="0"/>
              </a:spcAft>
              <a:buSzPts val="1350"/>
              <a:buChar char="4"/>
              <a:defRPr/>
            </a:lvl3pPr>
            <a:lvl4pPr lvl="3" algn="l">
              <a:lnSpc>
                <a:spcPct val="100000"/>
              </a:lnSpc>
              <a:spcBef>
                <a:spcPts val="630"/>
              </a:spcBef>
              <a:spcAft>
                <a:spcPts val="0"/>
              </a:spcAft>
              <a:buSzPts val="1800"/>
              <a:buChar char="–"/>
              <a:defRPr/>
            </a:lvl4pPr>
            <a:lvl5pPr lvl="4" algn="l">
              <a:lnSpc>
                <a:spcPct val="100000"/>
              </a:lnSpc>
              <a:spcBef>
                <a:spcPts val="630"/>
              </a:spcBef>
              <a:spcAft>
                <a:spcPts val="0"/>
              </a:spcAft>
              <a:buSzPts val="1350"/>
              <a:buChar char="»"/>
              <a:defRPr/>
            </a:lvl5pPr>
            <a:lvl6pPr lvl="5" algn="l">
              <a:lnSpc>
                <a:spcPct val="100000"/>
              </a:lnSpc>
              <a:spcBef>
                <a:spcPts val="630"/>
              </a:spcBef>
              <a:spcAft>
                <a:spcPts val="0"/>
              </a:spcAft>
              <a:buSzPts val="1350"/>
              <a:buChar char="»"/>
              <a:defRPr/>
            </a:lvl6pPr>
            <a:lvl7pPr lvl="6" algn="l">
              <a:lnSpc>
                <a:spcPct val="100000"/>
              </a:lnSpc>
              <a:spcBef>
                <a:spcPts val="630"/>
              </a:spcBef>
              <a:spcAft>
                <a:spcPts val="0"/>
              </a:spcAft>
              <a:buSzPts val="1350"/>
              <a:buChar char="»"/>
              <a:defRPr/>
            </a:lvl7pPr>
            <a:lvl8pPr lvl="7" algn="l">
              <a:lnSpc>
                <a:spcPct val="100000"/>
              </a:lnSpc>
              <a:spcBef>
                <a:spcPts val="630"/>
              </a:spcBef>
              <a:spcAft>
                <a:spcPts val="0"/>
              </a:spcAft>
              <a:buSzPts val="1350"/>
              <a:buChar char="»"/>
              <a:defRPr/>
            </a:lvl8pPr>
            <a:lvl9pPr lvl="8" algn="l">
              <a:lnSpc>
                <a:spcPct val="100000"/>
              </a:lnSpc>
              <a:spcBef>
                <a:spcPts val="630"/>
              </a:spcBef>
              <a:spcAft>
                <a:spcPts val="0"/>
              </a:spcAft>
              <a:buSzPts val="1350"/>
              <a:buChar char="»"/>
              <a:defRPr/>
            </a:lvl9pPr>
          </a:lstStyle>
          <a:p/>
        </p:txBody>
      </p:sp>
      <p:sp>
        <p:nvSpPr>
          <p:cNvPr id="23" name="Google Shape;23;p2"/>
          <p:cNvSpPr txBox="1"/>
          <p:nvPr>
            <p:ph idx="11" type="ftr"/>
          </p:nvPr>
        </p:nvSpPr>
        <p:spPr>
          <a:xfrm>
            <a:off x="2862262" y="5780087"/>
            <a:ext cx="344805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2400" u="non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24" name="Google Shape;24;p2"/>
          <p:cNvSpPr/>
          <p:nvPr/>
        </p:nvSpPr>
        <p:spPr>
          <a:xfrm>
            <a:off x="1524000" y="1397000"/>
            <a:ext cx="6096000" cy="4064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5" name="Google Shape;25;p2"/>
          <p:cNvSpPr txBox="1"/>
          <p:nvPr/>
        </p:nvSpPr>
        <p:spPr>
          <a:xfrm>
            <a:off x="2673350" y="5726112"/>
            <a:ext cx="3694112" cy="7937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2"/>
              </a:buClr>
              <a:buSzPts val="1600"/>
              <a:buFont typeface="Helvetica Neue"/>
              <a:buNone/>
            </a:pPr>
            <a:r>
              <a:rPr b="1" i="0" lang="en-US" sz="1600" u="none">
                <a:solidFill>
                  <a:schemeClr val="dk2"/>
                </a:solidFill>
                <a:latin typeface="Helvetica Neue"/>
                <a:ea typeface="Helvetica Neue"/>
                <a:cs typeface="Helvetica Neue"/>
                <a:sym typeface="Helvetica Neue"/>
              </a:rPr>
              <a:t>Database System Concepts</a:t>
            </a:r>
            <a:endParaRPr b="0" i="0" sz="1600" u="none">
              <a:solidFill>
                <a:schemeClr val="dk1"/>
              </a:solidFill>
              <a:latin typeface="Helvetica Neue"/>
              <a:ea typeface="Helvetica Neue"/>
              <a:cs typeface="Helvetica Neue"/>
              <a:sym typeface="Helvetica Neue"/>
            </a:endParaRPr>
          </a:p>
          <a:p>
            <a:pPr indent="0" lvl="0" marL="0" marR="0" rtl="0" algn="ctr">
              <a:lnSpc>
                <a:spcPct val="100000"/>
              </a:lnSpc>
              <a:spcBef>
                <a:spcPts val="600"/>
              </a:spcBef>
              <a:spcAft>
                <a:spcPts val="0"/>
              </a:spcAft>
              <a:buClr>
                <a:schemeClr val="dk2"/>
              </a:buClr>
              <a:buSzPts val="1200"/>
              <a:buFont typeface="Helvetica Neue"/>
              <a:buNone/>
            </a:pPr>
            <a:r>
              <a:rPr b="1" i="0" lang="en-US" sz="1200" u="none">
                <a:solidFill>
                  <a:schemeClr val="dk2"/>
                </a:solidFill>
                <a:latin typeface="Helvetica Neue"/>
                <a:ea typeface="Helvetica Neue"/>
                <a:cs typeface="Helvetica Neue"/>
                <a:sym typeface="Helvetica Neue"/>
              </a:rPr>
              <a:t>©Silberschatz, Korth and Sudarshan</a:t>
            </a:r>
            <a:br>
              <a:rPr b="1" i="0" lang="en-US" sz="1200" u="none">
                <a:solidFill>
                  <a:schemeClr val="dk2"/>
                </a:solidFill>
                <a:latin typeface="Helvetica Neue"/>
                <a:ea typeface="Helvetica Neue"/>
                <a:cs typeface="Helvetica Neue"/>
                <a:sym typeface="Helvetica Neue"/>
              </a:rPr>
            </a:br>
            <a:r>
              <a:rPr b="1" i="0" lang="en-US" sz="1200" u="none">
                <a:solidFill>
                  <a:schemeClr val="dk2"/>
                </a:solidFill>
                <a:latin typeface="Helvetica Neue"/>
                <a:ea typeface="Helvetica Neue"/>
                <a:cs typeface="Helvetica Neue"/>
                <a:sym typeface="Helvetica Neue"/>
              </a:rPr>
              <a:t>See </a:t>
            </a:r>
            <a:r>
              <a:rPr b="1" i="0" lang="en-US" sz="1200" u="sng">
                <a:solidFill>
                  <a:schemeClr val="hlink"/>
                </a:solidFill>
                <a:latin typeface="Times New Roman"/>
                <a:ea typeface="Times New Roman"/>
                <a:cs typeface="Times New Roman"/>
                <a:sym typeface="Times New Roman"/>
                <a:hlinkClick r:id="rId2"/>
              </a:rPr>
              <a:t>www.db-book.com</a:t>
            </a:r>
            <a:r>
              <a:rPr b="1" i="0" lang="en-US" sz="1200" u="none">
                <a:solidFill>
                  <a:schemeClr val="dk2"/>
                </a:solidFill>
                <a:latin typeface="Helvetica Neue"/>
                <a:ea typeface="Helvetica Neue"/>
                <a:cs typeface="Helvetica Neue"/>
                <a:sym typeface="Helvetica Neue"/>
              </a:rPr>
              <a:t> for conditions on re-use </a:t>
            </a:r>
            <a:endParaRPr/>
          </a:p>
        </p:txBody>
      </p:sp>
      <p:pic>
        <p:nvPicPr>
          <p:cNvPr id="26" name="Google Shape;26;p2"/>
          <p:cNvPicPr preferRelativeResize="0"/>
          <p:nvPr/>
        </p:nvPicPr>
        <p:blipFill rotWithShape="1">
          <a:blip r:embed="rId3">
            <a:alphaModFix/>
          </a:blip>
          <a:srcRect b="0" l="0" r="0" t="0"/>
          <a:stretch/>
        </p:blipFill>
        <p:spPr>
          <a:xfrm>
            <a:off x="0" y="0"/>
            <a:ext cx="558800" cy="742950"/>
          </a:xfrm>
          <a:prstGeom prst="rect">
            <a:avLst/>
          </a:prstGeom>
          <a:noFill/>
          <a:ln>
            <a:noFill/>
          </a:ln>
        </p:spPr>
      </p:pic>
      <p:pic>
        <p:nvPicPr>
          <p:cNvPr id="27" name="Google Shape;27;p2"/>
          <p:cNvPicPr preferRelativeResize="0"/>
          <p:nvPr/>
        </p:nvPicPr>
        <p:blipFill rotWithShape="1">
          <a:blip r:embed="rId4">
            <a:alphaModFix/>
          </a:blip>
          <a:srcRect b="26144" l="0" r="0" t="0"/>
          <a:stretch/>
        </p:blipFill>
        <p:spPr>
          <a:xfrm>
            <a:off x="8528050" y="6053137"/>
            <a:ext cx="615950" cy="614362"/>
          </a:xfrm>
          <a:prstGeom prst="rect">
            <a:avLst/>
          </a:prstGeom>
          <a:noFill/>
          <a:ln>
            <a:noFill/>
          </a:ln>
        </p:spPr>
      </p:pic>
      <p:sp>
        <p:nvSpPr>
          <p:cNvPr id="28" name="Google Shape;28;p2"/>
          <p:cNvSpPr txBox="1"/>
          <p:nvPr/>
        </p:nvSpPr>
        <p:spPr>
          <a:xfrm>
            <a:off x="6762750" y="6613525"/>
            <a:ext cx="2381250" cy="2444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2"/>
              </a:buClr>
              <a:buSzPts val="1000"/>
              <a:buFont typeface="Helvetica Neue"/>
              <a:buNone/>
            </a:pPr>
            <a:r>
              <a:rPr b="1" i="0" lang="en-US" sz="1000" u="none">
                <a:solidFill>
                  <a:schemeClr val="dk2"/>
                </a:solidFill>
                <a:latin typeface="Helvetica Neue"/>
                <a:ea typeface="Helvetica Neue"/>
                <a:cs typeface="Helvetica Neue"/>
                <a:sym typeface="Helvetica Neue"/>
              </a:rPr>
              <a:t>©Silberschatz, Korth and Sudarshan</a:t>
            </a:r>
            <a:endParaRPr/>
          </a:p>
        </p:txBody>
      </p:sp>
      <p:sp>
        <p:nvSpPr>
          <p:cNvPr id="29" name="Google Shape;29;p2"/>
          <p:cNvSpPr txBox="1"/>
          <p:nvPr/>
        </p:nvSpPr>
        <p:spPr>
          <a:xfrm>
            <a:off x="0" y="6613525"/>
            <a:ext cx="1839912" cy="2444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2"/>
              </a:buClr>
              <a:buSzPts val="1000"/>
              <a:buFont typeface="Helvetica Neue"/>
              <a:buNone/>
            </a:pPr>
            <a:r>
              <a:rPr b="1" i="0" lang="en-US" sz="1000" u="none">
                <a:solidFill>
                  <a:schemeClr val="dk2"/>
                </a:solidFill>
                <a:latin typeface="Helvetica Neue"/>
                <a:ea typeface="Helvetica Neue"/>
                <a:cs typeface="Helvetica Neue"/>
                <a:sym typeface="Helvetica Neue"/>
              </a:rPr>
              <a:t>Database System Concepts</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0" name="Shape 30"/>
        <p:cNvGrpSpPr/>
        <p:nvPr/>
      </p:nvGrpSpPr>
      <p:grpSpPr>
        <a:xfrm>
          <a:off x="0" y="0"/>
          <a:ext cx="0" cy="0"/>
          <a:chOff x="0" y="0"/>
          <a:chExt cx="0" cy="0"/>
        </a:xfrm>
      </p:grpSpPr>
      <p:sp>
        <p:nvSpPr>
          <p:cNvPr id="31" name="Google Shape;31;p3"/>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2" name="Google Shape;32;p3"/>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2400" u="non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33" name="Google Shape;33;p3"/>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2400" u="non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34" name="Google Shape;34;p3"/>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algn="l">
              <a:lnSpc>
                <a:spcPct val="100000"/>
              </a:lnSpc>
              <a:spcBef>
                <a:spcPts val="0"/>
              </a:spcBef>
              <a:spcAft>
                <a:spcPts val="0"/>
              </a:spcAft>
              <a:buNone/>
              <a:defRPr b="0" i="0" sz="2400" u="none">
                <a:solidFill>
                  <a:schemeClr val="dk1"/>
                </a:solidFill>
                <a:latin typeface="Times New Roman"/>
                <a:ea typeface="Times New Roman"/>
                <a:cs typeface="Times New Roman"/>
                <a:sym typeface="Times New Roman"/>
              </a:defRPr>
            </a:lvl1pPr>
            <a:lvl2pPr indent="0" lvl="1" marL="0" algn="l">
              <a:lnSpc>
                <a:spcPct val="100000"/>
              </a:lnSpc>
              <a:spcBef>
                <a:spcPts val="0"/>
              </a:spcBef>
              <a:spcAft>
                <a:spcPts val="0"/>
              </a:spcAft>
              <a:buNone/>
              <a:defRPr b="0" i="0" sz="2400" u="none">
                <a:solidFill>
                  <a:schemeClr val="dk1"/>
                </a:solidFill>
                <a:latin typeface="Times New Roman"/>
                <a:ea typeface="Times New Roman"/>
                <a:cs typeface="Times New Roman"/>
                <a:sym typeface="Times New Roman"/>
              </a:defRPr>
            </a:lvl2pPr>
            <a:lvl3pPr indent="0" lvl="2" marL="0" algn="l">
              <a:lnSpc>
                <a:spcPct val="100000"/>
              </a:lnSpc>
              <a:spcBef>
                <a:spcPts val="0"/>
              </a:spcBef>
              <a:spcAft>
                <a:spcPts val="0"/>
              </a:spcAft>
              <a:buNone/>
              <a:defRPr b="0" i="0" sz="2400" u="none">
                <a:solidFill>
                  <a:schemeClr val="dk1"/>
                </a:solidFill>
                <a:latin typeface="Times New Roman"/>
                <a:ea typeface="Times New Roman"/>
                <a:cs typeface="Times New Roman"/>
                <a:sym typeface="Times New Roman"/>
              </a:defRPr>
            </a:lvl3pPr>
            <a:lvl4pPr indent="0" lvl="3" marL="0" algn="l">
              <a:lnSpc>
                <a:spcPct val="100000"/>
              </a:lnSpc>
              <a:spcBef>
                <a:spcPts val="0"/>
              </a:spcBef>
              <a:spcAft>
                <a:spcPts val="0"/>
              </a:spcAft>
              <a:buNone/>
              <a:defRPr b="0" i="0" sz="2400" u="none">
                <a:solidFill>
                  <a:schemeClr val="dk1"/>
                </a:solidFill>
                <a:latin typeface="Times New Roman"/>
                <a:ea typeface="Times New Roman"/>
                <a:cs typeface="Times New Roman"/>
                <a:sym typeface="Times New Roman"/>
              </a:defRPr>
            </a:lvl4pPr>
            <a:lvl5pPr indent="0" lvl="4" marL="0" algn="l">
              <a:lnSpc>
                <a:spcPct val="100000"/>
              </a:lnSpc>
              <a:spcBef>
                <a:spcPts val="0"/>
              </a:spcBef>
              <a:spcAft>
                <a:spcPts val="0"/>
              </a:spcAft>
              <a:buNone/>
              <a:defRPr b="0" i="0" sz="2400" u="none">
                <a:solidFill>
                  <a:schemeClr val="dk1"/>
                </a:solidFill>
                <a:latin typeface="Times New Roman"/>
                <a:ea typeface="Times New Roman"/>
                <a:cs typeface="Times New Roman"/>
                <a:sym typeface="Times New Roman"/>
              </a:defRPr>
            </a:lvl5pPr>
            <a:lvl6pPr indent="0" lvl="5" marL="0" algn="l">
              <a:lnSpc>
                <a:spcPct val="100000"/>
              </a:lnSpc>
              <a:spcBef>
                <a:spcPts val="0"/>
              </a:spcBef>
              <a:spcAft>
                <a:spcPts val="0"/>
              </a:spcAft>
              <a:buNone/>
              <a:defRPr b="0" i="0" sz="2400" u="none">
                <a:solidFill>
                  <a:schemeClr val="dk1"/>
                </a:solidFill>
                <a:latin typeface="Times New Roman"/>
                <a:ea typeface="Times New Roman"/>
                <a:cs typeface="Times New Roman"/>
                <a:sym typeface="Times New Roman"/>
              </a:defRPr>
            </a:lvl6pPr>
            <a:lvl7pPr indent="0" lvl="6" marL="0" algn="l">
              <a:lnSpc>
                <a:spcPct val="100000"/>
              </a:lnSpc>
              <a:spcBef>
                <a:spcPts val="0"/>
              </a:spcBef>
              <a:spcAft>
                <a:spcPts val="0"/>
              </a:spcAft>
              <a:buNone/>
              <a:defRPr b="0" i="0" sz="2400" u="none">
                <a:solidFill>
                  <a:schemeClr val="dk1"/>
                </a:solidFill>
                <a:latin typeface="Times New Roman"/>
                <a:ea typeface="Times New Roman"/>
                <a:cs typeface="Times New Roman"/>
                <a:sym typeface="Times New Roman"/>
              </a:defRPr>
            </a:lvl7pPr>
            <a:lvl8pPr indent="0" lvl="7" marL="0" algn="l">
              <a:lnSpc>
                <a:spcPct val="100000"/>
              </a:lnSpc>
              <a:spcBef>
                <a:spcPts val="0"/>
              </a:spcBef>
              <a:spcAft>
                <a:spcPts val="0"/>
              </a:spcAft>
              <a:buNone/>
              <a:defRPr b="0" i="0" sz="2400" u="none">
                <a:solidFill>
                  <a:schemeClr val="dk1"/>
                </a:solidFill>
                <a:latin typeface="Times New Roman"/>
                <a:ea typeface="Times New Roman"/>
                <a:cs typeface="Times New Roman"/>
                <a:sym typeface="Times New Roman"/>
              </a:defRPr>
            </a:lvl8pPr>
            <a:lvl9pPr indent="0" lvl="8" marL="0" algn="l">
              <a:lnSpc>
                <a:spcPct val="100000"/>
              </a:lnSpc>
              <a:spcBef>
                <a:spcPts val="0"/>
              </a:spcBef>
              <a:spcAft>
                <a:spcPts val="0"/>
              </a:spcAft>
              <a:buNone/>
              <a:defRPr b="0" i="0" sz="2400" u="none">
                <a:solidFill>
                  <a:schemeClr val="dk1"/>
                </a:solidFill>
                <a:latin typeface="Times New Roman"/>
                <a:ea typeface="Times New Roman"/>
                <a:cs typeface="Times New Roman"/>
                <a:sym typeface="Times New Roman"/>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type="tx">
  <p:cSld name="TITLE_AND_BODY">
    <p:spTree>
      <p:nvGrpSpPr>
        <p:cNvPr id="35" name="Shape 35"/>
        <p:cNvGrpSpPr/>
        <p:nvPr/>
      </p:nvGrpSpPr>
      <p:grpSpPr>
        <a:xfrm>
          <a:off x="0" y="0"/>
          <a:ext cx="0" cy="0"/>
          <a:chOff x="0" y="0"/>
          <a:chExt cx="0" cy="0"/>
        </a:xfrm>
      </p:grpSpPr>
      <p:sp>
        <p:nvSpPr>
          <p:cNvPr id="36" name="Google Shape;36;p4"/>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7" name="Google Shape;37;p4"/>
          <p:cNvSpPr txBox="1"/>
          <p:nvPr>
            <p:ph idx="1" type="body"/>
          </p:nvPr>
        </p:nvSpPr>
        <p:spPr>
          <a:xfrm>
            <a:off x="814387" y="1093787"/>
            <a:ext cx="7661275" cy="4903787"/>
          </a:xfrm>
          <a:prstGeom prst="rect">
            <a:avLst/>
          </a:prstGeom>
          <a:noFill/>
          <a:ln>
            <a:noFill/>
          </a:ln>
        </p:spPr>
        <p:txBody>
          <a:bodyPr anchorCtr="0" anchor="t" bIns="45700" lIns="91425" spcFirstLastPara="1" rIns="91425" wrap="square" tIns="45700">
            <a:noAutofit/>
          </a:bodyPr>
          <a:lstStyle>
            <a:lvl1pPr indent="-331470" lvl="0" marL="457200" algn="l">
              <a:lnSpc>
                <a:spcPct val="100000"/>
              </a:lnSpc>
              <a:spcBef>
                <a:spcPts val="630"/>
              </a:spcBef>
              <a:spcAft>
                <a:spcPts val="0"/>
              </a:spcAft>
              <a:buSzPts val="1620"/>
              <a:buChar char="●"/>
              <a:defRPr/>
            </a:lvl1pPr>
            <a:lvl2pPr indent="-320040" lvl="1" marL="914400" algn="l">
              <a:lnSpc>
                <a:spcPct val="100000"/>
              </a:lnSpc>
              <a:spcBef>
                <a:spcPts val="630"/>
              </a:spcBef>
              <a:spcAft>
                <a:spcPts val="0"/>
              </a:spcAft>
              <a:buSzPts val="1440"/>
              <a:buChar char="●"/>
              <a:defRPr/>
            </a:lvl2pPr>
            <a:lvl3pPr indent="-314325" lvl="2" marL="1371600" algn="l">
              <a:lnSpc>
                <a:spcPct val="100000"/>
              </a:lnSpc>
              <a:spcBef>
                <a:spcPts val="630"/>
              </a:spcBef>
              <a:spcAft>
                <a:spcPts val="0"/>
              </a:spcAft>
              <a:buSzPts val="1350"/>
              <a:buChar char="4"/>
              <a:defRPr/>
            </a:lvl3pPr>
            <a:lvl4pPr indent="-342900" lvl="3" marL="1828800" algn="l">
              <a:lnSpc>
                <a:spcPct val="100000"/>
              </a:lnSpc>
              <a:spcBef>
                <a:spcPts val="630"/>
              </a:spcBef>
              <a:spcAft>
                <a:spcPts val="0"/>
              </a:spcAft>
              <a:buSzPts val="1800"/>
              <a:buChar char="–"/>
              <a:defRPr/>
            </a:lvl4pPr>
            <a:lvl5pPr indent="-314325" lvl="4" marL="2286000" algn="l">
              <a:lnSpc>
                <a:spcPct val="100000"/>
              </a:lnSpc>
              <a:spcBef>
                <a:spcPts val="630"/>
              </a:spcBef>
              <a:spcAft>
                <a:spcPts val="0"/>
              </a:spcAft>
              <a:buSzPts val="1350"/>
              <a:buChar char="»"/>
              <a:defRPr/>
            </a:lvl5pPr>
            <a:lvl6pPr indent="-314325" lvl="5" marL="2743200" algn="l">
              <a:lnSpc>
                <a:spcPct val="100000"/>
              </a:lnSpc>
              <a:spcBef>
                <a:spcPts val="630"/>
              </a:spcBef>
              <a:spcAft>
                <a:spcPts val="0"/>
              </a:spcAft>
              <a:buSzPts val="1350"/>
              <a:buChar char="»"/>
              <a:defRPr/>
            </a:lvl6pPr>
            <a:lvl7pPr indent="-314325" lvl="6" marL="3200400" algn="l">
              <a:lnSpc>
                <a:spcPct val="100000"/>
              </a:lnSpc>
              <a:spcBef>
                <a:spcPts val="630"/>
              </a:spcBef>
              <a:spcAft>
                <a:spcPts val="0"/>
              </a:spcAft>
              <a:buSzPts val="1350"/>
              <a:buChar char="»"/>
              <a:defRPr/>
            </a:lvl7pPr>
            <a:lvl8pPr indent="-314325" lvl="7" marL="3657600" algn="l">
              <a:lnSpc>
                <a:spcPct val="100000"/>
              </a:lnSpc>
              <a:spcBef>
                <a:spcPts val="630"/>
              </a:spcBef>
              <a:spcAft>
                <a:spcPts val="0"/>
              </a:spcAft>
              <a:buSzPts val="1350"/>
              <a:buChar char="»"/>
              <a:defRPr/>
            </a:lvl8pPr>
            <a:lvl9pPr indent="-314325" lvl="8" marL="4114800" algn="l">
              <a:lnSpc>
                <a:spcPct val="100000"/>
              </a:lnSpc>
              <a:spcBef>
                <a:spcPts val="630"/>
              </a:spcBef>
              <a:spcAft>
                <a:spcPts val="0"/>
              </a:spcAft>
              <a:buSzPts val="1350"/>
              <a:buChar char="»"/>
              <a:defRPr/>
            </a:lvl9pPr>
          </a:lstStyle>
          <a:p/>
        </p:txBody>
      </p:sp>
      <p:sp>
        <p:nvSpPr>
          <p:cNvPr id="38" name="Google Shape;38;p4"/>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2400" u="non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39" name="Google Shape;39;p4"/>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2400" u="non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40" name="Google Shape;40;p4"/>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algn="l">
              <a:lnSpc>
                <a:spcPct val="100000"/>
              </a:lnSpc>
              <a:spcBef>
                <a:spcPts val="0"/>
              </a:spcBef>
              <a:spcAft>
                <a:spcPts val="0"/>
              </a:spcAft>
              <a:buNone/>
              <a:defRPr b="0" i="0" sz="2400" u="none">
                <a:solidFill>
                  <a:schemeClr val="dk1"/>
                </a:solidFill>
                <a:latin typeface="Times New Roman"/>
                <a:ea typeface="Times New Roman"/>
                <a:cs typeface="Times New Roman"/>
                <a:sym typeface="Times New Roman"/>
              </a:defRPr>
            </a:lvl1pPr>
            <a:lvl2pPr indent="0" lvl="1" marL="0" algn="l">
              <a:lnSpc>
                <a:spcPct val="100000"/>
              </a:lnSpc>
              <a:spcBef>
                <a:spcPts val="0"/>
              </a:spcBef>
              <a:spcAft>
                <a:spcPts val="0"/>
              </a:spcAft>
              <a:buNone/>
              <a:defRPr b="0" i="0" sz="2400" u="none">
                <a:solidFill>
                  <a:schemeClr val="dk1"/>
                </a:solidFill>
                <a:latin typeface="Times New Roman"/>
                <a:ea typeface="Times New Roman"/>
                <a:cs typeface="Times New Roman"/>
                <a:sym typeface="Times New Roman"/>
              </a:defRPr>
            </a:lvl2pPr>
            <a:lvl3pPr indent="0" lvl="2" marL="0" algn="l">
              <a:lnSpc>
                <a:spcPct val="100000"/>
              </a:lnSpc>
              <a:spcBef>
                <a:spcPts val="0"/>
              </a:spcBef>
              <a:spcAft>
                <a:spcPts val="0"/>
              </a:spcAft>
              <a:buNone/>
              <a:defRPr b="0" i="0" sz="2400" u="none">
                <a:solidFill>
                  <a:schemeClr val="dk1"/>
                </a:solidFill>
                <a:latin typeface="Times New Roman"/>
                <a:ea typeface="Times New Roman"/>
                <a:cs typeface="Times New Roman"/>
                <a:sym typeface="Times New Roman"/>
              </a:defRPr>
            </a:lvl3pPr>
            <a:lvl4pPr indent="0" lvl="3" marL="0" algn="l">
              <a:lnSpc>
                <a:spcPct val="100000"/>
              </a:lnSpc>
              <a:spcBef>
                <a:spcPts val="0"/>
              </a:spcBef>
              <a:spcAft>
                <a:spcPts val="0"/>
              </a:spcAft>
              <a:buNone/>
              <a:defRPr b="0" i="0" sz="2400" u="none">
                <a:solidFill>
                  <a:schemeClr val="dk1"/>
                </a:solidFill>
                <a:latin typeface="Times New Roman"/>
                <a:ea typeface="Times New Roman"/>
                <a:cs typeface="Times New Roman"/>
                <a:sym typeface="Times New Roman"/>
              </a:defRPr>
            </a:lvl4pPr>
            <a:lvl5pPr indent="0" lvl="4" marL="0" algn="l">
              <a:lnSpc>
                <a:spcPct val="100000"/>
              </a:lnSpc>
              <a:spcBef>
                <a:spcPts val="0"/>
              </a:spcBef>
              <a:spcAft>
                <a:spcPts val="0"/>
              </a:spcAft>
              <a:buNone/>
              <a:defRPr b="0" i="0" sz="2400" u="none">
                <a:solidFill>
                  <a:schemeClr val="dk1"/>
                </a:solidFill>
                <a:latin typeface="Times New Roman"/>
                <a:ea typeface="Times New Roman"/>
                <a:cs typeface="Times New Roman"/>
                <a:sym typeface="Times New Roman"/>
              </a:defRPr>
            </a:lvl5pPr>
            <a:lvl6pPr indent="0" lvl="5" marL="0" algn="l">
              <a:lnSpc>
                <a:spcPct val="100000"/>
              </a:lnSpc>
              <a:spcBef>
                <a:spcPts val="0"/>
              </a:spcBef>
              <a:spcAft>
                <a:spcPts val="0"/>
              </a:spcAft>
              <a:buNone/>
              <a:defRPr b="0" i="0" sz="2400" u="none">
                <a:solidFill>
                  <a:schemeClr val="dk1"/>
                </a:solidFill>
                <a:latin typeface="Times New Roman"/>
                <a:ea typeface="Times New Roman"/>
                <a:cs typeface="Times New Roman"/>
                <a:sym typeface="Times New Roman"/>
              </a:defRPr>
            </a:lvl6pPr>
            <a:lvl7pPr indent="0" lvl="6" marL="0" algn="l">
              <a:lnSpc>
                <a:spcPct val="100000"/>
              </a:lnSpc>
              <a:spcBef>
                <a:spcPts val="0"/>
              </a:spcBef>
              <a:spcAft>
                <a:spcPts val="0"/>
              </a:spcAft>
              <a:buNone/>
              <a:defRPr b="0" i="0" sz="2400" u="none">
                <a:solidFill>
                  <a:schemeClr val="dk1"/>
                </a:solidFill>
                <a:latin typeface="Times New Roman"/>
                <a:ea typeface="Times New Roman"/>
                <a:cs typeface="Times New Roman"/>
                <a:sym typeface="Times New Roman"/>
              </a:defRPr>
            </a:lvl7pPr>
            <a:lvl8pPr indent="0" lvl="7" marL="0" algn="l">
              <a:lnSpc>
                <a:spcPct val="100000"/>
              </a:lnSpc>
              <a:spcBef>
                <a:spcPts val="0"/>
              </a:spcBef>
              <a:spcAft>
                <a:spcPts val="0"/>
              </a:spcAft>
              <a:buNone/>
              <a:defRPr b="0" i="0" sz="2400" u="none">
                <a:solidFill>
                  <a:schemeClr val="dk1"/>
                </a:solidFill>
                <a:latin typeface="Times New Roman"/>
                <a:ea typeface="Times New Roman"/>
                <a:cs typeface="Times New Roman"/>
                <a:sym typeface="Times New Roman"/>
              </a:defRPr>
            </a:lvl8pPr>
            <a:lvl9pPr indent="0" lvl="8" marL="0" algn="l">
              <a:lnSpc>
                <a:spcPct val="100000"/>
              </a:lnSpc>
              <a:spcBef>
                <a:spcPts val="0"/>
              </a:spcBef>
              <a:spcAft>
                <a:spcPts val="0"/>
              </a:spcAft>
              <a:buNone/>
              <a:defRPr b="0" i="0" sz="2400" u="none">
                <a:solidFill>
                  <a:schemeClr val="dk1"/>
                </a:solidFill>
                <a:latin typeface="Times New Roman"/>
                <a:ea typeface="Times New Roman"/>
                <a:cs typeface="Times New Roman"/>
                <a:sym typeface="Times New Roman"/>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7.jpg"/><Relationship Id="rId2" Type="http://schemas.openxmlformats.org/officeDocument/2006/relationships/image" Target="../media/image4.jp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slideLayout" Target="../slideLayouts/slideLayout3.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10" name="Shape 10"/>
        <p:cNvGrpSpPr/>
        <p:nvPr/>
      </p:nvGrpSpPr>
      <p:grpSpPr>
        <a:xfrm>
          <a:off x="0" y="0"/>
          <a:ext cx="0" cy="0"/>
          <a:chOff x="0" y="0"/>
          <a:chExt cx="0" cy="0"/>
        </a:xfrm>
      </p:grpSpPr>
      <p:sp>
        <p:nvSpPr>
          <p:cNvPr id="11" name="Google Shape;11;p1"/>
          <p:cNvSpPr txBox="1"/>
          <p:nvPr>
            <p:ph idx="1" type="body"/>
          </p:nvPr>
        </p:nvSpPr>
        <p:spPr>
          <a:xfrm>
            <a:off x="814387" y="1093787"/>
            <a:ext cx="7661275" cy="4903787"/>
          </a:xfrm>
          <a:prstGeom prst="rect">
            <a:avLst/>
          </a:prstGeom>
          <a:noFill/>
          <a:ln>
            <a:noFill/>
          </a:ln>
        </p:spPr>
        <p:txBody>
          <a:bodyPr anchorCtr="0" anchor="t" bIns="45700" lIns="91425" spcFirstLastPara="1" rIns="91425" wrap="square" tIns="45700">
            <a:noAutofit/>
          </a:bodyPr>
          <a:lstStyle>
            <a:lvl1pPr indent="-331470" lvl="0" marL="457200" marR="0" rtl="0" algn="l">
              <a:lnSpc>
                <a:spcPct val="100000"/>
              </a:lnSpc>
              <a:spcBef>
                <a:spcPts val="630"/>
              </a:spcBef>
              <a:spcAft>
                <a:spcPts val="0"/>
              </a:spcAft>
              <a:buClr>
                <a:schemeClr val="dk2"/>
              </a:buClr>
              <a:buSzPts val="1620"/>
              <a:buFont typeface="Arial"/>
              <a:buChar char="●"/>
              <a:defRPr b="0" i="0" sz="1800" u="none" cap="none" strike="noStrike">
                <a:solidFill>
                  <a:schemeClr val="dk1"/>
                </a:solidFill>
                <a:latin typeface="Helvetica Neue"/>
                <a:ea typeface="Helvetica Neue"/>
                <a:cs typeface="Helvetica Neue"/>
                <a:sym typeface="Helvetica Neue"/>
              </a:defRPr>
            </a:lvl1pPr>
            <a:lvl2pPr indent="-320040" lvl="1" marL="914400" marR="0" rtl="0" algn="l">
              <a:lnSpc>
                <a:spcPct val="100000"/>
              </a:lnSpc>
              <a:spcBef>
                <a:spcPts val="630"/>
              </a:spcBef>
              <a:spcAft>
                <a:spcPts val="0"/>
              </a:spcAft>
              <a:buClr>
                <a:schemeClr val="hlink"/>
              </a:buClr>
              <a:buSzPts val="1440"/>
              <a:buFont typeface="Arial"/>
              <a:buChar char="●"/>
              <a:defRPr b="0" i="0" sz="1800" u="none" cap="none" strike="noStrike">
                <a:solidFill>
                  <a:schemeClr val="dk1"/>
                </a:solidFill>
                <a:latin typeface="Helvetica Neue"/>
                <a:ea typeface="Helvetica Neue"/>
                <a:cs typeface="Helvetica Neue"/>
                <a:sym typeface="Helvetica Neue"/>
              </a:defRPr>
            </a:lvl2pPr>
            <a:lvl3pPr indent="-314325" lvl="2" marL="1371600" marR="0" rtl="0" algn="l">
              <a:lnSpc>
                <a:spcPct val="100000"/>
              </a:lnSpc>
              <a:spcBef>
                <a:spcPts val="630"/>
              </a:spcBef>
              <a:spcAft>
                <a:spcPts val="0"/>
              </a:spcAft>
              <a:buClr>
                <a:srgbClr val="33CC33"/>
              </a:buClr>
              <a:buSzPts val="1350"/>
              <a:buFont typeface="Arimo"/>
              <a:buChar char="4"/>
              <a:defRPr b="0" i="0" sz="1800" u="none" cap="none" strike="noStrike">
                <a:solidFill>
                  <a:schemeClr val="dk1"/>
                </a:solidFill>
                <a:latin typeface="Helvetica Neue"/>
                <a:ea typeface="Helvetica Neue"/>
                <a:cs typeface="Helvetica Neue"/>
                <a:sym typeface="Helvetica Neue"/>
              </a:defRPr>
            </a:lvl3pPr>
            <a:lvl4pPr indent="-342900" lvl="3" marL="1828800" marR="0" rtl="0" algn="l">
              <a:lnSpc>
                <a:spcPct val="100000"/>
              </a:lnSpc>
              <a:spcBef>
                <a:spcPts val="630"/>
              </a:spcBef>
              <a:spcAft>
                <a:spcPts val="0"/>
              </a:spcAft>
              <a:buClr>
                <a:schemeClr val="hlink"/>
              </a:buClr>
              <a:buSzPts val="1800"/>
              <a:buFont typeface="Helvetica Neue"/>
              <a:buChar char="–"/>
              <a:defRPr b="0" i="0" sz="1800" u="none" cap="none" strike="noStrike">
                <a:solidFill>
                  <a:schemeClr val="dk1"/>
                </a:solidFill>
                <a:latin typeface="Helvetica Neue"/>
                <a:ea typeface="Helvetica Neue"/>
                <a:cs typeface="Helvetica Neue"/>
                <a:sym typeface="Helvetica Neue"/>
              </a:defRPr>
            </a:lvl4pPr>
            <a:lvl5pPr indent="-314325" lvl="4" marL="2286000" marR="0" rtl="0" algn="l">
              <a:lnSpc>
                <a:spcPct val="100000"/>
              </a:lnSpc>
              <a:spcBef>
                <a:spcPts val="630"/>
              </a:spcBef>
              <a:spcAft>
                <a:spcPts val="0"/>
              </a:spcAft>
              <a:buClr>
                <a:schemeClr val="dk2"/>
              </a:buClr>
              <a:buSzPts val="1350"/>
              <a:buFont typeface="Helvetica Neue"/>
              <a:buChar char="»"/>
              <a:defRPr b="0" i="0" sz="1800" u="none" cap="none" strike="noStrike">
                <a:solidFill>
                  <a:schemeClr val="dk1"/>
                </a:solidFill>
                <a:latin typeface="Helvetica Neue"/>
                <a:ea typeface="Helvetica Neue"/>
                <a:cs typeface="Helvetica Neue"/>
                <a:sym typeface="Helvetica Neue"/>
              </a:defRPr>
            </a:lvl5pPr>
            <a:lvl6pPr indent="-314325" lvl="5" marL="2743200" marR="0" rtl="0" algn="l">
              <a:lnSpc>
                <a:spcPct val="100000"/>
              </a:lnSpc>
              <a:spcBef>
                <a:spcPts val="630"/>
              </a:spcBef>
              <a:spcAft>
                <a:spcPts val="0"/>
              </a:spcAft>
              <a:buClr>
                <a:schemeClr val="dk2"/>
              </a:buClr>
              <a:buSzPts val="1350"/>
              <a:buFont typeface="Helvetica Neue"/>
              <a:buChar char="»"/>
              <a:defRPr b="0" i="0" sz="1800" u="none" cap="none" strike="noStrike">
                <a:solidFill>
                  <a:schemeClr val="dk1"/>
                </a:solidFill>
                <a:latin typeface="Helvetica Neue"/>
                <a:ea typeface="Helvetica Neue"/>
                <a:cs typeface="Helvetica Neue"/>
                <a:sym typeface="Helvetica Neue"/>
              </a:defRPr>
            </a:lvl6pPr>
            <a:lvl7pPr indent="-314325" lvl="6" marL="3200400" marR="0" rtl="0" algn="l">
              <a:lnSpc>
                <a:spcPct val="100000"/>
              </a:lnSpc>
              <a:spcBef>
                <a:spcPts val="630"/>
              </a:spcBef>
              <a:spcAft>
                <a:spcPts val="0"/>
              </a:spcAft>
              <a:buClr>
                <a:schemeClr val="dk2"/>
              </a:buClr>
              <a:buSzPts val="1350"/>
              <a:buFont typeface="Helvetica Neue"/>
              <a:buChar char="»"/>
              <a:defRPr b="0" i="0" sz="1800" u="none" cap="none" strike="noStrike">
                <a:solidFill>
                  <a:schemeClr val="dk1"/>
                </a:solidFill>
                <a:latin typeface="Helvetica Neue"/>
                <a:ea typeface="Helvetica Neue"/>
                <a:cs typeface="Helvetica Neue"/>
                <a:sym typeface="Helvetica Neue"/>
              </a:defRPr>
            </a:lvl7pPr>
            <a:lvl8pPr indent="-314325" lvl="7" marL="3657600" marR="0" rtl="0" algn="l">
              <a:lnSpc>
                <a:spcPct val="100000"/>
              </a:lnSpc>
              <a:spcBef>
                <a:spcPts val="630"/>
              </a:spcBef>
              <a:spcAft>
                <a:spcPts val="0"/>
              </a:spcAft>
              <a:buClr>
                <a:schemeClr val="dk2"/>
              </a:buClr>
              <a:buSzPts val="1350"/>
              <a:buFont typeface="Helvetica Neue"/>
              <a:buChar char="»"/>
              <a:defRPr b="0" i="0" sz="1800" u="none" cap="none" strike="noStrike">
                <a:solidFill>
                  <a:schemeClr val="dk1"/>
                </a:solidFill>
                <a:latin typeface="Helvetica Neue"/>
                <a:ea typeface="Helvetica Neue"/>
                <a:cs typeface="Helvetica Neue"/>
                <a:sym typeface="Helvetica Neue"/>
              </a:defRPr>
            </a:lvl8pPr>
            <a:lvl9pPr indent="-314325" lvl="8" marL="4114800" marR="0" rtl="0" algn="l">
              <a:lnSpc>
                <a:spcPct val="100000"/>
              </a:lnSpc>
              <a:spcBef>
                <a:spcPts val="630"/>
              </a:spcBef>
              <a:spcAft>
                <a:spcPts val="0"/>
              </a:spcAft>
              <a:buClr>
                <a:schemeClr val="dk2"/>
              </a:buClr>
              <a:buSzPts val="1350"/>
              <a:buFont typeface="Helvetica Neue"/>
              <a:buChar char="»"/>
              <a:defRPr b="0" i="0" sz="1800" u="none" cap="none" strike="noStrike">
                <a:solidFill>
                  <a:schemeClr val="dk1"/>
                </a:solidFill>
                <a:latin typeface="Helvetica Neue"/>
                <a:ea typeface="Helvetica Neue"/>
                <a:cs typeface="Helvetica Neue"/>
                <a:sym typeface="Helvetica Neue"/>
              </a:defRPr>
            </a:lvl9pPr>
          </a:lstStyle>
          <a:p/>
        </p:txBody>
      </p:sp>
      <p:sp>
        <p:nvSpPr>
          <p:cNvPr id="12" name="Google Shape;12;p1"/>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None/>
              <a:defRPr b="0" i="0" sz="2400" u="none">
                <a:solidFill>
                  <a:schemeClr val="dk1"/>
                </a:solidFill>
                <a:latin typeface="Times New Roman"/>
                <a:ea typeface="Times New Roman"/>
                <a:cs typeface="Times New Roman"/>
                <a:sym typeface="Times New Roman"/>
              </a:defRPr>
            </a:lvl1pPr>
            <a:lvl2pPr indent="0" lvl="1" marL="0" marR="0" rtl="0" algn="l">
              <a:lnSpc>
                <a:spcPct val="100000"/>
              </a:lnSpc>
              <a:spcBef>
                <a:spcPts val="0"/>
              </a:spcBef>
              <a:spcAft>
                <a:spcPts val="0"/>
              </a:spcAft>
              <a:buNone/>
              <a:defRPr b="0" i="0" sz="2400" u="none">
                <a:solidFill>
                  <a:schemeClr val="dk1"/>
                </a:solidFill>
                <a:latin typeface="Times New Roman"/>
                <a:ea typeface="Times New Roman"/>
                <a:cs typeface="Times New Roman"/>
                <a:sym typeface="Times New Roman"/>
              </a:defRPr>
            </a:lvl2pPr>
            <a:lvl3pPr indent="0" lvl="2" marL="0" marR="0" rtl="0" algn="l">
              <a:lnSpc>
                <a:spcPct val="100000"/>
              </a:lnSpc>
              <a:spcBef>
                <a:spcPts val="0"/>
              </a:spcBef>
              <a:spcAft>
                <a:spcPts val="0"/>
              </a:spcAft>
              <a:buNone/>
              <a:defRPr b="0" i="0" sz="2400" u="none">
                <a:solidFill>
                  <a:schemeClr val="dk1"/>
                </a:solidFill>
                <a:latin typeface="Times New Roman"/>
                <a:ea typeface="Times New Roman"/>
                <a:cs typeface="Times New Roman"/>
                <a:sym typeface="Times New Roman"/>
              </a:defRPr>
            </a:lvl3pPr>
            <a:lvl4pPr indent="0" lvl="3" marL="0" marR="0" rtl="0" algn="l">
              <a:lnSpc>
                <a:spcPct val="100000"/>
              </a:lnSpc>
              <a:spcBef>
                <a:spcPts val="0"/>
              </a:spcBef>
              <a:spcAft>
                <a:spcPts val="0"/>
              </a:spcAft>
              <a:buNone/>
              <a:defRPr b="0" i="0" sz="2400" u="none">
                <a:solidFill>
                  <a:schemeClr val="dk1"/>
                </a:solidFill>
                <a:latin typeface="Times New Roman"/>
                <a:ea typeface="Times New Roman"/>
                <a:cs typeface="Times New Roman"/>
                <a:sym typeface="Times New Roman"/>
              </a:defRPr>
            </a:lvl4pPr>
            <a:lvl5pPr indent="0" lvl="4" marL="0" marR="0" rtl="0" algn="l">
              <a:lnSpc>
                <a:spcPct val="100000"/>
              </a:lnSpc>
              <a:spcBef>
                <a:spcPts val="0"/>
              </a:spcBef>
              <a:spcAft>
                <a:spcPts val="0"/>
              </a:spcAft>
              <a:buNone/>
              <a:defRPr b="0" i="0" sz="2400" u="none">
                <a:solidFill>
                  <a:schemeClr val="dk1"/>
                </a:solidFill>
                <a:latin typeface="Times New Roman"/>
                <a:ea typeface="Times New Roman"/>
                <a:cs typeface="Times New Roman"/>
                <a:sym typeface="Times New Roman"/>
              </a:defRPr>
            </a:lvl5pPr>
            <a:lvl6pPr indent="0" lvl="5" marL="0" marR="0" rtl="0" algn="l">
              <a:lnSpc>
                <a:spcPct val="100000"/>
              </a:lnSpc>
              <a:spcBef>
                <a:spcPts val="0"/>
              </a:spcBef>
              <a:spcAft>
                <a:spcPts val="0"/>
              </a:spcAft>
              <a:buNone/>
              <a:defRPr b="0" i="0" sz="2400" u="none">
                <a:solidFill>
                  <a:schemeClr val="dk1"/>
                </a:solidFill>
                <a:latin typeface="Times New Roman"/>
                <a:ea typeface="Times New Roman"/>
                <a:cs typeface="Times New Roman"/>
                <a:sym typeface="Times New Roman"/>
              </a:defRPr>
            </a:lvl6pPr>
            <a:lvl7pPr indent="0" lvl="6" marL="0" marR="0" rtl="0" algn="l">
              <a:lnSpc>
                <a:spcPct val="100000"/>
              </a:lnSpc>
              <a:spcBef>
                <a:spcPts val="0"/>
              </a:spcBef>
              <a:spcAft>
                <a:spcPts val="0"/>
              </a:spcAft>
              <a:buNone/>
              <a:defRPr b="0" i="0" sz="2400" u="none">
                <a:solidFill>
                  <a:schemeClr val="dk1"/>
                </a:solidFill>
                <a:latin typeface="Times New Roman"/>
                <a:ea typeface="Times New Roman"/>
                <a:cs typeface="Times New Roman"/>
                <a:sym typeface="Times New Roman"/>
              </a:defRPr>
            </a:lvl7pPr>
            <a:lvl8pPr indent="0" lvl="7" marL="0" marR="0" rtl="0" algn="l">
              <a:lnSpc>
                <a:spcPct val="100000"/>
              </a:lnSpc>
              <a:spcBef>
                <a:spcPts val="0"/>
              </a:spcBef>
              <a:spcAft>
                <a:spcPts val="0"/>
              </a:spcAft>
              <a:buNone/>
              <a:defRPr b="0" i="0" sz="2400" u="none">
                <a:solidFill>
                  <a:schemeClr val="dk1"/>
                </a:solidFill>
                <a:latin typeface="Times New Roman"/>
                <a:ea typeface="Times New Roman"/>
                <a:cs typeface="Times New Roman"/>
                <a:sym typeface="Times New Roman"/>
              </a:defRPr>
            </a:lvl8pPr>
            <a:lvl9pPr indent="0" lvl="8" marL="0" marR="0" rtl="0" algn="l">
              <a:lnSpc>
                <a:spcPct val="100000"/>
              </a:lnSpc>
              <a:spcBef>
                <a:spcPts val="0"/>
              </a:spcBef>
              <a:spcAft>
                <a:spcPts val="0"/>
              </a:spcAft>
              <a:buNone/>
              <a:defRPr b="0" i="0" sz="2400" u="none">
                <a:solidFill>
                  <a:schemeClr val="dk1"/>
                </a:solidFill>
                <a:latin typeface="Times New Roman"/>
                <a:ea typeface="Times New Roman"/>
                <a:cs typeface="Times New Roman"/>
                <a:sym typeface="Times New Roman"/>
              </a:defRPr>
            </a:lvl9pPr>
          </a:lstStyle>
          <a:p>
            <a:pPr indent="0" lvl="0" marL="0" rtl="0" algn="l">
              <a:spcBef>
                <a:spcPts val="0"/>
              </a:spcBef>
              <a:spcAft>
                <a:spcPts val="0"/>
              </a:spcAft>
              <a:buNone/>
            </a:pPr>
            <a:r>
              <a:t/>
            </a:r>
            <a:endParaRPr/>
          </a:p>
        </p:txBody>
      </p:sp>
      <p:sp>
        <p:nvSpPr>
          <p:cNvPr id="13" name="Google Shape;13;p1"/>
          <p:cNvSpPr txBox="1"/>
          <p:nvPr/>
        </p:nvSpPr>
        <p:spPr>
          <a:xfrm>
            <a:off x="6762750" y="6613525"/>
            <a:ext cx="2381250" cy="2444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2"/>
              </a:buClr>
              <a:buSzPts val="1000"/>
              <a:buFont typeface="Helvetica Neue"/>
              <a:buNone/>
            </a:pPr>
            <a:r>
              <a:rPr b="1" i="0" lang="en-US" sz="1000" u="none">
                <a:solidFill>
                  <a:schemeClr val="dk2"/>
                </a:solidFill>
                <a:latin typeface="Helvetica Neue"/>
                <a:ea typeface="Helvetica Neue"/>
                <a:cs typeface="Helvetica Neue"/>
                <a:sym typeface="Helvetica Neue"/>
              </a:rPr>
              <a:t>©Silberschatz, Korth and Sudarshan</a:t>
            </a:r>
            <a:endParaRPr/>
          </a:p>
        </p:txBody>
      </p:sp>
      <p:sp>
        <p:nvSpPr>
          <p:cNvPr id="14" name="Google Shape;14;p1"/>
          <p:cNvSpPr txBox="1"/>
          <p:nvPr/>
        </p:nvSpPr>
        <p:spPr>
          <a:xfrm>
            <a:off x="4481512" y="6613525"/>
            <a:ext cx="444500" cy="2444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2"/>
              </a:buClr>
              <a:buSzPts val="1000"/>
              <a:buFont typeface="Helvetica Neue"/>
              <a:buNone/>
            </a:pPr>
            <a:r>
              <a:rPr b="1" i="0" lang="en-US" sz="1000" u="none">
                <a:solidFill>
                  <a:schemeClr val="dk2"/>
                </a:solidFill>
                <a:latin typeface="Helvetica Neue"/>
                <a:ea typeface="Helvetica Neue"/>
                <a:cs typeface="Helvetica Neue"/>
                <a:sym typeface="Helvetica Neue"/>
              </a:rPr>
              <a:t>8.</a:t>
            </a:r>
            <a:fld id="{00000000-1234-1234-1234-123412341234}" type="slidenum">
              <a:rPr b="1" i="0" lang="en-US" sz="1000" u="none">
                <a:solidFill>
                  <a:schemeClr val="dk2"/>
                </a:solidFill>
                <a:latin typeface="Helvetica Neue"/>
                <a:ea typeface="Helvetica Neue"/>
                <a:cs typeface="Helvetica Neue"/>
                <a:sym typeface="Helvetica Neue"/>
              </a:rPr>
              <a:t>‹#›</a:t>
            </a:fld>
            <a:endParaRPr/>
          </a:p>
        </p:txBody>
      </p:sp>
      <p:sp>
        <p:nvSpPr>
          <p:cNvPr id="15" name="Google Shape;15;p1"/>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lvl1pPr lvl="0" marR="0" rtl="0" algn="ctr">
              <a:lnSpc>
                <a:spcPct val="100000"/>
              </a:lnSpc>
              <a:spcBef>
                <a:spcPts val="0"/>
              </a:spcBef>
              <a:spcAft>
                <a:spcPts val="0"/>
              </a:spcAft>
              <a:buSzPts val="1400"/>
              <a:buNone/>
              <a:defRPr b="1" i="0" sz="3200" u="none" cap="none" strike="noStrike">
                <a:solidFill>
                  <a:schemeClr val="dk2"/>
                </a:solidFill>
                <a:latin typeface="Helvetica Neue"/>
                <a:ea typeface="Helvetica Neue"/>
                <a:cs typeface="Helvetica Neue"/>
                <a:sym typeface="Helvetica Neue"/>
              </a:defRPr>
            </a:lvl1pPr>
            <a:lvl2pPr lvl="1" marR="0" rtl="0" algn="ctr">
              <a:lnSpc>
                <a:spcPct val="100000"/>
              </a:lnSpc>
              <a:spcBef>
                <a:spcPts val="0"/>
              </a:spcBef>
              <a:spcAft>
                <a:spcPts val="0"/>
              </a:spcAft>
              <a:buSzPts val="1400"/>
              <a:buNone/>
              <a:defRPr b="1" i="0" sz="3200" u="none" cap="none" strike="noStrike">
                <a:solidFill>
                  <a:schemeClr val="dk2"/>
                </a:solidFill>
                <a:latin typeface="Helvetica Neue"/>
                <a:ea typeface="Helvetica Neue"/>
                <a:cs typeface="Helvetica Neue"/>
                <a:sym typeface="Helvetica Neue"/>
              </a:defRPr>
            </a:lvl2pPr>
            <a:lvl3pPr lvl="2" marR="0" rtl="0" algn="ctr">
              <a:lnSpc>
                <a:spcPct val="100000"/>
              </a:lnSpc>
              <a:spcBef>
                <a:spcPts val="0"/>
              </a:spcBef>
              <a:spcAft>
                <a:spcPts val="0"/>
              </a:spcAft>
              <a:buSzPts val="1400"/>
              <a:buNone/>
              <a:defRPr b="1" i="0" sz="3200" u="none" cap="none" strike="noStrike">
                <a:solidFill>
                  <a:schemeClr val="dk2"/>
                </a:solidFill>
                <a:latin typeface="Helvetica Neue"/>
                <a:ea typeface="Helvetica Neue"/>
                <a:cs typeface="Helvetica Neue"/>
                <a:sym typeface="Helvetica Neue"/>
              </a:defRPr>
            </a:lvl3pPr>
            <a:lvl4pPr lvl="3" marR="0" rtl="0" algn="ctr">
              <a:lnSpc>
                <a:spcPct val="100000"/>
              </a:lnSpc>
              <a:spcBef>
                <a:spcPts val="0"/>
              </a:spcBef>
              <a:spcAft>
                <a:spcPts val="0"/>
              </a:spcAft>
              <a:buSzPts val="1400"/>
              <a:buNone/>
              <a:defRPr b="1" i="0" sz="3200" u="none" cap="none" strike="noStrike">
                <a:solidFill>
                  <a:schemeClr val="dk2"/>
                </a:solidFill>
                <a:latin typeface="Helvetica Neue"/>
                <a:ea typeface="Helvetica Neue"/>
                <a:cs typeface="Helvetica Neue"/>
                <a:sym typeface="Helvetica Neue"/>
              </a:defRPr>
            </a:lvl4pPr>
            <a:lvl5pPr lvl="4" marR="0" rtl="0" algn="ctr">
              <a:lnSpc>
                <a:spcPct val="100000"/>
              </a:lnSpc>
              <a:spcBef>
                <a:spcPts val="0"/>
              </a:spcBef>
              <a:spcAft>
                <a:spcPts val="0"/>
              </a:spcAft>
              <a:buSzPts val="1400"/>
              <a:buNone/>
              <a:defRPr b="1" i="0" sz="3200" u="none" cap="none" strike="noStrike">
                <a:solidFill>
                  <a:schemeClr val="dk2"/>
                </a:solidFill>
                <a:latin typeface="Helvetica Neue"/>
                <a:ea typeface="Helvetica Neue"/>
                <a:cs typeface="Helvetica Neue"/>
                <a:sym typeface="Helvetica Neue"/>
              </a:defRPr>
            </a:lvl5pPr>
            <a:lvl6pPr lvl="5" marR="0" rtl="0" algn="ctr">
              <a:lnSpc>
                <a:spcPct val="100000"/>
              </a:lnSpc>
              <a:spcBef>
                <a:spcPts val="0"/>
              </a:spcBef>
              <a:spcAft>
                <a:spcPts val="0"/>
              </a:spcAft>
              <a:buSzPts val="1400"/>
              <a:buNone/>
              <a:defRPr b="1" i="0" sz="3200" u="none" cap="none" strike="noStrike">
                <a:solidFill>
                  <a:schemeClr val="dk2"/>
                </a:solidFill>
                <a:latin typeface="Helvetica Neue"/>
                <a:ea typeface="Helvetica Neue"/>
                <a:cs typeface="Helvetica Neue"/>
                <a:sym typeface="Helvetica Neue"/>
              </a:defRPr>
            </a:lvl6pPr>
            <a:lvl7pPr lvl="6" marR="0" rtl="0" algn="ctr">
              <a:lnSpc>
                <a:spcPct val="100000"/>
              </a:lnSpc>
              <a:spcBef>
                <a:spcPts val="0"/>
              </a:spcBef>
              <a:spcAft>
                <a:spcPts val="0"/>
              </a:spcAft>
              <a:buSzPts val="1400"/>
              <a:buNone/>
              <a:defRPr b="1" i="0" sz="3200" u="none" cap="none" strike="noStrike">
                <a:solidFill>
                  <a:schemeClr val="dk2"/>
                </a:solidFill>
                <a:latin typeface="Helvetica Neue"/>
                <a:ea typeface="Helvetica Neue"/>
                <a:cs typeface="Helvetica Neue"/>
                <a:sym typeface="Helvetica Neue"/>
              </a:defRPr>
            </a:lvl7pPr>
            <a:lvl8pPr lvl="7" marR="0" rtl="0" algn="ctr">
              <a:lnSpc>
                <a:spcPct val="100000"/>
              </a:lnSpc>
              <a:spcBef>
                <a:spcPts val="0"/>
              </a:spcBef>
              <a:spcAft>
                <a:spcPts val="0"/>
              </a:spcAft>
              <a:buSzPts val="1400"/>
              <a:buNone/>
              <a:defRPr b="1" i="0" sz="3200" u="none" cap="none" strike="noStrike">
                <a:solidFill>
                  <a:schemeClr val="dk2"/>
                </a:solidFill>
                <a:latin typeface="Helvetica Neue"/>
                <a:ea typeface="Helvetica Neue"/>
                <a:cs typeface="Helvetica Neue"/>
                <a:sym typeface="Helvetica Neue"/>
              </a:defRPr>
            </a:lvl8pPr>
            <a:lvl9pPr lvl="8" marR="0" rtl="0" algn="ctr">
              <a:lnSpc>
                <a:spcPct val="100000"/>
              </a:lnSpc>
              <a:spcBef>
                <a:spcPts val="0"/>
              </a:spcBef>
              <a:spcAft>
                <a:spcPts val="0"/>
              </a:spcAft>
              <a:buSzPts val="1400"/>
              <a:buNone/>
              <a:defRPr b="1" i="0" sz="3200" u="none" cap="none" strike="noStrike">
                <a:solidFill>
                  <a:schemeClr val="dk2"/>
                </a:solidFill>
                <a:latin typeface="Helvetica Neue"/>
                <a:ea typeface="Helvetica Neue"/>
                <a:cs typeface="Helvetica Neue"/>
                <a:sym typeface="Helvetica Neue"/>
              </a:defRPr>
            </a:lvl9pPr>
          </a:lstStyle>
          <a:p/>
        </p:txBody>
      </p:sp>
      <p:sp>
        <p:nvSpPr>
          <p:cNvPr id="16" name="Google Shape;16;p1"/>
          <p:cNvSpPr txBox="1"/>
          <p:nvPr/>
        </p:nvSpPr>
        <p:spPr>
          <a:xfrm>
            <a:off x="0" y="6613525"/>
            <a:ext cx="3416300" cy="2444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2"/>
              </a:buClr>
              <a:buSzPts val="1000"/>
              <a:buFont typeface="Helvetica Neue"/>
              <a:buNone/>
            </a:pPr>
            <a:r>
              <a:rPr b="1" i="0" lang="en-US" sz="1000" u="none">
                <a:solidFill>
                  <a:schemeClr val="dk2"/>
                </a:solidFill>
                <a:latin typeface="Helvetica Neue"/>
                <a:ea typeface="Helvetica Neue"/>
                <a:cs typeface="Helvetica Neue"/>
                <a:sym typeface="Helvetica Neue"/>
              </a:rPr>
              <a:t>Database System Concepts - 5</a:t>
            </a:r>
            <a:r>
              <a:rPr b="1" baseline="30000" i="0" lang="en-US" sz="1000" u="none">
                <a:solidFill>
                  <a:schemeClr val="dk2"/>
                </a:solidFill>
                <a:latin typeface="Helvetica Neue"/>
                <a:ea typeface="Helvetica Neue"/>
                <a:cs typeface="Helvetica Neue"/>
                <a:sym typeface="Helvetica Neue"/>
              </a:rPr>
              <a:t>th</a:t>
            </a:r>
            <a:r>
              <a:rPr b="1" i="0" lang="en-US" sz="1000" u="none">
                <a:solidFill>
                  <a:schemeClr val="dk2"/>
                </a:solidFill>
                <a:latin typeface="Helvetica Neue"/>
                <a:ea typeface="Helvetica Neue"/>
                <a:cs typeface="Helvetica Neue"/>
                <a:sym typeface="Helvetica Neue"/>
              </a:rPr>
              <a:t> Edition,  Aug 9, 2005.</a:t>
            </a:r>
            <a:endParaRPr/>
          </a:p>
        </p:txBody>
      </p:sp>
      <p:sp>
        <p:nvSpPr>
          <p:cNvPr id="17" name="Google Shape;17;p1"/>
          <p:cNvSpPr/>
          <p:nvPr/>
        </p:nvSpPr>
        <p:spPr>
          <a:xfrm>
            <a:off x="8916987" y="5445125"/>
            <a:ext cx="227012" cy="47625"/>
          </a:xfrm>
          <a:custGeom>
            <a:rect b="b" l="l" r="r" t="t"/>
            <a:pathLst>
              <a:path extrusionOk="0" h="61" w="285">
                <a:moveTo>
                  <a:pt x="2" y="61"/>
                </a:moveTo>
                <a:lnTo>
                  <a:pt x="0" y="59"/>
                </a:lnTo>
                <a:lnTo>
                  <a:pt x="0" y="55"/>
                </a:lnTo>
                <a:lnTo>
                  <a:pt x="2" y="48"/>
                </a:lnTo>
                <a:lnTo>
                  <a:pt x="5" y="40"/>
                </a:lnTo>
                <a:lnTo>
                  <a:pt x="9" y="34"/>
                </a:lnTo>
                <a:lnTo>
                  <a:pt x="13" y="31"/>
                </a:lnTo>
                <a:lnTo>
                  <a:pt x="17" y="25"/>
                </a:lnTo>
                <a:lnTo>
                  <a:pt x="24" y="21"/>
                </a:lnTo>
                <a:lnTo>
                  <a:pt x="30" y="17"/>
                </a:lnTo>
                <a:lnTo>
                  <a:pt x="40" y="13"/>
                </a:lnTo>
                <a:lnTo>
                  <a:pt x="45" y="10"/>
                </a:lnTo>
                <a:lnTo>
                  <a:pt x="51" y="8"/>
                </a:lnTo>
                <a:lnTo>
                  <a:pt x="57" y="6"/>
                </a:lnTo>
                <a:lnTo>
                  <a:pt x="64" y="6"/>
                </a:lnTo>
                <a:lnTo>
                  <a:pt x="70" y="2"/>
                </a:lnTo>
                <a:lnTo>
                  <a:pt x="78" y="2"/>
                </a:lnTo>
                <a:lnTo>
                  <a:pt x="85" y="0"/>
                </a:lnTo>
                <a:lnTo>
                  <a:pt x="93" y="0"/>
                </a:lnTo>
                <a:lnTo>
                  <a:pt x="100" y="0"/>
                </a:lnTo>
                <a:lnTo>
                  <a:pt x="110" y="0"/>
                </a:lnTo>
                <a:lnTo>
                  <a:pt x="118" y="0"/>
                </a:lnTo>
                <a:lnTo>
                  <a:pt x="129" y="0"/>
                </a:lnTo>
                <a:lnTo>
                  <a:pt x="137" y="0"/>
                </a:lnTo>
                <a:lnTo>
                  <a:pt x="146" y="2"/>
                </a:lnTo>
                <a:lnTo>
                  <a:pt x="154" y="2"/>
                </a:lnTo>
                <a:lnTo>
                  <a:pt x="163" y="4"/>
                </a:lnTo>
                <a:lnTo>
                  <a:pt x="173" y="6"/>
                </a:lnTo>
                <a:lnTo>
                  <a:pt x="182" y="8"/>
                </a:lnTo>
                <a:lnTo>
                  <a:pt x="192" y="8"/>
                </a:lnTo>
                <a:lnTo>
                  <a:pt x="201" y="12"/>
                </a:lnTo>
                <a:lnTo>
                  <a:pt x="209" y="12"/>
                </a:lnTo>
                <a:lnTo>
                  <a:pt x="216" y="13"/>
                </a:lnTo>
                <a:lnTo>
                  <a:pt x="224" y="15"/>
                </a:lnTo>
                <a:lnTo>
                  <a:pt x="234" y="17"/>
                </a:lnTo>
                <a:lnTo>
                  <a:pt x="239" y="19"/>
                </a:lnTo>
                <a:lnTo>
                  <a:pt x="247" y="21"/>
                </a:lnTo>
                <a:lnTo>
                  <a:pt x="254" y="23"/>
                </a:lnTo>
                <a:lnTo>
                  <a:pt x="260" y="25"/>
                </a:lnTo>
                <a:lnTo>
                  <a:pt x="266" y="25"/>
                </a:lnTo>
                <a:lnTo>
                  <a:pt x="270" y="27"/>
                </a:lnTo>
                <a:lnTo>
                  <a:pt x="273" y="27"/>
                </a:lnTo>
                <a:lnTo>
                  <a:pt x="279" y="29"/>
                </a:lnTo>
                <a:lnTo>
                  <a:pt x="283" y="31"/>
                </a:lnTo>
                <a:lnTo>
                  <a:pt x="285" y="32"/>
                </a:lnTo>
                <a:lnTo>
                  <a:pt x="279" y="44"/>
                </a:lnTo>
                <a:lnTo>
                  <a:pt x="277" y="44"/>
                </a:lnTo>
                <a:lnTo>
                  <a:pt x="273" y="42"/>
                </a:lnTo>
                <a:lnTo>
                  <a:pt x="268" y="42"/>
                </a:lnTo>
                <a:lnTo>
                  <a:pt x="260" y="40"/>
                </a:lnTo>
                <a:lnTo>
                  <a:pt x="251" y="38"/>
                </a:lnTo>
                <a:lnTo>
                  <a:pt x="241" y="36"/>
                </a:lnTo>
                <a:lnTo>
                  <a:pt x="235" y="34"/>
                </a:lnTo>
                <a:lnTo>
                  <a:pt x="230" y="34"/>
                </a:lnTo>
                <a:lnTo>
                  <a:pt x="224" y="32"/>
                </a:lnTo>
                <a:lnTo>
                  <a:pt x="218" y="32"/>
                </a:lnTo>
                <a:lnTo>
                  <a:pt x="213" y="31"/>
                </a:lnTo>
                <a:lnTo>
                  <a:pt x="207" y="31"/>
                </a:lnTo>
                <a:lnTo>
                  <a:pt x="201" y="29"/>
                </a:lnTo>
                <a:lnTo>
                  <a:pt x="196" y="29"/>
                </a:lnTo>
                <a:lnTo>
                  <a:pt x="190" y="27"/>
                </a:lnTo>
                <a:lnTo>
                  <a:pt x="182" y="27"/>
                </a:lnTo>
                <a:lnTo>
                  <a:pt x="178" y="25"/>
                </a:lnTo>
                <a:lnTo>
                  <a:pt x="173" y="25"/>
                </a:lnTo>
                <a:lnTo>
                  <a:pt x="167" y="23"/>
                </a:lnTo>
                <a:lnTo>
                  <a:pt x="163" y="23"/>
                </a:lnTo>
                <a:lnTo>
                  <a:pt x="158" y="21"/>
                </a:lnTo>
                <a:lnTo>
                  <a:pt x="154" y="21"/>
                </a:lnTo>
                <a:lnTo>
                  <a:pt x="148" y="19"/>
                </a:lnTo>
                <a:lnTo>
                  <a:pt x="142" y="19"/>
                </a:lnTo>
                <a:lnTo>
                  <a:pt x="144" y="48"/>
                </a:lnTo>
                <a:lnTo>
                  <a:pt x="110" y="15"/>
                </a:lnTo>
                <a:lnTo>
                  <a:pt x="118" y="48"/>
                </a:lnTo>
                <a:lnTo>
                  <a:pt x="83" y="21"/>
                </a:lnTo>
                <a:lnTo>
                  <a:pt x="91" y="48"/>
                </a:lnTo>
                <a:lnTo>
                  <a:pt x="59" y="29"/>
                </a:lnTo>
                <a:lnTo>
                  <a:pt x="57" y="29"/>
                </a:lnTo>
                <a:lnTo>
                  <a:pt x="53" y="31"/>
                </a:lnTo>
                <a:lnTo>
                  <a:pt x="49" y="31"/>
                </a:lnTo>
                <a:lnTo>
                  <a:pt x="43" y="34"/>
                </a:lnTo>
                <a:lnTo>
                  <a:pt x="38" y="36"/>
                </a:lnTo>
                <a:lnTo>
                  <a:pt x="32" y="38"/>
                </a:lnTo>
                <a:lnTo>
                  <a:pt x="26" y="42"/>
                </a:lnTo>
                <a:lnTo>
                  <a:pt x="23" y="44"/>
                </a:lnTo>
                <a:lnTo>
                  <a:pt x="15" y="50"/>
                </a:lnTo>
                <a:lnTo>
                  <a:pt x="7" y="55"/>
                </a:lnTo>
                <a:lnTo>
                  <a:pt x="4" y="59"/>
                </a:lnTo>
                <a:lnTo>
                  <a:pt x="2" y="61"/>
                </a:lnTo>
                <a:lnTo>
                  <a:pt x="2" y="61"/>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18" name="Google Shape;18;p1"/>
          <p:cNvPicPr preferRelativeResize="0"/>
          <p:nvPr/>
        </p:nvPicPr>
        <p:blipFill rotWithShape="1">
          <a:blip r:embed="rId1">
            <a:alphaModFix/>
          </a:blip>
          <a:srcRect b="0" l="0" r="0" t="0"/>
          <a:stretch/>
        </p:blipFill>
        <p:spPr>
          <a:xfrm>
            <a:off x="0" y="0"/>
            <a:ext cx="660400" cy="877887"/>
          </a:xfrm>
          <a:prstGeom prst="rect">
            <a:avLst/>
          </a:prstGeom>
          <a:noFill/>
          <a:ln>
            <a:noFill/>
          </a:ln>
        </p:spPr>
      </p:pic>
      <p:pic>
        <p:nvPicPr>
          <p:cNvPr id="19" name="Google Shape;19;p1"/>
          <p:cNvPicPr preferRelativeResize="0"/>
          <p:nvPr/>
        </p:nvPicPr>
        <p:blipFill rotWithShape="1">
          <a:blip r:embed="rId2">
            <a:alphaModFix/>
          </a:blip>
          <a:srcRect b="26144" l="0" r="0" t="0"/>
          <a:stretch/>
        </p:blipFill>
        <p:spPr>
          <a:xfrm>
            <a:off x="8528050" y="6053137"/>
            <a:ext cx="615950" cy="614362"/>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3"/>
    <p:sldLayoutId id="2147483649" r:id="rId4"/>
    <p:sldLayoutId id="2147483650"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hyperlink" Target="http://www.bell-labs.com/topics/book/db-book"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45" name="Shape 45"/>
        <p:cNvGrpSpPr/>
        <p:nvPr/>
      </p:nvGrpSpPr>
      <p:grpSpPr>
        <a:xfrm>
          <a:off x="0" y="0"/>
          <a:ext cx="0" cy="0"/>
          <a:chOff x="0" y="0"/>
          <a:chExt cx="0" cy="0"/>
        </a:xfrm>
      </p:grpSpPr>
      <p:sp>
        <p:nvSpPr>
          <p:cNvPr id="46" name="Google Shape;46;p5"/>
          <p:cNvSpPr txBox="1"/>
          <p:nvPr>
            <p:ph type="ctrTitle"/>
          </p:nvPr>
        </p:nvSpPr>
        <p:spPr>
          <a:xfrm>
            <a:off x="685800" y="2286000"/>
            <a:ext cx="7772400" cy="11430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Chapter 8: Application Design and Development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50" name="Shape 50"/>
        <p:cNvGrpSpPr/>
        <p:nvPr/>
      </p:nvGrpSpPr>
      <p:grpSpPr>
        <a:xfrm>
          <a:off x="0" y="0"/>
          <a:ext cx="0" cy="0"/>
          <a:chOff x="0" y="0"/>
          <a:chExt cx="0" cy="0"/>
        </a:xfrm>
      </p:grpSpPr>
      <p:sp>
        <p:nvSpPr>
          <p:cNvPr id="51" name="Google Shape;51;p6"/>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en-US" sz="2400" u="none">
                <a:solidFill>
                  <a:schemeClr val="dk1"/>
                </a:solidFill>
                <a:latin typeface="Times New Roman"/>
                <a:ea typeface="Times New Roman"/>
                <a:cs typeface="Times New Roman"/>
                <a:sym typeface="Times New Roman"/>
              </a:rPr>
              <a:t>‹#›</a:t>
            </a:fld>
            <a:endParaRPr/>
          </a:p>
        </p:txBody>
      </p:sp>
      <p:sp>
        <p:nvSpPr>
          <p:cNvPr id="52" name="Google Shape;52;p6"/>
          <p:cNvSpPr txBox="1"/>
          <p:nvPr>
            <p:ph type="title"/>
          </p:nvPr>
        </p:nvSpPr>
        <p:spPr>
          <a:xfrm>
            <a:off x="525462" y="-125412"/>
            <a:ext cx="8839200" cy="8382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2800"/>
              <a:buFont typeface="Helvetica Neue"/>
              <a:buNone/>
            </a:pPr>
            <a:r>
              <a:rPr b="1" i="0" lang="en-US" sz="2800" u="none">
                <a:solidFill>
                  <a:schemeClr val="dk2"/>
                </a:solidFill>
                <a:latin typeface="Helvetica Neue"/>
                <a:ea typeface="Helvetica Neue"/>
                <a:cs typeface="Helvetica Neue"/>
                <a:sym typeface="Helvetica Neue"/>
              </a:rPr>
              <a:t>Chapter 8: Application Design and Development </a:t>
            </a:r>
            <a:endParaRPr/>
          </a:p>
        </p:txBody>
      </p:sp>
      <p:sp>
        <p:nvSpPr>
          <p:cNvPr id="53" name="Google Shape;53;p6"/>
          <p:cNvSpPr txBox="1"/>
          <p:nvPr>
            <p:ph idx="4294967295" type="body"/>
          </p:nvPr>
        </p:nvSpPr>
        <p:spPr>
          <a:xfrm>
            <a:off x="758825" y="1312862"/>
            <a:ext cx="7772400" cy="47244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1620"/>
              <a:buFont typeface="Arial"/>
              <a:buNone/>
            </a:pPr>
            <a:r>
              <a:t/>
            </a:r>
            <a:endParaRPr b="0" i="0" sz="1800" u="none" cap="none" strike="noStrike">
              <a:solidFill>
                <a:schemeClr val="dk1"/>
              </a:solidFill>
              <a:latin typeface="Helvetica Neue"/>
              <a:ea typeface="Helvetica Neue"/>
              <a:cs typeface="Helvetica Neue"/>
              <a:sym typeface="Helvetica Neue"/>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cap="none" strike="noStrike">
                <a:solidFill>
                  <a:schemeClr val="dk1"/>
                </a:solidFill>
                <a:latin typeface="Helvetica Neue"/>
                <a:ea typeface="Helvetica Neue"/>
                <a:cs typeface="Helvetica Neue"/>
                <a:sym typeface="Helvetica Neue"/>
              </a:rPr>
              <a:t>User Interfaces and Tools</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cap="none" strike="noStrike">
                <a:solidFill>
                  <a:schemeClr val="dk1"/>
                </a:solidFill>
                <a:latin typeface="Helvetica Neue"/>
                <a:ea typeface="Helvetica Neue"/>
                <a:cs typeface="Helvetica Neue"/>
                <a:sym typeface="Helvetica Neue"/>
              </a:rPr>
              <a:t>Web Interfaces to Databases</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cap="none" strike="noStrike">
                <a:solidFill>
                  <a:schemeClr val="dk1"/>
                </a:solidFill>
                <a:latin typeface="Helvetica Neue"/>
                <a:ea typeface="Helvetica Neue"/>
                <a:cs typeface="Helvetica Neue"/>
                <a:sym typeface="Helvetica Neue"/>
              </a:rPr>
              <a:t>Web Fundamentals</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cap="none" strike="noStrike">
                <a:solidFill>
                  <a:schemeClr val="dk1"/>
                </a:solidFill>
                <a:latin typeface="Helvetica Neue"/>
                <a:ea typeface="Helvetica Neue"/>
                <a:cs typeface="Helvetica Neue"/>
                <a:sym typeface="Helvetica Neue"/>
              </a:rPr>
              <a:t>Servlets and JSP</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cap="none" strike="noStrike">
                <a:solidFill>
                  <a:schemeClr val="dk1"/>
                </a:solidFill>
                <a:latin typeface="Helvetica Neue"/>
                <a:ea typeface="Helvetica Neue"/>
                <a:cs typeface="Helvetica Neue"/>
                <a:sym typeface="Helvetica Neue"/>
              </a:rPr>
              <a:t>Building Large Web Applications</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cap="none" strike="noStrike">
                <a:solidFill>
                  <a:schemeClr val="dk1"/>
                </a:solidFill>
                <a:latin typeface="Helvetica Neue"/>
                <a:ea typeface="Helvetica Neue"/>
                <a:cs typeface="Helvetica Neue"/>
                <a:sym typeface="Helvetica Neue"/>
              </a:rPr>
              <a:t>Triggers</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cap="none" strike="noStrike">
                <a:solidFill>
                  <a:schemeClr val="dk1"/>
                </a:solidFill>
                <a:latin typeface="Helvetica Neue"/>
                <a:ea typeface="Helvetica Neue"/>
                <a:cs typeface="Helvetica Neue"/>
                <a:sym typeface="Helvetica Neue"/>
              </a:rPr>
              <a:t>Authorization in SQL</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cap="none" strike="noStrike">
                <a:solidFill>
                  <a:schemeClr val="dk1"/>
                </a:solidFill>
                <a:latin typeface="Helvetica Neue"/>
                <a:ea typeface="Helvetica Neue"/>
                <a:cs typeface="Helvetica Neue"/>
                <a:sym typeface="Helvetica Neue"/>
              </a:rPr>
              <a:t>Application Security</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57" name="Shape 57"/>
        <p:cNvGrpSpPr/>
        <p:nvPr/>
      </p:nvGrpSpPr>
      <p:grpSpPr>
        <a:xfrm>
          <a:off x="0" y="0"/>
          <a:ext cx="0" cy="0"/>
          <a:chOff x="0" y="0"/>
          <a:chExt cx="0" cy="0"/>
        </a:xfrm>
      </p:grpSpPr>
      <p:sp>
        <p:nvSpPr>
          <p:cNvPr id="58" name="Google Shape;58;p7"/>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en-US" sz="2400" u="none">
                <a:solidFill>
                  <a:schemeClr val="dk1"/>
                </a:solidFill>
                <a:latin typeface="Times New Roman"/>
                <a:ea typeface="Times New Roman"/>
                <a:cs typeface="Times New Roman"/>
                <a:sym typeface="Times New Roman"/>
              </a:rPr>
              <a:t>‹#›</a:t>
            </a:fld>
            <a:endParaRPr/>
          </a:p>
        </p:txBody>
      </p:sp>
      <p:sp>
        <p:nvSpPr>
          <p:cNvPr id="59" name="Google Shape;59;p7"/>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User Interfaces and Tools</a:t>
            </a:r>
            <a:endParaRPr/>
          </a:p>
        </p:txBody>
      </p:sp>
      <p:sp>
        <p:nvSpPr>
          <p:cNvPr id="60" name="Google Shape;60;p7"/>
          <p:cNvSpPr txBox="1"/>
          <p:nvPr>
            <p:ph idx="1" type="body"/>
          </p:nvPr>
        </p:nvSpPr>
        <p:spPr>
          <a:xfrm>
            <a:off x="814387" y="1093787"/>
            <a:ext cx="7661275" cy="4903787"/>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1620"/>
              <a:buFont typeface="Arial"/>
              <a:buChar char="●"/>
            </a:pPr>
            <a:r>
              <a:rPr b="0" i="0" lang="en-US" sz="1800" u="none" cap="none" strike="noStrike">
                <a:solidFill>
                  <a:schemeClr val="dk1"/>
                </a:solidFill>
                <a:latin typeface="Helvetica Neue"/>
                <a:ea typeface="Helvetica Neue"/>
                <a:cs typeface="Helvetica Neue"/>
                <a:sym typeface="Helvetica Neue"/>
              </a:rPr>
              <a:t>Most database users do </a:t>
            </a:r>
            <a:r>
              <a:rPr b="0" i="1" lang="en-US" sz="1800" u="none" cap="none" strike="noStrike">
                <a:solidFill>
                  <a:schemeClr val="dk1"/>
                </a:solidFill>
                <a:latin typeface="Helvetica Neue"/>
                <a:ea typeface="Helvetica Neue"/>
                <a:cs typeface="Helvetica Neue"/>
                <a:sym typeface="Helvetica Neue"/>
              </a:rPr>
              <a:t>not</a:t>
            </a:r>
            <a:r>
              <a:rPr b="0" i="0" lang="en-US" sz="1800" u="none" cap="none" strike="noStrike">
                <a:solidFill>
                  <a:schemeClr val="dk1"/>
                </a:solidFill>
                <a:latin typeface="Helvetica Neue"/>
                <a:ea typeface="Helvetica Neue"/>
                <a:cs typeface="Helvetica Neue"/>
                <a:sym typeface="Helvetica Neue"/>
              </a:rPr>
              <a:t> use a query language like SQL.</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Forms</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Graphical user interfaces</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Report generators</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Data analysis tools (see Chapter 18)</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cap="none" strike="noStrike">
                <a:solidFill>
                  <a:schemeClr val="dk1"/>
                </a:solidFill>
                <a:latin typeface="Helvetica Neue"/>
                <a:ea typeface="Helvetica Neue"/>
                <a:cs typeface="Helvetica Neue"/>
                <a:sym typeface="Helvetica Neue"/>
              </a:rPr>
              <a:t>Many interfaces are Web-based</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cap="none" strike="noStrike">
                <a:solidFill>
                  <a:schemeClr val="dk1"/>
                </a:solidFill>
                <a:latin typeface="Helvetica Neue"/>
                <a:ea typeface="Helvetica Neue"/>
                <a:cs typeface="Helvetica Neue"/>
                <a:sym typeface="Helvetica Neue"/>
              </a:rPr>
              <a:t>Back-end  (Web server) uses such technologies as</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Java servlets</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Java Server Pages (JSP)</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Active Server Pages (ASP)</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64" name="Shape 64"/>
        <p:cNvGrpSpPr/>
        <p:nvPr/>
      </p:nvGrpSpPr>
      <p:grpSpPr>
        <a:xfrm>
          <a:off x="0" y="0"/>
          <a:ext cx="0" cy="0"/>
          <a:chOff x="0" y="0"/>
          <a:chExt cx="0" cy="0"/>
        </a:xfrm>
      </p:grpSpPr>
      <p:sp>
        <p:nvSpPr>
          <p:cNvPr id="65" name="Google Shape;65;p8"/>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en-US" sz="2400" u="none">
                <a:solidFill>
                  <a:schemeClr val="dk1"/>
                </a:solidFill>
                <a:latin typeface="Times New Roman"/>
                <a:ea typeface="Times New Roman"/>
                <a:cs typeface="Times New Roman"/>
                <a:sym typeface="Times New Roman"/>
              </a:rPr>
              <a:t>‹#›</a:t>
            </a:fld>
            <a:endParaRPr/>
          </a:p>
        </p:txBody>
      </p:sp>
      <p:sp>
        <p:nvSpPr>
          <p:cNvPr id="66" name="Google Shape;66;p8"/>
          <p:cNvSpPr txBox="1"/>
          <p:nvPr>
            <p:ph type="title"/>
          </p:nvPr>
        </p:nvSpPr>
        <p:spPr>
          <a:xfrm>
            <a:off x="762000" y="-152400"/>
            <a:ext cx="7772400" cy="6858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The World Wide Web</a:t>
            </a:r>
            <a:endParaRPr/>
          </a:p>
        </p:txBody>
      </p:sp>
      <p:sp>
        <p:nvSpPr>
          <p:cNvPr id="67" name="Google Shape;67;p8"/>
          <p:cNvSpPr txBox="1"/>
          <p:nvPr>
            <p:ph idx="4294967295" type="body"/>
          </p:nvPr>
        </p:nvSpPr>
        <p:spPr>
          <a:xfrm>
            <a:off x="696912" y="1035050"/>
            <a:ext cx="7912100" cy="4992687"/>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1620"/>
              <a:buFont typeface="Arial"/>
              <a:buChar char="●"/>
            </a:pPr>
            <a:r>
              <a:rPr b="0" i="0" lang="en-US" sz="1800" u="none" cap="none" strike="noStrike">
                <a:solidFill>
                  <a:schemeClr val="dk1"/>
                </a:solidFill>
                <a:latin typeface="Helvetica Neue"/>
                <a:ea typeface="Helvetica Neue"/>
                <a:cs typeface="Helvetica Neue"/>
                <a:sym typeface="Helvetica Neue"/>
              </a:rPr>
              <a:t>The Web is a distributed information system based on hypertext.</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cap="none" strike="noStrike">
                <a:solidFill>
                  <a:schemeClr val="dk1"/>
                </a:solidFill>
                <a:latin typeface="Helvetica Neue"/>
                <a:ea typeface="Helvetica Neue"/>
                <a:cs typeface="Helvetica Neue"/>
                <a:sym typeface="Helvetica Neue"/>
              </a:rPr>
              <a:t>Most Web documents are hypertext documents formatted via the HyperText Markup Language (HTML)</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cap="none" strike="noStrike">
                <a:solidFill>
                  <a:schemeClr val="dk1"/>
                </a:solidFill>
                <a:latin typeface="Helvetica Neue"/>
                <a:ea typeface="Helvetica Neue"/>
                <a:cs typeface="Helvetica Neue"/>
                <a:sym typeface="Helvetica Neue"/>
              </a:rPr>
              <a:t>HTML documents contain</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text along with font specifications, and other formatting instructions</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hypertext links to other documents, which can be associated with regions of the text.</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2"/>
                </a:solidFill>
                <a:latin typeface="Helvetica Neue"/>
                <a:ea typeface="Helvetica Neue"/>
                <a:cs typeface="Helvetica Neue"/>
                <a:sym typeface="Helvetica Neue"/>
              </a:rPr>
              <a:t>forms</a:t>
            </a:r>
            <a:r>
              <a:rPr b="0" i="0" lang="en-US" sz="1800" u="none" cap="none" strike="noStrike">
                <a:solidFill>
                  <a:schemeClr val="dk1"/>
                </a:solidFill>
                <a:latin typeface="Helvetica Neue"/>
                <a:ea typeface="Helvetica Neue"/>
                <a:cs typeface="Helvetica Neue"/>
                <a:sym typeface="Helvetica Neue"/>
              </a:rPr>
              <a:t>, enabling users to enter data which can then be sent back to the Web server</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71" name="Shape 71"/>
        <p:cNvGrpSpPr/>
        <p:nvPr/>
      </p:nvGrpSpPr>
      <p:grpSpPr>
        <a:xfrm>
          <a:off x="0" y="0"/>
          <a:ext cx="0" cy="0"/>
          <a:chOff x="0" y="0"/>
          <a:chExt cx="0" cy="0"/>
        </a:xfrm>
      </p:grpSpPr>
      <p:sp>
        <p:nvSpPr>
          <p:cNvPr id="72" name="Google Shape;72;p9"/>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en-US" sz="2400" u="none">
                <a:solidFill>
                  <a:schemeClr val="dk1"/>
                </a:solidFill>
                <a:latin typeface="Times New Roman"/>
                <a:ea typeface="Times New Roman"/>
                <a:cs typeface="Times New Roman"/>
                <a:sym typeface="Times New Roman"/>
              </a:rPr>
              <a:t>‹#›</a:t>
            </a:fld>
            <a:endParaRPr/>
          </a:p>
        </p:txBody>
      </p:sp>
      <p:sp>
        <p:nvSpPr>
          <p:cNvPr id="73" name="Google Shape;73;p9"/>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A formatted report</a:t>
            </a:r>
            <a:endParaRPr/>
          </a:p>
        </p:txBody>
      </p:sp>
      <p:pic>
        <p:nvPicPr>
          <p:cNvPr id="74" name="Google Shape;74;p9"/>
          <p:cNvPicPr preferRelativeResize="0"/>
          <p:nvPr/>
        </p:nvPicPr>
        <p:blipFill rotWithShape="1">
          <a:blip r:embed="rId3">
            <a:alphaModFix/>
          </a:blip>
          <a:srcRect b="0" l="0" r="0" t="0"/>
          <a:stretch/>
        </p:blipFill>
        <p:spPr>
          <a:xfrm>
            <a:off x="1217612" y="1477962"/>
            <a:ext cx="7289800" cy="3948112"/>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78" name="Shape 78"/>
        <p:cNvGrpSpPr/>
        <p:nvPr/>
      </p:nvGrpSpPr>
      <p:grpSpPr>
        <a:xfrm>
          <a:off x="0" y="0"/>
          <a:ext cx="0" cy="0"/>
          <a:chOff x="0" y="0"/>
          <a:chExt cx="0" cy="0"/>
        </a:xfrm>
      </p:grpSpPr>
      <p:sp>
        <p:nvSpPr>
          <p:cNvPr id="79" name="Google Shape;79;p10"/>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en-US" sz="2400" u="none">
                <a:solidFill>
                  <a:schemeClr val="dk1"/>
                </a:solidFill>
                <a:latin typeface="Times New Roman"/>
                <a:ea typeface="Times New Roman"/>
                <a:cs typeface="Times New Roman"/>
                <a:sym typeface="Times New Roman"/>
              </a:rPr>
              <a:t>‹#›</a:t>
            </a:fld>
            <a:endParaRPr/>
          </a:p>
        </p:txBody>
      </p:sp>
      <p:sp>
        <p:nvSpPr>
          <p:cNvPr id="80" name="Google Shape;80;p10"/>
          <p:cNvSpPr txBox="1"/>
          <p:nvPr>
            <p:ph type="title"/>
          </p:nvPr>
        </p:nvSpPr>
        <p:spPr>
          <a:xfrm>
            <a:off x="685800" y="0"/>
            <a:ext cx="7772400" cy="6858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Web Interfaces to Databases</a:t>
            </a:r>
            <a:endParaRPr/>
          </a:p>
        </p:txBody>
      </p:sp>
      <p:sp>
        <p:nvSpPr>
          <p:cNvPr id="81" name="Google Shape;81;p10"/>
          <p:cNvSpPr txBox="1"/>
          <p:nvPr>
            <p:ph idx="4294967295" type="body"/>
          </p:nvPr>
        </p:nvSpPr>
        <p:spPr>
          <a:xfrm>
            <a:off x="700087" y="1089025"/>
            <a:ext cx="7753350" cy="5029200"/>
          </a:xfrm>
          <a:prstGeom prst="rect">
            <a:avLst/>
          </a:prstGeom>
          <a:noFill/>
          <a:ln>
            <a:noFill/>
          </a:ln>
        </p:spPr>
        <p:txBody>
          <a:bodyPr anchorCtr="0" anchor="t" bIns="45700" lIns="91425" spcFirstLastPara="1" rIns="91425" wrap="square" tIns="45700">
            <a:noAutofit/>
          </a:bodyPr>
          <a:lstStyle/>
          <a:p>
            <a:pPr indent="-381000" lvl="0" marL="381000" marR="0" rtl="0" algn="l">
              <a:lnSpc>
                <a:spcPct val="100000"/>
              </a:lnSpc>
              <a:spcBef>
                <a:spcPts val="0"/>
              </a:spcBef>
              <a:spcAft>
                <a:spcPts val="0"/>
              </a:spcAft>
              <a:buClr>
                <a:schemeClr val="dk2"/>
              </a:buClr>
              <a:buSzPts val="1620"/>
              <a:buFont typeface="Arial"/>
              <a:buNone/>
            </a:pPr>
            <a:r>
              <a:rPr b="0" i="0" lang="en-US" sz="1800" u="none" cap="none" strike="noStrike">
                <a:solidFill>
                  <a:schemeClr val="dk1"/>
                </a:solidFill>
                <a:latin typeface="Helvetica Neue"/>
                <a:ea typeface="Helvetica Neue"/>
                <a:cs typeface="Helvetica Neue"/>
                <a:sym typeface="Helvetica Neue"/>
              </a:rPr>
              <a:t>Why interface databases to the Web?</a:t>
            </a:r>
            <a:endParaRPr/>
          </a:p>
          <a:p>
            <a:pPr indent="-381000" lvl="0" marL="381000" marR="0" rtl="0" algn="l">
              <a:lnSpc>
                <a:spcPct val="100000"/>
              </a:lnSpc>
              <a:spcBef>
                <a:spcPts val="630"/>
              </a:spcBef>
              <a:spcAft>
                <a:spcPts val="0"/>
              </a:spcAft>
              <a:buClr>
                <a:schemeClr val="dk2"/>
              </a:buClr>
              <a:buSzPts val="1620"/>
              <a:buFont typeface="Arial"/>
              <a:buAutoNum type="arabicPeriod"/>
            </a:pPr>
            <a:r>
              <a:rPr b="0" i="0" lang="en-US" sz="1800" u="none" cap="none" strike="noStrike">
                <a:solidFill>
                  <a:schemeClr val="dk1"/>
                </a:solidFill>
                <a:latin typeface="Helvetica Neue"/>
                <a:ea typeface="Helvetica Neue"/>
                <a:cs typeface="Helvetica Neue"/>
                <a:sym typeface="Helvetica Neue"/>
              </a:rPr>
              <a:t>Web browsers have become the de-facto standard user interface to databases</a:t>
            </a:r>
            <a:endParaRPr/>
          </a:p>
          <a:p>
            <a:pPr indent="-342900" lvl="1" marL="80010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Enable large numbers of users to access databases from anywhere</a:t>
            </a:r>
            <a:endParaRPr/>
          </a:p>
          <a:p>
            <a:pPr indent="-342900" lvl="1" marL="80010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Avoid the need for downloading/installing specialized code, while providing a good graphical user interface</a:t>
            </a:r>
            <a:endParaRPr/>
          </a:p>
          <a:p>
            <a:pPr indent="-342900" lvl="1" marL="80010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Examples: banks, airline and rental car reservations, university course registration and grading, an so on.</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85" name="Shape 85"/>
        <p:cNvGrpSpPr/>
        <p:nvPr/>
      </p:nvGrpSpPr>
      <p:grpSpPr>
        <a:xfrm>
          <a:off x="0" y="0"/>
          <a:ext cx="0" cy="0"/>
          <a:chOff x="0" y="0"/>
          <a:chExt cx="0" cy="0"/>
        </a:xfrm>
      </p:grpSpPr>
      <p:sp>
        <p:nvSpPr>
          <p:cNvPr id="86" name="Google Shape;86;p11"/>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en-US" sz="2400" u="none">
                <a:solidFill>
                  <a:schemeClr val="dk1"/>
                </a:solidFill>
                <a:latin typeface="Times New Roman"/>
                <a:ea typeface="Times New Roman"/>
                <a:cs typeface="Times New Roman"/>
                <a:sym typeface="Times New Roman"/>
              </a:rPr>
              <a:t>‹#›</a:t>
            </a:fld>
            <a:endParaRPr/>
          </a:p>
        </p:txBody>
      </p:sp>
      <p:sp>
        <p:nvSpPr>
          <p:cNvPr id="87" name="Google Shape;87;p11"/>
          <p:cNvSpPr txBox="1"/>
          <p:nvPr>
            <p:ph type="title"/>
          </p:nvPr>
        </p:nvSpPr>
        <p:spPr>
          <a:xfrm>
            <a:off x="0" y="0"/>
            <a:ext cx="9144000" cy="457200"/>
          </a:xfrm>
          <a:prstGeom prst="rect">
            <a:avLst/>
          </a:prstGeom>
          <a:noFill/>
          <a:ln>
            <a:noFill/>
          </a:ln>
        </p:spPr>
        <p:txBody>
          <a:bodyPr anchorCtr="0" anchor="b" bIns="45700" lIns="91425" spcFirstLastPara="1" rIns="91425" wrap="square" tIns="45700">
            <a:noAutofit/>
          </a:bodyPr>
          <a:lstStyle/>
          <a:p>
            <a:pPr indent="0" lvl="0" marL="0" rtl="0" algn="ctr">
              <a:lnSpc>
                <a:spcPct val="7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Web Interfaces to Database (Cont.)</a:t>
            </a:r>
            <a:endParaRPr/>
          </a:p>
        </p:txBody>
      </p:sp>
      <p:sp>
        <p:nvSpPr>
          <p:cNvPr id="88" name="Google Shape;88;p11"/>
          <p:cNvSpPr txBox="1"/>
          <p:nvPr>
            <p:ph idx="4294967295" type="body"/>
          </p:nvPr>
        </p:nvSpPr>
        <p:spPr>
          <a:xfrm>
            <a:off x="838200" y="914400"/>
            <a:ext cx="7561262" cy="5116512"/>
          </a:xfrm>
          <a:prstGeom prst="rect">
            <a:avLst/>
          </a:prstGeom>
          <a:noFill/>
          <a:ln>
            <a:noFill/>
          </a:ln>
        </p:spPr>
        <p:txBody>
          <a:bodyPr anchorCtr="0" anchor="t" bIns="45700" lIns="91425" spcFirstLastPara="1" rIns="91425" wrap="square" tIns="45700">
            <a:noAutofit/>
          </a:bodyPr>
          <a:lstStyle/>
          <a:p>
            <a:pPr indent="-381000" lvl="0" marL="381000" marR="0" rtl="0" algn="l">
              <a:lnSpc>
                <a:spcPct val="100000"/>
              </a:lnSpc>
              <a:spcBef>
                <a:spcPts val="0"/>
              </a:spcBef>
              <a:spcAft>
                <a:spcPts val="0"/>
              </a:spcAft>
              <a:buClr>
                <a:schemeClr val="dk2"/>
              </a:buClr>
              <a:buSzPts val="1620"/>
              <a:buFont typeface="Arial"/>
              <a:buAutoNum type="arabicPeriod" startAt="2"/>
            </a:pPr>
            <a:r>
              <a:rPr b="0" i="0" lang="en-US" sz="1800" u="none" cap="none" strike="noStrike">
                <a:solidFill>
                  <a:schemeClr val="dk1"/>
                </a:solidFill>
                <a:latin typeface="Helvetica Neue"/>
                <a:ea typeface="Helvetica Neue"/>
                <a:cs typeface="Helvetica Neue"/>
                <a:sym typeface="Helvetica Neue"/>
              </a:rPr>
              <a:t>Dynamic generation of documents</a:t>
            </a:r>
            <a:endParaRPr/>
          </a:p>
          <a:p>
            <a:pPr indent="-342900" lvl="1" marL="80010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Limitations of static HTML documents</a:t>
            </a:r>
            <a:endParaRPr/>
          </a:p>
          <a:p>
            <a:pPr indent="-342900" lvl="2" marL="1200150" marR="0" rtl="0" algn="l">
              <a:lnSpc>
                <a:spcPct val="100000"/>
              </a:lnSpc>
              <a:spcBef>
                <a:spcPts val="630"/>
              </a:spcBef>
              <a:spcAft>
                <a:spcPts val="0"/>
              </a:spcAft>
              <a:buClr>
                <a:srgbClr val="33CC33"/>
              </a:buClr>
              <a:buSzPts val="1350"/>
              <a:buFont typeface="Arimo"/>
              <a:buChar char="4"/>
            </a:pPr>
            <a:r>
              <a:rPr b="0" i="0" lang="en-US" sz="1800" u="none" cap="none" strike="noStrike">
                <a:solidFill>
                  <a:schemeClr val="dk1"/>
                </a:solidFill>
                <a:latin typeface="Helvetica Neue"/>
                <a:ea typeface="Helvetica Neue"/>
                <a:cs typeface="Helvetica Neue"/>
                <a:sym typeface="Helvetica Neue"/>
              </a:rPr>
              <a:t>Cannot customize fixed Web documents for individual users.</a:t>
            </a:r>
            <a:endParaRPr/>
          </a:p>
          <a:p>
            <a:pPr indent="-342900" lvl="2" marL="1200150" marR="0" rtl="0" algn="l">
              <a:lnSpc>
                <a:spcPct val="100000"/>
              </a:lnSpc>
              <a:spcBef>
                <a:spcPts val="630"/>
              </a:spcBef>
              <a:spcAft>
                <a:spcPts val="0"/>
              </a:spcAft>
              <a:buClr>
                <a:srgbClr val="33CC33"/>
              </a:buClr>
              <a:buSzPts val="1350"/>
              <a:buFont typeface="Arimo"/>
              <a:buChar char="4"/>
            </a:pPr>
            <a:r>
              <a:rPr b="0" i="0" lang="en-US" sz="1800" u="none" cap="none" strike="noStrike">
                <a:solidFill>
                  <a:schemeClr val="dk1"/>
                </a:solidFill>
                <a:latin typeface="Helvetica Neue"/>
                <a:ea typeface="Helvetica Neue"/>
                <a:cs typeface="Helvetica Neue"/>
                <a:sym typeface="Helvetica Neue"/>
              </a:rPr>
              <a:t>Problematic to update Web documents, especially if multiple Web documents replicate data.</a:t>
            </a:r>
            <a:endParaRPr/>
          </a:p>
          <a:p>
            <a:pPr indent="-342900" lvl="1" marL="80010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Solution: Generate Web documents dynamically from data stored in a database.  </a:t>
            </a:r>
            <a:endParaRPr/>
          </a:p>
          <a:p>
            <a:pPr indent="-342900" lvl="2" marL="1200150" marR="0" rtl="0" algn="l">
              <a:lnSpc>
                <a:spcPct val="100000"/>
              </a:lnSpc>
              <a:spcBef>
                <a:spcPts val="630"/>
              </a:spcBef>
              <a:spcAft>
                <a:spcPts val="0"/>
              </a:spcAft>
              <a:buClr>
                <a:srgbClr val="33CC33"/>
              </a:buClr>
              <a:buSzPts val="1350"/>
              <a:buFont typeface="Arimo"/>
              <a:buChar char="4"/>
            </a:pPr>
            <a:r>
              <a:rPr b="0" i="0" lang="en-US" sz="1800" u="none" cap="none" strike="noStrike">
                <a:solidFill>
                  <a:schemeClr val="dk1"/>
                </a:solidFill>
                <a:latin typeface="Helvetica Neue"/>
                <a:ea typeface="Helvetica Neue"/>
                <a:cs typeface="Helvetica Neue"/>
                <a:sym typeface="Helvetica Neue"/>
              </a:rPr>
              <a:t>Can tailor the display based on user information stored in the database.</a:t>
            </a:r>
            <a:endParaRPr/>
          </a:p>
          <a:p>
            <a:pPr indent="-342900" lvl="3" marL="1543050" marR="0" rtl="0" algn="l">
              <a:lnSpc>
                <a:spcPct val="100000"/>
              </a:lnSpc>
              <a:spcBef>
                <a:spcPts val="630"/>
              </a:spcBef>
              <a:spcAft>
                <a:spcPts val="0"/>
              </a:spcAft>
              <a:buClr>
                <a:schemeClr val="hlink"/>
              </a:buClr>
              <a:buSzPts val="1800"/>
              <a:buFont typeface="Helvetica Neue"/>
              <a:buChar char="–"/>
            </a:pPr>
            <a:r>
              <a:rPr b="0" i="0" lang="en-US" sz="1800" u="none" cap="none" strike="noStrike">
                <a:solidFill>
                  <a:schemeClr val="dk1"/>
                </a:solidFill>
                <a:latin typeface="Helvetica Neue"/>
                <a:ea typeface="Helvetica Neue"/>
                <a:cs typeface="Helvetica Neue"/>
                <a:sym typeface="Helvetica Neue"/>
              </a:rPr>
              <a:t>E.g. tailored ads, tailored weather and local news, …</a:t>
            </a:r>
            <a:endParaRPr/>
          </a:p>
          <a:p>
            <a:pPr indent="-342900" lvl="2" marL="1200150" marR="0" rtl="0" algn="l">
              <a:lnSpc>
                <a:spcPct val="100000"/>
              </a:lnSpc>
              <a:spcBef>
                <a:spcPts val="630"/>
              </a:spcBef>
              <a:spcAft>
                <a:spcPts val="0"/>
              </a:spcAft>
              <a:buClr>
                <a:srgbClr val="33CC33"/>
              </a:buClr>
              <a:buSzPts val="1350"/>
              <a:buFont typeface="Arimo"/>
              <a:buChar char="4"/>
            </a:pPr>
            <a:r>
              <a:rPr b="0" i="0" lang="en-US" sz="1800" u="none" cap="none" strike="noStrike">
                <a:solidFill>
                  <a:schemeClr val="dk1"/>
                </a:solidFill>
                <a:latin typeface="Helvetica Neue"/>
                <a:ea typeface="Helvetica Neue"/>
                <a:cs typeface="Helvetica Neue"/>
                <a:sym typeface="Helvetica Neue"/>
              </a:rPr>
              <a:t>Displayed information is up-to-date, unlike the static Web pages</a:t>
            </a:r>
            <a:endParaRPr/>
          </a:p>
          <a:p>
            <a:pPr indent="-342900" lvl="3" marL="1543050" marR="0" rtl="0" algn="l">
              <a:lnSpc>
                <a:spcPct val="100000"/>
              </a:lnSpc>
              <a:spcBef>
                <a:spcPts val="630"/>
              </a:spcBef>
              <a:spcAft>
                <a:spcPts val="0"/>
              </a:spcAft>
              <a:buClr>
                <a:schemeClr val="hlink"/>
              </a:buClr>
              <a:buSzPts val="1800"/>
              <a:buFont typeface="Helvetica Neue"/>
              <a:buChar char="–"/>
            </a:pPr>
            <a:r>
              <a:rPr b="0" i="0" lang="en-US" sz="1800" u="none" cap="none" strike="noStrike">
                <a:solidFill>
                  <a:schemeClr val="dk1"/>
                </a:solidFill>
                <a:latin typeface="Helvetica Neue"/>
                <a:ea typeface="Helvetica Neue"/>
                <a:cs typeface="Helvetica Neue"/>
                <a:sym typeface="Helvetica Neue"/>
              </a:rPr>
              <a:t>E.g. stock market information, ..</a:t>
            </a:r>
            <a:br>
              <a:rPr b="0" i="0" lang="en-US" sz="1800" u="none" cap="none" strike="noStrike">
                <a:solidFill>
                  <a:schemeClr val="dk1"/>
                </a:solidFill>
                <a:latin typeface="Helvetica Neue"/>
                <a:ea typeface="Helvetica Neue"/>
                <a:cs typeface="Helvetica Neue"/>
                <a:sym typeface="Helvetica Neue"/>
              </a:rPr>
            </a:br>
            <a:endParaRPr/>
          </a:p>
          <a:p>
            <a:pPr indent="-240030" lvl="0" marL="342900" marR="0" rtl="0" algn="l">
              <a:lnSpc>
                <a:spcPct val="100000"/>
              </a:lnSpc>
              <a:spcBef>
                <a:spcPts val="630"/>
              </a:spcBef>
              <a:spcAft>
                <a:spcPts val="0"/>
              </a:spcAft>
              <a:buClr>
                <a:schemeClr val="dk2"/>
              </a:buClr>
              <a:buSzPts val="1620"/>
              <a:buFont typeface="Arial"/>
              <a:buNone/>
            </a:pPr>
            <a:r>
              <a:t/>
            </a:r>
            <a:endParaRPr b="0" i="0" sz="1800" u="none" cap="none" strike="noStrike">
              <a:solidFill>
                <a:schemeClr val="dk1"/>
              </a:solidFill>
              <a:latin typeface="Helvetica Neue"/>
              <a:ea typeface="Helvetica Neue"/>
              <a:cs typeface="Helvetica Neue"/>
              <a:sym typeface="Helvetica Neue"/>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92" name="Shape 92"/>
        <p:cNvGrpSpPr/>
        <p:nvPr/>
      </p:nvGrpSpPr>
      <p:grpSpPr>
        <a:xfrm>
          <a:off x="0" y="0"/>
          <a:ext cx="0" cy="0"/>
          <a:chOff x="0" y="0"/>
          <a:chExt cx="0" cy="0"/>
        </a:xfrm>
      </p:grpSpPr>
      <p:sp>
        <p:nvSpPr>
          <p:cNvPr id="93" name="Google Shape;93;p12"/>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en-US" sz="2400" u="none">
                <a:solidFill>
                  <a:schemeClr val="dk1"/>
                </a:solidFill>
                <a:latin typeface="Times New Roman"/>
                <a:ea typeface="Times New Roman"/>
                <a:cs typeface="Times New Roman"/>
                <a:sym typeface="Times New Roman"/>
              </a:rPr>
              <a:t>‹#›</a:t>
            </a:fld>
            <a:endParaRPr/>
          </a:p>
        </p:txBody>
      </p:sp>
      <p:sp>
        <p:nvSpPr>
          <p:cNvPr id="94" name="Google Shape;94;p12"/>
          <p:cNvSpPr txBox="1"/>
          <p:nvPr>
            <p:ph type="title"/>
          </p:nvPr>
        </p:nvSpPr>
        <p:spPr>
          <a:xfrm>
            <a:off x="0" y="0"/>
            <a:ext cx="9144000" cy="5334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Uniform Resources Locators</a:t>
            </a:r>
            <a:endParaRPr/>
          </a:p>
        </p:txBody>
      </p:sp>
      <p:sp>
        <p:nvSpPr>
          <p:cNvPr id="95" name="Google Shape;95;p12"/>
          <p:cNvSpPr txBox="1"/>
          <p:nvPr>
            <p:ph idx="4294967295" type="body"/>
          </p:nvPr>
        </p:nvSpPr>
        <p:spPr>
          <a:xfrm>
            <a:off x="641350" y="984250"/>
            <a:ext cx="7696200" cy="4953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In the Web, functionality of pointers is provided by Uniform Resource Locators (URLs).</a:t>
            </a:r>
            <a:endParaRPr/>
          </a:p>
          <a:p>
            <a:pPr indent="-342900" lvl="0" marL="342900" marR="0" rtl="0" algn="l">
              <a:lnSpc>
                <a:spcPct val="9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URL example: </a:t>
            </a:r>
            <a:endParaRPr/>
          </a:p>
          <a:p>
            <a:pPr indent="-342900" lvl="0" marL="342900" marR="0" rtl="0" algn="l">
              <a:lnSpc>
                <a:spcPct val="90000"/>
              </a:lnSpc>
              <a:spcBef>
                <a:spcPts val="630"/>
              </a:spcBef>
              <a:spcAft>
                <a:spcPts val="0"/>
              </a:spcAft>
              <a:buClr>
                <a:schemeClr val="dk2"/>
              </a:buClr>
              <a:buSzPts val="1620"/>
              <a:buFont typeface="Arial"/>
              <a:buNone/>
            </a:pPr>
            <a:r>
              <a:rPr b="0" i="0" lang="en-US" sz="1800" u="none">
                <a:solidFill>
                  <a:schemeClr val="dk1"/>
                </a:solidFill>
                <a:latin typeface="Helvetica Neue"/>
                <a:ea typeface="Helvetica Neue"/>
                <a:cs typeface="Helvetica Neue"/>
                <a:sym typeface="Helvetica Neue"/>
              </a:rPr>
              <a:t>	              </a:t>
            </a:r>
            <a:r>
              <a:rPr b="0" i="0" lang="en-US" sz="1800" u="sng">
                <a:solidFill>
                  <a:schemeClr val="hlink"/>
                </a:solidFill>
                <a:latin typeface="Helvetica Neue"/>
                <a:ea typeface="Helvetica Neue"/>
                <a:cs typeface="Helvetica Neue"/>
                <a:sym typeface="Helvetica Neue"/>
                <a:hlinkClick r:id="rId3"/>
              </a:rPr>
              <a:t>http://www.bell-labs.com/topics/book/db-book</a:t>
            </a:r>
            <a:r>
              <a:rPr b="0" i="0" lang="en-US" sz="1800" u="none">
                <a:solidFill>
                  <a:schemeClr val="dk1"/>
                </a:solidFill>
                <a:latin typeface="Helvetica Neue"/>
                <a:ea typeface="Helvetica Neue"/>
                <a:cs typeface="Helvetica Neue"/>
                <a:sym typeface="Helvetica Neue"/>
              </a:rPr>
              <a:t> </a:t>
            </a:r>
            <a:endParaRPr/>
          </a:p>
          <a:p>
            <a:pPr indent="-285750" lvl="1" marL="742950" marR="0" rtl="0" algn="l">
              <a:lnSpc>
                <a:spcPct val="9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The first part indicates how the document is to be accessed</a:t>
            </a:r>
            <a:endParaRPr/>
          </a:p>
          <a:p>
            <a:pPr indent="-228600" lvl="2" marL="1085850" marR="0" rtl="0" algn="l">
              <a:lnSpc>
                <a:spcPct val="90000"/>
              </a:lnSpc>
              <a:spcBef>
                <a:spcPts val="630"/>
              </a:spcBef>
              <a:spcAft>
                <a:spcPts val="0"/>
              </a:spcAft>
              <a:buClr>
                <a:srgbClr val="33CC33"/>
              </a:buClr>
              <a:buSzPts val="1350"/>
              <a:buFont typeface="Arimo"/>
              <a:buChar char="4"/>
            </a:pPr>
            <a:r>
              <a:rPr b="0" i="0" lang="en-US" sz="1800" u="none" cap="none" strike="noStrike">
                <a:solidFill>
                  <a:schemeClr val="dk1"/>
                </a:solidFill>
                <a:latin typeface="Helvetica Neue"/>
                <a:ea typeface="Helvetica Neue"/>
                <a:cs typeface="Helvetica Neue"/>
                <a:sym typeface="Helvetica Neue"/>
              </a:rPr>
              <a:t> “http” indicates that the document is to be accessed using the Hyper Text Transfer Protocol.</a:t>
            </a:r>
            <a:endParaRPr/>
          </a:p>
          <a:p>
            <a:pPr indent="-285750" lvl="1" marL="742950" marR="0" rtl="0" algn="l">
              <a:lnSpc>
                <a:spcPct val="9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The second part gives the unique name of a machine on the Internet.</a:t>
            </a:r>
            <a:endParaRPr/>
          </a:p>
          <a:p>
            <a:pPr indent="-285750" lvl="1" marL="742950" marR="0" rtl="0" algn="l">
              <a:lnSpc>
                <a:spcPct val="9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The rest of the URL identifies the document within the machine.</a:t>
            </a:r>
            <a:endParaRPr/>
          </a:p>
          <a:p>
            <a:pPr indent="-342900" lvl="0" marL="342900" marR="0" rtl="0" algn="l">
              <a:lnSpc>
                <a:spcPct val="9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The local identification can be:</a:t>
            </a:r>
            <a:endParaRPr/>
          </a:p>
          <a:p>
            <a:pPr indent="-228600" lvl="2" marL="1085850" marR="0" rtl="0" algn="l">
              <a:lnSpc>
                <a:spcPct val="90000"/>
              </a:lnSpc>
              <a:spcBef>
                <a:spcPts val="630"/>
              </a:spcBef>
              <a:spcAft>
                <a:spcPts val="0"/>
              </a:spcAft>
              <a:buClr>
                <a:srgbClr val="33CC33"/>
              </a:buClr>
              <a:buSzPts val="1350"/>
              <a:buFont typeface="Arimo"/>
              <a:buChar char="4"/>
            </a:pPr>
            <a:r>
              <a:rPr b="0" i="0" lang="en-US" sz="1800" u="none" cap="none" strike="noStrike">
                <a:solidFill>
                  <a:schemeClr val="dk1"/>
                </a:solidFill>
                <a:latin typeface="Helvetica Neue"/>
                <a:ea typeface="Helvetica Neue"/>
                <a:cs typeface="Helvetica Neue"/>
                <a:sym typeface="Helvetica Neue"/>
              </a:rPr>
              <a:t>The path name of a file on the machine, or</a:t>
            </a:r>
            <a:endParaRPr/>
          </a:p>
          <a:p>
            <a:pPr indent="-228600" lvl="2" marL="1085850" marR="0" rtl="0" algn="l">
              <a:lnSpc>
                <a:spcPct val="90000"/>
              </a:lnSpc>
              <a:spcBef>
                <a:spcPts val="630"/>
              </a:spcBef>
              <a:spcAft>
                <a:spcPts val="0"/>
              </a:spcAft>
              <a:buClr>
                <a:srgbClr val="33CC33"/>
              </a:buClr>
              <a:buSzPts val="1350"/>
              <a:buFont typeface="Arimo"/>
              <a:buChar char="4"/>
            </a:pPr>
            <a:r>
              <a:rPr b="0" i="0" lang="en-US" sz="1800" u="none" cap="none" strike="noStrike">
                <a:solidFill>
                  <a:schemeClr val="dk1"/>
                </a:solidFill>
                <a:latin typeface="Helvetica Neue"/>
                <a:ea typeface="Helvetica Neue"/>
                <a:cs typeface="Helvetica Neue"/>
                <a:sym typeface="Helvetica Neue"/>
              </a:rPr>
              <a:t>An identifier (path name) of a program, plus arguments to be passed to the program</a:t>
            </a:r>
            <a:endParaRPr/>
          </a:p>
          <a:p>
            <a:pPr indent="-228600" lvl="3" marL="1428750" marR="0" rtl="0" algn="l">
              <a:lnSpc>
                <a:spcPct val="90000"/>
              </a:lnSpc>
              <a:spcBef>
                <a:spcPts val="630"/>
              </a:spcBef>
              <a:spcAft>
                <a:spcPts val="0"/>
              </a:spcAft>
              <a:buClr>
                <a:schemeClr val="hlink"/>
              </a:buClr>
              <a:buSzPts val="1800"/>
              <a:buFont typeface="Helvetica Neue"/>
              <a:buChar char="–"/>
            </a:pPr>
            <a:r>
              <a:rPr b="0" i="0" lang="en-US" sz="1800" u="none" cap="none" strike="noStrike">
                <a:solidFill>
                  <a:schemeClr val="dk1"/>
                </a:solidFill>
                <a:latin typeface="Helvetica Neue"/>
                <a:ea typeface="Helvetica Neue"/>
                <a:cs typeface="Helvetica Neue"/>
                <a:sym typeface="Helvetica Neue"/>
              </a:rPr>
              <a:t>E.g.  http://www.google.com/search?q=silberschatz</a:t>
            </a:r>
            <a:endParaRPr/>
          </a:p>
          <a:p>
            <a:pPr indent="-240030" lvl="0" marL="342900" marR="0" rtl="0" algn="l">
              <a:lnSpc>
                <a:spcPct val="100000"/>
              </a:lnSpc>
              <a:spcBef>
                <a:spcPts val="630"/>
              </a:spcBef>
              <a:spcAft>
                <a:spcPts val="0"/>
              </a:spcAft>
              <a:buClr>
                <a:schemeClr val="dk2"/>
              </a:buClr>
              <a:buSzPts val="1620"/>
              <a:buFont typeface="Arial"/>
              <a:buNone/>
            </a:pPr>
            <a:r>
              <a:t/>
            </a:r>
            <a:endParaRPr b="0" i="0" sz="1800" u="none" cap="none" strike="noStrike">
              <a:solidFill>
                <a:schemeClr val="dk1"/>
              </a:solidFill>
              <a:latin typeface="Helvetica Neue"/>
              <a:ea typeface="Helvetica Neue"/>
              <a:cs typeface="Helvetica Neue"/>
              <a:sym typeface="Helvetica Neue"/>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99" name="Shape 99"/>
        <p:cNvGrpSpPr/>
        <p:nvPr/>
      </p:nvGrpSpPr>
      <p:grpSpPr>
        <a:xfrm>
          <a:off x="0" y="0"/>
          <a:ext cx="0" cy="0"/>
          <a:chOff x="0" y="0"/>
          <a:chExt cx="0" cy="0"/>
        </a:xfrm>
      </p:grpSpPr>
      <p:sp>
        <p:nvSpPr>
          <p:cNvPr id="100" name="Google Shape;100;p13"/>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en-US" sz="2400" u="none">
                <a:solidFill>
                  <a:schemeClr val="dk1"/>
                </a:solidFill>
                <a:latin typeface="Times New Roman"/>
                <a:ea typeface="Times New Roman"/>
                <a:cs typeface="Times New Roman"/>
                <a:sym typeface="Times New Roman"/>
              </a:rPr>
              <a:t>‹#›</a:t>
            </a:fld>
            <a:endParaRPr/>
          </a:p>
        </p:txBody>
      </p:sp>
      <p:sp>
        <p:nvSpPr>
          <p:cNvPr id="101" name="Google Shape;101;p13"/>
          <p:cNvSpPr txBox="1"/>
          <p:nvPr>
            <p:ph type="title"/>
          </p:nvPr>
        </p:nvSpPr>
        <p:spPr>
          <a:xfrm>
            <a:off x="685800" y="-76200"/>
            <a:ext cx="7772400" cy="6858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HTML and HTTP</a:t>
            </a:r>
            <a:endParaRPr/>
          </a:p>
        </p:txBody>
      </p:sp>
      <p:sp>
        <p:nvSpPr>
          <p:cNvPr id="102" name="Google Shape;102;p13"/>
          <p:cNvSpPr txBox="1"/>
          <p:nvPr>
            <p:ph idx="4294967295" type="body"/>
          </p:nvPr>
        </p:nvSpPr>
        <p:spPr>
          <a:xfrm>
            <a:off x="838200" y="914400"/>
            <a:ext cx="7554912" cy="4941887"/>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HTML provides formatting, hypertext link, and image display features.</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HTML also provides input features</a:t>
            </a:r>
            <a:endParaRPr/>
          </a:p>
          <a:p>
            <a:pPr indent="-228600" lvl="2" marL="1085850" marR="0" rtl="0" algn="l">
              <a:lnSpc>
                <a:spcPct val="100000"/>
              </a:lnSpc>
              <a:spcBef>
                <a:spcPts val="630"/>
              </a:spcBef>
              <a:spcAft>
                <a:spcPts val="0"/>
              </a:spcAft>
              <a:buClr>
                <a:srgbClr val="33CC33"/>
              </a:buClr>
              <a:buSzPts val="1350"/>
              <a:buFont typeface="Arimo"/>
              <a:buChar char="4"/>
            </a:pPr>
            <a:r>
              <a:rPr b="0" i="0" lang="en-US" sz="1800" u="none" cap="none" strike="noStrike">
                <a:solidFill>
                  <a:schemeClr val="dk1"/>
                </a:solidFill>
                <a:latin typeface="Helvetica Neue"/>
                <a:ea typeface="Helvetica Neue"/>
                <a:cs typeface="Helvetica Neue"/>
                <a:sym typeface="Helvetica Neue"/>
              </a:rPr>
              <a:t>Select from a set of options</a:t>
            </a:r>
            <a:endParaRPr/>
          </a:p>
          <a:p>
            <a:pPr indent="-228600" lvl="3" marL="1428750" marR="0" rtl="0" algn="l">
              <a:lnSpc>
                <a:spcPct val="100000"/>
              </a:lnSpc>
              <a:spcBef>
                <a:spcPts val="630"/>
              </a:spcBef>
              <a:spcAft>
                <a:spcPts val="0"/>
              </a:spcAft>
              <a:buClr>
                <a:schemeClr val="hlink"/>
              </a:buClr>
              <a:buSzPts val="1800"/>
              <a:buFont typeface="Helvetica Neue"/>
              <a:buChar char="–"/>
            </a:pPr>
            <a:r>
              <a:rPr b="0" i="0" lang="en-US" sz="1800" u="none" cap="none" strike="noStrike">
                <a:solidFill>
                  <a:schemeClr val="dk1"/>
                </a:solidFill>
                <a:latin typeface="Helvetica Neue"/>
                <a:ea typeface="Helvetica Neue"/>
                <a:cs typeface="Helvetica Neue"/>
                <a:sym typeface="Helvetica Neue"/>
              </a:rPr>
              <a:t>Pop-up menus, radio buttons, check lists</a:t>
            </a:r>
            <a:endParaRPr/>
          </a:p>
          <a:p>
            <a:pPr indent="-228600" lvl="2" marL="1085850" marR="0" rtl="0" algn="l">
              <a:lnSpc>
                <a:spcPct val="100000"/>
              </a:lnSpc>
              <a:spcBef>
                <a:spcPts val="630"/>
              </a:spcBef>
              <a:spcAft>
                <a:spcPts val="0"/>
              </a:spcAft>
              <a:buClr>
                <a:srgbClr val="33CC33"/>
              </a:buClr>
              <a:buSzPts val="1350"/>
              <a:buFont typeface="Arimo"/>
              <a:buChar char="4"/>
            </a:pPr>
            <a:r>
              <a:rPr b="0" i="0" lang="en-US" sz="1800" u="none" cap="none" strike="noStrike">
                <a:solidFill>
                  <a:schemeClr val="dk1"/>
                </a:solidFill>
                <a:latin typeface="Helvetica Neue"/>
                <a:ea typeface="Helvetica Neue"/>
                <a:cs typeface="Helvetica Neue"/>
                <a:sym typeface="Helvetica Neue"/>
              </a:rPr>
              <a:t>Enter values</a:t>
            </a:r>
            <a:endParaRPr/>
          </a:p>
          <a:p>
            <a:pPr indent="-228600" lvl="3" marL="1428750" marR="0" rtl="0" algn="l">
              <a:lnSpc>
                <a:spcPct val="100000"/>
              </a:lnSpc>
              <a:spcBef>
                <a:spcPts val="630"/>
              </a:spcBef>
              <a:spcAft>
                <a:spcPts val="0"/>
              </a:spcAft>
              <a:buClr>
                <a:schemeClr val="hlink"/>
              </a:buClr>
              <a:buSzPts val="1800"/>
              <a:buFont typeface="Helvetica Neue"/>
              <a:buChar char="–"/>
            </a:pPr>
            <a:r>
              <a:rPr b="0" i="0" lang="en-US" sz="1800" u="none" cap="none" strike="noStrike">
                <a:solidFill>
                  <a:schemeClr val="dk1"/>
                </a:solidFill>
                <a:latin typeface="Helvetica Neue"/>
                <a:ea typeface="Helvetica Neue"/>
                <a:cs typeface="Helvetica Neue"/>
                <a:sym typeface="Helvetica Neue"/>
              </a:rPr>
              <a:t>Text boxes</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Filled in input sent back to the server, to be acted upon by an executable at the server</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HyperText Transfer Protocol (HTTP) used for communication with the Web server</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106" name="Shape 106"/>
        <p:cNvGrpSpPr/>
        <p:nvPr/>
      </p:nvGrpSpPr>
      <p:grpSpPr>
        <a:xfrm>
          <a:off x="0" y="0"/>
          <a:ext cx="0" cy="0"/>
          <a:chOff x="0" y="0"/>
          <a:chExt cx="0" cy="0"/>
        </a:xfrm>
      </p:grpSpPr>
      <p:sp>
        <p:nvSpPr>
          <p:cNvPr id="107" name="Google Shape;107;p14"/>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en-US" sz="2400" u="none">
                <a:solidFill>
                  <a:schemeClr val="dk1"/>
                </a:solidFill>
                <a:latin typeface="Times New Roman"/>
                <a:ea typeface="Times New Roman"/>
                <a:cs typeface="Times New Roman"/>
                <a:sym typeface="Times New Roman"/>
              </a:rPr>
              <a:t>‹#›</a:t>
            </a:fld>
            <a:endParaRPr/>
          </a:p>
        </p:txBody>
      </p:sp>
      <p:sp>
        <p:nvSpPr>
          <p:cNvPr id="108" name="Google Shape;108;p14"/>
          <p:cNvSpPr txBox="1"/>
          <p:nvPr>
            <p:ph type="title"/>
          </p:nvPr>
        </p:nvSpPr>
        <p:spPr>
          <a:xfrm>
            <a:off x="685800" y="-152400"/>
            <a:ext cx="7772400" cy="7620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Sample HTML Source Text</a:t>
            </a:r>
            <a:endParaRPr/>
          </a:p>
        </p:txBody>
      </p:sp>
      <p:sp>
        <p:nvSpPr>
          <p:cNvPr id="109" name="Google Shape;109;p14"/>
          <p:cNvSpPr txBox="1"/>
          <p:nvPr>
            <p:ph idx="4294967295" type="body"/>
          </p:nvPr>
        </p:nvSpPr>
        <p:spPr>
          <a:xfrm>
            <a:off x="304800" y="838200"/>
            <a:ext cx="8610600" cy="54356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chemeClr val="dk2"/>
              </a:buClr>
              <a:buSzPts val="1620"/>
              <a:buFont typeface="Arial"/>
              <a:buNone/>
            </a:pPr>
            <a:r>
              <a:rPr b="0" i="0" lang="en-US" sz="1800" u="none">
                <a:solidFill>
                  <a:schemeClr val="dk1"/>
                </a:solidFill>
                <a:latin typeface="Helvetica Neue"/>
                <a:ea typeface="Helvetica Neue"/>
                <a:cs typeface="Helvetica Neue"/>
                <a:sym typeface="Helvetica Neue"/>
              </a:rPr>
              <a:t>     </a:t>
            </a:r>
            <a:r>
              <a:rPr b="0" i="0" lang="en-US" sz="1800" u="none">
                <a:solidFill>
                  <a:schemeClr val="dk2"/>
                </a:solidFill>
                <a:latin typeface="Helvetica Neue"/>
                <a:ea typeface="Helvetica Neue"/>
                <a:cs typeface="Helvetica Neue"/>
                <a:sym typeface="Helvetica Neue"/>
              </a:rPr>
              <a:t>&lt;html&gt; &lt;body&gt;</a:t>
            </a:r>
            <a:br>
              <a:rPr b="0" i="0" lang="en-US" sz="1800" u="none">
                <a:solidFill>
                  <a:srgbClr val="336600"/>
                </a:solidFill>
                <a:latin typeface="Helvetica Neue"/>
                <a:ea typeface="Helvetica Neue"/>
                <a:cs typeface="Helvetica Neue"/>
                <a:sym typeface="Helvetica Neue"/>
              </a:rPr>
            </a:br>
            <a:r>
              <a:rPr b="0" i="0" lang="en-US" sz="1800" u="none">
                <a:solidFill>
                  <a:schemeClr val="dk2"/>
                </a:solidFill>
                <a:latin typeface="Helvetica Neue"/>
                <a:ea typeface="Helvetica Neue"/>
                <a:cs typeface="Helvetica Neue"/>
                <a:sym typeface="Helvetica Neue"/>
              </a:rPr>
              <a:t>&lt;table border cols = 3&gt;</a:t>
            </a:r>
            <a:r>
              <a:rPr b="0" i="0" lang="en-US" sz="1800" u="none">
                <a:solidFill>
                  <a:schemeClr val="dk1"/>
                </a:solidFill>
                <a:latin typeface="Helvetica Neue"/>
                <a:ea typeface="Helvetica Neue"/>
                <a:cs typeface="Helvetica Neue"/>
                <a:sym typeface="Helvetica Neue"/>
              </a:rPr>
              <a:t> </a:t>
            </a:r>
            <a:br>
              <a:rPr b="0" i="0" lang="en-US" sz="1800" u="none">
                <a:solidFill>
                  <a:schemeClr val="dk1"/>
                </a:solidFill>
                <a:latin typeface="Helvetica Neue"/>
                <a:ea typeface="Helvetica Neue"/>
                <a:cs typeface="Helvetica Neue"/>
                <a:sym typeface="Helvetica Neue"/>
              </a:rPr>
            </a:br>
            <a:r>
              <a:rPr b="0" i="0" lang="en-US" sz="1800" u="none">
                <a:solidFill>
                  <a:schemeClr val="dk1"/>
                </a:solidFill>
                <a:latin typeface="Helvetica Neue"/>
                <a:ea typeface="Helvetica Neue"/>
                <a:cs typeface="Helvetica Neue"/>
                <a:sym typeface="Helvetica Neue"/>
              </a:rPr>
              <a:t>         &lt;tr&gt; &lt;td&gt; A-101 &lt;/td&gt; &lt;td&gt; Downtown &lt;/td&gt; &lt;td&gt; 500 &lt;/td&gt; &lt;/tr&gt;</a:t>
            </a:r>
            <a:br>
              <a:rPr b="0" i="0" lang="en-US" sz="1800" u="none">
                <a:solidFill>
                  <a:schemeClr val="dk1"/>
                </a:solidFill>
                <a:latin typeface="Helvetica Neue"/>
                <a:ea typeface="Helvetica Neue"/>
                <a:cs typeface="Helvetica Neue"/>
                <a:sym typeface="Helvetica Neue"/>
              </a:rPr>
            </a:br>
            <a:r>
              <a:rPr b="0" i="0" lang="en-US" sz="1800" u="none">
                <a:solidFill>
                  <a:schemeClr val="dk1"/>
                </a:solidFill>
                <a:latin typeface="Helvetica Neue"/>
                <a:ea typeface="Helvetica Neue"/>
                <a:cs typeface="Helvetica Neue"/>
                <a:sym typeface="Helvetica Neue"/>
              </a:rPr>
              <a:t>         …</a:t>
            </a:r>
            <a:br>
              <a:rPr b="0" i="0" lang="en-US" sz="1800" u="none">
                <a:solidFill>
                  <a:schemeClr val="dk1"/>
                </a:solidFill>
                <a:latin typeface="Helvetica Neue"/>
                <a:ea typeface="Helvetica Neue"/>
                <a:cs typeface="Helvetica Neue"/>
                <a:sym typeface="Helvetica Neue"/>
              </a:rPr>
            </a:br>
            <a:r>
              <a:rPr b="0" i="0" lang="en-US" sz="1800" u="none">
                <a:solidFill>
                  <a:schemeClr val="dk2"/>
                </a:solidFill>
                <a:latin typeface="Helvetica Neue"/>
                <a:ea typeface="Helvetica Neue"/>
                <a:cs typeface="Helvetica Neue"/>
                <a:sym typeface="Helvetica Neue"/>
              </a:rPr>
              <a:t>&lt;/table&gt;</a:t>
            </a:r>
            <a:br>
              <a:rPr b="0" i="0" lang="en-US" sz="1800" u="none">
                <a:solidFill>
                  <a:schemeClr val="dk2"/>
                </a:solidFill>
                <a:latin typeface="Helvetica Neue"/>
                <a:ea typeface="Helvetica Neue"/>
                <a:cs typeface="Helvetica Neue"/>
                <a:sym typeface="Helvetica Neue"/>
              </a:rPr>
            </a:br>
            <a:r>
              <a:rPr b="0" i="0" lang="en-US" sz="1800" u="none">
                <a:solidFill>
                  <a:schemeClr val="dk1"/>
                </a:solidFill>
                <a:latin typeface="Helvetica Neue"/>
                <a:ea typeface="Helvetica Neue"/>
                <a:cs typeface="Helvetica Neue"/>
                <a:sym typeface="Helvetica Neue"/>
              </a:rPr>
              <a:t>&lt;center&gt; The &lt;i&gt;account&lt;/i&gt; relation &lt;/center&gt;</a:t>
            </a:r>
            <a:br>
              <a:rPr b="0" i="0" lang="en-US" sz="1800" u="none">
                <a:solidFill>
                  <a:schemeClr val="dk1"/>
                </a:solidFill>
                <a:latin typeface="Helvetica Neue"/>
                <a:ea typeface="Helvetica Neue"/>
                <a:cs typeface="Helvetica Neue"/>
                <a:sym typeface="Helvetica Neue"/>
              </a:rPr>
            </a:br>
            <a:endParaRPr/>
          </a:p>
          <a:p>
            <a:pPr indent="-342900" lvl="0" marL="342900" marR="0" rtl="0" algn="l">
              <a:lnSpc>
                <a:spcPct val="90000"/>
              </a:lnSpc>
              <a:spcBef>
                <a:spcPts val="630"/>
              </a:spcBef>
              <a:spcAft>
                <a:spcPts val="0"/>
              </a:spcAft>
              <a:buClr>
                <a:schemeClr val="dk2"/>
              </a:buClr>
              <a:buSzPts val="1620"/>
              <a:buFont typeface="Arial"/>
              <a:buNone/>
            </a:pPr>
            <a:r>
              <a:rPr b="0" i="0" lang="en-US" sz="1800" u="none">
                <a:solidFill>
                  <a:schemeClr val="dk1"/>
                </a:solidFill>
                <a:latin typeface="Helvetica Neue"/>
                <a:ea typeface="Helvetica Neue"/>
                <a:cs typeface="Helvetica Neue"/>
                <a:sym typeface="Helvetica Neue"/>
              </a:rPr>
              <a:t>     </a:t>
            </a:r>
            <a:r>
              <a:rPr b="0" i="0" lang="en-US" sz="1800" u="none">
                <a:solidFill>
                  <a:schemeClr val="dk2"/>
                </a:solidFill>
                <a:latin typeface="Helvetica Neue"/>
                <a:ea typeface="Helvetica Neue"/>
                <a:cs typeface="Helvetica Neue"/>
                <a:sym typeface="Helvetica Neue"/>
              </a:rPr>
              <a:t>&lt;form action=“BankQuery” method=get&gt;</a:t>
            </a:r>
            <a:endParaRPr/>
          </a:p>
          <a:p>
            <a:pPr indent="-342900" lvl="0" marL="342900" marR="0" rtl="0" algn="l">
              <a:lnSpc>
                <a:spcPct val="90000"/>
              </a:lnSpc>
              <a:spcBef>
                <a:spcPts val="630"/>
              </a:spcBef>
              <a:spcAft>
                <a:spcPts val="0"/>
              </a:spcAft>
              <a:buClr>
                <a:schemeClr val="dk2"/>
              </a:buClr>
              <a:buSzPts val="1620"/>
              <a:buFont typeface="Arial"/>
              <a:buNone/>
            </a:pPr>
            <a:r>
              <a:rPr b="0" i="0" lang="en-US" sz="1800" u="none">
                <a:solidFill>
                  <a:schemeClr val="dk1"/>
                </a:solidFill>
                <a:latin typeface="Helvetica Neue"/>
                <a:ea typeface="Helvetica Neue"/>
                <a:cs typeface="Helvetica Neue"/>
                <a:sym typeface="Helvetica Neue"/>
              </a:rPr>
              <a:t>       Select account/loan and enter number &lt;br&gt;</a:t>
            </a:r>
            <a:endParaRPr/>
          </a:p>
          <a:p>
            <a:pPr indent="-342900" lvl="0" marL="342900" marR="0" rtl="0" algn="l">
              <a:lnSpc>
                <a:spcPct val="90000"/>
              </a:lnSpc>
              <a:spcBef>
                <a:spcPts val="630"/>
              </a:spcBef>
              <a:spcAft>
                <a:spcPts val="0"/>
              </a:spcAft>
              <a:buClr>
                <a:schemeClr val="dk2"/>
              </a:buClr>
              <a:buSzPts val="1620"/>
              <a:buFont typeface="Arial"/>
              <a:buNone/>
            </a:pPr>
            <a:r>
              <a:rPr b="0" i="0" lang="en-US" sz="1800" u="none">
                <a:solidFill>
                  <a:schemeClr val="dk1"/>
                </a:solidFill>
                <a:latin typeface="Helvetica Neue"/>
                <a:ea typeface="Helvetica Neue"/>
                <a:cs typeface="Helvetica Neue"/>
                <a:sym typeface="Helvetica Neue"/>
              </a:rPr>
              <a:t>       </a:t>
            </a:r>
            <a:r>
              <a:rPr b="0" i="0" lang="en-US" sz="1800" u="none">
                <a:solidFill>
                  <a:srgbClr val="336600"/>
                </a:solidFill>
                <a:latin typeface="Helvetica Neue"/>
                <a:ea typeface="Helvetica Neue"/>
                <a:cs typeface="Helvetica Neue"/>
                <a:sym typeface="Helvetica Neue"/>
              </a:rPr>
              <a:t>&lt;select name=“type”&gt; </a:t>
            </a:r>
            <a:br>
              <a:rPr b="0" i="0" lang="en-US" sz="1800" u="none">
                <a:solidFill>
                  <a:srgbClr val="336600"/>
                </a:solidFill>
                <a:latin typeface="Helvetica Neue"/>
                <a:ea typeface="Helvetica Neue"/>
                <a:cs typeface="Helvetica Neue"/>
                <a:sym typeface="Helvetica Neue"/>
              </a:rPr>
            </a:br>
            <a:r>
              <a:rPr b="0" i="0" lang="en-US" sz="1800" u="none">
                <a:solidFill>
                  <a:schemeClr val="dk1"/>
                </a:solidFill>
                <a:latin typeface="Helvetica Neue"/>
                <a:ea typeface="Helvetica Neue"/>
                <a:cs typeface="Helvetica Neue"/>
                <a:sym typeface="Helvetica Neue"/>
              </a:rPr>
              <a:t>      &lt;option value=“account” selected&gt; Account</a:t>
            </a:r>
            <a:br>
              <a:rPr b="0" i="0" lang="en-US" sz="1800" u="none">
                <a:solidFill>
                  <a:schemeClr val="dk1"/>
                </a:solidFill>
                <a:latin typeface="Helvetica Neue"/>
                <a:ea typeface="Helvetica Neue"/>
                <a:cs typeface="Helvetica Neue"/>
                <a:sym typeface="Helvetica Neue"/>
              </a:rPr>
            </a:br>
            <a:r>
              <a:rPr b="0" i="0" lang="en-US" sz="1800" u="none">
                <a:solidFill>
                  <a:schemeClr val="dk1"/>
                </a:solidFill>
                <a:latin typeface="Helvetica Neue"/>
                <a:ea typeface="Helvetica Neue"/>
                <a:cs typeface="Helvetica Neue"/>
                <a:sym typeface="Helvetica Neue"/>
              </a:rPr>
              <a:t>      &lt;option&gt; value=“Loan”&gt;                  Loan</a:t>
            </a:r>
            <a:br>
              <a:rPr b="0" i="0" lang="en-US" sz="1800" u="none">
                <a:solidFill>
                  <a:schemeClr val="dk1"/>
                </a:solidFill>
                <a:latin typeface="Helvetica Neue"/>
                <a:ea typeface="Helvetica Neue"/>
                <a:cs typeface="Helvetica Neue"/>
                <a:sym typeface="Helvetica Neue"/>
              </a:rPr>
            </a:br>
            <a:r>
              <a:rPr b="0" i="0" lang="en-US" sz="1800" u="none">
                <a:solidFill>
                  <a:schemeClr val="dk1"/>
                </a:solidFill>
                <a:latin typeface="Helvetica Neue"/>
                <a:ea typeface="Helvetica Neue"/>
                <a:cs typeface="Helvetica Neue"/>
                <a:sym typeface="Helvetica Neue"/>
              </a:rPr>
              <a:t>  </a:t>
            </a:r>
            <a:r>
              <a:rPr b="0" i="0" lang="en-US" sz="1800" u="none">
                <a:solidFill>
                  <a:srgbClr val="336600"/>
                </a:solidFill>
                <a:latin typeface="Helvetica Neue"/>
                <a:ea typeface="Helvetica Neue"/>
                <a:cs typeface="Helvetica Neue"/>
                <a:sym typeface="Helvetica Neue"/>
              </a:rPr>
              <a:t>&lt;/select&gt;</a:t>
            </a:r>
            <a:endParaRPr/>
          </a:p>
          <a:p>
            <a:pPr indent="-342900" lvl="0" marL="342900" marR="0" rtl="0" algn="l">
              <a:lnSpc>
                <a:spcPct val="90000"/>
              </a:lnSpc>
              <a:spcBef>
                <a:spcPts val="630"/>
              </a:spcBef>
              <a:spcAft>
                <a:spcPts val="0"/>
              </a:spcAft>
              <a:buClr>
                <a:schemeClr val="dk2"/>
              </a:buClr>
              <a:buSzPts val="1620"/>
              <a:buFont typeface="Arial"/>
              <a:buNone/>
            </a:pPr>
            <a:r>
              <a:rPr b="0" i="0" lang="en-US" sz="1800" u="none">
                <a:solidFill>
                  <a:srgbClr val="336600"/>
                </a:solidFill>
                <a:latin typeface="Helvetica Neue"/>
                <a:ea typeface="Helvetica Neue"/>
                <a:cs typeface="Helvetica Neue"/>
                <a:sym typeface="Helvetica Neue"/>
              </a:rPr>
              <a:t>       &lt;input type=text size=5 name=“number”&gt;</a:t>
            </a:r>
            <a:br>
              <a:rPr b="0" i="0" lang="en-US" sz="1800" u="none">
                <a:solidFill>
                  <a:srgbClr val="336600"/>
                </a:solidFill>
                <a:latin typeface="Helvetica Neue"/>
                <a:ea typeface="Helvetica Neue"/>
                <a:cs typeface="Helvetica Neue"/>
                <a:sym typeface="Helvetica Neue"/>
              </a:rPr>
            </a:br>
            <a:r>
              <a:rPr b="0" i="0" lang="en-US" sz="1800" u="none">
                <a:solidFill>
                  <a:srgbClr val="336600"/>
                </a:solidFill>
                <a:latin typeface="Helvetica Neue"/>
                <a:ea typeface="Helvetica Neue"/>
                <a:cs typeface="Helvetica Neue"/>
                <a:sym typeface="Helvetica Neue"/>
              </a:rPr>
              <a:t>  &lt;input type=submit value=“submit”&gt;</a:t>
            </a:r>
            <a:br>
              <a:rPr b="0" i="0" lang="en-US" sz="1800" u="none">
                <a:solidFill>
                  <a:srgbClr val="336600"/>
                </a:solidFill>
                <a:latin typeface="Helvetica Neue"/>
                <a:ea typeface="Helvetica Neue"/>
                <a:cs typeface="Helvetica Neue"/>
                <a:sym typeface="Helvetica Neue"/>
              </a:rPr>
            </a:br>
            <a:r>
              <a:rPr b="0" i="0" lang="en-US" sz="1800" u="none">
                <a:solidFill>
                  <a:schemeClr val="dk2"/>
                </a:solidFill>
                <a:latin typeface="Helvetica Neue"/>
                <a:ea typeface="Helvetica Neue"/>
                <a:cs typeface="Helvetica Neue"/>
                <a:sym typeface="Helvetica Neue"/>
              </a:rPr>
              <a:t>&lt;/form&gt;</a:t>
            </a:r>
            <a:br>
              <a:rPr b="0" i="0" lang="en-US" sz="1800" u="none">
                <a:solidFill>
                  <a:schemeClr val="dk2"/>
                </a:solidFill>
                <a:latin typeface="Helvetica Neue"/>
                <a:ea typeface="Helvetica Neue"/>
                <a:cs typeface="Helvetica Neue"/>
                <a:sym typeface="Helvetica Neue"/>
              </a:rPr>
            </a:br>
            <a:r>
              <a:rPr b="0" i="0" lang="en-US" sz="1800" u="none">
                <a:solidFill>
                  <a:schemeClr val="dk2"/>
                </a:solidFill>
                <a:latin typeface="Helvetica Neue"/>
                <a:ea typeface="Helvetica Neue"/>
                <a:cs typeface="Helvetica Neue"/>
                <a:sym typeface="Helvetica Neue"/>
              </a:rPr>
              <a:t>&lt;/body&gt; &lt;/html&gt;</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113" name="Shape 113"/>
        <p:cNvGrpSpPr/>
        <p:nvPr/>
      </p:nvGrpSpPr>
      <p:grpSpPr>
        <a:xfrm>
          <a:off x="0" y="0"/>
          <a:ext cx="0" cy="0"/>
          <a:chOff x="0" y="0"/>
          <a:chExt cx="0" cy="0"/>
        </a:xfrm>
      </p:grpSpPr>
      <p:sp>
        <p:nvSpPr>
          <p:cNvPr id="114" name="Google Shape;114;p15"/>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en-US" sz="2400" u="none">
                <a:solidFill>
                  <a:schemeClr val="dk1"/>
                </a:solidFill>
                <a:latin typeface="Times New Roman"/>
                <a:ea typeface="Times New Roman"/>
                <a:cs typeface="Times New Roman"/>
                <a:sym typeface="Times New Roman"/>
              </a:rPr>
              <a:t>‹#›</a:t>
            </a:fld>
            <a:endParaRPr/>
          </a:p>
        </p:txBody>
      </p:sp>
      <p:sp>
        <p:nvSpPr>
          <p:cNvPr id="115" name="Google Shape;115;p15"/>
          <p:cNvSpPr txBox="1"/>
          <p:nvPr>
            <p:ph type="title"/>
          </p:nvPr>
        </p:nvSpPr>
        <p:spPr>
          <a:xfrm>
            <a:off x="533400" y="381000"/>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Display of Sample HTML Source</a:t>
            </a:r>
            <a:endParaRPr/>
          </a:p>
        </p:txBody>
      </p:sp>
      <p:pic>
        <p:nvPicPr>
          <p:cNvPr id="116" name="Google Shape;116;p15"/>
          <p:cNvPicPr preferRelativeResize="0"/>
          <p:nvPr/>
        </p:nvPicPr>
        <p:blipFill rotWithShape="1">
          <a:blip r:embed="rId3">
            <a:alphaModFix/>
          </a:blip>
          <a:srcRect b="11628" l="1162" r="1161" t="12402"/>
          <a:stretch/>
        </p:blipFill>
        <p:spPr>
          <a:xfrm>
            <a:off x="1524000" y="1371600"/>
            <a:ext cx="5943600" cy="3467100"/>
          </a:xfrm>
          <a:prstGeom prst="rect">
            <a:avLst/>
          </a:prstGeom>
          <a:noFill/>
          <a:ln cap="flat" cmpd="tri" w="76200">
            <a:solidFill>
              <a:schemeClr val="dk2"/>
            </a:solidFill>
            <a:prstDash val="solid"/>
            <a:miter lim="800000"/>
            <a:headEnd len="sm" w="sm" type="none"/>
            <a:tailEnd len="sm" w="sm" type="none"/>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120" name="Shape 120"/>
        <p:cNvGrpSpPr/>
        <p:nvPr/>
      </p:nvGrpSpPr>
      <p:grpSpPr>
        <a:xfrm>
          <a:off x="0" y="0"/>
          <a:ext cx="0" cy="0"/>
          <a:chOff x="0" y="0"/>
          <a:chExt cx="0" cy="0"/>
        </a:xfrm>
      </p:grpSpPr>
      <p:sp>
        <p:nvSpPr>
          <p:cNvPr id="121" name="Google Shape;121;p16"/>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en-US" sz="2400" u="none">
                <a:solidFill>
                  <a:schemeClr val="dk1"/>
                </a:solidFill>
                <a:latin typeface="Times New Roman"/>
                <a:ea typeface="Times New Roman"/>
                <a:cs typeface="Times New Roman"/>
                <a:sym typeface="Times New Roman"/>
              </a:rPr>
              <a:t>‹#›</a:t>
            </a:fld>
            <a:endParaRPr/>
          </a:p>
        </p:txBody>
      </p:sp>
      <p:sp>
        <p:nvSpPr>
          <p:cNvPr id="122" name="Google Shape;122;p16"/>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Client Side Scripting and Applets</a:t>
            </a:r>
            <a:endParaRPr/>
          </a:p>
        </p:txBody>
      </p:sp>
      <p:sp>
        <p:nvSpPr>
          <p:cNvPr id="123" name="Google Shape;123;p16"/>
          <p:cNvSpPr txBox="1"/>
          <p:nvPr>
            <p:ph idx="1" type="body"/>
          </p:nvPr>
        </p:nvSpPr>
        <p:spPr>
          <a:xfrm>
            <a:off x="571500" y="1114425"/>
            <a:ext cx="7848600" cy="506571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Browsers can fetch certain scripts (</a:t>
            </a:r>
            <a:r>
              <a:rPr b="0" i="0" lang="en-US" sz="1800" u="none">
                <a:solidFill>
                  <a:schemeClr val="dk2"/>
                </a:solidFill>
                <a:latin typeface="Helvetica Neue"/>
                <a:ea typeface="Helvetica Neue"/>
                <a:cs typeface="Helvetica Neue"/>
                <a:sym typeface="Helvetica Neue"/>
              </a:rPr>
              <a:t>client-side scripts</a:t>
            </a:r>
            <a:r>
              <a:rPr b="0" i="0" lang="en-US" sz="1800" u="none">
                <a:solidFill>
                  <a:schemeClr val="dk1"/>
                </a:solidFill>
                <a:latin typeface="Helvetica Neue"/>
                <a:ea typeface="Helvetica Neue"/>
                <a:cs typeface="Helvetica Neue"/>
                <a:sym typeface="Helvetica Neue"/>
              </a:rPr>
              <a:t>) or programs along with documents, and execute them in “</a:t>
            </a:r>
            <a:r>
              <a:rPr b="0" i="0" lang="en-US" sz="1800" u="none">
                <a:solidFill>
                  <a:schemeClr val="dk2"/>
                </a:solidFill>
                <a:latin typeface="Helvetica Neue"/>
                <a:ea typeface="Helvetica Neue"/>
                <a:cs typeface="Helvetica Neue"/>
                <a:sym typeface="Helvetica Neue"/>
              </a:rPr>
              <a:t>safe mode</a:t>
            </a:r>
            <a:r>
              <a:rPr b="0" i="0" lang="en-US" sz="1800" u="none">
                <a:solidFill>
                  <a:schemeClr val="dk1"/>
                </a:solidFill>
                <a:latin typeface="Helvetica Neue"/>
                <a:ea typeface="Helvetica Neue"/>
                <a:cs typeface="Helvetica Neue"/>
                <a:sym typeface="Helvetica Neue"/>
              </a:rPr>
              <a:t>” at the client site</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Javascript</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Macromedia Flash and Shockwave for animation/games</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VRML</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Applets</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Client-side scripts/programs allow documents to be active</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E.g., animation by executing programs at the local site</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E.g. ensure that values entered by users satisfy some correctness checks</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Permit flexible interaction with the user.</a:t>
            </a:r>
            <a:endParaRPr/>
          </a:p>
          <a:p>
            <a:pPr indent="-228600" lvl="2" marL="1085850" marR="0" rtl="0" algn="l">
              <a:lnSpc>
                <a:spcPct val="100000"/>
              </a:lnSpc>
              <a:spcBef>
                <a:spcPts val="630"/>
              </a:spcBef>
              <a:spcAft>
                <a:spcPts val="0"/>
              </a:spcAft>
              <a:buClr>
                <a:srgbClr val="33CC33"/>
              </a:buClr>
              <a:buSzPts val="1350"/>
              <a:buFont typeface="Arimo"/>
              <a:buChar char="4"/>
            </a:pPr>
            <a:r>
              <a:rPr b="0" i="0" lang="en-US" sz="1800" u="none" cap="none" strike="noStrike">
                <a:solidFill>
                  <a:schemeClr val="dk1"/>
                </a:solidFill>
                <a:latin typeface="Helvetica Neue"/>
                <a:ea typeface="Helvetica Neue"/>
                <a:cs typeface="Helvetica Neue"/>
                <a:sym typeface="Helvetica Neue"/>
              </a:rPr>
              <a:t>Executing programs at the client site speeds up interaction by avoiding many round trips to server</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127" name="Shape 127"/>
        <p:cNvGrpSpPr/>
        <p:nvPr/>
      </p:nvGrpSpPr>
      <p:grpSpPr>
        <a:xfrm>
          <a:off x="0" y="0"/>
          <a:ext cx="0" cy="0"/>
          <a:chOff x="0" y="0"/>
          <a:chExt cx="0" cy="0"/>
        </a:xfrm>
      </p:grpSpPr>
      <p:sp>
        <p:nvSpPr>
          <p:cNvPr id="128" name="Google Shape;128;p17"/>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en-US" sz="2400" u="none">
                <a:solidFill>
                  <a:schemeClr val="dk1"/>
                </a:solidFill>
                <a:latin typeface="Times New Roman"/>
                <a:ea typeface="Times New Roman"/>
                <a:cs typeface="Times New Roman"/>
                <a:sym typeface="Times New Roman"/>
              </a:rPr>
              <a:t>‹#›</a:t>
            </a:fld>
            <a:endParaRPr/>
          </a:p>
        </p:txBody>
      </p:sp>
      <p:sp>
        <p:nvSpPr>
          <p:cNvPr id="129" name="Google Shape;129;p17"/>
          <p:cNvSpPr txBox="1"/>
          <p:nvPr>
            <p:ph type="title"/>
          </p:nvPr>
        </p:nvSpPr>
        <p:spPr>
          <a:xfrm>
            <a:off x="996950" y="203200"/>
            <a:ext cx="7772400" cy="4572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Client Side Scripting and Security</a:t>
            </a:r>
            <a:endParaRPr/>
          </a:p>
        </p:txBody>
      </p:sp>
      <p:sp>
        <p:nvSpPr>
          <p:cNvPr id="130" name="Google Shape;130;p17"/>
          <p:cNvSpPr txBox="1"/>
          <p:nvPr>
            <p:ph idx="4294967295" type="body"/>
          </p:nvPr>
        </p:nvSpPr>
        <p:spPr>
          <a:xfrm>
            <a:off x="685800" y="1085850"/>
            <a:ext cx="7648575" cy="4749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Security mechanisms needed to ensure that malicious scripts do not cause damage to the client machine</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Easy for limited capability scripting languages, harder for general purpose programming languages like Java</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E.g. Java’s security system ensures that the Java applet code does not make any system calls directly</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Disallows dangerous actions such as file writes</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Notifies the user about potentially dangerous actions, and allows the option to abort the program or to continue execution.</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134" name="Shape 134"/>
        <p:cNvGrpSpPr/>
        <p:nvPr/>
      </p:nvGrpSpPr>
      <p:grpSpPr>
        <a:xfrm>
          <a:off x="0" y="0"/>
          <a:ext cx="0" cy="0"/>
          <a:chOff x="0" y="0"/>
          <a:chExt cx="0" cy="0"/>
        </a:xfrm>
      </p:grpSpPr>
      <p:sp>
        <p:nvSpPr>
          <p:cNvPr id="135" name="Google Shape;135;p18"/>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en-US" sz="2400" u="none">
                <a:solidFill>
                  <a:schemeClr val="dk1"/>
                </a:solidFill>
                <a:latin typeface="Times New Roman"/>
                <a:ea typeface="Times New Roman"/>
                <a:cs typeface="Times New Roman"/>
                <a:sym typeface="Times New Roman"/>
              </a:rPr>
              <a:t>‹#›</a:t>
            </a:fld>
            <a:endParaRPr/>
          </a:p>
        </p:txBody>
      </p:sp>
      <p:sp>
        <p:nvSpPr>
          <p:cNvPr id="136" name="Google Shape;136;p18"/>
          <p:cNvSpPr txBox="1"/>
          <p:nvPr>
            <p:ph type="title"/>
          </p:nvPr>
        </p:nvSpPr>
        <p:spPr>
          <a:xfrm>
            <a:off x="685800" y="76200"/>
            <a:ext cx="7772400" cy="5334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Web Servers</a:t>
            </a:r>
            <a:endParaRPr/>
          </a:p>
        </p:txBody>
      </p:sp>
      <p:sp>
        <p:nvSpPr>
          <p:cNvPr id="137" name="Google Shape;137;p18"/>
          <p:cNvSpPr txBox="1"/>
          <p:nvPr>
            <p:ph idx="4294967295" type="body"/>
          </p:nvPr>
        </p:nvSpPr>
        <p:spPr>
          <a:xfrm>
            <a:off x="838200" y="838200"/>
            <a:ext cx="7467600" cy="55626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A Web server can easily serve as a front end to a variety of information services.</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The document name in a URL may identify an executable program, that, when run, generates a HTML document.</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When a HTTP server receives a request for such a document, it executes the program, and sends back the HTML document that is generated.</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The Web client can pass extra arguments with the name of the document.</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To install a new service on the Web, one simply needs to create and install an executable that provides that service.</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The Web browser provides a graphical user interface to the information service.</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Common Gateway Interface (CGI): a standard interface between web and application server</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141" name="Shape 141"/>
        <p:cNvGrpSpPr/>
        <p:nvPr/>
      </p:nvGrpSpPr>
      <p:grpSpPr>
        <a:xfrm>
          <a:off x="0" y="0"/>
          <a:ext cx="0" cy="0"/>
          <a:chOff x="0" y="0"/>
          <a:chExt cx="0" cy="0"/>
        </a:xfrm>
      </p:grpSpPr>
      <p:sp>
        <p:nvSpPr>
          <p:cNvPr id="142" name="Google Shape;142;p19"/>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en-US" sz="2400" u="none">
                <a:solidFill>
                  <a:schemeClr val="dk1"/>
                </a:solidFill>
                <a:latin typeface="Times New Roman"/>
                <a:ea typeface="Times New Roman"/>
                <a:cs typeface="Times New Roman"/>
                <a:sym typeface="Times New Roman"/>
              </a:rPr>
              <a:t>‹#›</a:t>
            </a:fld>
            <a:endParaRPr/>
          </a:p>
        </p:txBody>
      </p:sp>
      <p:sp>
        <p:nvSpPr>
          <p:cNvPr id="143" name="Google Shape;143;p19"/>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Three-Tier Web Architecture</a:t>
            </a:r>
            <a:endParaRPr/>
          </a:p>
        </p:txBody>
      </p:sp>
      <p:pic>
        <p:nvPicPr>
          <p:cNvPr id="144" name="Google Shape;144;p19"/>
          <p:cNvPicPr preferRelativeResize="0"/>
          <p:nvPr/>
        </p:nvPicPr>
        <p:blipFill rotWithShape="1">
          <a:blip r:embed="rId3">
            <a:alphaModFix/>
          </a:blip>
          <a:srcRect b="14154" l="914" r="455" t="14611"/>
          <a:stretch/>
        </p:blipFill>
        <p:spPr>
          <a:xfrm>
            <a:off x="560387" y="1087437"/>
            <a:ext cx="8139112" cy="4408487"/>
          </a:xfrm>
          <a:prstGeom prst="rect">
            <a:avLst/>
          </a:prstGeom>
          <a:noFill/>
          <a:ln cap="flat" cmpd="tri" w="76200">
            <a:solidFill>
              <a:schemeClr val="dk2"/>
            </a:solidFill>
            <a:prstDash val="solid"/>
            <a:miter lim="800000"/>
            <a:headEnd len="sm" w="sm" type="none"/>
            <a:tailEnd len="sm" w="sm" type="none"/>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148" name="Shape 148"/>
        <p:cNvGrpSpPr/>
        <p:nvPr/>
      </p:nvGrpSpPr>
      <p:grpSpPr>
        <a:xfrm>
          <a:off x="0" y="0"/>
          <a:ext cx="0" cy="0"/>
          <a:chOff x="0" y="0"/>
          <a:chExt cx="0" cy="0"/>
        </a:xfrm>
      </p:grpSpPr>
      <p:sp>
        <p:nvSpPr>
          <p:cNvPr id="149" name="Google Shape;149;p20"/>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en-US" sz="2400" u="none">
                <a:solidFill>
                  <a:schemeClr val="dk1"/>
                </a:solidFill>
                <a:latin typeface="Times New Roman"/>
                <a:ea typeface="Times New Roman"/>
                <a:cs typeface="Times New Roman"/>
                <a:sym typeface="Times New Roman"/>
              </a:rPr>
              <a:t>‹#›</a:t>
            </a:fld>
            <a:endParaRPr/>
          </a:p>
        </p:txBody>
      </p:sp>
      <p:sp>
        <p:nvSpPr>
          <p:cNvPr id="150" name="Google Shape;150;p20"/>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Two-Tier Web Architecture</a:t>
            </a:r>
            <a:endParaRPr/>
          </a:p>
        </p:txBody>
      </p:sp>
      <p:pic>
        <p:nvPicPr>
          <p:cNvPr id="151" name="Google Shape;151;p20"/>
          <p:cNvPicPr preferRelativeResize="0"/>
          <p:nvPr/>
        </p:nvPicPr>
        <p:blipFill rotWithShape="1">
          <a:blip r:embed="rId3">
            <a:alphaModFix/>
          </a:blip>
          <a:srcRect b="14477" l="602" r="803" t="14208"/>
          <a:stretch/>
        </p:blipFill>
        <p:spPr>
          <a:xfrm>
            <a:off x="560387" y="1973262"/>
            <a:ext cx="8156575" cy="4424362"/>
          </a:xfrm>
          <a:prstGeom prst="rect">
            <a:avLst/>
          </a:prstGeom>
          <a:noFill/>
          <a:ln cap="flat" cmpd="tri" w="76200">
            <a:solidFill>
              <a:schemeClr val="dk2"/>
            </a:solidFill>
            <a:prstDash val="solid"/>
            <a:miter lim="800000"/>
            <a:headEnd len="sm" w="sm" type="none"/>
            <a:tailEnd len="sm" w="sm" type="none"/>
          </a:ln>
        </p:spPr>
      </p:pic>
      <p:sp>
        <p:nvSpPr>
          <p:cNvPr id="152" name="Google Shape;152;p20"/>
          <p:cNvSpPr txBox="1"/>
          <p:nvPr/>
        </p:nvSpPr>
        <p:spPr>
          <a:xfrm>
            <a:off x="966787" y="850900"/>
            <a:ext cx="290512"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53" name="Google Shape;153;p20"/>
          <p:cNvSpPr txBox="1"/>
          <p:nvPr/>
        </p:nvSpPr>
        <p:spPr>
          <a:xfrm>
            <a:off x="585787" y="939800"/>
            <a:ext cx="7848600" cy="1031875"/>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1800"/>
              <a:buFont typeface="Arial"/>
              <a:buChar char="●"/>
            </a:pPr>
            <a:r>
              <a:rPr b="0" i="0" lang="en-US" sz="2000" u="none">
                <a:solidFill>
                  <a:schemeClr val="dk1"/>
                </a:solidFill>
                <a:latin typeface="Helvetica Neue"/>
                <a:ea typeface="Helvetica Neue"/>
                <a:cs typeface="Helvetica Neue"/>
                <a:sym typeface="Helvetica Neue"/>
              </a:rPr>
              <a:t>Multiple levels of indirection have overheads</a:t>
            </a:r>
            <a:endParaRPr/>
          </a:p>
          <a:p>
            <a:pPr indent="-285750" lvl="1" marL="742950" marR="0" rtl="0" algn="l">
              <a:lnSpc>
                <a:spcPct val="100000"/>
              </a:lnSpc>
              <a:spcBef>
                <a:spcPts val="630"/>
              </a:spcBef>
              <a:spcAft>
                <a:spcPts val="0"/>
              </a:spcAft>
              <a:buClr>
                <a:srgbClr val="CC6600"/>
              </a:buClr>
              <a:buSzPts val="1890"/>
              <a:buFont typeface="Arial"/>
              <a:buChar char="●"/>
            </a:pPr>
            <a:r>
              <a:rPr b="0" i="0" lang="en-US" sz="1800" u="none" cap="none" strike="noStrike">
                <a:solidFill>
                  <a:schemeClr val="dk1"/>
                </a:solidFill>
                <a:latin typeface="Helvetica Neue"/>
                <a:ea typeface="Helvetica Neue"/>
                <a:cs typeface="Helvetica Neue"/>
                <a:sym typeface="Helvetica Neue"/>
              </a:rPr>
              <a:t>Alternative: two-tier architecture</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157" name="Shape 157"/>
        <p:cNvGrpSpPr/>
        <p:nvPr/>
      </p:nvGrpSpPr>
      <p:grpSpPr>
        <a:xfrm>
          <a:off x="0" y="0"/>
          <a:ext cx="0" cy="0"/>
          <a:chOff x="0" y="0"/>
          <a:chExt cx="0" cy="0"/>
        </a:xfrm>
      </p:grpSpPr>
      <p:sp>
        <p:nvSpPr>
          <p:cNvPr id="158" name="Google Shape;158;p21"/>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en-US" sz="2400" u="none">
                <a:solidFill>
                  <a:schemeClr val="dk1"/>
                </a:solidFill>
                <a:latin typeface="Times New Roman"/>
                <a:ea typeface="Times New Roman"/>
                <a:cs typeface="Times New Roman"/>
                <a:sym typeface="Times New Roman"/>
              </a:rPr>
              <a:t>‹#›</a:t>
            </a:fld>
            <a:endParaRPr/>
          </a:p>
        </p:txBody>
      </p:sp>
      <p:sp>
        <p:nvSpPr>
          <p:cNvPr id="159" name="Google Shape;159;p21"/>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HTTP and Sessions</a:t>
            </a:r>
            <a:endParaRPr/>
          </a:p>
        </p:txBody>
      </p:sp>
      <p:sp>
        <p:nvSpPr>
          <p:cNvPr id="160" name="Google Shape;160;p21"/>
          <p:cNvSpPr txBox="1"/>
          <p:nvPr>
            <p:ph idx="1" type="body"/>
          </p:nvPr>
        </p:nvSpPr>
        <p:spPr>
          <a:xfrm>
            <a:off x="814387" y="1093787"/>
            <a:ext cx="7661275" cy="4903787"/>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The HTTP protocol is </a:t>
            </a:r>
            <a:r>
              <a:rPr b="0" i="0" lang="en-US" sz="1800" u="none">
                <a:solidFill>
                  <a:schemeClr val="dk2"/>
                </a:solidFill>
                <a:latin typeface="Helvetica Neue"/>
                <a:ea typeface="Helvetica Neue"/>
                <a:cs typeface="Helvetica Neue"/>
                <a:sym typeface="Helvetica Neue"/>
              </a:rPr>
              <a:t>connectionless</a:t>
            </a:r>
            <a:endParaRPr b="0" i="0" sz="1800" u="none">
              <a:solidFill>
                <a:schemeClr val="dk1"/>
              </a:solidFill>
              <a:latin typeface="Helvetica Neue"/>
              <a:ea typeface="Helvetica Neue"/>
              <a:cs typeface="Helvetica Neue"/>
              <a:sym typeface="Helvetica Neue"/>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That is, once the server replies to a request, the server closes the connection with the client, and forgets all about the request</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In contrast, Unix logins, and JDBC/ODBC connections stay connected until the client disconnects</a:t>
            </a:r>
            <a:endParaRPr/>
          </a:p>
          <a:p>
            <a:pPr indent="-228600" lvl="2" marL="1085850" marR="0" rtl="0" algn="l">
              <a:lnSpc>
                <a:spcPct val="100000"/>
              </a:lnSpc>
              <a:spcBef>
                <a:spcPts val="630"/>
              </a:spcBef>
              <a:spcAft>
                <a:spcPts val="0"/>
              </a:spcAft>
              <a:buClr>
                <a:srgbClr val="33CC33"/>
              </a:buClr>
              <a:buSzPts val="1350"/>
              <a:buFont typeface="Arimo"/>
              <a:buChar char="4"/>
            </a:pPr>
            <a:r>
              <a:rPr b="0" i="0" lang="en-US" sz="1800" u="none" cap="none" strike="noStrike">
                <a:solidFill>
                  <a:schemeClr val="dk1"/>
                </a:solidFill>
                <a:latin typeface="Helvetica Neue"/>
                <a:ea typeface="Helvetica Neue"/>
                <a:cs typeface="Helvetica Neue"/>
                <a:sym typeface="Helvetica Neue"/>
              </a:rPr>
              <a:t> retaining user authentication and other information</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Motivation: reduces load on server </a:t>
            </a:r>
            <a:endParaRPr/>
          </a:p>
          <a:p>
            <a:pPr indent="-228600" lvl="2" marL="1085850" marR="0" rtl="0" algn="l">
              <a:lnSpc>
                <a:spcPct val="100000"/>
              </a:lnSpc>
              <a:spcBef>
                <a:spcPts val="630"/>
              </a:spcBef>
              <a:spcAft>
                <a:spcPts val="0"/>
              </a:spcAft>
              <a:buClr>
                <a:srgbClr val="33CC33"/>
              </a:buClr>
              <a:buSzPts val="1350"/>
              <a:buFont typeface="Arimo"/>
              <a:buChar char="4"/>
            </a:pPr>
            <a:r>
              <a:rPr b="0" i="0" lang="en-US" sz="1800" u="none" cap="none" strike="noStrike">
                <a:solidFill>
                  <a:schemeClr val="dk1"/>
                </a:solidFill>
                <a:latin typeface="Helvetica Neue"/>
                <a:ea typeface="Helvetica Neue"/>
                <a:cs typeface="Helvetica Neue"/>
                <a:sym typeface="Helvetica Neue"/>
              </a:rPr>
              <a:t>operating systems have tight limits on number of open connections on a machine</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Information services need session information</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E.g. user authentication should be done only once per session</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Solution:  use a </a:t>
            </a:r>
            <a:r>
              <a:rPr b="0" i="0" lang="en-US" sz="1800" u="none">
                <a:solidFill>
                  <a:schemeClr val="dk2"/>
                </a:solidFill>
                <a:latin typeface="Helvetica Neue"/>
                <a:ea typeface="Helvetica Neue"/>
                <a:cs typeface="Helvetica Neue"/>
                <a:sym typeface="Helvetica Neue"/>
              </a:rPr>
              <a:t>cookie</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164" name="Shape 164"/>
        <p:cNvGrpSpPr/>
        <p:nvPr/>
      </p:nvGrpSpPr>
      <p:grpSpPr>
        <a:xfrm>
          <a:off x="0" y="0"/>
          <a:ext cx="0" cy="0"/>
          <a:chOff x="0" y="0"/>
          <a:chExt cx="0" cy="0"/>
        </a:xfrm>
      </p:grpSpPr>
      <p:sp>
        <p:nvSpPr>
          <p:cNvPr id="165" name="Google Shape;165;p22"/>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en-US" sz="2400" u="none">
                <a:solidFill>
                  <a:schemeClr val="dk1"/>
                </a:solidFill>
                <a:latin typeface="Times New Roman"/>
                <a:ea typeface="Times New Roman"/>
                <a:cs typeface="Times New Roman"/>
                <a:sym typeface="Times New Roman"/>
              </a:rPr>
              <a:t>‹#›</a:t>
            </a:fld>
            <a:endParaRPr/>
          </a:p>
        </p:txBody>
      </p:sp>
      <p:sp>
        <p:nvSpPr>
          <p:cNvPr id="166" name="Google Shape;166;p22"/>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Sessions and Cookies</a:t>
            </a:r>
            <a:endParaRPr/>
          </a:p>
        </p:txBody>
      </p:sp>
      <p:sp>
        <p:nvSpPr>
          <p:cNvPr id="167" name="Google Shape;167;p22"/>
          <p:cNvSpPr txBox="1"/>
          <p:nvPr>
            <p:ph idx="1" type="body"/>
          </p:nvPr>
        </p:nvSpPr>
        <p:spPr>
          <a:xfrm>
            <a:off x="814387" y="1093787"/>
            <a:ext cx="7661275" cy="4903787"/>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A cookie is a small piece of text containing identifying information</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Sent by server to browser on first interaction</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Sent by browser to the server that created the cookie on further interactions</a:t>
            </a:r>
            <a:endParaRPr/>
          </a:p>
          <a:p>
            <a:pPr indent="-228600" lvl="2" marL="1085850" marR="0" rtl="0" algn="l">
              <a:lnSpc>
                <a:spcPct val="100000"/>
              </a:lnSpc>
              <a:spcBef>
                <a:spcPts val="630"/>
              </a:spcBef>
              <a:spcAft>
                <a:spcPts val="0"/>
              </a:spcAft>
              <a:buClr>
                <a:srgbClr val="33CC33"/>
              </a:buClr>
              <a:buSzPts val="1350"/>
              <a:buFont typeface="Arimo"/>
              <a:buChar char="4"/>
            </a:pPr>
            <a:r>
              <a:rPr b="0" i="0" lang="en-US" sz="1800" u="none" cap="none" strike="noStrike">
                <a:solidFill>
                  <a:schemeClr val="dk1"/>
                </a:solidFill>
                <a:latin typeface="Helvetica Neue"/>
                <a:ea typeface="Helvetica Neue"/>
                <a:cs typeface="Helvetica Neue"/>
                <a:sym typeface="Helvetica Neue"/>
              </a:rPr>
              <a:t>part of the HTTP protocol</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Server saves information about cookies it issued, and can use it when serving a request</a:t>
            </a:r>
            <a:endParaRPr/>
          </a:p>
          <a:p>
            <a:pPr indent="-228600" lvl="2" marL="1085850" marR="0" rtl="0" algn="l">
              <a:lnSpc>
                <a:spcPct val="100000"/>
              </a:lnSpc>
              <a:spcBef>
                <a:spcPts val="630"/>
              </a:spcBef>
              <a:spcAft>
                <a:spcPts val="0"/>
              </a:spcAft>
              <a:buClr>
                <a:srgbClr val="33CC33"/>
              </a:buClr>
              <a:buSzPts val="1350"/>
              <a:buFont typeface="Arimo"/>
              <a:buChar char="4"/>
            </a:pPr>
            <a:r>
              <a:rPr b="0" i="0" lang="en-US" sz="1800" u="none" cap="none" strike="noStrike">
                <a:solidFill>
                  <a:schemeClr val="dk1"/>
                </a:solidFill>
                <a:latin typeface="Helvetica Neue"/>
                <a:ea typeface="Helvetica Neue"/>
                <a:cs typeface="Helvetica Neue"/>
                <a:sym typeface="Helvetica Neue"/>
              </a:rPr>
              <a:t>E.g., authentication information, and user preferences</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Cookies can be stored permanently or for a limited time</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171" name="Shape 171"/>
        <p:cNvGrpSpPr/>
        <p:nvPr/>
      </p:nvGrpSpPr>
      <p:grpSpPr>
        <a:xfrm>
          <a:off x="0" y="0"/>
          <a:ext cx="0" cy="0"/>
          <a:chOff x="0" y="0"/>
          <a:chExt cx="0" cy="0"/>
        </a:xfrm>
      </p:grpSpPr>
      <p:sp>
        <p:nvSpPr>
          <p:cNvPr id="172" name="Google Shape;172;p23"/>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en-US" sz="2400" u="none">
                <a:solidFill>
                  <a:schemeClr val="dk1"/>
                </a:solidFill>
                <a:latin typeface="Times New Roman"/>
                <a:ea typeface="Times New Roman"/>
                <a:cs typeface="Times New Roman"/>
                <a:sym typeface="Times New Roman"/>
              </a:rPr>
              <a:t>‹#›</a:t>
            </a:fld>
            <a:endParaRPr/>
          </a:p>
        </p:txBody>
      </p:sp>
      <p:sp>
        <p:nvSpPr>
          <p:cNvPr id="173" name="Google Shape;173;p23"/>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Servlets</a:t>
            </a:r>
            <a:endParaRPr/>
          </a:p>
        </p:txBody>
      </p:sp>
      <p:sp>
        <p:nvSpPr>
          <p:cNvPr id="174" name="Google Shape;174;p23"/>
          <p:cNvSpPr txBox="1"/>
          <p:nvPr>
            <p:ph idx="1" type="body"/>
          </p:nvPr>
        </p:nvSpPr>
        <p:spPr>
          <a:xfrm>
            <a:off x="571500" y="1114425"/>
            <a:ext cx="7848600" cy="503555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Java Servlet specification defines an API for communication between the Web server and application program</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E.g. methods to get parameter values and to send HTML text back to client</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Application program (also called a servlet) is loaded into the Web server</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Two-tier model</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Each request spawns a new thread in the Web server</a:t>
            </a:r>
            <a:endParaRPr/>
          </a:p>
          <a:p>
            <a:pPr indent="-228600" lvl="2" marL="1085850" marR="0" rtl="0" algn="l">
              <a:lnSpc>
                <a:spcPct val="100000"/>
              </a:lnSpc>
              <a:spcBef>
                <a:spcPts val="630"/>
              </a:spcBef>
              <a:spcAft>
                <a:spcPts val="0"/>
              </a:spcAft>
              <a:buClr>
                <a:srgbClr val="33CC33"/>
              </a:buClr>
              <a:buSzPts val="1350"/>
              <a:buFont typeface="Arimo"/>
              <a:buChar char="4"/>
            </a:pPr>
            <a:r>
              <a:rPr b="0" i="0" lang="en-US" sz="1800" u="none" cap="none" strike="noStrike">
                <a:solidFill>
                  <a:schemeClr val="dk1"/>
                </a:solidFill>
                <a:latin typeface="Helvetica Neue"/>
                <a:ea typeface="Helvetica Neue"/>
                <a:cs typeface="Helvetica Neue"/>
                <a:sym typeface="Helvetica Neue"/>
              </a:rPr>
              <a:t> thread is closed once the request is serviced</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Servlet API provides a getSession() method </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Sets a cookie on first interaction with browser, and uses it to identify session on further interactions</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Provides methods to store and look-up per-session information</a:t>
            </a:r>
            <a:endParaRPr/>
          </a:p>
          <a:p>
            <a:pPr indent="-228600" lvl="2" marL="1085850" marR="0" rtl="0" algn="l">
              <a:lnSpc>
                <a:spcPct val="100000"/>
              </a:lnSpc>
              <a:spcBef>
                <a:spcPts val="630"/>
              </a:spcBef>
              <a:spcAft>
                <a:spcPts val="0"/>
              </a:spcAft>
              <a:buClr>
                <a:srgbClr val="33CC33"/>
              </a:buClr>
              <a:buSzPts val="1350"/>
              <a:buFont typeface="Arimo"/>
              <a:buChar char="4"/>
            </a:pPr>
            <a:r>
              <a:rPr b="0" i="0" lang="en-US" sz="1800" u="none" cap="none" strike="noStrike">
                <a:solidFill>
                  <a:schemeClr val="dk1"/>
                </a:solidFill>
                <a:latin typeface="Helvetica Neue"/>
                <a:ea typeface="Helvetica Neue"/>
                <a:cs typeface="Helvetica Neue"/>
                <a:sym typeface="Helvetica Neue"/>
              </a:rPr>
              <a:t>E.g. user name, preferences,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178" name="Shape 178"/>
        <p:cNvGrpSpPr/>
        <p:nvPr/>
      </p:nvGrpSpPr>
      <p:grpSpPr>
        <a:xfrm>
          <a:off x="0" y="0"/>
          <a:ext cx="0" cy="0"/>
          <a:chOff x="0" y="0"/>
          <a:chExt cx="0" cy="0"/>
        </a:xfrm>
      </p:grpSpPr>
      <p:sp>
        <p:nvSpPr>
          <p:cNvPr id="179" name="Google Shape;179;p24"/>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en-US" sz="2400" u="none">
                <a:solidFill>
                  <a:schemeClr val="dk1"/>
                </a:solidFill>
                <a:latin typeface="Times New Roman"/>
                <a:ea typeface="Times New Roman"/>
                <a:cs typeface="Times New Roman"/>
                <a:sym typeface="Times New Roman"/>
              </a:rPr>
              <a:t>‹#›</a:t>
            </a:fld>
            <a:endParaRPr/>
          </a:p>
        </p:txBody>
      </p:sp>
      <p:sp>
        <p:nvSpPr>
          <p:cNvPr id="180" name="Google Shape;180;p24"/>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Example Servlet Code</a:t>
            </a:r>
            <a:endParaRPr/>
          </a:p>
        </p:txBody>
      </p:sp>
      <p:sp>
        <p:nvSpPr>
          <p:cNvPr id="181" name="Google Shape;181;p24"/>
          <p:cNvSpPr txBox="1"/>
          <p:nvPr>
            <p:ph idx="1" type="body"/>
          </p:nvPr>
        </p:nvSpPr>
        <p:spPr>
          <a:xfrm>
            <a:off x="276225" y="866775"/>
            <a:ext cx="8621712" cy="55753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chemeClr val="dk2"/>
              </a:buClr>
              <a:buSzPts val="1620"/>
              <a:buFont typeface="Arial"/>
              <a:buNone/>
            </a:pPr>
            <a:r>
              <a:rPr b="0" i="0" lang="en-US" sz="1800" u="none">
                <a:solidFill>
                  <a:schemeClr val="dk1"/>
                </a:solidFill>
                <a:latin typeface="Helvetica Neue"/>
                <a:ea typeface="Helvetica Neue"/>
                <a:cs typeface="Helvetica Neue"/>
                <a:sym typeface="Helvetica Neue"/>
              </a:rPr>
              <a:t>Public class BankQuery(Servlet extends HttpServlet {</a:t>
            </a:r>
            <a:br>
              <a:rPr b="0" i="0" lang="en-US" sz="1800" u="none">
                <a:solidFill>
                  <a:schemeClr val="dk1"/>
                </a:solidFill>
                <a:latin typeface="Helvetica Neue"/>
                <a:ea typeface="Helvetica Neue"/>
                <a:cs typeface="Helvetica Neue"/>
                <a:sym typeface="Helvetica Neue"/>
              </a:rPr>
            </a:br>
            <a:r>
              <a:rPr b="0" i="0" lang="en-US" sz="1800" u="none">
                <a:solidFill>
                  <a:schemeClr val="dk1"/>
                </a:solidFill>
                <a:latin typeface="Helvetica Neue"/>
                <a:ea typeface="Helvetica Neue"/>
                <a:cs typeface="Helvetica Neue"/>
                <a:sym typeface="Helvetica Neue"/>
              </a:rPr>
              <a:t>public void doGet(HttpServletRequest request, HttpServletResponse result)</a:t>
            </a:r>
            <a:br>
              <a:rPr b="0" i="0" lang="en-US" sz="1800" u="none">
                <a:solidFill>
                  <a:schemeClr val="dk1"/>
                </a:solidFill>
                <a:latin typeface="Helvetica Neue"/>
                <a:ea typeface="Helvetica Neue"/>
                <a:cs typeface="Helvetica Neue"/>
                <a:sym typeface="Helvetica Neue"/>
              </a:rPr>
            </a:br>
            <a:r>
              <a:rPr b="0" i="0" lang="en-US" sz="1800" u="none">
                <a:solidFill>
                  <a:schemeClr val="dk1"/>
                </a:solidFill>
                <a:latin typeface="Helvetica Neue"/>
                <a:ea typeface="Helvetica Neue"/>
                <a:cs typeface="Helvetica Neue"/>
                <a:sym typeface="Helvetica Neue"/>
              </a:rPr>
              <a:t>	throws ServletException, IOException {</a:t>
            </a:r>
            <a:endParaRPr/>
          </a:p>
          <a:p>
            <a:pPr indent="-342900" lvl="0" marL="342900" marR="0" rtl="0" algn="l">
              <a:lnSpc>
                <a:spcPct val="90000"/>
              </a:lnSpc>
              <a:spcBef>
                <a:spcPts val="630"/>
              </a:spcBef>
              <a:spcAft>
                <a:spcPts val="0"/>
              </a:spcAft>
              <a:buClr>
                <a:schemeClr val="dk2"/>
              </a:buClr>
              <a:buSzPts val="1620"/>
              <a:buFont typeface="Arial"/>
              <a:buNone/>
            </a:pPr>
            <a:r>
              <a:rPr b="0" i="0" lang="en-US" sz="1800" u="none">
                <a:solidFill>
                  <a:schemeClr val="dk1"/>
                </a:solidFill>
                <a:latin typeface="Helvetica Neue"/>
                <a:ea typeface="Helvetica Neue"/>
                <a:cs typeface="Helvetica Neue"/>
                <a:sym typeface="Helvetica Neue"/>
              </a:rPr>
              <a:t>		String type = request.getParameter(“type”);</a:t>
            </a:r>
            <a:br>
              <a:rPr b="0" i="0" lang="en-US" sz="1800" u="none">
                <a:solidFill>
                  <a:schemeClr val="dk1"/>
                </a:solidFill>
                <a:latin typeface="Helvetica Neue"/>
                <a:ea typeface="Helvetica Neue"/>
                <a:cs typeface="Helvetica Neue"/>
                <a:sym typeface="Helvetica Neue"/>
              </a:rPr>
            </a:br>
            <a:r>
              <a:rPr b="0" i="0" lang="en-US" sz="1800" u="none">
                <a:solidFill>
                  <a:schemeClr val="dk1"/>
                </a:solidFill>
                <a:latin typeface="Helvetica Neue"/>
                <a:ea typeface="Helvetica Neue"/>
                <a:cs typeface="Helvetica Neue"/>
                <a:sym typeface="Helvetica Neue"/>
              </a:rPr>
              <a:t>	String number = request.getParameter(“number”);</a:t>
            </a:r>
            <a:endParaRPr/>
          </a:p>
          <a:p>
            <a:pPr indent="-342900" lvl="0" marL="342900" marR="0" rtl="0" algn="l">
              <a:lnSpc>
                <a:spcPct val="90000"/>
              </a:lnSpc>
              <a:spcBef>
                <a:spcPts val="630"/>
              </a:spcBef>
              <a:spcAft>
                <a:spcPts val="0"/>
              </a:spcAft>
              <a:buClr>
                <a:schemeClr val="dk2"/>
              </a:buClr>
              <a:buSzPts val="1620"/>
              <a:buFont typeface="Arial"/>
              <a:buNone/>
            </a:pPr>
            <a:r>
              <a:rPr b="0" i="0" lang="en-US" sz="1800" u="none">
                <a:solidFill>
                  <a:schemeClr val="dk1"/>
                </a:solidFill>
                <a:latin typeface="Helvetica Neue"/>
                <a:ea typeface="Helvetica Neue"/>
                <a:cs typeface="Helvetica Neue"/>
                <a:sym typeface="Helvetica Neue"/>
              </a:rPr>
              <a:t>  		  …code to find the loan amount/account balance …</a:t>
            </a:r>
            <a:br>
              <a:rPr b="0" i="0" lang="en-US" sz="1800" u="none">
                <a:solidFill>
                  <a:schemeClr val="dk1"/>
                </a:solidFill>
                <a:latin typeface="Helvetica Neue"/>
                <a:ea typeface="Helvetica Neue"/>
                <a:cs typeface="Helvetica Neue"/>
                <a:sym typeface="Helvetica Neue"/>
              </a:rPr>
            </a:br>
            <a:r>
              <a:rPr b="0" i="0" lang="en-US" sz="1800" u="none">
                <a:solidFill>
                  <a:schemeClr val="dk1"/>
                </a:solidFill>
                <a:latin typeface="Helvetica Neue"/>
                <a:ea typeface="Helvetica Neue"/>
                <a:cs typeface="Helvetica Neue"/>
                <a:sym typeface="Helvetica Neue"/>
              </a:rPr>
              <a:t>	  …using JDBC to communicate with the database..</a:t>
            </a:r>
            <a:br>
              <a:rPr b="0" i="0" lang="en-US" sz="1800" u="none">
                <a:solidFill>
                  <a:schemeClr val="dk1"/>
                </a:solidFill>
                <a:latin typeface="Helvetica Neue"/>
                <a:ea typeface="Helvetica Neue"/>
                <a:cs typeface="Helvetica Neue"/>
                <a:sym typeface="Helvetica Neue"/>
              </a:rPr>
            </a:br>
            <a:r>
              <a:rPr b="0" i="0" lang="en-US" sz="1800" u="none">
                <a:solidFill>
                  <a:schemeClr val="dk1"/>
                </a:solidFill>
                <a:latin typeface="Helvetica Neue"/>
                <a:ea typeface="Helvetica Neue"/>
                <a:cs typeface="Helvetica Neue"/>
                <a:sym typeface="Helvetica Neue"/>
              </a:rPr>
              <a:t>	  …we assume the value is stored in the variable balance</a:t>
            </a:r>
            <a:endParaRPr/>
          </a:p>
          <a:p>
            <a:pPr indent="-342900" lvl="0" marL="342900" marR="0" rtl="0" algn="l">
              <a:lnSpc>
                <a:spcPct val="90000"/>
              </a:lnSpc>
              <a:spcBef>
                <a:spcPts val="630"/>
              </a:spcBef>
              <a:spcAft>
                <a:spcPts val="0"/>
              </a:spcAft>
              <a:buClr>
                <a:schemeClr val="dk2"/>
              </a:buClr>
              <a:buSzPts val="1620"/>
              <a:buFont typeface="Arial"/>
              <a:buNone/>
            </a:pPr>
            <a:r>
              <a:rPr b="0" i="0" lang="en-US" sz="1800" u="none">
                <a:solidFill>
                  <a:schemeClr val="dk1"/>
                </a:solidFill>
                <a:latin typeface="Helvetica Neue"/>
                <a:ea typeface="Helvetica Neue"/>
                <a:cs typeface="Helvetica Neue"/>
                <a:sym typeface="Helvetica Neue"/>
              </a:rPr>
              <a:t>		result.setContentType(“text/html”);</a:t>
            </a:r>
            <a:br>
              <a:rPr b="0" i="0" lang="en-US" sz="1800" u="none">
                <a:solidFill>
                  <a:schemeClr val="dk1"/>
                </a:solidFill>
                <a:latin typeface="Helvetica Neue"/>
                <a:ea typeface="Helvetica Neue"/>
                <a:cs typeface="Helvetica Neue"/>
                <a:sym typeface="Helvetica Neue"/>
              </a:rPr>
            </a:br>
            <a:r>
              <a:rPr b="0" i="0" lang="en-US" sz="1800" u="none">
                <a:solidFill>
                  <a:schemeClr val="dk1"/>
                </a:solidFill>
                <a:latin typeface="Helvetica Neue"/>
                <a:ea typeface="Helvetica Neue"/>
                <a:cs typeface="Helvetica Neue"/>
                <a:sym typeface="Helvetica Neue"/>
              </a:rPr>
              <a:t>	PrintWriter out = result.getWriter( );</a:t>
            </a:r>
            <a:br>
              <a:rPr b="0" i="0" lang="en-US" sz="1800" u="none">
                <a:solidFill>
                  <a:schemeClr val="dk1"/>
                </a:solidFill>
                <a:latin typeface="Helvetica Neue"/>
                <a:ea typeface="Helvetica Neue"/>
                <a:cs typeface="Helvetica Neue"/>
                <a:sym typeface="Helvetica Neue"/>
              </a:rPr>
            </a:br>
            <a:r>
              <a:rPr b="0" i="0" lang="en-US" sz="1800" u="none">
                <a:solidFill>
                  <a:schemeClr val="dk1"/>
                </a:solidFill>
                <a:latin typeface="Helvetica Neue"/>
                <a:ea typeface="Helvetica Neue"/>
                <a:cs typeface="Helvetica Neue"/>
                <a:sym typeface="Helvetica Neue"/>
              </a:rPr>
              <a:t>	out.println(“&lt;HEAD&gt;&lt;TITLE&gt;Query Result&lt;/TITLE&gt;&lt;/HEAD&gt;”);</a:t>
            </a:r>
            <a:br>
              <a:rPr b="0" i="0" lang="en-US" sz="1800" u="none">
                <a:solidFill>
                  <a:schemeClr val="dk1"/>
                </a:solidFill>
                <a:latin typeface="Helvetica Neue"/>
                <a:ea typeface="Helvetica Neue"/>
                <a:cs typeface="Helvetica Neue"/>
                <a:sym typeface="Helvetica Neue"/>
              </a:rPr>
            </a:br>
            <a:r>
              <a:rPr b="0" i="0" lang="en-US" sz="1800" u="none">
                <a:solidFill>
                  <a:schemeClr val="dk1"/>
                </a:solidFill>
                <a:latin typeface="Helvetica Neue"/>
                <a:ea typeface="Helvetica Neue"/>
                <a:cs typeface="Helvetica Neue"/>
                <a:sym typeface="Helvetica Neue"/>
              </a:rPr>
              <a:t>	out.println(“&lt;BODY&gt;”);</a:t>
            </a:r>
            <a:br>
              <a:rPr b="0" i="0" lang="en-US" sz="1800" u="none">
                <a:solidFill>
                  <a:schemeClr val="dk1"/>
                </a:solidFill>
                <a:latin typeface="Helvetica Neue"/>
                <a:ea typeface="Helvetica Neue"/>
                <a:cs typeface="Helvetica Neue"/>
                <a:sym typeface="Helvetica Neue"/>
              </a:rPr>
            </a:br>
            <a:r>
              <a:rPr b="0" i="0" lang="en-US" sz="1800" u="none">
                <a:solidFill>
                  <a:schemeClr val="dk1"/>
                </a:solidFill>
                <a:latin typeface="Helvetica Neue"/>
                <a:ea typeface="Helvetica Neue"/>
                <a:cs typeface="Helvetica Neue"/>
                <a:sym typeface="Helvetica Neue"/>
              </a:rPr>
              <a:t>	out.println(“Balance on “ + type + number + “=“ + balance);</a:t>
            </a:r>
            <a:br>
              <a:rPr b="0" i="0" lang="en-US" sz="1800" u="none">
                <a:solidFill>
                  <a:schemeClr val="dk1"/>
                </a:solidFill>
                <a:latin typeface="Helvetica Neue"/>
                <a:ea typeface="Helvetica Neue"/>
                <a:cs typeface="Helvetica Neue"/>
                <a:sym typeface="Helvetica Neue"/>
              </a:rPr>
            </a:br>
            <a:r>
              <a:rPr b="0" i="0" lang="en-US" sz="1800" u="none">
                <a:solidFill>
                  <a:schemeClr val="dk1"/>
                </a:solidFill>
                <a:latin typeface="Helvetica Neue"/>
                <a:ea typeface="Helvetica Neue"/>
                <a:cs typeface="Helvetica Neue"/>
                <a:sym typeface="Helvetica Neue"/>
              </a:rPr>
              <a:t>	out.println(“&lt;/BODY&gt;”);</a:t>
            </a:r>
            <a:br>
              <a:rPr b="0" i="0" lang="en-US" sz="1800" u="none">
                <a:solidFill>
                  <a:schemeClr val="dk1"/>
                </a:solidFill>
                <a:latin typeface="Helvetica Neue"/>
                <a:ea typeface="Helvetica Neue"/>
                <a:cs typeface="Helvetica Neue"/>
                <a:sym typeface="Helvetica Neue"/>
              </a:rPr>
            </a:br>
            <a:r>
              <a:rPr b="0" i="0" lang="en-US" sz="1800" u="none">
                <a:solidFill>
                  <a:schemeClr val="dk1"/>
                </a:solidFill>
                <a:latin typeface="Helvetica Neue"/>
                <a:ea typeface="Helvetica Neue"/>
                <a:cs typeface="Helvetica Neue"/>
                <a:sym typeface="Helvetica Neue"/>
              </a:rPr>
              <a:t>	out.close ( );</a:t>
            </a:r>
            <a:br>
              <a:rPr b="0" i="0" lang="en-US" sz="1800" u="none">
                <a:solidFill>
                  <a:schemeClr val="dk1"/>
                </a:solidFill>
                <a:latin typeface="Helvetica Neue"/>
                <a:ea typeface="Helvetica Neue"/>
                <a:cs typeface="Helvetica Neue"/>
                <a:sym typeface="Helvetica Neue"/>
              </a:rPr>
            </a:br>
            <a:r>
              <a:rPr b="0" i="0" lang="en-US" sz="1800" u="none">
                <a:solidFill>
                  <a:schemeClr val="dk1"/>
                </a:solidFill>
                <a:latin typeface="Helvetica Neue"/>
                <a:ea typeface="Helvetica Neue"/>
                <a:cs typeface="Helvetica Neue"/>
                <a:sym typeface="Helvetica Neue"/>
              </a:rPr>
              <a:t>}</a:t>
            </a:r>
            <a:endParaRPr/>
          </a:p>
          <a:p>
            <a:pPr indent="-342900" lvl="0" marL="342900" marR="0" rtl="0" algn="l">
              <a:lnSpc>
                <a:spcPct val="90000"/>
              </a:lnSpc>
              <a:spcBef>
                <a:spcPts val="630"/>
              </a:spcBef>
              <a:spcAft>
                <a:spcPts val="0"/>
              </a:spcAft>
              <a:buClr>
                <a:schemeClr val="dk2"/>
              </a:buClr>
              <a:buSzPts val="1620"/>
              <a:buFont typeface="Arial"/>
              <a:buNone/>
            </a:pPr>
            <a:r>
              <a:rPr b="0" i="0" lang="en-US" sz="1800" u="none">
                <a:solidFill>
                  <a:schemeClr val="dk1"/>
                </a:solidFill>
                <a:latin typeface="Helvetica Neue"/>
                <a:ea typeface="Helvetica Neue"/>
                <a:cs typeface="Helvetica Neue"/>
                <a:sym typeface="Helvetica Neue"/>
              </a:rPr>
              <a:t>}</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185" name="Shape 185"/>
        <p:cNvGrpSpPr/>
        <p:nvPr/>
      </p:nvGrpSpPr>
      <p:grpSpPr>
        <a:xfrm>
          <a:off x="0" y="0"/>
          <a:ext cx="0" cy="0"/>
          <a:chOff x="0" y="0"/>
          <a:chExt cx="0" cy="0"/>
        </a:xfrm>
      </p:grpSpPr>
      <p:sp>
        <p:nvSpPr>
          <p:cNvPr id="186" name="Google Shape;186;p25"/>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en-US" sz="2400" u="none">
                <a:solidFill>
                  <a:schemeClr val="dk1"/>
                </a:solidFill>
                <a:latin typeface="Times New Roman"/>
                <a:ea typeface="Times New Roman"/>
                <a:cs typeface="Times New Roman"/>
                <a:sym typeface="Times New Roman"/>
              </a:rPr>
              <a:t>‹#›</a:t>
            </a:fld>
            <a:endParaRPr/>
          </a:p>
        </p:txBody>
      </p:sp>
      <p:sp>
        <p:nvSpPr>
          <p:cNvPr id="187" name="Google Shape;187;p25"/>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Server-Side Scripting</a:t>
            </a:r>
            <a:endParaRPr/>
          </a:p>
        </p:txBody>
      </p:sp>
      <p:sp>
        <p:nvSpPr>
          <p:cNvPr id="188" name="Google Shape;188;p25"/>
          <p:cNvSpPr txBox="1"/>
          <p:nvPr>
            <p:ph idx="1" type="body"/>
          </p:nvPr>
        </p:nvSpPr>
        <p:spPr>
          <a:xfrm>
            <a:off x="814387" y="1093787"/>
            <a:ext cx="7661275" cy="4903787"/>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Server-side scripting simplifies the task of connecting a database to the Web</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Define a HTML document with embedded executable code/SQL queries.</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Input values from HTML forms can be used directly in the embedded code/SQL queries.</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When the document is requested, the Web server executes the embedded code/SQL queries to generate the actual HTML document.</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Numerous server-side scripting languages</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JSP, Server-side Javascript, ColdFusion Markup Language (cfml), PHP, Jscript</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General purpose scripting languages: VBScript, Perl, Python</a:t>
            </a:r>
            <a:endParaRPr/>
          </a:p>
          <a:p>
            <a:pPr indent="-240030" lvl="0" marL="342900" marR="0" rtl="0" algn="l">
              <a:lnSpc>
                <a:spcPct val="100000"/>
              </a:lnSpc>
              <a:spcBef>
                <a:spcPts val="630"/>
              </a:spcBef>
              <a:spcAft>
                <a:spcPts val="0"/>
              </a:spcAft>
              <a:buClr>
                <a:schemeClr val="dk2"/>
              </a:buClr>
              <a:buSzPts val="1620"/>
              <a:buFont typeface="Arial"/>
              <a:buNone/>
            </a:pPr>
            <a:r>
              <a:t/>
            </a:r>
            <a:endParaRPr b="0" i="0" sz="1800" u="none" cap="none" strike="noStrike">
              <a:solidFill>
                <a:schemeClr val="dk1"/>
              </a:solidFill>
              <a:latin typeface="Helvetica Neue"/>
              <a:ea typeface="Helvetica Neue"/>
              <a:cs typeface="Helvetica Neue"/>
              <a:sym typeface="Helvetica Neue"/>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192" name="Shape 192"/>
        <p:cNvGrpSpPr/>
        <p:nvPr/>
      </p:nvGrpSpPr>
      <p:grpSpPr>
        <a:xfrm>
          <a:off x="0" y="0"/>
          <a:ext cx="0" cy="0"/>
          <a:chOff x="0" y="0"/>
          <a:chExt cx="0" cy="0"/>
        </a:xfrm>
      </p:grpSpPr>
      <p:sp>
        <p:nvSpPr>
          <p:cNvPr id="193" name="Google Shape;193;p26"/>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en-US" sz="2400" u="none">
                <a:solidFill>
                  <a:schemeClr val="dk1"/>
                </a:solidFill>
                <a:latin typeface="Times New Roman"/>
                <a:ea typeface="Times New Roman"/>
                <a:cs typeface="Times New Roman"/>
                <a:sym typeface="Times New Roman"/>
              </a:rPr>
              <a:t>‹#›</a:t>
            </a:fld>
            <a:endParaRPr/>
          </a:p>
        </p:txBody>
      </p:sp>
      <p:sp>
        <p:nvSpPr>
          <p:cNvPr id="194" name="Google Shape;194;p26"/>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Improving Web Server Performance</a:t>
            </a:r>
            <a:endParaRPr/>
          </a:p>
        </p:txBody>
      </p:sp>
      <p:sp>
        <p:nvSpPr>
          <p:cNvPr id="195" name="Google Shape;195;p26"/>
          <p:cNvSpPr txBox="1"/>
          <p:nvPr>
            <p:ph idx="1" type="body"/>
          </p:nvPr>
        </p:nvSpPr>
        <p:spPr>
          <a:xfrm>
            <a:off x="814387" y="1093787"/>
            <a:ext cx="7661275" cy="4903787"/>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Performance is an issue for popular Web sites </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May be accessed by millions of users every day, thousands of requests per second at peak time</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Caching techniques used to reduce cost of serving pages by exploiting commonalities between requests</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At the server site:</a:t>
            </a:r>
            <a:endParaRPr/>
          </a:p>
          <a:p>
            <a:pPr indent="-228600" lvl="2" marL="1085850" marR="0" rtl="0" algn="l">
              <a:lnSpc>
                <a:spcPct val="100000"/>
              </a:lnSpc>
              <a:spcBef>
                <a:spcPts val="630"/>
              </a:spcBef>
              <a:spcAft>
                <a:spcPts val="0"/>
              </a:spcAft>
              <a:buClr>
                <a:srgbClr val="33CC33"/>
              </a:buClr>
              <a:buSzPts val="1350"/>
              <a:buFont typeface="Arimo"/>
              <a:buChar char="4"/>
            </a:pPr>
            <a:r>
              <a:rPr b="0" i="0" lang="en-US" sz="1800" u="none" cap="none" strike="noStrike">
                <a:solidFill>
                  <a:schemeClr val="dk1"/>
                </a:solidFill>
                <a:latin typeface="Helvetica Neue"/>
                <a:ea typeface="Helvetica Neue"/>
                <a:cs typeface="Helvetica Neue"/>
                <a:sym typeface="Helvetica Neue"/>
              </a:rPr>
              <a:t>Caching of JDBC connections between servlet requests</a:t>
            </a:r>
            <a:endParaRPr/>
          </a:p>
          <a:p>
            <a:pPr indent="-228600" lvl="2" marL="1085850" marR="0" rtl="0" algn="l">
              <a:lnSpc>
                <a:spcPct val="100000"/>
              </a:lnSpc>
              <a:spcBef>
                <a:spcPts val="630"/>
              </a:spcBef>
              <a:spcAft>
                <a:spcPts val="0"/>
              </a:spcAft>
              <a:buClr>
                <a:srgbClr val="33CC33"/>
              </a:buClr>
              <a:buSzPts val="1350"/>
              <a:buFont typeface="Arimo"/>
              <a:buChar char="4"/>
            </a:pPr>
            <a:r>
              <a:rPr b="0" i="0" lang="en-US" sz="1800" u="none" cap="none" strike="noStrike">
                <a:solidFill>
                  <a:schemeClr val="dk1"/>
                </a:solidFill>
                <a:latin typeface="Helvetica Neue"/>
                <a:ea typeface="Helvetica Neue"/>
                <a:cs typeface="Helvetica Neue"/>
                <a:sym typeface="Helvetica Neue"/>
              </a:rPr>
              <a:t>Caching results of database queries</a:t>
            </a:r>
            <a:endParaRPr/>
          </a:p>
          <a:p>
            <a:pPr indent="-228600" lvl="3" marL="1428750" marR="0" rtl="0" algn="l">
              <a:lnSpc>
                <a:spcPct val="100000"/>
              </a:lnSpc>
              <a:spcBef>
                <a:spcPts val="630"/>
              </a:spcBef>
              <a:spcAft>
                <a:spcPts val="0"/>
              </a:spcAft>
              <a:buClr>
                <a:schemeClr val="hlink"/>
              </a:buClr>
              <a:buSzPts val="1800"/>
              <a:buFont typeface="Helvetica Neue"/>
              <a:buChar char="–"/>
            </a:pPr>
            <a:r>
              <a:rPr b="0" i="0" lang="en-US" sz="1800" u="none" cap="none" strike="noStrike">
                <a:solidFill>
                  <a:schemeClr val="dk1"/>
                </a:solidFill>
                <a:latin typeface="Helvetica Neue"/>
                <a:ea typeface="Helvetica Neue"/>
                <a:cs typeface="Helvetica Neue"/>
                <a:sym typeface="Helvetica Neue"/>
              </a:rPr>
              <a:t>Cached results must be updated if underlying database changes</a:t>
            </a:r>
            <a:endParaRPr/>
          </a:p>
          <a:p>
            <a:pPr indent="-228600" lvl="2" marL="1085850" marR="0" rtl="0" algn="l">
              <a:lnSpc>
                <a:spcPct val="100000"/>
              </a:lnSpc>
              <a:spcBef>
                <a:spcPts val="630"/>
              </a:spcBef>
              <a:spcAft>
                <a:spcPts val="0"/>
              </a:spcAft>
              <a:buClr>
                <a:srgbClr val="33CC33"/>
              </a:buClr>
              <a:buSzPts val="1350"/>
              <a:buFont typeface="Arimo"/>
              <a:buChar char="4"/>
            </a:pPr>
            <a:r>
              <a:rPr b="0" i="0" lang="en-US" sz="1800" u="none" cap="none" strike="noStrike">
                <a:solidFill>
                  <a:schemeClr val="dk1"/>
                </a:solidFill>
                <a:latin typeface="Helvetica Neue"/>
                <a:ea typeface="Helvetica Neue"/>
                <a:cs typeface="Helvetica Neue"/>
                <a:sym typeface="Helvetica Neue"/>
              </a:rPr>
              <a:t>Caching of generated HTML</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At the client’s network</a:t>
            </a:r>
            <a:endParaRPr/>
          </a:p>
          <a:p>
            <a:pPr indent="-228600" lvl="2" marL="1085850" marR="0" rtl="0" algn="l">
              <a:lnSpc>
                <a:spcPct val="100000"/>
              </a:lnSpc>
              <a:spcBef>
                <a:spcPts val="630"/>
              </a:spcBef>
              <a:spcAft>
                <a:spcPts val="0"/>
              </a:spcAft>
              <a:buClr>
                <a:srgbClr val="33CC33"/>
              </a:buClr>
              <a:buSzPts val="1350"/>
              <a:buFont typeface="Arimo"/>
              <a:buChar char="4"/>
            </a:pPr>
            <a:r>
              <a:rPr b="0" i="0" lang="en-US" sz="1800" u="none" cap="none" strike="noStrike">
                <a:solidFill>
                  <a:schemeClr val="dk1"/>
                </a:solidFill>
                <a:latin typeface="Helvetica Neue"/>
                <a:ea typeface="Helvetica Neue"/>
                <a:cs typeface="Helvetica Neue"/>
                <a:sym typeface="Helvetica Neue"/>
              </a:rPr>
              <a:t>Caching of pages by Web proxy</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199" name="Shape 199"/>
        <p:cNvGrpSpPr/>
        <p:nvPr/>
      </p:nvGrpSpPr>
      <p:grpSpPr>
        <a:xfrm>
          <a:off x="0" y="0"/>
          <a:ext cx="0" cy="0"/>
          <a:chOff x="0" y="0"/>
          <a:chExt cx="0" cy="0"/>
        </a:xfrm>
      </p:grpSpPr>
      <p:sp>
        <p:nvSpPr>
          <p:cNvPr id="200" name="Google Shape;200;p27"/>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en-US" sz="2400" u="none">
                <a:solidFill>
                  <a:schemeClr val="dk1"/>
                </a:solidFill>
                <a:latin typeface="Times New Roman"/>
                <a:ea typeface="Times New Roman"/>
                <a:cs typeface="Times New Roman"/>
                <a:sym typeface="Times New Roman"/>
              </a:rPr>
              <a:t>‹#›</a:t>
            </a:fld>
            <a:endParaRPr/>
          </a:p>
        </p:txBody>
      </p:sp>
      <p:sp>
        <p:nvSpPr>
          <p:cNvPr id="201" name="Google Shape;201;p27"/>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Triggers</a:t>
            </a:r>
            <a:endParaRPr/>
          </a:p>
        </p:txBody>
      </p:sp>
      <p:sp>
        <p:nvSpPr>
          <p:cNvPr id="202" name="Google Shape;202;p27"/>
          <p:cNvSpPr txBox="1"/>
          <p:nvPr>
            <p:ph idx="1" type="body"/>
          </p:nvPr>
        </p:nvSpPr>
        <p:spPr>
          <a:xfrm>
            <a:off x="814387" y="1093787"/>
            <a:ext cx="7661275" cy="4903787"/>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A </a:t>
            </a:r>
            <a:r>
              <a:rPr b="1" i="0" lang="en-US" sz="1800" u="none">
                <a:solidFill>
                  <a:schemeClr val="dk2"/>
                </a:solidFill>
                <a:latin typeface="Helvetica Neue"/>
                <a:ea typeface="Helvetica Neue"/>
                <a:cs typeface="Helvetica Neue"/>
                <a:sym typeface="Helvetica Neue"/>
              </a:rPr>
              <a:t>trigger</a:t>
            </a:r>
            <a:r>
              <a:rPr b="0" i="0" lang="en-US" sz="1800" u="none">
                <a:solidFill>
                  <a:schemeClr val="dk1"/>
                </a:solidFill>
                <a:latin typeface="Helvetica Neue"/>
                <a:ea typeface="Helvetica Neue"/>
                <a:cs typeface="Helvetica Neue"/>
                <a:sym typeface="Helvetica Neue"/>
              </a:rPr>
              <a:t> is a statement that is executed automatically by the system as a side effect of a modification to the database.</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To design a trigger mechanism, we must:</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Specify the conditions under which the trigger is to be executed.</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Specify the actions to be taken when the trigger executes.</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Triggers introduced to SQL standard in SQL:1999, but supported even earlier using non-standard syntax by most databases.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206" name="Shape 206"/>
        <p:cNvGrpSpPr/>
        <p:nvPr/>
      </p:nvGrpSpPr>
      <p:grpSpPr>
        <a:xfrm>
          <a:off x="0" y="0"/>
          <a:ext cx="0" cy="0"/>
          <a:chOff x="0" y="0"/>
          <a:chExt cx="0" cy="0"/>
        </a:xfrm>
      </p:grpSpPr>
      <p:sp>
        <p:nvSpPr>
          <p:cNvPr id="207" name="Google Shape;207;p28"/>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en-US" sz="2400" u="none">
                <a:solidFill>
                  <a:schemeClr val="dk1"/>
                </a:solidFill>
                <a:latin typeface="Times New Roman"/>
                <a:ea typeface="Times New Roman"/>
                <a:cs typeface="Times New Roman"/>
                <a:sym typeface="Times New Roman"/>
              </a:rPr>
              <a:t>‹#›</a:t>
            </a:fld>
            <a:endParaRPr/>
          </a:p>
        </p:txBody>
      </p:sp>
      <p:sp>
        <p:nvSpPr>
          <p:cNvPr id="208" name="Google Shape;208;p28"/>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Trigger Example </a:t>
            </a:r>
            <a:endParaRPr/>
          </a:p>
        </p:txBody>
      </p:sp>
      <p:sp>
        <p:nvSpPr>
          <p:cNvPr id="209" name="Google Shape;209;p28"/>
          <p:cNvSpPr txBox="1"/>
          <p:nvPr>
            <p:ph idx="1" type="body"/>
          </p:nvPr>
        </p:nvSpPr>
        <p:spPr>
          <a:xfrm>
            <a:off x="814387" y="1093787"/>
            <a:ext cx="7661275" cy="4903787"/>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Suppose that instead of allowing negative account balances, the bank deals with overdrafts by </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setting the account balance to zero</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creating a loan in the amount of the overdraft</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giving this loan a loan number identical to the account number of the overdrawn account</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The condition for executing the trigger is an update to the </a:t>
            </a:r>
            <a:r>
              <a:rPr b="0" i="1" lang="en-US" sz="1800" u="none">
                <a:solidFill>
                  <a:schemeClr val="dk1"/>
                </a:solidFill>
                <a:latin typeface="Helvetica Neue"/>
                <a:ea typeface="Helvetica Neue"/>
                <a:cs typeface="Helvetica Neue"/>
                <a:sym typeface="Helvetica Neue"/>
              </a:rPr>
              <a:t>account</a:t>
            </a:r>
            <a:r>
              <a:rPr b="0" i="0" lang="en-US" sz="1800" u="none">
                <a:solidFill>
                  <a:schemeClr val="dk1"/>
                </a:solidFill>
                <a:latin typeface="Helvetica Neue"/>
                <a:ea typeface="Helvetica Neue"/>
                <a:cs typeface="Helvetica Neue"/>
                <a:sym typeface="Helvetica Neue"/>
              </a:rPr>
              <a:t> relation that results in a negative </a:t>
            </a:r>
            <a:r>
              <a:rPr b="0" i="1" lang="en-US" sz="1800" u="none">
                <a:solidFill>
                  <a:schemeClr val="dk1"/>
                </a:solidFill>
                <a:latin typeface="Helvetica Neue"/>
                <a:ea typeface="Helvetica Neue"/>
                <a:cs typeface="Helvetica Neue"/>
                <a:sym typeface="Helvetica Neue"/>
              </a:rPr>
              <a:t>balance </a:t>
            </a:r>
            <a:r>
              <a:rPr b="0" i="0" lang="en-US" sz="1800" u="none">
                <a:solidFill>
                  <a:schemeClr val="dk1"/>
                </a:solidFill>
                <a:latin typeface="Helvetica Neue"/>
                <a:ea typeface="Helvetica Neue"/>
                <a:cs typeface="Helvetica Neue"/>
                <a:sym typeface="Helvetica Neue"/>
              </a:rPr>
              <a:t>value.</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213" name="Shape 213"/>
        <p:cNvGrpSpPr/>
        <p:nvPr/>
      </p:nvGrpSpPr>
      <p:grpSpPr>
        <a:xfrm>
          <a:off x="0" y="0"/>
          <a:ext cx="0" cy="0"/>
          <a:chOff x="0" y="0"/>
          <a:chExt cx="0" cy="0"/>
        </a:xfrm>
      </p:grpSpPr>
      <p:sp>
        <p:nvSpPr>
          <p:cNvPr id="214" name="Google Shape;214;p29"/>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en-US" sz="2400" u="none">
                <a:solidFill>
                  <a:schemeClr val="dk1"/>
                </a:solidFill>
                <a:latin typeface="Times New Roman"/>
                <a:ea typeface="Times New Roman"/>
                <a:cs typeface="Times New Roman"/>
                <a:sym typeface="Times New Roman"/>
              </a:rPr>
              <a:t>‹#›</a:t>
            </a:fld>
            <a:endParaRPr/>
          </a:p>
        </p:txBody>
      </p:sp>
      <p:sp>
        <p:nvSpPr>
          <p:cNvPr id="215" name="Google Shape;215;p29"/>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Trigger Example in SQL:1999</a:t>
            </a:r>
            <a:endParaRPr/>
          </a:p>
        </p:txBody>
      </p:sp>
      <p:sp>
        <p:nvSpPr>
          <p:cNvPr id="216" name="Google Shape;216;p29"/>
          <p:cNvSpPr txBox="1"/>
          <p:nvPr>
            <p:ph idx="1" type="body"/>
          </p:nvPr>
        </p:nvSpPr>
        <p:spPr>
          <a:xfrm>
            <a:off x="990600" y="1066800"/>
            <a:ext cx="7924800" cy="50292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1620"/>
              <a:buFont typeface="Arial"/>
              <a:buNone/>
            </a:pPr>
            <a:r>
              <a:rPr b="1" i="0" lang="en-US" sz="1800" u="none">
                <a:solidFill>
                  <a:schemeClr val="dk1"/>
                </a:solidFill>
                <a:latin typeface="Helvetica Neue"/>
                <a:ea typeface="Helvetica Neue"/>
                <a:cs typeface="Helvetica Neue"/>
                <a:sym typeface="Helvetica Neue"/>
              </a:rPr>
              <a:t>	create trigger </a:t>
            </a:r>
            <a:r>
              <a:rPr b="0" i="1" lang="en-US" sz="1800" u="none">
                <a:solidFill>
                  <a:schemeClr val="dk1"/>
                </a:solidFill>
                <a:latin typeface="Helvetica Neue"/>
                <a:ea typeface="Helvetica Neue"/>
                <a:cs typeface="Helvetica Neue"/>
                <a:sym typeface="Helvetica Neue"/>
              </a:rPr>
              <a:t>overdraft-trigger </a:t>
            </a:r>
            <a:r>
              <a:rPr b="1" i="0" lang="en-US" sz="1800" u="none">
                <a:solidFill>
                  <a:schemeClr val="dk1"/>
                </a:solidFill>
                <a:latin typeface="Helvetica Neue"/>
                <a:ea typeface="Helvetica Neue"/>
                <a:cs typeface="Helvetica Neue"/>
                <a:sym typeface="Helvetica Neue"/>
              </a:rPr>
              <a:t>after update on </a:t>
            </a:r>
            <a:r>
              <a:rPr b="0" i="1" lang="en-US" sz="1800" u="none">
                <a:solidFill>
                  <a:schemeClr val="dk1"/>
                </a:solidFill>
                <a:latin typeface="Helvetica Neue"/>
                <a:ea typeface="Helvetica Neue"/>
                <a:cs typeface="Helvetica Neue"/>
                <a:sym typeface="Helvetica Neue"/>
              </a:rPr>
              <a:t>account </a:t>
            </a:r>
            <a:br>
              <a:rPr b="0" i="1" lang="en-US" sz="1800" u="none">
                <a:solidFill>
                  <a:schemeClr val="dk1"/>
                </a:solidFill>
                <a:latin typeface="Helvetica Neue"/>
                <a:ea typeface="Helvetica Neue"/>
                <a:cs typeface="Helvetica Neue"/>
                <a:sym typeface="Helvetica Neue"/>
              </a:rPr>
            </a:br>
            <a:r>
              <a:rPr b="1" i="0" lang="en-US" sz="1800" u="none">
                <a:solidFill>
                  <a:schemeClr val="dk1"/>
                </a:solidFill>
                <a:latin typeface="Helvetica Neue"/>
                <a:ea typeface="Helvetica Neue"/>
                <a:cs typeface="Helvetica Neue"/>
                <a:sym typeface="Helvetica Neue"/>
              </a:rPr>
              <a:t>referencing new row as </a:t>
            </a:r>
            <a:r>
              <a:rPr b="0" i="1" lang="en-US" sz="1800" u="none">
                <a:solidFill>
                  <a:schemeClr val="dk1"/>
                </a:solidFill>
                <a:latin typeface="Helvetica Neue"/>
                <a:ea typeface="Helvetica Neue"/>
                <a:cs typeface="Helvetica Neue"/>
                <a:sym typeface="Helvetica Neue"/>
              </a:rPr>
              <a:t>nrow                                                                                  </a:t>
            </a:r>
            <a:r>
              <a:rPr b="1" i="0" lang="en-US" sz="1800" u="none">
                <a:solidFill>
                  <a:schemeClr val="dk1"/>
                </a:solidFill>
                <a:latin typeface="Helvetica Neue"/>
                <a:ea typeface="Helvetica Neue"/>
                <a:cs typeface="Helvetica Neue"/>
                <a:sym typeface="Helvetica Neue"/>
              </a:rPr>
              <a:t>for each row</a:t>
            </a:r>
            <a:br>
              <a:rPr b="1" i="0" lang="en-US" sz="1800" u="none">
                <a:solidFill>
                  <a:schemeClr val="dk1"/>
                </a:solidFill>
                <a:latin typeface="Helvetica Neue"/>
                <a:ea typeface="Helvetica Neue"/>
                <a:cs typeface="Helvetica Neue"/>
                <a:sym typeface="Helvetica Neue"/>
              </a:rPr>
            </a:br>
            <a:r>
              <a:rPr b="1" i="0" lang="en-US" sz="1800" u="none">
                <a:solidFill>
                  <a:schemeClr val="dk1"/>
                </a:solidFill>
                <a:latin typeface="Helvetica Neue"/>
                <a:ea typeface="Helvetica Neue"/>
                <a:cs typeface="Helvetica Neue"/>
                <a:sym typeface="Helvetica Neue"/>
              </a:rPr>
              <a:t>when </a:t>
            </a:r>
            <a:r>
              <a:rPr b="0" i="1" lang="en-US" sz="1800" u="none">
                <a:solidFill>
                  <a:schemeClr val="dk1"/>
                </a:solidFill>
                <a:latin typeface="Helvetica Neue"/>
                <a:ea typeface="Helvetica Neue"/>
                <a:cs typeface="Helvetica Neue"/>
                <a:sym typeface="Helvetica Neue"/>
              </a:rPr>
              <a:t>nrow.balance </a:t>
            </a:r>
            <a:r>
              <a:rPr b="0" i="0" lang="en-US" sz="1800" u="none">
                <a:solidFill>
                  <a:schemeClr val="dk1"/>
                </a:solidFill>
                <a:latin typeface="Helvetica Neue"/>
                <a:ea typeface="Helvetica Neue"/>
                <a:cs typeface="Helvetica Neue"/>
                <a:sym typeface="Helvetica Neue"/>
              </a:rPr>
              <a:t>&lt; 0</a:t>
            </a:r>
            <a:br>
              <a:rPr b="0" i="0" lang="en-US" sz="1800" u="none">
                <a:solidFill>
                  <a:schemeClr val="dk1"/>
                </a:solidFill>
                <a:latin typeface="Helvetica Neue"/>
                <a:ea typeface="Helvetica Neue"/>
                <a:cs typeface="Helvetica Neue"/>
                <a:sym typeface="Helvetica Neue"/>
              </a:rPr>
            </a:br>
            <a:r>
              <a:rPr b="1" i="0" lang="en-US" sz="1800" u="none">
                <a:solidFill>
                  <a:schemeClr val="dk1"/>
                </a:solidFill>
                <a:latin typeface="Helvetica Neue"/>
                <a:ea typeface="Helvetica Neue"/>
                <a:cs typeface="Helvetica Neue"/>
                <a:sym typeface="Helvetica Neue"/>
              </a:rPr>
              <a:t>begin atomic</a:t>
            </a:r>
            <a:br>
              <a:rPr b="1" i="0" lang="en-US" sz="1800" u="none">
                <a:solidFill>
                  <a:schemeClr val="dk1"/>
                </a:solidFill>
                <a:latin typeface="Helvetica Neue"/>
                <a:ea typeface="Helvetica Neue"/>
                <a:cs typeface="Helvetica Neue"/>
                <a:sym typeface="Helvetica Neue"/>
              </a:rPr>
            </a:br>
            <a:r>
              <a:rPr b="1" i="0" lang="en-US" sz="1800" u="none">
                <a:solidFill>
                  <a:schemeClr val="dk1"/>
                </a:solidFill>
                <a:latin typeface="Helvetica Neue"/>
                <a:ea typeface="Helvetica Neue"/>
                <a:cs typeface="Helvetica Neue"/>
                <a:sym typeface="Helvetica Neue"/>
              </a:rPr>
              <a:t>	insert into </a:t>
            </a:r>
            <a:r>
              <a:rPr b="0" i="1" lang="en-US" sz="1800" u="none">
                <a:solidFill>
                  <a:schemeClr val="dk1"/>
                </a:solidFill>
                <a:latin typeface="Helvetica Neue"/>
                <a:ea typeface="Helvetica Neue"/>
                <a:cs typeface="Helvetica Neue"/>
                <a:sym typeface="Helvetica Neue"/>
              </a:rPr>
              <a:t>borrower</a:t>
            </a:r>
            <a:r>
              <a:rPr b="1" i="0" lang="en-US" sz="1800" u="none">
                <a:solidFill>
                  <a:schemeClr val="dk1"/>
                </a:solidFill>
                <a:latin typeface="Helvetica Neue"/>
                <a:ea typeface="Helvetica Neue"/>
                <a:cs typeface="Helvetica Neue"/>
                <a:sym typeface="Helvetica Neue"/>
              </a:rPr>
              <a:t> </a:t>
            </a:r>
            <a:br>
              <a:rPr b="1" i="0" lang="en-US" sz="1800" u="none">
                <a:solidFill>
                  <a:schemeClr val="dk1"/>
                </a:solidFill>
                <a:latin typeface="Helvetica Neue"/>
                <a:ea typeface="Helvetica Neue"/>
                <a:cs typeface="Helvetica Neue"/>
                <a:sym typeface="Helvetica Neue"/>
              </a:rPr>
            </a:br>
            <a:r>
              <a:rPr b="1" i="0" lang="en-US" sz="1800" u="none">
                <a:solidFill>
                  <a:schemeClr val="dk1"/>
                </a:solidFill>
                <a:latin typeface="Helvetica Neue"/>
                <a:ea typeface="Helvetica Neue"/>
                <a:cs typeface="Helvetica Neue"/>
                <a:sym typeface="Helvetica Neue"/>
              </a:rPr>
              <a:t>		(select </a:t>
            </a:r>
            <a:r>
              <a:rPr b="0" i="1" lang="en-US" sz="1800" u="none">
                <a:solidFill>
                  <a:schemeClr val="dk1"/>
                </a:solidFill>
                <a:latin typeface="Helvetica Neue"/>
                <a:ea typeface="Helvetica Neue"/>
                <a:cs typeface="Helvetica Neue"/>
                <a:sym typeface="Helvetica Neue"/>
              </a:rPr>
              <a:t>customer-name, account-number</a:t>
            </a:r>
            <a:br>
              <a:rPr b="0" i="1" lang="en-US" sz="1800" u="none">
                <a:solidFill>
                  <a:schemeClr val="dk1"/>
                </a:solidFill>
                <a:latin typeface="Helvetica Neue"/>
                <a:ea typeface="Helvetica Neue"/>
                <a:cs typeface="Helvetica Neue"/>
                <a:sym typeface="Helvetica Neue"/>
              </a:rPr>
            </a:br>
            <a:r>
              <a:rPr b="0" i="1" lang="en-US" sz="1800" u="none">
                <a:solidFill>
                  <a:schemeClr val="dk1"/>
                </a:solidFill>
                <a:latin typeface="Helvetica Neue"/>
                <a:ea typeface="Helvetica Neue"/>
                <a:cs typeface="Helvetica Neue"/>
                <a:sym typeface="Helvetica Neue"/>
              </a:rPr>
              <a:t>   </a:t>
            </a:r>
            <a:r>
              <a:rPr b="1" i="0" lang="en-US" sz="1800" u="none">
                <a:solidFill>
                  <a:schemeClr val="dk1"/>
                </a:solidFill>
                <a:latin typeface="Helvetica Neue"/>
                <a:ea typeface="Helvetica Neue"/>
                <a:cs typeface="Helvetica Neue"/>
                <a:sym typeface="Helvetica Neue"/>
              </a:rPr>
              <a:t>		 from </a:t>
            </a:r>
            <a:r>
              <a:rPr b="0" i="1" lang="en-US" sz="1800" u="none">
                <a:solidFill>
                  <a:schemeClr val="dk1"/>
                </a:solidFill>
                <a:latin typeface="Helvetica Neue"/>
                <a:ea typeface="Helvetica Neue"/>
                <a:cs typeface="Helvetica Neue"/>
                <a:sym typeface="Helvetica Neue"/>
              </a:rPr>
              <a:t>depositor</a:t>
            </a:r>
            <a:br>
              <a:rPr b="0" i="1" lang="en-US" sz="1800" u="none">
                <a:solidFill>
                  <a:schemeClr val="dk1"/>
                </a:solidFill>
                <a:latin typeface="Helvetica Neue"/>
                <a:ea typeface="Helvetica Neue"/>
                <a:cs typeface="Helvetica Neue"/>
                <a:sym typeface="Helvetica Neue"/>
              </a:rPr>
            </a:br>
            <a:r>
              <a:rPr b="0" i="1" lang="en-US" sz="1800" u="none">
                <a:solidFill>
                  <a:schemeClr val="dk1"/>
                </a:solidFill>
                <a:latin typeface="Helvetica Neue"/>
                <a:ea typeface="Helvetica Neue"/>
                <a:cs typeface="Helvetica Neue"/>
                <a:sym typeface="Helvetica Neue"/>
              </a:rPr>
              <a:t> </a:t>
            </a:r>
            <a:r>
              <a:rPr b="1" i="0" lang="en-US" sz="1800" u="none">
                <a:solidFill>
                  <a:schemeClr val="dk1"/>
                </a:solidFill>
                <a:latin typeface="Helvetica Neue"/>
                <a:ea typeface="Helvetica Neue"/>
                <a:cs typeface="Helvetica Neue"/>
                <a:sym typeface="Helvetica Neue"/>
              </a:rPr>
              <a:t>		 where </a:t>
            </a:r>
            <a:r>
              <a:rPr b="0" i="1" lang="en-US" sz="1800" u="none">
                <a:solidFill>
                  <a:schemeClr val="dk1"/>
                </a:solidFill>
                <a:latin typeface="Helvetica Neue"/>
                <a:ea typeface="Helvetica Neue"/>
                <a:cs typeface="Helvetica Neue"/>
                <a:sym typeface="Helvetica Neue"/>
              </a:rPr>
              <a:t>nrow.account-number = </a:t>
            </a:r>
            <a:br>
              <a:rPr b="0" i="1" lang="en-US" sz="1800" u="none">
                <a:solidFill>
                  <a:schemeClr val="dk1"/>
                </a:solidFill>
                <a:latin typeface="Helvetica Neue"/>
                <a:ea typeface="Helvetica Neue"/>
                <a:cs typeface="Helvetica Neue"/>
                <a:sym typeface="Helvetica Neue"/>
              </a:rPr>
            </a:br>
            <a:r>
              <a:rPr b="0" i="1" lang="en-US" sz="1800" u="none">
                <a:solidFill>
                  <a:schemeClr val="dk1"/>
                </a:solidFill>
                <a:latin typeface="Helvetica Neue"/>
                <a:ea typeface="Helvetica Neue"/>
                <a:cs typeface="Helvetica Neue"/>
                <a:sym typeface="Helvetica Neue"/>
              </a:rPr>
              <a:t>                          depositor.account-number</a:t>
            </a:r>
            <a:r>
              <a:rPr b="0" i="0" lang="en-US" sz="1800" u="none">
                <a:solidFill>
                  <a:schemeClr val="dk1"/>
                </a:solidFill>
                <a:latin typeface="Helvetica Neue"/>
                <a:ea typeface="Helvetica Neue"/>
                <a:cs typeface="Helvetica Neue"/>
                <a:sym typeface="Helvetica Neue"/>
              </a:rPr>
              <a:t>);</a:t>
            </a:r>
            <a:br>
              <a:rPr b="0" i="0" lang="en-US" sz="1800" u="none">
                <a:solidFill>
                  <a:schemeClr val="dk1"/>
                </a:solidFill>
                <a:latin typeface="Helvetica Neue"/>
                <a:ea typeface="Helvetica Neue"/>
                <a:cs typeface="Helvetica Neue"/>
                <a:sym typeface="Helvetica Neue"/>
              </a:rPr>
            </a:br>
            <a:r>
              <a:rPr b="1" i="0" lang="en-US" sz="1800" u="none">
                <a:solidFill>
                  <a:schemeClr val="dk1"/>
                </a:solidFill>
                <a:latin typeface="Helvetica Neue"/>
                <a:ea typeface="Helvetica Neue"/>
                <a:cs typeface="Helvetica Neue"/>
                <a:sym typeface="Helvetica Neue"/>
              </a:rPr>
              <a:t>        insert into </a:t>
            </a:r>
            <a:r>
              <a:rPr b="0" i="1" lang="en-US" sz="1800" u="none">
                <a:solidFill>
                  <a:schemeClr val="dk1"/>
                </a:solidFill>
                <a:latin typeface="Helvetica Neue"/>
                <a:ea typeface="Helvetica Neue"/>
                <a:cs typeface="Helvetica Neue"/>
                <a:sym typeface="Helvetica Neue"/>
              </a:rPr>
              <a:t>loan </a:t>
            </a:r>
            <a:r>
              <a:rPr b="1" i="0" lang="en-US" sz="1800" u="none">
                <a:solidFill>
                  <a:schemeClr val="dk1"/>
                </a:solidFill>
                <a:latin typeface="Helvetica Neue"/>
                <a:ea typeface="Helvetica Neue"/>
                <a:cs typeface="Helvetica Neue"/>
                <a:sym typeface="Helvetica Neue"/>
              </a:rPr>
              <a:t>values</a:t>
            </a:r>
            <a:br>
              <a:rPr b="0" i="0" lang="en-US" sz="1800" u="none">
                <a:solidFill>
                  <a:schemeClr val="dk1"/>
                </a:solidFill>
                <a:latin typeface="Helvetica Neue"/>
                <a:ea typeface="Helvetica Neue"/>
                <a:cs typeface="Helvetica Neue"/>
                <a:sym typeface="Helvetica Neue"/>
              </a:rPr>
            </a:br>
            <a:r>
              <a:rPr b="0" i="0" lang="en-US" sz="1800" u="none">
                <a:solidFill>
                  <a:schemeClr val="dk1"/>
                </a:solidFill>
                <a:latin typeface="Helvetica Neue"/>
                <a:ea typeface="Helvetica Neue"/>
                <a:cs typeface="Helvetica Neue"/>
                <a:sym typeface="Helvetica Neue"/>
              </a:rPr>
              <a:t>		(n</a:t>
            </a:r>
            <a:r>
              <a:rPr b="0" i="1" lang="en-US" sz="1800" u="none">
                <a:solidFill>
                  <a:schemeClr val="dk1"/>
                </a:solidFill>
                <a:latin typeface="Helvetica Neue"/>
                <a:ea typeface="Helvetica Neue"/>
                <a:cs typeface="Helvetica Neue"/>
                <a:sym typeface="Helvetica Neue"/>
              </a:rPr>
              <a:t>.row.account-number, nrow.branch-name, </a:t>
            </a:r>
            <a:br>
              <a:rPr b="0" i="1" lang="en-US" sz="1800" u="none">
                <a:solidFill>
                  <a:schemeClr val="dk1"/>
                </a:solidFill>
                <a:latin typeface="Helvetica Neue"/>
                <a:ea typeface="Helvetica Neue"/>
                <a:cs typeface="Helvetica Neue"/>
                <a:sym typeface="Helvetica Neue"/>
              </a:rPr>
            </a:br>
            <a:r>
              <a:rPr b="0" i="1" lang="en-US" sz="1800" u="none">
                <a:solidFill>
                  <a:schemeClr val="dk1"/>
                </a:solidFill>
                <a:latin typeface="Helvetica Neue"/>
                <a:ea typeface="Helvetica Neue"/>
                <a:cs typeface="Helvetica Neue"/>
                <a:sym typeface="Helvetica Neue"/>
              </a:rPr>
              <a:t>                                                                – nrow.balance</a:t>
            </a:r>
            <a:r>
              <a:rPr b="0" i="0" lang="en-US" sz="1800" u="none">
                <a:solidFill>
                  <a:schemeClr val="dk1"/>
                </a:solidFill>
                <a:latin typeface="Helvetica Neue"/>
                <a:ea typeface="Helvetica Neue"/>
                <a:cs typeface="Helvetica Neue"/>
                <a:sym typeface="Helvetica Neue"/>
              </a:rPr>
              <a:t>);</a:t>
            </a:r>
            <a:br>
              <a:rPr b="0" i="0" lang="en-US" sz="1800" u="none">
                <a:solidFill>
                  <a:schemeClr val="dk1"/>
                </a:solidFill>
                <a:latin typeface="Helvetica Neue"/>
                <a:ea typeface="Helvetica Neue"/>
                <a:cs typeface="Helvetica Neue"/>
                <a:sym typeface="Helvetica Neue"/>
              </a:rPr>
            </a:br>
            <a:r>
              <a:rPr b="0" i="0" lang="en-US" sz="1800" u="none">
                <a:solidFill>
                  <a:schemeClr val="dk1"/>
                </a:solidFill>
                <a:latin typeface="Helvetica Neue"/>
                <a:ea typeface="Helvetica Neue"/>
                <a:cs typeface="Helvetica Neue"/>
                <a:sym typeface="Helvetica Neue"/>
              </a:rPr>
              <a:t>       </a:t>
            </a:r>
            <a:r>
              <a:rPr b="1" i="0" lang="en-US" sz="1800" u="none">
                <a:solidFill>
                  <a:schemeClr val="dk1"/>
                </a:solidFill>
                <a:latin typeface="Helvetica Neue"/>
                <a:ea typeface="Helvetica Neue"/>
                <a:cs typeface="Helvetica Neue"/>
                <a:sym typeface="Helvetica Neue"/>
              </a:rPr>
              <a:t> update </a:t>
            </a:r>
            <a:r>
              <a:rPr b="0" i="1" lang="en-US" sz="1800" u="none">
                <a:solidFill>
                  <a:schemeClr val="dk1"/>
                </a:solidFill>
                <a:latin typeface="Helvetica Neue"/>
                <a:ea typeface="Helvetica Neue"/>
                <a:cs typeface="Helvetica Neue"/>
                <a:sym typeface="Helvetica Neue"/>
              </a:rPr>
              <a:t>account </a:t>
            </a:r>
            <a:r>
              <a:rPr b="1" i="0" lang="en-US" sz="1800" u="none">
                <a:solidFill>
                  <a:schemeClr val="dk1"/>
                </a:solidFill>
                <a:latin typeface="Helvetica Neue"/>
                <a:ea typeface="Helvetica Neue"/>
                <a:cs typeface="Helvetica Neue"/>
                <a:sym typeface="Helvetica Neue"/>
              </a:rPr>
              <a:t>set </a:t>
            </a:r>
            <a:r>
              <a:rPr b="0" i="1" lang="en-US" sz="1800" u="none">
                <a:solidFill>
                  <a:schemeClr val="dk1"/>
                </a:solidFill>
                <a:latin typeface="Helvetica Neue"/>
                <a:ea typeface="Helvetica Neue"/>
                <a:cs typeface="Helvetica Neue"/>
                <a:sym typeface="Helvetica Neue"/>
              </a:rPr>
              <a:t>balance </a:t>
            </a:r>
            <a:r>
              <a:rPr b="0" i="0" lang="en-US" sz="1800" u="none">
                <a:solidFill>
                  <a:schemeClr val="dk1"/>
                </a:solidFill>
                <a:latin typeface="Helvetica Neue"/>
                <a:ea typeface="Helvetica Neue"/>
                <a:cs typeface="Helvetica Neue"/>
                <a:sym typeface="Helvetica Neue"/>
              </a:rPr>
              <a:t>= 0</a:t>
            </a:r>
            <a:br>
              <a:rPr b="0" i="0" lang="en-US" sz="1800" u="none">
                <a:solidFill>
                  <a:schemeClr val="dk1"/>
                </a:solidFill>
                <a:latin typeface="Helvetica Neue"/>
                <a:ea typeface="Helvetica Neue"/>
                <a:cs typeface="Helvetica Neue"/>
                <a:sym typeface="Helvetica Neue"/>
              </a:rPr>
            </a:br>
            <a:r>
              <a:rPr b="1" i="0" lang="en-US" sz="1800" u="none">
                <a:solidFill>
                  <a:schemeClr val="dk1"/>
                </a:solidFill>
                <a:latin typeface="Helvetica Neue"/>
                <a:ea typeface="Helvetica Neue"/>
                <a:cs typeface="Helvetica Neue"/>
                <a:sym typeface="Helvetica Neue"/>
              </a:rPr>
              <a:t>	where </a:t>
            </a:r>
            <a:r>
              <a:rPr b="0" i="1" lang="en-US" sz="1800" u="none">
                <a:solidFill>
                  <a:schemeClr val="dk1"/>
                </a:solidFill>
                <a:latin typeface="Helvetica Neue"/>
                <a:ea typeface="Helvetica Neue"/>
                <a:cs typeface="Helvetica Neue"/>
                <a:sym typeface="Helvetica Neue"/>
              </a:rPr>
              <a:t>account.account-number = nrow.account-number</a:t>
            </a:r>
            <a:br>
              <a:rPr b="0" i="1" lang="en-US" sz="1800" u="none">
                <a:solidFill>
                  <a:schemeClr val="dk1"/>
                </a:solidFill>
                <a:latin typeface="Helvetica Neue"/>
                <a:ea typeface="Helvetica Neue"/>
                <a:cs typeface="Helvetica Neue"/>
                <a:sym typeface="Helvetica Neue"/>
              </a:rPr>
            </a:br>
            <a:r>
              <a:rPr b="1" i="0" lang="en-US" sz="1800" u="none">
                <a:solidFill>
                  <a:schemeClr val="dk1"/>
                </a:solidFill>
                <a:latin typeface="Helvetica Neue"/>
                <a:ea typeface="Helvetica Neue"/>
                <a:cs typeface="Helvetica Neue"/>
                <a:sym typeface="Helvetica Neue"/>
              </a:rPr>
              <a:t>end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220" name="Shape 220"/>
        <p:cNvGrpSpPr/>
        <p:nvPr/>
      </p:nvGrpSpPr>
      <p:grpSpPr>
        <a:xfrm>
          <a:off x="0" y="0"/>
          <a:ext cx="0" cy="0"/>
          <a:chOff x="0" y="0"/>
          <a:chExt cx="0" cy="0"/>
        </a:xfrm>
      </p:grpSpPr>
      <p:sp>
        <p:nvSpPr>
          <p:cNvPr id="221" name="Google Shape;221;p30"/>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en-US" sz="2400" u="none">
                <a:solidFill>
                  <a:schemeClr val="dk1"/>
                </a:solidFill>
                <a:latin typeface="Times New Roman"/>
                <a:ea typeface="Times New Roman"/>
                <a:cs typeface="Times New Roman"/>
                <a:sym typeface="Times New Roman"/>
              </a:rPr>
              <a:t>‹#›</a:t>
            </a:fld>
            <a:endParaRPr/>
          </a:p>
        </p:txBody>
      </p:sp>
      <p:sp>
        <p:nvSpPr>
          <p:cNvPr id="222" name="Google Shape;222;p30"/>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Triggering Events and Actions in SQL</a:t>
            </a:r>
            <a:endParaRPr/>
          </a:p>
        </p:txBody>
      </p:sp>
      <p:sp>
        <p:nvSpPr>
          <p:cNvPr id="223" name="Google Shape;223;p30"/>
          <p:cNvSpPr txBox="1"/>
          <p:nvPr>
            <p:ph idx="4294967295" type="body"/>
          </p:nvPr>
        </p:nvSpPr>
        <p:spPr>
          <a:xfrm>
            <a:off x="685800" y="1114425"/>
            <a:ext cx="8153400" cy="5362575"/>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Triggering event can be </a:t>
            </a:r>
            <a:r>
              <a:rPr b="1" i="0" lang="en-US" sz="1800" u="none">
                <a:solidFill>
                  <a:schemeClr val="dk1"/>
                </a:solidFill>
                <a:latin typeface="Helvetica Neue"/>
                <a:ea typeface="Helvetica Neue"/>
                <a:cs typeface="Helvetica Neue"/>
                <a:sym typeface="Helvetica Neue"/>
              </a:rPr>
              <a:t>insert</a:t>
            </a:r>
            <a:r>
              <a:rPr b="0" i="0" lang="en-US" sz="1800" u="none">
                <a:solidFill>
                  <a:schemeClr val="dk1"/>
                </a:solidFill>
                <a:latin typeface="Helvetica Neue"/>
                <a:ea typeface="Helvetica Neue"/>
                <a:cs typeface="Helvetica Neue"/>
                <a:sym typeface="Helvetica Neue"/>
              </a:rPr>
              <a:t>, </a:t>
            </a:r>
            <a:r>
              <a:rPr b="1" i="0" lang="en-US" sz="1800" u="none">
                <a:solidFill>
                  <a:schemeClr val="dk1"/>
                </a:solidFill>
                <a:latin typeface="Helvetica Neue"/>
                <a:ea typeface="Helvetica Neue"/>
                <a:cs typeface="Helvetica Neue"/>
                <a:sym typeface="Helvetica Neue"/>
              </a:rPr>
              <a:t>delete</a:t>
            </a:r>
            <a:r>
              <a:rPr b="0" i="0" lang="en-US" sz="1800" u="none">
                <a:solidFill>
                  <a:schemeClr val="dk1"/>
                </a:solidFill>
                <a:latin typeface="Helvetica Neue"/>
                <a:ea typeface="Helvetica Neue"/>
                <a:cs typeface="Helvetica Neue"/>
                <a:sym typeface="Helvetica Neue"/>
              </a:rPr>
              <a:t> or </a:t>
            </a:r>
            <a:r>
              <a:rPr b="1" i="0" lang="en-US" sz="1800" u="none">
                <a:solidFill>
                  <a:schemeClr val="dk1"/>
                </a:solidFill>
                <a:latin typeface="Helvetica Neue"/>
                <a:ea typeface="Helvetica Neue"/>
                <a:cs typeface="Helvetica Neue"/>
                <a:sym typeface="Helvetica Neue"/>
              </a:rPr>
              <a:t>update</a:t>
            </a:r>
            <a:endParaRPr/>
          </a:p>
          <a:p>
            <a:pPr indent="-342900" lvl="0" marL="342900" marR="0" rtl="0" algn="l">
              <a:lnSpc>
                <a:spcPct val="9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Triggers on update can be restricted to specific attributes</a:t>
            </a:r>
            <a:endParaRPr/>
          </a:p>
          <a:p>
            <a:pPr indent="-285750" lvl="1" marL="742950" marR="0" rtl="0" algn="l">
              <a:lnSpc>
                <a:spcPct val="90000"/>
              </a:lnSpc>
              <a:spcBef>
                <a:spcPts val="630"/>
              </a:spcBef>
              <a:spcAft>
                <a:spcPts val="0"/>
              </a:spcAft>
              <a:buClr>
                <a:schemeClr val="hlink"/>
              </a:buClr>
              <a:buSzPts val="1440"/>
              <a:buFont typeface="Arial"/>
              <a:buChar char="●"/>
            </a:pPr>
            <a:r>
              <a:rPr b="1" i="0" lang="en-US" sz="1800" u="none" cap="none" strike="noStrike">
                <a:solidFill>
                  <a:schemeClr val="dk1"/>
                </a:solidFill>
                <a:latin typeface="Helvetica Neue"/>
                <a:ea typeface="Helvetica Neue"/>
                <a:cs typeface="Helvetica Neue"/>
                <a:sym typeface="Helvetica Neue"/>
              </a:rPr>
              <a:t>E.g.  create trigger </a:t>
            </a:r>
            <a:r>
              <a:rPr b="0" i="1" lang="en-US" sz="1800" u="none" cap="none" strike="noStrike">
                <a:solidFill>
                  <a:schemeClr val="dk1"/>
                </a:solidFill>
                <a:latin typeface="Helvetica Neue"/>
                <a:ea typeface="Helvetica Neue"/>
                <a:cs typeface="Helvetica Neue"/>
                <a:sym typeface="Helvetica Neue"/>
              </a:rPr>
              <a:t>overdraft-trigger </a:t>
            </a:r>
            <a:r>
              <a:rPr b="1" i="0" lang="en-US" sz="1800" u="none" cap="none" strike="noStrike">
                <a:solidFill>
                  <a:schemeClr val="dk1"/>
                </a:solidFill>
                <a:latin typeface="Helvetica Neue"/>
                <a:ea typeface="Helvetica Neue"/>
                <a:cs typeface="Helvetica Neue"/>
                <a:sym typeface="Helvetica Neue"/>
              </a:rPr>
              <a:t>after update of </a:t>
            </a:r>
            <a:r>
              <a:rPr b="0" i="1" lang="en-US" sz="1800" u="none" cap="none" strike="noStrike">
                <a:solidFill>
                  <a:schemeClr val="dk1"/>
                </a:solidFill>
                <a:latin typeface="Helvetica Neue"/>
                <a:ea typeface="Helvetica Neue"/>
                <a:cs typeface="Helvetica Neue"/>
                <a:sym typeface="Helvetica Neue"/>
              </a:rPr>
              <a:t>balance </a:t>
            </a:r>
            <a:r>
              <a:rPr b="1" i="0" lang="en-US" sz="1800" u="none" cap="none" strike="noStrike">
                <a:solidFill>
                  <a:schemeClr val="dk1"/>
                </a:solidFill>
                <a:latin typeface="Helvetica Neue"/>
                <a:ea typeface="Helvetica Neue"/>
                <a:cs typeface="Helvetica Neue"/>
                <a:sym typeface="Helvetica Neue"/>
              </a:rPr>
              <a:t>on</a:t>
            </a:r>
            <a:r>
              <a:rPr b="0" i="1" lang="en-US" sz="1800" u="none" cap="none" strike="noStrike">
                <a:solidFill>
                  <a:schemeClr val="dk1"/>
                </a:solidFill>
                <a:latin typeface="Helvetica Neue"/>
                <a:ea typeface="Helvetica Neue"/>
                <a:cs typeface="Helvetica Neue"/>
                <a:sym typeface="Helvetica Neue"/>
              </a:rPr>
              <a:t> account</a:t>
            </a:r>
            <a:endParaRPr/>
          </a:p>
          <a:p>
            <a:pPr indent="-342900" lvl="0" marL="342900" marR="0" rtl="0" algn="l">
              <a:lnSpc>
                <a:spcPct val="9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Values of attributes before and after an update can be referenced</a:t>
            </a:r>
            <a:endParaRPr/>
          </a:p>
          <a:p>
            <a:pPr indent="-285750" lvl="1" marL="742950" marR="0" rtl="0" algn="l">
              <a:lnSpc>
                <a:spcPct val="90000"/>
              </a:lnSpc>
              <a:spcBef>
                <a:spcPts val="630"/>
              </a:spcBef>
              <a:spcAft>
                <a:spcPts val="0"/>
              </a:spcAft>
              <a:buClr>
                <a:schemeClr val="hlink"/>
              </a:buClr>
              <a:buSzPts val="1440"/>
              <a:buFont typeface="Arial"/>
              <a:buChar char="●"/>
            </a:pPr>
            <a:r>
              <a:rPr b="1" i="0" lang="en-US" sz="1800" u="none" cap="none" strike="noStrike">
                <a:solidFill>
                  <a:schemeClr val="dk1"/>
                </a:solidFill>
                <a:latin typeface="Helvetica Neue"/>
                <a:ea typeface="Helvetica Neue"/>
                <a:cs typeface="Helvetica Neue"/>
                <a:sym typeface="Helvetica Neue"/>
              </a:rPr>
              <a:t>referencing old row as</a:t>
            </a:r>
            <a:r>
              <a:rPr b="0" i="0" lang="en-US" sz="1800" u="none" cap="none" strike="noStrike">
                <a:solidFill>
                  <a:schemeClr val="dk1"/>
                </a:solidFill>
                <a:latin typeface="Helvetica Neue"/>
                <a:ea typeface="Helvetica Neue"/>
                <a:cs typeface="Helvetica Neue"/>
                <a:sym typeface="Helvetica Neue"/>
              </a:rPr>
              <a:t>   : for deletes and updates</a:t>
            </a:r>
            <a:endParaRPr/>
          </a:p>
          <a:p>
            <a:pPr indent="-285750" lvl="1" marL="742950" marR="0" rtl="0" algn="l">
              <a:lnSpc>
                <a:spcPct val="90000"/>
              </a:lnSpc>
              <a:spcBef>
                <a:spcPts val="630"/>
              </a:spcBef>
              <a:spcAft>
                <a:spcPts val="0"/>
              </a:spcAft>
              <a:buClr>
                <a:schemeClr val="hlink"/>
              </a:buClr>
              <a:buSzPts val="1440"/>
              <a:buFont typeface="Arial"/>
              <a:buChar char="●"/>
            </a:pPr>
            <a:r>
              <a:rPr b="1" i="0" lang="en-US" sz="1800" u="none" cap="none" strike="noStrike">
                <a:solidFill>
                  <a:schemeClr val="dk1"/>
                </a:solidFill>
                <a:latin typeface="Helvetica Neue"/>
                <a:ea typeface="Helvetica Neue"/>
                <a:cs typeface="Helvetica Neue"/>
                <a:sym typeface="Helvetica Neue"/>
              </a:rPr>
              <a:t>referencing new row as  : </a:t>
            </a:r>
            <a:r>
              <a:rPr b="0" i="0" lang="en-US" sz="1800" u="none" cap="none" strike="noStrike">
                <a:solidFill>
                  <a:schemeClr val="dk1"/>
                </a:solidFill>
                <a:latin typeface="Helvetica Neue"/>
                <a:ea typeface="Helvetica Neue"/>
                <a:cs typeface="Helvetica Neue"/>
                <a:sym typeface="Helvetica Neue"/>
              </a:rPr>
              <a:t>for inserts and updates</a:t>
            </a:r>
            <a:endParaRPr b="1" i="0" sz="1800" u="none" cap="none" strike="noStrike">
              <a:solidFill>
                <a:schemeClr val="dk1"/>
              </a:solidFill>
              <a:latin typeface="Helvetica Neue"/>
              <a:ea typeface="Helvetica Neue"/>
              <a:cs typeface="Helvetica Neue"/>
              <a:sym typeface="Helvetica Neue"/>
            </a:endParaRPr>
          </a:p>
          <a:p>
            <a:pPr indent="-342900" lvl="0" marL="342900" marR="0" rtl="0" algn="l">
              <a:lnSpc>
                <a:spcPct val="9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Triggers can be activated before an event, which can serve as extra constraints.  E.g. convert blanks to null.</a:t>
            </a:r>
            <a:endParaRPr/>
          </a:p>
          <a:p>
            <a:pPr indent="-342900" lvl="0" marL="342900" marR="0" rtl="0" algn="l">
              <a:lnSpc>
                <a:spcPct val="80000"/>
              </a:lnSpc>
              <a:spcBef>
                <a:spcPts val="630"/>
              </a:spcBef>
              <a:spcAft>
                <a:spcPts val="0"/>
              </a:spcAft>
              <a:buClr>
                <a:schemeClr val="dk2"/>
              </a:buClr>
              <a:buSzPts val="1620"/>
              <a:buFont typeface="Arial"/>
              <a:buNone/>
            </a:pPr>
            <a:r>
              <a:rPr b="1" i="0" lang="en-US" sz="1800" u="none">
                <a:solidFill>
                  <a:schemeClr val="dk1"/>
                </a:solidFill>
                <a:latin typeface="Helvetica Neue"/>
                <a:ea typeface="Helvetica Neue"/>
                <a:cs typeface="Helvetica Neue"/>
                <a:sym typeface="Helvetica Neue"/>
              </a:rPr>
              <a:t>		create trigger </a:t>
            </a:r>
            <a:r>
              <a:rPr b="0" i="1" lang="en-US" sz="1800" u="none">
                <a:solidFill>
                  <a:schemeClr val="dk1"/>
                </a:solidFill>
                <a:latin typeface="Helvetica Neue"/>
                <a:ea typeface="Helvetica Neue"/>
                <a:cs typeface="Helvetica Neue"/>
                <a:sym typeface="Helvetica Neue"/>
              </a:rPr>
              <a:t>setnull-trigger </a:t>
            </a:r>
            <a:r>
              <a:rPr b="1" i="0" lang="en-US" sz="1800" u="none">
                <a:solidFill>
                  <a:schemeClr val="dk1"/>
                </a:solidFill>
                <a:latin typeface="Helvetica Neue"/>
                <a:ea typeface="Helvetica Neue"/>
                <a:cs typeface="Helvetica Neue"/>
                <a:sym typeface="Helvetica Neue"/>
              </a:rPr>
              <a:t>before update on </a:t>
            </a:r>
            <a:r>
              <a:rPr b="0" i="1" lang="en-US" sz="1800" u="none">
                <a:solidFill>
                  <a:schemeClr val="dk1"/>
                </a:solidFill>
                <a:latin typeface="Helvetica Neue"/>
                <a:ea typeface="Helvetica Neue"/>
                <a:cs typeface="Helvetica Neue"/>
                <a:sym typeface="Helvetica Neue"/>
              </a:rPr>
              <a:t>r</a:t>
            </a:r>
            <a:br>
              <a:rPr b="0" i="1" lang="en-US" sz="1800" u="none">
                <a:solidFill>
                  <a:schemeClr val="dk1"/>
                </a:solidFill>
                <a:latin typeface="Helvetica Neue"/>
                <a:ea typeface="Helvetica Neue"/>
                <a:cs typeface="Helvetica Neue"/>
                <a:sym typeface="Helvetica Neue"/>
              </a:rPr>
            </a:br>
            <a:r>
              <a:rPr b="1" i="0" lang="en-US" sz="1800" u="none">
                <a:solidFill>
                  <a:schemeClr val="dk1"/>
                </a:solidFill>
                <a:latin typeface="Helvetica Neue"/>
                <a:ea typeface="Helvetica Neue"/>
                <a:cs typeface="Helvetica Neue"/>
                <a:sym typeface="Helvetica Neue"/>
              </a:rPr>
              <a:t>	referencing new row as </a:t>
            </a:r>
            <a:r>
              <a:rPr b="0" i="1" lang="en-US" sz="1800" u="none">
                <a:solidFill>
                  <a:schemeClr val="dk1"/>
                </a:solidFill>
                <a:latin typeface="Helvetica Neue"/>
                <a:ea typeface="Helvetica Neue"/>
                <a:cs typeface="Helvetica Neue"/>
                <a:sym typeface="Helvetica Neue"/>
              </a:rPr>
              <a:t>nrow</a:t>
            </a:r>
            <a:br>
              <a:rPr b="0" i="1" lang="en-US" sz="1800" u="none">
                <a:solidFill>
                  <a:schemeClr val="dk1"/>
                </a:solidFill>
                <a:latin typeface="Helvetica Neue"/>
                <a:ea typeface="Helvetica Neue"/>
                <a:cs typeface="Helvetica Neue"/>
                <a:sym typeface="Helvetica Neue"/>
              </a:rPr>
            </a:br>
            <a:r>
              <a:rPr b="1" i="0" lang="en-US" sz="1800" u="none">
                <a:solidFill>
                  <a:schemeClr val="dk1"/>
                </a:solidFill>
                <a:latin typeface="Helvetica Neue"/>
                <a:ea typeface="Helvetica Neue"/>
                <a:cs typeface="Helvetica Neue"/>
                <a:sym typeface="Helvetica Neue"/>
              </a:rPr>
              <a:t>	for each row</a:t>
            </a:r>
            <a:br>
              <a:rPr b="1" i="0" lang="en-US" sz="1800" u="none">
                <a:solidFill>
                  <a:schemeClr val="dk1"/>
                </a:solidFill>
                <a:latin typeface="Helvetica Neue"/>
                <a:ea typeface="Helvetica Neue"/>
                <a:cs typeface="Helvetica Neue"/>
                <a:sym typeface="Helvetica Neue"/>
              </a:rPr>
            </a:br>
            <a:r>
              <a:rPr b="1" i="0" lang="en-US" sz="1800" u="none">
                <a:solidFill>
                  <a:schemeClr val="dk1"/>
                </a:solidFill>
                <a:latin typeface="Helvetica Neue"/>
                <a:ea typeface="Helvetica Neue"/>
                <a:cs typeface="Helvetica Neue"/>
                <a:sym typeface="Helvetica Neue"/>
              </a:rPr>
              <a:t>	    when </a:t>
            </a:r>
            <a:r>
              <a:rPr b="0" i="1" lang="en-US" sz="1800" u="none">
                <a:solidFill>
                  <a:schemeClr val="dk1"/>
                </a:solidFill>
                <a:latin typeface="Helvetica Neue"/>
                <a:ea typeface="Helvetica Neue"/>
                <a:cs typeface="Helvetica Neue"/>
                <a:sym typeface="Helvetica Neue"/>
              </a:rPr>
              <a:t>nrow.phone-number = ‘ ‘</a:t>
            </a:r>
            <a:br>
              <a:rPr b="0" i="1" lang="en-US" sz="1800" u="none">
                <a:solidFill>
                  <a:schemeClr val="dk1"/>
                </a:solidFill>
                <a:latin typeface="Helvetica Neue"/>
                <a:ea typeface="Helvetica Neue"/>
                <a:cs typeface="Helvetica Neue"/>
                <a:sym typeface="Helvetica Neue"/>
              </a:rPr>
            </a:br>
            <a:r>
              <a:rPr b="1" i="0" lang="en-US" sz="1800" u="none">
                <a:solidFill>
                  <a:schemeClr val="dk1"/>
                </a:solidFill>
                <a:latin typeface="Helvetica Neue"/>
                <a:ea typeface="Helvetica Neue"/>
                <a:cs typeface="Helvetica Neue"/>
                <a:sym typeface="Helvetica Neue"/>
              </a:rPr>
              <a:t>	    set </a:t>
            </a:r>
            <a:r>
              <a:rPr b="0" i="1" lang="en-US" sz="1800" u="none">
                <a:solidFill>
                  <a:schemeClr val="dk1"/>
                </a:solidFill>
                <a:latin typeface="Helvetica Neue"/>
                <a:ea typeface="Helvetica Neue"/>
                <a:cs typeface="Helvetica Neue"/>
                <a:sym typeface="Helvetica Neue"/>
              </a:rPr>
              <a:t>nrow.phone-number </a:t>
            </a:r>
            <a:r>
              <a:rPr b="0" i="0" lang="en-US" sz="1800" u="none">
                <a:solidFill>
                  <a:schemeClr val="dk1"/>
                </a:solidFill>
                <a:latin typeface="Helvetica Neue"/>
                <a:ea typeface="Helvetica Neue"/>
                <a:cs typeface="Helvetica Neue"/>
                <a:sym typeface="Helvetica Neue"/>
              </a:rPr>
              <a:t>= </a:t>
            </a:r>
            <a:r>
              <a:rPr b="1" i="0" lang="en-US" sz="1800" u="none">
                <a:solidFill>
                  <a:schemeClr val="dk1"/>
                </a:solidFill>
                <a:latin typeface="Helvetica Neue"/>
                <a:ea typeface="Helvetica Neue"/>
                <a:cs typeface="Helvetica Neue"/>
                <a:sym typeface="Helvetica Neue"/>
              </a:rPr>
              <a:t>null</a:t>
            </a:r>
            <a:endParaRPr/>
          </a:p>
          <a:p>
            <a:pPr indent="-342900" lvl="0" marL="342900" marR="0" rtl="0" algn="l">
              <a:lnSpc>
                <a:spcPct val="90000"/>
              </a:lnSpc>
              <a:spcBef>
                <a:spcPts val="630"/>
              </a:spcBef>
              <a:spcAft>
                <a:spcPts val="0"/>
              </a:spcAft>
              <a:buClr>
                <a:schemeClr val="dk2"/>
              </a:buClr>
              <a:buSzPts val="1620"/>
              <a:buFont typeface="Arial"/>
              <a:buNone/>
            </a:pPr>
            <a:r>
              <a:t/>
            </a:r>
            <a:endParaRPr b="0" i="0" sz="1800" u="none">
              <a:solidFill>
                <a:schemeClr val="dk1"/>
              </a:solidFill>
              <a:latin typeface="Helvetica Neue"/>
              <a:ea typeface="Helvetica Neue"/>
              <a:cs typeface="Helvetica Neue"/>
              <a:sym typeface="Helvetica Neue"/>
            </a:endParaRPr>
          </a:p>
          <a:p>
            <a:pPr indent="-240030" lvl="0" marL="342900" marR="0" rtl="0" algn="l">
              <a:lnSpc>
                <a:spcPct val="100000"/>
              </a:lnSpc>
              <a:spcBef>
                <a:spcPts val="630"/>
              </a:spcBef>
              <a:spcAft>
                <a:spcPts val="0"/>
              </a:spcAft>
              <a:buClr>
                <a:schemeClr val="dk2"/>
              </a:buClr>
              <a:buSzPts val="1620"/>
              <a:buFont typeface="Arial"/>
              <a:buNone/>
            </a:pPr>
            <a:r>
              <a:t/>
            </a:r>
            <a:endParaRPr b="0" i="0" sz="1800" u="none">
              <a:solidFill>
                <a:schemeClr val="dk1"/>
              </a:solidFill>
              <a:latin typeface="Helvetica Neue"/>
              <a:ea typeface="Helvetica Neue"/>
              <a:cs typeface="Helvetica Neue"/>
              <a:sym typeface="Helvetica Neue"/>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227" name="Shape 227"/>
        <p:cNvGrpSpPr/>
        <p:nvPr/>
      </p:nvGrpSpPr>
      <p:grpSpPr>
        <a:xfrm>
          <a:off x="0" y="0"/>
          <a:ext cx="0" cy="0"/>
          <a:chOff x="0" y="0"/>
          <a:chExt cx="0" cy="0"/>
        </a:xfrm>
      </p:grpSpPr>
      <p:sp>
        <p:nvSpPr>
          <p:cNvPr id="228" name="Google Shape;228;p31"/>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en-US" sz="2400" u="none">
                <a:solidFill>
                  <a:schemeClr val="dk1"/>
                </a:solidFill>
                <a:latin typeface="Times New Roman"/>
                <a:ea typeface="Times New Roman"/>
                <a:cs typeface="Times New Roman"/>
                <a:sym typeface="Times New Roman"/>
              </a:rPr>
              <a:t>‹#›</a:t>
            </a:fld>
            <a:endParaRPr/>
          </a:p>
        </p:txBody>
      </p:sp>
      <p:sp>
        <p:nvSpPr>
          <p:cNvPr id="229" name="Google Shape;229;p31"/>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Statement Level Triggers</a:t>
            </a:r>
            <a:endParaRPr/>
          </a:p>
        </p:txBody>
      </p:sp>
      <p:sp>
        <p:nvSpPr>
          <p:cNvPr id="230" name="Google Shape;230;p31"/>
          <p:cNvSpPr txBox="1"/>
          <p:nvPr>
            <p:ph idx="1" type="body"/>
          </p:nvPr>
        </p:nvSpPr>
        <p:spPr>
          <a:xfrm>
            <a:off x="814387" y="1093787"/>
            <a:ext cx="7661275" cy="4903787"/>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Instead of executing a separate action for each affected row, a single action can be executed for all rows affected by a transaction</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Use     </a:t>
            </a:r>
            <a:r>
              <a:rPr b="1" i="0" lang="en-US" sz="1800" u="none" cap="none" strike="noStrike">
                <a:solidFill>
                  <a:schemeClr val="dk1"/>
                </a:solidFill>
                <a:latin typeface="Helvetica Neue"/>
                <a:ea typeface="Helvetica Neue"/>
                <a:cs typeface="Helvetica Neue"/>
                <a:sym typeface="Helvetica Neue"/>
              </a:rPr>
              <a:t>for each statement      </a:t>
            </a:r>
            <a:r>
              <a:rPr b="0" i="0" lang="en-US" sz="1800" u="none" cap="none" strike="noStrike">
                <a:solidFill>
                  <a:schemeClr val="dk1"/>
                </a:solidFill>
                <a:latin typeface="Helvetica Neue"/>
                <a:ea typeface="Helvetica Neue"/>
                <a:cs typeface="Helvetica Neue"/>
                <a:sym typeface="Helvetica Neue"/>
              </a:rPr>
              <a:t>instead of    </a:t>
            </a:r>
            <a:r>
              <a:rPr b="1" i="0" lang="en-US" sz="1800" u="none" cap="none" strike="noStrike">
                <a:solidFill>
                  <a:schemeClr val="dk1"/>
                </a:solidFill>
                <a:latin typeface="Helvetica Neue"/>
                <a:ea typeface="Helvetica Neue"/>
                <a:cs typeface="Helvetica Neue"/>
                <a:sym typeface="Helvetica Neue"/>
              </a:rPr>
              <a:t>for each row</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Use     </a:t>
            </a:r>
            <a:r>
              <a:rPr b="1" i="0" lang="en-US" sz="1800" u="none" cap="none" strike="noStrike">
                <a:solidFill>
                  <a:schemeClr val="dk1"/>
                </a:solidFill>
                <a:latin typeface="Helvetica Neue"/>
                <a:ea typeface="Helvetica Neue"/>
                <a:cs typeface="Helvetica Neue"/>
                <a:sym typeface="Helvetica Neue"/>
              </a:rPr>
              <a:t>referencing old table</a:t>
            </a:r>
            <a:r>
              <a:rPr b="0" i="0" lang="en-US" sz="1800" u="none" cap="none" strike="noStrike">
                <a:solidFill>
                  <a:schemeClr val="dk1"/>
                </a:solidFill>
                <a:latin typeface="Helvetica Neue"/>
                <a:ea typeface="Helvetica Neue"/>
                <a:cs typeface="Helvetica Neue"/>
                <a:sym typeface="Helvetica Neue"/>
              </a:rPr>
              <a:t>   or   </a:t>
            </a:r>
            <a:r>
              <a:rPr b="1" i="0" lang="en-US" sz="1800" u="none" cap="none" strike="noStrike">
                <a:solidFill>
                  <a:schemeClr val="dk1"/>
                </a:solidFill>
                <a:latin typeface="Helvetica Neue"/>
                <a:ea typeface="Helvetica Neue"/>
                <a:cs typeface="Helvetica Neue"/>
                <a:sym typeface="Helvetica Neue"/>
              </a:rPr>
              <a:t>referencing new table</a:t>
            </a:r>
            <a:r>
              <a:rPr b="0" i="0" lang="en-US" sz="1800" u="none" cap="none" strike="noStrike">
                <a:solidFill>
                  <a:schemeClr val="dk1"/>
                </a:solidFill>
                <a:latin typeface="Helvetica Neue"/>
                <a:ea typeface="Helvetica Neue"/>
                <a:cs typeface="Helvetica Neue"/>
                <a:sym typeface="Helvetica Neue"/>
              </a:rPr>
              <a:t>   to refer to temporary tables  (called </a:t>
            </a:r>
            <a:r>
              <a:rPr b="1" i="1" lang="en-US" sz="1800" u="none" cap="none" strike="noStrike">
                <a:solidFill>
                  <a:schemeClr val="dk2"/>
                </a:solidFill>
                <a:latin typeface="Helvetica Neue"/>
                <a:ea typeface="Helvetica Neue"/>
                <a:cs typeface="Helvetica Neue"/>
                <a:sym typeface="Helvetica Neue"/>
              </a:rPr>
              <a:t>transition tables</a:t>
            </a:r>
            <a:r>
              <a:rPr b="0" i="0" lang="en-US" sz="1800" u="none" cap="none" strike="noStrike">
                <a:solidFill>
                  <a:schemeClr val="dk1"/>
                </a:solidFill>
                <a:latin typeface="Helvetica Neue"/>
                <a:ea typeface="Helvetica Neue"/>
                <a:cs typeface="Helvetica Neue"/>
                <a:sym typeface="Helvetica Neue"/>
              </a:rPr>
              <a:t>) containing the affected rows</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Can be more efficient when dealing with SQL statements that update a large number of rows</a:t>
            </a:r>
            <a:endParaRPr/>
          </a:p>
          <a:p>
            <a:pPr indent="-240030" lvl="0" marL="342900" marR="0" rtl="0" algn="l">
              <a:lnSpc>
                <a:spcPct val="100000"/>
              </a:lnSpc>
              <a:spcBef>
                <a:spcPts val="630"/>
              </a:spcBef>
              <a:spcAft>
                <a:spcPts val="0"/>
              </a:spcAft>
              <a:buClr>
                <a:schemeClr val="dk2"/>
              </a:buClr>
              <a:buSzPts val="1620"/>
              <a:buFont typeface="Arial"/>
              <a:buNone/>
            </a:pPr>
            <a:r>
              <a:t/>
            </a:r>
            <a:endParaRPr b="0" i="0" sz="1800" u="none" cap="none" strike="noStrike">
              <a:solidFill>
                <a:schemeClr val="dk1"/>
              </a:solidFill>
              <a:latin typeface="Helvetica Neue"/>
              <a:ea typeface="Helvetica Neue"/>
              <a:cs typeface="Helvetica Neue"/>
              <a:sym typeface="Helvetica Neue"/>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234" name="Shape 234"/>
        <p:cNvGrpSpPr/>
        <p:nvPr/>
      </p:nvGrpSpPr>
      <p:grpSpPr>
        <a:xfrm>
          <a:off x="0" y="0"/>
          <a:ext cx="0" cy="0"/>
          <a:chOff x="0" y="0"/>
          <a:chExt cx="0" cy="0"/>
        </a:xfrm>
      </p:grpSpPr>
      <p:sp>
        <p:nvSpPr>
          <p:cNvPr id="235" name="Google Shape;235;p32"/>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en-US" sz="2400" u="none">
                <a:solidFill>
                  <a:schemeClr val="dk1"/>
                </a:solidFill>
                <a:latin typeface="Times New Roman"/>
                <a:ea typeface="Times New Roman"/>
                <a:cs typeface="Times New Roman"/>
                <a:sym typeface="Times New Roman"/>
              </a:rPr>
              <a:t>‹#›</a:t>
            </a:fld>
            <a:endParaRPr/>
          </a:p>
        </p:txBody>
      </p:sp>
      <p:sp>
        <p:nvSpPr>
          <p:cNvPr id="236" name="Google Shape;236;p32"/>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External World Actions</a:t>
            </a:r>
            <a:endParaRPr/>
          </a:p>
        </p:txBody>
      </p:sp>
      <p:sp>
        <p:nvSpPr>
          <p:cNvPr id="237" name="Google Shape;237;p32"/>
          <p:cNvSpPr txBox="1"/>
          <p:nvPr>
            <p:ph idx="1" type="body"/>
          </p:nvPr>
        </p:nvSpPr>
        <p:spPr>
          <a:xfrm>
            <a:off x="571500" y="1114425"/>
            <a:ext cx="8115300" cy="4876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We sometimes require external world actions to be triggered on a database update</a:t>
            </a:r>
            <a:endParaRPr/>
          </a:p>
          <a:p>
            <a:pPr indent="-285750" lvl="1" marL="742950" marR="0" rtl="0" algn="l">
              <a:lnSpc>
                <a:spcPct val="9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E.g. re-ordering an item whose quantity in a warehouse has become small, or turning on an alarm light, </a:t>
            </a:r>
            <a:endParaRPr/>
          </a:p>
          <a:p>
            <a:pPr indent="-342900" lvl="0" marL="342900" marR="0" rtl="0" algn="l">
              <a:lnSpc>
                <a:spcPct val="9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Triggers cannot be used to directly implement external-world actions, BUT</a:t>
            </a:r>
            <a:endParaRPr/>
          </a:p>
          <a:p>
            <a:pPr indent="-285750" lvl="1" marL="742950" marR="0" rtl="0" algn="l">
              <a:lnSpc>
                <a:spcPct val="9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Triggers can be used to record actions-to-be-taken in a separate table</a:t>
            </a:r>
            <a:endParaRPr/>
          </a:p>
          <a:p>
            <a:pPr indent="-285750" lvl="1" marL="742950" marR="0" rtl="0" algn="l">
              <a:lnSpc>
                <a:spcPct val="9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Have an external process that repeatedly scans the table, carries out external-world actions and deletes action from table</a:t>
            </a:r>
            <a:endParaRPr/>
          </a:p>
          <a:p>
            <a:pPr indent="-342900" lvl="0" marL="342900" marR="0" rtl="0" algn="l">
              <a:lnSpc>
                <a:spcPct val="9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E.g.  Suppose a warehouse has the following tables</a:t>
            </a:r>
            <a:endParaRPr/>
          </a:p>
          <a:p>
            <a:pPr indent="-285750" lvl="1" marL="742950" marR="0" rtl="0" algn="l">
              <a:lnSpc>
                <a:spcPct val="90000"/>
              </a:lnSpc>
              <a:spcBef>
                <a:spcPts val="630"/>
              </a:spcBef>
              <a:spcAft>
                <a:spcPts val="0"/>
              </a:spcAft>
              <a:buClr>
                <a:schemeClr val="hlink"/>
              </a:buClr>
              <a:buSzPts val="1440"/>
              <a:buFont typeface="Arial"/>
              <a:buChar char="●"/>
            </a:pPr>
            <a:r>
              <a:rPr b="0" i="1" lang="en-US" sz="1800" u="none" cap="none" strike="noStrike">
                <a:solidFill>
                  <a:schemeClr val="dk1"/>
                </a:solidFill>
                <a:latin typeface="Helvetica Neue"/>
                <a:ea typeface="Helvetica Neue"/>
                <a:cs typeface="Helvetica Neue"/>
                <a:sym typeface="Helvetica Neue"/>
              </a:rPr>
              <a:t>inventory </a:t>
            </a:r>
            <a:r>
              <a:rPr b="0" i="0" lang="en-US" sz="1800" u="none" cap="none" strike="noStrike">
                <a:solidFill>
                  <a:schemeClr val="dk1"/>
                </a:solidFill>
                <a:latin typeface="Helvetica Neue"/>
                <a:ea typeface="Helvetica Neue"/>
                <a:cs typeface="Helvetica Neue"/>
                <a:sym typeface="Helvetica Neue"/>
              </a:rPr>
              <a:t>(</a:t>
            </a:r>
            <a:r>
              <a:rPr b="0" i="1" lang="en-US" sz="1800" u="none" cap="none" strike="noStrike">
                <a:solidFill>
                  <a:schemeClr val="dk1"/>
                </a:solidFill>
                <a:latin typeface="Helvetica Neue"/>
                <a:ea typeface="Helvetica Neue"/>
                <a:cs typeface="Helvetica Neue"/>
                <a:sym typeface="Helvetica Neue"/>
              </a:rPr>
              <a:t>item, level </a:t>
            </a:r>
            <a:r>
              <a:rPr b="0" i="0" lang="en-US" sz="1800" u="none" cap="none" strike="noStrike">
                <a:solidFill>
                  <a:schemeClr val="dk1"/>
                </a:solidFill>
                <a:latin typeface="Helvetica Neue"/>
                <a:ea typeface="Helvetica Neue"/>
                <a:cs typeface="Helvetica Neue"/>
                <a:sym typeface="Helvetica Neue"/>
              </a:rPr>
              <a:t>)</a:t>
            </a:r>
            <a:r>
              <a:rPr b="0" i="1" lang="en-US" sz="1800" u="none" cap="none" strike="noStrike">
                <a:solidFill>
                  <a:schemeClr val="dk1"/>
                </a:solidFill>
                <a:latin typeface="Helvetica Neue"/>
                <a:ea typeface="Helvetica Neue"/>
                <a:cs typeface="Helvetica Neue"/>
                <a:sym typeface="Helvetica Neue"/>
              </a:rPr>
              <a:t>:  </a:t>
            </a:r>
            <a:r>
              <a:rPr b="0" i="0" lang="en-US" sz="1800" u="none" cap="none" strike="noStrike">
                <a:solidFill>
                  <a:schemeClr val="dk1"/>
                </a:solidFill>
                <a:latin typeface="Helvetica Neue"/>
                <a:ea typeface="Helvetica Neue"/>
                <a:cs typeface="Helvetica Neue"/>
                <a:sym typeface="Helvetica Neue"/>
              </a:rPr>
              <a:t>How much of each item is in the warehouse</a:t>
            </a:r>
            <a:endParaRPr/>
          </a:p>
          <a:p>
            <a:pPr indent="-285750" lvl="1" marL="742950" marR="0" rtl="0" algn="l">
              <a:lnSpc>
                <a:spcPct val="90000"/>
              </a:lnSpc>
              <a:spcBef>
                <a:spcPts val="630"/>
              </a:spcBef>
              <a:spcAft>
                <a:spcPts val="0"/>
              </a:spcAft>
              <a:buClr>
                <a:schemeClr val="hlink"/>
              </a:buClr>
              <a:buSzPts val="1440"/>
              <a:buFont typeface="Arial"/>
              <a:buChar char="●"/>
            </a:pPr>
            <a:r>
              <a:rPr b="0" i="1" lang="en-US" sz="1800" u="none" cap="none" strike="noStrike">
                <a:solidFill>
                  <a:schemeClr val="dk1"/>
                </a:solidFill>
                <a:latin typeface="Helvetica Neue"/>
                <a:ea typeface="Helvetica Neue"/>
                <a:cs typeface="Helvetica Neue"/>
                <a:sym typeface="Helvetica Neue"/>
              </a:rPr>
              <a:t>minlevel </a:t>
            </a:r>
            <a:r>
              <a:rPr b="0" i="0" lang="en-US" sz="1800" u="none" cap="none" strike="noStrike">
                <a:solidFill>
                  <a:schemeClr val="dk1"/>
                </a:solidFill>
                <a:latin typeface="Helvetica Neue"/>
                <a:ea typeface="Helvetica Neue"/>
                <a:cs typeface="Helvetica Neue"/>
                <a:sym typeface="Helvetica Neue"/>
              </a:rPr>
              <a:t>(</a:t>
            </a:r>
            <a:r>
              <a:rPr b="0" i="1" lang="en-US" sz="1800" u="none" cap="none" strike="noStrike">
                <a:solidFill>
                  <a:schemeClr val="dk1"/>
                </a:solidFill>
                <a:latin typeface="Helvetica Neue"/>
                <a:ea typeface="Helvetica Neue"/>
                <a:cs typeface="Helvetica Neue"/>
                <a:sym typeface="Helvetica Neue"/>
              </a:rPr>
              <a:t>item, level </a:t>
            </a:r>
            <a:r>
              <a:rPr b="0" i="0" lang="en-US" sz="1800" u="none" cap="none" strike="noStrike">
                <a:solidFill>
                  <a:schemeClr val="dk1"/>
                </a:solidFill>
                <a:latin typeface="Helvetica Neue"/>
                <a:ea typeface="Helvetica Neue"/>
                <a:cs typeface="Helvetica Neue"/>
                <a:sym typeface="Helvetica Neue"/>
              </a:rPr>
              <a:t>)</a:t>
            </a:r>
            <a:r>
              <a:rPr b="0" i="1" lang="en-US" sz="1800" u="none" cap="none" strike="noStrike">
                <a:solidFill>
                  <a:schemeClr val="dk1"/>
                </a:solidFill>
                <a:latin typeface="Helvetica Neue"/>
                <a:ea typeface="Helvetica Neue"/>
                <a:cs typeface="Helvetica Neue"/>
                <a:sym typeface="Helvetica Neue"/>
              </a:rPr>
              <a:t> :   </a:t>
            </a:r>
            <a:r>
              <a:rPr b="0" i="0" lang="en-US" sz="1800" u="none" cap="none" strike="noStrike">
                <a:solidFill>
                  <a:schemeClr val="dk1"/>
                </a:solidFill>
                <a:latin typeface="Helvetica Neue"/>
                <a:ea typeface="Helvetica Neue"/>
                <a:cs typeface="Helvetica Neue"/>
                <a:sym typeface="Helvetica Neue"/>
              </a:rPr>
              <a:t>What is the minimum desired level of each item</a:t>
            </a:r>
            <a:endParaRPr/>
          </a:p>
          <a:p>
            <a:pPr indent="-285750" lvl="1" marL="742950" marR="0" rtl="0" algn="l">
              <a:lnSpc>
                <a:spcPct val="90000"/>
              </a:lnSpc>
              <a:spcBef>
                <a:spcPts val="630"/>
              </a:spcBef>
              <a:spcAft>
                <a:spcPts val="0"/>
              </a:spcAft>
              <a:buClr>
                <a:schemeClr val="hlink"/>
              </a:buClr>
              <a:buSzPts val="1440"/>
              <a:buFont typeface="Arial"/>
              <a:buChar char="●"/>
            </a:pPr>
            <a:r>
              <a:rPr b="0" i="1" lang="en-US" sz="1800" u="none" cap="none" strike="noStrike">
                <a:solidFill>
                  <a:schemeClr val="dk1"/>
                </a:solidFill>
                <a:latin typeface="Helvetica Neue"/>
                <a:ea typeface="Helvetica Neue"/>
                <a:cs typeface="Helvetica Neue"/>
                <a:sym typeface="Helvetica Neue"/>
              </a:rPr>
              <a:t>reorder </a:t>
            </a:r>
            <a:r>
              <a:rPr b="0" i="0" lang="en-US" sz="1800" u="none" cap="none" strike="noStrike">
                <a:solidFill>
                  <a:schemeClr val="dk1"/>
                </a:solidFill>
                <a:latin typeface="Helvetica Neue"/>
                <a:ea typeface="Helvetica Neue"/>
                <a:cs typeface="Helvetica Neue"/>
                <a:sym typeface="Helvetica Neue"/>
              </a:rPr>
              <a:t>(</a:t>
            </a:r>
            <a:r>
              <a:rPr b="0" i="1" lang="en-US" sz="1800" u="none" cap="none" strike="noStrike">
                <a:solidFill>
                  <a:schemeClr val="dk1"/>
                </a:solidFill>
                <a:latin typeface="Helvetica Neue"/>
                <a:ea typeface="Helvetica Neue"/>
                <a:cs typeface="Helvetica Neue"/>
                <a:sym typeface="Helvetica Neue"/>
              </a:rPr>
              <a:t>item, amount </a:t>
            </a:r>
            <a:r>
              <a:rPr b="0" i="0" lang="en-US" sz="1800" u="none" cap="none" strike="noStrike">
                <a:solidFill>
                  <a:schemeClr val="dk1"/>
                </a:solidFill>
                <a:latin typeface="Helvetica Neue"/>
                <a:ea typeface="Helvetica Neue"/>
                <a:cs typeface="Helvetica Neue"/>
                <a:sym typeface="Helvetica Neue"/>
              </a:rPr>
              <a:t>)</a:t>
            </a:r>
            <a:r>
              <a:rPr b="0" i="1" lang="en-US" sz="1800" u="none" cap="none" strike="noStrike">
                <a:solidFill>
                  <a:schemeClr val="dk1"/>
                </a:solidFill>
                <a:latin typeface="Helvetica Neue"/>
                <a:ea typeface="Helvetica Neue"/>
                <a:cs typeface="Helvetica Neue"/>
                <a:sym typeface="Helvetica Neue"/>
              </a:rPr>
              <a:t>:  </a:t>
            </a:r>
            <a:r>
              <a:rPr b="0" i="0" lang="en-US" sz="1800" u="none" cap="none" strike="noStrike">
                <a:solidFill>
                  <a:schemeClr val="dk1"/>
                </a:solidFill>
                <a:latin typeface="Helvetica Neue"/>
                <a:ea typeface="Helvetica Neue"/>
                <a:cs typeface="Helvetica Neue"/>
                <a:sym typeface="Helvetica Neue"/>
              </a:rPr>
              <a:t>What quantity should we re-order at a time</a:t>
            </a:r>
            <a:endParaRPr/>
          </a:p>
          <a:p>
            <a:pPr indent="-285750" lvl="1" marL="742950" marR="0" rtl="0" algn="l">
              <a:lnSpc>
                <a:spcPct val="90000"/>
              </a:lnSpc>
              <a:spcBef>
                <a:spcPts val="630"/>
              </a:spcBef>
              <a:spcAft>
                <a:spcPts val="0"/>
              </a:spcAft>
              <a:buClr>
                <a:schemeClr val="hlink"/>
              </a:buClr>
              <a:buSzPts val="1440"/>
              <a:buFont typeface="Arial"/>
              <a:buChar char="●"/>
            </a:pPr>
            <a:r>
              <a:rPr b="0" i="1" lang="en-US" sz="1800" u="none" cap="none" strike="noStrike">
                <a:solidFill>
                  <a:schemeClr val="dk1"/>
                </a:solidFill>
                <a:latin typeface="Helvetica Neue"/>
                <a:ea typeface="Helvetica Neue"/>
                <a:cs typeface="Helvetica Neue"/>
                <a:sym typeface="Helvetica Neue"/>
              </a:rPr>
              <a:t>orders </a:t>
            </a:r>
            <a:r>
              <a:rPr b="0" i="0" lang="en-US" sz="1800" u="none" cap="none" strike="noStrike">
                <a:solidFill>
                  <a:schemeClr val="dk1"/>
                </a:solidFill>
                <a:latin typeface="Helvetica Neue"/>
                <a:ea typeface="Helvetica Neue"/>
                <a:cs typeface="Helvetica Neue"/>
                <a:sym typeface="Helvetica Neue"/>
              </a:rPr>
              <a:t>(</a:t>
            </a:r>
            <a:r>
              <a:rPr b="0" i="1" lang="en-US" sz="1800" u="none" cap="none" strike="noStrike">
                <a:solidFill>
                  <a:schemeClr val="dk1"/>
                </a:solidFill>
                <a:latin typeface="Helvetica Neue"/>
                <a:ea typeface="Helvetica Neue"/>
                <a:cs typeface="Helvetica Neue"/>
                <a:sym typeface="Helvetica Neue"/>
              </a:rPr>
              <a:t>item, amount </a:t>
            </a:r>
            <a:r>
              <a:rPr b="0" i="0" lang="en-US" sz="1800" u="none" cap="none" strike="noStrike">
                <a:solidFill>
                  <a:schemeClr val="dk1"/>
                </a:solidFill>
                <a:latin typeface="Helvetica Neue"/>
                <a:ea typeface="Helvetica Neue"/>
                <a:cs typeface="Helvetica Neue"/>
                <a:sym typeface="Helvetica Neue"/>
              </a:rPr>
              <a:t>)</a:t>
            </a:r>
            <a:r>
              <a:rPr b="0" i="1" lang="en-US" sz="1800" u="none" cap="none" strike="noStrike">
                <a:solidFill>
                  <a:schemeClr val="dk1"/>
                </a:solidFill>
                <a:latin typeface="Helvetica Neue"/>
                <a:ea typeface="Helvetica Neue"/>
                <a:cs typeface="Helvetica Neue"/>
                <a:sym typeface="Helvetica Neue"/>
              </a:rPr>
              <a:t>  :  </a:t>
            </a:r>
            <a:r>
              <a:rPr b="0" i="0" lang="en-US" sz="1800" u="none" cap="none" strike="noStrike">
                <a:solidFill>
                  <a:schemeClr val="dk1"/>
                </a:solidFill>
                <a:latin typeface="Helvetica Neue"/>
                <a:ea typeface="Helvetica Neue"/>
                <a:cs typeface="Helvetica Neue"/>
                <a:sym typeface="Helvetica Neue"/>
              </a:rPr>
              <a:t>Orders to be placed (read by external process)</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241" name="Shape 241"/>
        <p:cNvGrpSpPr/>
        <p:nvPr/>
      </p:nvGrpSpPr>
      <p:grpSpPr>
        <a:xfrm>
          <a:off x="0" y="0"/>
          <a:ext cx="0" cy="0"/>
          <a:chOff x="0" y="0"/>
          <a:chExt cx="0" cy="0"/>
        </a:xfrm>
      </p:grpSpPr>
      <p:sp>
        <p:nvSpPr>
          <p:cNvPr id="242" name="Google Shape;242;p33"/>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en-US" sz="2400" u="none">
                <a:solidFill>
                  <a:schemeClr val="dk1"/>
                </a:solidFill>
                <a:latin typeface="Times New Roman"/>
                <a:ea typeface="Times New Roman"/>
                <a:cs typeface="Times New Roman"/>
                <a:sym typeface="Times New Roman"/>
              </a:rPr>
              <a:t>‹#›</a:t>
            </a:fld>
            <a:endParaRPr/>
          </a:p>
        </p:txBody>
      </p:sp>
      <p:sp>
        <p:nvSpPr>
          <p:cNvPr id="243" name="Google Shape;243;p33"/>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External World Actions (Cont.)</a:t>
            </a:r>
            <a:endParaRPr/>
          </a:p>
        </p:txBody>
      </p:sp>
      <p:sp>
        <p:nvSpPr>
          <p:cNvPr id="244" name="Google Shape;244;p33"/>
          <p:cNvSpPr txBox="1"/>
          <p:nvPr>
            <p:ph idx="4294967295" type="body"/>
          </p:nvPr>
        </p:nvSpPr>
        <p:spPr>
          <a:xfrm>
            <a:off x="304800" y="1114425"/>
            <a:ext cx="8153400" cy="4829175"/>
          </a:xfrm>
          <a:prstGeom prst="rect">
            <a:avLst/>
          </a:prstGeom>
          <a:noFill/>
          <a:ln>
            <a:noFill/>
          </a:ln>
        </p:spPr>
        <p:txBody>
          <a:bodyPr anchorCtr="0" anchor="t" bIns="45700" lIns="91425" spcFirstLastPara="1" rIns="91425" wrap="square" tIns="45700">
            <a:noAutofit/>
          </a:bodyPr>
          <a:lstStyle/>
          <a:p>
            <a:pPr indent="-342900" lvl="0" marL="342900" marR="0" rtl="0" algn="l">
              <a:lnSpc>
                <a:spcPct val="70000"/>
              </a:lnSpc>
              <a:spcBef>
                <a:spcPts val="0"/>
              </a:spcBef>
              <a:spcAft>
                <a:spcPts val="0"/>
              </a:spcAft>
              <a:buClr>
                <a:schemeClr val="dk2"/>
              </a:buClr>
              <a:buSzPts val="1620"/>
              <a:buFont typeface="Arial"/>
              <a:buNone/>
            </a:pPr>
            <a:r>
              <a:rPr b="1" i="0" lang="en-US" sz="1800" u="none">
                <a:solidFill>
                  <a:schemeClr val="dk1"/>
                </a:solidFill>
                <a:latin typeface="Helvetica Neue"/>
                <a:ea typeface="Helvetica Neue"/>
                <a:cs typeface="Helvetica Neue"/>
                <a:sym typeface="Helvetica Neue"/>
              </a:rPr>
              <a:t>create trigger </a:t>
            </a:r>
            <a:r>
              <a:rPr b="0" i="1" lang="en-US" sz="1800" u="none">
                <a:solidFill>
                  <a:schemeClr val="dk1"/>
                </a:solidFill>
                <a:latin typeface="Helvetica Neue"/>
                <a:ea typeface="Helvetica Neue"/>
                <a:cs typeface="Helvetica Neue"/>
                <a:sym typeface="Helvetica Neue"/>
              </a:rPr>
              <a:t>reorder-trigger </a:t>
            </a:r>
            <a:r>
              <a:rPr b="1" i="0" lang="en-US" sz="1800" u="none">
                <a:solidFill>
                  <a:schemeClr val="dk1"/>
                </a:solidFill>
                <a:latin typeface="Helvetica Neue"/>
                <a:ea typeface="Helvetica Neue"/>
                <a:cs typeface="Helvetica Neue"/>
                <a:sym typeface="Helvetica Neue"/>
              </a:rPr>
              <a:t>after update of </a:t>
            </a:r>
            <a:r>
              <a:rPr b="0" i="1" lang="en-US" sz="1800" u="none">
                <a:solidFill>
                  <a:schemeClr val="dk1"/>
                </a:solidFill>
                <a:latin typeface="Helvetica Neue"/>
                <a:ea typeface="Helvetica Neue"/>
                <a:cs typeface="Helvetica Neue"/>
                <a:sym typeface="Helvetica Neue"/>
              </a:rPr>
              <a:t>amount </a:t>
            </a:r>
            <a:r>
              <a:rPr b="1" i="0" lang="en-US" sz="1800" u="none">
                <a:solidFill>
                  <a:schemeClr val="dk1"/>
                </a:solidFill>
                <a:latin typeface="Helvetica Neue"/>
                <a:ea typeface="Helvetica Neue"/>
                <a:cs typeface="Helvetica Neue"/>
                <a:sym typeface="Helvetica Neue"/>
              </a:rPr>
              <a:t>on </a:t>
            </a:r>
            <a:r>
              <a:rPr b="0" i="1" lang="en-US" sz="1800" u="none">
                <a:solidFill>
                  <a:schemeClr val="dk1"/>
                </a:solidFill>
                <a:latin typeface="Helvetica Neue"/>
                <a:ea typeface="Helvetica Neue"/>
                <a:cs typeface="Helvetica Neue"/>
                <a:sym typeface="Helvetica Neue"/>
              </a:rPr>
              <a:t>inventory</a:t>
            </a:r>
            <a:endParaRPr/>
          </a:p>
          <a:p>
            <a:pPr indent="-342900" lvl="0" marL="342900" marR="0" rtl="0" algn="l">
              <a:lnSpc>
                <a:spcPct val="70000"/>
              </a:lnSpc>
              <a:spcBef>
                <a:spcPts val="630"/>
              </a:spcBef>
              <a:spcAft>
                <a:spcPts val="0"/>
              </a:spcAft>
              <a:buClr>
                <a:schemeClr val="dk2"/>
              </a:buClr>
              <a:buSzPts val="1620"/>
              <a:buFont typeface="Arial"/>
              <a:buNone/>
            </a:pPr>
            <a:r>
              <a:rPr b="1" i="0" lang="en-US" sz="1800" u="none">
                <a:solidFill>
                  <a:schemeClr val="dk1"/>
                </a:solidFill>
                <a:latin typeface="Helvetica Neue"/>
                <a:ea typeface="Helvetica Neue"/>
                <a:cs typeface="Helvetica Neue"/>
                <a:sym typeface="Helvetica Neue"/>
              </a:rPr>
              <a:t>referencing old row as </a:t>
            </a:r>
            <a:r>
              <a:rPr b="0" i="1" lang="en-US" sz="1800" u="none">
                <a:solidFill>
                  <a:schemeClr val="dk1"/>
                </a:solidFill>
                <a:latin typeface="Helvetica Neue"/>
                <a:ea typeface="Helvetica Neue"/>
                <a:cs typeface="Helvetica Neue"/>
                <a:sym typeface="Helvetica Neue"/>
              </a:rPr>
              <a:t>orow</a:t>
            </a:r>
            <a:r>
              <a:rPr b="0" i="0" lang="en-US" sz="1800" u="none">
                <a:solidFill>
                  <a:schemeClr val="dk1"/>
                </a:solidFill>
                <a:latin typeface="Helvetica Neue"/>
                <a:ea typeface="Helvetica Neue"/>
                <a:cs typeface="Helvetica Neue"/>
                <a:sym typeface="Helvetica Neue"/>
              </a:rPr>
              <a:t>, </a:t>
            </a:r>
            <a:r>
              <a:rPr b="1" i="0" lang="en-US" sz="1800" u="none">
                <a:solidFill>
                  <a:schemeClr val="dk1"/>
                </a:solidFill>
                <a:latin typeface="Helvetica Neue"/>
                <a:ea typeface="Helvetica Neue"/>
                <a:cs typeface="Helvetica Neue"/>
                <a:sym typeface="Helvetica Neue"/>
              </a:rPr>
              <a:t>new row as </a:t>
            </a:r>
            <a:r>
              <a:rPr b="0" i="1" lang="en-US" sz="1800" u="none">
                <a:solidFill>
                  <a:schemeClr val="dk1"/>
                </a:solidFill>
                <a:latin typeface="Helvetica Neue"/>
                <a:ea typeface="Helvetica Neue"/>
                <a:cs typeface="Helvetica Neue"/>
                <a:sym typeface="Helvetica Neue"/>
              </a:rPr>
              <a:t>nrow</a:t>
            </a:r>
            <a:endParaRPr/>
          </a:p>
          <a:p>
            <a:pPr indent="-342900" lvl="0" marL="342900" marR="0" rtl="0" algn="l">
              <a:lnSpc>
                <a:spcPct val="70000"/>
              </a:lnSpc>
              <a:spcBef>
                <a:spcPts val="630"/>
              </a:spcBef>
              <a:spcAft>
                <a:spcPts val="0"/>
              </a:spcAft>
              <a:buClr>
                <a:schemeClr val="dk2"/>
              </a:buClr>
              <a:buSzPts val="1620"/>
              <a:buFont typeface="Arial"/>
              <a:buNone/>
            </a:pPr>
            <a:r>
              <a:rPr b="1" i="0" lang="en-US" sz="1800" u="none">
                <a:solidFill>
                  <a:schemeClr val="dk1"/>
                </a:solidFill>
                <a:latin typeface="Helvetica Neue"/>
                <a:ea typeface="Helvetica Neue"/>
                <a:cs typeface="Helvetica Neue"/>
                <a:sym typeface="Helvetica Neue"/>
              </a:rPr>
              <a:t>for each row</a:t>
            </a:r>
            <a:endParaRPr/>
          </a:p>
          <a:p>
            <a:pPr indent="-342900" lvl="0" marL="342900" marR="0" rtl="0" algn="l">
              <a:lnSpc>
                <a:spcPct val="70000"/>
              </a:lnSpc>
              <a:spcBef>
                <a:spcPts val="630"/>
              </a:spcBef>
              <a:spcAft>
                <a:spcPts val="0"/>
              </a:spcAft>
              <a:buClr>
                <a:schemeClr val="dk2"/>
              </a:buClr>
              <a:buSzPts val="1620"/>
              <a:buFont typeface="Arial"/>
              <a:buNone/>
            </a:pPr>
            <a:r>
              <a:rPr b="1" i="0" lang="en-US" sz="1800" u="none">
                <a:solidFill>
                  <a:schemeClr val="dk1"/>
                </a:solidFill>
                <a:latin typeface="Helvetica Neue"/>
                <a:ea typeface="Helvetica Neue"/>
                <a:cs typeface="Helvetica Neue"/>
                <a:sym typeface="Helvetica Neue"/>
              </a:rPr>
              <a:t>         when </a:t>
            </a:r>
            <a:r>
              <a:rPr b="0" i="1" lang="en-US" sz="1800" u="none">
                <a:solidFill>
                  <a:schemeClr val="dk1"/>
                </a:solidFill>
                <a:latin typeface="Helvetica Neue"/>
                <a:ea typeface="Helvetica Neue"/>
                <a:cs typeface="Helvetica Neue"/>
                <a:sym typeface="Helvetica Neue"/>
              </a:rPr>
              <a:t>nrow.level </a:t>
            </a:r>
            <a:r>
              <a:rPr b="0" i="0" lang="en-US" sz="1800" u="none">
                <a:solidFill>
                  <a:schemeClr val="dk1"/>
                </a:solidFill>
                <a:latin typeface="Helvetica Neue"/>
                <a:ea typeface="Helvetica Neue"/>
                <a:cs typeface="Helvetica Neue"/>
                <a:sym typeface="Helvetica Neue"/>
              </a:rPr>
              <a:t>&lt; = (</a:t>
            </a:r>
            <a:r>
              <a:rPr b="1" i="0" lang="en-US" sz="1800" u="none">
                <a:solidFill>
                  <a:schemeClr val="dk1"/>
                </a:solidFill>
                <a:latin typeface="Helvetica Neue"/>
                <a:ea typeface="Helvetica Neue"/>
                <a:cs typeface="Helvetica Neue"/>
                <a:sym typeface="Helvetica Neue"/>
              </a:rPr>
              <a:t>select </a:t>
            </a:r>
            <a:r>
              <a:rPr b="0" i="1" lang="en-US" sz="1800" u="none">
                <a:solidFill>
                  <a:schemeClr val="dk1"/>
                </a:solidFill>
                <a:latin typeface="Helvetica Neue"/>
                <a:ea typeface="Helvetica Neue"/>
                <a:cs typeface="Helvetica Neue"/>
                <a:sym typeface="Helvetica Neue"/>
              </a:rPr>
              <a:t>level</a:t>
            </a:r>
            <a:endParaRPr/>
          </a:p>
          <a:p>
            <a:pPr indent="-342900" lvl="0" marL="342900" marR="0" rtl="0" algn="l">
              <a:lnSpc>
                <a:spcPct val="70000"/>
              </a:lnSpc>
              <a:spcBef>
                <a:spcPts val="630"/>
              </a:spcBef>
              <a:spcAft>
                <a:spcPts val="0"/>
              </a:spcAft>
              <a:buClr>
                <a:schemeClr val="dk2"/>
              </a:buClr>
              <a:buSzPts val="1620"/>
              <a:buFont typeface="Arial"/>
              <a:buNone/>
            </a:pPr>
            <a:r>
              <a:rPr b="0" i="1" lang="en-US" sz="1800" u="none">
                <a:solidFill>
                  <a:schemeClr val="dk1"/>
                </a:solidFill>
                <a:latin typeface="Helvetica Neue"/>
                <a:ea typeface="Helvetica Neue"/>
                <a:cs typeface="Helvetica Neue"/>
                <a:sym typeface="Helvetica Neue"/>
              </a:rPr>
              <a:t>			                  </a:t>
            </a:r>
            <a:r>
              <a:rPr b="1" i="0" lang="en-US" sz="1800" u="none">
                <a:solidFill>
                  <a:schemeClr val="dk1"/>
                </a:solidFill>
                <a:latin typeface="Helvetica Neue"/>
                <a:ea typeface="Helvetica Neue"/>
                <a:cs typeface="Helvetica Neue"/>
                <a:sym typeface="Helvetica Neue"/>
              </a:rPr>
              <a:t>from </a:t>
            </a:r>
            <a:r>
              <a:rPr b="0" i="1" lang="en-US" sz="1800" u="none">
                <a:solidFill>
                  <a:schemeClr val="dk1"/>
                </a:solidFill>
                <a:latin typeface="Helvetica Neue"/>
                <a:ea typeface="Helvetica Neue"/>
                <a:cs typeface="Helvetica Neue"/>
                <a:sym typeface="Helvetica Neue"/>
              </a:rPr>
              <a:t>minlevel</a:t>
            </a:r>
            <a:endParaRPr/>
          </a:p>
          <a:p>
            <a:pPr indent="-342900" lvl="0" marL="342900" marR="0" rtl="0" algn="l">
              <a:lnSpc>
                <a:spcPct val="70000"/>
              </a:lnSpc>
              <a:spcBef>
                <a:spcPts val="630"/>
              </a:spcBef>
              <a:spcAft>
                <a:spcPts val="0"/>
              </a:spcAft>
              <a:buClr>
                <a:schemeClr val="dk2"/>
              </a:buClr>
              <a:buSzPts val="1620"/>
              <a:buFont typeface="Arial"/>
              <a:buNone/>
            </a:pPr>
            <a:r>
              <a:rPr b="0" i="1" lang="en-US" sz="1800" u="none">
                <a:solidFill>
                  <a:schemeClr val="dk1"/>
                </a:solidFill>
                <a:latin typeface="Helvetica Neue"/>
                <a:ea typeface="Helvetica Neue"/>
                <a:cs typeface="Helvetica Neue"/>
                <a:sym typeface="Helvetica Neue"/>
              </a:rPr>
              <a:t>			                  </a:t>
            </a:r>
            <a:r>
              <a:rPr b="1" i="0" lang="en-US" sz="1800" u="none">
                <a:solidFill>
                  <a:schemeClr val="dk1"/>
                </a:solidFill>
                <a:latin typeface="Helvetica Neue"/>
                <a:ea typeface="Helvetica Neue"/>
                <a:cs typeface="Helvetica Neue"/>
                <a:sym typeface="Helvetica Neue"/>
              </a:rPr>
              <a:t>where </a:t>
            </a:r>
            <a:r>
              <a:rPr b="0" i="1" lang="en-US" sz="1800" u="none">
                <a:solidFill>
                  <a:schemeClr val="dk1"/>
                </a:solidFill>
                <a:latin typeface="Helvetica Neue"/>
                <a:ea typeface="Helvetica Neue"/>
                <a:cs typeface="Helvetica Neue"/>
                <a:sym typeface="Helvetica Neue"/>
              </a:rPr>
              <a:t>minlevel.item = orow.item</a:t>
            </a:r>
            <a:r>
              <a:rPr b="0" i="0" lang="en-US" sz="1800" u="none">
                <a:solidFill>
                  <a:schemeClr val="dk1"/>
                </a:solidFill>
                <a:latin typeface="Helvetica Neue"/>
                <a:ea typeface="Helvetica Neue"/>
                <a:cs typeface="Helvetica Neue"/>
                <a:sym typeface="Helvetica Neue"/>
              </a:rPr>
              <a:t>)</a:t>
            </a:r>
            <a:endParaRPr/>
          </a:p>
          <a:p>
            <a:pPr indent="-342900" lvl="0" marL="342900" marR="0" rtl="0" algn="l">
              <a:lnSpc>
                <a:spcPct val="70000"/>
              </a:lnSpc>
              <a:spcBef>
                <a:spcPts val="630"/>
              </a:spcBef>
              <a:spcAft>
                <a:spcPts val="0"/>
              </a:spcAft>
              <a:buClr>
                <a:schemeClr val="dk2"/>
              </a:buClr>
              <a:buSzPts val="1620"/>
              <a:buFont typeface="Arial"/>
              <a:buNone/>
            </a:pPr>
            <a:r>
              <a:rPr b="1" i="0" lang="en-US" sz="1800" u="none">
                <a:solidFill>
                  <a:schemeClr val="dk1"/>
                </a:solidFill>
                <a:latin typeface="Helvetica Neue"/>
                <a:ea typeface="Helvetica Neue"/>
                <a:cs typeface="Helvetica Neue"/>
                <a:sym typeface="Helvetica Neue"/>
              </a:rPr>
              <a:t>                    and </a:t>
            </a:r>
            <a:r>
              <a:rPr b="0" i="1" lang="en-US" sz="1800" u="none">
                <a:solidFill>
                  <a:schemeClr val="dk1"/>
                </a:solidFill>
                <a:latin typeface="Helvetica Neue"/>
                <a:ea typeface="Helvetica Neue"/>
                <a:cs typeface="Helvetica Neue"/>
                <a:sym typeface="Helvetica Neue"/>
              </a:rPr>
              <a:t>orow.level </a:t>
            </a:r>
            <a:r>
              <a:rPr b="0" i="0" lang="en-US" sz="1800" u="none">
                <a:solidFill>
                  <a:schemeClr val="dk1"/>
                </a:solidFill>
                <a:latin typeface="Helvetica Neue"/>
                <a:ea typeface="Helvetica Neue"/>
                <a:cs typeface="Helvetica Neue"/>
                <a:sym typeface="Helvetica Neue"/>
              </a:rPr>
              <a:t>&gt; (</a:t>
            </a:r>
            <a:r>
              <a:rPr b="1" i="0" lang="en-US" sz="1800" u="none">
                <a:solidFill>
                  <a:schemeClr val="dk1"/>
                </a:solidFill>
                <a:latin typeface="Helvetica Neue"/>
                <a:ea typeface="Helvetica Neue"/>
                <a:cs typeface="Helvetica Neue"/>
                <a:sym typeface="Helvetica Neue"/>
              </a:rPr>
              <a:t>select </a:t>
            </a:r>
            <a:r>
              <a:rPr b="0" i="0" lang="en-US" sz="1800" u="none">
                <a:solidFill>
                  <a:schemeClr val="dk1"/>
                </a:solidFill>
                <a:latin typeface="Helvetica Neue"/>
                <a:ea typeface="Helvetica Neue"/>
                <a:cs typeface="Helvetica Neue"/>
                <a:sym typeface="Helvetica Neue"/>
              </a:rPr>
              <a:t>level</a:t>
            </a:r>
            <a:endParaRPr/>
          </a:p>
          <a:p>
            <a:pPr indent="-342900" lvl="0" marL="342900" marR="0" rtl="0" algn="l">
              <a:lnSpc>
                <a:spcPct val="70000"/>
              </a:lnSpc>
              <a:spcBef>
                <a:spcPts val="630"/>
              </a:spcBef>
              <a:spcAft>
                <a:spcPts val="0"/>
              </a:spcAft>
              <a:buClr>
                <a:schemeClr val="dk2"/>
              </a:buClr>
              <a:buSzPts val="1620"/>
              <a:buFont typeface="Arial"/>
              <a:buNone/>
            </a:pPr>
            <a:r>
              <a:rPr b="0" i="1" lang="en-US" sz="1800" u="none">
                <a:solidFill>
                  <a:schemeClr val="dk1"/>
                </a:solidFill>
                <a:latin typeface="Helvetica Neue"/>
                <a:ea typeface="Helvetica Neue"/>
                <a:cs typeface="Helvetica Neue"/>
                <a:sym typeface="Helvetica Neue"/>
              </a:rPr>
              <a:t>			                       </a:t>
            </a:r>
            <a:r>
              <a:rPr b="1" i="0" lang="en-US" sz="1800" u="none">
                <a:solidFill>
                  <a:schemeClr val="dk1"/>
                </a:solidFill>
                <a:latin typeface="Helvetica Neue"/>
                <a:ea typeface="Helvetica Neue"/>
                <a:cs typeface="Helvetica Neue"/>
                <a:sym typeface="Helvetica Neue"/>
              </a:rPr>
              <a:t>from </a:t>
            </a:r>
            <a:r>
              <a:rPr b="0" i="1" lang="en-US" sz="1800" u="none">
                <a:solidFill>
                  <a:schemeClr val="dk1"/>
                </a:solidFill>
                <a:latin typeface="Helvetica Neue"/>
                <a:ea typeface="Helvetica Neue"/>
                <a:cs typeface="Helvetica Neue"/>
                <a:sym typeface="Helvetica Neue"/>
              </a:rPr>
              <a:t>minlevel</a:t>
            </a:r>
            <a:endParaRPr/>
          </a:p>
          <a:p>
            <a:pPr indent="-342900" lvl="0" marL="342900" marR="0" rtl="0" algn="l">
              <a:lnSpc>
                <a:spcPct val="70000"/>
              </a:lnSpc>
              <a:spcBef>
                <a:spcPts val="630"/>
              </a:spcBef>
              <a:spcAft>
                <a:spcPts val="0"/>
              </a:spcAft>
              <a:buClr>
                <a:schemeClr val="dk2"/>
              </a:buClr>
              <a:buSzPts val="1620"/>
              <a:buFont typeface="Arial"/>
              <a:buNone/>
            </a:pPr>
            <a:r>
              <a:rPr b="0" i="1" lang="en-US" sz="1800" u="none">
                <a:solidFill>
                  <a:schemeClr val="dk1"/>
                </a:solidFill>
                <a:latin typeface="Helvetica Neue"/>
                <a:ea typeface="Helvetica Neue"/>
                <a:cs typeface="Helvetica Neue"/>
                <a:sym typeface="Helvetica Neue"/>
              </a:rPr>
              <a:t>		                                    </a:t>
            </a:r>
            <a:r>
              <a:rPr b="1" i="0" lang="en-US" sz="1800" u="none">
                <a:solidFill>
                  <a:schemeClr val="dk1"/>
                </a:solidFill>
                <a:latin typeface="Helvetica Neue"/>
                <a:ea typeface="Helvetica Neue"/>
                <a:cs typeface="Helvetica Neue"/>
                <a:sym typeface="Helvetica Neue"/>
              </a:rPr>
              <a:t>where </a:t>
            </a:r>
            <a:r>
              <a:rPr b="0" i="1" lang="en-US" sz="1800" u="none">
                <a:solidFill>
                  <a:schemeClr val="dk1"/>
                </a:solidFill>
                <a:latin typeface="Helvetica Neue"/>
                <a:ea typeface="Helvetica Neue"/>
                <a:cs typeface="Helvetica Neue"/>
                <a:sym typeface="Helvetica Neue"/>
              </a:rPr>
              <a:t>minlevel.item = orow.item</a:t>
            </a:r>
            <a:r>
              <a:rPr b="0" i="0" lang="en-US" sz="1800" u="none">
                <a:solidFill>
                  <a:schemeClr val="dk1"/>
                </a:solidFill>
                <a:latin typeface="Helvetica Neue"/>
                <a:ea typeface="Helvetica Neue"/>
                <a:cs typeface="Helvetica Neue"/>
                <a:sym typeface="Helvetica Neue"/>
              </a:rPr>
              <a:t>)</a:t>
            </a:r>
            <a:endParaRPr/>
          </a:p>
          <a:p>
            <a:pPr indent="-342900" lvl="0" marL="342900" marR="0" rtl="0" algn="l">
              <a:lnSpc>
                <a:spcPct val="70000"/>
              </a:lnSpc>
              <a:spcBef>
                <a:spcPts val="630"/>
              </a:spcBef>
              <a:spcAft>
                <a:spcPts val="0"/>
              </a:spcAft>
              <a:buClr>
                <a:schemeClr val="dk2"/>
              </a:buClr>
              <a:buSzPts val="1620"/>
              <a:buFont typeface="Arial"/>
              <a:buNone/>
            </a:pPr>
            <a:r>
              <a:rPr b="1" i="0" lang="en-US" sz="1800" u="none">
                <a:solidFill>
                  <a:schemeClr val="dk1"/>
                </a:solidFill>
                <a:latin typeface="Helvetica Neue"/>
                <a:ea typeface="Helvetica Neue"/>
                <a:cs typeface="Helvetica Neue"/>
                <a:sym typeface="Helvetica Neue"/>
              </a:rPr>
              <a:t>   begin</a:t>
            </a:r>
            <a:endParaRPr/>
          </a:p>
          <a:p>
            <a:pPr indent="-342900" lvl="0" marL="342900" marR="0" rtl="0" algn="l">
              <a:lnSpc>
                <a:spcPct val="70000"/>
              </a:lnSpc>
              <a:spcBef>
                <a:spcPts val="630"/>
              </a:spcBef>
              <a:spcAft>
                <a:spcPts val="0"/>
              </a:spcAft>
              <a:buClr>
                <a:schemeClr val="dk2"/>
              </a:buClr>
              <a:buSzPts val="1620"/>
              <a:buFont typeface="Arial"/>
              <a:buNone/>
            </a:pPr>
            <a:r>
              <a:rPr b="0" i="1" lang="en-US" sz="1800" u="none">
                <a:solidFill>
                  <a:schemeClr val="dk1"/>
                </a:solidFill>
                <a:latin typeface="Helvetica Neue"/>
                <a:ea typeface="Helvetica Neue"/>
                <a:cs typeface="Helvetica Neue"/>
                <a:sym typeface="Helvetica Neue"/>
              </a:rPr>
              <a:t>		</a:t>
            </a:r>
            <a:r>
              <a:rPr b="1" i="0" lang="en-US" sz="1800" u="none">
                <a:solidFill>
                  <a:schemeClr val="dk1"/>
                </a:solidFill>
                <a:latin typeface="Helvetica Neue"/>
                <a:ea typeface="Helvetica Neue"/>
                <a:cs typeface="Helvetica Neue"/>
                <a:sym typeface="Helvetica Neue"/>
              </a:rPr>
              <a:t>insert into </a:t>
            </a:r>
            <a:r>
              <a:rPr b="0" i="1" lang="en-US" sz="1800" u="none">
                <a:solidFill>
                  <a:schemeClr val="dk1"/>
                </a:solidFill>
                <a:latin typeface="Helvetica Neue"/>
                <a:ea typeface="Helvetica Neue"/>
                <a:cs typeface="Helvetica Neue"/>
                <a:sym typeface="Helvetica Neue"/>
              </a:rPr>
              <a:t>orders</a:t>
            </a:r>
            <a:endParaRPr/>
          </a:p>
          <a:p>
            <a:pPr indent="-342900" lvl="0" marL="342900" marR="0" rtl="0" algn="l">
              <a:lnSpc>
                <a:spcPct val="70000"/>
              </a:lnSpc>
              <a:spcBef>
                <a:spcPts val="630"/>
              </a:spcBef>
              <a:spcAft>
                <a:spcPts val="0"/>
              </a:spcAft>
              <a:buClr>
                <a:schemeClr val="dk2"/>
              </a:buClr>
              <a:buSzPts val="1620"/>
              <a:buFont typeface="Arial"/>
              <a:buNone/>
            </a:pPr>
            <a:r>
              <a:rPr b="0" i="1" lang="en-US" sz="1800" u="none">
                <a:solidFill>
                  <a:schemeClr val="dk1"/>
                </a:solidFill>
                <a:latin typeface="Helvetica Neue"/>
                <a:ea typeface="Helvetica Neue"/>
                <a:cs typeface="Helvetica Neue"/>
                <a:sym typeface="Helvetica Neue"/>
              </a:rPr>
              <a:t>		        </a:t>
            </a:r>
            <a:r>
              <a:rPr b="0" i="0" lang="en-US" sz="1800" u="none">
                <a:solidFill>
                  <a:schemeClr val="dk1"/>
                </a:solidFill>
                <a:latin typeface="Helvetica Neue"/>
                <a:ea typeface="Helvetica Neue"/>
                <a:cs typeface="Helvetica Neue"/>
                <a:sym typeface="Helvetica Neue"/>
              </a:rPr>
              <a:t>(</a:t>
            </a:r>
            <a:r>
              <a:rPr b="1" i="0" lang="en-US" sz="1800" u="none">
                <a:solidFill>
                  <a:schemeClr val="dk1"/>
                </a:solidFill>
                <a:latin typeface="Helvetica Neue"/>
                <a:ea typeface="Helvetica Neue"/>
                <a:cs typeface="Helvetica Neue"/>
                <a:sym typeface="Helvetica Neue"/>
              </a:rPr>
              <a:t>select </a:t>
            </a:r>
            <a:r>
              <a:rPr b="0" i="1" lang="en-US" sz="1800" u="none">
                <a:solidFill>
                  <a:schemeClr val="dk1"/>
                </a:solidFill>
                <a:latin typeface="Helvetica Neue"/>
                <a:ea typeface="Helvetica Neue"/>
                <a:cs typeface="Helvetica Neue"/>
                <a:sym typeface="Helvetica Neue"/>
              </a:rPr>
              <a:t>item, amount</a:t>
            </a:r>
            <a:endParaRPr/>
          </a:p>
          <a:p>
            <a:pPr indent="-342900" lvl="0" marL="342900" marR="0" rtl="0" algn="l">
              <a:lnSpc>
                <a:spcPct val="70000"/>
              </a:lnSpc>
              <a:spcBef>
                <a:spcPts val="630"/>
              </a:spcBef>
              <a:spcAft>
                <a:spcPts val="0"/>
              </a:spcAft>
              <a:buClr>
                <a:schemeClr val="dk2"/>
              </a:buClr>
              <a:buSzPts val="1620"/>
              <a:buFont typeface="Arial"/>
              <a:buNone/>
            </a:pPr>
            <a:r>
              <a:rPr b="0" i="0" lang="en-US" sz="1800" u="none">
                <a:solidFill>
                  <a:schemeClr val="dk1"/>
                </a:solidFill>
                <a:latin typeface="Helvetica Neue"/>
                <a:ea typeface="Helvetica Neue"/>
                <a:cs typeface="Helvetica Neue"/>
                <a:sym typeface="Helvetica Neue"/>
              </a:rPr>
              <a:t>		          </a:t>
            </a:r>
            <a:r>
              <a:rPr b="1" i="0" lang="en-US" sz="1800" u="none">
                <a:solidFill>
                  <a:schemeClr val="dk1"/>
                </a:solidFill>
                <a:latin typeface="Helvetica Neue"/>
                <a:ea typeface="Helvetica Neue"/>
                <a:cs typeface="Helvetica Neue"/>
                <a:sym typeface="Helvetica Neue"/>
              </a:rPr>
              <a:t>from </a:t>
            </a:r>
            <a:r>
              <a:rPr b="0" i="1" lang="en-US" sz="1800" u="none">
                <a:solidFill>
                  <a:schemeClr val="dk1"/>
                </a:solidFill>
                <a:latin typeface="Helvetica Neue"/>
                <a:ea typeface="Helvetica Neue"/>
                <a:cs typeface="Helvetica Neue"/>
                <a:sym typeface="Helvetica Neue"/>
              </a:rPr>
              <a:t>reorder</a:t>
            </a:r>
            <a:endParaRPr/>
          </a:p>
          <a:p>
            <a:pPr indent="-342900" lvl="0" marL="342900" marR="0" rtl="0" algn="l">
              <a:lnSpc>
                <a:spcPct val="70000"/>
              </a:lnSpc>
              <a:spcBef>
                <a:spcPts val="630"/>
              </a:spcBef>
              <a:spcAft>
                <a:spcPts val="0"/>
              </a:spcAft>
              <a:buClr>
                <a:schemeClr val="dk2"/>
              </a:buClr>
              <a:buSzPts val="1620"/>
              <a:buFont typeface="Arial"/>
              <a:buNone/>
            </a:pPr>
            <a:r>
              <a:rPr b="0" i="0" lang="en-US" sz="1800" u="none">
                <a:solidFill>
                  <a:schemeClr val="dk1"/>
                </a:solidFill>
                <a:latin typeface="Helvetica Neue"/>
                <a:ea typeface="Helvetica Neue"/>
                <a:cs typeface="Helvetica Neue"/>
                <a:sym typeface="Helvetica Neue"/>
              </a:rPr>
              <a:t>		          </a:t>
            </a:r>
            <a:r>
              <a:rPr b="1" i="0" lang="en-US" sz="1800" u="none">
                <a:solidFill>
                  <a:schemeClr val="dk1"/>
                </a:solidFill>
                <a:latin typeface="Helvetica Neue"/>
                <a:ea typeface="Helvetica Neue"/>
                <a:cs typeface="Helvetica Neue"/>
                <a:sym typeface="Helvetica Neue"/>
              </a:rPr>
              <a:t>where </a:t>
            </a:r>
            <a:r>
              <a:rPr b="0" i="1" lang="en-US" sz="1800" u="none">
                <a:solidFill>
                  <a:schemeClr val="dk1"/>
                </a:solidFill>
                <a:latin typeface="Helvetica Neue"/>
                <a:ea typeface="Helvetica Neue"/>
                <a:cs typeface="Helvetica Neue"/>
                <a:sym typeface="Helvetica Neue"/>
              </a:rPr>
              <a:t>reorder.item = orow.item</a:t>
            </a:r>
            <a:r>
              <a:rPr b="0" i="0" lang="en-US" sz="1800" u="none">
                <a:solidFill>
                  <a:schemeClr val="dk1"/>
                </a:solidFill>
                <a:latin typeface="Helvetica Neue"/>
                <a:ea typeface="Helvetica Neue"/>
                <a:cs typeface="Helvetica Neue"/>
                <a:sym typeface="Helvetica Neue"/>
              </a:rPr>
              <a:t>)</a:t>
            </a:r>
            <a:endParaRPr/>
          </a:p>
          <a:p>
            <a:pPr indent="-342900" lvl="0" marL="342900" marR="0" rtl="0" algn="l">
              <a:lnSpc>
                <a:spcPct val="70000"/>
              </a:lnSpc>
              <a:spcBef>
                <a:spcPts val="630"/>
              </a:spcBef>
              <a:spcAft>
                <a:spcPts val="0"/>
              </a:spcAft>
              <a:buClr>
                <a:schemeClr val="dk2"/>
              </a:buClr>
              <a:buSzPts val="1620"/>
              <a:buFont typeface="Arial"/>
              <a:buNone/>
            </a:pPr>
            <a:r>
              <a:rPr b="1" i="0" lang="en-US" sz="1800" u="none">
                <a:solidFill>
                  <a:schemeClr val="dk1"/>
                </a:solidFill>
                <a:latin typeface="Helvetica Neue"/>
                <a:ea typeface="Helvetica Neue"/>
                <a:cs typeface="Helvetica Neue"/>
                <a:sym typeface="Helvetica Neue"/>
              </a:rPr>
              <a:t>   end</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248" name="Shape 248"/>
        <p:cNvGrpSpPr/>
        <p:nvPr/>
      </p:nvGrpSpPr>
      <p:grpSpPr>
        <a:xfrm>
          <a:off x="0" y="0"/>
          <a:ext cx="0" cy="0"/>
          <a:chOff x="0" y="0"/>
          <a:chExt cx="0" cy="0"/>
        </a:xfrm>
      </p:grpSpPr>
      <p:sp>
        <p:nvSpPr>
          <p:cNvPr id="249" name="Google Shape;249;p34"/>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en-US" sz="2400" u="none">
                <a:solidFill>
                  <a:schemeClr val="dk1"/>
                </a:solidFill>
                <a:latin typeface="Times New Roman"/>
                <a:ea typeface="Times New Roman"/>
                <a:cs typeface="Times New Roman"/>
                <a:sym typeface="Times New Roman"/>
              </a:rPr>
              <a:t>‹#›</a:t>
            </a:fld>
            <a:endParaRPr/>
          </a:p>
        </p:txBody>
      </p:sp>
      <p:sp>
        <p:nvSpPr>
          <p:cNvPr id="250" name="Google Shape;250;p34"/>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Triggers in MS-SQLServer Syntax</a:t>
            </a:r>
            <a:endParaRPr/>
          </a:p>
        </p:txBody>
      </p:sp>
      <p:sp>
        <p:nvSpPr>
          <p:cNvPr id="251" name="Google Shape;251;p34"/>
          <p:cNvSpPr txBox="1"/>
          <p:nvPr>
            <p:ph idx="4294967295" type="body"/>
          </p:nvPr>
        </p:nvSpPr>
        <p:spPr>
          <a:xfrm>
            <a:off x="814387" y="1093787"/>
            <a:ext cx="7661275" cy="4903787"/>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chemeClr val="dk2"/>
              </a:buClr>
              <a:buSzPts val="1440"/>
              <a:buFont typeface="Arial"/>
              <a:buNone/>
            </a:pPr>
            <a:r>
              <a:rPr b="1" i="0" lang="en-US" sz="1600" u="none">
                <a:solidFill>
                  <a:schemeClr val="dk1"/>
                </a:solidFill>
                <a:latin typeface="Helvetica Neue"/>
                <a:ea typeface="Helvetica Neue"/>
                <a:cs typeface="Helvetica Neue"/>
                <a:sym typeface="Helvetica Neue"/>
              </a:rPr>
              <a:t>     </a:t>
            </a:r>
            <a:r>
              <a:rPr b="1" i="0" lang="en-US" sz="1800" u="none">
                <a:solidFill>
                  <a:schemeClr val="dk1"/>
                </a:solidFill>
                <a:latin typeface="Helvetica Neue"/>
                <a:ea typeface="Helvetica Neue"/>
                <a:cs typeface="Helvetica Neue"/>
                <a:sym typeface="Helvetica Neue"/>
              </a:rPr>
              <a:t>create trigger </a:t>
            </a:r>
            <a:r>
              <a:rPr b="0" i="1" lang="en-US" sz="1800" u="none">
                <a:solidFill>
                  <a:schemeClr val="dk1"/>
                </a:solidFill>
                <a:latin typeface="Helvetica Neue"/>
                <a:ea typeface="Helvetica Neue"/>
                <a:cs typeface="Helvetica Neue"/>
                <a:sym typeface="Helvetica Neue"/>
              </a:rPr>
              <a:t>overdraft-trigger </a:t>
            </a:r>
            <a:r>
              <a:rPr b="1" i="0" lang="en-US" sz="1800" u="none">
                <a:solidFill>
                  <a:schemeClr val="dk1"/>
                </a:solidFill>
                <a:latin typeface="Helvetica Neue"/>
                <a:ea typeface="Helvetica Neue"/>
                <a:cs typeface="Helvetica Neue"/>
                <a:sym typeface="Helvetica Neue"/>
              </a:rPr>
              <a:t>on</a:t>
            </a:r>
            <a:r>
              <a:rPr b="0" i="0" lang="en-US" sz="1800" u="none">
                <a:solidFill>
                  <a:schemeClr val="dk1"/>
                </a:solidFill>
                <a:latin typeface="Helvetica Neue"/>
                <a:ea typeface="Helvetica Neue"/>
                <a:cs typeface="Helvetica Neue"/>
                <a:sym typeface="Helvetica Neue"/>
              </a:rPr>
              <a:t> </a:t>
            </a:r>
            <a:r>
              <a:rPr b="0" i="1" lang="en-US" sz="1800" u="none">
                <a:solidFill>
                  <a:schemeClr val="dk1"/>
                </a:solidFill>
                <a:latin typeface="Helvetica Neue"/>
                <a:ea typeface="Helvetica Neue"/>
                <a:cs typeface="Helvetica Neue"/>
                <a:sym typeface="Helvetica Neue"/>
              </a:rPr>
              <a:t>account</a:t>
            </a:r>
            <a:br>
              <a:rPr b="0" i="1" lang="en-US" sz="1800" u="none">
                <a:solidFill>
                  <a:schemeClr val="dk1"/>
                </a:solidFill>
                <a:latin typeface="Helvetica Neue"/>
                <a:ea typeface="Helvetica Neue"/>
                <a:cs typeface="Helvetica Neue"/>
                <a:sym typeface="Helvetica Neue"/>
              </a:rPr>
            </a:br>
            <a:r>
              <a:rPr b="1" i="0" lang="en-US" sz="1800" u="none">
                <a:solidFill>
                  <a:schemeClr val="dk1"/>
                </a:solidFill>
                <a:latin typeface="Helvetica Neue"/>
                <a:ea typeface="Helvetica Neue"/>
                <a:cs typeface="Helvetica Neue"/>
                <a:sym typeface="Helvetica Neue"/>
              </a:rPr>
              <a:t>for update</a:t>
            </a:r>
            <a:br>
              <a:rPr b="1" i="0" lang="en-US" sz="1800" u="none">
                <a:solidFill>
                  <a:schemeClr val="dk1"/>
                </a:solidFill>
                <a:latin typeface="Helvetica Neue"/>
                <a:ea typeface="Helvetica Neue"/>
                <a:cs typeface="Helvetica Neue"/>
                <a:sym typeface="Helvetica Neue"/>
              </a:rPr>
            </a:br>
            <a:r>
              <a:rPr b="1" i="0" lang="en-US" sz="1800" u="none">
                <a:solidFill>
                  <a:schemeClr val="dk1"/>
                </a:solidFill>
                <a:latin typeface="Helvetica Neue"/>
                <a:ea typeface="Helvetica Neue"/>
                <a:cs typeface="Helvetica Neue"/>
                <a:sym typeface="Helvetica Neue"/>
              </a:rPr>
              <a:t>as </a:t>
            </a:r>
            <a:br>
              <a:rPr b="1" i="0" lang="en-US" sz="1800" u="none">
                <a:solidFill>
                  <a:schemeClr val="dk1"/>
                </a:solidFill>
                <a:latin typeface="Helvetica Neue"/>
                <a:ea typeface="Helvetica Neue"/>
                <a:cs typeface="Helvetica Neue"/>
                <a:sym typeface="Helvetica Neue"/>
              </a:rPr>
            </a:br>
            <a:r>
              <a:rPr b="1" i="0" lang="en-US" sz="1800" u="none">
                <a:solidFill>
                  <a:schemeClr val="dk1"/>
                </a:solidFill>
                <a:latin typeface="Helvetica Neue"/>
                <a:ea typeface="Helvetica Neue"/>
                <a:cs typeface="Helvetica Neue"/>
                <a:sym typeface="Helvetica Neue"/>
              </a:rPr>
              <a:t>if  inserted</a:t>
            </a:r>
            <a:r>
              <a:rPr b="0" i="1" lang="en-US" sz="1800" u="none">
                <a:solidFill>
                  <a:schemeClr val="dk1"/>
                </a:solidFill>
                <a:latin typeface="Helvetica Neue"/>
                <a:ea typeface="Helvetica Neue"/>
                <a:cs typeface="Helvetica Neue"/>
                <a:sym typeface="Helvetica Neue"/>
              </a:rPr>
              <a:t>.balance </a:t>
            </a:r>
            <a:r>
              <a:rPr b="0" i="0" lang="en-US" sz="1800" u="none">
                <a:solidFill>
                  <a:schemeClr val="dk1"/>
                </a:solidFill>
                <a:latin typeface="Helvetica Neue"/>
                <a:ea typeface="Helvetica Neue"/>
                <a:cs typeface="Helvetica Neue"/>
                <a:sym typeface="Helvetica Neue"/>
              </a:rPr>
              <a:t>&lt; 0</a:t>
            </a:r>
            <a:br>
              <a:rPr b="0" i="0" lang="en-US" sz="1800" u="none">
                <a:solidFill>
                  <a:schemeClr val="dk1"/>
                </a:solidFill>
                <a:latin typeface="Helvetica Neue"/>
                <a:ea typeface="Helvetica Neue"/>
                <a:cs typeface="Helvetica Neue"/>
                <a:sym typeface="Helvetica Neue"/>
              </a:rPr>
            </a:br>
            <a:r>
              <a:rPr b="1" i="0" lang="en-US" sz="1800" u="none">
                <a:solidFill>
                  <a:schemeClr val="dk1"/>
                </a:solidFill>
                <a:latin typeface="Helvetica Neue"/>
                <a:ea typeface="Helvetica Neue"/>
                <a:cs typeface="Helvetica Neue"/>
                <a:sym typeface="Helvetica Neue"/>
              </a:rPr>
              <a:t>begin</a:t>
            </a:r>
            <a:br>
              <a:rPr b="1" i="0" lang="en-US" sz="1800" u="none">
                <a:solidFill>
                  <a:schemeClr val="dk1"/>
                </a:solidFill>
                <a:latin typeface="Helvetica Neue"/>
                <a:ea typeface="Helvetica Neue"/>
                <a:cs typeface="Helvetica Neue"/>
                <a:sym typeface="Helvetica Neue"/>
              </a:rPr>
            </a:br>
            <a:r>
              <a:rPr b="1" i="0" lang="en-US" sz="1800" u="none">
                <a:solidFill>
                  <a:schemeClr val="dk1"/>
                </a:solidFill>
                <a:latin typeface="Helvetica Neue"/>
                <a:ea typeface="Helvetica Neue"/>
                <a:cs typeface="Helvetica Neue"/>
                <a:sym typeface="Helvetica Neue"/>
              </a:rPr>
              <a:t>    insert into </a:t>
            </a:r>
            <a:r>
              <a:rPr b="0" i="1" lang="en-US" sz="1800" u="none">
                <a:solidFill>
                  <a:schemeClr val="dk1"/>
                </a:solidFill>
                <a:latin typeface="Helvetica Neue"/>
                <a:ea typeface="Helvetica Neue"/>
                <a:cs typeface="Helvetica Neue"/>
                <a:sym typeface="Helvetica Neue"/>
              </a:rPr>
              <a:t>borrower</a:t>
            </a:r>
            <a:br>
              <a:rPr b="0" i="1" lang="en-US" sz="1800" u="none">
                <a:solidFill>
                  <a:schemeClr val="dk1"/>
                </a:solidFill>
                <a:latin typeface="Helvetica Neue"/>
                <a:ea typeface="Helvetica Neue"/>
                <a:cs typeface="Helvetica Neue"/>
                <a:sym typeface="Helvetica Neue"/>
              </a:rPr>
            </a:br>
            <a:r>
              <a:rPr b="0" i="1" lang="en-US" sz="1800" u="none">
                <a:solidFill>
                  <a:schemeClr val="dk1"/>
                </a:solidFill>
                <a:latin typeface="Helvetica Neue"/>
                <a:ea typeface="Helvetica Neue"/>
                <a:cs typeface="Helvetica Neue"/>
                <a:sym typeface="Helvetica Neue"/>
              </a:rPr>
              <a:t>       </a:t>
            </a:r>
            <a:r>
              <a:rPr b="0" i="0" lang="en-US" sz="1800" u="none">
                <a:solidFill>
                  <a:schemeClr val="dk1"/>
                </a:solidFill>
                <a:latin typeface="Helvetica Neue"/>
                <a:ea typeface="Helvetica Neue"/>
                <a:cs typeface="Helvetica Neue"/>
                <a:sym typeface="Helvetica Neue"/>
              </a:rPr>
              <a:t>(</a:t>
            </a:r>
            <a:r>
              <a:rPr b="1" i="0" lang="en-US" sz="1800" u="none">
                <a:solidFill>
                  <a:schemeClr val="dk1"/>
                </a:solidFill>
                <a:latin typeface="Helvetica Neue"/>
                <a:ea typeface="Helvetica Neue"/>
                <a:cs typeface="Helvetica Neue"/>
                <a:sym typeface="Helvetica Neue"/>
              </a:rPr>
              <a:t>select </a:t>
            </a:r>
            <a:r>
              <a:rPr b="0" i="1" lang="en-US" sz="1800" u="none">
                <a:solidFill>
                  <a:schemeClr val="dk1"/>
                </a:solidFill>
                <a:latin typeface="Helvetica Neue"/>
                <a:ea typeface="Helvetica Neue"/>
                <a:cs typeface="Helvetica Neue"/>
                <a:sym typeface="Helvetica Neue"/>
              </a:rPr>
              <a:t>customer-name,account-number</a:t>
            </a:r>
            <a:br>
              <a:rPr b="0" i="1" lang="en-US" sz="1800" u="none">
                <a:solidFill>
                  <a:schemeClr val="dk1"/>
                </a:solidFill>
                <a:latin typeface="Helvetica Neue"/>
                <a:ea typeface="Helvetica Neue"/>
                <a:cs typeface="Helvetica Neue"/>
                <a:sym typeface="Helvetica Neue"/>
              </a:rPr>
            </a:br>
            <a:r>
              <a:rPr b="0" i="1" lang="en-US" sz="1800" u="none">
                <a:solidFill>
                  <a:schemeClr val="dk1"/>
                </a:solidFill>
                <a:latin typeface="Helvetica Neue"/>
                <a:ea typeface="Helvetica Neue"/>
                <a:cs typeface="Helvetica Neue"/>
                <a:sym typeface="Helvetica Neue"/>
              </a:rPr>
              <a:t>        </a:t>
            </a:r>
            <a:r>
              <a:rPr b="1" i="0" lang="en-US" sz="1800" u="none">
                <a:solidFill>
                  <a:schemeClr val="dk1"/>
                </a:solidFill>
                <a:latin typeface="Helvetica Neue"/>
                <a:ea typeface="Helvetica Neue"/>
                <a:cs typeface="Helvetica Neue"/>
                <a:sym typeface="Helvetica Neue"/>
              </a:rPr>
              <a:t>from </a:t>
            </a:r>
            <a:r>
              <a:rPr b="0" i="1" lang="en-US" sz="1800" u="none">
                <a:solidFill>
                  <a:schemeClr val="dk1"/>
                </a:solidFill>
                <a:latin typeface="Helvetica Neue"/>
                <a:ea typeface="Helvetica Neue"/>
                <a:cs typeface="Helvetica Neue"/>
                <a:sym typeface="Helvetica Neue"/>
              </a:rPr>
              <a:t>depositor</a:t>
            </a:r>
            <a:r>
              <a:rPr b="0" i="0" lang="en-US" sz="1800" u="none">
                <a:solidFill>
                  <a:schemeClr val="dk1"/>
                </a:solidFill>
                <a:latin typeface="Helvetica Neue"/>
                <a:ea typeface="Helvetica Neue"/>
                <a:cs typeface="Helvetica Neue"/>
                <a:sym typeface="Helvetica Neue"/>
              </a:rPr>
              <a:t>, </a:t>
            </a:r>
            <a:r>
              <a:rPr b="1" i="0" lang="en-US" sz="1800" u="none">
                <a:solidFill>
                  <a:schemeClr val="dk1"/>
                </a:solidFill>
                <a:latin typeface="Helvetica Neue"/>
                <a:ea typeface="Helvetica Neue"/>
                <a:cs typeface="Helvetica Neue"/>
                <a:sym typeface="Helvetica Neue"/>
              </a:rPr>
              <a:t>inserted</a:t>
            </a:r>
            <a:br>
              <a:rPr b="1" i="0" lang="en-US" sz="1800" u="none">
                <a:solidFill>
                  <a:schemeClr val="dk1"/>
                </a:solidFill>
                <a:latin typeface="Helvetica Neue"/>
                <a:ea typeface="Helvetica Neue"/>
                <a:cs typeface="Helvetica Neue"/>
                <a:sym typeface="Helvetica Neue"/>
              </a:rPr>
            </a:br>
            <a:r>
              <a:rPr b="1" i="0" lang="en-US" sz="1800" u="none">
                <a:solidFill>
                  <a:schemeClr val="dk1"/>
                </a:solidFill>
                <a:latin typeface="Helvetica Neue"/>
                <a:ea typeface="Helvetica Neue"/>
                <a:cs typeface="Helvetica Neue"/>
                <a:sym typeface="Helvetica Neue"/>
              </a:rPr>
              <a:t>        where inserted</a:t>
            </a:r>
            <a:r>
              <a:rPr b="0" i="0" lang="en-US" sz="1800" u="none">
                <a:solidFill>
                  <a:schemeClr val="dk1"/>
                </a:solidFill>
                <a:latin typeface="Helvetica Neue"/>
                <a:ea typeface="Helvetica Neue"/>
                <a:cs typeface="Helvetica Neue"/>
                <a:sym typeface="Helvetica Neue"/>
              </a:rPr>
              <a:t>.</a:t>
            </a:r>
            <a:r>
              <a:rPr b="0" i="1" lang="en-US" sz="1800" u="none">
                <a:solidFill>
                  <a:schemeClr val="dk1"/>
                </a:solidFill>
                <a:latin typeface="Helvetica Neue"/>
                <a:ea typeface="Helvetica Neue"/>
                <a:cs typeface="Helvetica Neue"/>
                <a:sym typeface="Helvetica Neue"/>
              </a:rPr>
              <a:t>account-number = </a:t>
            </a:r>
            <a:br>
              <a:rPr b="0" i="1" lang="en-US" sz="1800" u="none">
                <a:solidFill>
                  <a:schemeClr val="dk1"/>
                </a:solidFill>
                <a:latin typeface="Helvetica Neue"/>
                <a:ea typeface="Helvetica Neue"/>
                <a:cs typeface="Helvetica Neue"/>
                <a:sym typeface="Helvetica Neue"/>
              </a:rPr>
            </a:br>
            <a:r>
              <a:rPr b="0" i="1" lang="en-US" sz="1800" u="none">
                <a:solidFill>
                  <a:schemeClr val="dk1"/>
                </a:solidFill>
                <a:latin typeface="Helvetica Neue"/>
                <a:ea typeface="Helvetica Neue"/>
                <a:cs typeface="Helvetica Neue"/>
                <a:sym typeface="Helvetica Neue"/>
              </a:rPr>
              <a:t>                             depositor.account-number</a:t>
            </a:r>
            <a:r>
              <a:rPr b="0" i="0" lang="en-US" sz="1800" u="none">
                <a:solidFill>
                  <a:schemeClr val="dk1"/>
                </a:solidFill>
                <a:latin typeface="Helvetica Neue"/>
                <a:ea typeface="Helvetica Neue"/>
                <a:cs typeface="Helvetica Neue"/>
                <a:sym typeface="Helvetica Neue"/>
              </a:rPr>
              <a:t>)</a:t>
            </a:r>
            <a:br>
              <a:rPr b="0" i="0" lang="en-US" sz="1800" u="none">
                <a:solidFill>
                  <a:schemeClr val="dk1"/>
                </a:solidFill>
                <a:latin typeface="Helvetica Neue"/>
                <a:ea typeface="Helvetica Neue"/>
                <a:cs typeface="Helvetica Neue"/>
                <a:sym typeface="Helvetica Neue"/>
              </a:rPr>
            </a:br>
            <a:r>
              <a:rPr b="0" i="0" lang="en-US" sz="1800" u="none">
                <a:solidFill>
                  <a:schemeClr val="dk1"/>
                </a:solidFill>
                <a:latin typeface="Helvetica Neue"/>
                <a:ea typeface="Helvetica Neue"/>
                <a:cs typeface="Helvetica Neue"/>
                <a:sym typeface="Helvetica Neue"/>
              </a:rPr>
              <a:t>    </a:t>
            </a:r>
            <a:r>
              <a:rPr b="1" i="0" lang="en-US" sz="1800" u="none">
                <a:solidFill>
                  <a:schemeClr val="dk1"/>
                </a:solidFill>
                <a:latin typeface="Helvetica Neue"/>
                <a:ea typeface="Helvetica Neue"/>
                <a:cs typeface="Helvetica Neue"/>
                <a:sym typeface="Helvetica Neue"/>
              </a:rPr>
              <a:t>insert into </a:t>
            </a:r>
            <a:r>
              <a:rPr b="0" i="1" lang="en-US" sz="1800" u="none">
                <a:solidFill>
                  <a:schemeClr val="dk1"/>
                </a:solidFill>
                <a:latin typeface="Helvetica Neue"/>
                <a:ea typeface="Helvetica Neue"/>
                <a:cs typeface="Helvetica Neue"/>
                <a:sym typeface="Helvetica Neue"/>
              </a:rPr>
              <a:t>loan </a:t>
            </a:r>
            <a:r>
              <a:rPr b="1" i="0" lang="en-US" sz="1800" u="none">
                <a:solidFill>
                  <a:schemeClr val="dk1"/>
                </a:solidFill>
                <a:latin typeface="Helvetica Neue"/>
                <a:ea typeface="Helvetica Neue"/>
                <a:cs typeface="Helvetica Neue"/>
                <a:sym typeface="Helvetica Neue"/>
              </a:rPr>
              <a:t>values</a:t>
            </a:r>
            <a:br>
              <a:rPr b="1" i="0" lang="en-US" sz="1800" u="none">
                <a:solidFill>
                  <a:schemeClr val="dk1"/>
                </a:solidFill>
                <a:latin typeface="Helvetica Neue"/>
                <a:ea typeface="Helvetica Neue"/>
                <a:cs typeface="Helvetica Neue"/>
                <a:sym typeface="Helvetica Neue"/>
              </a:rPr>
            </a:br>
            <a:r>
              <a:rPr b="0" i="0" lang="en-US" sz="1800" u="none">
                <a:solidFill>
                  <a:schemeClr val="dk1"/>
                </a:solidFill>
                <a:latin typeface="Helvetica Neue"/>
                <a:ea typeface="Helvetica Neue"/>
                <a:cs typeface="Helvetica Neue"/>
                <a:sym typeface="Helvetica Neue"/>
              </a:rPr>
              <a:t>       (</a:t>
            </a:r>
            <a:r>
              <a:rPr b="1" i="0" lang="en-US" sz="1800" u="none">
                <a:solidFill>
                  <a:schemeClr val="dk1"/>
                </a:solidFill>
                <a:latin typeface="Helvetica Neue"/>
                <a:ea typeface="Helvetica Neue"/>
                <a:cs typeface="Helvetica Neue"/>
                <a:sym typeface="Helvetica Neue"/>
              </a:rPr>
              <a:t>inserted</a:t>
            </a:r>
            <a:r>
              <a:rPr b="0" i="0" lang="en-US" sz="1800" u="none">
                <a:solidFill>
                  <a:schemeClr val="dk1"/>
                </a:solidFill>
                <a:latin typeface="Helvetica Neue"/>
                <a:ea typeface="Helvetica Neue"/>
                <a:cs typeface="Helvetica Neue"/>
                <a:sym typeface="Helvetica Neue"/>
              </a:rPr>
              <a:t>.</a:t>
            </a:r>
            <a:r>
              <a:rPr b="0" i="1" lang="en-US" sz="1800" u="none">
                <a:solidFill>
                  <a:schemeClr val="dk1"/>
                </a:solidFill>
                <a:latin typeface="Helvetica Neue"/>
                <a:ea typeface="Helvetica Neue"/>
                <a:cs typeface="Helvetica Neue"/>
                <a:sym typeface="Helvetica Neue"/>
              </a:rPr>
              <a:t>account-number</a:t>
            </a:r>
            <a:r>
              <a:rPr b="0" i="0" lang="en-US" sz="1800" u="none">
                <a:solidFill>
                  <a:schemeClr val="dk1"/>
                </a:solidFill>
                <a:latin typeface="Helvetica Neue"/>
                <a:ea typeface="Helvetica Neue"/>
                <a:cs typeface="Helvetica Neue"/>
                <a:sym typeface="Helvetica Neue"/>
              </a:rPr>
              <a:t>, </a:t>
            </a:r>
            <a:r>
              <a:rPr b="1" i="0" lang="en-US" sz="1800" u="none">
                <a:solidFill>
                  <a:schemeClr val="dk1"/>
                </a:solidFill>
                <a:latin typeface="Helvetica Neue"/>
                <a:ea typeface="Helvetica Neue"/>
                <a:cs typeface="Helvetica Neue"/>
                <a:sym typeface="Helvetica Neue"/>
              </a:rPr>
              <a:t>inserted</a:t>
            </a:r>
            <a:r>
              <a:rPr b="0" i="0" lang="en-US" sz="1800" u="none">
                <a:solidFill>
                  <a:schemeClr val="dk1"/>
                </a:solidFill>
                <a:latin typeface="Helvetica Neue"/>
                <a:ea typeface="Helvetica Neue"/>
                <a:cs typeface="Helvetica Neue"/>
                <a:sym typeface="Helvetica Neue"/>
              </a:rPr>
              <a:t>.</a:t>
            </a:r>
            <a:r>
              <a:rPr b="0" i="1" lang="en-US" sz="1800" u="none">
                <a:solidFill>
                  <a:schemeClr val="dk1"/>
                </a:solidFill>
                <a:latin typeface="Helvetica Neue"/>
                <a:ea typeface="Helvetica Neue"/>
                <a:cs typeface="Helvetica Neue"/>
                <a:sym typeface="Helvetica Neue"/>
              </a:rPr>
              <a:t>branch-name</a:t>
            </a:r>
            <a:r>
              <a:rPr b="0" i="0" lang="en-US" sz="1800" u="none">
                <a:solidFill>
                  <a:schemeClr val="dk1"/>
                </a:solidFill>
                <a:latin typeface="Helvetica Neue"/>
                <a:ea typeface="Helvetica Neue"/>
                <a:cs typeface="Helvetica Neue"/>
                <a:sym typeface="Helvetica Neue"/>
              </a:rPr>
              <a:t>,</a:t>
            </a:r>
            <a:br>
              <a:rPr b="0" i="0" lang="en-US" sz="1800" u="none">
                <a:solidFill>
                  <a:schemeClr val="dk1"/>
                </a:solidFill>
                <a:latin typeface="Helvetica Neue"/>
                <a:ea typeface="Helvetica Neue"/>
                <a:cs typeface="Helvetica Neue"/>
                <a:sym typeface="Helvetica Neue"/>
              </a:rPr>
            </a:br>
            <a:r>
              <a:rPr b="0" i="0" lang="en-US" sz="1800" u="none">
                <a:solidFill>
                  <a:schemeClr val="dk1"/>
                </a:solidFill>
                <a:latin typeface="Helvetica Neue"/>
                <a:ea typeface="Helvetica Neue"/>
                <a:cs typeface="Helvetica Neue"/>
                <a:sym typeface="Helvetica Neue"/>
              </a:rPr>
              <a:t>                                – </a:t>
            </a:r>
            <a:r>
              <a:rPr b="1" i="0" lang="en-US" sz="1800" u="none">
                <a:solidFill>
                  <a:schemeClr val="dk1"/>
                </a:solidFill>
                <a:latin typeface="Helvetica Neue"/>
                <a:ea typeface="Helvetica Neue"/>
                <a:cs typeface="Helvetica Neue"/>
                <a:sym typeface="Helvetica Neue"/>
              </a:rPr>
              <a:t>inserted</a:t>
            </a:r>
            <a:r>
              <a:rPr b="0" i="0" lang="en-US" sz="1800" u="none">
                <a:solidFill>
                  <a:schemeClr val="dk1"/>
                </a:solidFill>
                <a:latin typeface="Helvetica Neue"/>
                <a:ea typeface="Helvetica Neue"/>
                <a:cs typeface="Helvetica Neue"/>
                <a:sym typeface="Helvetica Neue"/>
              </a:rPr>
              <a:t>.</a:t>
            </a:r>
            <a:r>
              <a:rPr b="0" i="1" lang="en-US" sz="1800" u="none">
                <a:solidFill>
                  <a:schemeClr val="dk1"/>
                </a:solidFill>
                <a:latin typeface="Helvetica Neue"/>
                <a:ea typeface="Helvetica Neue"/>
                <a:cs typeface="Helvetica Neue"/>
                <a:sym typeface="Helvetica Neue"/>
              </a:rPr>
              <a:t>balance</a:t>
            </a:r>
            <a:r>
              <a:rPr b="0" i="0" lang="en-US" sz="1800" u="none">
                <a:solidFill>
                  <a:schemeClr val="dk1"/>
                </a:solidFill>
                <a:latin typeface="Helvetica Neue"/>
                <a:ea typeface="Helvetica Neue"/>
                <a:cs typeface="Helvetica Neue"/>
                <a:sym typeface="Helvetica Neue"/>
              </a:rPr>
              <a:t>)</a:t>
            </a:r>
            <a:br>
              <a:rPr b="0" i="0" lang="en-US" sz="1800" u="none">
                <a:solidFill>
                  <a:schemeClr val="dk1"/>
                </a:solidFill>
                <a:latin typeface="Helvetica Neue"/>
                <a:ea typeface="Helvetica Neue"/>
                <a:cs typeface="Helvetica Neue"/>
                <a:sym typeface="Helvetica Neue"/>
              </a:rPr>
            </a:br>
            <a:r>
              <a:rPr b="0" i="0" lang="en-US" sz="1800" u="none">
                <a:solidFill>
                  <a:schemeClr val="dk1"/>
                </a:solidFill>
                <a:latin typeface="Helvetica Neue"/>
                <a:ea typeface="Helvetica Neue"/>
                <a:cs typeface="Helvetica Neue"/>
                <a:sym typeface="Helvetica Neue"/>
              </a:rPr>
              <a:t>    </a:t>
            </a:r>
            <a:r>
              <a:rPr b="1" i="0" lang="en-US" sz="1800" u="none">
                <a:solidFill>
                  <a:schemeClr val="dk1"/>
                </a:solidFill>
                <a:latin typeface="Helvetica Neue"/>
                <a:ea typeface="Helvetica Neue"/>
                <a:cs typeface="Helvetica Neue"/>
                <a:sym typeface="Helvetica Neue"/>
              </a:rPr>
              <a:t>update </a:t>
            </a:r>
            <a:r>
              <a:rPr b="0" i="1" lang="en-US" sz="1800" u="none">
                <a:solidFill>
                  <a:schemeClr val="dk1"/>
                </a:solidFill>
                <a:latin typeface="Helvetica Neue"/>
                <a:ea typeface="Helvetica Neue"/>
                <a:cs typeface="Helvetica Neue"/>
                <a:sym typeface="Helvetica Neue"/>
              </a:rPr>
              <a:t>account </a:t>
            </a:r>
            <a:r>
              <a:rPr b="1" i="0" lang="en-US" sz="1800" u="none">
                <a:solidFill>
                  <a:schemeClr val="dk1"/>
                </a:solidFill>
                <a:latin typeface="Helvetica Neue"/>
                <a:ea typeface="Helvetica Neue"/>
                <a:cs typeface="Helvetica Neue"/>
                <a:sym typeface="Helvetica Neue"/>
              </a:rPr>
              <a:t>set </a:t>
            </a:r>
            <a:r>
              <a:rPr b="0" i="1" lang="en-US" sz="1800" u="none">
                <a:solidFill>
                  <a:schemeClr val="dk1"/>
                </a:solidFill>
                <a:latin typeface="Helvetica Neue"/>
                <a:ea typeface="Helvetica Neue"/>
                <a:cs typeface="Helvetica Neue"/>
                <a:sym typeface="Helvetica Neue"/>
              </a:rPr>
              <a:t>balance </a:t>
            </a:r>
            <a:r>
              <a:rPr b="0" i="0" lang="en-US" sz="1800" u="none">
                <a:solidFill>
                  <a:schemeClr val="dk1"/>
                </a:solidFill>
                <a:latin typeface="Helvetica Neue"/>
                <a:ea typeface="Helvetica Neue"/>
                <a:cs typeface="Helvetica Neue"/>
                <a:sym typeface="Helvetica Neue"/>
              </a:rPr>
              <a:t>= 0</a:t>
            </a:r>
            <a:br>
              <a:rPr b="0" i="0" lang="en-US" sz="1800" u="none">
                <a:solidFill>
                  <a:schemeClr val="dk1"/>
                </a:solidFill>
                <a:latin typeface="Helvetica Neue"/>
                <a:ea typeface="Helvetica Neue"/>
                <a:cs typeface="Helvetica Neue"/>
                <a:sym typeface="Helvetica Neue"/>
              </a:rPr>
            </a:br>
            <a:r>
              <a:rPr b="1" i="0" lang="en-US" sz="1800" u="none">
                <a:solidFill>
                  <a:schemeClr val="dk1"/>
                </a:solidFill>
                <a:latin typeface="Helvetica Neue"/>
                <a:ea typeface="Helvetica Neue"/>
                <a:cs typeface="Helvetica Neue"/>
                <a:sym typeface="Helvetica Neue"/>
              </a:rPr>
              <a:t>      from </a:t>
            </a:r>
            <a:r>
              <a:rPr b="0" i="1" lang="en-US" sz="1800" u="none">
                <a:solidFill>
                  <a:schemeClr val="dk1"/>
                </a:solidFill>
                <a:latin typeface="Helvetica Neue"/>
                <a:ea typeface="Helvetica Neue"/>
                <a:cs typeface="Helvetica Neue"/>
                <a:sym typeface="Helvetica Neue"/>
              </a:rPr>
              <a:t>account</a:t>
            </a:r>
            <a:r>
              <a:rPr b="0" i="0" lang="en-US" sz="1800" u="none">
                <a:solidFill>
                  <a:schemeClr val="dk1"/>
                </a:solidFill>
                <a:latin typeface="Helvetica Neue"/>
                <a:ea typeface="Helvetica Neue"/>
                <a:cs typeface="Helvetica Neue"/>
                <a:sym typeface="Helvetica Neue"/>
              </a:rPr>
              <a:t>, </a:t>
            </a:r>
            <a:r>
              <a:rPr b="1" i="0" lang="en-US" sz="1800" u="none">
                <a:solidFill>
                  <a:schemeClr val="dk1"/>
                </a:solidFill>
                <a:latin typeface="Helvetica Neue"/>
                <a:ea typeface="Helvetica Neue"/>
                <a:cs typeface="Helvetica Neue"/>
                <a:sym typeface="Helvetica Neue"/>
              </a:rPr>
              <a:t>inserted</a:t>
            </a:r>
            <a:br>
              <a:rPr b="1" i="0" lang="en-US" sz="1800" u="none">
                <a:solidFill>
                  <a:schemeClr val="dk1"/>
                </a:solidFill>
                <a:latin typeface="Helvetica Neue"/>
                <a:ea typeface="Helvetica Neue"/>
                <a:cs typeface="Helvetica Neue"/>
                <a:sym typeface="Helvetica Neue"/>
              </a:rPr>
            </a:br>
            <a:r>
              <a:rPr b="1" i="0" lang="en-US" sz="1800" u="none">
                <a:solidFill>
                  <a:schemeClr val="dk1"/>
                </a:solidFill>
                <a:latin typeface="Helvetica Neue"/>
                <a:ea typeface="Helvetica Neue"/>
                <a:cs typeface="Helvetica Neue"/>
                <a:sym typeface="Helvetica Neue"/>
              </a:rPr>
              <a:t>      where </a:t>
            </a:r>
            <a:r>
              <a:rPr b="0" i="1" lang="en-US" sz="1800" u="none">
                <a:solidFill>
                  <a:schemeClr val="dk1"/>
                </a:solidFill>
                <a:latin typeface="Helvetica Neue"/>
                <a:ea typeface="Helvetica Neue"/>
                <a:cs typeface="Helvetica Neue"/>
                <a:sym typeface="Helvetica Neue"/>
              </a:rPr>
              <a:t>account.account-number </a:t>
            </a:r>
            <a:r>
              <a:rPr b="0" i="0" lang="en-US" sz="1800" u="none">
                <a:solidFill>
                  <a:schemeClr val="dk1"/>
                </a:solidFill>
                <a:latin typeface="Helvetica Neue"/>
                <a:ea typeface="Helvetica Neue"/>
                <a:cs typeface="Helvetica Neue"/>
                <a:sym typeface="Helvetica Neue"/>
              </a:rPr>
              <a:t>= </a:t>
            </a:r>
            <a:r>
              <a:rPr b="1" i="0" lang="en-US" sz="1800" u="none">
                <a:solidFill>
                  <a:schemeClr val="dk1"/>
                </a:solidFill>
                <a:latin typeface="Helvetica Neue"/>
                <a:ea typeface="Helvetica Neue"/>
                <a:cs typeface="Helvetica Neue"/>
                <a:sym typeface="Helvetica Neue"/>
              </a:rPr>
              <a:t>inserted</a:t>
            </a:r>
            <a:r>
              <a:rPr b="0" i="0" lang="en-US" sz="1800" u="none">
                <a:solidFill>
                  <a:schemeClr val="dk1"/>
                </a:solidFill>
                <a:latin typeface="Helvetica Neue"/>
                <a:ea typeface="Helvetica Neue"/>
                <a:cs typeface="Helvetica Neue"/>
                <a:sym typeface="Helvetica Neue"/>
              </a:rPr>
              <a:t>.</a:t>
            </a:r>
            <a:r>
              <a:rPr b="0" i="1" lang="en-US" sz="1800" u="none">
                <a:solidFill>
                  <a:schemeClr val="dk1"/>
                </a:solidFill>
                <a:latin typeface="Helvetica Neue"/>
                <a:ea typeface="Helvetica Neue"/>
                <a:cs typeface="Helvetica Neue"/>
                <a:sym typeface="Helvetica Neue"/>
              </a:rPr>
              <a:t>account-number</a:t>
            </a:r>
            <a:br>
              <a:rPr b="0" i="1" lang="en-US" sz="1800" u="none">
                <a:solidFill>
                  <a:schemeClr val="dk1"/>
                </a:solidFill>
                <a:latin typeface="Helvetica Neue"/>
                <a:ea typeface="Helvetica Neue"/>
                <a:cs typeface="Helvetica Neue"/>
                <a:sym typeface="Helvetica Neue"/>
              </a:rPr>
            </a:br>
            <a:r>
              <a:rPr b="1" i="0" lang="en-US" sz="1800" u="none">
                <a:solidFill>
                  <a:schemeClr val="dk1"/>
                </a:solidFill>
                <a:latin typeface="Helvetica Neue"/>
                <a:ea typeface="Helvetica Neue"/>
                <a:cs typeface="Helvetica Neue"/>
                <a:sym typeface="Helvetica Neue"/>
              </a:rPr>
              <a:t>end</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255" name="Shape 255"/>
        <p:cNvGrpSpPr/>
        <p:nvPr/>
      </p:nvGrpSpPr>
      <p:grpSpPr>
        <a:xfrm>
          <a:off x="0" y="0"/>
          <a:ext cx="0" cy="0"/>
          <a:chOff x="0" y="0"/>
          <a:chExt cx="0" cy="0"/>
        </a:xfrm>
      </p:grpSpPr>
      <p:sp>
        <p:nvSpPr>
          <p:cNvPr id="256" name="Google Shape;256;p35"/>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en-US" sz="2400" u="none">
                <a:solidFill>
                  <a:schemeClr val="dk1"/>
                </a:solidFill>
                <a:latin typeface="Times New Roman"/>
                <a:ea typeface="Times New Roman"/>
                <a:cs typeface="Times New Roman"/>
                <a:sym typeface="Times New Roman"/>
              </a:rPr>
              <a:t>‹#›</a:t>
            </a:fld>
            <a:endParaRPr/>
          </a:p>
        </p:txBody>
      </p:sp>
      <p:sp>
        <p:nvSpPr>
          <p:cNvPr id="257" name="Google Shape;257;p35"/>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When Not To Use Triggers</a:t>
            </a:r>
            <a:endParaRPr/>
          </a:p>
        </p:txBody>
      </p:sp>
      <p:sp>
        <p:nvSpPr>
          <p:cNvPr id="258" name="Google Shape;258;p35"/>
          <p:cNvSpPr txBox="1"/>
          <p:nvPr>
            <p:ph idx="1" type="body"/>
          </p:nvPr>
        </p:nvSpPr>
        <p:spPr>
          <a:xfrm>
            <a:off x="814387" y="1093787"/>
            <a:ext cx="7661275" cy="4903787"/>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Triggers were used earlier for tasks such as </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maintaining summary data (e.g. total salary of each department)</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Replicating databases by recording changes to special relations (called </a:t>
            </a:r>
            <a:r>
              <a:rPr b="1" i="0" lang="en-US" sz="1800" u="none" cap="none" strike="noStrike">
                <a:solidFill>
                  <a:srgbClr val="990000"/>
                </a:solidFill>
                <a:latin typeface="Helvetica Neue"/>
                <a:ea typeface="Helvetica Neue"/>
                <a:cs typeface="Helvetica Neue"/>
                <a:sym typeface="Helvetica Neue"/>
              </a:rPr>
              <a:t>change</a:t>
            </a:r>
            <a:r>
              <a:rPr b="0" i="0" lang="en-US" sz="1800" u="none" cap="none" strike="noStrike">
                <a:solidFill>
                  <a:schemeClr val="dk1"/>
                </a:solidFill>
                <a:latin typeface="Helvetica Neue"/>
                <a:ea typeface="Helvetica Neue"/>
                <a:cs typeface="Helvetica Neue"/>
                <a:sym typeface="Helvetica Neue"/>
              </a:rPr>
              <a:t> or </a:t>
            </a:r>
            <a:r>
              <a:rPr b="1" i="0" lang="en-US" sz="1800" u="none" cap="none" strike="noStrike">
                <a:solidFill>
                  <a:srgbClr val="990000"/>
                </a:solidFill>
                <a:latin typeface="Helvetica Neue"/>
                <a:ea typeface="Helvetica Neue"/>
                <a:cs typeface="Helvetica Neue"/>
                <a:sym typeface="Helvetica Neue"/>
              </a:rPr>
              <a:t>delta</a:t>
            </a:r>
            <a:r>
              <a:rPr b="0" i="0" lang="en-US" sz="1800" u="none" cap="none" strike="noStrike">
                <a:solidFill>
                  <a:schemeClr val="dk1"/>
                </a:solidFill>
                <a:latin typeface="Helvetica Neue"/>
                <a:ea typeface="Helvetica Neue"/>
                <a:cs typeface="Helvetica Neue"/>
                <a:sym typeface="Helvetica Neue"/>
              </a:rPr>
              <a:t> relations) and having a separate process that applies the changes over to a replica </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There are better ways of doing these now:</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Databases today provide built in  materialized view  facilities to maintain summary data</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Databases provide built-in support for replication</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Encapsulation facilities can be used instead of triggers in many cases</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Define methods to update fields</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Carry out actions as part of the update methods instead of </a:t>
            </a:r>
            <a:br>
              <a:rPr b="0" i="0" lang="en-US" sz="1800" u="none" cap="none" strike="noStrike">
                <a:solidFill>
                  <a:schemeClr val="dk1"/>
                </a:solidFill>
                <a:latin typeface="Helvetica Neue"/>
                <a:ea typeface="Helvetica Neue"/>
                <a:cs typeface="Helvetica Neue"/>
                <a:sym typeface="Helvetica Neue"/>
              </a:rPr>
            </a:br>
            <a:r>
              <a:rPr b="0" i="0" lang="en-US" sz="1800" u="none" cap="none" strike="noStrike">
                <a:solidFill>
                  <a:schemeClr val="dk1"/>
                </a:solidFill>
                <a:latin typeface="Helvetica Neue"/>
                <a:ea typeface="Helvetica Neue"/>
                <a:cs typeface="Helvetica Neue"/>
                <a:sym typeface="Helvetica Neue"/>
              </a:rPr>
              <a:t>through a trigger </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262" name="Shape 262"/>
        <p:cNvGrpSpPr/>
        <p:nvPr/>
      </p:nvGrpSpPr>
      <p:grpSpPr>
        <a:xfrm>
          <a:off x="0" y="0"/>
          <a:ext cx="0" cy="0"/>
          <a:chOff x="0" y="0"/>
          <a:chExt cx="0" cy="0"/>
        </a:xfrm>
      </p:grpSpPr>
      <p:sp>
        <p:nvSpPr>
          <p:cNvPr id="263" name="Google Shape;263;p36"/>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en-US" sz="2400" u="none">
                <a:solidFill>
                  <a:schemeClr val="dk1"/>
                </a:solidFill>
                <a:latin typeface="Times New Roman"/>
                <a:ea typeface="Times New Roman"/>
                <a:cs typeface="Times New Roman"/>
                <a:sym typeface="Times New Roman"/>
              </a:rPr>
              <a:t>‹#›</a:t>
            </a:fld>
            <a:endParaRPr/>
          </a:p>
        </p:txBody>
      </p:sp>
      <p:sp>
        <p:nvSpPr>
          <p:cNvPr id="264" name="Google Shape;264;p36"/>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Authorization in SQL </a:t>
            </a:r>
            <a:r>
              <a:rPr b="1" i="0" lang="en-US" sz="2400" u="none">
                <a:solidFill>
                  <a:schemeClr val="dk2"/>
                </a:solidFill>
                <a:latin typeface="Helvetica Neue"/>
                <a:ea typeface="Helvetica Neue"/>
                <a:cs typeface="Helvetica Neue"/>
                <a:sym typeface="Helvetica Neue"/>
              </a:rPr>
              <a:t>(see also Section 4.3)</a:t>
            </a:r>
            <a:endParaRPr/>
          </a:p>
        </p:txBody>
      </p:sp>
      <p:sp>
        <p:nvSpPr>
          <p:cNvPr id="265" name="Google Shape;265;p36"/>
          <p:cNvSpPr txBox="1"/>
          <p:nvPr>
            <p:ph idx="4294967295" type="body"/>
          </p:nvPr>
        </p:nvSpPr>
        <p:spPr>
          <a:xfrm>
            <a:off x="571500" y="1114425"/>
            <a:ext cx="8115300" cy="4876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1620"/>
              <a:buFont typeface="Arial"/>
              <a:buNone/>
            </a:pPr>
            <a:r>
              <a:rPr b="0" i="0" lang="en-US" sz="1800" u="none">
                <a:solidFill>
                  <a:schemeClr val="dk1"/>
                </a:solidFill>
                <a:latin typeface="Helvetica Neue"/>
                <a:ea typeface="Helvetica Neue"/>
                <a:cs typeface="Helvetica Neue"/>
                <a:sym typeface="Helvetica Neue"/>
              </a:rPr>
              <a:t>Forms of authorization on parts of  the database:</a:t>
            </a:r>
            <a:endParaRPr/>
          </a:p>
          <a:p>
            <a:pPr indent="-342900" lvl="0" marL="342900" marR="0" rtl="0" algn="l">
              <a:lnSpc>
                <a:spcPct val="160000"/>
              </a:lnSpc>
              <a:spcBef>
                <a:spcPts val="630"/>
              </a:spcBef>
              <a:spcAft>
                <a:spcPts val="0"/>
              </a:spcAft>
              <a:buClr>
                <a:schemeClr val="dk2"/>
              </a:buClr>
              <a:buSzPts val="1620"/>
              <a:buFont typeface="Arial"/>
              <a:buChar char="●"/>
            </a:pPr>
            <a:r>
              <a:rPr b="1" i="0" lang="en-US" sz="1800" u="none">
                <a:solidFill>
                  <a:schemeClr val="dk1"/>
                </a:solidFill>
                <a:latin typeface="Helvetica Neue"/>
                <a:ea typeface="Helvetica Neue"/>
                <a:cs typeface="Helvetica Neue"/>
                <a:sym typeface="Helvetica Neue"/>
              </a:rPr>
              <a:t>Read authorization </a:t>
            </a:r>
            <a:r>
              <a:rPr b="0" i="0" lang="en-US" sz="1800" u="none">
                <a:solidFill>
                  <a:schemeClr val="dk1"/>
                </a:solidFill>
                <a:latin typeface="Helvetica Neue"/>
                <a:ea typeface="Helvetica Neue"/>
                <a:cs typeface="Helvetica Neue"/>
                <a:sym typeface="Helvetica Neue"/>
              </a:rPr>
              <a:t>- allows reading, but not modification of data.</a:t>
            </a:r>
            <a:endParaRPr/>
          </a:p>
          <a:p>
            <a:pPr indent="-342900" lvl="0" marL="342900" marR="0" rtl="0" algn="l">
              <a:lnSpc>
                <a:spcPct val="100000"/>
              </a:lnSpc>
              <a:spcBef>
                <a:spcPts val="630"/>
              </a:spcBef>
              <a:spcAft>
                <a:spcPts val="0"/>
              </a:spcAft>
              <a:buClr>
                <a:schemeClr val="dk2"/>
              </a:buClr>
              <a:buSzPts val="1620"/>
              <a:buFont typeface="Arial"/>
              <a:buChar char="●"/>
            </a:pPr>
            <a:r>
              <a:rPr b="1" i="0" lang="en-US" sz="1800" u="none">
                <a:solidFill>
                  <a:schemeClr val="dk1"/>
                </a:solidFill>
                <a:latin typeface="Helvetica Neue"/>
                <a:ea typeface="Helvetica Neue"/>
                <a:cs typeface="Helvetica Neue"/>
                <a:sym typeface="Helvetica Neue"/>
              </a:rPr>
              <a:t>Insert authorization </a:t>
            </a:r>
            <a:r>
              <a:rPr b="0" i="0" lang="en-US" sz="1800" u="none">
                <a:solidFill>
                  <a:schemeClr val="dk1"/>
                </a:solidFill>
                <a:latin typeface="Helvetica Neue"/>
                <a:ea typeface="Helvetica Neue"/>
                <a:cs typeface="Helvetica Neue"/>
                <a:sym typeface="Helvetica Neue"/>
              </a:rPr>
              <a:t>- allows insertion of new data, but not modification of existing data.</a:t>
            </a:r>
            <a:endParaRPr/>
          </a:p>
          <a:p>
            <a:pPr indent="-342900" lvl="0" marL="342900" marR="0" rtl="0" algn="l">
              <a:lnSpc>
                <a:spcPct val="100000"/>
              </a:lnSpc>
              <a:spcBef>
                <a:spcPts val="630"/>
              </a:spcBef>
              <a:spcAft>
                <a:spcPts val="0"/>
              </a:spcAft>
              <a:buClr>
                <a:schemeClr val="dk2"/>
              </a:buClr>
              <a:buSzPts val="1620"/>
              <a:buFont typeface="Arial"/>
              <a:buChar char="●"/>
            </a:pPr>
            <a:r>
              <a:rPr b="1" i="0" lang="en-US" sz="1800" u="none">
                <a:solidFill>
                  <a:schemeClr val="dk1"/>
                </a:solidFill>
                <a:latin typeface="Helvetica Neue"/>
                <a:ea typeface="Helvetica Neue"/>
                <a:cs typeface="Helvetica Neue"/>
                <a:sym typeface="Helvetica Neue"/>
              </a:rPr>
              <a:t>Update authorization </a:t>
            </a:r>
            <a:r>
              <a:rPr b="0" i="0" lang="en-US" sz="1800" u="none">
                <a:solidFill>
                  <a:schemeClr val="dk1"/>
                </a:solidFill>
                <a:latin typeface="Helvetica Neue"/>
                <a:ea typeface="Helvetica Neue"/>
                <a:cs typeface="Helvetica Neue"/>
                <a:sym typeface="Helvetica Neue"/>
              </a:rPr>
              <a:t>- allows modification, but not deletion of data.</a:t>
            </a:r>
            <a:endParaRPr/>
          </a:p>
          <a:p>
            <a:pPr indent="-342900" lvl="0" marL="342900" marR="0" rtl="0" algn="l">
              <a:lnSpc>
                <a:spcPct val="100000"/>
              </a:lnSpc>
              <a:spcBef>
                <a:spcPts val="630"/>
              </a:spcBef>
              <a:spcAft>
                <a:spcPts val="0"/>
              </a:spcAft>
              <a:buClr>
                <a:schemeClr val="dk2"/>
              </a:buClr>
              <a:buSzPts val="1620"/>
              <a:buFont typeface="Arial"/>
              <a:buChar char="●"/>
            </a:pPr>
            <a:r>
              <a:rPr b="1" i="0" lang="en-US" sz="1800" u="none">
                <a:solidFill>
                  <a:schemeClr val="dk1"/>
                </a:solidFill>
                <a:latin typeface="Helvetica Neue"/>
                <a:ea typeface="Helvetica Neue"/>
                <a:cs typeface="Helvetica Neue"/>
                <a:sym typeface="Helvetica Neue"/>
              </a:rPr>
              <a:t>Delete authorization </a:t>
            </a:r>
            <a:r>
              <a:rPr b="0" i="0" lang="en-US" sz="1800" u="none">
                <a:solidFill>
                  <a:schemeClr val="dk1"/>
                </a:solidFill>
                <a:latin typeface="Helvetica Neue"/>
                <a:ea typeface="Helvetica Neue"/>
                <a:cs typeface="Helvetica Neue"/>
                <a:sym typeface="Helvetica Neue"/>
              </a:rPr>
              <a:t>- allows deletion of data</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269" name="Shape 269"/>
        <p:cNvGrpSpPr/>
        <p:nvPr/>
      </p:nvGrpSpPr>
      <p:grpSpPr>
        <a:xfrm>
          <a:off x="0" y="0"/>
          <a:ext cx="0" cy="0"/>
          <a:chOff x="0" y="0"/>
          <a:chExt cx="0" cy="0"/>
        </a:xfrm>
      </p:grpSpPr>
      <p:sp>
        <p:nvSpPr>
          <p:cNvPr id="270" name="Google Shape;270;p37"/>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en-US" sz="2400" u="none">
                <a:solidFill>
                  <a:schemeClr val="dk1"/>
                </a:solidFill>
                <a:latin typeface="Times New Roman"/>
                <a:ea typeface="Times New Roman"/>
                <a:cs typeface="Times New Roman"/>
                <a:sym typeface="Times New Roman"/>
              </a:rPr>
              <a:t>‹#›</a:t>
            </a:fld>
            <a:endParaRPr/>
          </a:p>
        </p:txBody>
      </p:sp>
      <p:sp>
        <p:nvSpPr>
          <p:cNvPr id="271" name="Google Shape;271;p37"/>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Authorization (Cont.)</a:t>
            </a:r>
            <a:endParaRPr/>
          </a:p>
        </p:txBody>
      </p:sp>
      <p:sp>
        <p:nvSpPr>
          <p:cNvPr id="272" name="Google Shape;272;p37"/>
          <p:cNvSpPr txBox="1"/>
          <p:nvPr>
            <p:ph idx="4294967295" type="body"/>
          </p:nvPr>
        </p:nvSpPr>
        <p:spPr>
          <a:xfrm>
            <a:off x="571500" y="1343025"/>
            <a:ext cx="8191500" cy="3152775"/>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1620"/>
              <a:buFont typeface="Arial"/>
              <a:buNone/>
            </a:pPr>
            <a:r>
              <a:rPr b="0" i="0" lang="en-US" sz="1800" u="none">
                <a:solidFill>
                  <a:schemeClr val="dk1"/>
                </a:solidFill>
                <a:latin typeface="Helvetica Neue"/>
                <a:ea typeface="Helvetica Neue"/>
                <a:cs typeface="Helvetica Neue"/>
                <a:sym typeface="Helvetica Neue"/>
              </a:rPr>
              <a:t>Forms of authorization to modify  the database schema:</a:t>
            </a:r>
            <a:endParaRPr/>
          </a:p>
          <a:p>
            <a:pPr indent="-342900" lvl="0" marL="342900" marR="0" rtl="0" algn="l">
              <a:lnSpc>
                <a:spcPct val="100000"/>
              </a:lnSpc>
              <a:spcBef>
                <a:spcPts val="630"/>
              </a:spcBef>
              <a:spcAft>
                <a:spcPts val="0"/>
              </a:spcAft>
              <a:buClr>
                <a:schemeClr val="dk2"/>
              </a:buClr>
              <a:buSzPts val="1620"/>
              <a:buFont typeface="Arial"/>
              <a:buChar char="●"/>
            </a:pPr>
            <a:r>
              <a:rPr b="1" i="0" lang="en-US" sz="1800" u="none">
                <a:solidFill>
                  <a:schemeClr val="dk1"/>
                </a:solidFill>
                <a:latin typeface="Helvetica Neue"/>
                <a:ea typeface="Helvetica Neue"/>
                <a:cs typeface="Helvetica Neue"/>
                <a:sym typeface="Helvetica Neue"/>
              </a:rPr>
              <a:t>Index authorization </a:t>
            </a:r>
            <a:r>
              <a:rPr b="0" i="0" lang="en-US" sz="1800" u="none">
                <a:solidFill>
                  <a:schemeClr val="dk1"/>
                </a:solidFill>
                <a:latin typeface="Helvetica Neue"/>
                <a:ea typeface="Helvetica Neue"/>
                <a:cs typeface="Helvetica Neue"/>
                <a:sym typeface="Helvetica Neue"/>
              </a:rPr>
              <a:t>- allows creation and deletion of indices.</a:t>
            </a:r>
            <a:endParaRPr/>
          </a:p>
          <a:p>
            <a:pPr indent="-342900" lvl="0" marL="342900" marR="0" rtl="0" algn="l">
              <a:lnSpc>
                <a:spcPct val="100000"/>
              </a:lnSpc>
              <a:spcBef>
                <a:spcPts val="630"/>
              </a:spcBef>
              <a:spcAft>
                <a:spcPts val="0"/>
              </a:spcAft>
              <a:buClr>
                <a:schemeClr val="dk2"/>
              </a:buClr>
              <a:buSzPts val="1620"/>
              <a:buFont typeface="Arial"/>
              <a:buChar char="●"/>
            </a:pPr>
            <a:r>
              <a:rPr b="1" i="0" lang="en-US" sz="1800" u="none">
                <a:solidFill>
                  <a:schemeClr val="dk1"/>
                </a:solidFill>
                <a:latin typeface="Helvetica Neue"/>
                <a:ea typeface="Helvetica Neue"/>
                <a:cs typeface="Helvetica Neue"/>
                <a:sym typeface="Helvetica Neue"/>
              </a:rPr>
              <a:t>Resources</a:t>
            </a:r>
            <a:r>
              <a:rPr b="0" i="0" lang="en-US" sz="1800" u="none">
                <a:solidFill>
                  <a:schemeClr val="dk1"/>
                </a:solidFill>
                <a:latin typeface="Helvetica Neue"/>
                <a:ea typeface="Helvetica Neue"/>
                <a:cs typeface="Helvetica Neue"/>
                <a:sym typeface="Helvetica Neue"/>
              </a:rPr>
              <a:t> </a:t>
            </a:r>
            <a:r>
              <a:rPr b="1" i="0" lang="en-US" sz="1800" u="none">
                <a:solidFill>
                  <a:schemeClr val="dk1"/>
                </a:solidFill>
                <a:latin typeface="Helvetica Neue"/>
                <a:ea typeface="Helvetica Neue"/>
                <a:cs typeface="Helvetica Neue"/>
                <a:sym typeface="Helvetica Neue"/>
              </a:rPr>
              <a:t>authorization</a:t>
            </a:r>
            <a:r>
              <a:rPr b="0" i="0" lang="en-US" sz="1800" u="none">
                <a:solidFill>
                  <a:schemeClr val="dk1"/>
                </a:solidFill>
                <a:latin typeface="Helvetica Neue"/>
                <a:ea typeface="Helvetica Neue"/>
                <a:cs typeface="Helvetica Neue"/>
                <a:sym typeface="Helvetica Neue"/>
              </a:rPr>
              <a:t> - allows creation of new relations.</a:t>
            </a:r>
            <a:endParaRPr/>
          </a:p>
          <a:p>
            <a:pPr indent="-342900" lvl="0" marL="342900" marR="0" rtl="0" algn="l">
              <a:lnSpc>
                <a:spcPct val="100000"/>
              </a:lnSpc>
              <a:spcBef>
                <a:spcPts val="630"/>
              </a:spcBef>
              <a:spcAft>
                <a:spcPts val="0"/>
              </a:spcAft>
              <a:buClr>
                <a:schemeClr val="dk2"/>
              </a:buClr>
              <a:buSzPts val="1620"/>
              <a:buFont typeface="Arial"/>
              <a:buChar char="●"/>
            </a:pPr>
            <a:r>
              <a:rPr b="1" i="0" lang="en-US" sz="1800" u="none">
                <a:solidFill>
                  <a:schemeClr val="dk1"/>
                </a:solidFill>
                <a:latin typeface="Helvetica Neue"/>
                <a:ea typeface="Helvetica Neue"/>
                <a:cs typeface="Helvetica Neue"/>
                <a:sym typeface="Helvetica Neue"/>
              </a:rPr>
              <a:t>Alteration</a:t>
            </a:r>
            <a:r>
              <a:rPr b="0" i="0" lang="en-US" sz="1800" u="none">
                <a:solidFill>
                  <a:schemeClr val="dk1"/>
                </a:solidFill>
                <a:latin typeface="Helvetica Neue"/>
                <a:ea typeface="Helvetica Neue"/>
                <a:cs typeface="Helvetica Neue"/>
                <a:sym typeface="Helvetica Neue"/>
              </a:rPr>
              <a:t> </a:t>
            </a:r>
            <a:r>
              <a:rPr b="1" i="0" lang="en-US" sz="1800" u="none">
                <a:solidFill>
                  <a:schemeClr val="dk1"/>
                </a:solidFill>
                <a:latin typeface="Helvetica Neue"/>
                <a:ea typeface="Helvetica Neue"/>
                <a:cs typeface="Helvetica Neue"/>
                <a:sym typeface="Helvetica Neue"/>
              </a:rPr>
              <a:t>authorization</a:t>
            </a:r>
            <a:r>
              <a:rPr b="0" i="0" lang="en-US" sz="1800" u="none">
                <a:solidFill>
                  <a:schemeClr val="dk1"/>
                </a:solidFill>
                <a:latin typeface="Helvetica Neue"/>
                <a:ea typeface="Helvetica Neue"/>
                <a:cs typeface="Helvetica Neue"/>
                <a:sym typeface="Helvetica Neue"/>
              </a:rPr>
              <a:t> - allows addition or deletion of attributes in a relation.</a:t>
            </a:r>
            <a:endParaRPr/>
          </a:p>
          <a:p>
            <a:pPr indent="-342900" lvl="0" marL="342900" marR="0" rtl="0" algn="l">
              <a:lnSpc>
                <a:spcPct val="100000"/>
              </a:lnSpc>
              <a:spcBef>
                <a:spcPts val="630"/>
              </a:spcBef>
              <a:spcAft>
                <a:spcPts val="0"/>
              </a:spcAft>
              <a:buClr>
                <a:schemeClr val="dk2"/>
              </a:buClr>
              <a:buSzPts val="1620"/>
              <a:buFont typeface="Arial"/>
              <a:buChar char="●"/>
            </a:pPr>
            <a:r>
              <a:rPr b="1" i="0" lang="en-US" sz="1800" u="none">
                <a:solidFill>
                  <a:schemeClr val="dk1"/>
                </a:solidFill>
                <a:latin typeface="Helvetica Neue"/>
                <a:ea typeface="Helvetica Neue"/>
                <a:cs typeface="Helvetica Neue"/>
                <a:sym typeface="Helvetica Neue"/>
              </a:rPr>
              <a:t>Drop</a:t>
            </a:r>
            <a:r>
              <a:rPr b="0" i="0" lang="en-US" sz="1800" u="none">
                <a:solidFill>
                  <a:schemeClr val="dk1"/>
                </a:solidFill>
                <a:latin typeface="Helvetica Neue"/>
                <a:ea typeface="Helvetica Neue"/>
                <a:cs typeface="Helvetica Neue"/>
                <a:sym typeface="Helvetica Neue"/>
              </a:rPr>
              <a:t> </a:t>
            </a:r>
            <a:r>
              <a:rPr b="1" i="0" lang="en-US" sz="1800" u="none">
                <a:solidFill>
                  <a:schemeClr val="dk1"/>
                </a:solidFill>
                <a:latin typeface="Helvetica Neue"/>
                <a:ea typeface="Helvetica Neue"/>
                <a:cs typeface="Helvetica Neue"/>
                <a:sym typeface="Helvetica Neue"/>
              </a:rPr>
              <a:t>authorization</a:t>
            </a:r>
            <a:r>
              <a:rPr b="0" i="0" lang="en-US" sz="1800" u="none">
                <a:solidFill>
                  <a:schemeClr val="dk1"/>
                </a:solidFill>
                <a:latin typeface="Helvetica Neue"/>
                <a:ea typeface="Helvetica Neue"/>
                <a:cs typeface="Helvetica Neue"/>
                <a:sym typeface="Helvetica Neue"/>
              </a:rPr>
              <a:t> - allows deletion of relations.</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276" name="Shape 276"/>
        <p:cNvGrpSpPr/>
        <p:nvPr/>
      </p:nvGrpSpPr>
      <p:grpSpPr>
        <a:xfrm>
          <a:off x="0" y="0"/>
          <a:ext cx="0" cy="0"/>
          <a:chOff x="0" y="0"/>
          <a:chExt cx="0" cy="0"/>
        </a:xfrm>
      </p:grpSpPr>
      <p:sp>
        <p:nvSpPr>
          <p:cNvPr id="277" name="Google Shape;277;p38"/>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en-US" sz="2400" u="none">
                <a:solidFill>
                  <a:schemeClr val="dk1"/>
                </a:solidFill>
                <a:latin typeface="Times New Roman"/>
                <a:ea typeface="Times New Roman"/>
                <a:cs typeface="Times New Roman"/>
                <a:sym typeface="Times New Roman"/>
              </a:rPr>
              <a:t>‹#›</a:t>
            </a:fld>
            <a:endParaRPr/>
          </a:p>
        </p:txBody>
      </p:sp>
      <p:sp>
        <p:nvSpPr>
          <p:cNvPr id="278" name="Google Shape;278;p38"/>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Authorization and Views</a:t>
            </a:r>
            <a:endParaRPr/>
          </a:p>
        </p:txBody>
      </p:sp>
      <p:sp>
        <p:nvSpPr>
          <p:cNvPr id="279" name="Google Shape;279;p38"/>
          <p:cNvSpPr txBox="1"/>
          <p:nvPr>
            <p:ph idx="4294967295" type="body"/>
          </p:nvPr>
        </p:nvSpPr>
        <p:spPr>
          <a:xfrm>
            <a:off x="814387" y="1093787"/>
            <a:ext cx="7661275" cy="3400425"/>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Users can be given authorization on views, without being given any authorization on the relations used in the view definition</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Ability of views to hide data serves both to simplify usage of the system and to enhance security by allowing users access only to data they need for their job</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A  combination or relational-level security and view-level security can be used to limit a user’s access to precisely  the data that user needs.</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283" name="Shape 283"/>
        <p:cNvGrpSpPr/>
        <p:nvPr/>
      </p:nvGrpSpPr>
      <p:grpSpPr>
        <a:xfrm>
          <a:off x="0" y="0"/>
          <a:ext cx="0" cy="0"/>
          <a:chOff x="0" y="0"/>
          <a:chExt cx="0" cy="0"/>
        </a:xfrm>
      </p:grpSpPr>
      <p:sp>
        <p:nvSpPr>
          <p:cNvPr id="284" name="Google Shape;284;p39"/>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en-US" sz="2400" u="none">
                <a:solidFill>
                  <a:schemeClr val="dk1"/>
                </a:solidFill>
                <a:latin typeface="Times New Roman"/>
                <a:ea typeface="Times New Roman"/>
                <a:cs typeface="Times New Roman"/>
                <a:sym typeface="Times New Roman"/>
              </a:rPr>
              <a:t>‹#›</a:t>
            </a:fld>
            <a:endParaRPr/>
          </a:p>
        </p:txBody>
      </p:sp>
      <p:sp>
        <p:nvSpPr>
          <p:cNvPr id="285" name="Google Shape;285;p39"/>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View Example</a:t>
            </a:r>
            <a:endParaRPr/>
          </a:p>
        </p:txBody>
      </p:sp>
      <p:sp>
        <p:nvSpPr>
          <p:cNvPr id="286" name="Google Shape;286;p39"/>
          <p:cNvSpPr txBox="1"/>
          <p:nvPr>
            <p:ph idx="4294967295" type="body"/>
          </p:nvPr>
        </p:nvSpPr>
        <p:spPr>
          <a:xfrm>
            <a:off x="814387" y="1093787"/>
            <a:ext cx="7661275" cy="4903787"/>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Suppose a  bank clerk needs to know the names of the customers of each branch, but is not authorized to see specific loan information.</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Approach: Deny direct access to the</a:t>
            </a:r>
            <a:r>
              <a:rPr b="0" i="1" lang="en-US" sz="1800" u="none" cap="none" strike="noStrike">
                <a:solidFill>
                  <a:schemeClr val="dk1"/>
                </a:solidFill>
                <a:latin typeface="Helvetica Neue"/>
                <a:ea typeface="Helvetica Neue"/>
                <a:cs typeface="Helvetica Neue"/>
                <a:sym typeface="Helvetica Neue"/>
              </a:rPr>
              <a:t> loan </a:t>
            </a:r>
            <a:r>
              <a:rPr b="0" i="0" lang="en-US" sz="1800" u="none" cap="none" strike="noStrike">
                <a:solidFill>
                  <a:schemeClr val="dk1"/>
                </a:solidFill>
                <a:latin typeface="Helvetica Neue"/>
                <a:ea typeface="Helvetica Neue"/>
                <a:cs typeface="Helvetica Neue"/>
                <a:sym typeface="Helvetica Neue"/>
              </a:rPr>
              <a:t>relation, but grant access to the view </a:t>
            </a:r>
            <a:r>
              <a:rPr b="0" i="1" lang="en-US" sz="1800" u="none" cap="none" strike="noStrike">
                <a:solidFill>
                  <a:schemeClr val="dk1"/>
                </a:solidFill>
                <a:latin typeface="Helvetica Neue"/>
                <a:ea typeface="Helvetica Neue"/>
                <a:cs typeface="Helvetica Neue"/>
                <a:sym typeface="Helvetica Neue"/>
              </a:rPr>
              <a:t>cust-loan</a:t>
            </a:r>
            <a:r>
              <a:rPr b="0" i="0" lang="en-US" sz="1800" u="none" cap="none" strike="noStrike">
                <a:solidFill>
                  <a:schemeClr val="dk1"/>
                </a:solidFill>
                <a:latin typeface="Helvetica Neue"/>
                <a:ea typeface="Helvetica Neue"/>
                <a:cs typeface="Helvetica Neue"/>
                <a:sym typeface="Helvetica Neue"/>
              </a:rPr>
              <a:t>, which consists only of  the names of customers and the branches at which they have a loan.</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The </a:t>
            </a:r>
            <a:r>
              <a:rPr b="0" i="1" lang="en-US" sz="1800" u="none" cap="none" strike="noStrike">
                <a:solidFill>
                  <a:schemeClr val="dk1"/>
                </a:solidFill>
                <a:latin typeface="Helvetica Neue"/>
                <a:ea typeface="Helvetica Neue"/>
                <a:cs typeface="Helvetica Neue"/>
                <a:sym typeface="Helvetica Neue"/>
              </a:rPr>
              <a:t>cust-loan </a:t>
            </a:r>
            <a:r>
              <a:rPr b="0" i="0" lang="en-US" sz="1800" u="none" cap="none" strike="noStrike">
                <a:solidFill>
                  <a:schemeClr val="dk1"/>
                </a:solidFill>
                <a:latin typeface="Helvetica Neue"/>
                <a:ea typeface="Helvetica Neue"/>
                <a:cs typeface="Helvetica Neue"/>
                <a:sym typeface="Helvetica Neue"/>
              </a:rPr>
              <a:t>view is defined in SQL as follows:</a:t>
            </a:r>
            <a:endParaRPr/>
          </a:p>
          <a:p>
            <a:pPr indent="-342900" lvl="0" marL="342900" marR="0" rtl="0" algn="l">
              <a:lnSpc>
                <a:spcPct val="100000"/>
              </a:lnSpc>
              <a:spcBef>
                <a:spcPts val="630"/>
              </a:spcBef>
              <a:spcAft>
                <a:spcPts val="0"/>
              </a:spcAft>
              <a:buClr>
                <a:schemeClr val="dk2"/>
              </a:buClr>
              <a:buSzPts val="1620"/>
              <a:buFont typeface="Arial"/>
              <a:buNone/>
            </a:pPr>
            <a:r>
              <a:rPr b="1" i="0" lang="en-US" sz="1800" u="none">
                <a:solidFill>
                  <a:schemeClr val="dk1"/>
                </a:solidFill>
                <a:latin typeface="Helvetica Neue"/>
                <a:ea typeface="Helvetica Neue"/>
                <a:cs typeface="Helvetica Neue"/>
                <a:sym typeface="Helvetica Neue"/>
              </a:rPr>
              <a:t>		create view </a:t>
            </a:r>
            <a:r>
              <a:rPr b="0" i="1" lang="en-US" sz="1800" u="none">
                <a:solidFill>
                  <a:schemeClr val="dk1"/>
                </a:solidFill>
                <a:latin typeface="Helvetica Neue"/>
                <a:ea typeface="Helvetica Neue"/>
                <a:cs typeface="Helvetica Neue"/>
                <a:sym typeface="Helvetica Neue"/>
              </a:rPr>
              <a:t>cust-loan </a:t>
            </a:r>
            <a:r>
              <a:rPr b="1" i="0" lang="en-US" sz="1800" u="none">
                <a:solidFill>
                  <a:schemeClr val="dk1"/>
                </a:solidFill>
                <a:latin typeface="Helvetica Neue"/>
                <a:ea typeface="Helvetica Neue"/>
                <a:cs typeface="Helvetica Neue"/>
                <a:sym typeface="Helvetica Neue"/>
              </a:rPr>
              <a:t>as</a:t>
            </a:r>
            <a:br>
              <a:rPr b="0" i="0" lang="en-US" sz="1800" u="none">
                <a:solidFill>
                  <a:schemeClr val="dk1"/>
                </a:solidFill>
                <a:latin typeface="Helvetica Neue"/>
                <a:ea typeface="Helvetica Neue"/>
                <a:cs typeface="Helvetica Neue"/>
                <a:sym typeface="Helvetica Neue"/>
              </a:rPr>
            </a:br>
            <a:r>
              <a:rPr b="0" i="0" lang="en-US" sz="1800" u="none">
                <a:solidFill>
                  <a:schemeClr val="dk1"/>
                </a:solidFill>
                <a:latin typeface="Helvetica Neue"/>
                <a:ea typeface="Helvetica Neue"/>
                <a:cs typeface="Helvetica Neue"/>
                <a:sym typeface="Helvetica Neue"/>
              </a:rPr>
              <a:t>	    </a:t>
            </a:r>
            <a:r>
              <a:rPr b="1" i="0" lang="en-US" sz="1800" u="none">
                <a:solidFill>
                  <a:schemeClr val="dk1"/>
                </a:solidFill>
                <a:latin typeface="Helvetica Neue"/>
                <a:ea typeface="Helvetica Neue"/>
                <a:cs typeface="Helvetica Neue"/>
                <a:sym typeface="Helvetica Neue"/>
              </a:rPr>
              <a:t>select </a:t>
            </a:r>
            <a:r>
              <a:rPr b="0" i="1" lang="en-US" sz="1800" u="none">
                <a:solidFill>
                  <a:schemeClr val="dk1"/>
                </a:solidFill>
                <a:latin typeface="Helvetica Neue"/>
                <a:ea typeface="Helvetica Neue"/>
                <a:cs typeface="Helvetica Neue"/>
                <a:sym typeface="Helvetica Neue"/>
              </a:rPr>
              <a:t>branchname</a:t>
            </a:r>
            <a:r>
              <a:rPr b="0" i="0" lang="en-US" sz="1800" u="none">
                <a:solidFill>
                  <a:schemeClr val="dk1"/>
                </a:solidFill>
                <a:latin typeface="Helvetica Neue"/>
                <a:ea typeface="Helvetica Neue"/>
                <a:cs typeface="Helvetica Neue"/>
                <a:sym typeface="Helvetica Neue"/>
              </a:rPr>
              <a:t>, </a:t>
            </a:r>
            <a:r>
              <a:rPr b="0" i="1" lang="en-US" sz="1800" u="none">
                <a:solidFill>
                  <a:schemeClr val="dk1"/>
                </a:solidFill>
                <a:latin typeface="Helvetica Neue"/>
                <a:ea typeface="Helvetica Neue"/>
                <a:cs typeface="Helvetica Neue"/>
                <a:sym typeface="Helvetica Neue"/>
              </a:rPr>
              <a:t>customer-name</a:t>
            </a:r>
            <a:br>
              <a:rPr b="0" i="0" lang="en-US" sz="1800" u="none">
                <a:solidFill>
                  <a:schemeClr val="dk1"/>
                </a:solidFill>
                <a:latin typeface="Helvetica Neue"/>
                <a:ea typeface="Helvetica Neue"/>
                <a:cs typeface="Helvetica Neue"/>
                <a:sym typeface="Helvetica Neue"/>
              </a:rPr>
            </a:br>
            <a:r>
              <a:rPr b="1" i="0" lang="en-US" sz="1800" u="none">
                <a:solidFill>
                  <a:schemeClr val="dk1"/>
                </a:solidFill>
                <a:latin typeface="Helvetica Neue"/>
                <a:ea typeface="Helvetica Neue"/>
                <a:cs typeface="Helvetica Neue"/>
                <a:sym typeface="Helvetica Neue"/>
              </a:rPr>
              <a:t>	    from   </a:t>
            </a:r>
            <a:r>
              <a:rPr b="0" i="1" lang="en-US" sz="1800" u="none">
                <a:solidFill>
                  <a:schemeClr val="dk1"/>
                </a:solidFill>
                <a:latin typeface="Helvetica Neue"/>
                <a:ea typeface="Helvetica Neue"/>
                <a:cs typeface="Helvetica Neue"/>
                <a:sym typeface="Helvetica Neue"/>
              </a:rPr>
              <a:t>borrower, loan</a:t>
            </a:r>
            <a:br>
              <a:rPr b="0" i="0" lang="en-US" sz="1800" u="none">
                <a:solidFill>
                  <a:schemeClr val="dk1"/>
                </a:solidFill>
                <a:latin typeface="Helvetica Neue"/>
                <a:ea typeface="Helvetica Neue"/>
                <a:cs typeface="Helvetica Neue"/>
                <a:sym typeface="Helvetica Neue"/>
              </a:rPr>
            </a:br>
            <a:r>
              <a:rPr b="1" i="0" lang="en-US" sz="1800" u="none">
                <a:solidFill>
                  <a:schemeClr val="dk1"/>
                </a:solidFill>
                <a:latin typeface="Helvetica Neue"/>
                <a:ea typeface="Helvetica Neue"/>
                <a:cs typeface="Helvetica Neue"/>
                <a:sym typeface="Helvetica Neue"/>
              </a:rPr>
              <a:t>	    where </a:t>
            </a:r>
            <a:r>
              <a:rPr b="0" i="1" lang="en-US" sz="1800" u="none">
                <a:solidFill>
                  <a:schemeClr val="dk1"/>
                </a:solidFill>
                <a:latin typeface="Helvetica Neue"/>
                <a:ea typeface="Helvetica Neue"/>
                <a:cs typeface="Helvetica Neue"/>
                <a:sym typeface="Helvetica Neue"/>
              </a:rPr>
              <a:t>borrower.loan-number </a:t>
            </a:r>
            <a:r>
              <a:rPr b="0" i="0" lang="en-US" sz="1800" u="none">
                <a:solidFill>
                  <a:schemeClr val="dk1"/>
                </a:solidFill>
                <a:latin typeface="Helvetica Neue"/>
                <a:ea typeface="Helvetica Neue"/>
                <a:cs typeface="Helvetica Neue"/>
                <a:sym typeface="Helvetica Neue"/>
              </a:rPr>
              <a:t>=</a:t>
            </a:r>
            <a:r>
              <a:rPr b="0" i="1" lang="en-US" sz="1800" u="none">
                <a:solidFill>
                  <a:schemeClr val="dk1"/>
                </a:solidFill>
                <a:latin typeface="Helvetica Neue"/>
                <a:ea typeface="Helvetica Neue"/>
                <a:cs typeface="Helvetica Neue"/>
                <a:sym typeface="Helvetica Neue"/>
              </a:rPr>
              <a:t> loan.loan-number</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290" name="Shape 290"/>
        <p:cNvGrpSpPr/>
        <p:nvPr/>
      </p:nvGrpSpPr>
      <p:grpSpPr>
        <a:xfrm>
          <a:off x="0" y="0"/>
          <a:ext cx="0" cy="0"/>
          <a:chOff x="0" y="0"/>
          <a:chExt cx="0" cy="0"/>
        </a:xfrm>
      </p:grpSpPr>
      <p:sp>
        <p:nvSpPr>
          <p:cNvPr id="291" name="Google Shape;291;p40"/>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en-US" sz="2400" u="none">
                <a:solidFill>
                  <a:schemeClr val="dk1"/>
                </a:solidFill>
                <a:latin typeface="Times New Roman"/>
                <a:ea typeface="Times New Roman"/>
                <a:cs typeface="Times New Roman"/>
                <a:sym typeface="Times New Roman"/>
              </a:rPr>
              <a:t>‹#›</a:t>
            </a:fld>
            <a:endParaRPr/>
          </a:p>
        </p:txBody>
      </p:sp>
      <p:sp>
        <p:nvSpPr>
          <p:cNvPr id="292" name="Google Shape;292;p40"/>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View Example (Cont.)</a:t>
            </a:r>
            <a:endParaRPr/>
          </a:p>
        </p:txBody>
      </p:sp>
      <p:sp>
        <p:nvSpPr>
          <p:cNvPr id="293" name="Google Shape;293;p40"/>
          <p:cNvSpPr txBox="1"/>
          <p:nvPr>
            <p:ph idx="4294967295" type="body"/>
          </p:nvPr>
        </p:nvSpPr>
        <p:spPr>
          <a:xfrm>
            <a:off x="814387" y="1093787"/>
            <a:ext cx="7661275" cy="4903787"/>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The clerk is authorized to see the result of the query:</a:t>
            </a:r>
            <a:endParaRPr/>
          </a:p>
          <a:p>
            <a:pPr indent="-228600" lvl="4" marL="1771650" marR="0" rtl="0" algn="l">
              <a:lnSpc>
                <a:spcPct val="100000"/>
              </a:lnSpc>
              <a:spcBef>
                <a:spcPts val="630"/>
              </a:spcBef>
              <a:spcAft>
                <a:spcPts val="0"/>
              </a:spcAft>
              <a:buClr>
                <a:schemeClr val="dk2"/>
              </a:buClr>
              <a:buSzPts val="1350"/>
              <a:buFont typeface="Helvetica Neue"/>
              <a:buNone/>
            </a:pPr>
            <a:r>
              <a:rPr b="1" i="0" lang="en-US" sz="1800" u="none" cap="none" strike="noStrike">
                <a:solidFill>
                  <a:schemeClr val="dk1"/>
                </a:solidFill>
                <a:latin typeface="Helvetica Neue"/>
                <a:ea typeface="Helvetica Neue"/>
                <a:cs typeface="Helvetica Neue"/>
                <a:sym typeface="Helvetica Neue"/>
              </a:rPr>
              <a:t>   select</a:t>
            </a:r>
            <a:r>
              <a:rPr b="0" i="0" lang="en-US" sz="1800" u="none" cap="none" strike="noStrike">
                <a:solidFill>
                  <a:schemeClr val="dk1"/>
                </a:solidFill>
                <a:latin typeface="Helvetica Neue"/>
                <a:ea typeface="Helvetica Neue"/>
                <a:cs typeface="Helvetica Neue"/>
                <a:sym typeface="Helvetica Neue"/>
              </a:rPr>
              <a:t> </a:t>
            </a:r>
            <a:r>
              <a:rPr b="1" i="0" lang="en-US" sz="1800" u="none" cap="none" strike="noStrike">
                <a:solidFill>
                  <a:schemeClr val="dk1"/>
                </a:solidFill>
                <a:latin typeface="Helvetica Neue"/>
                <a:ea typeface="Helvetica Neue"/>
                <a:cs typeface="Helvetica Neue"/>
                <a:sym typeface="Helvetica Neue"/>
              </a:rPr>
              <a:t>*</a:t>
            </a:r>
            <a:br>
              <a:rPr b="1" i="0" lang="en-US" sz="1800" u="none" cap="none" strike="noStrike">
                <a:solidFill>
                  <a:schemeClr val="dk1"/>
                </a:solidFill>
                <a:latin typeface="Helvetica Neue"/>
                <a:ea typeface="Helvetica Neue"/>
                <a:cs typeface="Helvetica Neue"/>
                <a:sym typeface="Helvetica Neue"/>
              </a:rPr>
            </a:br>
            <a:r>
              <a:rPr b="1" i="0" lang="en-US" sz="1800" u="none" cap="none" strike="noStrike">
                <a:solidFill>
                  <a:schemeClr val="dk1"/>
                </a:solidFill>
                <a:latin typeface="Helvetica Neue"/>
                <a:ea typeface="Helvetica Neue"/>
                <a:cs typeface="Helvetica Neue"/>
                <a:sym typeface="Helvetica Neue"/>
              </a:rPr>
              <a:t>from </a:t>
            </a:r>
            <a:r>
              <a:rPr b="0" i="1" lang="en-US" sz="1800" u="none" cap="none" strike="noStrike">
                <a:solidFill>
                  <a:schemeClr val="dk1"/>
                </a:solidFill>
                <a:latin typeface="Helvetica Neue"/>
                <a:ea typeface="Helvetica Neue"/>
                <a:cs typeface="Helvetica Neue"/>
                <a:sym typeface="Helvetica Neue"/>
              </a:rPr>
              <a:t>cust-loan</a:t>
            </a:r>
            <a:endParaRPr b="0" i="0" sz="1800" u="none" cap="none" strike="noStrike">
              <a:solidFill>
                <a:schemeClr val="dk1"/>
              </a:solidFill>
              <a:latin typeface="Helvetica Neue"/>
              <a:ea typeface="Helvetica Neue"/>
              <a:cs typeface="Helvetica Neue"/>
              <a:sym typeface="Helvetica Neue"/>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When the query  processor translates the result into a query on the actual relations in the database, we obtain a query on </a:t>
            </a:r>
            <a:r>
              <a:rPr b="0" i="1" lang="en-US" sz="1800" u="none">
                <a:solidFill>
                  <a:schemeClr val="dk1"/>
                </a:solidFill>
                <a:latin typeface="Helvetica Neue"/>
                <a:ea typeface="Helvetica Neue"/>
                <a:cs typeface="Helvetica Neue"/>
                <a:sym typeface="Helvetica Neue"/>
              </a:rPr>
              <a:t>borrower </a:t>
            </a:r>
            <a:r>
              <a:rPr b="0" i="0" lang="en-US" sz="1800" u="none">
                <a:solidFill>
                  <a:schemeClr val="dk1"/>
                </a:solidFill>
                <a:latin typeface="Helvetica Neue"/>
                <a:ea typeface="Helvetica Neue"/>
                <a:cs typeface="Helvetica Neue"/>
                <a:sym typeface="Helvetica Neue"/>
              </a:rPr>
              <a:t>and </a:t>
            </a:r>
            <a:r>
              <a:rPr b="0" i="1" lang="en-US" sz="1800" u="none">
                <a:solidFill>
                  <a:schemeClr val="dk1"/>
                </a:solidFill>
                <a:latin typeface="Helvetica Neue"/>
                <a:ea typeface="Helvetica Neue"/>
                <a:cs typeface="Helvetica Neue"/>
                <a:sym typeface="Helvetica Neue"/>
              </a:rPr>
              <a:t>loan</a:t>
            </a:r>
            <a:r>
              <a:rPr b="0" i="0" lang="en-US" sz="1800" u="none">
                <a:solidFill>
                  <a:schemeClr val="dk1"/>
                </a:solidFill>
                <a:latin typeface="Helvetica Neue"/>
                <a:ea typeface="Helvetica Neue"/>
                <a:cs typeface="Helvetica Neue"/>
                <a:sym typeface="Helvetica Neue"/>
              </a:rPr>
              <a:t>.</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Authorization must be checked on the clerk’s query  before query processing replaces a view by the definition of the view.</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297" name="Shape 297"/>
        <p:cNvGrpSpPr/>
        <p:nvPr/>
      </p:nvGrpSpPr>
      <p:grpSpPr>
        <a:xfrm>
          <a:off x="0" y="0"/>
          <a:ext cx="0" cy="0"/>
          <a:chOff x="0" y="0"/>
          <a:chExt cx="0" cy="0"/>
        </a:xfrm>
      </p:grpSpPr>
      <p:sp>
        <p:nvSpPr>
          <p:cNvPr id="298" name="Google Shape;298;p41"/>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en-US" sz="2400" u="none">
                <a:solidFill>
                  <a:schemeClr val="dk1"/>
                </a:solidFill>
                <a:latin typeface="Times New Roman"/>
                <a:ea typeface="Times New Roman"/>
                <a:cs typeface="Times New Roman"/>
                <a:sym typeface="Times New Roman"/>
              </a:rPr>
              <a:t>‹#›</a:t>
            </a:fld>
            <a:endParaRPr/>
          </a:p>
        </p:txBody>
      </p:sp>
      <p:sp>
        <p:nvSpPr>
          <p:cNvPr id="299" name="Google Shape;299;p41"/>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Authorization on Views</a:t>
            </a:r>
            <a:endParaRPr/>
          </a:p>
        </p:txBody>
      </p:sp>
      <p:sp>
        <p:nvSpPr>
          <p:cNvPr id="300" name="Google Shape;300;p41"/>
          <p:cNvSpPr txBox="1"/>
          <p:nvPr>
            <p:ph idx="4294967295" type="body"/>
          </p:nvPr>
        </p:nvSpPr>
        <p:spPr>
          <a:xfrm>
            <a:off x="814387" y="1323975"/>
            <a:ext cx="7661275" cy="25574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Creation of view does not require </a:t>
            </a:r>
            <a:r>
              <a:rPr b="1" i="0" lang="en-US" sz="1800" u="none">
                <a:solidFill>
                  <a:schemeClr val="dk1"/>
                </a:solidFill>
                <a:latin typeface="Helvetica Neue"/>
                <a:ea typeface="Helvetica Neue"/>
                <a:cs typeface="Helvetica Neue"/>
                <a:sym typeface="Helvetica Neue"/>
              </a:rPr>
              <a:t>resources </a:t>
            </a:r>
            <a:r>
              <a:rPr b="0" i="0" lang="en-US" sz="1800" u="none">
                <a:solidFill>
                  <a:schemeClr val="dk1"/>
                </a:solidFill>
                <a:latin typeface="Helvetica Neue"/>
                <a:ea typeface="Helvetica Neue"/>
                <a:cs typeface="Helvetica Neue"/>
                <a:sym typeface="Helvetica Neue"/>
              </a:rPr>
              <a:t>authorization since no real relation is being created</a:t>
            </a:r>
            <a:endParaRPr/>
          </a:p>
          <a:p>
            <a:pPr indent="-342900" lvl="0" marL="342900" marR="0" rtl="0" algn="l">
              <a:lnSpc>
                <a:spcPct val="11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The creator of a view gets only those privileges that provide no additional authorization beyond that he already  had.</a:t>
            </a:r>
            <a:endParaRPr/>
          </a:p>
          <a:p>
            <a:pPr indent="-342900" lvl="0" marL="342900" marR="0" rtl="0" algn="l">
              <a:lnSpc>
                <a:spcPct val="11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E.g. if creator of view </a:t>
            </a:r>
            <a:r>
              <a:rPr b="0" i="1" lang="en-US" sz="1800" u="none">
                <a:solidFill>
                  <a:schemeClr val="dk1"/>
                </a:solidFill>
                <a:latin typeface="Helvetica Neue"/>
                <a:ea typeface="Helvetica Neue"/>
                <a:cs typeface="Helvetica Neue"/>
                <a:sym typeface="Helvetica Neue"/>
              </a:rPr>
              <a:t>cust-loan</a:t>
            </a:r>
            <a:r>
              <a:rPr b="0" i="0" lang="en-US" sz="1800" u="none">
                <a:solidFill>
                  <a:schemeClr val="dk1"/>
                </a:solidFill>
                <a:latin typeface="Helvetica Neue"/>
                <a:ea typeface="Helvetica Neue"/>
                <a:cs typeface="Helvetica Neue"/>
                <a:sym typeface="Helvetica Neue"/>
              </a:rPr>
              <a:t> had only </a:t>
            </a:r>
            <a:r>
              <a:rPr b="1" i="0" lang="en-US" sz="1800" u="none">
                <a:solidFill>
                  <a:schemeClr val="dk1"/>
                </a:solidFill>
                <a:latin typeface="Helvetica Neue"/>
                <a:ea typeface="Helvetica Neue"/>
                <a:cs typeface="Helvetica Neue"/>
                <a:sym typeface="Helvetica Neue"/>
              </a:rPr>
              <a:t>read</a:t>
            </a:r>
            <a:r>
              <a:rPr b="0" i="0" lang="en-US" sz="1800" u="none">
                <a:solidFill>
                  <a:schemeClr val="dk1"/>
                </a:solidFill>
                <a:latin typeface="Helvetica Neue"/>
                <a:ea typeface="Helvetica Neue"/>
                <a:cs typeface="Helvetica Neue"/>
                <a:sym typeface="Helvetica Neue"/>
              </a:rPr>
              <a:t> authorization on </a:t>
            </a:r>
            <a:r>
              <a:rPr b="0" i="1" lang="en-US" sz="1800" u="none">
                <a:solidFill>
                  <a:schemeClr val="dk1"/>
                </a:solidFill>
                <a:latin typeface="Helvetica Neue"/>
                <a:ea typeface="Helvetica Neue"/>
                <a:cs typeface="Helvetica Neue"/>
                <a:sym typeface="Helvetica Neue"/>
              </a:rPr>
              <a:t>borrower</a:t>
            </a:r>
            <a:r>
              <a:rPr b="0" i="0" lang="en-US" sz="1800" u="none">
                <a:solidFill>
                  <a:schemeClr val="dk1"/>
                </a:solidFill>
                <a:latin typeface="Helvetica Neue"/>
                <a:ea typeface="Helvetica Neue"/>
                <a:cs typeface="Helvetica Neue"/>
                <a:sym typeface="Helvetica Neue"/>
              </a:rPr>
              <a:t> and </a:t>
            </a:r>
            <a:r>
              <a:rPr b="0" i="1" lang="en-US" sz="1800" u="none">
                <a:solidFill>
                  <a:schemeClr val="dk1"/>
                </a:solidFill>
                <a:latin typeface="Helvetica Neue"/>
                <a:ea typeface="Helvetica Neue"/>
                <a:cs typeface="Helvetica Neue"/>
                <a:sym typeface="Helvetica Neue"/>
              </a:rPr>
              <a:t>loan</a:t>
            </a:r>
            <a:r>
              <a:rPr b="0" i="0" lang="en-US" sz="1800" u="none">
                <a:solidFill>
                  <a:schemeClr val="dk1"/>
                </a:solidFill>
                <a:latin typeface="Helvetica Neue"/>
                <a:ea typeface="Helvetica Neue"/>
                <a:cs typeface="Helvetica Neue"/>
                <a:sym typeface="Helvetica Neue"/>
              </a:rPr>
              <a:t>, he gets only </a:t>
            </a:r>
            <a:r>
              <a:rPr b="1" i="0" lang="en-US" sz="1800" u="none">
                <a:solidFill>
                  <a:schemeClr val="dk1"/>
                </a:solidFill>
                <a:latin typeface="Helvetica Neue"/>
                <a:ea typeface="Helvetica Neue"/>
                <a:cs typeface="Helvetica Neue"/>
                <a:sym typeface="Helvetica Neue"/>
              </a:rPr>
              <a:t>read</a:t>
            </a:r>
            <a:r>
              <a:rPr b="0" i="0" lang="en-US" sz="1800" u="none">
                <a:solidFill>
                  <a:schemeClr val="dk1"/>
                </a:solidFill>
                <a:latin typeface="Helvetica Neue"/>
                <a:ea typeface="Helvetica Neue"/>
                <a:cs typeface="Helvetica Neue"/>
                <a:sym typeface="Helvetica Neue"/>
              </a:rPr>
              <a:t> authorization on </a:t>
            </a:r>
            <a:r>
              <a:rPr b="0" i="1" lang="en-US" sz="1800" u="none">
                <a:solidFill>
                  <a:schemeClr val="dk1"/>
                </a:solidFill>
                <a:latin typeface="Helvetica Neue"/>
                <a:ea typeface="Helvetica Neue"/>
                <a:cs typeface="Helvetica Neue"/>
                <a:sym typeface="Helvetica Neue"/>
              </a:rPr>
              <a:t>cust</a:t>
            </a:r>
            <a:r>
              <a:rPr b="0" i="0" lang="en-US" sz="1800" u="none">
                <a:solidFill>
                  <a:schemeClr val="dk1"/>
                </a:solidFill>
                <a:latin typeface="Helvetica Neue"/>
                <a:ea typeface="Helvetica Neue"/>
                <a:cs typeface="Helvetica Neue"/>
                <a:sym typeface="Helvetica Neue"/>
              </a:rPr>
              <a:t>-</a:t>
            </a:r>
            <a:r>
              <a:rPr b="0" i="1" lang="en-US" sz="1800" u="none">
                <a:solidFill>
                  <a:schemeClr val="dk1"/>
                </a:solidFill>
                <a:latin typeface="Helvetica Neue"/>
                <a:ea typeface="Helvetica Neue"/>
                <a:cs typeface="Helvetica Neue"/>
                <a:sym typeface="Helvetica Neue"/>
              </a:rPr>
              <a:t>loan</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304" name="Shape 304"/>
        <p:cNvGrpSpPr/>
        <p:nvPr/>
      </p:nvGrpSpPr>
      <p:grpSpPr>
        <a:xfrm>
          <a:off x="0" y="0"/>
          <a:ext cx="0" cy="0"/>
          <a:chOff x="0" y="0"/>
          <a:chExt cx="0" cy="0"/>
        </a:xfrm>
      </p:grpSpPr>
      <p:sp>
        <p:nvSpPr>
          <p:cNvPr id="305" name="Google Shape;305;p42"/>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en-US" sz="2400" u="none">
                <a:solidFill>
                  <a:schemeClr val="dk1"/>
                </a:solidFill>
                <a:latin typeface="Times New Roman"/>
                <a:ea typeface="Times New Roman"/>
                <a:cs typeface="Times New Roman"/>
                <a:sym typeface="Times New Roman"/>
              </a:rPr>
              <a:t>‹#›</a:t>
            </a:fld>
            <a:endParaRPr/>
          </a:p>
        </p:txBody>
      </p:sp>
      <p:sp>
        <p:nvSpPr>
          <p:cNvPr id="306" name="Google Shape;306;p42"/>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Granting of Privileges</a:t>
            </a:r>
            <a:endParaRPr/>
          </a:p>
        </p:txBody>
      </p:sp>
      <p:sp>
        <p:nvSpPr>
          <p:cNvPr id="307" name="Google Shape;307;p42"/>
          <p:cNvSpPr txBox="1"/>
          <p:nvPr>
            <p:ph idx="4294967295" type="body"/>
          </p:nvPr>
        </p:nvSpPr>
        <p:spPr>
          <a:xfrm>
            <a:off x="814387" y="1093787"/>
            <a:ext cx="7661275" cy="4903787"/>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The passage of authorization from one user to another may be represented by an authorization graph.</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The nodes of this graph are the users.</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The root of the graph is the database administrator.</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Consider graph for update authorization on loan.</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An edge </a:t>
            </a:r>
            <a:r>
              <a:rPr b="0" i="1" lang="en-US" sz="1800" u="none">
                <a:solidFill>
                  <a:schemeClr val="dk1"/>
                </a:solidFill>
                <a:latin typeface="Helvetica Neue"/>
                <a:ea typeface="Helvetica Neue"/>
                <a:cs typeface="Helvetica Neue"/>
                <a:sym typeface="Helvetica Neue"/>
              </a:rPr>
              <a:t>U</a:t>
            </a:r>
            <a:r>
              <a:rPr b="0" baseline="-25000" i="1" lang="en-US" sz="1800" u="none">
                <a:solidFill>
                  <a:schemeClr val="dk1"/>
                </a:solidFill>
                <a:latin typeface="Helvetica Neue"/>
                <a:ea typeface="Helvetica Neue"/>
                <a:cs typeface="Helvetica Neue"/>
                <a:sym typeface="Helvetica Neue"/>
              </a:rPr>
              <a:t>i</a:t>
            </a:r>
            <a:r>
              <a:rPr b="0" i="0" lang="en-US" sz="1800" u="none">
                <a:solidFill>
                  <a:schemeClr val="dk1"/>
                </a:solidFill>
                <a:latin typeface="Helvetica Neue"/>
                <a:ea typeface="Helvetica Neue"/>
                <a:cs typeface="Helvetica Neue"/>
                <a:sym typeface="Helvetica Neue"/>
              </a:rPr>
              <a:t> → </a:t>
            </a:r>
            <a:r>
              <a:rPr b="0" i="1" lang="en-US" sz="1800" u="none">
                <a:solidFill>
                  <a:schemeClr val="dk1"/>
                </a:solidFill>
                <a:latin typeface="Helvetica Neue"/>
                <a:ea typeface="Helvetica Neue"/>
                <a:cs typeface="Helvetica Neue"/>
                <a:sym typeface="Helvetica Neue"/>
              </a:rPr>
              <a:t>U</a:t>
            </a:r>
            <a:r>
              <a:rPr b="0" baseline="-25000" i="0" lang="en-US" sz="1800" u="none">
                <a:solidFill>
                  <a:schemeClr val="dk1"/>
                </a:solidFill>
                <a:latin typeface="Helvetica Neue"/>
                <a:ea typeface="Helvetica Neue"/>
                <a:cs typeface="Helvetica Neue"/>
                <a:sym typeface="Helvetica Neue"/>
              </a:rPr>
              <a:t>j</a:t>
            </a:r>
            <a:r>
              <a:rPr b="0" i="0" lang="en-US" sz="1800" u="none">
                <a:solidFill>
                  <a:schemeClr val="dk1"/>
                </a:solidFill>
                <a:latin typeface="Helvetica Neue"/>
                <a:ea typeface="Helvetica Neue"/>
                <a:cs typeface="Helvetica Neue"/>
                <a:sym typeface="Helvetica Neue"/>
              </a:rPr>
              <a:t> indicates that user </a:t>
            </a:r>
            <a:r>
              <a:rPr b="0" i="1" lang="en-US" sz="1800" u="none">
                <a:solidFill>
                  <a:schemeClr val="dk1"/>
                </a:solidFill>
                <a:latin typeface="Helvetica Neue"/>
                <a:ea typeface="Helvetica Neue"/>
                <a:cs typeface="Helvetica Neue"/>
                <a:sym typeface="Helvetica Neue"/>
              </a:rPr>
              <a:t>U</a:t>
            </a:r>
            <a:r>
              <a:rPr b="0" baseline="-25000" i="0" lang="en-US" sz="1800" u="none">
                <a:solidFill>
                  <a:schemeClr val="dk1"/>
                </a:solidFill>
                <a:latin typeface="Helvetica Neue"/>
                <a:ea typeface="Helvetica Neue"/>
                <a:cs typeface="Helvetica Neue"/>
                <a:sym typeface="Helvetica Neue"/>
              </a:rPr>
              <a:t>i</a:t>
            </a:r>
            <a:r>
              <a:rPr b="0" i="0" lang="en-US" sz="1800" u="none">
                <a:solidFill>
                  <a:schemeClr val="dk1"/>
                </a:solidFill>
                <a:latin typeface="Helvetica Neue"/>
                <a:ea typeface="Helvetica Neue"/>
                <a:cs typeface="Helvetica Neue"/>
                <a:sym typeface="Helvetica Neue"/>
              </a:rPr>
              <a:t> has granted update authorization on loan to </a:t>
            </a:r>
            <a:r>
              <a:rPr b="0" i="1" lang="en-US" sz="1800" u="none">
                <a:solidFill>
                  <a:schemeClr val="dk1"/>
                </a:solidFill>
                <a:latin typeface="Helvetica Neue"/>
                <a:ea typeface="Helvetica Neue"/>
                <a:cs typeface="Helvetica Neue"/>
                <a:sym typeface="Helvetica Neue"/>
              </a:rPr>
              <a:t>U</a:t>
            </a:r>
            <a:r>
              <a:rPr b="0" baseline="-25000" i="1" lang="en-US" sz="1800" u="none">
                <a:solidFill>
                  <a:schemeClr val="dk1"/>
                </a:solidFill>
                <a:latin typeface="Helvetica Neue"/>
                <a:ea typeface="Helvetica Neue"/>
                <a:cs typeface="Helvetica Neue"/>
                <a:sym typeface="Helvetica Neue"/>
              </a:rPr>
              <a:t>j</a:t>
            </a:r>
            <a:r>
              <a:rPr b="0" baseline="-25000" i="0" lang="en-US" sz="1800" u="none">
                <a:solidFill>
                  <a:schemeClr val="dk1"/>
                </a:solidFill>
                <a:latin typeface="Helvetica Neue"/>
                <a:ea typeface="Helvetica Neue"/>
                <a:cs typeface="Helvetica Neue"/>
                <a:sym typeface="Helvetica Neue"/>
              </a:rPr>
              <a:t>.</a:t>
            </a:r>
            <a:endParaRPr/>
          </a:p>
        </p:txBody>
      </p:sp>
      <p:cxnSp>
        <p:nvCxnSpPr>
          <p:cNvPr id="308" name="Google Shape;308;p42"/>
          <p:cNvCxnSpPr/>
          <p:nvPr/>
        </p:nvCxnSpPr>
        <p:spPr>
          <a:xfrm flipH="1" rot="10800000">
            <a:off x="1752600" y="4038600"/>
            <a:ext cx="1143000" cy="914400"/>
          </a:xfrm>
          <a:prstGeom prst="straightConnector1">
            <a:avLst/>
          </a:prstGeom>
          <a:noFill/>
          <a:ln cap="flat" cmpd="sng" w="19050">
            <a:solidFill>
              <a:schemeClr val="dk1"/>
            </a:solidFill>
            <a:prstDash val="solid"/>
            <a:miter lim="800000"/>
            <a:headEnd len="med" w="med" type="none"/>
            <a:tailEnd len="med" w="med" type="triangle"/>
          </a:ln>
        </p:spPr>
      </p:cxnSp>
      <p:cxnSp>
        <p:nvCxnSpPr>
          <p:cNvPr id="309" name="Google Shape;309;p42"/>
          <p:cNvCxnSpPr/>
          <p:nvPr/>
        </p:nvCxnSpPr>
        <p:spPr>
          <a:xfrm>
            <a:off x="3352800" y="3981450"/>
            <a:ext cx="1219200" cy="0"/>
          </a:xfrm>
          <a:prstGeom prst="straightConnector1">
            <a:avLst/>
          </a:prstGeom>
          <a:noFill/>
          <a:ln cap="flat" cmpd="sng" w="19050">
            <a:solidFill>
              <a:schemeClr val="dk1"/>
            </a:solidFill>
            <a:prstDash val="solid"/>
            <a:miter lim="800000"/>
            <a:headEnd len="med" w="med" type="none"/>
            <a:tailEnd len="med" w="med" type="triangle"/>
          </a:ln>
        </p:spPr>
      </p:cxnSp>
      <p:cxnSp>
        <p:nvCxnSpPr>
          <p:cNvPr id="310" name="Google Shape;310;p42"/>
          <p:cNvCxnSpPr/>
          <p:nvPr/>
        </p:nvCxnSpPr>
        <p:spPr>
          <a:xfrm>
            <a:off x="1828800" y="5181600"/>
            <a:ext cx="1219200" cy="0"/>
          </a:xfrm>
          <a:prstGeom prst="straightConnector1">
            <a:avLst/>
          </a:prstGeom>
          <a:noFill/>
          <a:ln cap="flat" cmpd="sng" w="19050">
            <a:solidFill>
              <a:schemeClr val="dk1"/>
            </a:solidFill>
            <a:prstDash val="solid"/>
            <a:miter lim="800000"/>
            <a:headEnd len="med" w="med" type="none"/>
            <a:tailEnd len="med" w="med" type="triangle"/>
          </a:ln>
        </p:spPr>
      </p:cxnSp>
      <p:cxnSp>
        <p:nvCxnSpPr>
          <p:cNvPr id="311" name="Google Shape;311;p42"/>
          <p:cNvCxnSpPr/>
          <p:nvPr/>
        </p:nvCxnSpPr>
        <p:spPr>
          <a:xfrm>
            <a:off x="1752600" y="5334000"/>
            <a:ext cx="1295400" cy="990600"/>
          </a:xfrm>
          <a:prstGeom prst="straightConnector1">
            <a:avLst/>
          </a:prstGeom>
          <a:noFill/>
          <a:ln cap="flat" cmpd="sng" w="19050">
            <a:solidFill>
              <a:schemeClr val="dk1"/>
            </a:solidFill>
            <a:prstDash val="solid"/>
            <a:miter lim="800000"/>
            <a:headEnd len="med" w="med" type="none"/>
            <a:tailEnd len="med" w="med" type="triangle"/>
          </a:ln>
        </p:spPr>
      </p:cxnSp>
      <p:cxnSp>
        <p:nvCxnSpPr>
          <p:cNvPr id="312" name="Google Shape;312;p42"/>
          <p:cNvCxnSpPr/>
          <p:nvPr/>
        </p:nvCxnSpPr>
        <p:spPr>
          <a:xfrm>
            <a:off x="3657600" y="5219700"/>
            <a:ext cx="1524000" cy="0"/>
          </a:xfrm>
          <a:prstGeom prst="straightConnector1">
            <a:avLst/>
          </a:prstGeom>
          <a:noFill/>
          <a:ln cap="flat" cmpd="sng" w="19050">
            <a:solidFill>
              <a:schemeClr val="dk1"/>
            </a:solidFill>
            <a:prstDash val="solid"/>
            <a:miter lim="800000"/>
            <a:headEnd len="med" w="med" type="none"/>
            <a:tailEnd len="med" w="med" type="triangle"/>
          </a:ln>
        </p:spPr>
      </p:cxnSp>
      <p:cxnSp>
        <p:nvCxnSpPr>
          <p:cNvPr id="313" name="Google Shape;313;p42"/>
          <p:cNvCxnSpPr/>
          <p:nvPr/>
        </p:nvCxnSpPr>
        <p:spPr>
          <a:xfrm>
            <a:off x="3371850" y="4086225"/>
            <a:ext cx="1733550" cy="866775"/>
          </a:xfrm>
          <a:prstGeom prst="straightConnector1">
            <a:avLst/>
          </a:prstGeom>
          <a:noFill/>
          <a:ln cap="flat" cmpd="sng" w="19050">
            <a:solidFill>
              <a:schemeClr val="dk1"/>
            </a:solidFill>
            <a:prstDash val="solid"/>
            <a:miter lim="800000"/>
            <a:headEnd len="med" w="med" type="none"/>
            <a:tailEnd len="med" w="med" type="triangle"/>
          </a:ln>
        </p:spPr>
      </p:cxnSp>
      <p:sp>
        <p:nvSpPr>
          <p:cNvPr id="314" name="Google Shape;314;p42"/>
          <p:cNvSpPr txBox="1"/>
          <p:nvPr/>
        </p:nvSpPr>
        <p:spPr>
          <a:xfrm>
            <a:off x="2870200" y="3746500"/>
            <a:ext cx="506412"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New Roman"/>
              <a:buNone/>
            </a:pPr>
            <a:r>
              <a:rPr b="0" i="1" lang="en-US" sz="2400" u="none">
                <a:solidFill>
                  <a:schemeClr val="dk1"/>
                </a:solidFill>
                <a:latin typeface="Times New Roman"/>
                <a:ea typeface="Times New Roman"/>
                <a:cs typeface="Times New Roman"/>
                <a:sym typeface="Times New Roman"/>
              </a:rPr>
              <a:t>U</a:t>
            </a:r>
            <a:r>
              <a:rPr b="0" baseline="-25000" i="0" lang="en-US" sz="2400" u="none">
                <a:solidFill>
                  <a:schemeClr val="dk1"/>
                </a:solidFill>
                <a:latin typeface="Times New Roman"/>
                <a:ea typeface="Times New Roman"/>
                <a:cs typeface="Times New Roman"/>
                <a:sym typeface="Times New Roman"/>
              </a:rPr>
              <a:t>1</a:t>
            </a:r>
            <a:endParaRPr/>
          </a:p>
        </p:txBody>
      </p:sp>
      <p:sp>
        <p:nvSpPr>
          <p:cNvPr id="315" name="Google Shape;315;p42"/>
          <p:cNvSpPr txBox="1"/>
          <p:nvPr/>
        </p:nvSpPr>
        <p:spPr>
          <a:xfrm>
            <a:off x="4533900" y="3762375"/>
            <a:ext cx="506412"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New Roman"/>
              <a:buNone/>
            </a:pPr>
            <a:r>
              <a:rPr b="0" i="1" lang="en-US" sz="2400" u="none">
                <a:solidFill>
                  <a:schemeClr val="dk1"/>
                </a:solidFill>
                <a:latin typeface="Times New Roman"/>
                <a:ea typeface="Times New Roman"/>
                <a:cs typeface="Times New Roman"/>
                <a:sym typeface="Times New Roman"/>
              </a:rPr>
              <a:t>U</a:t>
            </a:r>
            <a:r>
              <a:rPr b="0" baseline="-25000" i="0" lang="en-US" sz="2400" u="none">
                <a:solidFill>
                  <a:schemeClr val="dk1"/>
                </a:solidFill>
                <a:latin typeface="Times New Roman"/>
                <a:ea typeface="Times New Roman"/>
                <a:cs typeface="Times New Roman"/>
                <a:sym typeface="Times New Roman"/>
              </a:rPr>
              <a:t>4</a:t>
            </a:r>
            <a:endParaRPr/>
          </a:p>
        </p:txBody>
      </p:sp>
      <p:sp>
        <p:nvSpPr>
          <p:cNvPr id="316" name="Google Shape;316;p42"/>
          <p:cNvSpPr txBox="1"/>
          <p:nvPr/>
        </p:nvSpPr>
        <p:spPr>
          <a:xfrm>
            <a:off x="3051175" y="4962525"/>
            <a:ext cx="506412"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New Roman"/>
              <a:buNone/>
            </a:pPr>
            <a:r>
              <a:rPr b="0" i="1" lang="en-US" sz="2400" u="none">
                <a:solidFill>
                  <a:schemeClr val="dk1"/>
                </a:solidFill>
                <a:latin typeface="Times New Roman"/>
                <a:ea typeface="Times New Roman"/>
                <a:cs typeface="Times New Roman"/>
                <a:sym typeface="Times New Roman"/>
              </a:rPr>
              <a:t>U</a:t>
            </a:r>
            <a:r>
              <a:rPr b="0" baseline="-25000" i="0" lang="en-US" sz="2400" u="none">
                <a:solidFill>
                  <a:schemeClr val="dk1"/>
                </a:solidFill>
                <a:latin typeface="Times New Roman"/>
                <a:ea typeface="Times New Roman"/>
                <a:cs typeface="Times New Roman"/>
                <a:sym typeface="Times New Roman"/>
              </a:rPr>
              <a:t>2</a:t>
            </a:r>
            <a:endParaRPr/>
          </a:p>
        </p:txBody>
      </p:sp>
      <p:sp>
        <p:nvSpPr>
          <p:cNvPr id="317" name="Google Shape;317;p42"/>
          <p:cNvSpPr txBox="1"/>
          <p:nvPr/>
        </p:nvSpPr>
        <p:spPr>
          <a:xfrm>
            <a:off x="5189537" y="5000625"/>
            <a:ext cx="506412"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New Roman"/>
              <a:buNone/>
            </a:pPr>
            <a:r>
              <a:rPr b="0" i="1" lang="en-US" sz="2400" u="none">
                <a:solidFill>
                  <a:schemeClr val="dk1"/>
                </a:solidFill>
                <a:latin typeface="Times New Roman"/>
                <a:ea typeface="Times New Roman"/>
                <a:cs typeface="Times New Roman"/>
                <a:sym typeface="Times New Roman"/>
              </a:rPr>
              <a:t>U</a:t>
            </a:r>
            <a:r>
              <a:rPr b="0" baseline="-25000" i="0" lang="en-US" sz="2400" u="none">
                <a:solidFill>
                  <a:schemeClr val="dk1"/>
                </a:solidFill>
                <a:latin typeface="Times New Roman"/>
                <a:ea typeface="Times New Roman"/>
                <a:cs typeface="Times New Roman"/>
                <a:sym typeface="Times New Roman"/>
              </a:rPr>
              <a:t>5</a:t>
            </a:r>
            <a:endParaRPr/>
          </a:p>
        </p:txBody>
      </p:sp>
      <p:sp>
        <p:nvSpPr>
          <p:cNvPr id="318" name="Google Shape;318;p42"/>
          <p:cNvSpPr txBox="1"/>
          <p:nvPr/>
        </p:nvSpPr>
        <p:spPr>
          <a:xfrm>
            <a:off x="2971800" y="6143625"/>
            <a:ext cx="506412"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New Roman"/>
              <a:buNone/>
            </a:pPr>
            <a:r>
              <a:rPr b="0" i="1" lang="en-US" sz="2400" u="none">
                <a:solidFill>
                  <a:schemeClr val="dk1"/>
                </a:solidFill>
                <a:latin typeface="Times New Roman"/>
                <a:ea typeface="Times New Roman"/>
                <a:cs typeface="Times New Roman"/>
                <a:sym typeface="Times New Roman"/>
              </a:rPr>
              <a:t>U</a:t>
            </a:r>
            <a:r>
              <a:rPr b="0" baseline="-25000" i="0" lang="en-US" sz="2400" u="none">
                <a:solidFill>
                  <a:schemeClr val="dk1"/>
                </a:solidFill>
                <a:latin typeface="Times New Roman"/>
                <a:ea typeface="Times New Roman"/>
                <a:cs typeface="Times New Roman"/>
                <a:sym typeface="Times New Roman"/>
              </a:rPr>
              <a:t>3</a:t>
            </a:r>
            <a:endParaRPr/>
          </a:p>
        </p:txBody>
      </p:sp>
      <p:sp>
        <p:nvSpPr>
          <p:cNvPr id="319" name="Google Shape;319;p42"/>
          <p:cNvSpPr txBox="1"/>
          <p:nvPr/>
        </p:nvSpPr>
        <p:spPr>
          <a:xfrm>
            <a:off x="1000125" y="4953000"/>
            <a:ext cx="776287"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New Roman"/>
              <a:buNone/>
            </a:pPr>
            <a:r>
              <a:rPr b="0" i="1" lang="en-US" sz="2400" u="none">
                <a:solidFill>
                  <a:schemeClr val="dk1"/>
                </a:solidFill>
                <a:latin typeface="Times New Roman"/>
                <a:ea typeface="Times New Roman"/>
                <a:cs typeface="Times New Roman"/>
                <a:sym typeface="Times New Roman"/>
              </a:rPr>
              <a:t>DBA</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323" name="Shape 323"/>
        <p:cNvGrpSpPr/>
        <p:nvPr/>
      </p:nvGrpSpPr>
      <p:grpSpPr>
        <a:xfrm>
          <a:off x="0" y="0"/>
          <a:ext cx="0" cy="0"/>
          <a:chOff x="0" y="0"/>
          <a:chExt cx="0" cy="0"/>
        </a:xfrm>
      </p:grpSpPr>
      <p:sp>
        <p:nvSpPr>
          <p:cNvPr id="324" name="Google Shape;324;p43"/>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en-US" sz="2400" u="none">
                <a:solidFill>
                  <a:schemeClr val="dk1"/>
                </a:solidFill>
                <a:latin typeface="Times New Roman"/>
                <a:ea typeface="Times New Roman"/>
                <a:cs typeface="Times New Roman"/>
                <a:sym typeface="Times New Roman"/>
              </a:rPr>
              <a:t>‹#›</a:t>
            </a:fld>
            <a:endParaRPr/>
          </a:p>
        </p:txBody>
      </p:sp>
      <p:sp>
        <p:nvSpPr>
          <p:cNvPr id="325" name="Google Shape;325;p43"/>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Authorization Grant Graph</a:t>
            </a:r>
            <a:endParaRPr/>
          </a:p>
        </p:txBody>
      </p:sp>
      <p:sp>
        <p:nvSpPr>
          <p:cNvPr id="326" name="Google Shape;326;p43"/>
          <p:cNvSpPr txBox="1"/>
          <p:nvPr>
            <p:ph idx="4294967295" type="body"/>
          </p:nvPr>
        </p:nvSpPr>
        <p:spPr>
          <a:xfrm>
            <a:off x="814387" y="1093787"/>
            <a:ext cx="7661275" cy="4903787"/>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1620"/>
              <a:buFont typeface="Arial"/>
              <a:buChar char="●"/>
            </a:pPr>
            <a:r>
              <a:rPr b="0" i="1" lang="en-US" sz="1800" u="none">
                <a:solidFill>
                  <a:schemeClr val="dk1"/>
                </a:solidFill>
                <a:latin typeface="Helvetica Neue"/>
                <a:ea typeface="Helvetica Neue"/>
                <a:cs typeface="Helvetica Neue"/>
                <a:sym typeface="Helvetica Neue"/>
              </a:rPr>
              <a:t>Requirement</a:t>
            </a:r>
            <a:r>
              <a:rPr b="0" i="0" lang="en-US" sz="1800" u="none">
                <a:solidFill>
                  <a:schemeClr val="dk1"/>
                </a:solidFill>
                <a:latin typeface="Helvetica Neue"/>
                <a:ea typeface="Helvetica Neue"/>
                <a:cs typeface="Helvetica Neue"/>
                <a:sym typeface="Helvetica Neue"/>
              </a:rPr>
              <a:t>: All edges in an authorization graph must be part of some path originating with the database administrator</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If DBA revokes grant from </a:t>
            </a:r>
            <a:r>
              <a:rPr b="0" i="1" lang="en-US" sz="1800" u="none">
                <a:solidFill>
                  <a:schemeClr val="dk1"/>
                </a:solidFill>
                <a:latin typeface="Helvetica Neue"/>
                <a:ea typeface="Helvetica Neue"/>
                <a:cs typeface="Helvetica Neue"/>
                <a:sym typeface="Helvetica Neue"/>
              </a:rPr>
              <a:t>U</a:t>
            </a:r>
            <a:r>
              <a:rPr b="0" baseline="-25000" i="0" lang="en-US" sz="1800" u="none">
                <a:solidFill>
                  <a:schemeClr val="dk1"/>
                </a:solidFill>
                <a:latin typeface="Helvetica Neue"/>
                <a:ea typeface="Helvetica Neue"/>
                <a:cs typeface="Helvetica Neue"/>
                <a:sym typeface="Helvetica Neue"/>
              </a:rPr>
              <a:t>1</a:t>
            </a:r>
            <a:r>
              <a:rPr b="0" i="0" lang="en-US" sz="1800" u="none">
                <a:solidFill>
                  <a:schemeClr val="dk1"/>
                </a:solidFill>
                <a:latin typeface="Helvetica Neue"/>
                <a:ea typeface="Helvetica Neue"/>
                <a:cs typeface="Helvetica Neue"/>
                <a:sym typeface="Helvetica Neue"/>
              </a:rPr>
              <a:t>:</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Grant must be revoked from </a:t>
            </a:r>
            <a:r>
              <a:rPr b="0" i="1" lang="en-US" sz="1800" u="none" cap="none" strike="noStrike">
                <a:solidFill>
                  <a:schemeClr val="dk1"/>
                </a:solidFill>
                <a:latin typeface="Helvetica Neue"/>
                <a:ea typeface="Helvetica Neue"/>
                <a:cs typeface="Helvetica Neue"/>
                <a:sym typeface="Helvetica Neue"/>
              </a:rPr>
              <a:t>U</a:t>
            </a:r>
            <a:r>
              <a:rPr b="0" baseline="-25000" i="0" lang="en-US" sz="1800" u="none" cap="none" strike="noStrike">
                <a:solidFill>
                  <a:schemeClr val="dk1"/>
                </a:solidFill>
                <a:latin typeface="Helvetica Neue"/>
                <a:ea typeface="Helvetica Neue"/>
                <a:cs typeface="Helvetica Neue"/>
                <a:sym typeface="Helvetica Neue"/>
              </a:rPr>
              <a:t>4</a:t>
            </a:r>
            <a:r>
              <a:rPr b="0" i="0" lang="en-US" sz="1800" u="none" cap="none" strike="noStrike">
                <a:solidFill>
                  <a:schemeClr val="dk1"/>
                </a:solidFill>
                <a:latin typeface="Helvetica Neue"/>
                <a:ea typeface="Helvetica Neue"/>
                <a:cs typeface="Helvetica Neue"/>
                <a:sym typeface="Helvetica Neue"/>
              </a:rPr>
              <a:t> since </a:t>
            </a:r>
            <a:r>
              <a:rPr b="0" i="1" lang="en-US" sz="1800" u="none" cap="none" strike="noStrike">
                <a:solidFill>
                  <a:schemeClr val="dk1"/>
                </a:solidFill>
                <a:latin typeface="Helvetica Neue"/>
                <a:ea typeface="Helvetica Neue"/>
                <a:cs typeface="Helvetica Neue"/>
                <a:sym typeface="Helvetica Neue"/>
              </a:rPr>
              <a:t>U</a:t>
            </a:r>
            <a:r>
              <a:rPr b="0" baseline="-25000" i="0" lang="en-US" sz="1800" u="none" cap="none" strike="noStrike">
                <a:solidFill>
                  <a:schemeClr val="dk1"/>
                </a:solidFill>
                <a:latin typeface="Helvetica Neue"/>
                <a:ea typeface="Helvetica Neue"/>
                <a:cs typeface="Helvetica Neue"/>
                <a:sym typeface="Helvetica Neue"/>
              </a:rPr>
              <a:t>1</a:t>
            </a:r>
            <a:r>
              <a:rPr b="0" i="0" lang="en-US" sz="1800" u="none" cap="none" strike="noStrike">
                <a:solidFill>
                  <a:schemeClr val="dk1"/>
                </a:solidFill>
                <a:latin typeface="Helvetica Neue"/>
                <a:ea typeface="Helvetica Neue"/>
                <a:cs typeface="Helvetica Neue"/>
                <a:sym typeface="Helvetica Neue"/>
              </a:rPr>
              <a:t> no longer has authorization</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Grant must not be revoked from </a:t>
            </a:r>
            <a:r>
              <a:rPr b="0" i="1" lang="en-US" sz="1800" u="none" cap="none" strike="noStrike">
                <a:solidFill>
                  <a:schemeClr val="dk1"/>
                </a:solidFill>
                <a:latin typeface="Helvetica Neue"/>
                <a:ea typeface="Helvetica Neue"/>
                <a:cs typeface="Helvetica Neue"/>
                <a:sym typeface="Helvetica Neue"/>
              </a:rPr>
              <a:t>U</a:t>
            </a:r>
            <a:r>
              <a:rPr b="0" baseline="-25000" i="0" lang="en-US" sz="1800" u="none" cap="none" strike="noStrike">
                <a:solidFill>
                  <a:schemeClr val="dk1"/>
                </a:solidFill>
                <a:latin typeface="Helvetica Neue"/>
                <a:ea typeface="Helvetica Neue"/>
                <a:cs typeface="Helvetica Neue"/>
                <a:sym typeface="Helvetica Neue"/>
              </a:rPr>
              <a:t>5</a:t>
            </a:r>
            <a:r>
              <a:rPr b="0" i="0" lang="en-US" sz="1800" u="none" cap="none" strike="noStrike">
                <a:solidFill>
                  <a:schemeClr val="dk1"/>
                </a:solidFill>
                <a:latin typeface="Helvetica Neue"/>
                <a:ea typeface="Helvetica Neue"/>
                <a:cs typeface="Helvetica Neue"/>
                <a:sym typeface="Helvetica Neue"/>
              </a:rPr>
              <a:t> since </a:t>
            </a:r>
            <a:r>
              <a:rPr b="0" i="1" lang="en-US" sz="1800" u="none" cap="none" strike="noStrike">
                <a:solidFill>
                  <a:schemeClr val="dk1"/>
                </a:solidFill>
                <a:latin typeface="Helvetica Neue"/>
                <a:ea typeface="Helvetica Neue"/>
                <a:cs typeface="Helvetica Neue"/>
                <a:sym typeface="Helvetica Neue"/>
              </a:rPr>
              <a:t>U</a:t>
            </a:r>
            <a:r>
              <a:rPr b="0" baseline="-25000" i="0" lang="en-US" sz="1800" u="none" cap="none" strike="noStrike">
                <a:solidFill>
                  <a:schemeClr val="dk1"/>
                </a:solidFill>
                <a:latin typeface="Helvetica Neue"/>
                <a:ea typeface="Helvetica Neue"/>
                <a:cs typeface="Helvetica Neue"/>
                <a:sym typeface="Helvetica Neue"/>
              </a:rPr>
              <a:t>5</a:t>
            </a:r>
            <a:r>
              <a:rPr b="0" i="0" lang="en-US" sz="1800" u="none" cap="none" strike="noStrike">
                <a:solidFill>
                  <a:schemeClr val="dk1"/>
                </a:solidFill>
                <a:latin typeface="Helvetica Neue"/>
                <a:ea typeface="Helvetica Neue"/>
                <a:cs typeface="Helvetica Neue"/>
                <a:sym typeface="Helvetica Neue"/>
              </a:rPr>
              <a:t> has another authorization path from DBA through </a:t>
            </a:r>
            <a:r>
              <a:rPr b="0" i="1" lang="en-US" sz="1800" u="none" cap="none" strike="noStrike">
                <a:solidFill>
                  <a:schemeClr val="dk1"/>
                </a:solidFill>
                <a:latin typeface="Helvetica Neue"/>
                <a:ea typeface="Helvetica Neue"/>
                <a:cs typeface="Helvetica Neue"/>
                <a:sym typeface="Helvetica Neue"/>
              </a:rPr>
              <a:t>U</a:t>
            </a:r>
            <a:r>
              <a:rPr b="0" baseline="-25000" i="0" lang="en-US" sz="1800" u="none" cap="none" strike="noStrike">
                <a:solidFill>
                  <a:schemeClr val="dk1"/>
                </a:solidFill>
                <a:latin typeface="Helvetica Neue"/>
                <a:ea typeface="Helvetica Neue"/>
                <a:cs typeface="Helvetica Neue"/>
                <a:sym typeface="Helvetica Neue"/>
              </a:rPr>
              <a:t>2</a:t>
            </a:r>
            <a:endParaRPr b="0" i="0" sz="1800" u="none" cap="none" strike="noStrike">
              <a:solidFill>
                <a:schemeClr val="dk1"/>
              </a:solidFill>
              <a:latin typeface="Helvetica Neue"/>
              <a:ea typeface="Helvetica Neue"/>
              <a:cs typeface="Helvetica Neue"/>
              <a:sym typeface="Helvetica Neue"/>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Must prevent cycles of grants with no path from the root:</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DBA grants authorization to </a:t>
            </a:r>
            <a:r>
              <a:rPr b="0" i="1" lang="en-US" sz="1800" u="none" cap="none" strike="noStrike">
                <a:solidFill>
                  <a:schemeClr val="dk1"/>
                </a:solidFill>
                <a:latin typeface="Helvetica Neue"/>
                <a:ea typeface="Helvetica Neue"/>
                <a:cs typeface="Helvetica Neue"/>
                <a:sym typeface="Helvetica Neue"/>
              </a:rPr>
              <a:t>U</a:t>
            </a:r>
            <a:r>
              <a:rPr b="0" baseline="-25000" i="0" lang="en-US" sz="1800" u="none" cap="none" strike="noStrike">
                <a:solidFill>
                  <a:schemeClr val="dk1"/>
                </a:solidFill>
                <a:latin typeface="Helvetica Neue"/>
                <a:ea typeface="Helvetica Neue"/>
                <a:cs typeface="Helvetica Neue"/>
                <a:sym typeface="Helvetica Neue"/>
              </a:rPr>
              <a:t>7</a:t>
            </a:r>
            <a:endParaRPr b="0" i="0" sz="1800" u="none" cap="none" strike="noStrike">
              <a:solidFill>
                <a:schemeClr val="dk1"/>
              </a:solidFill>
              <a:latin typeface="Helvetica Neue"/>
              <a:ea typeface="Helvetica Neue"/>
              <a:cs typeface="Helvetica Neue"/>
              <a:sym typeface="Helvetica Neue"/>
            </a:endParaRPr>
          </a:p>
          <a:p>
            <a:pPr indent="-285750" lvl="1" marL="742950" marR="0" rtl="0" algn="l">
              <a:lnSpc>
                <a:spcPct val="100000"/>
              </a:lnSpc>
              <a:spcBef>
                <a:spcPts val="630"/>
              </a:spcBef>
              <a:spcAft>
                <a:spcPts val="0"/>
              </a:spcAft>
              <a:buClr>
                <a:schemeClr val="hlink"/>
              </a:buClr>
              <a:buSzPts val="1440"/>
              <a:buFont typeface="Arial"/>
              <a:buChar char="●"/>
            </a:pPr>
            <a:r>
              <a:rPr b="0" i="1" lang="en-US" sz="1800" u="none" cap="none" strike="noStrike">
                <a:solidFill>
                  <a:schemeClr val="dk1"/>
                </a:solidFill>
                <a:latin typeface="Helvetica Neue"/>
                <a:ea typeface="Helvetica Neue"/>
                <a:cs typeface="Helvetica Neue"/>
                <a:sym typeface="Helvetica Neue"/>
              </a:rPr>
              <a:t>U</a:t>
            </a:r>
            <a:r>
              <a:rPr b="0" baseline="-25000" i="0" lang="en-US" sz="1800" u="none" cap="none" strike="noStrike">
                <a:solidFill>
                  <a:schemeClr val="dk1"/>
                </a:solidFill>
                <a:latin typeface="Helvetica Neue"/>
                <a:ea typeface="Helvetica Neue"/>
                <a:cs typeface="Helvetica Neue"/>
                <a:sym typeface="Helvetica Neue"/>
              </a:rPr>
              <a:t>7</a:t>
            </a:r>
            <a:r>
              <a:rPr b="0" i="0" lang="en-US" sz="1800" u="none" cap="none" strike="noStrike">
                <a:solidFill>
                  <a:schemeClr val="dk1"/>
                </a:solidFill>
                <a:latin typeface="Helvetica Neue"/>
                <a:ea typeface="Helvetica Neue"/>
                <a:cs typeface="Helvetica Neue"/>
                <a:sym typeface="Helvetica Neue"/>
              </a:rPr>
              <a:t> grants authorization to </a:t>
            </a:r>
            <a:r>
              <a:rPr b="0" i="1" lang="en-US" sz="1800" u="none" cap="none" strike="noStrike">
                <a:solidFill>
                  <a:schemeClr val="dk1"/>
                </a:solidFill>
                <a:latin typeface="Helvetica Neue"/>
                <a:ea typeface="Helvetica Neue"/>
                <a:cs typeface="Helvetica Neue"/>
                <a:sym typeface="Helvetica Neue"/>
              </a:rPr>
              <a:t>U</a:t>
            </a:r>
            <a:r>
              <a:rPr b="0" baseline="-25000" i="0" lang="en-US" sz="1800" u="none" cap="none" strike="noStrike">
                <a:solidFill>
                  <a:schemeClr val="dk1"/>
                </a:solidFill>
                <a:latin typeface="Helvetica Neue"/>
                <a:ea typeface="Helvetica Neue"/>
                <a:cs typeface="Helvetica Neue"/>
                <a:sym typeface="Helvetica Neue"/>
              </a:rPr>
              <a:t>8</a:t>
            </a:r>
            <a:endParaRPr b="0" i="0" sz="1800" u="none" cap="none" strike="noStrike">
              <a:solidFill>
                <a:schemeClr val="dk1"/>
              </a:solidFill>
              <a:latin typeface="Helvetica Neue"/>
              <a:ea typeface="Helvetica Neue"/>
              <a:cs typeface="Helvetica Neue"/>
              <a:sym typeface="Helvetica Neue"/>
            </a:endParaRPr>
          </a:p>
          <a:p>
            <a:pPr indent="-285750" lvl="1" marL="742950" marR="0" rtl="0" algn="l">
              <a:lnSpc>
                <a:spcPct val="100000"/>
              </a:lnSpc>
              <a:spcBef>
                <a:spcPts val="630"/>
              </a:spcBef>
              <a:spcAft>
                <a:spcPts val="0"/>
              </a:spcAft>
              <a:buClr>
                <a:schemeClr val="hlink"/>
              </a:buClr>
              <a:buSzPts val="1440"/>
              <a:buFont typeface="Arial"/>
              <a:buChar char="●"/>
            </a:pPr>
            <a:r>
              <a:rPr b="0" i="1" lang="en-US" sz="1800" u="none" cap="none" strike="noStrike">
                <a:solidFill>
                  <a:schemeClr val="dk1"/>
                </a:solidFill>
                <a:latin typeface="Helvetica Neue"/>
                <a:ea typeface="Helvetica Neue"/>
                <a:cs typeface="Helvetica Neue"/>
                <a:sym typeface="Helvetica Neue"/>
              </a:rPr>
              <a:t>U</a:t>
            </a:r>
            <a:r>
              <a:rPr b="0" baseline="-25000" i="0" lang="en-US" sz="1800" u="none" cap="none" strike="noStrike">
                <a:solidFill>
                  <a:schemeClr val="dk1"/>
                </a:solidFill>
                <a:latin typeface="Helvetica Neue"/>
                <a:ea typeface="Helvetica Neue"/>
                <a:cs typeface="Helvetica Neue"/>
                <a:sym typeface="Helvetica Neue"/>
              </a:rPr>
              <a:t>8</a:t>
            </a:r>
            <a:r>
              <a:rPr b="0" i="0" lang="en-US" sz="1800" u="none" cap="none" strike="noStrike">
                <a:solidFill>
                  <a:schemeClr val="dk1"/>
                </a:solidFill>
                <a:latin typeface="Helvetica Neue"/>
                <a:ea typeface="Helvetica Neue"/>
                <a:cs typeface="Helvetica Neue"/>
                <a:sym typeface="Helvetica Neue"/>
              </a:rPr>
              <a:t> grants authorization to </a:t>
            </a:r>
            <a:r>
              <a:rPr b="0" i="1" lang="en-US" sz="1800" u="none" cap="none" strike="noStrike">
                <a:solidFill>
                  <a:schemeClr val="dk1"/>
                </a:solidFill>
                <a:latin typeface="Helvetica Neue"/>
                <a:ea typeface="Helvetica Neue"/>
                <a:cs typeface="Helvetica Neue"/>
                <a:sym typeface="Helvetica Neue"/>
              </a:rPr>
              <a:t>U</a:t>
            </a:r>
            <a:r>
              <a:rPr b="0" baseline="-25000" i="0" lang="en-US" sz="1800" u="none" cap="none" strike="noStrike">
                <a:solidFill>
                  <a:schemeClr val="dk1"/>
                </a:solidFill>
                <a:latin typeface="Helvetica Neue"/>
                <a:ea typeface="Helvetica Neue"/>
                <a:cs typeface="Helvetica Neue"/>
                <a:sym typeface="Helvetica Neue"/>
              </a:rPr>
              <a:t>7</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DBA revokes authorization from </a:t>
            </a:r>
            <a:r>
              <a:rPr b="0" i="1" lang="en-US" sz="1800" u="none" cap="none" strike="noStrike">
                <a:solidFill>
                  <a:schemeClr val="dk1"/>
                </a:solidFill>
                <a:latin typeface="Helvetica Neue"/>
                <a:ea typeface="Helvetica Neue"/>
                <a:cs typeface="Helvetica Neue"/>
                <a:sym typeface="Helvetica Neue"/>
              </a:rPr>
              <a:t>U</a:t>
            </a:r>
            <a:r>
              <a:rPr b="0" baseline="-25000" i="0" lang="en-US" sz="1800" u="none" cap="none" strike="noStrike">
                <a:solidFill>
                  <a:schemeClr val="dk1"/>
                </a:solidFill>
                <a:latin typeface="Helvetica Neue"/>
                <a:ea typeface="Helvetica Neue"/>
                <a:cs typeface="Helvetica Neue"/>
                <a:sym typeface="Helvetica Neue"/>
              </a:rPr>
              <a:t>7</a:t>
            </a:r>
            <a:endParaRPr b="0" i="0" sz="1800" u="none" cap="none" strike="noStrike">
              <a:solidFill>
                <a:schemeClr val="dk1"/>
              </a:solidFill>
              <a:latin typeface="Helvetica Neue"/>
              <a:ea typeface="Helvetica Neue"/>
              <a:cs typeface="Helvetica Neue"/>
              <a:sym typeface="Helvetica Neue"/>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Must  revoke grant </a:t>
            </a:r>
            <a:r>
              <a:rPr b="0" i="1" lang="en-US" sz="1800" u="none">
                <a:solidFill>
                  <a:schemeClr val="dk1"/>
                </a:solidFill>
                <a:latin typeface="Helvetica Neue"/>
                <a:ea typeface="Helvetica Neue"/>
                <a:cs typeface="Helvetica Neue"/>
                <a:sym typeface="Helvetica Neue"/>
              </a:rPr>
              <a:t>U</a:t>
            </a:r>
            <a:r>
              <a:rPr b="0" baseline="-25000" i="0" lang="en-US" sz="1800" u="none">
                <a:solidFill>
                  <a:schemeClr val="dk1"/>
                </a:solidFill>
                <a:latin typeface="Helvetica Neue"/>
                <a:ea typeface="Helvetica Neue"/>
                <a:cs typeface="Helvetica Neue"/>
                <a:sym typeface="Helvetica Neue"/>
              </a:rPr>
              <a:t>7</a:t>
            </a:r>
            <a:r>
              <a:rPr b="0" i="0" lang="en-US" sz="1800" u="none">
                <a:solidFill>
                  <a:schemeClr val="dk1"/>
                </a:solidFill>
                <a:latin typeface="Helvetica Neue"/>
                <a:ea typeface="Helvetica Neue"/>
                <a:cs typeface="Helvetica Neue"/>
                <a:sym typeface="Helvetica Neue"/>
              </a:rPr>
              <a:t> to </a:t>
            </a:r>
            <a:r>
              <a:rPr b="0" i="1" lang="en-US" sz="1800" u="none">
                <a:solidFill>
                  <a:schemeClr val="dk1"/>
                </a:solidFill>
                <a:latin typeface="Helvetica Neue"/>
                <a:ea typeface="Helvetica Neue"/>
                <a:cs typeface="Helvetica Neue"/>
                <a:sym typeface="Helvetica Neue"/>
              </a:rPr>
              <a:t>U</a:t>
            </a:r>
            <a:r>
              <a:rPr b="0" baseline="-25000" i="0" lang="en-US" sz="1800" u="none">
                <a:solidFill>
                  <a:schemeClr val="dk1"/>
                </a:solidFill>
                <a:latin typeface="Helvetica Neue"/>
                <a:ea typeface="Helvetica Neue"/>
                <a:cs typeface="Helvetica Neue"/>
                <a:sym typeface="Helvetica Neue"/>
              </a:rPr>
              <a:t>8</a:t>
            </a:r>
            <a:r>
              <a:rPr b="0" i="0" lang="en-US" sz="1800" u="none">
                <a:solidFill>
                  <a:schemeClr val="dk1"/>
                </a:solidFill>
                <a:latin typeface="Helvetica Neue"/>
                <a:ea typeface="Helvetica Neue"/>
                <a:cs typeface="Helvetica Neue"/>
                <a:sym typeface="Helvetica Neue"/>
              </a:rPr>
              <a:t> and from </a:t>
            </a:r>
            <a:r>
              <a:rPr b="0" i="1" lang="en-US" sz="1800" u="none">
                <a:solidFill>
                  <a:schemeClr val="dk1"/>
                </a:solidFill>
                <a:latin typeface="Helvetica Neue"/>
                <a:ea typeface="Helvetica Neue"/>
                <a:cs typeface="Helvetica Neue"/>
                <a:sym typeface="Helvetica Neue"/>
              </a:rPr>
              <a:t>U</a:t>
            </a:r>
            <a:r>
              <a:rPr b="0" baseline="-25000" i="0" lang="en-US" sz="1800" u="none">
                <a:solidFill>
                  <a:schemeClr val="dk1"/>
                </a:solidFill>
                <a:latin typeface="Helvetica Neue"/>
                <a:ea typeface="Helvetica Neue"/>
                <a:cs typeface="Helvetica Neue"/>
                <a:sym typeface="Helvetica Neue"/>
              </a:rPr>
              <a:t>8</a:t>
            </a:r>
            <a:r>
              <a:rPr b="0" i="0" lang="en-US" sz="1800" u="none">
                <a:solidFill>
                  <a:schemeClr val="dk1"/>
                </a:solidFill>
                <a:latin typeface="Helvetica Neue"/>
                <a:ea typeface="Helvetica Neue"/>
                <a:cs typeface="Helvetica Neue"/>
                <a:sym typeface="Helvetica Neue"/>
              </a:rPr>
              <a:t> to </a:t>
            </a:r>
            <a:r>
              <a:rPr b="0" i="1" lang="en-US" sz="1800" u="none">
                <a:solidFill>
                  <a:schemeClr val="dk1"/>
                </a:solidFill>
                <a:latin typeface="Helvetica Neue"/>
                <a:ea typeface="Helvetica Neue"/>
                <a:cs typeface="Helvetica Neue"/>
                <a:sym typeface="Helvetica Neue"/>
              </a:rPr>
              <a:t>U</a:t>
            </a:r>
            <a:r>
              <a:rPr b="0" baseline="-25000" i="0" lang="en-US" sz="1800" u="none">
                <a:solidFill>
                  <a:schemeClr val="dk1"/>
                </a:solidFill>
                <a:latin typeface="Helvetica Neue"/>
                <a:ea typeface="Helvetica Neue"/>
                <a:cs typeface="Helvetica Neue"/>
                <a:sym typeface="Helvetica Neue"/>
              </a:rPr>
              <a:t>7</a:t>
            </a:r>
            <a:r>
              <a:rPr b="0" i="0" lang="en-US" sz="1800" u="none">
                <a:solidFill>
                  <a:schemeClr val="dk1"/>
                </a:solidFill>
                <a:latin typeface="Helvetica Neue"/>
                <a:ea typeface="Helvetica Neue"/>
                <a:cs typeface="Helvetica Neue"/>
                <a:sym typeface="Helvetica Neue"/>
              </a:rPr>
              <a:t> since there is no path from DBA to </a:t>
            </a:r>
            <a:r>
              <a:rPr b="0" i="1" lang="en-US" sz="1800" u="none">
                <a:solidFill>
                  <a:schemeClr val="dk1"/>
                </a:solidFill>
                <a:latin typeface="Helvetica Neue"/>
                <a:ea typeface="Helvetica Neue"/>
                <a:cs typeface="Helvetica Neue"/>
                <a:sym typeface="Helvetica Neue"/>
              </a:rPr>
              <a:t>U</a:t>
            </a:r>
            <a:r>
              <a:rPr b="0" baseline="-25000" i="0" lang="en-US" sz="1800" u="none">
                <a:solidFill>
                  <a:schemeClr val="dk1"/>
                </a:solidFill>
                <a:latin typeface="Helvetica Neue"/>
                <a:ea typeface="Helvetica Neue"/>
                <a:cs typeface="Helvetica Neue"/>
                <a:sym typeface="Helvetica Neue"/>
              </a:rPr>
              <a:t>7</a:t>
            </a:r>
            <a:r>
              <a:rPr b="0" i="0" lang="en-US" sz="1800" u="none">
                <a:solidFill>
                  <a:schemeClr val="dk1"/>
                </a:solidFill>
                <a:latin typeface="Helvetica Neue"/>
                <a:ea typeface="Helvetica Neue"/>
                <a:cs typeface="Helvetica Neue"/>
                <a:sym typeface="Helvetica Neue"/>
              </a:rPr>
              <a:t> or to </a:t>
            </a:r>
            <a:r>
              <a:rPr b="0" i="1" lang="en-US" sz="1800" u="none">
                <a:solidFill>
                  <a:schemeClr val="dk1"/>
                </a:solidFill>
                <a:latin typeface="Helvetica Neue"/>
                <a:ea typeface="Helvetica Neue"/>
                <a:cs typeface="Helvetica Neue"/>
                <a:sym typeface="Helvetica Neue"/>
              </a:rPr>
              <a:t>U</a:t>
            </a:r>
            <a:r>
              <a:rPr b="0" baseline="-25000" i="0" lang="en-US" sz="1800" u="none">
                <a:solidFill>
                  <a:schemeClr val="dk1"/>
                </a:solidFill>
                <a:latin typeface="Helvetica Neue"/>
                <a:ea typeface="Helvetica Neue"/>
                <a:cs typeface="Helvetica Neue"/>
                <a:sym typeface="Helvetica Neue"/>
              </a:rPr>
              <a:t>8</a:t>
            </a:r>
            <a:r>
              <a:rPr b="0" i="0" lang="en-US" sz="1800" u="none">
                <a:solidFill>
                  <a:schemeClr val="dk1"/>
                </a:solidFill>
                <a:latin typeface="Helvetica Neue"/>
                <a:ea typeface="Helvetica Neue"/>
                <a:cs typeface="Helvetica Neue"/>
                <a:sym typeface="Helvetica Neue"/>
              </a:rPr>
              <a:t> anymore.</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330" name="Shape 330"/>
        <p:cNvGrpSpPr/>
        <p:nvPr/>
      </p:nvGrpSpPr>
      <p:grpSpPr>
        <a:xfrm>
          <a:off x="0" y="0"/>
          <a:ext cx="0" cy="0"/>
          <a:chOff x="0" y="0"/>
          <a:chExt cx="0" cy="0"/>
        </a:xfrm>
      </p:grpSpPr>
      <p:sp>
        <p:nvSpPr>
          <p:cNvPr id="331" name="Google Shape;331;p44"/>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en-US" sz="2400" u="none">
                <a:solidFill>
                  <a:schemeClr val="dk1"/>
                </a:solidFill>
                <a:latin typeface="Times New Roman"/>
                <a:ea typeface="Times New Roman"/>
                <a:cs typeface="Times New Roman"/>
                <a:sym typeface="Times New Roman"/>
              </a:rPr>
              <a:t>‹#›</a:t>
            </a:fld>
            <a:endParaRPr/>
          </a:p>
        </p:txBody>
      </p:sp>
      <p:sp>
        <p:nvSpPr>
          <p:cNvPr id="332" name="Google Shape;332;p44"/>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Security Specification in SQL</a:t>
            </a:r>
            <a:endParaRPr/>
          </a:p>
        </p:txBody>
      </p:sp>
      <p:sp>
        <p:nvSpPr>
          <p:cNvPr id="333" name="Google Shape;333;p44"/>
          <p:cNvSpPr txBox="1"/>
          <p:nvPr>
            <p:ph idx="4294967295" type="body"/>
          </p:nvPr>
        </p:nvSpPr>
        <p:spPr>
          <a:xfrm>
            <a:off x="814387" y="1093787"/>
            <a:ext cx="7661275" cy="4903787"/>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The grant statement is used to confer authorization</a:t>
            </a:r>
            <a:endParaRPr/>
          </a:p>
          <a:p>
            <a:pPr indent="-342900" lvl="0" marL="342900" marR="0" rtl="0" algn="l">
              <a:lnSpc>
                <a:spcPct val="100000"/>
              </a:lnSpc>
              <a:spcBef>
                <a:spcPts val="630"/>
              </a:spcBef>
              <a:spcAft>
                <a:spcPts val="0"/>
              </a:spcAft>
              <a:buClr>
                <a:schemeClr val="dk2"/>
              </a:buClr>
              <a:buSzPts val="1620"/>
              <a:buFont typeface="Arial"/>
              <a:buNone/>
            </a:pPr>
            <a:r>
              <a:rPr b="0" i="0" lang="en-US" sz="1800" u="none">
                <a:solidFill>
                  <a:schemeClr val="dk1"/>
                </a:solidFill>
                <a:latin typeface="Helvetica Neue"/>
                <a:ea typeface="Helvetica Neue"/>
                <a:cs typeface="Helvetica Neue"/>
                <a:sym typeface="Helvetica Neue"/>
              </a:rPr>
              <a:t>		</a:t>
            </a:r>
            <a:r>
              <a:rPr b="1" i="0" lang="en-US" sz="1800" u="none">
                <a:solidFill>
                  <a:schemeClr val="dk1"/>
                </a:solidFill>
                <a:latin typeface="Helvetica Neue"/>
                <a:ea typeface="Helvetica Neue"/>
                <a:cs typeface="Helvetica Neue"/>
                <a:sym typeface="Helvetica Neue"/>
              </a:rPr>
              <a:t>grant</a:t>
            </a:r>
            <a:r>
              <a:rPr b="0" i="0" lang="en-US" sz="1800" u="none">
                <a:solidFill>
                  <a:schemeClr val="dk1"/>
                </a:solidFill>
                <a:latin typeface="Helvetica Neue"/>
                <a:ea typeface="Helvetica Neue"/>
                <a:cs typeface="Helvetica Neue"/>
                <a:sym typeface="Helvetica Neue"/>
              </a:rPr>
              <a:t> &lt;privilege list&gt;</a:t>
            </a:r>
            <a:endParaRPr/>
          </a:p>
          <a:p>
            <a:pPr indent="-342900" lvl="0" marL="342900" marR="0" rtl="0" algn="l">
              <a:lnSpc>
                <a:spcPct val="100000"/>
              </a:lnSpc>
              <a:spcBef>
                <a:spcPts val="630"/>
              </a:spcBef>
              <a:spcAft>
                <a:spcPts val="0"/>
              </a:spcAft>
              <a:buClr>
                <a:schemeClr val="dk2"/>
              </a:buClr>
              <a:buSzPts val="1620"/>
              <a:buFont typeface="Arial"/>
              <a:buNone/>
            </a:pPr>
            <a:r>
              <a:rPr b="0" i="0" lang="en-US" sz="1800" u="none">
                <a:solidFill>
                  <a:schemeClr val="dk1"/>
                </a:solidFill>
                <a:latin typeface="Helvetica Neue"/>
                <a:ea typeface="Helvetica Neue"/>
                <a:cs typeface="Helvetica Neue"/>
                <a:sym typeface="Helvetica Neue"/>
              </a:rPr>
              <a:t>		</a:t>
            </a:r>
            <a:r>
              <a:rPr b="1" i="0" lang="en-US" sz="1800" u="none">
                <a:solidFill>
                  <a:schemeClr val="dk1"/>
                </a:solidFill>
                <a:latin typeface="Helvetica Neue"/>
                <a:ea typeface="Helvetica Neue"/>
                <a:cs typeface="Helvetica Neue"/>
                <a:sym typeface="Helvetica Neue"/>
              </a:rPr>
              <a:t>on </a:t>
            </a:r>
            <a:r>
              <a:rPr b="0" i="0" lang="en-US" sz="1800" u="none">
                <a:solidFill>
                  <a:schemeClr val="dk1"/>
                </a:solidFill>
                <a:latin typeface="Helvetica Neue"/>
                <a:ea typeface="Helvetica Neue"/>
                <a:cs typeface="Helvetica Neue"/>
                <a:sym typeface="Helvetica Neue"/>
              </a:rPr>
              <a:t>&lt;relation name or view name&gt; to &lt;user list&gt;</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&lt;user list&gt; is:</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a user-id</a:t>
            </a:r>
            <a:endParaRPr/>
          </a:p>
          <a:p>
            <a:pPr indent="-285750" lvl="1" marL="742950" marR="0" rtl="0" algn="l">
              <a:lnSpc>
                <a:spcPct val="100000"/>
              </a:lnSpc>
              <a:spcBef>
                <a:spcPts val="630"/>
              </a:spcBef>
              <a:spcAft>
                <a:spcPts val="0"/>
              </a:spcAft>
              <a:buClr>
                <a:schemeClr val="hlink"/>
              </a:buClr>
              <a:buSzPts val="1440"/>
              <a:buFont typeface="Arial"/>
              <a:buChar char="●"/>
            </a:pPr>
            <a:r>
              <a:rPr b="0" i="1" lang="en-US" sz="1800" u="none" cap="none" strike="noStrike">
                <a:solidFill>
                  <a:schemeClr val="dk1"/>
                </a:solidFill>
                <a:latin typeface="Helvetica Neue"/>
                <a:ea typeface="Helvetica Neue"/>
                <a:cs typeface="Helvetica Neue"/>
                <a:sym typeface="Helvetica Neue"/>
              </a:rPr>
              <a:t>public</a:t>
            </a:r>
            <a:r>
              <a:rPr b="0" i="0" lang="en-US" sz="1800" u="none" cap="none" strike="noStrike">
                <a:solidFill>
                  <a:schemeClr val="dk1"/>
                </a:solidFill>
                <a:latin typeface="Helvetica Neue"/>
                <a:ea typeface="Helvetica Neue"/>
                <a:cs typeface="Helvetica Neue"/>
                <a:sym typeface="Helvetica Neue"/>
              </a:rPr>
              <a:t>, which allows all valid users the privilege granted</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A role (more on this later)</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Granting a privilege on a view does not imply granting any  privileges on the underlying relations.</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The grantor of the privilege must already hold the privilege on the specified item (or be the database administrator).</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337" name="Shape 337"/>
        <p:cNvGrpSpPr/>
        <p:nvPr/>
      </p:nvGrpSpPr>
      <p:grpSpPr>
        <a:xfrm>
          <a:off x="0" y="0"/>
          <a:ext cx="0" cy="0"/>
          <a:chOff x="0" y="0"/>
          <a:chExt cx="0" cy="0"/>
        </a:xfrm>
      </p:grpSpPr>
      <p:sp>
        <p:nvSpPr>
          <p:cNvPr id="338" name="Google Shape;338;p45"/>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en-US" sz="2400" u="none">
                <a:solidFill>
                  <a:schemeClr val="dk1"/>
                </a:solidFill>
                <a:latin typeface="Times New Roman"/>
                <a:ea typeface="Times New Roman"/>
                <a:cs typeface="Times New Roman"/>
                <a:sym typeface="Times New Roman"/>
              </a:rPr>
              <a:t>‹#›</a:t>
            </a:fld>
            <a:endParaRPr/>
          </a:p>
        </p:txBody>
      </p:sp>
      <p:sp>
        <p:nvSpPr>
          <p:cNvPr id="339" name="Google Shape;339;p45"/>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Privileges in SQL</a:t>
            </a:r>
            <a:endParaRPr/>
          </a:p>
        </p:txBody>
      </p:sp>
      <p:sp>
        <p:nvSpPr>
          <p:cNvPr id="340" name="Google Shape;340;p45"/>
          <p:cNvSpPr txBox="1"/>
          <p:nvPr>
            <p:ph idx="4294967295" type="body"/>
          </p:nvPr>
        </p:nvSpPr>
        <p:spPr>
          <a:xfrm>
            <a:off x="925512" y="1198562"/>
            <a:ext cx="7289800" cy="4445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1440"/>
              <a:buFont typeface="Arial"/>
              <a:buChar char="●"/>
            </a:pPr>
            <a:r>
              <a:rPr b="1" i="0" lang="en-US" sz="1600" u="none">
                <a:solidFill>
                  <a:schemeClr val="dk1"/>
                </a:solidFill>
                <a:latin typeface="Helvetica Neue"/>
                <a:ea typeface="Helvetica Neue"/>
                <a:cs typeface="Helvetica Neue"/>
                <a:sym typeface="Helvetica Neue"/>
              </a:rPr>
              <a:t>select:</a:t>
            </a:r>
            <a:r>
              <a:rPr b="0" i="0" lang="en-US" sz="1600" u="none">
                <a:solidFill>
                  <a:schemeClr val="dk1"/>
                </a:solidFill>
                <a:latin typeface="Helvetica Neue"/>
                <a:ea typeface="Helvetica Neue"/>
                <a:cs typeface="Helvetica Neue"/>
                <a:sym typeface="Helvetica Neue"/>
              </a:rPr>
              <a:t> allows read access to relation,or the ability to query using the view</a:t>
            </a:r>
            <a:endParaRPr/>
          </a:p>
          <a:p>
            <a:pPr indent="-285750" lvl="1" marL="742950" marR="0" rtl="0" algn="l">
              <a:lnSpc>
                <a:spcPct val="100000"/>
              </a:lnSpc>
              <a:spcBef>
                <a:spcPts val="560"/>
              </a:spcBef>
              <a:spcAft>
                <a:spcPts val="0"/>
              </a:spcAft>
              <a:buClr>
                <a:schemeClr val="hlink"/>
              </a:buClr>
              <a:buSzPts val="1280"/>
              <a:buFont typeface="Arial"/>
              <a:buChar char="●"/>
            </a:pPr>
            <a:r>
              <a:rPr b="0" i="0" lang="en-US" sz="1600" u="none" cap="none" strike="noStrike">
                <a:solidFill>
                  <a:schemeClr val="dk1"/>
                </a:solidFill>
                <a:latin typeface="Helvetica Neue"/>
                <a:ea typeface="Helvetica Neue"/>
                <a:cs typeface="Helvetica Neue"/>
                <a:sym typeface="Helvetica Neue"/>
              </a:rPr>
              <a:t>Example: grant users U</a:t>
            </a:r>
            <a:r>
              <a:rPr b="0" baseline="-25000" i="0" lang="en-US" sz="1600" u="none" cap="none" strike="noStrike">
                <a:solidFill>
                  <a:schemeClr val="dk1"/>
                </a:solidFill>
                <a:latin typeface="Helvetica Neue"/>
                <a:ea typeface="Helvetica Neue"/>
                <a:cs typeface="Helvetica Neue"/>
                <a:sym typeface="Helvetica Neue"/>
              </a:rPr>
              <a:t>1</a:t>
            </a:r>
            <a:r>
              <a:rPr b="0" i="0" lang="en-US" sz="1600" u="none" cap="none" strike="noStrike">
                <a:solidFill>
                  <a:schemeClr val="dk1"/>
                </a:solidFill>
                <a:latin typeface="Helvetica Neue"/>
                <a:ea typeface="Helvetica Neue"/>
                <a:cs typeface="Helvetica Neue"/>
                <a:sym typeface="Helvetica Neue"/>
              </a:rPr>
              <a:t>, U</a:t>
            </a:r>
            <a:r>
              <a:rPr b="0" baseline="-25000" i="0" lang="en-US" sz="1600" u="none" cap="none" strike="noStrike">
                <a:solidFill>
                  <a:schemeClr val="dk1"/>
                </a:solidFill>
                <a:latin typeface="Helvetica Neue"/>
                <a:ea typeface="Helvetica Neue"/>
                <a:cs typeface="Helvetica Neue"/>
                <a:sym typeface="Helvetica Neue"/>
              </a:rPr>
              <a:t>2</a:t>
            </a:r>
            <a:r>
              <a:rPr b="0" i="0" lang="en-US" sz="1600" u="none" cap="none" strike="noStrike">
                <a:solidFill>
                  <a:schemeClr val="dk1"/>
                </a:solidFill>
                <a:latin typeface="Helvetica Neue"/>
                <a:ea typeface="Helvetica Neue"/>
                <a:cs typeface="Helvetica Neue"/>
                <a:sym typeface="Helvetica Neue"/>
              </a:rPr>
              <a:t>, and U</a:t>
            </a:r>
            <a:r>
              <a:rPr b="0" baseline="-25000" i="0" lang="en-US" sz="1600" u="none" cap="none" strike="noStrike">
                <a:solidFill>
                  <a:schemeClr val="dk1"/>
                </a:solidFill>
                <a:latin typeface="Helvetica Neue"/>
                <a:ea typeface="Helvetica Neue"/>
                <a:cs typeface="Helvetica Neue"/>
                <a:sym typeface="Helvetica Neue"/>
              </a:rPr>
              <a:t>3</a:t>
            </a:r>
            <a:r>
              <a:rPr b="0" i="0" lang="en-US" sz="1600" u="none" cap="none" strike="noStrike">
                <a:solidFill>
                  <a:schemeClr val="dk1"/>
                </a:solidFill>
                <a:latin typeface="Helvetica Neue"/>
                <a:ea typeface="Helvetica Neue"/>
                <a:cs typeface="Helvetica Neue"/>
                <a:sym typeface="Helvetica Neue"/>
              </a:rPr>
              <a:t> </a:t>
            </a:r>
            <a:r>
              <a:rPr b="1" i="0" lang="en-US" sz="1600" u="none" cap="none" strike="noStrike">
                <a:solidFill>
                  <a:schemeClr val="dk1"/>
                </a:solidFill>
                <a:latin typeface="Helvetica Neue"/>
                <a:ea typeface="Helvetica Neue"/>
                <a:cs typeface="Helvetica Neue"/>
                <a:sym typeface="Helvetica Neue"/>
              </a:rPr>
              <a:t>select</a:t>
            </a:r>
            <a:r>
              <a:rPr b="0" i="0" lang="en-US" sz="1600" u="none" cap="none" strike="noStrike">
                <a:solidFill>
                  <a:schemeClr val="dk1"/>
                </a:solidFill>
                <a:latin typeface="Helvetica Neue"/>
                <a:ea typeface="Helvetica Neue"/>
                <a:cs typeface="Helvetica Neue"/>
                <a:sym typeface="Helvetica Neue"/>
              </a:rPr>
              <a:t> authorization on the </a:t>
            </a:r>
            <a:r>
              <a:rPr b="0" i="1" lang="en-US" sz="1600" u="none" cap="none" strike="noStrike">
                <a:solidFill>
                  <a:schemeClr val="dk1"/>
                </a:solidFill>
                <a:latin typeface="Helvetica Neue"/>
                <a:ea typeface="Helvetica Neue"/>
                <a:cs typeface="Helvetica Neue"/>
                <a:sym typeface="Helvetica Neue"/>
              </a:rPr>
              <a:t>branch </a:t>
            </a:r>
            <a:r>
              <a:rPr b="0" i="0" lang="en-US" sz="1600" u="none" cap="none" strike="noStrike">
                <a:solidFill>
                  <a:schemeClr val="dk1"/>
                </a:solidFill>
                <a:latin typeface="Helvetica Neue"/>
                <a:ea typeface="Helvetica Neue"/>
                <a:cs typeface="Helvetica Neue"/>
                <a:sym typeface="Helvetica Neue"/>
              </a:rPr>
              <a:t>relation:</a:t>
            </a:r>
            <a:endParaRPr/>
          </a:p>
          <a:p>
            <a:pPr indent="-342900" lvl="0" marL="342900" marR="0" rtl="0" algn="l">
              <a:lnSpc>
                <a:spcPct val="100000"/>
              </a:lnSpc>
              <a:spcBef>
                <a:spcPts val="560"/>
              </a:spcBef>
              <a:spcAft>
                <a:spcPts val="0"/>
              </a:spcAft>
              <a:buClr>
                <a:schemeClr val="dk2"/>
              </a:buClr>
              <a:buSzPts val="1440"/>
              <a:buFont typeface="Arial"/>
              <a:buNone/>
            </a:pPr>
            <a:r>
              <a:rPr b="0" i="0" lang="en-US" sz="1600" u="none">
                <a:solidFill>
                  <a:schemeClr val="dk1"/>
                </a:solidFill>
                <a:latin typeface="Helvetica Neue"/>
                <a:ea typeface="Helvetica Neue"/>
                <a:cs typeface="Helvetica Neue"/>
                <a:sym typeface="Helvetica Neue"/>
              </a:rPr>
              <a:t>			</a:t>
            </a:r>
            <a:r>
              <a:rPr b="1" i="0" lang="en-US" sz="1600" u="none">
                <a:solidFill>
                  <a:schemeClr val="dk1"/>
                </a:solidFill>
                <a:latin typeface="Helvetica Neue"/>
                <a:ea typeface="Helvetica Neue"/>
                <a:cs typeface="Helvetica Neue"/>
                <a:sym typeface="Helvetica Neue"/>
              </a:rPr>
              <a:t>grant select on </a:t>
            </a:r>
            <a:r>
              <a:rPr b="0" i="1" lang="en-US" sz="1600" u="none">
                <a:solidFill>
                  <a:schemeClr val="dk1"/>
                </a:solidFill>
                <a:latin typeface="Helvetica Neue"/>
                <a:ea typeface="Helvetica Neue"/>
                <a:cs typeface="Helvetica Neue"/>
                <a:sym typeface="Helvetica Neue"/>
              </a:rPr>
              <a:t>branch </a:t>
            </a:r>
            <a:r>
              <a:rPr b="1" i="0" lang="en-US" sz="1600" u="none">
                <a:solidFill>
                  <a:schemeClr val="dk1"/>
                </a:solidFill>
                <a:latin typeface="Helvetica Neue"/>
                <a:ea typeface="Helvetica Neue"/>
                <a:cs typeface="Helvetica Neue"/>
                <a:sym typeface="Helvetica Neue"/>
              </a:rPr>
              <a:t>to </a:t>
            </a:r>
            <a:r>
              <a:rPr b="0" i="1" lang="en-US" sz="1600" u="none">
                <a:solidFill>
                  <a:schemeClr val="dk1"/>
                </a:solidFill>
                <a:latin typeface="Helvetica Neue"/>
                <a:ea typeface="Helvetica Neue"/>
                <a:cs typeface="Helvetica Neue"/>
                <a:sym typeface="Helvetica Neue"/>
              </a:rPr>
              <a:t>U</a:t>
            </a:r>
            <a:r>
              <a:rPr b="0" baseline="-25000" i="1" lang="en-US" sz="1600" u="none">
                <a:solidFill>
                  <a:schemeClr val="dk1"/>
                </a:solidFill>
                <a:latin typeface="Helvetica Neue"/>
                <a:ea typeface="Helvetica Neue"/>
                <a:cs typeface="Helvetica Neue"/>
                <a:sym typeface="Helvetica Neue"/>
              </a:rPr>
              <a:t>1</a:t>
            </a:r>
            <a:r>
              <a:rPr b="0" i="1" lang="en-US" sz="1600" u="none">
                <a:solidFill>
                  <a:schemeClr val="dk1"/>
                </a:solidFill>
                <a:latin typeface="Helvetica Neue"/>
                <a:ea typeface="Helvetica Neue"/>
                <a:cs typeface="Helvetica Neue"/>
                <a:sym typeface="Helvetica Neue"/>
              </a:rPr>
              <a:t>, U</a:t>
            </a:r>
            <a:r>
              <a:rPr b="0" baseline="-25000" i="1" lang="en-US" sz="1600" u="none">
                <a:solidFill>
                  <a:schemeClr val="dk1"/>
                </a:solidFill>
                <a:latin typeface="Helvetica Neue"/>
                <a:ea typeface="Helvetica Neue"/>
                <a:cs typeface="Helvetica Neue"/>
                <a:sym typeface="Helvetica Neue"/>
              </a:rPr>
              <a:t>2</a:t>
            </a:r>
            <a:r>
              <a:rPr b="0" i="1" lang="en-US" sz="1600" u="none">
                <a:solidFill>
                  <a:schemeClr val="dk1"/>
                </a:solidFill>
                <a:latin typeface="Helvetica Neue"/>
                <a:ea typeface="Helvetica Neue"/>
                <a:cs typeface="Helvetica Neue"/>
                <a:sym typeface="Helvetica Neue"/>
              </a:rPr>
              <a:t>, U</a:t>
            </a:r>
            <a:r>
              <a:rPr b="0" baseline="-25000" i="1" lang="en-US" sz="1600" u="none">
                <a:solidFill>
                  <a:schemeClr val="dk1"/>
                </a:solidFill>
                <a:latin typeface="Helvetica Neue"/>
                <a:ea typeface="Helvetica Neue"/>
                <a:cs typeface="Helvetica Neue"/>
                <a:sym typeface="Helvetica Neue"/>
              </a:rPr>
              <a:t>3</a:t>
            </a:r>
            <a:endParaRPr b="0" i="0" sz="1600" u="none">
              <a:solidFill>
                <a:schemeClr val="dk1"/>
              </a:solidFill>
              <a:latin typeface="Helvetica Neue"/>
              <a:ea typeface="Helvetica Neue"/>
              <a:cs typeface="Helvetica Neue"/>
              <a:sym typeface="Helvetica Neue"/>
            </a:endParaRPr>
          </a:p>
          <a:p>
            <a:pPr indent="-342900" lvl="0" marL="342900" marR="0" rtl="0" algn="l">
              <a:lnSpc>
                <a:spcPct val="100000"/>
              </a:lnSpc>
              <a:spcBef>
                <a:spcPts val="560"/>
              </a:spcBef>
              <a:spcAft>
                <a:spcPts val="0"/>
              </a:spcAft>
              <a:buClr>
                <a:schemeClr val="dk2"/>
              </a:buClr>
              <a:buSzPts val="1440"/>
              <a:buFont typeface="Arial"/>
              <a:buChar char="●"/>
            </a:pPr>
            <a:r>
              <a:rPr b="1" i="0" lang="en-US" sz="1600" u="none">
                <a:solidFill>
                  <a:schemeClr val="dk1"/>
                </a:solidFill>
                <a:latin typeface="Helvetica Neue"/>
                <a:ea typeface="Helvetica Neue"/>
                <a:cs typeface="Helvetica Neue"/>
                <a:sym typeface="Helvetica Neue"/>
              </a:rPr>
              <a:t>insert</a:t>
            </a:r>
            <a:r>
              <a:rPr b="0" i="0" lang="en-US" sz="1600" u="none">
                <a:solidFill>
                  <a:schemeClr val="dk1"/>
                </a:solidFill>
                <a:latin typeface="Helvetica Neue"/>
                <a:ea typeface="Helvetica Neue"/>
                <a:cs typeface="Helvetica Neue"/>
                <a:sym typeface="Helvetica Neue"/>
              </a:rPr>
              <a:t>: the ability to insert tuples</a:t>
            </a:r>
            <a:endParaRPr/>
          </a:p>
          <a:p>
            <a:pPr indent="-342900" lvl="0" marL="342900" marR="0" rtl="0" algn="l">
              <a:lnSpc>
                <a:spcPct val="100000"/>
              </a:lnSpc>
              <a:spcBef>
                <a:spcPts val="560"/>
              </a:spcBef>
              <a:spcAft>
                <a:spcPts val="0"/>
              </a:spcAft>
              <a:buClr>
                <a:schemeClr val="dk2"/>
              </a:buClr>
              <a:buSzPts val="1440"/>
              <a:buFont typeface="Arial"/>
              <a:buChar char="●"/>
            </a:pPr>
            <a:r>
              <a:rPr b="1" i="0" lang="en-US" sz="1600" u="none">
                <a:solidFill>
                  <a:schemeClr val="dk1"/>
                </a:solidFill>
                <a:latin typeface="Helvetica Neue"/>
                <a:ea typeface="Helvetica Neue"/>
                <a:cs typeface="Helvetica Neue"/>
                <a:sym typeface="Helvetica Neue"/>
              </a:rPr>
              <a:t>update</a:t>
            </a:r>
            <a:r>
              <a:rPr b="0" i="0" lang="en-US" sz="1600" u="none">
                <a:solidFill>
                  <a:schemeClr val="dk1"/>
                </a:solidFill>
                <a:latin typeface="Helvetica Neue"/>
                <a:ea typeface="Helvetica Neue"/>
                <a:cs typeface="Helvetica Neue"/>
                <a:sym typeface="Helvetica Neue"/>
              </a:rPr>
              <a:t>: the ability  to update using the SQL update statement</a:t>
            </a:r>
            <a:endParaRPr/>
          </a:p>
          <a:p>
            <a:pPr indent="-342900" lvl="0" marL="342900" marR="0" rtl="0" algn="l">
              <a:lnSpc>
                <a:spcPct val="100000"/>
              </a:lnSpc>
              <a:spcBef>
                <a:spcPts val="560"/>
              </a:spcBef>
              <a:spcAft>
                <a:spcPts val="0"/>
              </a:spcAft>
              <a:buClr>
                <a:schemeClr val="dk2"/>
              </a:buClr>
              <a:buSzPts val="1440"/>
              <a:buFont typeface="Arial"/>
              <a:buChar char="●"/>
            </a:pPr>
            <a:r>
              <a:rPr b="1" i="0" lang="en-US" sz="1600" u="none">
                <a:solidFill>
                  <a:schemeClr val="dk1"/>
                </a:solidFill>
                <a:latin typeface="Helvetica Neue"/>
                <a:ea typeface="Helvetica Neue"/>
                <a:cs typeface="Helvetica Neue"/>
                <a:sym typeface="Helvetica Neue"/>
              </a:rPr>
              <a:t>delete</a:t>
            </a:r>
            <a:r>
              <a:rPr b="0" i="0" lang="en-US" sz="1600" u="none">
                <a:solidFill>
                  <a:schemeClr val="dk1"/>
                </a:solidFill>
                <a:latin typeface="Helvetica Neue"/>
                <a:ea typeface="Helvetica Neue"/>
                <a:cs typeface="Helvetica Neue"/>
                <a:sym typeface="Helvetica Neue"/>
              </a:rPr>
              <a:t>: the ability to delete tuples.</a:t>
            </a:r>
            <a:endParaRPr/>
          </a:p>
          <a:p>
            <a:pPr indent="-342900" lvl="0" marL="342900" marR="0" rtl="0" algn="l">
              <a:lnSpc>
                <a:spcPct val="100000"/>
              </a:lnSpc>
              <a:spcBef>
                <a:spcPts val="560"/>
              </a:spcBef>
              <a:spcAft>
                <a:spcPts val="0"/>
              </a:spcAft>
              <a:buClr>
                <a:schemeClr val="dk2"/>
              </a:buClr>
              <a:buSzPts val="1440"/>
              <a:buFont typeface="Arial"/>
              <a:buChar char="●"/>
            </a:pPr>
            <a:r>
              <a:rPr b="1" i="0" lang="en-US" sz="1600" u="none">
                <a:solidFill>
                  <a:schemeClr val="dk1"/>
                </a:solidFill>
                <a:latin typeface="Helvetica Neue"/>
                <a:ea typeface="Helvetica Neue"/>
                <a:cs typeface="Helvetica Neue"/>
                <a:sym typeface="Helvetica Neue"/>
              </a:rPr>
              <a:t>references</a:t>
            </a:r>
            <a:r>
              <a:rPr b="0" i="0" lang="en-US" sz="1600" u="none">
                <a:solidFill>
                  <a:schemeClr val="dk1"/>
                </a:solidFill>
                <a:latin typeface="Helvetica Neue"/>
                <a:ea typeface="Helvetica Neue"/>
                <a:cs typeface="Helvetica Neue"/>
                <a:sym typeface="Helvetica Neue"/>
              </a:rPr>
              <a:t>: ability to declare foreign keys when creating relations.</a:t>
            </a:r>
            <a:endParaRPr/>
          </a:p>
          <a:p>
            <a:pPr indent="-342900" lvl="0" marL="342900" marR="0" rtl="0" algn="l">
              <a:lnSpc>
                <a:spcPct val="100000"/>
              </a:lnSpc>
              <a:spcBef>
                <a:spcPts val="560"/>
              </a:spcBef>
              <a:spcAft>
                <a:spcPts val="0"/>
              </a:spcAft>
              <a:buClr>
                <a:schemeClr val="dk2"/>
              </a:buClr>
              <a:buSzPts val="1440"/>
              <a:buFont typeface="Arial"/>
              <a:buChar char="●"/>
            </a:pPr>
            <a:r>
              <a:rPr b="1" i="0" lang="en-US" sz="1600" u="none">
                <a:solidFill>
                  <a:schemeClr val="dk1"/>
                </a:solidFill>
                <a:latin typeface="Helvetica Neue"/>
                <a:ea typeface="Helvetica Neue"/>
                <a:cs typeface="Helvetica Neue"/>
                <a:sym typeface="Helvetica Neue"/>
              </a:rPr>
              <a:t>usage</a:t>
            </a:r>
            <a:r>
              <a:rPr b="0" i="0" lang="en-US" sz="1600" u="none">
                <a:solidFill>
                  <a:schemeClr val="dk1"/>
                </a:solidFill>
                <a:latin typeface="Helvetica Neue"/>
                <a:ea typeface="Helvetica Neue"/>
                <a:cs typeface="Helvetica Neue"/>
                <a:sym typeface="Helvetica Neue"/>
              </a:rPr>
              <a:t>: In SQL-92; authorizes a user to use a specified domain</a:t>
            </a:r>
            <a:endParaRPr/>
          </a:p>
          <a:p>
            <a:pPr indent="-342900" lvl="0" marL="342900" marR="0" rtl="0" algn="l">
              <a:lnSpc>
                <a:spcPct val="100000"/>
              </a:lnSpc>
              <a:spcBef>
                <a:spcPts val="560"/>
              </a:spcBef>
              <a:spcAft>
                <a:spcPts val="0"/>
              </a:spcAft>
              <a:buClr>
                <a:schemeClr val="dk2"/>
              </a:buClr>
              <a:buSzPts val="1440"/>
              <a:buFont typeface="Arial"/>
              <a:buChar char="●"/>
            </a:pPr>
            <a:r>
              <a:rPr b="1" i="0" lang="en-US" sz="1600" u="none">
                <a:solidFill>
                  <a:schemeClr val="dk1"/>
                </a:solidFill>
                <a:latin typeface="Helvetica Neue"/>
                <a:ea typeface="Helvetica Neue"/>
                <a:cs typeface="Helvetica Neue"/>
                <a:sym typeface="Helvetica Neue"/>
              </a:rPr>
              <a:t>all privileges</a:t>
            </a:r>
            <a:r>
              <a:rPr b="0" i="0" lang="en-US" sz="1600" u="none">
                <a:solidFill>
                  <a:schemeClr val="dk1"/>
                </a:solidFill>
                <a:latin typeface="Helvetica Neue"/>
                <a:ea typeface="Helvetica Neue"/>
                <a:cs typeface="Helvetica Neue"/>
                <a:sym typeface="Helvetica Neue"/>
              </a:rPr>
              <a:t>: used as a short form for all the allowable privileges</a:t>
            </a:r>
            <a:endParaRPr/>
          </a:p>
          <a:p>
            <a:pPr indent="-251459" lvl="0" marL="342900" marR="0" rtl="0" algn="l">
              <a:lnSpc>
                <a:spcPct val="100000"/>
              </a:lnSpc>
              <a:spcBef>
                <a:spcPts val="560"/>
              </a:spcBef>
              <a:spcAft>
                <a:spcPts val="0"/>
              </a:spcAft>
              <a:buClr>
                <a:schemeClr val="dk2"/>
              </a:buClr>
              <a:buSzPts val="1440"/>
              <a:buFont typeface="Arial"/>
              <a:buNone/>
            </a:pPr>
            <a:r>
              <a:t/>
            </a:r>
            <a:endParaRPr b="0" i="0" sz="1600" u="none">
              <a:solidFill>
                <a:schemeClr val="dk1"/>
              </a:solidFill>
              <a:latin typeface="Helvetica Neue"/>
              <a:ea typeface="Helvetica Neue"/>
              <a:cs typeface="Helvetica Neue"/>
              <a:sym typeface="Helvetica Neue"/>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344" name="Shape 344"/>
        <p:cNvGrpSpPr/>
        <p:nvPr/>
      </p:nvGrpSpPr>
      <p:grpSpPr>
        <a:xfrm>
          <a:off x="0" y="0"/>
          <a:ext cx="0" cy="0"/>
          <a:chOff x="0" y="0"/>
          <a:chExt cx="0" cy="0"/>
        </a:xfrm>
      </p:grpSpPr>
      <p:sp>
        <p:nvSpPr>
          <p:cNvPr id="345" name="Google Shape;345;p46"/>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en-US" sz="2400" u="none">
                <a:solidFill>
                  <a:schemeClr val="dk1"/>
                </a:solidFill>
                <a:latin typeface="Times New Roman"/>
                <a:ea typeface="Times New Roman"/>
                <a:cs typeface="Times New Roman"/>
                <a:sym typeface="Times New Roman"/>
              </a:rPr>
              <a:t>‹#›</a:t>
            </a:fld>
            <a:endParaRPr/>
          </a:p>
        </p:txBody>
      </p:sp>
      <p:sp>
        <p:nvSpPr>
          <p:cNvPr id="346" name="Google Shape;346;p46"/>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Privilege  To Grant Privileges</a:t>
            </a:r>
            <a:endParaRPr/>
          </a:p>
        </p:txBody>
      </p:sp>
      <p:sp>
        <p:nvSpPr>
          <p:cNvPr id="347" name="Google Shape;347;p46"/>
          <p:cNvSpPr txBox="1"/>
          <p:nvPr>
            <p:ph idx="4294967295" type="body"/>
          </p:nvPr>
        </p:nvSpPr>
        <p:spPr>
          <a:xfrm>
            <a:off x="814387" y="1093787"/>
            <a:ext cx="7661275" cy="4903787"/>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1620"/>
              <a:buFont typeface="Arial"/>
              <a:buChar char="●"/>
            </a:pPr>
            <a:r>
              <a:rPr b="1" i="0" lang="en-US" sz="1800" u="none">
                <a:solidFill>
                  <a:schemeClr val="dk1"/>
                </a:solidFill>
                <a:latin typeface="Helvetica Neue"/>
                <a:ea typeface="Helvetica Neue"/>
                <a:cs typeface="Helvetica Neue"/>
                <a:sym typeface="Helvetica Neue"/>
              </a:rPr>
              <a:t>with grant option</a:t>
            </a:r>
            <a:r>
              <a:rPr b="0" i="0" lang="en-US" sz="1800" u="none">
                <a:solidFill>
                  <a:schemeClr val="dk1"/>
                </a:solidFill>
                <a:latin typeface="Helvetica Neue"/>
                <a:ea typeface="Helvetica Neue"/>
                <a:cs typeface="Helvetica Neue"/>
                <a:sym typeface="Helvetica Neue"/>
              </a:rPr>
              <a:t>: allows a user who is granted a privilege to pass the privilege on to other users. </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Example:</a:t>
            </a:r>
            <a:endParaRPr/>
          </a:p>
          <a:p>
            <a:pPr indent="-228600" lvl="3" marL="1428750" marR="0" rtl="0" algn="l">
              <a:lnSpc>
                <a:spcPct val="100000"/>
              </a:lnSpc>
              <a:spcBef>
                <a:spcPts val="630"/>
              </a:spcBef>
              <a:spcAft>
                <a:spcPts val="0"/>
              </a:spcAft>
              <a:buClr>
                <a:schemeClr val="hlink"/>
              </a:buClr>
              <a:buSzPts val="1800"/>
              <a:buFont typeface="Helvetica Neue"/>
              <a:buNone/>
            </a:pPr>
            <a:r>
              <a:rPr b="1" i="0" lang="en-US" sz="1800" u="none" cap="none" strike="noStrike">
                <a:solidFill>
                  <a:schemeClr val="dk1"/>
                </a:solidFill>
                <a:latin typeface="Helvetica Neue"/>
                <a:ea typeface="Helvetica Neue"/>
                <a:cs typeface="Helvetica Neue"/>
                <a:sym typeface="Helvetica Neue"/>
              </a:rPr>
              <a:t>grant select on </a:t>
            </a:r>
            <a:r>
              <a:rPr b="0" i="1" lang="en-US" sz="1800" u="none" cap="none" strike="noStrike">
                <a:solidFill>
                  <a:schemeClr val="dk1"/>
                </a:solidFill>
                <a:latin typeface="Helvetica Neue"/>
                <a:ea typeface="Helvetica Neue"/>
                <a:cs typeface="Helvetica Neue"/>
                <a:sym typeface="Helvetica Neue"/>
              </a:rPr>
              <a:t>branch </a:t>
            </a:r>
            <a:r>
              <a:rPr b="1" i="0" lang="en-US" sz="1800" u="none" cap="none" strike="noStrike">
                <a:solidFill>
                  <a:schemeClr val="dk1"/>
                </a:solidFill>
                <a:latin typeface="Helvetica Neue"/>
                <a:ea typeface="Helvetica Neue"/>
                <a:cs typeface="Helvetica Neue"/>
                <a:sym typeface="Helvetica Neue"/>
              </a:rPr>
              <a:t>to </a:t>
            </a:r>
            <a:r>
              <a:rPr b="0" i="1" lang="en-US" sz="1800" u="none" cap="none" strike="noStrike">
                <a:solidFill>
                  <a:schemeClr val="dk1"/>
                </a:solidFill>
                <a:latin typeface="Helvetica Neue"/>
                <a:ea typeface="Helvetica Neue"/>
                <a:cs typeface="Helvetica Neue"/>
                <a:sym typeface="Helvetica Neue"/>
              </a:rPr>
              <a:t>U</a:t>
            </a:r>
            <a:r>
              <a:rPr b="0" baseline="-25000" i="1" lang="en-US" sz="1800" u="none" cap="none" strike="noStrike">
                <a:solidFill>
                  <a:schemeClr val="dk1"/>
                </a:solidFill>
                <a:latin typeface="Helvetica Neue"/>
                <a:ea typeface="Helvetica Neue"/>
                <a:cs typeface="Helvetica Neue"/>
                <a:sym typeface="Helvetica Neue"/>
              </a:rPr>
              <a:t>1</a:t>
            </a:r>
            <a:r>
              <a:rPr b="0" i="1" lang="en-US" sz="1800" u="none" cap="none" strike="noStrike">
                <a:solidFill>
                  <a:schemeClr val="dk1"/>
                </a:solidFill>
                <a:latin typeface="Helvetica Neue"/>
                <a:ea typeface="Helvetica Neue"/>
                <a:cs typeface="Helvetica Neue"/>
                <a:sym typeface="Helvetica Neue"/>
              </a:rPr>
              <a:t> </a:t>
            </a:r>
            <a:r>
              <a:rPr b="1" i="0" lang="en-US" sz="1800" u="none" cap="none" strike="noStrike">
                <a:solidFill>
                  <a:schemeClr val="dk1"/>
                </a:solidFill>
                <a:latin typeface="Helvetica Neue"/>
                <a:ea typeface="Helvetica Neue"/>
                <a:cs typeface="Helvetica Neue"/>
                <a:sym typeface="Helvetica Neue"/>
              </a:rPr>
              <a:t>with grant option</a:t>
            </a:r>
            <a:endParaRPr b="0" i="0" sz="1800" u="none" cap="none" strike="noStrike">
              <a:solidFill>
                <a:schemeClr val="dk1"/>
              </a:solidFill>
              <a:latin typeface="Helvetica Neue"/>
              <a:ea typeface="Helvetica Neue"/>
              <a:cs typeface="Helvetica Neue"/>
              <a:sym typeface="Helvetica Neue"/>
            </a:endParaRPr>
          </a:p>
          <a:p>
            <a:pPr indent="-228600" lvl="2" marL="1085850" marR="0" rtl="0" algn="l">
              <a:lnSpc>
                <a:spcPct val="100000"/>
              </a:lnSpc>
              <a:spcBef>
                <a:spcPts val="630"/>
              </a:spcBef>
              <a:spcAft>
                <a:spcPts val="0"/>
              </a:spcAft>
              <a:buClr>
                <a:srgbClr val="33CC33"/>
              </a:buClr>
              <a:buSzPts val="1350"/>
              <a:buFont typeface="Arimo"/>
              <a:buNone/>
            </a:pPr>
            <a:r>
              <a:rPr b="0" i="0" lang="en-US" sz="1800" u="none" cap="none" strike="noStrike">
                <a:solidFill>
                  <a:schemeClr val="dk1"/>
                </a:solidFill>
                <a:latin typeface="Helvetica Neue"/>
                <a:ea typeface="Helvetica Neue"/>
                <a:cs typeface="Helvetica Neue"/>
                <a:sym typeface="Helvetica Neue"/>
              </a:rPr>
              <a:t>gives U</a:t>
            </a:r>
            <a:r>
              <a:rPr b="0" baseline="-25000" i="0" lang="en-US" sz="1800" u="none" cap="none" strike="noStrike">
                <a:solidFill>
                  <a:schemeClr val="dk1"/>
                </a:solidFill>
                <a:latin typeface="Helvetica Neue"/>
                <a:ea typeface="Helvetica Neue"/>
                <a:cs typeface="Helvetica Neue"/>
                <a:sym typeface="Helvetica Neue"/>
              </a:rPr>
              <a:t>1</a:t>
            </a:r>
            <a:r>
              <a:rPr b="0" i="0" lang="en-US" sz="1800" u="none" cap="none" strike="noStrike">
                <a:solidFill>
                  <a:schemeClr val="dk1"/>
                </a:solidFill>
                <a:latin typeface="Helvetica Neue"/>
                <a:ea typeface="Helvetica Neue"/>
                <a:cs typeface="Helvetica Neue"/>
                <a:sym typeface="Helvetica Neue"/>
              </a:rPr>
              <a:t> the </a:t>
            </a:r>
            <a:r>
              <a:rPr b="1" i="0" lang="en-US" sz="1800" u="none" cap="none" strike="noStrike">
                <a:solidFill>
                  <a:schemeClr val="dk1"/>
                </a:solidFill>
                <a:latin typeface="Helvetica Neue"/>
                <a:ea typeface="Helvetica Neue"/>
                <a:cs typeface="Helvetica Neue"/>
                <a:sym typeface="Helvetica Neue"/>
              </a:rPr>
              <a:t>select </a:t>
            </a:r>
            <a:r>
              <a:rPr b="0" i="0" lang="en-US" sz="1800" u="none" cap="none" strike="noStrike">
                <a:solidFill>
                  <a:schemeClr val="dk1"/>
                </a:solidFill>
                <a:latin typeface="Helvetica Neue"/>
                <a:ea typeface="Helvetica Neue"/>
                <a:cs typeface="Helvetica Neue"/>
                <a:sym typeface="Helvetica Neue"/>
              </a:rPr>
              <a:t>privileges on branch and allows U</a:t>
            </a:r>
            <a:r>
              <a:rPr b="0" baseline="-25000" i="0" lang="en-US" sz="1800" u="none" cap="none" strike="noStrike">
                <a:solidFill>
                  <a:schemeClr val="dk1"/>
                </a:solidFill>
                <a:latin typeface="Helvetica Neue"/>
                <a:ea typeface="Helvetica Neue"/>
                <a:cs typeface="Helvetica Neue"/>
                <a:sym typeface="Helvetica Neue"/>
              </a:rPr>
              <a:t>1</a:t>
            </a:r>
            <a:r>
              <a:rPr b="0" i="0" lang="en-US" sz="1800" u="none" cap="none" strike="noStrike">
                <a:solidFill>
                  <a:schemeClr val="dk1"/>
                </a:solidFill>
                <a:latin typeface="Helvetica Neue"/>
                <a:ea typeface="Helvetica Neue"/>
                <a:cs typeface="Helvetica Neue"/>
                <a:sym typeface="Helvetica Neue"/>
              </a:rPr>
              <a:t> to grant this</a:t>
            </a:r>
            <a:endParaRPr/>
          </a:p>
          <a:p>
            <a:pPr indent="-228600" lvl="2" marL="1085850" marR="0" rtl="0" algn="l">
              <a:lnSpc>
                <a:spcPct val="100000"/>
              </a:lnSpc>
              <a:spcBef>
                <a:spcPts val="630"/>
              </a:spcBef>
              <a:spcAft>
                <a:spcPts val="0"/>
              </a:spcAft>
              <a:buClr>
                <a:srgbClr val="33CC33"/>
              </a:buClr>
              <a:buSzPts val="1350"/>
              <a:buFont typeface="Arimo"/>
              <a:buNone/>
            </a:pPr>
            <a:r>
              <a:rPr b="0" i="0" lang="en-US" sz="1800" u="none" cap="none" strike="noStrike">
                <a:solidFill>
                  <a:schemeClr val="dk1"/>
                </a:solidFill>
                <a:latin typeface="Helvetica Neue"/>
                <a:ea typeface="Helvetica Neue"/>
                <a:cs typeface="Helvetica Neue"/>
                <a:sym typeface="Helvetica Neue"/>
              </a:rPr>
              <a:t>privilege to others</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351" name="Shape 351"/>
        <p:cNvGrpSpPr/>
        <p:nvPr/>
      </p:nvGrpSpPr>
      <p:grpSpPr>
        <a:xfrm>
          <a:off x="0" y="0"/>
          <a:ext cx="0" cy="0"/>
          <a:chOff x="0" y="0"/>
          <a:chExt cx="0" cy="0"/>
        </a:xfrm>
      </p:grpSpPr>
      <p:sp>
        <p:nvSpPr>
          <p:cNvPr id="352" name="Google Shape;352;p47"/>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en-US" sz="2400" u="none">
                <a:solidFill>
                  <a:schemeClr val="dk1"/>
                </a:solidFill>
                <a:latin typeface="Times New Roman"/>
                <a:ea typeface="Times New Roman"/>
                <a:cs typeface="Times New Roman"/>
                <a:sym typeface="Times New Roman"/>
              </a:rPr>
              <a:t>‹#›</a:t>
            </a:fld>
            <a:endParaRPr/>
          </a:p>
        </p:txBody>
      </p:sp>
      <p:sp>
        <p:nvSpPr>
          <p:cNvPr id="353" name="Google Shape;353;p47"/>
          <p:cNvSpPr txBox="1"/>
          <p:nvPr>
            <p:ph type="title"/>
          </p:nvPr>
        </p:nvSpPr>
        <p:spPr>
          <a:xfrm>
            <a:off x="533400" y="228600"/>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Roles</a:t>
            </a:r>
            <a:endParaRPr/>
          </a:p>
        </p:txBody>
      </p:sp>
      <p:sp>
        <p:nvSpPr>
          <p:cNvPr id="354" name="Google Shape;354;p47"/>
          <p:cNvSpPr txBox="1"/>
          <p:nvPr>
            <p:ph idx="4294967295" type="body"/>
          </p:nvPr>
        </p:nvSpPr>
        <p:spPr>
          <a:xfrm>
            <a:off x="381000" y="1066800"/>
            <a:ext cx="8077200" cy="51816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Roles permit common privileges for a class of users can be specified just once by creating a corresponding “role”</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Privileges can be granted to or revoked from roles, just like user</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Roles can be assigned to users, and even to other roles</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SQL:1999 supports roles</a:t>
            </a:r>
            <a:endParaRPr/>
          </a:p>
          <a:p>
            <a:pPr indent="-228600" lvl="3" marL="1428750" marR="0" rtl="0" algn="l">
              <a:lnSpc>
                <a:spcPct val="100000"/>
              </a:lnSpc>
              <a:spcBef>
                <a:spcPts val="630"/>
              </a:spcBef>
              <a:spcAft>
                <a:spcPts val="0"/>
              </a:spcAft>
              <a:buClr>
                <a:schemeClr val="hlink"/>
              </a:buClr>
              <a:buSzPts val="1800"/>
              <a:buFont typeface="Helvetica Neue"/>
              <a:buNone/>
            </a:pPr>
            <a:r>
              <a:rPr b="1" i="0" lang="en-US" sz="1800" u="none" cap="none" strike="noStrike">
                <a:solidFill>
                  <a:schemeClr val="dk1"/>
                </a:solidFill>
                <a:latin typeface="Helvetica Neue"/>
                <a:ea typeface="Helvetica Neue"/>
                <a:cs typeface="Helvetica Neue"/>
                <a:sym typeface="Helvetica Neue"/>
              </a:rPr>
              <a:t>    create role </a:t>
            </a:r>
            <a:r>
              <a:rPr b="0" i="1" lang="en-US" sz="1800" u="none" cap="none" strike="noStrike">
                <a:solidFill>
                  <a:schemeClr val="dk1"/>
                </a:solidFill>
                <a:latin typeface="Helvetica Neue"/>
                <a:ea typeface="Helvetica Neue"/>
                <a:cs typeface="Helvetica Neue"/>
                <a:sym typeface="Helvetica Neue"/>
              </a:rPr>
              <a:t> teller</a:t>
            </a:r>
            <a:br>
              <a:rPr b="0" i="0" lang="en-US" sz="1800" u="none" cap="none" strike="noStrike">
                <a:solidFill>
                  <a:schemeClr val="dk1"/>
                </a:solidFill>
                <a:latin typeface="Helvetica Neue"/>
                <a:ea typeface="Helvetica Neue"/>
                <a:cs typeface="Helvetica Neue"/>
                <a:sym typeface="Helvetica Neue"/>
              </a:rPr>
            </a:br>
            <a:r>
              <a:rPr b="1" i="0" lang="en-US" sz="1800" u="none" cap="none" strike="noStrike">
                <a:solidFill>
                  <a:schemeClr val="dk1"/>
                </a:solidFill>
                <a:latin typeface="Helvetica Neue"/>
                <a:ea typeface="Helvetica Neue"/>
                <a:cs typeface="Helvetica Neue"/>
                <a:sym typeface="Helvetica Neue"/>
              </a:rPr>
              <a:t>create role </a:t>
            </a:r>
            <a:r>
              <a:rPr b="0" i="1" lang="en-US" sz="1800" u="none" cap="none" strike="noStrike">
                <a:solidFill>
                  <a:schemeClr val="dk1"/>
                </a:solidFill>
                <a:latin typeface="Helvetica Neue"/>
                <a:ea typeface="Helvetica Neue"/>
                <a:cs typeface="Helvetica Neue"/>
                <a:sym typeface="Helvetica Neue"/>
              </a:rPr>
              <a:t>manager</a:t>
            </a:r>
            <a:br>
              <a:rPr b="0" i="1" lang="en-US" sz="1800" u="none" cap="none" strike="noStrike">
                <a:solidFill>
                  <a:schemeClr val="dk1"/>
                </a:solidFill>
                <a:latin typeface="Helvetica Neue"/>
                <a:ea typeface="Helvetica Neue"/>
                <a:cs typeface="Helvetica Neue"/>
                <a:sym typeface="Helvetica Neue"/>
              </a:rPr>
            </a:br>
            <a:endParaRPr b="0" i="0" sz="1800" u="none" cap="none" strike="noStrike">
              <a:solidFill>
                <a:schemeClr val="dk1"/>
              </a:solidFill>
              <a:latin typeface="Helvetica Neue"/>
              <a:ea typeface="Helvetica Neue"/>
              <a:cs typeface="Helvetica Neue"/>
              <a:sym typeface="Helvetica Neue"/>
            </a:endParaRPr>
          </a:p>
          <a:p>
            <a:pPr indent="-228600" lvl="3" marL="1428750" marR="0" rtl="0" algn="l">
              <a:lnSpc>
                <a:spcPct val="100000"/>
              </a:lnSpc>
              <a:spcBef>
                <a:spcPts val="630"/>
              </a:spcBef>
              <a:spcAft>
                <a:spcPts val="0"/>
              </a:spcAft>
              <a:buClr>
                <a:schemeClr val="hlink"/>
              </a:buClr>
              <a:buSzPts val="1800"/>
              <a:buFont typeface="Helvetica Neue"/>
              <a:buNone/>
            </a:pPr>
            <a:r>
              <a:rPr b="1" i="0" lang="en-US" sz="1800" u="none" cap="none" strike="noStrike">
                <a:solidFill>
                  <a:schemeClr val="dk1"/>
                </a:solidFill>
                <a:latin typeface="Helvetica Neue"/>
                <a:ea typeface="Helvetica Neue"/>
                <a:cs typeface="Helvetica Neue"/>
                <a:sym typeface="Helvetica Neue"/>
              </a:rPr>
              <a:t>    grant select on </a:t>
            </a:r>
            <a:r>
              <a:rPr b="0" i="1" lang="en-US" sz="1800" u="none" cap="none" strike="noStrike">
                <a:solidFill>
                  <a:schemeClr val="dk1"/>
                </a:solidFill>
                <a:latin typeface="Helvetica Neue"/>
                <a:ea typeface="Helvetica Neue"/>
                <a:cs typeface="Helvetica Neue"/>
                <a:sym typeface="Helvetica Neue"/>
              </a:rPr>
              <a:t>branch </a:t>
            </a:r>
            <a:r>
              <a:rPr b="1" i="0" lang="en-US" sz="1800" u="none" cap="none" strike="noStrike">
                <a:solidFill>
                  <a:schemeClr val="dk1"/>
                </a:solidFill>
                <a:latin typeface="Helvetica Neue"/>
                <a:ea typeface="Helvetica Neue"/>
                <a:cs typeface="Helvetica Neue"/>
                <a:sym typeface="Helvetica Neue"/>
              </a:rPr>
              <a:t>to </a:t>
            </a:r>
            <a:r>
              <a:rPr b="0" i="1" lang="en-US" sz="1800" u="none" cap="none" strike="noStrike">
                <a:solidFill>
                  <a:schemeClr val="dk1"/>
                </a:solidFill>
                <a:latin typeface="Helvetica Neue"/>
                <a:ea typeface="Helvetica Neue"/>
                <a:cs typeface="Helvetica Neue"/>
                <a:sym typeface="Helvetica Neue"/>
              </a:rPr>
              <a:t> teller</a:t>
            </a:r>
            <a:br>
              <a:rPr b="0" i="1" lang="en-US" sz="1800" u="none" cap="none" strike="noStrike">
                <a:solidFill>
                  <a:schemeClr val="dk1"/>
                </a:solidFill>
                <a:latin typeface="Helvetica Neue"/>
                <a:ea typeface="Helvetica Neue"/>
                <a:cs typeface="Helvetica Neue"/>
                <a:sym typeface="Helvetica Neue"/>
              </a:rPr>
            </a:br>
            <a:r>
              <a:rPr b="1" i="0" lang="en-US" sz="1800" u="none" cap="none" strike="noStrike">
                <a:solidFill>
                  <a:schemeClr val="dk1"/>
                </a:solidFill>
                <a:latin typeface="Helvetica Neue"/>
                <a:ea typeface="Helvetica Neue"/>
                <a:cs typeface="Helvetica Neue"/>
                <a:sym typeface="Helvetica Neue"/>
              </a:rPr>
              <a:t>grant update (</a:t>
            </a:r>
            <a:r>
              <a:rPr b="0" i="1" lang="en-US" sz="1800" u="none" cap="none" strike="noStrike">
                <a:solidFill>
                  <a:schemeClr val="dk1"/>
                </a:solidFill>
                <a:latin typeface="Helvetica Neue"/>
                <a:ea typeface="Helvetica Neue"/>
                <a:cs typeface="Helvetica Neue"/>
                <a:sym typeface="Helvetica Neue"/>
              </a:rPr>
              <a:t>balance</a:t>
            </a:r>
            <a:r>
              <a:rPr b="1" i="0" lang="en-US" sz="1800" u="none" cap="none" strike="noStrike">
                <a:solidFill>
                  <a:schemeClr val="dk1"/>
                </a:solidFill>
                <a:latin typeface="Helvetica Neue"/>
                <a:ea typeface="Helvetica Neue"/>
                <a:cs typeface="Helvetica Neue"/>
                <a:sym typeface="Helvetica Neue"/>
              </a:rPr>
              <a:t>) on </a:t>
            </a:r>
            <a:r>
              <a:rPr b="0" i="1" lang="en-US" sz="1800" u="none" cap="none" strike="noStrike">
                <a:solidFill>
                  <a:schemeClr val="dk1"/>
                </a:solidFill>
                <a:latin typeface="Helvetica Neue"/>
                <a:ea typeface="Helvetica Neue"/>
                <a:cs typeface="Helvetica Neue"/>
                <a:sym typeface="Helvetica Neue"/>
              </a:rPr>
              <a:t>account</a:t>
            </a:r>
            <a:r>
              <a:rPr b="1" i="0" lang="en-US" sz="1800" u="none" cap="none" strike="noStrike">
                <a:solidFill>
                  <a:schemeClr val="dk1"/>
                </a:solidFill>
                <a:latin typeface="Helvetica Neue"/>
                <a:ea typeface="Helvetica Neue"/>
                <a:cs typeface="Helvetica Neue"/>
                <a:sym typeface="Helvetica Neue"/>
              </a:rPr>
              <a:t> to </a:t>
            </a:r>
            <a:r>
              <a:rPr b="0" i="1" lang="en-US" sz="1800" u="none" cap="none" strike="noStrike">
                <a:solidFill>
                  <a:schemeClr val="dk1"/>
                </a:solidFill>
                <a:latin typeface="Helvetica Neue"/>
                <a:ea typeface="Helvetica Neue"/>
                <a:cs typeface="Helvetica Neue"/>
                <a:sym typeface="Helvetica Neue"/>
              </a:rPr>
              <a:t>teller</a:t>
            </a:r>
            <a:br>
              <a:rPr b="0" i="1" lang="en-US" sz="1800" u="none" cap="none" strike="noStrike">
                <a:solidFill>
                  <a:schemeClr val="dk1"/>
                </a:solidFill>
                <a:latin typeface="Helvetica Neue"/>
                <a:ea typeface="Helvetica Neue"/>
                <a:cs typeface="Helvetica Neue"/>
                <a:sym typeface="Helvetica Neue"/>
              </a:rPr>
            </a:br>
            <a:r>
              <a:rPr b="1" i="0" lang="en-US" sz="1800" u="none" cap="none" strike="noStrike">
                <a:solidFill>
                  <a:schemeClr val="dk1"/>
                </a:solidFill>
                <a:latin typeface="Helvetica Neue"/>
                <a:ea typeface="Helvetica Neue"/>
                <a:cs typeface="Helvetica Neue"/>
                <a:sym typeface="Helvetica Neue"/>
              </a:rPr>
              <a:t>grant all privileges on </a:t>
            </a:r>
            <a:r>
              <a:rPr b="0" i="1" lang="en-US" sz="1800" u="none" cap="none" strike="noStrike">
                <a:solidFill>
                  <a:schemeClr val="dk1"/>
                </a:solidFill>
                <a:latin typeface="Helvetica Neue"/>
                <a:ea typeface="Helvetica Neue"/>
                <a:cs typeface="Helvetica Neue"/>
                <a:sym typeface="Helvetica Neue"/>
              </a:rPr>
              <a:t>account</a:t>
            </a:r>
            <a:r>
              <a:rPr b="1" i="0" lang="en-US" sz="1800" u="none" cap="none" strike="noStrike">
                <a:solidFill>
                  <a:schemeClr val="dk1"/>
                </a:solidFill>
                <a:latin typeface="Helvetica Neue"/>
                <a:ea typeface="Helvetica Neue"/>
                <a:cs typeface="Helvetica Neue"/>
                <a:sym typeface="Helvetica Neue"/>
              </a:rPr>
              <a:t> to </a:t>
            </a:r>
            <a:r>
              <a:rPr b="0" i="1" lang="en-US" sz="1800" u="none" cap="none" strike="noStrike">
                <a:solidFill>
                  <a:schemeClr val="dk1"/>
                </a:solidFill>
                <a:latin typeface="Helvetica Neue"/>
                <a:ea typeface="Helvetica Neue"/>
                <a:cs typeface="Helvetica Neue"/>
                <a:sym typeface="Helvetica Neue"/>
              </a:rPr>
              <a:t>manager</a:t>
            </a:r>
            <a:br>
              <a:rPr b="1" i="0" lang="en-US" sz="1800" u="none" cap="none" strike="noStrike">
                <a:solidFill>
                  <a:schemeClr val="dk1"/>
                </a:solidFill>
                <a:latin typeface="Helvetica Neue"/>
                <a:ea typeface="Helvetica Neue"/>
                <a:cs typeface="Helvetica Neue"/>
                <a:sym typeface="Helvetica Neue"/>
              </a:rPr>
            </a:br>
            <a:br>
              <a:rPr b="1" i="0" lang="en-US" sz="1800" u="none" cap="none" strike="noStrike">
                <a:solidFill>
                  <a:schemeClr val="dk1"/>
                </a:solidFill>
                <a:latin typeface="Helvetica Neue"/>
                <a:ea typeface="Helvetica Neue"/>
                <a:cs typeface="Helvetica Neue"/>
                <a:sym typeface="Helvetica Neue"/>
              </a:rPr>
            </a:br>
            <a:r>
              <a:rPr b="1" i="0" lang="en-US" sz="1800" u="none" cap="none" strike="noStrike">
                <a:solidFill>
                  <a:schemeClr val="dk1"/>
                </a:solidFill>
                <a:latin typeface="Helvetica Neue"/>
                <a:ea typeface="Helvetica Neue"/>
                <a:cs typeface="Helvetica Neue"/>
                <a:sym typeface="Helvetica Neue"/>
              </a:rPr>
              <a:t>grant </a:t>
            </a:r>
            <a:r>
              <a:rPr b="0" i="1" lang="en-US" sz="1800" u="none" cap="none" strike="noStrike">
                <a:solidFill>
                  <a:schemeClr val="dk1"/>
                </a:solidFill>
                <a:latin typeface="Helvetica Neue"/>
                <a:ea typeface="Helvetica Neue"/>
                <a:cs typeface="Helvetica Neue"/>
                <a:sym typeface="Helvetica Neue"/>
              </a:rPr>
              <a:t>teller </a:t>
            </a:r>
            <a:r>
              <a:rPr b="1" i="0" lang="en-US" sz="1800" u="none" cap="none" strike="noStrike">
                <a:solidFill>
                  <a:schemeClr val="dk1"/>
                </a:solidFill>
                <a:latin typeface="Helvetica Neue"/>
                <a:ea typeface="Helvetica Neue"/>
                <a:cs typeface="Helvetica Neue"/>
                <a:sym typeface="Helvetica Neue"/>
              </a:rPr>
              <a:t>to </a:t>
            </a:r>
            <a:r>
              <a:rPr b="0" i="1" lang="en-US" sz="1800" u="none" cap="none" strike="noStrike">
                <a:solidFill>
                  <a:schemeClr val="dk1"/>
                </a:solidFill>
                <a:latin typeface="Helvetica Neue"/>
                <a:ea typeface="Helvetica Neue"/>
                <a:cs typeface="Helvetica Neue"/>
                <a:sym typeface="Helvetica Neue"/>
              </a:rPr>
              <a:t>manager</a:t>
            </a:r>
            <a:br>
              <a:rPr b="0" i="0" lang="en-US" sz="1800" u="none" cap="none" strike="noStrike">
                <a:solidFill>
                  <a:schemeClr val="dk1"/>
                </a:solidFill>
                <a:latin typeface="Helvetica Neue"/>
                <a:ea typeface="Helvetica Neue"/>
                <a:cs typeface="Helvetica Neue"/>
                <a:sym typeface="Helvetica Neue"/>
              </a:rPr>
            </a:br>
            <a:br>
              <a:rPr b="0" i="0" lang="en-US" sz="1800" u="none" cap="none" strike="noStrike">
                <a:solidFill>
                  <a:schemeClr val="dk1"/>
                </a:solidFill>
                <a:latin typeface="Helvetica Neue"/>
                <a:ea typeface="Helvetica Neue"/>
                <a:cs typeface="Helvetica Neue"/>
                <a:sym typeface="Helvetica Neue"/>
              </a:rPr>
            </a:br>
            <a:r>
              <a:rPr b="1" i="0" lang="en-US" sz="1800" u="none" cap="none" strike="noStrike">
                <a:solidFill>
                  <a:schemeClr val="dk1"/>
                </a:solidFill>
                <a:latin typeface="Helvetica Neue"/>
                <a:ea typeface="Helvetica Neue"/>
                <a:cs typeface="Helvetica Neue"/>
                <a:sym typeface="Helvetica Neue"/>
              </a:rPr>
              <a:t>grant</a:t>
            </a:r>
            <a:r>
              <a:rPr b="1" i="1" lang="en-US" sz="1800" u="none" cap="none" strike="noStrike">
                <a:solidFill>
                  <a:schemeClr val="dk1"/>
                </a:solidFill>
                <a:latin typeface="Helvetica Neue"/>
                <a:ea typeface="Helvetica Neue"/>
                <a:cs typeface="Helvetica Neue"/>
                <a:sym typeface="Helvetica Neue"/>
              </a:rPr>
              <a:t> </a:t>
            </a:r>
            <a:r>
              <a:rPr b="0" i="1" lang="en-US" sz="1800" u="none" cap="none" strike="noStrike">
                <a:solidFill>
                  <a:schemeClr val="dk1"/>
                </a:solidFill>
                <a:latin typeface="Helvetica Neue"/>
                <a:ea typeface="Helvetica Neue"/>
                <a:cs typeface="Helvetica Neue"/>
                <a:sym typeface="Helvetica Neue"/>
              </a:rPr>
              <a:t>teller </a:t>
            </a:r>
            <a:r>
              <a:rPr b="1" i="0" lang="en-US" sz="1800" u="none" cap="none" strike="noStrike">
                <a:solidFill>
                  <a:schemeClr val="dk1"/>
                </a:solidFill>
                <a:latin typeface="Helvetica Neue"/>
                <a:ea typeface="Helvetica Neue"/>
                <a:cs typeface="Helvetica Neue"/>
                <a:sym typeface="Helvetica Neue"/>
              </a:rPr>
              <a:t>to </a:t>
            </a:r>
            <a:r>
              <a:rPr b="0" i="1" lang="en-US" sz="1800" u="none" cap="none" strike="noStrike">
                <a:solidFill>
                  <a:schemeClr val="dk1"/>
                </a:solidFill>
                <a:latin typeface="Helvetica Neue"/>
                <a:ea typeface="Helvetica Neue"/>
                <a:cs typeface="Helvetica Neue"/>
                <a:sym typeface="Helvetica Neue"/>
              </a:rPr>
              <a:t>alice, bob</a:t>
            </a:r>
            <a:br>
              <a:rPr b="0" i="1" lang="en-US" sz="1800" u="none" cap="none" strike="noStrike">
                <a:solidFill>
                  <a:schemeClr val="dk1"/>
                </a:solidFill>
                <a:latin typeface="Helvetica Neue"/>
                <a:ea typeface="Helvetica Neue"/>
                <a:cs typeface="Helvetica Neue"/>
                <a:sym typeface="Helvetica Neue"/>
              </a:rPr>
            </a:br>
            <a:r>
              <a:rPr b="1" i="0" lang="en-US" sz="1800" u="none" cap="none" strike="noStrike">
                <a:solidFill>
                  <a:schemeClr val="dk1"/>
                </a:solidFill>
                <a:latin typeface="Helvetica Neue"/>
                <a:ea typeface="Helvetica Neue"/>
                <a:cs typeface="Helvetica Neue"/>
                <a:sym typeface="Helvetica Neue"/>
              </a:rPr>
              <a:t>grant  </a:t>
            </a:r>
            <a:r>
              <a:rPr b="0" i="1" lang="en-US" sz="1800" u="none" cap="none" strike="noStrike">
                <a:solidFill>
                  <a:schemeClr val="dk1"/>
                </a:solidFill>
                <a:latin typeface="Helvetica Neue"/>
                <a:ea typeface="Helvetica Neue"/>
                <a:cs typeface="Helvetica Neue"/>
                <a:sym typeface="Helvetica Neue"/>
              </a:rPr>
              <a:t>manager</a:t>
            </a:r>
            <a:r>
              <a:rPr b="1" i="0" lang="en-US" sz="1800" u="none" cap="none" strike="noStrike">
                <a:solidFill>
                  <a:schemeClr val="dk1"/>
                </a:solidFill>
                <a:latin typeface="Helvetica Neue"/>
                <a:ea typeface="Helvetica Neue"/>
                <a:cs typeface="Helvetica Neue"/>
                <a:sym typeface="Helvetica Neue"/>
              </a:rPr>
              <a:t>  to  </a:t>
            </a:r>
            <a:r>
              <a:rPr b="0" i="1" lang="en-US" sz="1800" u="none" cap="none" strike="noStrike">
                <a:solidFill>
                  <a:schemeClr val="dk1"/>
                </a:solidFill>
                <a:latin typeface="Helvetica Neue"/>
                <a:ea typeface="Helvetica Neue"/>
                <a:cs typeface="Helvetica Neue"/>
                <a:sym typeface="Helvetica Neue"/>
              </a:rPr>
              <a:t>avi</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358" name="Shape 358"/>
        <p:cNvGrpSpPr/>
        <p:nvPr/>
      </p:nvGrpSpPr>
      <p:grpSpPr>
        <a:xfrm>
          <a:off x="0" y="0"/>
          <a:ext cx="0" cy="0"/>
          <a:chOff x="0" y="0"/>
          <a:chExt cx="0" cy="0"/>
        </a:xfrm>
      </p:grpSpPr>
      <p:sp>
        <p:nvSpPr>
          <p:cNvPr id="359" name="Google Shape;359;p48"/>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en-US" sz="2400" u="none">
                <a:solidFill>
                  <a:schemeClr val="dk1"/>
                </a:solidFill>
                <a:latin typeface="Times New Roman"/>
                <a:ea typeface="Times New Roman"/>
                <a:cs typeface="Times New Roman"/>
                <a:sym typeface="Times New Roman"/>
              </a:rPr>
              <a:t>‹#›</a:t>
            </a:fld>
            <a:endParaRPr/>
          </a:p>
        </p:txBody>
      </p:sp>
      <p:sp>
        <p:nvSpPr>
          <p:cNvPr id="360" name="Google Shape;360;p48"/>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Revoking Authorization in SQL</a:t>
            </a:r>
            <a:endParaRPr/>
          </a:p>
        </p:txBody>
      </p:sp>
      <p:sp>
        <p:nvSpPr>
          <p:cNvPr id="361" name="Google Shape;361;p48"/>
          <p:cNvSpPr txBox="1"/>
          <p:nvPr>
            <p:ph idx="4294967295" type="body"/>
          </p:nvPr>
        </p:nvSpPr>
        <p:spPr>
          <a:xfrm>
            <a:off x="814387" y="1093787"/>
            <a:ext cx="7661275" cy="4903787"/>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The </a:t>
            </a:r>
            <a:r>
              <a:rPr b="1" i="0" lang="en-US" sz="1800" u="none">
                <a:solidFill>
                  <a:schemeClr val="dk1"/>
                </a:solidFill>
                <a:latin typeface="Helvetica Neue"/>
                <a:ea typeface="Helvetica Neue"/>
                <a:cs typeface="Helvetica Neue"/>
                <a:sym typeface="Helvetica Neue"/>
              </a:rPr>
              <a:t>revoke </a:t>
            </a:r>
            <a:r>
              <a:rPr b="0" i="0" lang="en-US" sz="1800" u="none">
                <a:solidFill>
                  <a:schemeClr val="dk1"/>
                </a:solidFill>
                <a:latin typeface="Helvetica Neue"/>
                <a:ea typeface="Helvetica Neue"/>
                <a:cs typeface="Helvetica Neue"/>
                <a:sym typeface="Helvetica Neue"/>
              </a:rPr>
              <a:t>statement is used to revoke authorization.</a:t>
            </a:r>
            <a:endParaRPr/>
          </a:p>
          <a:p>
            <a:pPr indent="-285750" lvl="1" marL="742950" marR="0" rtl="0" algn="l">
              <a:lnSpc>
                <a:spcPct val="100000"/>
              </a:lnSpc>
              <a:spcBef>
                <a:spcPts val="630"/>
              </a:spcBef>
              <a:spcAft>
                <a:spcPts val="0"/>
              </a:spcAft>
              <a:buClr>
                <a:schemeClr val="hlink"/>
              </a:buClr>
              <a:buSzPts val="1440"/>
              <a:buFont typeface="Arial"/>
              <a:buNone/>
            </a:pPr>
            <a:r>
              <a:rPr b="1" i="0" lang="en-US" sz="1800" u="none" cap="none" strike="noStrike">
                <a:solidFill>
                  <a:schemeClr val="dk1"/>
                </a:solidFill>
                <a:latin typeface="Helvetica Neue"/>
                <a:ea typeface="Helvetica Neue"/>
                <a:cs typeface="Helvetica Neue"/>
                <a:sym typeface="Helvetica Neue"/>
              </a:rPr>
              <a:t>revoke</a:t>
            </a:r>
            <a:r>
              <a:rPr b="0" i="0" lang="en-US" sz="1800" u="none" cap="none" strike="noStrike">
                <a:solidFill>
                  <a:schemeClr val="dk1"/>
                </a:solidFill>
                <a:latin typeface="Helvetica Neue"/>
                <a:ea typeface="Helvetica Neue"/>
                <a:cs typeface="Helvetica Neue"/>
                <a:sym typeface="Helvetica Neue"/>
              </a:rPr>
              <a:t>&lt;privilege list&gt;</a:t>
            </a:r>
            <a:endParaRPr/>
          </a:p>
          <a:p>
            <a:pPr indent="-285750" lvl="1" marL="742950" marR="0" rtl="0" algn="l">
              <a:lnSpc>
                <a:spcPct val="100000"/>
              </a:lnSpc>
              <a:spcBef>
                <a:spcPts val="630"/>
              </a:spcBef>
              <a:spcAft>
                <a:spcPts val="0"/>
              </a:spcAft>
              <a:buClr>
                <a:schemeClr val="hlink"/>
              </a:buClr>
              <a:buSzPts val="1440"/>
              <a:buFont typeface="Arial"/>
              <a:buNone/>
            </a:pPr>
            <a:r>
              <a:rPr b="1" i="0" lang="en-US" sz="1800" u="none" cap="none" strike="noStrike">
                <a:solidFill>
                  <a:schemeClr val="dk1"/>
                </a:solidFill>
                <a:latin typeface="Helvetica Neue"/>
                <a:ea typeface="Helvetica Neue"/>
                <a:cs typeface="Helvetica Neue"/>
                <a:sym typeface="Helvetica Neue"/>
              </a:rPr>
              <a:t>on </a:t>
            </a:r>
            <a:r>
              <a:rPr b="0" i="0" lang="en-US" sz="1800" u="none" cap="none" strike="noStrike">
                <a:solidFill>
                  <a:schemeClr val="dk1"/>
                </a:solidFill>
                <a:latin typeface="Helvetica Neue"/>
                <a:ea typeface="Helvetica Neue"/>
                <a:cs typeface="Helvetica Neue"/>
                <a:sym typeface="Helvetica Neue"/>
              </a:rPr>
              <a:t>&lt;relation name or view name&gt; </a:t>
            </a:r>
            <a:r>
              <a:rPr b="1" i="0" lang="en-US" sz="1800" u="none" cap="none" strike="noStrike">
                <a:solidFill>
                  <a:schemeClr val="dk1"/>
                </a:solidFill>
                <a:latin typeface="Helvetica Neue"/>
                <a:ea typeface="Helvetica Neue"/>
                <a:cs typeface="Helvetica Neue"/>
                <a:sym typeface="Helvetica Neue"/>
              </a:rPr>
              <a:t>from </a:t>
            </a:r>
            <a:r>
              <a:rPr b="0" i="0" lang="en-US" sz="1800" u="none" cap="none" strike="noStrike">
                <a:solidFill>
                  <a:schemeClr val="dk1"/>
                </a:solidFill>
                <a:latin typeface="Helvetica Neue"/>
                <a:ea typeface="Helvetica Neue"/>
                <a:cs typeface="Helvetica Neue"/>
                <a:sym typeface="Helvetica Neue"/>
              </a:rPr>
              <a:t>&lt;user list&gt; [</a:t>
            </a:r>
            <a:r>
              <a:rPr b="1" i="0" lang="en-US" sz="1800" u="none" cap="none" strike="noStrike">
                <a:solidFill>
                  <a:schemeClr val="dk1"/>
                </a:solidFill>
                <a:latin typeface="Helvetica Neue"/>
                <a:ea typeface="Helvetica Neue"/>
                <a:cs typeface="Helvetica Neue"/>
                <a:sym typeface="Helvetica Neue"/>
              </a:rPr>
              <a:t>restrict</a:t>
            </a:r>
            <a:r>
              <a:rPr b="0" i="0" lang="en-US" sz="1800" u="none" cap="none" strike="noStrike">
                <a:solidFill>
                  <a:schemeClr val="dk1"/>
                </a:solidFill>
                <a:latin typeface="Helvetica Neue"/>
                <a:ea typeface="Helvetica Neue"/>
                <a:cs typeface="Helvetica Neue"/>
                <a:sym typeface="Helvetica Neue"/>
              </a:rPr>
              <a:t>|</a:t>
            </a:r>
            <a:r>
              <a:rPr b="1" i="0" lang="en-US" sz="1800" u="none" cap="none" strike="noStrike">
                <a:solidFill>
                  <a:schemeClr val="dk1"/>
                </a:solidFill>
                <a:latin typeface="Helvetica Neue"/>
                <a:ea typeface="Helvetica Neue"/>
                <a:cs typeface="Helvetica Neue"/>
                <a:sym typeface="Helvetica Neue"/>
              </a:rPr>
              <a:t>cascade</a:t>
            </a:r>
            <a:r>
              <a:rPr b="0" i="0" lang="en-US" sz="1800" u="none" cap="none" strike="noStrike">
                <a:solidFill>
                  <a:schemeClr val="dk1"/>
                </a:solidFill>
                <a:latin typeface="Helvetica Neue"/>
                <a:ea typeface="Helvetica Neue"/>
                <a:cs typeface="Helvetica Neue"/>
                <a:sym typeface="Helvetica Neue"/>
              </a:rPr>
              <a:t>]</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Example:</a:t>
            </a:r>
            <a:endParaRPr/>
          </a:p>
          <a:p>
            <a:pPr indent="-285750" lvl="1" marL="742950" marR="0" rtl="0" algn="l">
              <a:lnSpc>
                <a:spcPct val="100000"/>
              </a:lnSpc>
              <a:spcBef>
                <a:spcPts val="630"/>
              </a:spcBef>
              <a:spcAft>
                <a:spcPts val="0"/>
              </a:spcAft>
              <a:buClr>
                <a:schemeClr val="hlink"/>
              </a:buClr>
              <a:buSzPts val="1440"/>
              <a:buFont typeface="Arial"/>
              <a:buNone/>
            </a:pPr>
            <a:r>
              <a:rPr b="1" i="0" lang="en-US" sz="1800" u="none" cap="none" strike="noStrike">
                <a:solidFill>
                  <a:schemeClr val="dk1"/>
                </a:solidFill>
                <a:latin typeface="Helvetica Neue"/>
                <a:ea typeface="Helvetica Neue"/>
                <a:cs typeface="Helvetica Neue"/>
                <a:sym typeface="Helvetica Neue"/>
              </a:rPr>
              <a:t>revoke select on </a:t>
            </a:r>
            <a:r>
              <a:rPr b="0" i="1" lang="en-US" sz="1800" u="none" cap="none" strike="noStrike">
                <a:solidFill>
                  <a:schemeClr val="dk1"/>
                </a:solidFill>
                <a:latin typeface="Helvetica Neue"/>
                <a:ea typeface="Helvetica Neue"/>
                <a:cs typeface="Helvetica Neue"/>
                <a:sym typeface="Helvetica Neue"/>
              </a:rPr>
              <a:t>branch  </a:t>
            </a:r>
            <a:r>
              <a:rPr b="1" i="0" lang="en-US" sz="1800" u="none" cap="none" strike="noStrike">
                <a:solidFill>
                  <a:schemeClr val="dk1"/>
                </a:solidFill>
                <a:latin typeface="Helvetica Neue"/>
                <a:ea typeface="Helvetica Neue"/>
                <a:cs typeface="Helvetica Neue"/>
                <a:sym typeface="Helvetica Neue"/>
              </a:rPr>
              <a:t>from </a:t>
            </a:r>
            <a:r>
              <a:rPr b="0" i="1" lang="en-US" sz="1800" u="none" cap="none" strike="noStrike">
                <a:solidFill>
                  <a:schemeClr val="dk1"/>
                </a:solidFill>
                <a:latin typeface="Helvetica Neue"/>
                <a:ea typeface="Helvetica Neue"/>
                <a:cs typeface="Helvetica Neue"/>
                <a:sym typeface="Helvetica Neue"/>
              </a:rPr>
              <a:t>U</a:t>
            </a:r>
            <a:r>
              <a:rPr b="0" baseline="-25000" i="1" lang="en-US" sz="1800" u="none" cap="none" strike="noStrike">
                <a:solidFill>
                  <a:schemeClr val="dk1"/>
                </a:solidFill>
                <a:latin typeface="Helvetica Neue"/>
                <a:ea typeface="Helvetica Neue"/>
                <a:cs typeface="Helvetica Neue"/>
                <a:sym typeface="Helvetica Neue"/>
              </a:rPr>
              <a:t>1</a:t>
            </a:r>
            <a:r>
              <a:rPr b="0" i="1" lang="en-US" sz="1800" u="none" cap="none" strike="noStrike">
                <a:solidFill>
                  <a:schemeClr val="dk1"/>
                </a:solidFill>
                <a:latin typeface="Helvetica Neue"/>
                <a:ea typeface="Helvetica Neue"/>
                <a:cs typeface="Helvetica Neue"/>
                <a:sym typeface="Helvetica Neue"/>
              </a:rPr>
              <a:t>, U</a:t>
            </a:r>
            <a:r>
              <a:rPr b="0" baseline="-25000" i="1" lang="en-US" sz="1800" u="none" cap="none" strike="noStrike">
                <a:solidFill>
                  <a:schemeClr val="dk1"/>
                </a:solidFill>
                <a:latin typeface="Helvetica Neue"/>
                <a:ea typeface="Helvetica Neue"/>
                <a:cs typeface="Helvetica Neue"/>
                <a:sym typeface="Helvetica Neue"/>
              </a:rPr>
              <a:t>2</a:t>
            </a:r>
            <a:r>
              <a:rPr b="0" i="1" lang="en-US" sz="1800" u="none" cap="none" strike="noStrike">
                <a:solidFill>
                  <a:schemeClr val="dk1"/>
                </a:solidFill>
                <a:latin typeface="Helvetica Neue"/>
                <a:ea typeface="Helvetica Neue"/>
                <a:cs typeface="Helvetica Neue"/>
                <a:sym typeface="Helvetica Neue"/>
              </a:rPr>
              <a:t>, U</a:t>
            </a:r>
            <a:r>
              <a:rPr b="0" baseline="-25000" i="1" lang="en-US" sz="1800" u="none" cap="none" strike="noStrike">
                <a:solidFill>
                  <a:schemeClr val="dk1"/>
                </a:solidFill>
                <a:latin typeface="Helvetica Neue"/>
                <a:ea typeface="Helvetica Neue"/>
                <a:cs typeface="Helvetica Neue"/>
                <a:sym typeface="Helvetica Neue"/>
              </a:rPr>
              <a:t>3</a:t>
            </a:r>
            <a:r>
              <a:rPr b="0" i="1" lang="en-US" sz="1800" u="none" cap="none" strike="noStrike">
                <a:solidFill>
                  <a:schemeClr val="dk1"/>
                </a:solidFill>
                <a:latin typeface="Helvetica Neue"/>
                <a:ea typeface="Helvetica Neue"/>
                <a:cs typeface="Helvetica Neue"/>
                <a:sym typeface="Helvetica Neue"/>
              </a:rPr>
              <a:t> </a:t>
            </a:r>
            <a:r>
              <a:rPr b="1" i="0" lang="en-US" sz="1800" u="none" cap="none" strike="noStrike">
                <a:solidFill>
                  <a:schemeClr val="dk1"/>
                </a:solidFill>
                <a:latin typeface="Helvetica Neue"/>
                <a:ea typeface="Helvetica Neue"/>
                <a:cs typeface="Helvetica Neue"/>
                <a:sym typeface="Helvetica Neue"/>
              </a:rPr>
              <a:t>cascade</a:t>
            </a:r>
            <a:endParaRPr b="0" i="0" sz="1800" u="none" cap="none" strike="noStrike">
              <a:solidFill>
                <a:schemeClr val="dk1"/>
              </a:solidFill>
              <a:latin typeface="Helvetica Neue"/>
              <a:ea typeface="Helvetica Neue"/>
              <a:cs typeface="Helvetica Neue"/>
              <a:sym typeface="Helvetica Neue"/>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Revocation of a privilege from a user may cause other users also to lose that privilege; referred to as cascading of the </a:t>
            </a:r>
            <a:r>
              <a:rPr b="1" i="0" lang="en-US" sz="1800" u="none">
                <a:solidFill>
                  <a:schemeClr val="dk1"/>
                </a:solidFill>
                <a:latin typeface="Helvetica Neue"/>
                <a:ea typeface="Helvetica Neue"/>
                <a:cs typeface="Helvetica Neue"/>
                <a:sym typeface="Helvetica Neue"/>
              </a:rPr>
              <a:t>revoke</a:t>
            </a:r>
            <a:r>
              <a:rPr b="0" i="0" lang="en-US" sz="1800" u="none">
                <a:solidFill>
                  <a:schemeClr val="dk1"/>
                </a:solidFill>
                <a:latin typeface="Helvetica Neue"/>
                <a:ea typeface="Helvetica Neue"/>
                <a:cs typeface="Helvetica Neue"/>
                <a:sym typeface="Helvetica Neue"/>
              </a:rPr>
              <a:t>.</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We can prevent cascading by specifying </a:t>
            </a:r>
            <a:r>
              <a:rPr b="1" i="0" lang="en-US" sz="1800" u="none">
                <a:solidFill>
                  <a:schemeClr val="dk1"/>
                </a:solidFill>
                <a:latin typeface="Helvetica Neue"/>
                <a:ea typeface="Helvetica Neue"/>
                <a:cs typeface="Helvetica Neue"/>
                <a:sym typeface="Helvetica Neue"/>
              </a:rPr>
              <a:t>restrict</a:t>
            </a:r>
            <a:r>
              <a:rPr b="0" i="0" lang="en-US" sz="1800" u="none">
                <a:solidFill>
                  <a:schemeClr val="dk1"/>
                </a:solidFill>
                <a:latin typeface="Helvetica Neue"/>
                <a:ea typeface="Helvetica Neue"/>
                <a:cs typeface="Helvetica Neue"/>
                <a:sym typeface="Helvetica Neue"/>
              </a:rPr>
              <a:t>:</a:t>
            </a:r>
            <a:endParaRPr/>
          </a:p>
          <a:p>
            <a:pPr indent="-285750" lvl="1" marL="742950" marR="0" rtl="0" algn="l">
              <a:lnSpc>
                <a:spcPct val="100000"/>
              </a:lnSpc>
              <a:spcBef>
                <a:spcPts val="630"/>
              </a:spcBef>
              <a:spcAft>
                <a:spcPts val="0"/>
              </a:spcAft>
              <a:buClr>
                <a:schemeClr val="hlink"/>
              </a:buClr>
              <a:buSzPts val="1440"/>
              <a:buFont typeface="Arial"/>
              <a:buNone/>
            </a:pPr>
            <a:r>
              <a:rPr b="1" i="0" lang="en-US" sz="1800" u="none" cap="none" strike="noStrike">
                <a:solidFill>
                  <a:schemeClr val="dk1"/>
                </a:solidFill>
                <a:latin typeface="Helvetica Neue"/>
                <a:ea typeface="Helvetica Neue"/>
                <a:cs typeface="Helvetica Neue"/>
                <a:sym typeface="Helvetica Neue"/>
              </a:rPr>
              <a:t>	revoke select on </a:t>
            </a:r>
            <a:r>
              <a:rPr b="0" i="1" lang="en-US" sz="1800" u="none" cap="none" strike="noStrike">
                <a:solidFill>
                  <a:schemeClr val="dk1"/>
                </a:solidFill>
                <a:latin typeface="Helvetica Neue"/>
                <a:ea typeface="Helvetica Neue"/>
                <a:cs typeface="Helvetica Neue"/>
                <a:sym typeface="Helvetica Neue"/>
              </a:rPr>
              <a:t>branch </a:t>
            </a:r>
            <a:r>
              <a:rPr b="1" i="0" lang="en-US" sz="1800" u="none" cap="none" strike="noStrike">
                <a:solidFill>
                  <a:schemeClr val="dk1"/>
                </a:solidFill>
                <a:latin typeface="Helvetica Neue"/>
                <a:ea typeface="Helvetica Neue"/>
                <a:cs typeface="Helvetica Neue"/>
                <a:sym typeface="Helvetica Neue"/>
              </a:rPr>
              <a:t>from </a:t>
            </a:r>
            <a:r>
              <a:rPr b="0" i="1" lang="en-US" sz="1800" u="none" cap="none" strike="noStrike">
                <a:solidFill>
                  <a:schemeClr val="dk1"/>
                </a:solidFill>
                <a:latin typeface="Helvetica Neue"/>
                <a:ea typeface="Helvetica Neue"/>
                <a:cs typeface="Helvetica Neue"/>
                <a:sym typeface="Helvetica Neue"/>
              </a:rPr>
              <a:t>U</a:t>
            </a:r>
            <a:r>
              <a:rPr b="0" baseline="-25000" i="1" lang="en-US" sz="1800" u="none" cap="none" strike="noStrike">
                <a:solidFill>
                  <a:schemeClr val="dk1"/>
                </a:solidFill>
                <a:latin typeface="Helvetica Neue"/>
                <a:ea typeface="Helvetica Neue"/>
                <a:cs typeface="Helvetica Neue"/>
                <a:sym typeface="Helvetica Neue"/>
              </a:rPr>
              <a:t>1</a:t>
            </a:r>
            <a:r>
              <a:rPr b="0" i="1" lang="en-US" sz="1800" u="none" cap="none" strike="noStrike">
                <a:solidFill>
                  <a:schemeClr val="dk1"/>
                </a:solidFill>
                <a:latin typeface="Helvetica Neue"/>
                <a:ea typeface="Helvetica Neue"/>
                <a:cs typeface="Helvetica Neue"/>
                <a:sym typeface="Helvetica Neue"/>
              </a:rPr>
              <a:t>, U</a:t>
            </a:r>
            <a:r>
              <a:rPr b="0" baseline="-25000" i="1" lang="en-US" sz="1800" u="none" cap="none" strike="noStrike">
                <a:solidFill>
                  <a:schemeClr val="dk1"/>
                </a:solidFill>
                <a:latin typeface="Helvetica Neue"/>
                <a:ea typeface="Helvetica Neue"/>
                <a:cs typeface="Helvetica Neue"/>
                <a:sym typeface="Helvetica Neue"/>
              </a:rPr>
              <a:t>2</a:t>
            </a:r>
            <a:r>
              <a:rPr b="0" i="1" lang="en-US" sz="1800" u="none" cap="none" strike="noStrike">
                <a:solidFill>
                  <a:schemeClr val="dk1"/>
                </a:solidFill>
                <a:latin typeface="Helvetica Neue"/>
                <a:ea typeface="Helvetica Neue"/>
                <a:cs typeface="Helvetica Neue"/>
                <a:sym typeface="Helvetica Neue"/>
              </a:rPr>
              <a:t>, U</a:t>
            </a:r>
            <a:r>
              <a:rPr b="0" baseline="-25000" i="1" lang="en-US" sz="1800" u="none" cap="none" strike="noStrike">
                <a:solidFill>
                  <a:schemeClr val="dk1"/>
                </a:solidFill>
                <a:latin typeface="Helvetica Neue"/>
                <a:ea typeface="Helvetica Neue"/>
                <a:cs typeface="Helvetica Neue"/>
                <a:sym typeface="Helvetica Neue"/>
              </a:rPr>
              <a:t>3</a:t>
            </a:r>
            <a:r>
              <a:rPr b="0" i="1" lang="en-US" sz="1800" u="none" cap="none" strike="noStrike">
                <a:solidFill>
                  <a:schemeClr val="dk1"/>
                </a:solidFill>
                <a:latin typeface="Helvetica Neue"/>
                <a:ea typeface="Helvetica Neue"/>
                <a:cs typeface="Helvetica Neue"/>
                <a:sym typeface="Helvetica Neue"/>
              </a:rPr>
              <a:t> </a:t>
            </a:r>
            <a:r>
              <a:rPr b="1" i="0" lang="en-US" sz="1800" u="none" cap="none" strike="noStrike">
                <a:solidFill>
                  <a:schemeClr val="dk1"/>
                </a:solidFill>
                <a:latin typeface="Helvetica Neue"/>
                <a:ea typeface="Helvetica Neue"/>
                <a:cs typeface="Helvetica Neue"/>
                <a:sym typeface="Helvetica Neue"/>
              </a:rPr>
              <a:t>restrict</a:t>
            </a:r>
            <a:endParaRPr b="0" i="0" sz="1800" u="none" cap="none" strike="noStrike">
              <a:solidFill>
                <a:schemeClr val="dk1"/>
              </a:solidFill>
              <a:latin typeface="Helvetica Neue"/>
              <a:ea typeface="Helvetica Neue"/>
              <a:cs typeface="Helvetica Neue"/>
              <a:sym typeface="Helvetica Neue"/>
            </a:endParaRPr>
          </a:p>
          <a:p>
            <a:pPr indent="-342900" lvl="0" marL="342900" marR="0" rtl="0" algn="l">
              <a:lnSpc>
                <a:spcPct val="100000"/>
              </a:lnSpc>
              <a:spcBef>
                <a:spcPts val="630"/>
              </a:spcBef>
              <a:spcAft>
                <a:spcPts val="0"/>
              </a:spcAft>
              <a:buClr>
                <a:schemeClr val="dk2"/>
              </a:buClr>
              <a:buSzPts val="1620"/>
              <a:buFont typeface="Arial"/>
              <a:buNone/>
            </a:pPr>
            <a:r>
              <a:rPr b="0" i="0" lang="en-US" sz="1800" u="none">
                <a:solidFill>
                  <a:schemeClr val="dk1"/>
                </a:solidFill>
                <a:latin typeface="Helvetica Neue"/>
                <a:ea typeface="Helvetica Neue"/>
                <a:cs typeface="Helvetica Neue"/>
                <a:sym typeface="Helvetica Neue"/>
              </a:rPr>
              <a:t>	With </a:t>
            </a:r>
            <a:r>
              <a:rPr b="1" i="0" lang="en-US" sz="1800" u="none">
                <a:solidFill>
                  <a:schemeClr val="dk1"/>
                </a:solidFill>
                <a:latin typeface="Helvetica Neue"/>
                <a:ea typeface="Helvetica Neue"/>
                <a:cs typeface="Helvetica Neue"/>
                <a:sym typeface="Helvetica Neue"/>
              </a:rPr>
              <a:t>restrict</a:t>
            </a:r>
            <a:r>
              <a:rPr b="0" i="0" lang="en-US" sz="1800" u="none">
                <a:solidFill>
                  <a:schemeClr val="dk1"/>
                </a:solidFill>
                <a:latin typeface="Helvetica Neue"/>
                <a:ea typeface="Helvetica Neue"/>
                <a:cs typeface="Helvetica Neue"/>
                <a:sym typeface="Helvetica Neue"/>
              </a:rPr>
              <a:t>, the </a:t>
            </a:r>
            <a:r>
              <a:rPr b="1" i="0" lang="en-US" sz="1800" u="none">
                <a:solidFill>
                  <a:schemeClr val="dk1"/>
                </a:solidFill>
                <a:latin typeface="Helvetica Neue"/>
                <a:ea typeface="Helvetica Neue"/>
                <a:cs typeface="Helvetica Neue"/>
                <a:sym typeface="Helvetica Neue"/>
              </a:rPr>
              <a:t>revoke </a:t>
            </a:r>
            <a:r>
              <a:rPr b="0" i="0" lang="en-US" sz="1800" u="none">
                <a:solidFill>
                  <a:schemeClr val="dk1"/>
                </a:solidFill>
                <a:latin typeface="Helvetica Neue"/>
                <a:ea typeface="Helvetica Neue"/>
                <a:cs typeface="Helvetica Neue"/>
                <a:sym typeface="Helvetica Neue"/>
              </a:rPr>
              <a:t>command fails if  cascading revokes are required.</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365" name="Shape 365"/>
        <p:cNvGrpSpPr/>
        <p:nvPr/>
      </p:nvGrpSpPr>
      <p:grpSpPr>
        <a:xfrm>
          <a:off x="0" y="0"/>
          <a:ext cx="0" cy="0"/>
          <a:chOff x="0" y="0"/>
          <a:chExt cx="0" cy="0"/>
        </a:xfrm>
      </p:grpSpPr>
      <p:sp>
        <p:nvSpPr>
          <p:cNvPr id="366" name="Google Shape;366;p49"/>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en-US" sz="2400" u="none">
                <a:solidFill>
                  <a:schemeClr val="dk1"/>
                </a:solidFill>
                <a:latin typeface="Times New Roman"/>
                <a:ea typeface="Times New Roman"/>
                <a:cs typeface="Times New Roman"/>
                <a:sym typeface="Times New Roman"/>
              </a:rPr>
              <a:t>‹#›</a:t>
            </a:fld>
            <a:endParaRPr/>
          </a:p>
        </p:txBody>
      </p:sp>
      <p:sp>
        <p:nvSpPr>
          <p:cNvPr id="367" name="Google Shape;367;p49"/>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Revoking Authorization in SQL (Cont.)</a:t>
            </a:r>
            <a:endParaRPr/>
          </a:p>
        </p:txBody>
      </p:sp>
      <p:sp>
        <p:nvSpPr>
          <p:cNvPr id="368" name="Google Shape;368;p49"/>
          <p:cNvSpPr txBox="1"/>
          <p:nvPr>
            <p:ph idx="4294967295" type="body"/>
          </p:nvPr>
        </p:nvSpPr>
        <p:spPr>
          <a:xfrm>
            <a:off x="814387" y="1093787"/>
            <a:ext cx="7661275" cy="4903787"/>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&lt;privilege-list&gt; may be </a:t>
            </a:r>
            <a:r>
              <a:rPr b="1" i="0" lang="en-US" sz="1800" u="none">
                <a:solidFill>
                  <a:schemeClr val="dk1"/>
                </a:solidFill>
                <a:latin typeface="Helvetica Neue"/>
                <a:ea typeface="Helvetica Neue"/>
                <a:cs typeface="Helvetica Neue"/>
                <a:sym typeface="Helvetica Neue"/>
              </a:rPr>
              <a:t>all to</a:t>
            </a:r>
            <a:r>
              <a:rPr b="0" i="0" lang="en-US" sz="1800" u="none">
                <a:solidFill>
                  <a:schemeClr val="dk1"/>
                </a:solidFill>
                <a:latin typeface="Helvetica Neue"/>
                <a:ea typeface="Helvetica Neue"/>
                <a:cs typeface="Helvetica Neue"/>
                <a:sym typeface="Helvetica Neue"/>
              </a:rPr>
              <a:t> revoke all privileges the revokee may hold.</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If &lt;revokee-list&gt; includes </a:t>
            </a:r>
            <a:r>
              <a:rPr b="1" i="0" lang="en-US" sz="1800" u="none">
                <a:solidFill>
                  <a:schemeClr val="dk1"/>
                </a:solidFill>
                <a:latin typeface="Helvetica Neue"/>
                <a:ea typeface="Helvetica Neue"/>
                <a:cs typeface="Helvetica Neue"/>
                <a:sym typeface="Helvetica Neue"/>
              </a:rPr>
              <a:t>public </a:t>
            </a:r>
            <a:r>
              <a:rPr b="0" i="0" lang="en-US" sz="1800" u="none">
                <a:solidFill>
                  <a:schemeClr val="dk1"/>
                </a:solidFill>
                <a:latin typeface="Helvetica Neue"/>
                <a:ea typeface="Helvetica Neue"/>
                <a:cs typeface="Helvetica Neue"/>
                <a:sym typeface="Helvetica Neue"/>
              </a:rPr>
              <a:t>all users lose the privilege except those granted it explicitly.</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If the same privilege was granted twice to the same user by different grantees, the user  may  retain the privilege after the revocation.</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All privileges that depend on the privilege being revoked are also revoked.</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372" name="Shape 372"/>
        <p:cNvGrpSpPr/>
        <p:nvPr/>
      </p:nvGrpSpPr>
      <p:grpSpPr>
        <a:xfrm>
          <a:off x="0" y="0"/>
          <a:ext cx="0" cy="0"/>
          <a:chOff x="0" y="0"/>
          <a:chExt cx="0" cy="0"/>
        </a:xfrm>
      </p:grpSpPr>
      <p:sp>
        <p:nvSpPr>
          <p:cNvPr id="373" name="Google Shape;373;p50"/>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en-US" sz="2400" u="none">
                <a:solidFill>
                  <a:schemeClr val="dk1"/>
                </a:solidFill>
                <a:latin typeface="Times New Roman"/>
                <a:ea typeface="Times New Roman"/>
                <a:cs typeface="Times New Roman"/>
                <a:sym typeface="Times New Roman"/>
              </a:rPr>
              <a:t>‹#›</a:t>
            </a:fld>
            <a:endParaRPr/>
          </a:p>
        </p:txBody>
      </p:sp>
      <p:sp>
        <p:nvSpPr>
          <p:cNvPr id="374" name="Google Shape;374;p50"/>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Limitations of SQL Authorization</a:t>
            </a:r>
            <a:endParaRPr/>
          </a:p>
        </p:txBody>
      </p:sp>
      <p:sp>
        <p:nvSpPr>
          <p:cNvPr id="375" name="Google Shape;375;p50"/>
          <p:cNvSpPr txBox="1"/>
          <p:nvPr>
            <p:ph idx="1" type="body"/>
          </p:nvPr>
        </p:nvSpPr>
        <p:spPr>
          <a:xfrm>
            <a:off x="571500" y="1114425"/>
            <a:ext cx="7848600" cy="5057775"/>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chemeClr val="dk2"/>
              </a:buClr>
              <a:buSzPts val="1440"/>
              <a:buFont typeface="Arial"/>
              <a:buChar char="●"/>
            </a:pPr>
            <a:r>
              <a:rPr b="0" i="0" lang="en-US" sz="1600" u="none">
                <a:solidFill>
                  <a:schemeClr val="dk1"/>
                </a:solidFill>
                <a:latin typeface="Helvetica Neue"/>
                <a:ea typeface="Helvetica Neue"/>
                <a:cs typeface="Helvetica Neue"/>
                <a:sym typeface="Helvetica Neue"/>
              </a:rPr>
              <a:t>SQL does not support authorization at a tuple level</a:t>
            </a:r>
            <a:endParaRPr/>
          </a:p>
          <a:p>
            <a:pPr indent="-285750" lvl="1" marL="742950" marR="0" rtl="0" algn="l">
              <a:lnSpc>
                <a:spcPct val="90000"/>
              </a:lnSpc>
              <a:spcBef>
                <a:spcPts val="560"/>
              </a:spcBef>
              <a:spcAft>
                <a:spcPts val="0"/>
              </a:spcAft>
              <a:buClr>
                <a:schemeClr val="hlink"/>
              </a:buClr>
              <a:buSzPts val="1280"/>
              <a:buFont typeface="Arial"/>
              <a:buChar char="●"/>
            </a:pPr>
            <a:r>
              <a:rPr b="0" i="0" lang="en-US" sz="1600" u="none" cap="none" strike="noStrike">
                <a:solidFill>
                  <a:schemeClr val="dk1"/>
                </a:solidFill>
                <a:latin typeface="Helvetica Neue"/>
                <a:ea typeface="Helvetica Neue"/>
                <a:cs typeface="Helvetica Neue"/>
                <a:sym typeface="Helvetica Neue"/>
              </a:rPr>
              <a:t>E.g. we cannot restrict students to see only (the tuples storing) their own grades</a:t>
            </a:r>
            <a:endParaRPr/>
          </a:p>
          <a:p>
            <a:pPr indent="-342900" lvl="0" marL="342900" marR="0" rtl="0" algn="l">
              <a:lnSpc>
                <a:spcPct val="90000"/>
              </a:lnSpc>
              <a:spcBef>
                <a:spcPts val="560"/>
              </a:spcBef>
              <a:spcAft>
                <a:spcPts val="0"/>
              </a:spcAft>
              <a:buClr>
                <a:schemeClr val="dk2"/>
              </a:buClr>
              <a:buSzPts val="1440"/>
              <a:buFont typeface="Arial"/>
              <a:buChar char="●"/>
            </a:pPr>
            <a:r>
              <a:rPr b="0" i="0" lang="en-US" sz="1600" u="none">
                <a:solidFill>
                  <a:schemeClr val="dk1"/>
                </a:solidFill>
                <a:latin typeface="Helvetica Neue"/>
                <a:ea typeface="Helvetica Neue"/>
                <a:cs typeface="Helvetica Neue"/>
                <a:sym typeface="Helvetica Neue"/>
              </a:rPr>
              <a:t>With the growth in Web access to databases, database accesses come primarily from application servers.</a:t>
            </a:r>
            <a:endParaRPr/>
          </a:p>
          <a:p>
            <a:pPr indent="-285750" lvl="1" marL="742950" marR="0" rtl="0" algn="l">
              <a:lnSpc>
                <a:spcPct val="90000"/>
              </a:lnSpc>
              <a:spcBef>
                <a:spcPts val="560"/>
              </a:spcBef>
              <a:spcAft>
                <a:spcPts val="0"/>
              </a:spcAft>
              <a:buClr>
                <a:schemeClr val="hlink"/>
              </a:buClr>
              <a:buSzPts val="1280"/>
              <a:buFont typeface="Arial"/>
              <a:buChar char="●"/>
            </a:pPr>
            <a:r>
              <a:rPr b="0" i="0" lang="en-US" sz="1600" u="none" cap="none" strike="noStrike">
                <a:solidFill>
                  <a:schemeClr val="dk1"/>
                </a:solidFill>
                <a:latin typeface="Helvetica Neue"/>
                <a:ea typeface="Helvetica Neue"/>
                <a:cs typeface="Helvetica Neue"/>
                <a:sym typeface="Helvetica Neue"/>
              </a:rPr>
              <a:t> End users don't have database user ids, they are all mapped to the same database user id</a:t>
            </a:r>
            <a:endParaRPr/>
          </a:p>
          <a:p>
            <a:pPr indent="-342900" lvl="0" marL="342900" marR="0" rtl="0" algn="l">
              <a:lnSpc>
                <a:spcPct val="90000"/>
              </a:lnSpc>
              <a:spcBef>
                <a:spcPts val="560"/>
              </a:spcBef>
              <a:spcAft>
                <a:spcPts val="0"/>
              </a:spcAft>
              <a:buClr>
                <a:schemeClr val="dk2"/>
              </a:buClr>
              <a:buSzPts val="1440"/>
              <a:buFont typeface="Arial"/>
              <a:buChar char="●"/>
            </a:pPr>
            <a:r>
              <a:rPr b="0" i="0" lang="en-US" sz="1600" u="none">
                <a:solidFill>
                  <a:schemeClr val="dk1"/>
                </a:solidFill>
                <a:latin typeface="Helvetica Neue"/>
                <a:ea typeface="Helvetica Neue"/>
                <a:cs typeface="Helvetica Neue"/>
                <a:sym typeface="Helvetica Neue"/>
              </a:rPr>
              <a:t>All end-users of an application (such as a web application) may be mapped to a single database user</a:t>
            </a:r>
            <a:endParaRPr/>
          </a:p>
          <a:p>
            <a:pPr indent="-342900" lvl="0" marL="342900" marR="0" rtl="0" algn="l">
              <a:lnSpc>
                <a:spcPct val="90000"/>
              </a:lnSpc>
              <a:spcBef>
                <a:spcPts val="560"/>
              </a:spcBef>
              <a:spcAft>
                <a:spcPts val="0"/>
              </a:spcAft>
              <a:buClr>
                <a:schemeClr val="dk2"/>
              </a:buClr>
              <a:buSzPts val="1440"/>
              <a:buFont typeface="Arial"/>
              <a:buChar char="●"/>
            </a:pPr>
            <a:r>
              <a:rPr b="0" i="0" lang="en-US" sz="1600" u="none">
                <a:solidFill>
                  <a:schemeClr val="dk1"/>
                </a:solidFill>
                <a:latin typeface="Helvetica Neue"/>
                <a:ea typeface="Helvetica Neue"/>
                <a:cs typeface="Helvetica Neue"/>
                <a:sym typeface="Helvetica Neue"/>
              </a:rPr>
              <a:t>The task of authorization in above cases falls on the application program, with no support from SQL</a:t>
            </a:r>
            <a:endParaRPr/>
          </a:p>
          <a:p>
            <a:pPr indent="-285750" lvl="1" marL="742950" marR="0" rtl="0" algn="l">
              <a:lnSpc>
                <a:spcPct val="90000"/>
              </a:lnSpc>
              <a:spcBef>
                <a:spcPts val="560"/>
              </a:spcBef>
              <a:spcAft>
                <a:spcPts val="0"/>
              </a:spcAft>
              <a:buClr>
                <a:schemeClr val="hlink"/>
              </a:buClr>
              <a:buSzPts val="1280"/>
              <a:buFont typeface="Arial"/>
              <a:buChar char="●"/>
            </a:pPr>
            <a:r>
              <a:rPr b="0" i="0" lang="en-US" sz="1600" u="none" cap="none" strike="noStrike">
                <a:solidFill>
                  <a:schemeClr val="dk1"/>
                </a:solidFill>
                <a:latin typeface="Helvetica Neue"/>
                <a:ea typeface="Helvetica Neue"/>
                <a:cs typeface="Helvetica Neue"/>
                <a:sym typeface="Helvetica Neue"/>
              </a:rPr>
              <a:t>Benefit: fine grained authorizations, such as to individual tuples, can be implemented by the application.</a:t>
            </a:r>
            <a:endParaRPr/>
          </a:p>
          <a:p>
            <a:pPr indent="-285750" lvl="1" marL="742950" marR="0" rtl="0" algn="l">
              <a:lnSpc>
                <a:spcPct val="90000"/>
              </a:lnSpc>
              <a:spcBef>
                <a:spcPts val="560"/>
              </a:spcBef>
              <a:spcAft>
                <a:spcPts val="0"/>
              </a:spcAft>
              <a:buClr>
                <a:schemeClr val="hlink"/>
              </a:buClr>
              <a:buSzPts val="1280"/>
              <a:buFont typeface="Arial"/>
              <a:buChar char="●"/>
            </a:pPr>
            <a:r>
              <a:rPr b="0" i="0" lang="en-US" sz="1600" u="none" cap="none" strike="noStrike">
                <a:solidFill>
                  <a:schemeClr val="dk1"/>
                </a:solidFill>
                <a:latin typeface="Helvetica Neue"/>
                <a:ea typeface="Helvetica Neue"/>
                <a:cs typeface="Helvetica Neue"/>
                <a:sym typeface="Helvetica Neue"/>
              </a:rPr>
              <a:t>Drawback: Authorization must  be done in application code, and may be dispersed all over an application</a:t>
            </a:r>
            <a:endParaRPr/>
          </a:p>
          <a:p>
            <a:pPr indent="-285750" lvl="1" marL="742950" marR="0" rtl="0" algn="l">
              <a:lnSpc>
                <a:spcPct val="90000"/>
              </a:lnSpc>
              <a:spcBef>
                <a:spcPts val="560"/>
              </a:spcBef>
              <a:spcAft>
                <a:spcPts val="0"/>
              </a:spcAft>
              <a:buClr>
                <a:schemeClr val="hlink"/>
              </a:buClr>
              <a:buSzPts val="1280"/>
              <a:buFont typeface="Arial"/>
              <a:buChar char="●"/>
            </a:pPr>
            <a:r>
              <a:rPr b="0" i="0" lang="en-US" sz="1600" u="none" cap="none" strike="noStrike">
                <a:solidFill>
                  <a:schemeClr val="dk1"/>
                </a:solidFill>
                <a:latin typeface="Helvetica Neue"/>
                <a:ea typeface="Helvetica Neue"/>
                <a:cs typeface="Helvetica Neue"/>
                <a:sym typeface="Helvetica Neue"/>
              </a:rPr>
              <a:t>Checking for absence of authorization loopholes becomes very difficult since it requires reading large amounts of application code</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379" name="Shape 379"/>
        <p:cNvGrpSpPr/>
        <p:nvPr/>
      </p:nvGrpSpPr>
      <p:grpSpPr>
        <a:xfrm>
          <a:off x="0" y="0"/>
          <a:ext cx="0" cy="0"/>
          <a:chOff x="0" y="0"/>
          <a:chExt cx="0" cy="0"/>
        </a:xfrm>
      </p:grpSpPr>
      <p:sp>
        <p:nvSpPr>
          <p:cNvPr id="380" name="Google Shape;380;p51"/>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en-US" sz="2400" u="none">
                <a:solidFill>
                  <a:schemeClr val="dk1"/>
                </a:solidFill>
                <a:latin typeface="Times New Roman"/>
                <a:ea typeface="Times New Roman"/>
                <a:cs typeface="Times New Roman"/>
                <a:sym typeface="Times New Roman"/>
              </a:rPr>
              <a:t>‹#›</a:t>
            </a:fld>
            <a:endParaRPr/>
          </a:p>
        </p:txBody>
      </p:sp>
      <p:sp>
        <p:nvSpPr>
          <p:cNvPr id="381" name="Google Shape;381;p51"/>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Audit Trails</a:t>
            </a:r>
            <a:endParaRPr/>
          </a:p>
        </p:txBody>
      </p:sp>
      <p:sp>
        <p:nvSpPr>
          <p:cNvPr id="382" name="Google Shape;382;p51"/>
          <p:cNvSpPr txBox="1"/>
          <p:nvPr>
            <p:ph idx="1" type="body"/>
          </p:nvPr>
        </p:nvSpPr>
        <p:spPr>
          <a:xfrm>
            <a:off x="609600" y="1219200"/>
            <a:ext cx="8001000" cy="3152775"/>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An audit trail is a log of all changes (inserts/deletes/updates) to the database along with information such as which user performed the change, and when the change was performed.</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Used to track erroneous/fraudulent updates.</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Can be implemented using triggers, but many database systems provide direct support.</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386" name="Shape 386"/>
        <p:cNvGrpSpPr/>
        <p:nvPr/>
      </p:nvGrpSpPr>
      <p:grpSpPr>
        <a:xfrm>
          <a:off x="0" y="0"/>
          <a:ext cx="0" cy="0"/>
          <a:chOff x="0" y="0"/>
          <a:chExt cx="0" cy="0"/>
        </a:xfrm>
      </p:grpSpPr>
      <p:sp>
        <p:nvSpPr>
          <p:cNvPr id="387" name="Google Shape;387;p52"/>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en-US" sz="2400" u="none">
                <a:solidFill>
                  <a:schemeClr val="dk1"/>
                </a:solidFill>
                <a:latin typeface="Times New Roman"/>
                <a:ea typeface="Times New Roman"/>
                <a:cs typeface="Times New Roman"/>
                <a:sym typeface="Times New Roman"/>
              </a:rPr>
              <a:t>‹#›</a:t>
            </a:fld>
            <a:endParaRPr/>
          </a:p>
        </p:txBody>
      </p:sp>
      <p:sp>
        <p:nvSpPr>
          <p:cNvPr id="388" name="Google Shape;388;p52"/>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Application Security</a:t>
            </a:r>
            <a:endParaRPr/>
          </a:p>
        </p:txBody>
      </p:sp>
      <p:sp>
        <p:nvSpPr>
          <p:cNvPr id="389" name="Google Shape;389;p52"/>
          <p:cNvSpPr txBox="1"/>
          <p:nvPr>
            <p:ph idx="4294967295" type="body"/>
          </p:nvPr>
        </p:nvSpPr>
        <p:spPr>
          <a:xfrm>
            <a:off x="814387" y="1093787"/>
            <a:ext cx="7661275" cy="4903787"/>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Data may be </a:t>
            </a:r>
            <a:r>
              <a:rPr b="0" i="1" lang="en-US" sz="1800" u="none">
                <a:solidFill>
                  <a:schemeClr val="dk1"/>
                </a:solidFill>
                <a:latin typeface="Helvetica Neue"/>
                <a:ea typeface="Helvetica Neue"/>
                <a:cs typeface="Helvetica Neue"/>
                <a:sym typeface="Helvetica Neue"/>
              </a:rPr>
              <a:t>encrypted</a:t>
            </a:r>
            <a:r>
              <a:rPr b="0" i="0" lang="en-US" sz="1800" u="none">
                <a:solidFill>
                  <a:schemeClr val="dk1"/>
                </a:solidFill>
                <a:latin typeface="Helvetica Neue"/>
                <a:ea typeface="Helvetica Neue"/>
                <a:cs typeface="Helvetica Neue"/>
                <a:sym typeface="Helvetica Neue"/>
              </a:rPr>
              <a:t> when database authorization provisions do not offer sufficient protection.</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Properties of good encryption technique:</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Relatively simple for authorized users to encrypt and decrypt data.</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Encryption scheme depends not on the secrecy of the algorithm but on the secrecy of a parameter of the algorithm  called the  encryption key.</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Extremely difficult for an intruder to determine the encryption key.</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393" name="Shape 393"/>
        <p:cNvGrpSpPr/>
        <p:nvPr/>
      </p:nvGrpSpPr>
      <p:grpSpPr>
        <a:xfrm>
          <a:off x="0" y="0"/>
          <a:ext cx="0" cy="0"/>
          <a:chOff x="0" y="0"/>
          <a:chExt cx="0" cy="0"/>
        </a:xfrm>
      </p:grpSpPr>
      <p:sp>
        <p:nvSpPr>
          <p:cNvPr id="394" name="Google Shape;394;p53"/>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en-US" sz="2400" u="none">
                <a:solidFill>
                  <a:schemeClr val="dk1"/>
                </a:solidFill>
                <a:latin typeface="Times New Roman"/>
                <a:ea typeface="Times New Roman"/>
                <a:cs typeface="Times New Roman"/>
                <a:sym typeface="Times New Roman"/>
              </a:rPr>
              <a:t>‹#›</a:t>
            </a:fld>
            <a:endParaRPr/>
          </a:p>
        </p:txBody>
      </p:sp>
      <p:sp>
        <p:nvSpPr>
          <p:cNvPr id="395" name="Google Shape;395;p53"/>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Encryption (Cont.)</a:t>
            </a:r>
            <a:endParaRPr/>
          </a:p>
        </p:txBody>
      </p:sp>
      <p:sp>
        <p:nvSpPr>
          <p:cNvPr id="396" name="Google Shape;396;p53"/>
          <p:cNvSpPr txBox="1"/>
          <p:nvPr>
            <p:ph idx="4294967295" type="body"/>
          </p:nvPr>
        </p:nvSpPr>
        <p:spPr>
          <a:xfrm>
            <a:off x="571500" y="1114425"/>
            <a:ext cx="7810500" cy="5057775"/>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chemeClr val="dk2"/>
              </a:buClr>
              <a:buSzPts val="1440"/>
              <a:buFont typeface="Arial"/>
              <a:buChar char="●"/>
            </a:pPr>
            <a:r>
              <a:rPr b="0" i="1" lang="en-US" sz="1600" u="none">
                <a:solidFill>
                  <a:schemeClr val="dk1"/>
                </a:solidFill>
                <a:latin typeface="Helvetica Neue"/>
                <a:ea typeface="Helvetica Neue"/>
                <a:cs typeface="Helvetica Neue"/>
                <a:sym typeface="Helvetica Neue"/>
              </a:rPr>
              <a:t> </a:t>
            </a:r>
            <a:r>
              <a:rPr b="0" i="1" lang="en-US" sz="1600" u="none">
                <a:solidFill>
                  <a:schemeClr val="dk2"/>
                </a:solidFill>
                <a:latin typeface="Helvetica Neue"/>
                <a:ea typeface="Helvetica Neue"/>
                <a:cs typeface="Helvetica Neue"/>
                <a:sym typeface="Helvetica Neue"/>
              </a:rPr>
              <a:t>Data Encryption Standard</a:t>
            </a:r>
            <a:r>
              <a:rPr b="0" i="0" lang="en-US" sz="1600" u="none">
                <a:solidFill>
                  <a:schemeClr val="dk2"/>
                </a:solidFill>
                <a:latin typeface="Helvetica Neue"/>
                <a:ea typeface="Helvetica Neue"/>
                <a:cs typeface="Helvetica Neue"/>
                <a:sym typeface="Helvetica Neue"/>
              </a:rPr>
              <a:t> (DES)</a:t>
            </a:r>
            <a:r>
              <a:rPr b="0" i="0" lang="en-US" sz="1600" u="none">
                <a:solidFill>
                  <a:schemeClr val="dk1"/>
                </a:solidFill>
                <a:latin typeface="Helvetica Neue"/>
                <a:ea typeface="Helvetica Neue"/>
                <a:cs typeface="Helvetica Neue"/>
                <a:sym typeface="Helvetica Neue"/>
              </a:rPr>
              <a:t> substitutes characters and rearranges their order on the basis of an encryption key which is  provided to authorized users via a secure mechanism. Scheme is no more secure than the key transmission mechanism since the key has to be shared.</a:t>
            </a:r>
            <a:endParaRPr/>
          </a:p>
          <a:p>
            <a:pPr indent="-342900" lvl="0" marL="342900" marR="0" rtl="0" algn="l">
              <a:lnSpc>
                <a:spcPct val="90000"/>
              </a:lnSpc>
              <a:spcBef>
                <a:spcPts val="560"/>
              </a:spcBef>
              <a:spcAft>
                <a:spcPts val="0"/>
              </a:spcAft>
              <a:buClr>
                <a:schemeClr val="dk2"/>
              </a:buClr>
              <a:buSzPts val="1440"/>
              <a:buFont typeface="Arial"/>
              <a:buChar char="●"/>
            </a:pPr>
            <a:r>
              <a:rPr b="0" i="0" lang="en-US" sz="1600" u="none">
                <a:solidFill>
                  <a:schemeClr val="dk2"/>
                </a:solidFill>
                <a:latin typeface="Helvetica Neue"/>
                <a:ea typeface="Helvetica Neue"/>
                <a:cs typeface="Helvetica Neue"/>
                <a:sym typeface="Helvetica Neue"/>
              </a:rPr>
              <a:t>Advanced Encryption Standard (AES)</a:t>
            </a:r>
            <a:r>
              <a:rPr b="0" i="0" lang="en-US" sz="1600" u="none">
                <a:solidFill>
                  <a:schemeClr val="dk1"/>
                </a:solidFill>
                <a:latin typeface="Helvetica Neue"/>
                <a:ea typeface="Helvetica Neue"/>
                <a:cs typeface="Helvetica Neue"/>
                <a:sym typeface="Helvetica Neue"/>
              </a:rPr>
              <a:t> is a new standard replacing DES, and is based on the Rijndael algorithm, but is also dependent on shared secret keys</a:t>
            </a:r>
            <a:endParaRPr/>
          </a:p>
          <a:p>
            <a:pPr indent="-342900" lvl="0" marL="342900" marR="0" rtl="0" algn="l">
              <a:lnSpc>
                <a:spcPct val="90000"/>
              </a:lnSpc>
              <a:spcBef>
                <a:spcPts val="560"/>
              </a:spcBef>
              <a:spcAft>
                <a:spcPts val="0"/>
              </a:spcAft>
              <a:buClr>
                <a:schemeClr val="dk2"/>
              </a:buClr>
              <a:buSzPts val="1440"/>
              <a:buFont typeface="Arial"/>
              <a:buChar char="●"/>
            </a:pPr>
            <a:r>
              <a:rPr b="0" i="0" lang="en-US" sz="1600" u="none">
                <a:solidFill>
                  <a:schemeClr val="dk1"/>
                </a:solidFill>
                <a:latin typeface="Helvetica Neue"/>
                <a:ea typeface="Helvetica Neue"/>
                <a:cs typeface="Helvetica Neue"/>
                <a:sym typeface="Helvetica Neue"/>
              </a:rPr>
              <a:t> </a:t>
            </a:r>
            <a:r>
              <a:rPr b="0" i="1" lang="en-US" sz="1600" u="none">
                <a:solidFill>
                  <a:schemeClr val="dk2"/>
                </a:solidFill>
                <a:latin typeface="Helvetica Neue"/>
                <a:ea typeface="Helvetica Neue"/>
                <a:cs typeface="Helvetica Neue"/>
                <a:sym typeface="Helvetica Neue"/>
              </a:rPr>
              <a:t>Public-key encryption</a:t>
            </a:r>
            <a:r>
              <a:rPr b="0" i="0" lang="en-US" sz="1600" u="none">
                <a:solidFill>
                  <a:schemeClr val="dk1"/>
                </a:solidFill>
                <a:latin typeface="Helvetica Neue"/>
                <a:ea typeface="Helvetica Neue"/>
                <a:cs typeface="Helvetica Neue"/>
                <a:sym typeface="Helvetica Neue"/>
              </a:rPr>
              <a:t> is based on each user having two keys:</a:t>
            </a:r>
            <a:endParaRPr/>
          </a:p>
          <a:p>
            <a:pPr indent="-285750" lvl="1" marL="742950" marR="0" rtl="0" algn="l">
              <a:lnSpc>
                <a:spcPct val="90000"/>
              </a:lnSpc>
              <a:spcBef>
                <a:spcPts val="560"/>
              </a:spcBef>
              <a:spcAft>
                <a:spcPts val="0"/>
              </a:spcAft>
              <a:buClr>
                <a:schemeClr val="hlink"/>
              </a:buClr>
              <a:buSzPts val="1280"/>
              <a:buFont typeface="Arial"/>
              <a:buChar char="●"/>
            </a:pPr>
            <a:r>
              <a:rPr b="0" i="1" lang="en-US" sz="1600" u="none" cap="none" strike="noStrike">
                <a:solidFill>
                  <a:schemeClr val="dk1"/>
                </a:solidFill>
                <a:latin typeface="Helvetica Neue"/>
                <a:ea typeface="Helvetica Neue"/>
                <a:cs typeface="Helvetica Neue"/>
                <a:sym typeface="Helvetica Neue"/>
              </a:rPr>
              <a:t>public key</a:t>
            </a:r>
            <a:r>
              <a:rPr b="0" i="0" lang="en-US" sz="1600" u="none" cap="none" strike="noStrike">
                <a:solidFill>
                  <a:schemeClr val="dk1"/>
                </a:solidFill>
                <a:latin typeface="Helvetica Neue"/>
                <a:ea typeface="Helvetica Neue"/>
                <a:cs typeface="Helvetica Neue"/>
                <a:sym typeface="Helvetica Neue"/>
              </a:rPr>
              <a:t> – publicly published key used to encrypt data, but cannot be used to decrypt data</a:t>
            </a:r>
            <a:endParaRPr/>
          </a:p>
          <a:p>
            <a:pPr indent="-285750" lvl="1" marL="742950" marR="0" rtl="0" algn="l">
              <a:lnSpc>
                <a:spcPct val="90000"/>
              </a:lnSpc>
              <a:spcBef>
                <a:spcPts val="560"/>
              </a:spcBef>
              <a:spcAft>
                <a:spcPts val="0"/>
              </a:spcAft>
              <a:buClr>
                <a:schemeClr val="hlink"/>
              </a:buClr>
              <a:buSzPts val="1280"/>
              <a:buFont typeface="Arial"/>
              <a:buChar char="●"/>
            </a:pPr>
            <a:r>
              <a:rPr b="0" i="0" lang="en-US" sz="1600" u="none" cap="none" strike="noStrike">
                <a:solidFill>
                  <a:schemeClr val="dk1"/>
                </a:solidFill>
                <a:latin typeface="Helvetica Neue"/>
                <a:ea typeface="Helvetica Neue"/>
                <a:cs typeface="Helvetica Neue"/>
                <a:sym typeface="Helvetica Neue"/>
              </a:rPr>
              <a:t> </a:t>
            </a:r>
            <a:r>
              <a:rPr b="0" i="1" lang="en-US" sz="1600" u="none" cap="none" strike="noStrike">
                <a:solidFill>
                  <a:schemeClr val="dk1"/>
                </a:solidFill>
                <a:latin typeface="Helvetica Neue"/>
                <a:ea typeface="Helvetica Neue"/>
                <a:cs typeface="Helvetica Neue"/>
                <a:sym typeface="Helvetica Neue"/>
              </a:rPr>
              <a:t>private key</a:t>
            </a:r>
            <a:r>
              <a:rPr b="0" i="0" lang="en-US" sz="1600" u="none" cap="none" strike="noStrike">
                <a:solidFill>
                  <a:schemeClr val="dk1"/>
                </a:solidFill>
                <a:latin typeface="Helvetica Neue"/>
                <a:ea typeface="Helvetica Neue"/>
                <a:cs typeface="Helvetica Neue"/>
                <a:sym typeface="Helvetica Neue"/>
              </a:rPr>
              <a:t> -- key known only to individual user, and used to decrypt data.</a:t>
            </a:r>
            <a:br>
              <a:rPr b="0" i="0" lang="en-US" sz="1600" u="none" cap="none" strike="noStrike">
                <a:solidFill>
                  <a:schemeClr val="dk1"/>
                </a:solidFill>
                <a:latin typeface="Helvetica Neue"/>
                <a:ea typeface="Helvetica Neue"/>
                <a:cs typeface="Helvetica Neue"/>
                <a:sym typeface="Helvetica Neue"/>
              </a:rPr>
            </a:br>
            <a:r>
              <a:rPr b="0" i="0" lang="en-US" sz="1600" u="none" cap="none" strike="noStrike">
                <a:solidFill>
                  <a:schemeClr val="dk1"/>
                </a:solidFill>
                <a:latin typeface="Helvetica Neue"/>
                <a:ea typeface="Helvetica Neue"/>
                <a:cs typeface="Helvetica Neue"/>
                <a:sym typeface="Helvetica Neue"/>
              </a:rPr>
              <a:t>Need not be transmitted to the site doing encryption.</a:t>
            </a:r>
            <a:endParaRPr/>
          </a:p>
          <a:p>
            <a:pPr indent="-342900" lvl="0" marL="342900" marR="0" rtl="0" algn="l">
              <a:lnSpc>
                <a:spcPct val="90000"/>
              </a:lnSpc>
              <a:spcBef>
                <a:spcPts val="560"/>
              </a:spcBef>
              <a:spcAft>
                <a:spcPts val="0"/>
              </a:spcAft>
              <a:buClr>
                <a:schemeClr val="dk2"/>
              </a:buClr>
              <a:buSzPts val="1440"/>
              <a:buFont typeface="Arial"/>
              <a:buNone/>
            </a:pPr>
            <a:r>
              <a:rPr b="0" i="0" lang="en-US" sz="1600" u="none">
                <a:solidFill>
                  <a:schemeClr val="dk1"/>
                </a:solidFill>
                <a:latin typeface="Helvetica Neue"/>
                <a:ea typeface="Helvetica Neue"/>
                <a:cs typeface="Helvetica Neue"/>
                <a:sym typeface="Helvetica Neue"/>
              </a:rPr>
              <a:t>     Encryption scheme is such that it is impossible or extremely hard to decrypt data given only  the public key.</a:t>
            </a:r>
            <a:endParaRPr/>
          </a:p>
          <a:p>
            <a:pPr indent="-342900" lvl="0" marL="342900" marR="0" rtl="0" algn="l">
              <a:lnSpc>
                <a:spcPct val="90000"/>
              </a:lnSpc>
              <a:spcBef>
                <a:spcPts val="560"/>
              </a:spcBef>
              <a:spcAft>
                <a:spcPts val="0"/>
              </a:spcAft>
              <a:buClr>
                <a:schemeClr val="dk2"/>
              </a:buClr>
              <a:buSzPts val="1440"/>
              <a:buFont typeface="Arial"/>
              <a:buChar char="●"/>
            </a:pPr>
            <a:r>
              <a:rPr b="0" i="0" lang="en-US" sz="1600" u="none">
                <a:solidFill>
                  <a:schemeClr val="dk1"/>
                </a:solidFill>
                <a:latin typeface="Helvetica Neue"/>
                <a:ea typeface="Helvetica Neue"/>
                <a:cs typeface="Helvetica Neue"/>
                <a:sym typeface="Helvetica Neue"/>
              </a:rPr>
              <a:t>The RSA  public-key encryption scheme is based on the hardness of factoring a very large number (100's of digits) into its prime components.</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400" name="Shape 400"/>
        <p:cNvGrpSpPr/>
        <p:nvPr/>
      </p:nvGrpSpPr>
      <p:grpSpPr>
        <a:xfrm>
          <a:off x="0" y="0"/>
          <a:ext cx="0" cy="0"/>
          <a:chOff x="0" y="0"/>
          <a:chExt cx="0" cy="0"/>
        </a:xfrm>
      </p:grpSpPr>
      <p:sp>
        <p:nvSpPr>
          <p:cNvPr id="401" name="Google Shape;401;p54"/>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en-US" sz="2400" u="none">
                <a:solidFill>
                  <a:schemeClr val="dk1"/>
                </a:solidFill>
                <a:latin typeface="Times New Roman"/>
                <a:ea typeface="Times New Roman"/>
                <a:cs typeface="Times New Roman"/>
                <a:sym typeface="Times New Roman"/>
              </a:rPr>
              <a:t>‹#›</a:t>
            </a:fld>
            <a:endParaRPr/>
          </a:p>
        </p:txBody>
      </p:sp>
      <p:sp>
        <p:nvSpPr>
          <p:cNvPr id="402" name="Google Shape;402;p54"/>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Authentication</a:t>
            </a:r>
            <a:endParaRPr/>
          </a:p>
        </p:txBody>
      </p:sp>
      <p:sp>
        <p:nvSpPr>
          <p:cNvPr id="403" name="Google Shape;403;p54"/>
          <p:cNvSpPr txBox="1"/>
          <p:nvPr>
            <p:ph idx="1" type="body"/>
          </p:nvPr>
        </p:nvSpPr>
        <p:spPr>
          <a:xfrm>
            <a:off x="533400" y="990600"/>
            <a:ext cx="7886700" cy="5210175"/>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Password based authentication is widely used, but is susceptible to sniffing on a network</a:t>
            </a:r>
            <a:endParaRPr/>
          </a:p>
          <a:p>
            <a:pPr indent="-342900" lvl="0" marL="342900" marR="0" rtl="0" algn="l">
              <a:lnSpc>
                <a:spcPct val="100000"/>
              </a:lnSpc>
              <a:spcBef>
                <a:spcPts val="630"/>
              </a:spcBef>
              <a:spcAft>
                <a:spcPts val="0"/>
              </a:spcAft>
              <a:buClr>
                <a:schemeClr val="dk2"/>
              </a:buClr>
              <a:buSzPts val="1620"/>
              <a:buFont typeface="Arial"/>
              <a:buChar char="●"/>
            </a:pPr>
            <a:r>
              <a:rPr b="1" i="0" lang="en-US" sz="1800" u="none">
                <a:solidFill>
                  <a:schemeClr val="dk2"/>
                </a:solidFill>
                <a:latin typeface="Helvetica Neue"/>
                <a:ea typeface="Helvetica Neue"/>
                <a:cs typeface="Helvetica Neue"/>
                <a:sym typeface="Helvetica Neue"/>
              </a:rPr>
              <a:t>Challenge-response</a:t>
            </a:r>
            <a:r>
              <a:rPr b="0" i="0" lang="en-US" sz="1800" u="none">
                <a:solidFill>
                  <a:schemeClr val="dk1"/>
                </a:solidFill>
                <a:latin typeface="Helvetica Neue"/>
                <a:ea typeface="Helvetica Neue"/>
                <a:cs typeface="Helvetica Neue"/>
                <a:sym typeface="Helvetica Neue"/>
              </a:rPr>
              <a:t> systems avoid transmission of passwords</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DB sends a (randomly generated) challenge string to user</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User encrypts string and returns result. </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DB verifies identity by decrypting result</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Can use public-key encryption system by DB sending a message encrypted using user’s public key, and user decrypting and sending the message back</a:t>
            </a:r>
            <a:endParaRPr/>
          </a:p>
          <a:p>
            <a:pPr indent="-342900" lvl="0" marL="342900" marR="0" rtl="0" algn="l">
              <a:lnSpc>
                <a:spcPct val="100000"/>
              </a:lnSpc>
              <a:spcBef>
                <a:spcPts val="630"/>
              </a:spcBef>
              <a:spcAft>
                <a:spcPts val="0"/>
              </a:spcAft>
              <a:buClr>
                <a:schemeClr val="dk2"/>
              </a:buClr>
              <a:buSzPts val="1620"/>
              <a:buFont typeface="Arial"/>
              <a:buChar char="●"/>
            </a:pPr>
            <a:r>
              <a:rPr b="1" i="0" lang="en-US" sz="1800" u="none">
                <a:solidFill>
                  <a:schemeClr val="dk2"/>
                </a:solidFill>
                <a:latin typeface="Helvetica Neue"/>
                <a:ea typeface="Helvetica Neue"/>
                <a:cs typeface="Helvetica Neue"/>
                <a:sym typeface="Helvetica Neue"/>
              </a:rPr>
              <a:t>Digital</a:t>
            </a:r>
            <a:r>
              <a:rPr b="0" i="0" lang="en-US" sz="1800" u="none">
                <a:solidFill>
                  <a:schemeClr val="dk1"/>
                </a:solidFill>
                <a:latin typeface="Helvetica Neue"/>
                <a:ea typeface="Helvetica Neue"/>
                <a:cs typeface="Helvetica Neue"/>
                <a:sym typeface="Helvetica Neue"/>
              </a:rPr>
              <a:t> </a:t>
            </a:r>
            <a:r>
              <a:rPr b="1" i="0" lang="en-US" sz="1800" u="none">
                <a:solidFill>
                  <a:schemeClr val="dk2"/>
                </a:solidFill>
                <a:latin typeface="Helvetica Neue"/>
                <a:ea typeface="Helvetica Neue"/>
                <a:cs typeface="Helvetica Neue"/>
                <a:sym typeface="Helvetica Neue"/>
              </a:rPr>
              <a:t>signatures</a:t>
            </a:r>
            <a:r>
              <a:rPr b="0" i="0" lang="en-US" sz="1800" u="none">
                <a:solidFill>
                  <a:schemeClr val="dk1"/>
                </a:solidFill>
                <a:latin typeface="Helvetica Neue"/>
                <a:ea typeface="Helvetica Neue"/>
                <a:cs typeface="Helvetica Neue"/>
                <a:sym typeface="Helvetica Neue"/>
              </a:rPr>
              <a:t> are used to verify authenticity of data</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E.g. use private key (in reverse) to encrypt data, and anyone can verify authenticity by using public key (in reverse) to decrypt data.  Only holder of private key could have created the encrypted data.</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Digital signatures also help ensure </a:t>
            </a:r>
            <a:r>
              <a:rPr b="1" i="0" lang="en-US" sz="1800" u="none" cap="none" strike="noStrike">
                <a:solidFill>
                  <a:schemeClr val="dk2"/>
                </a:solidFill>
                <a:latin typeface="Helvetica Neue"/>
                <a:ea typeface="Helvetica Neue"/>
                <a:cs typeface="Helvetica Neue"/>
                <a:sym typeface="Helvetica Neue"/>
              </a:rPr>
              <a:t>nonrepudiation: </a:t>
            </a:r>
            <a:r>
              <a:rPr b="0" i="0" lang="en-US" sz="1800" u="none" cap="none" strike="noStrike">
                <a:solidFill>
                  <a:schemeClr val="dk1"/>
                </a:solidFill>
                <a:latin typeface="Helvetica Neue"/>
                <a:ea typeface="Helvetica Neue"/>
                <a:cs typeface="Helvetica Neue"/>
                <a:sym typeface="Helvetica Neue"/>
              </a:rPr>
              <a:t>sender</a:t>
            </a:r>
            <a:br>
              <a:rPr b="0" i="0" lang="en-US" sz="1800" u="none" cap="none" strike="noStrike">
                <a:solidFill>
                  <a:schemeClr val="dk1"/>
                </a:solidFill>
                <a:latin typeface="Helvetica Neue"/>
                <a:ea typeface="Helvetica Neue"/>
                <a:cs typeface="Helvetica Neue"/>
                <a:sym typeface="Helvetica Neue"/>
              </a:rPr>
            </a:br>
            <a:r>
              <a:rPr b="0" i="0" lang="en-US" sz="1800" u="none" cap="none" strike="noStrike">
                <a:solidFill>
                  <a:schemeClr val="dk1"/>
                </a:solidFill>
                <a:latin typeface="Helvetica Neue"/>
                <a:ea typeface="Helvetica Neue"/>
                <a:cs typeface="Helvetica Neue"/>
                <a:sym typeface="Helvetica Neue"/>
              </a:rPr>
              <a:t>cannot later claim to have not created the data</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407" name="Shape 407"/>
        <p:cNvGrpSpPr/>
        <p:nvPr/>
      </p:nvGrpSpPr>
      <p:grpSpPr>
        <a:xfrm>
          <a:off x="0" y="0"/>
          <a:ext cx="0" cy="0"/>
          <a:chOff x="0" y="0"/>
          <a:chExt cx="0" cy="0"/>
        </a:xfrm>
      </p:grpSpPr>
      <p:sp>
        <p:nvSpPr>
          <p:cNvPr id="408" name="Google Shape;408;p55"/>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en-US" sz="2400" u="none">
                <a:solidFill>
                  <a:schemeClr val="dk1"/>
                </a:solidFill>
                <a:latin typeface="Times New Roman"/>
                <a:ea typeface="Times New Roman"/>
                <a:cs typeface="Times New Roman"/>
                <a:sym typeface="Times New Roman"/>
              </a:rPr>
              <a:t>‹#›</a:t>
            </a:fld>
            <a:endParaRPr/>
          </a:p>
        </p:txBody>
      </p:sp>
      <p:sp>
        <p:nvSpPr>
          <p:cNvPr id="409" name="Google Shape;409;p55"/>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Digital Certificates</a:t>
            </a:r>
            <a:endParaRPr/>
          </a:p>
        </p:txBody>
      </p:sp>
      <p:sp>
        <p:nvSpPr>
          <p:cNvPr id="410" name="Google Shape;410;p55"/>
          <p:cNvSpPr txBox="1"/>
          <p:nvPr>
            <p:ph idx="1" type="body"/>
          </p:nvPr>
        </p:nvSpPr>
        <p:spPr>
          <a:xfrm>
            <a:off x="533400" y="990600"/>
            <a:ext cx="8229600" cy="54864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chemeClr val="dk2"/>
              </a:buClr>
              <a:buSzPts val="1620"/>
              <a:buFont typeface="Arial"/>
              <a:buChar char="●"/>
            </a:pPr>
            <a:r>
              <a:rPr b="1" i="0" lang="en-US" sz="1800" u="none">
                <a:solidFill>
                  <a:schemeClr val="dk2"/>
                </a:solidFill>
                <a:latin typeface="Helvetica Neue"/>
                <a:ea typeface="Helvetica Neue"/>
                <a:cs typeface="Helvetica Neue"/>
                <a:sym typeface="Helvetica Neue"/>
              </a:rPr>
              <a:t>Digital certificates </a:t>
            </a:r>
            <a:r>
              <a:rPr b="0" i="0" lang="en-US" sz="1800" u="none">
                <a:solidFill>
                  <a:schemeClr val="dk1"/>
                </a:solidFill>
                <a:latin typeface="Helvetica Neue"/>
                <a:ea typeface="Helvetica Neue"/>
                <a:cs typeface="Helvetica Neue"/>
                <a:sym typeface="Helvetica Neue"/>
              </a:rPr>
              <a:t>are used to verify authenticity of public keys. </a:t>
            </a:r>
            <a:endParaRPr/>
          </a:p>
          <a:p>
            <a:pPr indent="-342900" lvl="0" marL="342900" marR="0" rtl="0" algn="l">
              <a:lnSpc>
                <a:spcPct val="9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Problem: when you communicate with a web site, how do you know if you are talking with the genuine web site or an imposter?</a:t>
            </a:r>
            <a:endParaRPr/>
          </a:p>
          <a:p>
            <a:pPr indent="-285750" lvl="1" marL="742950" marR="0" rtl="0" algn="l">
              <a:lnSpc>
                <a:spcPct val="9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Solution: use the public key of the web site</a:t>
            </a:r>
            <a:endParaRPr/>
          </a:p>
          <a:p>
            <a:pPr indent="-285750" lvl="1" marL="742950" marR="0" rtl="0" algn="l">
              <a:lnSpc>
                <a:spcPct val="9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Problem: how to verify if the public key itself is genuine?</a:t>
            </a:r>
            <a:endParaRPr/>
          </a:p>
          <a:p>
            <a:pPr indent="-342900" lvl="0" marL="342900" marR="0" rtl="0" algn="l">
              <a:lnSpc>
                <a:spcPct val="9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Solution:</a:t>
            </a:r>
            <a:endParaRPr/>
          </a:p>
          <a:p>
            <a:pPr indent="-285750" lvl="1" marL="742950" marR="0" rtl="0" algn="l">
              <a:lnSpc>
                <a:spcPct val="9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Every client (e.g. browser) has public keys of a few root-level </a:t>
            </a:r>
            <a:r>
              <a:rPr b="1" i="0" lang="en-US" sz="1800" u="none" cap="none" strike="noStrike">
                <a:solidFill>
                  <a:schemeClr val="dk2"/>
                </a:solidFill>
                <a:latin typeface="Helvetica Neue"/>
                <a:ea typeface="Helvetica Neue"/>
                <a:cs typeface="Helvetica Neue"/>
                <a:sym typeface="Helvetica Neue"/>
              </a:rPr>
              <a:t>certification authorities</a:t>
            </a:r>
            <a:endParaRPr/>
          </a:p>
          <a:p>
            <a:pPr indent="-285750" lvl="1" marL="742950" marR="0" rtl="0" algn="l">
              <a:lnSpc>
                <a:spcPct val="9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A site can get its name/URL and public key signed by a certification authority: signed document is called a </a:t>
            </a:r>
            <a:r>
              <a:rPr b="1" i="0" lang="en-US" sz="1800" u="none" cap="none" strike="noStrike">
                <a:solidFill>
                  <a:schemeClr val="dk2"/>
                </a:solidFill>
                <a:latin typeface="Helvetica Neue"/>
                <a:ea typeface="Helvetica Neue"/>
                <a:cs typeface="Helvetica Neue"/>
                <a:sym typeface="Helvetica Neue"/>
              </a:rPr>
              <a:t>certificate</a:t>
            </a:r>
            <a:endParaRPr/>
          </a:p>
          <a:p>
            <a:pPr indent="-285750" lvl="1" marL="742950" marR="0" rtl="0" algn="l">
              <a:lnSpc>
                <a:spcPct val="9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Client can use public key of certification authority to verify certificate</a:t>
            </a:r>
            <a:endParaRPr/>
          </a:p>
          <a:p>
            <a:pPr indent="-285750" lvl="1" marL="742950" marR="0" rtl="0" algn="l">
              <a:lnSpc>
                <a:spcPct val="9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Multiple levels of certification authorities can exist. Each certification authority </a:t>
            </a:r>
            <a:endParaRPr/>
          </a:p>
          <a:p>
            <a:pPr indent="-228600" lvl="2" marL="1085850" marR="0" rtl="0" algn="l">
              <a:lnSpc>
                <a:spcPct val="90000"/>
              </a:lnSpc>
              <a:spcBef>
                <a:spcPts val="630"/>
              </a:spcBef>
              <a:spcAft>
                <a:spcPts val="0"/>
              </a:spcAft>
              <a:buClr>
                <a:srgbClr val="33CC33"/>
              </a:buClr>
              <a:buSzPts val="1350"/>
              <a:buFont typeface="Arimo"/>
              <a:buChar char="4"/>
            </a:pPr>
            <a:r>
              <a:rPr b="0" i="0" lang="en-US" sz="1800" u="none" cap="none" strike="noStrike">
                <a:solidFill>
                  <a:schemeClr val="dk1"/>
                </a:solidFill>
                <a:latin typeface="Helvetica Neue"/>
                <a:ea typeface="Helvetica Neue"/>
                <a:cs typeface="Helvetica Neue"/>
                <a:sym typeface="Helvetica Neue"/>
              </a:rPr>
              <a:t>presents its own public-key certificate signed by a </a:t>
            </a:r>
            <a:br>
              <a:rPr b="0" i="0" lang="en-US" sz="1800" u="none" cap="none" strike="noStrike">
                <a:solidFill>
                  <a:schemeClr val="dk1"/>
                </a:solidFill>
                <a:latin typeface="Helvetica Neue"/>
                <a:ea typeface="Helvetica Neue"/>
                <a:cs typeface="Helvetica Neue"/>
                <a:sym typeface="Helvetica Neue"/>
              </a:rPr>
            </a:br>
            <a:r>
              <a:rPr b="0" i="0" lang="en-US" sz="1800" u="none" cap="none" strike="noStrike">
                <a:solidFill>
                  <a:schemeClr val="dk1"/>
                </a:solidFill>
                <a:latin typeface="Helvetica Neue"/>
                <a:ea typeface="Helvetica Neue"/>
                <a:cs typeface="Helvetica Neue"/>
                <a:sym typeface="Helvetica Neue"/>
              </a:rPr>
              <a:t>higher level authority, and </a:t>
            </a:r>
            <a:endParaRPr/>
          </a:p>
          <a:p>
            <a:pPr indent="-228600" lvl="2" marL="1085850" marR="0" rtl="0" algn="l">
              <a:lnSpc>
                <a:spcPct val="90000"/>
              </a:lnSpc>
              <a:spcBef>
                <a:spcPts val="630"/>
              </a:spcBef>
              <a:spcAft>
                <a:spcPts val="0"/>
              </a:spcAft>
              <a:buClr>
                <a:srgbClr val="33CC33"/>
              </a:buClr>
              <a:buSzPts val="1350"/>
              <a:buFont typeface="Arimo"/>
              <a:buChar char="4"/>
            </a:pPr>
            <a:r>
              <a:rPr b="0" i="0" lang="en-US" sz="1800" u="none" cap="none" strike="noStrike">
                <a:solidFill>
                  <a:schemeClr val="dk1"/>
                </a:solidFill>
                <a:latin typeface="Helvetica Neue"/>
                <a:ea typeface="Helvetica Neue"/>
                <a:cs typeface="Helvetica Neue"/>
                <a:sym typeface="Helvetica Neue"/>
              </a:rPr>
              <a:t>Uses its private key to sign the certificate of  other web sites/authorities</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414" name="Shape 414"/>
        <p:cNvGrpSpPr/>
        <p:nvPr/>
      </p:nvGrpSpPr>
      <p:grpSpPr>
        <a:xfrm>
          <a:off x="0" y="0"/>
          <a:ext cx="0" cy="0"/>
          <a:chOff x="0" y="0"/>
          <a:chExt cx="0" cy="0"/>
        </a:xfrm>
      </p:grpSpPr>
      <p:sp>
        <p:nvSpPr>
          <p:cNvPr id="415" name="Google Shape;415;p56"/>
          <p:cNvSpPr txBox="1"/>
          <p:nvPr>
            <p:ph type="ctrTitle"/>
          </p:nvPr>
        </p:nvSpPr>
        <p:spPr>
          <a:xfrm>
            <a:off x="685800" y="2286000"/>
            <a:ext cx="7772400" cy="11430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End of Chapter</a:t>
            </a:r>
            <a:endParaRPr/>
          </a:p>
        </p:txBody>
      </p:sp>
    </p:spTree>
  </p:cSld>
  <p:clrMapOvr>
    <a:masterClrMapping/>
  </p:clrMapOvr>
</p:sld>
</file>

<file path=ppt/theme/theme1.xml><?xml version="1.0" encoding="utf-8"?>
<a:theme xmlns:a="http://schemas.openxmlformats.org/drawingml/2006/main" xmlns:r="http://schemas.openxmlformats.org/officeDocument/2006/relationships" name="db-5-grey">
  <a:themeElements>
    <a:clrScheme name="default">
      <a:dk1>
        <a:srgbClr val="000000"/>
      </a:dk1>
      <a:lt1>
        <a:srgbClr val="CCECFF"/>
      </a:lt1>
      <a:dk2>
        <a:srgbClr val="CC3300"/>
      </a:dk2>
      <a:lt2>
        <a:srgbClr val="666699"/>
      </a:lt2>
      <a:accent1>
        <a:srgbClr val="FFFFFF"/>
      </a:accent1>
      <a:accent2>
        <a:srgbClr val="CCCC00"/>
      </a:accent2>
      <a:accent3>
        <a:srgbClr val="CCECFF"/>
      </a:accent3>
      <a:accent4>
        <a:srgbClr val="FFFFFF"/>
      </a:accent4>
      <a:accent5>
        <a:srgbClr val="CCCC00"/>
      </a:accent5>
      <a:accent6>
        <a:srgbClr val="CCECFF"/>
      </a:accent6>
      <a:hlink>
        <a:srgbClr val="FF9900"/>
      </a:hlink>
      <a:folHlink>
        <a:srgbClr val="FF993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