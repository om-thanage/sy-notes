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6"/>
  </p:notesMasterIdLst>
  <p:sldIdLst>
    <p:sldId id="256" r:id="rId2"/>
    <p:sldId id="257" r:id="rId3"/>
    <p:sldId id="284" r:id="rId4"/>
    <p:sldId id="310" r:id="rId5"/>
    <p:sldId id="285" r:id="rId6"/>
    <p:sldId id="276" r:id="rId7"/>
    <p:sldId id="288" r:id="rId8"/>
    <p:sldId id="287" r:id="rId9"/>
    <p:sldId id="315" r:id="rId10"/>
    <p:sldId id="316" r:id="rId11"/>
    <p:sldId id="317" r:id="rId12"/>
    <p:sldId id="318" r:id="rId13"/>
    <p:sldId id="319" r:id="rId14"/>
    <p:sldId id="311" r:id="rId15"/>
    <p:sldId id="312" r:id="rId16"/>
    <p:sldId id="313" r:id="rId17"/>
    <p:sldId id="314" r:id="rId18"/>
    <p:sldId id="277" r:id="rId19"/>
    <p:sldId id="321" r:id="rId20"/>
    <p:sldId id="320" r:id="rId21"/>
    <p:sldId id="279" r:id="rId22"/>
    <p:sldId id="258" r:id="rId23"/>
    <p:sldId id="289" r:id="rId24"/>
    <p:sldId id="259" r:id="rId25"/>
    <p:sldId id="322" r:id="rId26"/>
    <p:sldId id="286" r:id="rId27"/>
    <p:sldId id="290" r:id="rId28"/>
    <p:sldId id="291" r:id="rId29"/>
    <p:sldId id="260" r:id="rId30"/>
    <p:sldId id="292" r:id="rId31"/>
    <p:sldId id="323" r:id="rId32"/>
    <p:sldId id="280" r:id="rId33"/>
    <p:sldId id="293" r:id="rId34"/>
    <p:sldId id="261" r:id="rId35"/>
    <p:sldId id="295" r:id="rId36"/>
    <p:sldId id="350" r:id="rId37"/>
    <p:sldId id="294" r:id="rId38"/>
    <p:sldId id="296" r:id="rId39"/>
    <p:sldId id="325" r:id="rId40"/>
    <p:sldId id="297" r:id="rId41"/>
    <p:sldId id="281" r:id="rId42"/>
    <p:sldId id="262" r:id="rId43"/>
    <p:sldId id="299" r:id="rId44"/>
    <p:sldId id="263" r:id="rId45"/>
    <p:sldId id="300" r:id="rId46"/>
    <p:sldId id="302" r:id="rId47"/>
    <p:sldId id="301" r:id="rId48"/>
    <p:sldId id="298" r:id="rId49"/>
    <p:sldId id="326" r:id="rId50"/>
    <p:sldId id="303" r:id="rId51"/>
    <p:sldId id="282" r:id="rId52"/>
    <p:sldId id="264" r:id="rId53"/>
    <p:sldId id="337" r:id="rId54"/>
    <p:sldId id="304" r:id="rId55"/>
    <p:sldId id="265" r:id="rId56"/>
    <p:sldId id="283" r:id="rId57"/>
    <p:sldId id="305" r:id="rId58"/>
    <p:sldId id="306" r:id="rId59"/>
    <p:sldId id="338" r:id="rId60"/>
    <p:sldId id="339" r:id="rId61"/>
    <p:sldId id="340" r:id="rId62"/>
    <p:sldId id="267" r:id="rId63"/>
    <p:sldId id="341" r:id="rId64"/>
    <p:sldId id="324" r:id="rId65"/>
    <p:sldId id="268" r:id="rId66"/>
    <p:sldId id="307" r:id="rId67"/>
    <p:sldId id="360" r:id="rId68"/>
    <p:sldId id="357" r:id="rId69"/>
    <p:sldId id="358" r:id="rId70"/>
    <p:sldId id="359" r:id="rId71"/>
    <p:sldId id="336" r:id="rId72"/>
    <p:sldId id="327" r:id="rId73"/>
    <p:sldId id="328" r:id="rId74"/>
    <p:sldId id="351" r:id="rId75"/>
    <p:sldId id="352" r:id="rId76"/>
    <p:sldId id="335" r:id="rId77"/>
    <p:sldId id="269" r:id="rId78"/>
    <p:sldId id="334" r:id="rId79"/>
    <p:sldId id="333" r:id="rId80"/>
    <p:sldId id="329" r:id="rId81"/>
    <p:sldId id="331" r:id="rId82"/>
    <p:sldId id="330" r:id="rId83"/>
    <p:sldId id="348" r:id="rId84"/>
    <p:sldId id="349"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7T11:11:37.97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5 0,'8311'0'0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5-07T11:11:43.37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5 0,'7621'0'0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5-07T11:11:49.60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83,'17'5,"2"-1,36 4,-17-3,625 126,-279-49,-106-20,-205-42,122 53,-165-58,38 26,-48-28,1 0,0-1,1-2,22 9,177 61,-198-71,0-2,1-1,0-1,0-1,0-1,31 0,86 10,-14-1,225-12,-330-3,-1 0,-1-1,1-1,32-13,78-41,-36 15,44-29,-99 50,81-35,-81 40,50-28,-39 18,14-6,-25 11,2 2,0 2,1 1,58-15,100 0,-3-1,-89 6,35-8,-32 16,1 5,144 0,-92 2,-29 1,-14 11,-770 3,345-3,-27 27,110-3,116-18,24-1,-109 18,-25 13,-2-9,-346-3,453-25,-153 4,194 11,52-9,-1 0,-21 1,-7 0,-69 16,69-11,-70 7,-335-13,238-6,-199 2,388 0</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0-10-20T08:19:33.295"/>
    </inkml:context>
    <inkml:brush xml:id="br0">
      <inkml:brushProperty name="width" value="0.05292" units="cm"/>
      <inkml:brushProperty name="height" value="0.05292" units="cm"/>
      <inkml:brushProperty name="color" value="#1F497D"/>
    </inkml:brush>
  </inkml:definitions>
  <inkml:trace contextRef="#ctx0" brushRef="#br0">15578 9451,'0'-25,"0"-50,-50-49,-24 75,49-1,0 25,25 25,25 25,49 74,1 50,-1-25,-49-25,0-74,0 0,-25-25,372-471,24-149,-123 99,25-25,-50 248,-124 150,-50 73,-49 50,-25 1,0 24,0 0,0 0</inkml:trace>
  <inkml:trace contextRef="#ctx0" brushRef="#br0" timeOffset="6081.34">4217 10170,'0'-50,"-25"26,25-1,0 25,0 0,0 0,0 25,25 49,-25-49,50 0,-25-1,-25-24,24-24,51-100,74-100,-50 26,50-50,-25 25,-50 148,-49 26</inkml:trace>
  <inkml:trace contextRef="#ctx0" brushRef="#br0" timeOffset="7788.44">4192 10641,'0'0,"0"0,-24-25,24 25,0 0,0 25,24 25,1 24,0 1,0-26,0-49,-25 25,24-25,51-124,-1 0,25 25,-24 0,-26 49,-24 25,-25 0,0 25,25 0,-25 0,0 25</inkml:trace>
  <inkml:trace contextRef="#ctx0" brushRef="#br0" timeOffset="9440.54">4242 11063,'0'74,"25"50,0-49,-1-26,-24-24,25-25,-25 0,0 25,25-25,25-50,24-123,-24 73,24-48,25-51,-49 75,-25 99,-25-24,0 49,24 0</inkml:trace>
  <inkml:trace contextRef="#ctx0" brushRef="#br0" timeOffset="11563.66">4143 9252,'0'-25,"0"125,0 172,0 1,-25 347,-25 149,1 273,24-323,-25 125,50-298,0-249,0-74,0-123,0-26,0-74,0 25,25-25</inkml:trace>
  <inkml:trace contextRef="#ctx0" brushRef="#br0" timeOffset="12509.71">7516 9351,'0'174,"0"49,0 50,0 298,50 74,-1 396,26-247,-26 99,-24-446,-25-175,25-123,-25-99,0-50,0 0</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traceFormat>
        <inkml:channelProperties>
          <inkml:channelProperty channel="X" name="resolution" value="28.34025" units="1/cm"/>
          <inkml:channelProperty channel="Y" name="resolution" value="28.33948" units="1/cm"/>
        </inkml:channelProperties>
      </inkml:inkSource>
      <inkml:timestamp xml:id="ts0" timeString="2020-10-20T08:19:22.436"/>
    </inkml:context>
    <inkml:brush xml:id="br0">
      <inkml:brushProperty name="width" value="0.05292" units="cm"/>
      <inkml:brushProperty name="height" value="0.05292" units="cm"/>
      <inkml:brushProperty name="color" value="#1F497D"/>
    </inkml:brush>
  </inkml:definitions>
  <inkml:trace contextRef="#ctx0" brushRef="#br0">21159 15825,'0'-24,"0"-1,0 25,0-25,0 25,0 0,0 25,0 0,0-25,0 49,0-49,0 25,0-25,25 0,-25 25,24 0,1-25,0 0,-25 0,25 0,0 0,24-50,50-74,75-99,49-25,50 0,99-25,-25-99,-123 124,-51 49,-49 75,-74 75,-25 24,0 25,-25-25</inkml:trace>
  <inkml:trace contextRef="#ctx0" brushRef="#br0" timeOffset="2489.14">20489 9748,'0'0,"25"0,49 0,1 0,-1 0,50 0,0 0,-49 0,-51 0,1 0,0 0,-25 0,0 0,0 25,0 25,0 74,0-25,0-25,0 26,0 73,0 50,25-49,0 0,49 49,-24 124,-1-99,26 0,24 25,-50 74,1-99,0-49,-1-25,-24-1,0 1,-25 74,25-99,-25-50,24-50,-24 1,0 0,0-50,0 24,0-24,25 0,-74 0,-1 0,0 0,-24 0,-50 0,50 0,24 0,0 0,-24 0,-25 0,24-24,51 24,-1 0,25 0,0-25</inkml:trace>
  <inkml:trace contextRef="#ctx0" brushRef="#br0" timeOffset="5327.3">20911 9872,'-50'0,"25"-25,0 1,1 24,24 0,-25 0,25 0,49-25,26 0,24 0,-24 0,24 1,25-26,-75 50,-24-25,25 25,-50 0,0 0,25 0,-25 0,0 0,0 25,0 0,0 24,0 1,24 49,-24 50,25 0,0-50,0 75,0 49,-25-74,24 49,1-99,-25 1,25 73,-25 1,50-25,-26-75,1 1,-25-1,25-24,0 24,0 25,-1 50,1-25,0-25,-25-49,0 24,0-24,0 0,25-1,-25 1,0 49,25 0,-25-49,0-1,0-24,0-25,0 25,0 0,0 0,0 0,0-25,0 24,0 1,0 0,0 25,0-1,0-24,0 25,0-26,0-24,0 50,0-25,0 0,0-1,0-24,0 25,0 0,0-25,0 25,0-25,0 25,0-25,0 24,0 1,0-25,24 0,-24 25,0-25,0 50,0-1,0-24,0 0,0 24,0-24,0 0,0 25,0-50,0 24,0-24,0 25,0 0,0-25,0 25,0-25,-24 0,-1 25,-50-1,-24-24,25 0,24 0,50 0,-25 0</inkml:trace>
  <inkml:trace contextRef="#ctx0" brushRef="#br0" timeOffset="31280.78">20340 10269,'0'0,"0"0,-25 0,-49-25,-75 1,-49 24,49 0,50 0,-50 0,25 0,0 0,49 0,26 0,-1 0,-24 0,49 0,0 0,0 0,25 0,-24 0,-26 0,50 0,25 0,-25 0,25 0,49-25,-24 0,-1-49,26-1,-51 50,1 0,-25 25,0 0,0 25,-49 0,24 25,-25-1,1-24,-26 25,50-25,-24-25,49 0,0 0,0 0,0 0,25 24,-1-24,26 0,-25 25,0 0,-1-25,1 25,0-25,-25 25,0-25</inkml:trace>
  <inkml:trace contextRef="#ctx0" brushRef="#br0" timeOffset="33007.88">18877 11013,'25'0,"74"0,25 0,49 0,100 0,-25 0,50 0,-50 0,-124 0,25 0,-75 0,-24 0,-25 0,-25-25,0 25,0-24,-25 24,-25-25,25 25,-49 0,24-25,26 25,-26-25,50 25,50 0,-1 0,1 25,-1 0,26-25,24 25,-74-1,0-24,-25 0,0 50,-50 0,-24-1,-1 75,50-24,1-26,-1-49,0 24,25-49</inkml:trace>
  <inkml:trace contextRef="#ctx0" brushRef="#br0" timeOffset="34797.99">21208 9426,'25'99,"0"50,-25 0,25 24,0 100,-25-25,0 0,0 224,0-125,0-74,0-25,0 74,0-49,24-50,-24-49,25-75,-25-24,25 24,-25 0,0 25,0-50,0 1,0-1,0-24,0-25,0-1,0 1,0-25,0 25,0-25,0 50,0-50,0 24,0-24,0 25,0-25,-25 75,-24-1,-26-49,26 24,-1-24,25-25,25 0,0 25</inkml:trace>
  <inkml:trace contextRef="#ctx0" brushRef="#br0" timeOffset="35727.04">22002 7392,'0'0,"25"0,-25 0,25 0,74-25,75 0,49 0,124 25,-74 0,0 0,-124 0,-50 0,-74 0,-25 0,0 0</inkml:trace>
  <inkml:trace contextRef="#ctx0" brushRef="#br0" timeOffset="36520.08">21283 8434,'25'0,"24"0,150-50,73-24,175-1,-75 1,199 49,-199 0,-100 25,-23 0,-101 25,-123-25,-50 25,-99 49</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A601F9-7D29-48A6-8B37-CB9B8A89E60A}" type="datetimeFigureOut">
              <a:rPr lang="en-US" smtClean="0"/>
              <a:t>5/7/2025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FEAAF4F-65FC-4040-A359-EF3E3074787F}" type="slidenum">
              <a:rPr lang="en-US" smtClean="0"/>
              <a:t>‹#›</a:t>
            </a:fld>
            <a:endParaRPr lang="en-US"/>
          </a:p>
        </p:txBody>
      </p:sp>
    </p:spTree>
    <p:extLst>
      <p:ext uri="{BB962C8B-B14F-4D97-AF65-F5344CB8AC3E}">
        <p14:creationId xmlns:p14="http://schemas.microsoft.com/office/powerpoint/2010/main" val="2591980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8C300B5-C231-40FC-996A-A49253629217}" type="slidenum">
              <a:rPr lang="en-US" altLang="en-US" smtClean="0">
                <a:latin typeface="Times New Roman" pitchFamily="18" charset="0"/>
              </a:rPr>
              <a:pPr/>
              <a:t>2</a:t>
            </a:fld>
            <a:endParaRPr lang="en-US" altLang="en-US">
              <a:latin typeface="Times New Roman"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01745B4-708A-40F1-9A34-7D8A488B87D7}" type="slidenum">
              <a:rPr lang="en-US" altLang="en-US" smtClean="0">
                <a:latin typeface="Times New Roman" pitchFamily="18" charset="0"/>
              </a:rPr>
              <a:pPr/>
              <a:t>22</a:t>
            </a:fld>
            <a:endParaRPr lang="en-US" altLang="en-US">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01745B4-708A-40F1-9A34-7D8A488B87D7}" type="slidenum">
              <a:rPr lang="en-US" altLang="en-US" smtClean="0">
                <a:latin typeface="Times New Roman" pitchFamily="18" charset="0"/>
              </a:rPr>
              <a:pPr/>
              <a:t>23</a:t>
            </a:fld>
            <a:endParaRPr lang="en-US" altLang="en-US">
              <a:latin typeface="Times New Roman" pitchFamily="18"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24</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25</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27</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8304235-0DF5-483A-8A81-21047595F7AF}" type="slidenum">
              <a:rPr lang="en-US" altLang="en-US" smtClean="0">
                <a:latin typeface="Times New Roman" pitchFamily="18" charset="0"/>
              </a:rPr>
              <a:pPr/>
              <a:t>28</a:t>
            </a:fld>
            <a:endParaRPr lang="en-US" altLang="en-US">
              <a:latin typeface="Times New Roman"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2FC4A8C-807D-414B-877F-DAAF889AF5D0}" type="slidenum">
              <a:rPr lang="en-US" altLang="en-US" smtClean="0">
                <a:latin typeface="Times New Roman" pitchFamily="18" charset="0"/>
              </a:rPr>
              <a:pPr/>
              <a:t>29</a:t>
            </a:fld>
            <a:endParaRPr lang="en-US" alt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E2FC4A8C-807D-414B-877F-DAAF889AF5D0}" type="slidenum">
              <a:rPr lang="en-US" altLang="en-US" smtClean="0">
                <a:latin typeface="Times New Roman" pitchFamily="18" charset="0"/>
              </a:rPr>
              <a:pPr/>
              <a:t>30</a:t>
            </a:fld>
            <a:endParaRPr lang="en-US" altLang="en-US">
              <a:latin typeface="Times New Roman" pitchFamily="18"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33</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34</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35</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36</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37</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38</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39</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68E074D-DC5E-4FC1-902B-A70306DEDC29}" type="slidenum">
              <a:rPr lang="en-US" altLang="en-US" smtClean="0">
                <a:latin typeface="Times New Roman" pitchFamily="18" charset="0"/>
              </a:rPr>
              <a:pPr/>
              <a:t>40</a:t>
            </a:fld>
            <a:endParaRPr lang="en-US" altLang="en-US">
              <a:latin typeface="Times New Roman"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42</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43</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44</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45</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46</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24165DC-2AEA-4FB0-BB31-83801DECDD1B}" type="slidenum">
              <a:rPr lang="en-US" altLang="en-US" smtClean="0">
                <a:latin typeface="Times New Roman" pitchFamily="18" charset="0"/>
              </a:rPr>
              <a:pPr/>
              <a:t>47</a:t>
            </a:fld>
            <a:endParaRPr lang="en-US" altLang="en-US">
              <a:latin typeface="Times New Roman"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48</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49</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2D8A1CF5-78FC-491F-B0B2-357FF4238CC4}" type="slidenum">
              <a:rPr lang="en-US" altLang="en-US" smtClean="0">
                <a:latin typeface="Times New Roman" pitchFamily="18" charset="0"/>
              </a:rPr>
              <a:pPr/>
              <a:t>50</a:t>
            </a:fld>
            <a:endParaRPr lang="en-US" altLang="en-US">
              <a:latin typeface="Times New Roman" pitchFamily="18"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3953588-348D-4E98-8E92-CAFB05C0B2C0}" type="slidenum">
              <a:rPr lang="en-US" altLang="en-US" smtClean="0">
                <a:latin typeface="Times New Roman" pitchFamily="18" charset="0"/>
              </a:rPr>
              <a:pPr/>
              <a:t>52</a:t>
            </a:fld>
            <a:endParaRPr lang="en-US" altLang="en-US">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3953588-348D-4E98-8E92-CAFB05C0B2C0}" type="slidenum">
              <a:rPr lang="en-US" altLang="en-US" smtClean="0">
                <a:latin typeface="Times New Roman" pitchFamily="18" charset="0"/>
              </a:rPr>
              <a:pPr/>
              <a:t>53</a:t>
            </a:fld>
            <a:endParaRPr lang="en-US" altLang="en-US">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63953588-348D-4E98-8E92-CAFB05C0B2C0}" type="slidenum">
              <a:rPr lang="en-US" altLang="en-US" smtClean="0">
                <a:latin typeface="Times New Roman" pitchFamily="18" charset="0"/>
              </a:rPr>
              <a:pPr/>
              <a:t>54</a:t>
            </a:fld>
            <a:endParaRPr lang="en-US" altLang="en-US">
              <a:latin typeface="Times New Roman" pitchFamily="18"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CF0B8E26-28F0-4175-AC0A-0F5F1AAF3A65}" type="slidenum">
              <a:rPr lang="en-US" altLang="en-US" smtClean="0">
                <a:latin typeface="Times New Roman" pitchFamily="18" charset="0"/>
              </a:rPr>
              <a:pPr/>
              <a:t>55</a:t>
            </a:fld>
            <a:endParaRPr lang="en-US" altLang="en-US">
              <a:latin typeface="Times New Roman"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B3478EC-994E-4746-9C5D-153429A45910}" type="slidenum">
              <a:rPr lang="en-US" altLang="en-US" smtClean="0">
                <a:latin typeface="Times New Roman" pitchFamily="18" charset="0"/>
              </a:rPr>
              <a:pPr/>
              <a:t>57</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B3478EC-994E-4746-9C5D-153429A45910}" type="slidenum">
              <a:rPr lang="en-US" altLang="en-US" smtClean="0">
                <a:latin typeface="Times New Roman" pitchFamily="18" charset="0"/>
              </a:rPr>
              <a:pPr/>
              <a:t>58</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273AD3D-FCF4-46F8-99B0-2324ABD52583}" type="slidenum">
              <a:rPr lang="en-US" altLang="en-US" smtClean="0">
                <a:latin typeface="Times New Roman" pitchFamily="18" charset="0"/>
              </a:rPr>
              <a:pPr/>
              <a:t>62</a:t>
            </a:fld>
            <a:endParaRPr lang="en-US" altLang="en-US">
              <a:latin typeface="Times New Roman"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9B3478EC-994E-4746-9C5D-153429A45910}" type="slidenum">
              <a:rPr lang="en-US" altLang="en-US" smtClean="0">
                <a:latin typeface="Times New Roman" pitchFamily="18" charset="0"/>
              </a:rPr>
              <a:pPr/>
              <a:t>64</a:t>
            </a:fld>
            <a:endParaRPr lang="en-US" altLang="en-US">
              <a:latin typeface="Times New Roman" pitchFamily="18"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F24B53E-5D15-4FA1-93BE-0CEC4889CF44}" type="slidenum">
              <a:rPr lang="en-US" altLang="en-US" smtClean="0">
                <a:latin typeface="Times New Roman" pitchFamily="18" charset="0"/>
              </a:rPr>
              <a:pPr/>
              <a:t>65</a:t>
            </a:fld>
            <a:endParaRPr lang="en-US" altLang="en-US">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1F24B53E-5D15-4FA1-93BE-0CEC4889CF44}" type="slidenum">
              <a:rPr lang="en-US" altLang="en-US" smtClean="0">
                <a:latin typeface="Times New Roman" pitchFamily="18" charset="0"/>
              </a:rPr>
              <a:pPr/>
              <a:t>66</a:t>
            </a:fld>
            <a:endParaRPr lang="en-US" altLang="en-US">
              <a:latin typeface="Times New Roman" pitchFamily="18"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72</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73</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74</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75</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76</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77</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319C54BA-7E5A-428A-8878-7EC912213819}" type="slidenum">
              <a:rPr lang="en-US" altLang="en-US" smtClean="0">
                <a:latin typeface="Times New Roman" pitchFamily="18" charset="0"/>
              </a:rPr>
              <a:pPr/>
              <a:t>78</a:t>
            </a:fld>
            <a:endParaRPr lang="en-US" altLang="en-US">
              <a:latin typeface="Times New Roman" pitchFamily="18"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79</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80</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81</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79">
              <a:defRPr>
                <a:solidFill>
                  <a:schemeClr val="tx1"/>
                </a:solidFill>
                <a:latin typeface="Verdana" pitchFamily="34" charset="0"/>
                <a:ea typeface="MS PGothic" pitchFamily="34" charset="-128"/>
              </a:defRPr>
            </a:lvl1pPr>
            <a:lvl2pPr marL="729057" indent="-280406" defTabSz="912879">
              <a:defRPr>
                <a:solidFill>
                  <a:schemeClr val="tx1"/>
                </a:solidFill>
                <a:latin typeface="Verdana" pitchFamily="34" charset="0"/>
                <a:ea typeface="MS PGothic" pitchFamily="34" charset="-128"/>
              </a:defRPr>
            </a:lvl2pPr>
            <a:lvl3pPr marL="1121626" indent="-224325" defTabSz="912879">
              <a:defRPr>
                <a:solidFill>
                  <a:schemeClr val="tx1"/>
                </a:solidFill>
                <a:latin typeface="Verdana" pitchFamily="34" charset="0"/>
                <a:ea typeface="MS PGothic" pitchFamily="34" charset="-128"/>
              </a:defRPr>
            </a:lvl3pPr>
            <a:lvl4pPr marL="1570276" indent="-224325" defTabSz="912879">
              <a:defRPr>
                <a:solidFill>
                  <a:schemeClr val="tx1"/>
                </a:solidFill>
                <a:latin typeface="Verdana" pitchFamily="34" charset="0"/>
                <a:ea typeface="MS PGothic" pitchFamily="34" charset="-128"/>
              </a:defRPr>
            </a:lvl4pPr>
            <a:lvl5pPr marL="2018927" indent="-224325" defTabSz="912879">
              <a:defRPr>
                <a:solidFill>
                  <a:schemeClr val="tx1"/>
                </a:solidFill>
                <a:latin typeface="Verdana" pitchFamily="34" charset="0"/>
                <a:ea typeface="MS PGothic" pitchFamily="34" charset="-128"/>
              </a:defRPr>
            </a:lvl5pPr>
            <a:lvl6pPr marL="2467577" indent="-224325" defTabSz="912879" eaLnBrk="0" fontAlgn="base" hangingPunct="0">
              <a:spcBef>
                <a:spcPct val="0"/>
              </a:spcBef>
              <a:spcAft>
                <a:spcPct val="0"/>
              </a:spcAft>
              <a:defRPr>
                <a:solidFill>
                  <a:schemeClr val="tx1"/>
                </a:solidFill>
                <a:latin typeface="Verdana" pitchFamily="34" charset="0"/>
                <a:ea typeface="MS PGothic" pitchFamily="34" charset="-128"/>
              </a:defRPr>
            </a:lvl6pPr>
            <a:lvl7pPr marL="2916227" indent="-224325" defTabSz="912879" eaLnBrk="0" fontAlgn="base" hangingPunct="0">
              <a:spcBef>
                <a:spcPct val="0"/>
              </a:spcBef>
              <a:spcAft>
                <a:spcPct val="0"/>
              </a:spcAft>
              <a:defRPr>
                <a:solidFill>
                  <a:schemeClr val="tx1"/>
                </a:solidFill>
                <a:latin typeface="Verdana" pitchFamily="34" charset="0"/>
                <a:ea typeface="MS PGothic" pitchFamily="34" charset="-128"/>
              </a:defRPr>
            </a:lvl7pPr>
            <a:lvl8pPr marL="3364878" indent="-224325" defTabSz="912879" eaLnBrk="0" fontAlgn="base" hangingPunct="0">
              <a:spcBef>
                <a:spcPct val="0"/>
              </a:spcBef>
              <a:spcAft>
                <a:spcPct val="0"/>
              </a:spcAft>
              <a:defRPr>
                <a:solidFill>
                  <a:schemeClr val="tx1"/>
                </a:solidFill>
                <a:latin typeface="Verdana" pitchFamily="34" charset="0"/>
                <a:ea typeface="MS PGothic" pitchFamily="34" charset="-128"/>
              </a:defRPr>
            </a:lvl8pPr>
            <a:lvl9pPr marL="3813528" indent="-224325" defTabSz="912879" eaLnBrk="0" fontAlgn="base" hangingPunct="0">
              <a:spcBef>
                <a:spcPct val="0"/>
              </a:spcBef>
              <a:spcAft>
                <a:spcPct val="0"/>
              </a:spcAft>
              <a:defRPr>
                <a:solidFill>
                  <a:schemeClr val="tx1"/>
                </a:solidFill>
                <a:latin typeface="Verdana" pitchFamily="34" charset="0"/>
                <a:ea typeface="MS PGothic" pitchFamily="34" charset="-128"/>
              </a:defRPr>
            </a:lvl9pPr>
          </a:lstStyle>
          <a:p>
            <a:fld id="{0B5FA09F-DA6F-4A34-B1EA-1C29775A7005}" type="slidenum">
              <a:rPr lang="en-US" altLang="en-US" smtClean="0">
                <a:latin typeface="Times New Roman" pitchFamily="18" charset="0"/>
              </a:rPr>
              <a:pPr/>
              <a:t>82</a:t>
            </a:fld>
            <a:endParaRPr lang="en-US" altLang="en-US">
              <a:latin typeface="Times New Roman" pitchFamily="18"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1B34BC1-25F5-4858-8382-95562E6E8567}"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30706864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974877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09F50F-929E-4E48-9AE7-A09F429789C0}"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309373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7CFE21-683A-4883-BBA2-3DA59ECEA4E9}" type="datetime1">
              <a:rPr lang="en-US" smtClean="0"/>
              <a:t>5/7/2025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8341314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09D37E-0E02-421A-82BD-D2A71206AAF2}" type="datetime1">
              <a:rPr lang="en-US" smtClean="0"/>
              <a:t>5/7/2025</a:t>
            </a:fld>
            <a:endParaRPr lang="en-US"/>
          </a:p>
        </p:txBody>
      </p:sp>
      <p:sp>
        <p:nvSpPr>
          <p:cNvPr id="8" name="Footer Placeholder 7"/>
          <p:cNvSpPr>
            <a:spLocks noGrp="1"/>
          </p:cNvSpPr>
          <p:nvPr>
            <p:ph type="ftr" sz="quarter" idx="11"/>
          </p:nvPr>
        </p:nvSpPr>
        <p:spPr/>
        <p:txBody>
          <a:bodyPr/>
          <a:lstStyle/>
          <a:p>
            <a:r>
              <a:rPr lang="en-US"/>
              <a:t>Prof. Shweta Dhawan Chachra</a:t>
            </a:r>
          </a:p>
        </p:txBody>
      </p:sp>
      <p:sp>
        <p:nvSpPr>
          <p:cNvPr id="9" name="Slide Number Placeholder 8"/>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969065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FC545C6-4B33-4318-AB4E-1D50CFF0617E}" type="datetime1">
              <a:rPr lang="en-US" smtClean="0"/>
              <a:t>5/7/2025</a:t>
            </a:fld>
            <a:endParaRPr lang="en-US"/>
          </a:p>
        </p:txBody>
      </p:sp>
      <p:sp>
        <p:nvSpPr>
          <p:cNvPr id="4" name="Footer Placeholder 3"/>
          <p:cNvSpPr>
            <a:spLocks noGrp="1"/>
          </p:cNvSpPr>
          <p:nvPr>
            <p:ph type="ftr" sz="quarter" idx="11"/>
          </p:nvPr>
        </p:nvSpPr>
        <p:spPr/>
        <p:txBody>
          <a:bodyPr/>
          <a:lstStyle/>
          <a:p>
            <a:r>
              <a:rPr lang="en-US"/>
              <a:t>Prof. Shweta Dhawan Chachra</a:t>
            </a:r>
          </a:p>
        </p:txBody>
      </p:sp>
      <p:sp>
        <p:nvSpPr>
          <p:cNvPr id="5" name="Slide Number Placeholder 4"/>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542641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F3EED4-D219-49DF-BDE2-0EE83EBC78FA}"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11577352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C017-BB11-4D3C-BCD6-4C9BFE01AEC8}" type="datetime1">
              <a:rPr lang="en-US" smtClean="0"/>
              <a:t>5/7/2025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2151941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2690C9E-C8B6-491F-B0BF-5E4962508CE9}" type="datetime1">
              <a:rPr lang="en-US" smtClean="0"/>
              <a:t>5/7/2025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3293043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EB6AB64-B1AF-4DB3-9BBC-1977B978EF42}"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3384451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A48AA0B-81F2-4986-8638-D23E2A2CDEE4}"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a:t>
            </a:fld>
            <a:endParaRPr lang="en-US"/>
          </a:p>
        </p:txBody>
      </p:sp>
    </p:spTree>
    <p:extLst>
      <p:ext uri="{BB962C8B-B14F-4D97-AF65-F5344CB8AC3E}">
        <p14:creationId xmlns:p14="http://schemas.microsoft.com/office/powerpoint/2010/main" val="2751936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89AD16-7F6B-4B86-9B6C-D8B2613DC75F}" type="datetime1">
              <a:rPr lang="en-US" smtClean="0"/>
              <a:t>5/7/2025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Prof. Shweta Dhawan Chachra</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71256-C92D-4BD6-BFB2-640936D6A0E9}" type="slidenum">
              <a:rPr lang="en-US" smtClean="0"/>
              <a:t>‹#›</a:t>
            </a:fld>
            <a:endParaRPr lang="en-US"/>
          </a:p>
        </p:txBody>
      </p:sp>
    </p:spTree>
    <p:extLst>
      <p:ext uri="{BB962C8B-B14F-4D97-AF65-F5344CB8AC3E}">
        <p14:creationId xmlns:p14="http://schemas.microsoft.com/office/powerpoint/2010/main" val="19548689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0.png"/><Relationship Id="rId7" Type="http://schemas.openxmlformats.org/officeDocument/2006/relationships/customXml" Target="../ink/ink2.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customXml" Target="../ink/ink1.xml"/><Relationship Id="rId10"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customXml" Target="../ink/ink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emf"/><Relationship Id="rId4" Type="http://schemas.openxmlformats.org/officeDocument/2006/relationships/customXml" Target="../ink/ink4.xml"/></Relationships>
</file>

<file path=ppt/slides/_rels/slide20.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1.emf"/></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Disk Scheduling</a:t>
            </a:r>
            <a:endParaRPr lang="en-US" dirty="0"/>
          </a:p>
        </p:txBody>
      </p:sp>
      <p:sp>
        <p:nvSpPr>
          <p:cNvPr id="3" name="Subtitle 2"/>
          <p:cNvSpPr>
            <a:spLocks noGrp="1"/>
          </p:cNvSpPr>
          <p:nvPr>
            <p:ph type="subTitle" idx="1"/>
          </p:nvPr>
        </p:nvSpPr>
        <p:spPr/>
        <p:txBody>
          <a:bodyPr/>
          <a:lstStyle/>
          <a:p>
            <a:endParaRPr lang="en-US"/>
          </a:p>
        </p:txBody>
      </p:sp>
      <p:sp>
        <p:nvSpPr>
          <p:cNvPr id="4" name="Date Placeholder 3"/>
          <p:cNvSpPr>
            <a:spLocks noGrp="1"/>
          </p:cNvSpPr>
          <p:nvPr>
            <p:ph type="dt" sz="half" idx="10"/>
          </p:nvPr>
        </p:nvSpPr>
        <p:spPr/>
        <p:txBody>
          <a:bodyPr/>
          <a:lstStyle/>
          <a:p>
            <a:fld id="{46087901-E9F0-4616-BDC0-03CA3D576780}"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a:t>
            </a:fld>
            <a:endParaRPr lang="en-US"/>
          </a:p>
        </p:txBody>
      </p:sp>
    </p:spTree>
    <p:extLst>
      <p:ext uri="{BB962C8B-B14F-4D97-AF65-F5344CB8AC3E}">
        <p14:creationId xmlns:p14="http://schemas.microsoft.com/office/powerpoint/2010/main" val="2967842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457200" y="168275"/>
            <a:ext cx="8229600" cy="576263"/>
          </a:xfrm>
        </p:spPr>
        <p:txBody>
          <a:bodyPr>
            <a:normAutofit fontScale="90000"/>
          </a:bodyPr>
          <a:lstStyle/>
          <a:p>
            <a:pPr eaLnBrk="1" hangingPunct="1"/>
            <a:r>
              <a:rPr lang="en-US" altLang="en-US" dirty="0"/>
              <a:t>Disk Scheduling</a:t>
            </a:r>
          </a:p>
        </p:txBody>
      </p:sp>
      <p:sp>
        <p:nvSpPr>
          <p:cNvPr id="19459" name="Rectangle 3"/>
          <p:cNvSpPr>
            <a:spLocks noGrp="1" noChangeArrowheads="1"/>
          </p:cNvSpPr>
          <p:nvPr>
            <p:ph type="body" idx="1"/>
          </p:nvPr>
        </p:nvSpPr>
        <p:spPr>
          <a:xfrm>
            <a:off x="889000" y="1123950"/>
            <a:ext cx="6945313" cy="5146675"/>
          </a:xfrm>
        </p:spPr>
        <p:txBody>
          <a:bodyPr>
            <a:normAutofit/>
          </a:bodyPr>
          <a:lstStyle/>
          <a:p>
            <a:r>
              <a:rPr lang="en-US" altLang="en-US" sz="2400" dirty="0"/>
              <a:t>The operating system is responsible for using hardware efficiently — </a:t>
            </a:r>
          </a:p>
          <a:p>
            <a:r>
              <a:rPr lang="en-US" altLang="en-US" sz="2400" dirty="0"/>
              <a:t>for the disk drives, this means having </a:t>
            </a:r>
            <a:r>
              <a:rPr lang="en-US" altLang="en-US" sz="2400" b="1" dirty="0">
                <a:solidFill>
                  <a:srgbClr val="0070C0"/>
                </a:solidFill>
              </a:rPr>
              <a:t>a fast access time and disk bandwidth</a:t>
            </a:r>
            <a:endParaRPr lang="en-US" altLang="en-US" sz="500" b="1" dirty="0">
              <a:solidFill>
                <a:srgbClr val="0070C0"/>
              </a:solidFill>
            </a:endParaRPr>
          </a:p>
          <a:p>
            <a:r>
              <a:rPr lang="en-US" altLang="en-US" sz="2400" dirty="0"/>
              <a:t>Minimize seek time</a:t>
            </a:r>
            <a:endParaRPr lang="en-US" altLang="en-US" sz="500" dirty="0"/>
          </a:p>
          <a:p>
            <a:r>
              <a:rPr lang="en-US" altLang="en-US" sz="2400" dirty="0"/>
              <a:t>Seek time </a:t>
            </a:r>
            <a:r>
              <a:rPr lang="en-US" altLang="en-US" sz="2400" dirty="0">
                <a:sym typeface="Symbol" pitchFamily="18" charset="2"/>
              </a:rPr>
              <a:t> seek distance</a:t>
            </a:r>
            <a:endParaRPr lang="en-US" altLang="en-US" sz="500" dirty="0">
              <a:sym typeface="Symbol" pitchFamily="18" charset="2"/>
            </a:endParaRPr>
          </a:p>
        </p:txBody>
      </p:sp>
      <p:sp>
        <p:nvSpPr>
          <p:cNvPr id="2" name="Date Placeholder 1"/>
          <p:cNvSpPr>
            <a:spLocks noGrp="1"/>
          </p:cNvSpPr>
          <p:nvPr>
            <p:ph type="dt" sz="half" idx="10"/>
          </p:nvPr>
        </p:nvSpPr>
        <p:spPr/>
        <p:txBody>
          <a:bodyPr/>
          <a:lstStyle/>
          <a:p>
            <a:fld id="{01EE204B-6A5E-4188-BCAB-AB9BC20DF3D6}"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a:t>
            </a:fld>
            <a:endParaRPr lang="en-US"/>
          </a:p>
        </p:txBody>
      </p:sp>
    </p:spTree>
    <p:extLst>
      <p:ext uri="{BB962C8B-B14F-4D97-AF65-F5344CB8AC3E}">
        <p14:creationId xmlns:p14="http://schemas.microsoft.com/office/powerpoint/2010/main" val="2325809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Disk scheduling</a:t>
            </a:r>
            <a:endParaRPr lang="en-US" sz="4000" dirty="0"/>
          </a:p>
        </p:txBody>
      </p:sp>
      <p:sp>
        <p:nvSpPr>
          <p:cNvPr id="3" name="Content Placeholder 2"/>
          <p:cNvSpPr>
            <a:spLocks noGrp="1"/>
          </p:cNvSpPr>
          <p:nvPr>
            <p:ph idx="1"/>
          </p:nvPr>
        </p:nvSpPr>
        <p:spPr/>
        <p:txBody>
          <a:bodyPr>
            <a:normAutofit/>
          </a:bodyPr>
          <a:lstStyle/>
          <a:p>
            <a:pPr fontAlgn="base"/>
            <a:r>
              <a:rPr lang="en-US" sz="2400" dirty="0"/>
              <a:t>Done by operating systems to schedule I/O requests arriving for the disk. </a:t>
            </a:r>
          </a:p>
          <a:p>
            <a:endParaRPr lang="en-US" dirty="0"/>
          </a:p>
        </p:txBody>
      </p:sp>
      <p:sp>
        <p:nvSpPr>
          <p:cNvPr id="4" name="Date Placeholder 3"/>
          <p:cNvSpPr>
            <a:spLocks noGrp="1"/>
          </p:cNvSpPr>
          <p:nvPr>
            <p:ph type="dt" sz="half" idx="10"/>
          </p:nvPr>
        </p:nvSpPr>
        <p:spPr/>
        <p:txBody>
          <a:bodyPr/>
          <a:lstStyle/>
          <a:p>
            <a:fld id="{28BD0581-883F-4A6F-81F3-A31E10D025D3}"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3</a:t>
            </a:fld>
            <a:endParaRPr lang="en-US"/>
          </a:p>
        </p:txBody>
      </p:sp>
    </p:spTree>
    <p:extLst>
      <p:ext uri="{BB962C8B-B14F-4D97-AF65-F5344CB8AC3E}">
        <p14:creationId xmlns:p14="http://schemas.microsoft.com/office/powerpoint/2010/main" val="2014114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 Disk</a:t>
            </a:r>
          </a:p>
        </p:txBody>
      </p:sp>
      <p:sp>
        <p:nvSpPr>
          <p:cNvPr id="3" name="Content Placeholder 2"/>
          <p:cNvSpPr>
            <a:spLocks noGrp="1"/>
          </p:cNvSpPr>
          <p:nvPr>
            <p:ph idx="1"/>
          </p:nvPr>
        </p:nvSpPr>
        <p:spPr/>
        <p:txBody>
          <a:bodyPr>
            <a:normAutofit/>
          </a:bodyPr>
          <a:lstStyle/>
          <a:p>
            <a:r>
              <a:rPr lang="en-US" sz="2400" dirty="0"/>
              <a:t>A hard disk or fixed disk</a:t>
            </a:r>
          </a:p>
          <a:p>
            <a:r>
              <a:rPr lang="en-US" sz="2400" dirty="0"/>
              <a:t>Is an electro-mechanical data storage device that stores and retrieves digital data using magnetic storage and one or more rigid rapidly rotating platters coated with magnetic material. </a:t>
            </a:r>
          </a:p>
          <a:p>
            <a:r>
              <a:rPr lang="en-US" sz="2400" dirty="0"/>
              <a:t>The platters are paired with magnetic heads, usually arranged on a moving actuator arm, which read and write data to the platter surfaces.</a:t>
            </a:r>
          </a:p>
          <a:p>
            <a:r>
              <a:rPr lang="en-US" sz="2400" dirty="0"/>
              <a:t>Data is accessed in a random-access manner, individual blocks of data can be stored and retrieved in any order.</a:t>
            </a:r>
          </a:p>
        </p:txBody>
      </p:sp>
      <p:sp>
        <p:nvSpPr>
          <p:cNvPr id="4" name="Date Placeholder 3"/>
          <p:cNvSpPr>
            <a:spLocks noGrp="1"/>
          </p:cNvSpPr>
          <p:nvPr>
            <p:ph type="dt" sz="half" idx="10"/>
          </p:nvPr>
        </p:nvSpPr>
        <p:spPr/>
        <p:txBody>
          <a:bodyPr/>
          <a:lstStyle/>
          <a:p>
            <a:fld id="{720A4653-7A81-4AC1-9E2F-F3057867B39C}"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4</a:t>
            </a:fld>
            <a:endParaRPr lang="en-US"/>
          </a:p>
        </p:txBody>
      </p:sp>
    </p:spTree>
    <p:extLst>
      <p:ext uri="{BB962C8B-B14F-4D97-AF65-F5344CB8AC3E}">
        <p14:creationId xmlns:p14="http://schemas.microsoft.com/office/powerpoint/2010/main" val="4168871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Important?</a:t>
            </a:r>
          </a:p>
        </p:txBody>
      </p:sp>
      <p:sp>
        <p:nvSpPr>
          <p:cNvPr id="3" name="Content Placeholder 2"/>
          <p:cNvSpPr>
            <a:spLocks noGrp="1"/>
          </p:cNvSpPr>
          <p:nvPr>
            <p:ph idx="1"/>
          </p:nvPr>
        </p:nvSpPr>
        <p:spPr/>
        <p:txBody>
          <a:bodyPr>
            <a:noAutofit/>
          </a:bodyPr>
          <a:lstStyle/>
          <a:p>
            <a:pPr marL="0" indent="0" fontAlgn="base">
              <a:buNone/>
            </a:pPr>
            <a:r>
              <a:rPr lang="en-US" sz="2400" dirty="0"/>
              <a:t>Important because:</a:t>
            </a:r>
          </a:p>
          <a:p>
            <a:pPr marL="457200" indent="-457200" fontAlgn="base">
              <a:buFont typeface="+mj-lt"/>
              <a:buAutoNum type="arabicParenR"/>
            </a:pPr>
            <a:r>
              <a:rPr lang="en-US" sz="2400" dirty="0">
                <a:highlight>
                  <a:srgbClr val="FFFF00"/>
                </a:highlight>
              </a:rPr>
              <a:t>Multiple I/O requests may arrive by different processes and </a:t>
            </a:r>
            <a:r>
              <a:rPr lang="en-US" sz="2400" dirty="0">
                <a:solidFill>
                  <a:srgbClr val="0070C0"/>
                </a:solidFill>
                <a:highlight>
                  <a:srgbClr val="FFFF00"/>
                </a:highlight>
              </a:rPr>
              <a:t>only one I/O request can be served at a time </a:t>
            </a:r>
            <a:r>
              <a:rPr lang="en-US" sz="2400" dirty="0">
                <a:highlight>
                  <a:srgbClr val="FFFF00"/>
                </a:highlight>
              </a:rPr>
              <a:t>by the disk controller. </a:t>
            </a:r>
          </a:p>
          <a:p>
            <a:pPr lvl="1" fontAlgn="base"/>
            <a:r>
              <a:rPr lang="en-US" sz="2400" dirty="0">
                <a:highlight>
                  <a:srgbClr val="FFFF00"/>
                </a:highlight>
              </a:rPr>
              <a:t>Thus other I/O requests need to </a:t>
            </a:r>
            <a:r>
              <a:rPr lang="en-US" sz="2400" dirty="0">
                <a:solidFill>
                  <a:srgbClr val="0070C0"/>
                </a:solidFill>
                <a:highlight>
                  <a:srgbClr val="FFFF00"/>
                </a:highlight>
              </a:rPr>
              <a:t>wait in the waiting queue</a:t>
            </a:r>
            <a:r>
              <a:rPr lang="en-US" sz="2400" dirty="0">
                <a:highlight>
                  <a:srgbClr val="FFFF00"/>
                </a:highlight>
              </a:rPr>
              <a:t> and need to be </a:t>
            </a:r>
            <a:r>
              <a:rPr lang="en-US" sz="2400" dirty="0">
                <a:solidFill>
                  <a:srgbClr val="0070C0"/>
                </a:solidFill>
                <a:highlight>
                  <a:srgbClr val="FFFF00"/>
                </a:highlight>
              </a:rPr>
              <a:t>scheduled.</a:t>
            </a:r>
          </a:p>
          <a:p>
            <a:pPr marL="457200" indent="-457200" fontAlgn="base">
              <a:buFont typeface="+mj-lt"/>
              <a:buAutoNum type="arabicParenR"/>
            </a:pPr>
            <a:r>
              <a:rPr lang="en-US" sz="2400" dirty="0">
                <a:solidFill>
                  <a:srgbClr val="0070C0"/>
                </a:solidFill>
                <a:highlight>
                  <a:srgbClr val="FFFF00"/>
                </a:highlight>
              </a:rPr>
              <a:t>Two or more request may be far from each other </a:t>
            </a:r>
            <a:r>
              <a:rPr lang="en-US" sz="2400" dirty="0">
                <a:highlight>
                  <a:srgbClr val="FFFF00"/>
                </a:highlight>
              </a:rPr>
              <a:t>so can result in greater disk arm movement.</a:t>
            </a:r>
          </a:p>
          <a:p>
            <a:pPr marL="457200" indent="-457200" fontAlgn="base">
              <a:buFont typeface="+mj-lt"/>
              <a:buAutoNum type="arabicParenR"/>
            </a:pPr>
            <a:r>
              <a:rPr lang="en-US" sz="2400" dirty="0">
                <a:highlight>
                  <a:srgbClr val="FFFF00"/>
                </a:highlight>
              </a:rPr>
              <a:t>Hard drives are one of the </a:t>
            </a:r>
            <a:r>
              <a:rPr lang="en-US" sz="2400" dirty="0">
                <a:solidFill>
                  <a:srgbClr val="0070C0"/>
                </a:solidFill>
                <a:highlight>
                  <a:srgbClr val="FFFF00"/>
                </a:highlight>
              </a:rPr>
              <a:t>slowest parts</a:t>
            </a:r>
            <a:r>
              <a:rPr lang="en-US" sz="2400" dirty="0">
                <a:highlight>
                  <a:srgbClr val="FFFF00"/>
                </a:highlight>
              </a:rPr>
              <a:t> of the computer system and thus </a:t>
            </a:r>
            <a:r>
              <a:rPr lang="en-US" sz="2400" dirty="0">
                <a:solidFill>
                  <a:srgbClr val="0070C0"/>
                </a:solidFill>
                <a:highlight>
                  <a:srgbClr val="FFFF00"/>
                </a:highlight>
              </a:rPr>
              <a:t>need to be accessed in an efficient </a:t>
            </a:r>
            <a:r>
              <a:rPr lang="en-US" sz="2400" dirty="0">
                <a:highlight>
                  <a:srgbClr val="FFFF00"/>
                </a:highlight>
              </a:rPr>
              <a:t>manner.</a:t>
            </a:r>
          </a:p>
          <a:p>
            <a:pPr marL="457200" indent="-457200">
              <a:buFont typeface="+mj-lt"/>
              <a:buAutoNum type="arabicParenR"/>
            </a:pPr>
            <a:endParaRPr lang="en-US" sz="2400" dirty="0"/>
          </a:p>
        </p:txBody>
      </p:sp>
      <p:sp>
        <p:nvSpPr>
          <p:cNvPr id="4" name="Date Placeholder 3"/>
          <p:cNvSpPr>
            <a:spLocks noGrp="1"/>
          </p:cNvSpPr>
          <p:nvPr>
            <p:ph type="dt" sz="half" idx="10"/>
          </p:nvPr>
        </p:nvSpPr>
        <p:spPr/>
        <p:txBody>
          <a:bodyPr/>
          <a:lstStyle/>
          <a:p>
            <a:fld id="{097B25FE-60B8-43A4-AC36-10F2FB7C6521}" type="datetime1">
              <a:rPr lang="en-US" smtClean="0"/>
              <a:t>5/7/2025</a:t>
            </a:fld>
            <a:endParaRPr lang="en-US"/>
          </a:p>
        </p:txBody>
      </p:sp>
      <p:sp>
        <p:nvSpPr>
          <p:cNvPr id="5" name="Footer Placeholder 4"/>
          <p:cNvSpPr>
            <a:spLocks noGrp="1"/>
          </p:cNvSpPr>
          <p:nvPr>
            <p:ph type="ftr" sz="quarter" idx="11"/>
          </p:nvPr>
        </p:nvSpPr>
        <p:spPr/>
        <p:txBody>
          <a:bodyPr/>
          <a:lstStyle/>
          <a:p>
            <a:r>
              <a:rPr lang="en-US" dirty="0"/>
              <a:t>Prof. Shweta </a:t>
            </a:r>
            <a:r>
              <a:rPr lang="en-US" dirty="0" err="1"/>
              <a:t>Dhawan</a:t>
            </a:r>
            <a:r>
              <a:rPr lang="en-US" dirty="0"/>
              <a:t> </a:t>
            </a:r>
            <a:r>
              <a:rPr lang="en-US" dirty="0" err="1"/>
              <a:t>Chachra</a:t>
            </a:r>
            <a:endParaRPr lang="en-US" dirty="0"/>
          </a:p>
        </p:txBody>
      </p:sp>
      <p:sp>
        <p:nvSpPr>
          <p:cNvPr id="6" name="Slide Number Placeholder 5"/>
          <p:cNvSpPr>
            <a:spLocks noGrp="1"/>
          </p:cNvSpPr>
          <p:nvPr>
            <p:ph type="sldNum" sz="quarter" idx="12"/>
          </p:nvPr>
        </p:nvSpPr>
        <p:spPr/>
        <p:txBody>
          <a:bodyPr/>
          <a:lstStyle/>
          <a:p>
            <a:fld id="{8C271256-C92D-4BD6-BFB2-640936D6A0E9}" type="slidenum">
              <a:rPr lang="en-US" smtClean="0"/>
              <a:t>5</a:t>
            </a:fld>
            <a:endParaRPr lang="en-US"/>
          </a:p>
        </p:txBody>
      </p:sp>
    </p:spTree>
    <p:extLst>
      <p:ext uri="{BB962C8B-B14F-4D97-AF65-F5344CB8AC3E}">
        <p14:creationId xmlns:p14="http://schemas.microsoft.com/office/powerpoint/2010/main" val="3567686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important terms:</a:t>
            </a:r>
          </a:p>
        </p:txBody>
      </p:sp>
      <p:sp>
        <p:nvSpPr>
          <p:cNvPr id="3" name="Content Placeholder 2"/>
          <p:cNvSpPr>
            <a:spLocks noGrp="1"/>
          </p:cNvSpPr>
          <p:nvPr>
            <p:ph idx="1"/>
          </p:nvPr>
        </p:nvSpPr>
        <p:spPr>
          <a:xfrm>
            <a:off x="228600" y="1508918"/>
            <a:ext cx="4191000" cy="4525963"/>
          </a:xfrm>
        </p:spPr>
        <p:txBody>
          <a:bodyPr>
            <a:normAutofit/>
          </a:bodyPr>
          <a:lstStyle/>
          <a:p>
            <a:pPr marL="0" indent="0" fontAlgn="base">
              <a:buNone/>
            </a:pPr>
            <a:r>
              <a:rPr lang="en-US" sz="2400" b="1" u="sng" dirty="0"/>
              <a:t>Seek Time</a:t>
            </a:r>
            <a:r>
              <a:rPr lang="en-US" sz="2400" b="1" dirty="0"/>
              <a:t>:</a:t>
            </a:r>
          </a:p>
          <a:p>
            <a:pPr fontAlgn="base"/>
            <a:r>
              <a:rPr lang="en-US" sz="2400" dirty="0">
                <a:highlight>
                  <a:srgbClr val="FFFF00"/>
                </a:highlight>
              </a:rPr>
              <a:t>Seek time is the time taken to </a:t>
            </a:r>
            <a:r>
              <a:rPr lang="en-US" sz="2400" dirty="0">
                <a:solidFill>
                  <a:srgbClr val="0070C0"/>
                </a:solidFill>
                <a:highlight>
                  <a:srgbClr val="FFFF00"/>
                </a:highlight>
              </a:rPr>
              <a:t>move the disk arm to a specified track containing the desired sector </a:t>
            </a:r>
            <a:r>
              <a:rPr lang="en-US" sz="2400" dirty="0">
                <a:highlight>
                  <a:srgbClr val="FFFF00"/>
                </a:highlight>
              </a:rPr>
              <a:t>where the data is to be read or written. </a:t>
            </a:r>
          </a:p>
          <a:p>
            <a:pPr fontAlgn="base"/>
            <a:r>
              <a:rPr lang="en-US" sz="2400" dirty="0">
                <a:highlight>
                  <a:srgbClr val="FFFF00"/>
                </a:highlight>
              </a:rPr>
              <a:t>So the disk scheduling algorithm that </a:t>
            </a:r>
            <a:r>
              <a:rPr lang="en-US" sz="2400" dirty="0">
                <a:solidFill>
                  <a:srgbClr val="0070C0"/>
                </a:solidFill>
                <a:highlight>
                  <a:srgbClr val="FFFF00"/>
                </a:highlight>
              </a:rPr>
              <a:t>gives minimum average seek time is better.</a:t>
            </a:r>
            <a:r>
              <a:rPr lang="en-US" sz="2400" b="1" u="sng" dirty="0">
                <a:solidFill>
                  <a:srgbClr val="0070C0"/>
                </a:solidFill>
                <a:highlight>
                  <a:srgbClr val="FFFF00"/>
                </a:highlight>
              </a:rPr>
              <a:t> </a:t>
            </a:r>
            <a:endParaRPr lang="en-US" sz="2400" dirty="0">
              <a:solidFill>
                <a:srgbClr val="0070C0"/>
              </a:solidFill>
              <a:highlight>
                <a:srgbClr val="FFFF00"/>
              </a:highlight>
            </a:endParaRPr>
          </a:p>
        </p:txBody>
      </p:sp>
      <p:sp>
        <p:nvSpPr>
          <p:cNvPr id="4" name="Date Placeholder 3"/>
          <p:cNvSpPr>
            <a:spLocks noGrp="1"/>
          </p:cNvSpPr>
          <p:nvPr>
            <p:ph type="dt" sz="half" idx="10"/>
          </p:nvPr>
        </p:nvSpPr>
        <p:spPr/>
        <p:txBody>
          <a:bodyPr/>
          <a:lstStyle/>
          <a:p>
            <a:fld id="{FBA92F2B-B37D-4D59-A909-707CC843ACC4}"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676400"/>
            <a:ext cx="41148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007603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important terms:</a:t>
            </a:r>
          </a:p>
        </p:txBody>
      </p:sp>
      <p:sp>
        <p:nvSpPr>
          <p:cNvPr id="3" name="Content Placeholder 2"/>
          <p:cNvSpPr>
            <a:spLocks noGrp="1"/>
          </p:cNvSpPr>
          <p:nvPr>
            <p:ph idx="1"/>
          </p:nvPr>
        </p:nvSpPr>
        <p:spPr>
          <a:xfrm>
            <a:off x="228600" y="1508918"/>
            <a:ext cx="4191000" cy="4525963"/>
          </a:xfrm>
        </p:spPr>
        <p:txBody>
          <a:bodyPr>
            <a:normAutofit/>
          </a:bodyPr>
          <a:lstStyle/>
          <a:p>
            <a:pPr marL="0" indent="0" fontAlgn="base">
              <a:buNone/>
            </a:pPr>
            <a:r>
              <a:rPr lang="en-US" sz="2400" b="1" u="sng" dirty="0"/>
              <a:t>Rotational Latency:</a:t>
            </a:r>
            <a:r>
              <a:rPr lang="en-US" sz="2400" dirty="0"/>
              <a:t> </a:t>
            </a:r>
          </a:p>
          <a:p>
            <a:pPr fontAlgn="base"/>
            <a:r>
              <a:rPr lang="en-US" sz="2400" dirty="0">
                <a:highlight>
                  <a:srgbClr val="FFFF00"/>
                </a:highlight>
              </a:rPr>
              <a:t>Rotational Latency is the time taken by the </a:t>
            </a:r>
            <a:r>
              <a:rPr lang="en-US" sz="2400" dirty="0">
                <a:solidFill>
                  <a:srgbClr val="0070C0"/>
                </a:solidFill>
                <a:highlight>
                  <a:srgbClr val="FFFF00"/>
                </a:highlight>
              </a:rPr>
              <a:t>desired sector of disk to rotate to the disk head</a:t>
            </a:r>
            <a:r>
              <a:rPr lang="en-US" sz="2400" dirty="0">
                <a:highlight>
                  <a:srgbClr val="FFFF00"/>
                </a:highlight>
              </a:rPr>
              <a:t>, i.e. into a position so that it can access the read/write heads. </a:t>
            </a:r>
          </a:p>
          <a:p>
            <a:pPr fontAlgn="base"/>
            <a:r>
              <a:rPr lang="en-US" sz="2400" dirty="0">
                <a:highlight>
                  <a:srgbClr val="FFFF00"/>
                </a:highlight>
              </a:rPr>
              <a:t>So the disk scheduling algorithm that </a:t>
            </a:r>
            <a:r>
              <a:rPr lang="en-US" sz="2400" dirty="0">
                <a:solidFill>
                  <a:srgbClr val="0070C0"/>
                </a:solidFill>
                <a:highlight>
                  <a:srgbClr val="FFFF00"/>
                </a:highlight>
              </a:rPr>
              <a:t>gives minimum rotational latency is better</a:t>
            </a:r>
          </a:p>
        </p:txBody>
      </p:sp>
      <p:sp>
        <p:nvSpPr>
          <p:cNvPr id="4" name="Date Placeholder 3"/>
          <p:cNvSpPr>
            <a:spLocks noGrp="1"/>
          </p:cNvSpPr>
          <p:nvPr>
            <p:ph type="dt" sz="half" idx="10"/>
          </p:nvPr>
        </p:nvSpPr>
        <p:spPr/>
        <p:txBody>
          <a:bodyPr/>
          <a:lstStyle/>
          <a:p>
            <a:fld id="{3BAF7446-F30A-44F3-92F2-85CE5FF584CD}"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7</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676400"/>
            <a:ext cx="4114800" cy="419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996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Some important terms:</a:t>
            </a:r>
          </a:p>
        </p:txBody>
      </p:sp>
      <p:sp>
        <p:nvSpPr>
          <p:cNvPr id="3" name="Content Placeholder 2"/>
          <p:cNvSpPr>
            <a:spLocks noGrp="1"/>
          </p:cNvSpPr>
          <p:nvPr>
            <p:ph idx="1"/>
          </p:nvPr>
        </p:nvSpPr>
        <p:spPr/>
        <p:txBody>
          <a:bodyPr>
            <a:normAutofit/>
          </a:bodyPr>
          <a:lstStyle/>
          <a:p>
            <a:pPr marL="0" indent="0" fontAlgn="base">
              <a:buNone/>
            </a:pPr>
            <a:r>
              <a:rPr lang="en-US" altLang="en-US" sz="2400" b="1" u="sng" dirty="0">
                <a:sym typeface="Symbol" pitchFamily="18" charset="2"/>
              </a:rPr>
              <a:t>Disk</a:t>
            </a:r>
            <a:r>
              <a:rPr lang="en-US" altLang="en-US" sz="2400" u="sng" dirty="0">
                <a:sym typeface="Symbol" pitchFamily="18" charset="2"/>
              </a:rPr>
              <a:t> </a:t>
            </a:r>
            <a:r>
              <a:rPr lang="en-US" altLang="en-US" sz="2400" b="1" u="sng" dirty="0">
                <a:sym typeface="Symbol" pitchFamily="18" charset="2"/>
              </a:rPr>
              <a:t>bandwidth:</a:t>
            </a:r>
          </a:p>
          <a:p>
            <a:pPr fontAlgn="base"/>
            <a:r>
              <a:rPr lang="en-US" altLang="en-US" sz="2400" dirty="0">
                <a:solidFill>
                  <a:srgbClr val="3366FF"/>
                </a:solidFill>
                <a:highlight>
                  <a:srgbClr val="FFFF00"/>
                </a:highlight>
                <a:sym typeface="Symbol" pitchFamily="18" charset="2"/>
              </a:rPr>
              <a:t> </a:t>
            </a:r>
            <a:r>
              <a:rPr lang="en-US" altLang="en-US" sz="2400" dirty="0">
                <a:highlight>
                  <a:srgbClr val="FFFF00"/>
                </a:highlight>
                <a:sym typeface="Symbol" pitchFamily="18" charset="2"/>
              </a:rPr>
              <a:t>is the total number of bytes transferred, divided by the total time between the first request for service and the completion of the last transfer</a:t>
            </a:r>
            <a:endParaRPr lang="en-US" altLang="en-US" sz="2400" dirty="0">
              <a:highlight>
                <a:srgbClr val="FFFF00"/>
              </a:highlight>
            </a:endParaRPr>
          </a:p>
          <a:p>
            <a:pPr fontAlgn="base"/>
            <a:endParaRPr lang="en-US" sz="2400" dirty="0"/>
          </a:p>
        </p:txBody>
      </p:sp>
      <p:sp>
        <p:nvSpPr>
          <p:cNvPr id="4" name="Date Placeholder 3"/>
          <p:cNvSpPr>
            <a:spLocks noGrp="1"/>
          </p:cNvSpPr>
          <p:nvPr>
            <p:ph type="dt" sz="half" idx="10"/>
          </p:nvPr>
        </p:nvSpPr>
        <p:spPr/>
        <p:txBody>
          <a:bodyPr/>
          <a:lstStyle/>
          <a:p>
            <a:fld id="{FFAFEFDA-E95A-4E8A-97B8-4E7AB0FB0EE9}"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a:t>
            </a:fld>
            <a:endParaRPr lang="en-US"/>
          </a:p>
        </p:txBody>
      </p:sp>
    </p:spTree>
    <p:extLst>
      <p:ext uri="{BB962C8B-B14F-4D97-AF65-F5344CB8AC3E}">
        <p14:creationId xmlns:p14="http://schemas.microsoft.com/office/powerpoint/2010/main" val="1517024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sp>
        <p:nvSpPr>
          <p:cNvPr id="4" name="Date Placeholder 3"/>
          <p:cNvSpPr>
            <a:spLocks noGrp="1"/>
          </p:cNvSpPr>
          <p:nvPr>
            <p:ph type="dt" sz="half" idx="10"/>
          </p:nvPr>
        </p:nvSpPr>
        <p:spPr/>
        <p:txBody>
          <a:bodyPr/>
          <a:lstStyle/>
          <a:p>
            <a:fld id="{3FA4FE33-0864-4812-A296-EF619D6DEC8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9</a:t>
            </a:fld>
            <a:endParaRPr lang="en-US"/>
          </a:p>
        </p:txBody>
      </p:sp>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600200"/>
            <a:ext cx="8153400" cy="449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5767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Date Placeholder 3"/>
          <p:cNvSpPr>
            <a:spLocks noGrp="1"/>
          </p:cNvSpPr>
          <p:nvPr>
            <p:ph type="dt" sz="half" idx="10"/>
          </p:nvPr>
        </p:nvSpPr>
        <p:spPr/>
        <p:txBody>
          <a:bodyPr/>
          <a:lstStyle/>
          <a:p>
            <a:fld id="{F3BCFF18-DAFF-4027-AD0F-F959A670387F}"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10</a:t>
            </a:fld>
            <a:endParaRPr lang="en-US"/>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7924799" cy="4419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32758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B312EE3E-40B6-4F97-963B-3301119DAFBE}"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11</a:t>
            </a:fld>
            <a:endParaRPr lang="en-US"/>
          </a:p>
        </p:txBody>
      </p:sp>
      <p:pic>
        <p:nvPicPr>
          <p:cNvPr id="819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828800"/>
            <a:ext cx="8153400" cy="41632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88043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3D9E5B29-43C1-40A0-9856-8CD100FEABAF}"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12</a:t>
            </a:fld>
            <a:endParaRPr lang="en-US"/>
          </a:p>
        </p:txBody>
      </p:sp>
      <p:pic>
        <p:nvPicPr>
          <p:cNvPr id="9219"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676400"/>
            <a:ext cx="8001000" cy="4201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17711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Date Placeholder 3"/>
          <p:cNvSpPr>
            <a:spLocks noGrp="1"/>
          </p:cNvSpPr>
          <p:nvPr>
            <p:ph type="dt" sz="half" idx="10"/>
          </p:nvPr>
        </p:nvSpPr>
        <p:spPr/>
        <p:txBody>
          <a:bodyPr/>
          <a:lstStyle/>
          <a:p>
            <a:fld id="{8BCEB278-C594-4272-8765-FF404EF3E65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13</a:t>
            </a:fld>
            <a:endParaRPr lang="en-US"/>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33400" y="1752600"/>
            <a:ext cx="8153400" cy="422989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48584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0D2B96-B1B2-490C-ADB6-597225417F09}"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14</a:t>
            </a:fld>
            <a:endParaRPr lang="en-US"/>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143000"/>
            <a:ext cx="6943725" cy="46156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381000" y="6019800"/>
            <a:ext cx="7696200" cy="307777"/>
          </a:xfrm>
          <a:prstGeom prst="rect">
            <a:avLst/>
          </a:prstGeom>
        </p:spPr>
        <p:txBody>
          <a:bodyPr wrap="square">
            <a:spAutoFit/>
          </a:bodyPr>
          <a:lstStyle/>
          <a:p>
            <a:r>
              <a:rPr lang="en-US" sz="1400" dirty="0"/>
              <a:t>Courtesy-https://www.cs.cmu.edu/~410-s14/lectures/L27_Disks1.pdf</a:t>
            </a:r>
          </a:p>
        </p:txBody>
      </p:sp>
    </p:spTree>
    <p:extLst>
      <p:ext uri="{BB962C8B-B14F-4D97-AF65-F5344CB8AC3E}">
        <p14:creationId xmlns:p14="http://schemas.microsoft.com/office/powerpoint/2010/main" val="1285885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717A4C7-E884-4E18-89EF-4F7E3B362E00}"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15</a:t>
            </a:fld>
            <a:endParaRPr lang="en-US"/>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696200" cy="4525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01160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205535-6033-4B1B-8750-2DA00B6409E4}"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16</a:t>
            </a:fld>
            <a:endParaRPr lang="en-US"/>
          </a:p>
        </p:txBody>
      </p:sp>
      <p:pic>
        <p:nvPicPr>
          <p:cNvPr id="4098"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73953"/>
          <a:stretch/>
        </p:blipFill>
        <p:spPr bwMode="auto">
          <a:xfrm>
            <a:off x="838200" y="228600"/>
            <a:ext cx="7162799" cy="139801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2047875"/>
            <a:ext cx="5334000" cy="397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508" y="1721860"/>
            <a:ext cx="3133725" cy="809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p14="http://schemas.microsoft.com/office/powerpoint/2010/main" Requires="p14">
          <p:contentPart p14:bwMode="auto" r:id="rId5">
            <p14:nvContentPartPr>
              <p14:cNvPr id="3" name="Ink 2">
                <a:extLst>
                  <a:ext uri="{FF2B5EF4-FFF2-40B4-BE49-F238E27FC236}">
                    <a16:creationId xmlns:a16="http://schemas.microsoft.com/office/drawing/2014/main" id="{726E3D0C-D4A9-4953-643E-7114DA3E00B2}"/>
                  </a:ext>
                </a:extLst>
              </p14:cNvPr>
              <p14:cNvContentPartPr/>
              <p14:nvPr/>
            </p14:nvContentPartPr>
            <p14:xfrm>
              <a:off x="412730" y="1818588"/>
              <a:ext cx="2992320" cy="720"/>
            </p14:xfrm>
          </p:contentPart>
        </mc:Choice>
        <mc:Fallback>
          <p:pic>
            <p:nvPicPr>
              <p:cNvPr id="3" name="Ink 2">
                <a:extLst>
                  <a:ext uri="{FF2B5EF4-FFF2-40B4-BE49-F238E27FC236}">
                    <a16:creationId xmlns:a16="http://schemas.microsoft.com/office/drawing/2014/main" id="{726E3D0C-D4A9-4953-643E-7114DA3E00B2}"/>
                  </a:ext>
                </a:extLst>
              </p:cNvPr>
              <p:cNvPicPr/>
              <p:nvPr/>
            </p:nvPicPr>
            <p:blipFill>
              <a:blip r:embed="rId6"/>
              <a:stretch>
                <a:fillRect/>
              </a:stretch>
            </p:blipFill>
            <p:spPr>
              <a:xfrm>
                <a:off x="358730" y="1602588"/>
                <a:ext cx="309996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8" name="Ink 7">
                <a:extLst>
                  <a:ext uri="{FF2B5EF4-FFF2-40B4-BE49-F238E27FC236}">
                    <a16:creationId xmlns:a16="http://schemas.microsoft.com/office/drawing/2014/main" id="{6D1C3114-190C-B061-7ACF-2205B975040C}"/>
                  </a:ext>
                </a:extLst>
              </p14:cNvPr>
              <p14:cNvContentPartPr/>
              <p14:nvPr/>
            </p14:nvContentPartPr>
            <p14:xfrm>
              <a:off x="599210" y="2104068"/>
              <a:ext cx="2743920" cy="720"/>
            </p14:xfrm>
          </p:contentPart>
        </mc:Choice>
        <mc:Fallback>
          <p:pic>
            <p:nvPicPr>
              <p:cNvPr id="8" name="Ink 7">
                <a:extLst>
                  <a:ext uri="{FF2B5EF4-FFF2-40B4-BE49-F238E27FC236}">
                    <a16:creationId xmlns:a16="http://schemas.microsoft.com/office/drawing/2014/main" id="{6D1C3114-190C-B061-7ACF-2205B975040C}"/>
                  </a:ext>
                </a:extLst>
              </p:cNvPr>
              <p:cNvPicPr/>
              <p:nvPr/>
            </p:nvPicPr>
            <p:blipFill>
              <a:blip r:embed="rId8"/>
              <a:stretch>
                <a:fillRect/>
              </a:stretch>
            </p:blipFill>
            <p:spPr>
              <a:xfrm>
                <a:off x="545570" y="1888068"/>
                <a:ext cx="2851560" cy="43200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9" name="Ink 8">
                <a:extLst>
                  <a:ext uri="{FF2B5EF4-FFF2-40B4-BE49-F238E27FC236}">
                    <a16:creationId xmlns:a16="http://schemas.microsoft.com/office/drawing/2014/main" id="{7840AB5F-06F8-C7CB-7D56-216E8D289053}"/>
                  </a:ext>
                </a:extLst>
              </p14:cNvPr>
              <p14:cNvContentPartPr/>
              <p14:nvPr/>
            </p14:nvContentPartPr>
            <p14:xfrm>
              <a:off x="619370" y="2320068"/>
              <a:ext cx="2059560" cy="265680"/>
            </p14:xfrm>
          </p:contentPart>
        </mc:Choice>
        <mc:Fallback>
          <p:pic>
            <p:nvPicPr>
              <p:cNvPr id="9" name="Ink 8">
                <a:extLst>
                  <a:ext uri="{FF2B5EF4-FFF2-40B4-BE49-F238E27FC236}">
                    <a16:creationId xmlns:a16="http://schemas.microsoft.com/office/drawing/2014/main" id="{7840AB5F-06F8-C7CB-7D56-216E8D289053}"/>
                  </a:ext>
                </a:extLst>
              </p:cNvPr>
              <p:cNvPicPr/>
              <p:nvPr/>
            </p:nvPicPr>
            <p:blipFill>
              <a:blip r:embed="rId10"/>
              <a:stretch>
                <a:fillRect/>
              </a:stretch>
            </p:blipFill>
            <p:spPr>
              <a:xfrm>
                <a:off x="565730" y="2212428"/>
                <a:ext cx="2167200" cy="481320"/>
              </a:xfrm>
              <a:prstGeom prst="rect">
                <a:avLst/>
              </a:prstGeom>
            </p:spPr>
          </p:pic>
        </mc:Fallback>
      </mc:AlternateContent>
    </p:spTree>
    <p:extLst>
      <p:ext uri="{BB962C8B-B14F-4D97-AF65-F5344CB8AC3E}">
        <p14:creationId xmlns:p14="http://schemas.microsoft.com/office/powerpoint/2010/main" val="12112546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3AD25AC-D087-43C4-98B5-AFA16A184392}"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17</a:t>
            </a:fld>
            <a:endParaRPr lang="en-US"/>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772400" cy="4602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7438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important terms:</a:t>
            </a:r>
          </a:p>
        </p:txBody>
      </p:sp>
      <p:sp>
        <p:nvSpPr>
          <p:cNvPr id="3" name="Content Placeholder 2"/>
          <p:cNvSpPr>
            <a:spLocks noGrp="1"/>
          </p:cNvSpPr>
          <p:nvPr>
            <p:ph idx="1"/>
          </p:nvPr>
        </p:nvSpPr>
        <p:spPr/>
        <p:txBody>
          <a:bodyPr>
            <a:normAutofit/>
          </a:bodyPr>
          <a:lstStyle/>
          <a:p>
            <a:pPr fontAlgn="base"/>
            <a:r>
              <a:rPr lang="en-US" sz="2400" b="1" u="sng" dirty="0">
                <a:highlight>
                  <a:srgbClr val="FFFF00"/>
                </a:highlight>
              </a:rPr>
              <a:t>Transfer Time:</a:t>
            </a:r>
            <a:r>
              <a:rPr lang="en-US" sz="2400" dirty="0">
                <a:highlight>
                  <a:srgbClr val="FFFF00"/>
                </a:highlight>
              </a:rPr>
              <a:t> Transfer time is the time to transfer the data. It depends on the rotating speed of the disk and number of bytes to be transferred.</a:t>
            </a:r>
          </a:p>
          <a:p>
            <a:pPr fontAlgn="base"/>
            <a:endParaRPr lang="en-US" sz="2400" b="1" u="sng" dirty="0"/>
          </a:p>
          <a:p>
            <a:pPr fontAlgn="base"/>
            <a:r>
              <a:rPr lang="en-US" sz="2400" b="1" u="sng" dirty="0">
                <a:highlight>
                  <a:srgbClr val="FFFF00"/>
                </a:highlight>
              </a:rPr>
              <a:t>Disk Access Time:</a:t>
            </a:r>
            <a:r>
              <a:rPr lang="en-US" sz="2400" dirty="0">
                <a:highlight>
                  <a:srgbClr val="FFFF00"/>
                </a:highlight>
              </a:rPr>
              <a:t> Disk Access Time is:</a:t>
            </a:r>
          </a:p>
          <a:p>
            <a:pPr marL="0" indent="0">
              <a:buNone/>
            </a:pPr>
            <a:r>
              <a:rPr lang="en-US" sz="2400" dirty="0">
                <a:solidFill>
                  <a:srgbClr val="0070C0"/>
                </a:solidFill>
                <a:highlight>
                  <a:srgbClr val="FFFF00"/>
                </a:highlight>
              </a:rPr>
              <a:t>     </a:t>
            </a:r>
            <a:r>
              <a:rPr lang="en-US" sz="2400" b="1" dirty="0">
                <a:solidFill>
                  <a:srgbClr val="0070C0"/>
                </a:solidFill>
                <a:highlight>
                  <a:srgbClr val="FFFF00"/>
                </a:highlight>
              </a:rPr>
              <a:t>Disk Access Time = Seek Time + Rotational Latency + Transfer Time</a:t>
            </a:r>
          </a:p>
        </p:txBody>
      </p:sp>
      <p:sp>
        <p:nvSpPr>
          <p:cNvPr id="4" name="Date Placeholder 3"/>
          <p:cNvSpPr>
            <a:spLocks noGrp="1"/>
          </p:cNvSpPr>
          <p:nvPr>
            <p:ph type="dt" sz="half" idx="10"/>
          </p:nvPr>
        </p:nvSpPr>
        <p:spPr/>
        <p:txBody>
          <a:bodyPr/>
          <a:lstStyle/>
          <a:p>
            <a:fld id="{A0F6EA6A-81AE-45C3-9EC5-929C16F73753}"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18</a:t>
            </a:fld>
            <a:endParaRPr lang="en-US"/>
          </a:p>
        </p:txBody>
      </p:sp>
    </p:spTree>
    <p:extLst>
      <p:ext uri="{BB962C8B-B14F-4D97-AF65-F5344CB8AC3E}">
        <p14:creationId xmlns:p14="http://schemas.microsoft.com/office/powerpoint/2010/main" val="9869277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Cylinder</a:t>
            </a:r>
          </a:p>
        </p:txBody>
      </p:sp>
      <p:sp>
        <p:nvSpPr>
          <p:cNvPr id="3" name="Content Placeholder 2"/>
          <p:cNvSpPr>
            <a:spLocks noGrp="1"/>
          </p:cNvSpPr>
          <p:nvPr>
            <p:ph idx="1"/>
          </p:nvPr>
        </p:nvSpPr>
        <p:spPr/>
        <p:txBody>
          <a:bodyPr>
            <a:normAutofit/>
          </a:bodyPr>
          <a:lstStyle/>
          <a:p>
            <a:pPr fontAlgn="base"/>
            <a:r>
              <a:rPr lang="en-US" sz="2400" b="1" u="sng" dirty="0"/>
              <a:t>Matching track across surfaces are collectively called cylinder</a:t>
            </a:r>
            <a:endParaRPr lang="en-US" sz="2400" b="1" dirty="0">
              <a:solidFill>
                <a:srgbClr val="0070C0"/>
              </a:solidFill>
            </a:endParaRPr>
          </a:p>
        </p:txBody>
      </p:sp>
      <p:sp>
        <p:nvSpPr>
          <p:cNvPr id="4" name="Date Placeholder 3"/>
          <p:cNvSpPr>
            <a:spLocks noGrp="1"/>
          </p:cNvSpPr>
          <p:nvPr>
            <p:ph type="dt" sz="half" idx="10"/>
          </p:nvPr>
        </p:nvSpPr>
        <p:spPr/>
        <p:txBody>
          <a:bodyPr/>
          <a:lstStyle/>
          <a:p>
            <a:fld id="{78936A4D-FE45-46C3-BCBF-D6FDC2F82EFE}"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19</a:t>
            </a:fld>
            <a:endParaRPr 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401291"/>
            <a:ext cx="1724025" cy="942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2743200"/>
            <a:ext cx="4162425" cy="2714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1419840" y="2491560"/>
              <a:ext cx="4893840" cy="2955960"/>
            </p14:xfrm>
          </p:contentPart>
        </mc:Choice>
        <mc:Fallback xmlns="">
          <p:pic>
            <p:nvPicPr>
              <p:cNvPr id="7" name="Ink 6"/>
              <p:cNvPicPr/>
              <p:nvPr/>
            </p:nvPicPr>
            <p:blipFill>
              <a:blip r:embed="rId5"/>
              <a:stretch>
                <a:fillRect/>
              </a:stretch>
            </p:blipFill>
            <p:spPr>
              <a:xfrm>
                <a:off x="1410480" y="2482200"/>
                <a:ext cx="4912560" cy="2974680"/>
              </a:xfrm>
              <a:prstGeom prst="rect">
                <a:avLst/>
              </a:prstGeom>
            </p:spPr>
          </p:pic>
        </mc:Fallback>
      </mc:AlternateContent>
    </p:spTree>
    <p:extLst>
      <p:ext uri="{BB962C8B-B14F-4D97-AF65-F5344CB8AC3E}">
        <p14:creationId xmlns:p14="http://schemas.microsoft.com/office/powerpoint/2010/main" val="21523489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Disk Cylinder</a:t>
            </a:r>
          </a:p>
        </p:txBody>
      </p:sp>
      <p:sp>
        <p:nvSpPr>
          <p:cNvPr id="3" name="Content Placeholder 2"/>
          <p:cNvSpPr>
            <a:spLocks noGrp="1"/>
          </p:cNvSpPr>
          <p:nvPr>
            <p:ph idx="1"/>
          </p:nvPr>
        </p:nvSpPr>
        <p:spPr>
          <a:xfrm>
            <a:off x="381000" y="1600200"/>
            <a:ext cx="4800600" cy="4525963"/>
          </a:xfrm>
        </p:spPr>
        <p:txBody>
          <a:bodyPr>
            <a:normAutofit/>
          </a:bodyPr>
          <a:lstStyle/>
          <a:p>
            <a:pPr fontAlgn="base"/>
            <a:r>
              <a:rPr lang="en-US" sz="2400" b="1" u="sng" dirty="0">
                <a:highlight>
                  <a:srgbClr val="FFFF00"/>
                </a:highlight>
              </a:rPr>
              <a:t>Access within a cylinder is faster</a:t>
            </a:r>
          </a:p>
          <a:p>
            <a:pPr fontAlgn="base"/>
            <a:r>
              <a:rPr lang="en-US" sz="2400" b="1" u="sng" dirty="0">
                <a:solidFill>
                  <a:srgbClr val="0070C0"/>
                </a:solidFill>
                <a:highlight>
                  <a:srgbClr val="FFFF00"/>
                </a:highlight>
              </a:rPr>
              <a:t>Heads share one arm</a:t>
            </a:r>
          </a:p>
          <a:p>
            <a:pPr lvl="1" fontAlgn="base"/>
            <a:r>
              <a:rPr lang="en-US" sz="2000" b="1" u="sng" dirty="0">
                <a:solidFill>
                  <a:srgbClr val="0070C0"/>
                </a:solidFill>
                <a:highlight>
                  <a:srgbClr val="FFFF00"/>
                </a:highlight>
              </a:rPr>
              <a:t>All Heads always on same cylinder	</a:t>
            </a:r>
          </a:p>
          <a:p>
            <a:pPr lvl="1" fontAlgn="base"/>
            <a:r>
              <a:rPr lang="en-US" sz="2000" b="1" u="sng" dirty="0">
                <a:solidFill>
                  <a:srgbClr val="0070C0"/>
                </a:solidFill>
                <a:highlight>
                  <a:srgbClr val="FFFF00"/>
                </a:highlight>
              </a:rPr>
              <a:t>Active Head is aligned, others are closed</a:t>
            </a:r>
            <a:endParaRPr lang="en-US" sz="2000" b="1" dirty="0">
              <a:solidFill>
                <a:srgbClr val="0070C0"/>
              </a:solidFill>
              <a:highlight>
                <a:srgbClr val="FFFF00"/>
              </a:highlight>
            </a:endParaRPr>
          </a:p>
        </p:txBody>
      </p:sp>
      <p:sp>
        <p:nvSpPr>
          <p:cNvPr id="4" name="Date Placeholder 3"/>
          <p:cNvSpPr>
            <a:spLocks noGrp="1"/>
          </p:cNvSpPr>
          <p:nvPr>
            <p:ph type="dt" sz="half" idx="10"/>
          </p:nvPr>
        </p:nvSpPr>
        <p:spPr/>
        <p:txBody>
          <a:bodyPr/>
          <a:lstStyle/>
          <a:p>
            <a:fld id="{BAFBDE8A-43FC-4532-AAB3-CDEB95247B62}"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20</a:t>
            </a:fld>
            <a:endParaRPr lang="en-US"/>
          </a:p>
        </p:txBody>
      </p:sp>
      <p:pic>
        <p:nvPicPr>
          <p:cNvPr id="1126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2273" y="1676400"/>
            <a:ext cx="3740727"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7" name="Ink 6"/>
              <p14:cNvContentPartPr/>
              <p14:nvPr/>
            </p14:nvContentPartPr>
            <p14:xfrm>
              <a:off x="6786720" y="2634120"/>
              <a:ext cx="1955880" cy="3099240"/>
            </p14:xfrm>
          </p:contentPart>
        </mc:Choice>
        <mc:Fallback xmlns="">
          <p:pic>
            <p:nvPicPr>
              <p:cNvPr id="7" name="Ink 6"/>
              <p:cNvPicPr/>
              <p:nvPr/>
            </p:nvPicPr>
            <p:blipFill>
              <a:blip r:embed="rId4"/>
              <a:stretch>
                <a:fillRect/>
              </a:stretch>
            </p:blipFill>
            <p:spPr>
              <a:xfrm>
                <a:off x="6777360" y="2624760"/>
                <a:ext cx="1974600" cy="3117960"/>
              </a:xfrm>
              <a:prstGeom prst="rect">
                <a:avLst/>
              </a:prstGeom>
            </p:spPr>
          </p:pic>
        </mc:Fallback>
      </mc:AlternateContent>
    </p:spTree>
    <p:extLst>
      <p:ext uri="{BB962C8B-B14F-4D97-AF65-F5344CB8AC3E}">
        <p14:creationId xmlns:p14="http://schemas.microsoft.com/office/powerpoint/2010/main" val="665715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important terms:</a:t>
            </a:r>
          </a:p>
        </p:txBody>
      </p:sp>
      <p:sp>
        <p:nvSpPr>
          <p:cNvPr id="3" name="Content Placeholder 2"/>
          <p:cNvSpPr>
            <a:spLocks noGrp="1"/>
          </p:cNvSpPr>
          <p:nvPr>
            <p:ph idx="1"/>
          </p:nvPr>
        </p:nvSpPr>
        <p:spPr>
          <a:xfrm>
            <a:off x="471054" y="1371600"/>
            <a:ext cx="8229600" cy="4525963"/>
          </a:xfrm>
        </p:spPr>
        <p:txBody>
          <a:bodyPr>
            <a:normAutofit/>
          </a:bodyPr>
          <a:lstStyle/>
          <a:p>
            <a:r>
              <a:rPr lang="en-US" sz="2400" b="1" u="sng" dirty="0">
                <a:highlight>
                  <a:srgbClr val="FFFF00"/>
                </a:highlight>
              </a:rPr>
              <a:t>Disk Response Time: </a:t>
            </a:r>
          </a:p>
          <a:p>
            <a:r>
              <a:rPr lang="en-US" sz="2400" dirty="0">
                <a:highlight>
                  <a:srgbClr val="FFFF00"/>
                </a:highlight>
              </a:rPr>
              <a:t>Response Time is the average of time spent by a request waiting to perform its I/O operation</a:t>
            </a:r>
            <a:r>
              <a:rPr lang="en-US" sz="2400" dirty="0"/>
              <a:t>. </a:t>
            </a:r>
          </a:p>
          <a:p>
            <a:r>
              <a:rPr lang="en-US" sz="2400" i="1" dirty="0"/>
              <a:t>Average Response time </a:t>
            </a:r>
            <a:r>
              <a:rPr lang="en-US" sz="2400" dirty="0"/>
              <a:t>is the response time of the all requests. </a:t>
            </a:r>
          </a:p>
          <a:p>
            <a:r>
              <a:rPr lang="en-US" sz="2400" i="1" dirty="0"/>
              <a:t>Variance Response Time </a:t>
            </a:r>
            <a:r>
              <a:rPr lang="en-US" sz="2400" dirty="0"/>
              <a:t>is measure of how individual request are serviced with respect to average response time. So the disk scheduling algorithm that gives minimum variance response time is better.</a:t>
            </a:r>
          </a:p>
          <a:p>
            <a:pPr marL="0" indent="0">
              <a:buNone/>
            </a:pPr>
            <a:endParaRPr lang="en-US" dirty="0"/>
          </a:p>
        </p:txBody>
      </p:sp>
      <p:pic>
        <p:nvPicPr>
          <p:cNvPr id="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b="25014"/>
          <a:stretch/>
        </p:blipFill>
        <p:spPr bwMode="auto">
          <a:xfrm>
            <a:off x="484909" y="5078406"/>
            <a:ext cx="8229600" cy="9344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Date Placeholder 4"/>
          <p:cNvSpPr>
            <a:spLocks noGrp="1"/>
          </p:cNvSpPr>
          <p:nvPr>
            <p:ph type="dt" sz="half" idx="10"/>
          </p:nvPr>
        </p:nvSpPr>
        <p:spPr/>
        <p:txBody>
          <a:bodyPr/>
          <a:lstStyle/>
          <a:p>
            <a:fld id="{1616B182-159A-4317-840E-9883BBFA090F}" type="datetime1">
              <a:rPr lang="en-US" smtClean="0"/>
              <a:t>5/7/2025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21</a:t>
            </a:fld>
            <a:endParaRPr lang="en-US"/>
          </a:p>
        </p:txBody>
      </p:sp>
    </p:spTree>
    <p:extLst>
      <p:ext uri="{BB962C8B-B14F-4D97-AF65-F5344CB8AC3E}">
        <p14:creationId xmlns:p14="http://schemas.microsoft.com/office/powerpoint/2010/main" val="3538024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0483" name="Rectangle 3"/>
          <p:cNvSpPr>
            <a:spLocks noGrp="1" noChangeArrowheads="1"/>
          </p:cNvSpPr>
          <p:nvPr>
            <p:ph type="body" idx="1"/>
          </p:nvPr>
        </p:nvSpPr>
        <p:spPr>
          <a:xfrm>
            <a:off x="889000" y="1023938"/>
            <a:ext cx="7394575" cy="4781550"/>
          </a:xfrm>
        </p:spPr>
        <p:txBody>
          <a:bodyPr>
            <a:normAutofit/>
          </a:bodyPr>
          <a:lstStyle/>
          <a:p>
            <a:pPr>
              <a:tabLst>
                <a:tab pos="1708150" algn="l"/>
              </a:tabLst>
            </a:pPr>
            <a:r>
              <a:rPr lang="en-US" altLang="en-US" dirty="0"/>
              <a:t>There are many sources of disk I/O request</a:t>
            </a:r>
          </a:p>
          <a:p>
            <a:pPr lvl="1">
              <a:tabLst>
                <a:tab pos="1708150" algn="l"/>
              </a:tabLst>
            </a:pPr>
            <a:r>
              <a:rPr lang="en-US" altLang="en-US" dirty="0"/>
              <a:t>OS</a:t>
            </a:r>
          </a:p>
          <a:p>
            <a:pPr lvl="1">
              <a:tabLst>
                <a:tab pos="1708150" algn="l"/>
              </a:tabLst>
            </a:pPr>
            <a:r>
              <a:rPr lang="en-US" altLang="en-US" dirty="0"/>
              <a:t>System processes</a:t>
            </a:r>
          </a:p>
          <a:p>
            <a:pPr lvl="1">
              <a:tabLst>
                <a:tab pos="1708150" algn="l"/>
              </a:tabLst>
            </a:pPr>
            <a:r>
              <a:rPr lang="en-US" altLang="en-US" dirty="0"/>
              <a:t>Users processes</a:t>
            </a:r>
          </a:p>
        </p:txBody>
      </p:sp>
      <p:sp>
        <p:nvSpPr>
          <p:cNvPr id="2" name="Date Placeholder 1"/>
          <p:cNvSpPr>
            <a:spLocks noGrp="1"/>
          </p:cNvSpPr>
          <p:nvPr>
            <p:ph type="dt" sz="half" idx="10"/>
          </p:nvPr>
        </p:nvSpPr>
        <p:spPr/>
        <p:txBody>
          <a:bodyPr/>
          <a:lstStyle/>
          <a:p>
            <a:fld id="{5792602B-F335-4999-80A3-56F1A646D4C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22</a:t>
            </a:fld>
            <a:endParaRPr lang="en-US"/>
          </a:p>
        </p:txBody>
      </p:sp>
    </p:spTree>
    <p:extLst>
      <p:ext uri="{BB962C8B-B14F-4D97-AF65-F5344CB8AC3E}">
        <p14:creationId xmlns:p14="http://schemas.microsoft.com/office/powerpoint/2010/main" val="41743381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0483" name="Rectangle 3"/>
          <p:cNvSpPr>
            <a:spLocks noGrp="1" noChangeArrowheads="1"/>
          </p:cNvSpPr>
          <p:nvPr>
            <p:ph type="body" idx="1"/>
          </p:nvPr>
        </p:nvSpPr>
        <p:spPr>
          <a:xfrm>
            <a:off x="889000" y="1023938"/>
            <a:ext cx="7394575" cy="4781550"/>
          </a:xfrm>
        </p:spPr>
        <p:txBody>
          <a:bodyPr>
            <a:normAutofit/>
          </a:bodyPr>
          <a:lstStyle/>
          <a:p>
            <a:pPr>
              <a:tabLst>
                <a:tab pos="1708150" algn="l"/>
              </a:tabLst>
            </a:pPr>
            <a:r>
              <a:rPr lang="en-US" altLang="en-US" sz="2400" dirty="0"/>
              <a:t>I/O request includes input or output mode, disk address, memory address, number of sectors to transfer</a:t>
            </a:r>
          </a:p>
          <a:p>
            <a:pPr>
              <a:tabLst>
                <a:tab pos="1708150" algn="l"/>
              </a:tabLst>
            </a:pPr>
            <a:endParaRPr lang="en-US" altLang="en-US" sz="2400" dirty="0"/>
          </a:p>
          <a:p>
            <a:pPr>
              <a:tabLst>
                <a:tab pos="1708150" algn="l"/>
              </a:tabLst>
            </a:pPr>
            <a:r>
              <a:rPr lang="en-US" altLang="en-US" sz="2400" dirty="0"/>
              <a:t>OS maintains queue of requests, per disk or device</a:t>
            </a:r>
          </a:p>
          <a:p>
            <a:pPr>
              <a:tabLst>
                <a:tab pos="1708150" algn="l"/>
              </a:tabLst>
            </a:pPr>
            <a:endParaRPr lang="en-US" altLang="en-US" sz="2400" dirty="0"/>
          </a:p>
          <a:p>
            <a:pPr>
              <a:tabLst>
                <a:tab pos="1708150" algn="l"/>
              </a:tabLst>
            </a:pPr>
            <a:r>
              <a:rPr lang="en-US" altLang="en-US" sz="2400" dirty="0"/>
              <a:t>Idle disk can immediately work on I/O request, busy disk means work must queue</a:t>
            </a:r>
          </a:p>
          <a:p>
            <a:pPr lvl="1">
              <a:tabLst>
                <a:tab pos="1708150" algn="l"/>
              </a:tabLst>
            </a:pPr>
            <a:r>
              <a:rPr lang="en-US" altLang="en-US" sz="2000" dirty="0"/>
              <a:t>Optimization algorithms only make sense when a queue exists</a:t>
            </a:r>
          </a:p>
        </p:txBody>
      </p:sp>
      <p:sp>
        <p:nvSpPr>
          <p:cNvPr id="2" name="Date Placeholder 1"/>
          <p:cNvSpPr>
            <a:spLocks noGrp="1"/>
          </p:cNvSpPr>
          <p:nvPr>
            <p:ph type="dt" sz="half" idx="10"/>
          </p:nvPr>
        </p:nvSpPr>
        <p:spPr/>
        <p:txBody>
          <a:bodyPr/>
          <a:lstStyle/>
          <a:p>
            <a:fld id="{1FE976AB-6628-4168-A8C0-D51790006BA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23</a:t>
            </a:fld>
            <a:endParaRPr lang="en-US"/>
          </a:p>
        </p:txBody>
      </p:sp>
    </p:spTree>
    <p:extLst>
      <p:ext uri="{BB962C8B-B14F-4D97-AF65-F5344CB8AC3E}">
        <p14:creationId xmlns:p14="http://schemas.microsoft.com/office/powerpoint/2010/main" val="25308760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1507" name="Rectangle 3"/>
          <p:cNvSpPr>
            <a:spLocks noGrp="1" noChangeArrowheads="1"/>
          </p:cNvSpPr>
          <p:nvPr>
            <p:ph type="body" idx="1"/>
          </p:nvPr>
        </p:nvSpPr>
        <p:spPr>
          <a:xfrm>
            <a:off x="874713" y="1023938"/>
            <a:ext cx="4078287" cy="4781550"/>
          </a:xfrm>
        </p:spPr>
        <p:txBody>
          <a:bodyPr>
            <a:noAutofit/>
          </a:bodyPr>
          <a:lstStyle/>
          <a:p>
            <a:pPr>
              <a:tabLst>
                <a:tab pos="1708150" algn="l"/>
              </a:tabLst>
            </a:pPr>
            <a:r>
              <a:rPr lang="en-US" altLang="en-US" sz="2800" dirty="0"/>
              <a:t>Drive controllers </a:t>
            </a:r>
          </a:p>
          <a:p>
            <a:pPr lvl="1">
              <a:tabLst>
                <a:tab pos="1708150" algn="l"/>
              </a:tabLst>
            </a:pPr>
            <a:r>
              <a:rPr lang="en-US" altLang="en-US" sz="2400" dirty="0"/>
              <a:t>have small buffers and </a:t>
            </a:r>
          </a:p>
          <a:p>
            <a:pPr lvl="1">
              <a:tabLst>
                <a:tab pos="1708150" algn="l"/>
              </a:tabLst>
            </a:pPr>
            <a:r>
              <a:rPr lang="en-US" altLang="en-US" sz="2400" dirty="0"/>
              <a:t>can manage a queue of I/O requests (of varying </a:t>
            </a:r>
            <a:r>
              <a:rPr lang="ja-JP" altLang="en-US" sz="2400" dirty="0"/>
              <a:t>“</a:t>
            </a:r>
            <a:r>
              <a:rPr lang="en-US" altLang="ja-JP" sz="2400" dirty="0"/>
              <a:t>depth</a:t>
            </a:r>
            <a:r>
              <a:rPr lang="ja-JP" altLang="en-US" sz="2400" dirty="0"/>
              <a:t>”</a:t>
            </a:r>
            <a:r>
              <a:rPr lang="en-US" altLang="ja-JP" sz="2400" dirty="0"/>
              <a:t>)</a:t>
            </a:r>
            <a:endParaRPr lang="en-US" altLang="en-US" sz="2400" dirty="0"/>
          </a:p>
        </p:txBody>
      </p:sp>
      <p:sp>
        <p:nvSpPr>
          <p:cNvPr id="2" name="Date Placeholder 1"/>
          <p:cNvSpPr>
            <a:spLocks noGrp="1"/>
          </p:cNvSpPr>
          <p:nvPr>
            <p:ph type="dt" sz="half" idx="10"/>
          </p:nvPr>
        </p:nvSpPr>
        <p:spPr/>
        <p:txBody>
          <a:bodyPr/>
          <a:lstStyle/>
          <a:p>
            <a:fld id="{617A4E61-C745-4E2A-AB2C-C9496FC6B139}"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24</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125467"/>
            <a:ext cx="3024336"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8890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1507" name="Rectangle 3"/>
          <p:cNvSpPr>
            <a:spLocks noGrp="1" noChangeArrowheads="1"/>
          </p:cNvSpPr>
          <p:nvPr>
            <p:ph type="body" idx="1"/>
          </p:nvPr>
        </p:nvSpPr>
        <p:spPr>
          <a:xfrm>
            <a:off x="874713" y="1023938"/>
            <a:ext cx="4078287" cy="4781550"/>
          </a:xfrm>
        </p:spPr>
        <p:txBody>
          <a:bodyPr>
            <a:noAutofit/>
          </a:bodyPr>
          <a:lstStyle/>
          <a:p>
            <a:pPr>
              <a:tabLst>
                <a:tab pos="1708150" algn="l"/>
              </a:tabLst>
            </a:pPr>
            <a:r>
              <a:rPr lang="en-US" altLang="en-US" sz="2400" dirty="0"/>
              <a:t>Several algorithms exist to schedule the servicing of disk I/O requests</a:t>
            </a:r>
          </a:p>
          <a:p>
            <a:pPr>
              <a:tabLst>
                <a:tab pos="1708150" algn="l"/>
              </a:tabLst>
            </a:pPr>
            <a:endParaRPr lang="en-US" altLang="en-US" sz="2400" dirty="0"/>
          </a:p>
          <a:p>
            <a:pPr>
              <a:tabLst>
                <a:tab pos="1708150" algn="l"/>
              </a:tabLst>
            </a:pPr>
            <a:r>
              <a:rPr lang="en-US" altLang="en-US" sz="2400" dirty="0"/>
              <a:t>The analysis is true for one or many platters</a:t>
            </a:r>
          </a:p>
        </p:txBody>
      </p:sp>
      <p:sp>
        <p:nvSpPr>
          <p:cNvPr id="2" name="Date Placeholder 1"/>
          <p:cNvSpPr>
            <a:spLocks noGrp="1"/>
          </p:cNvSpPr>
          <p:nvPr>
            <p:ph type="dt" sz="half" idx="10"/>
          </p:nvPr>
        </p:nvSpPr>
        <p:spPr/>
        <p:txBody>
          <a:bodyPr/>
          <a:lstStyle/>
          <a:p>
            <a:fld id="{E03B9DA2-2F45-489F-9E47-51EAE58AB743}"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25</a:t>
            </a:fld>
            <a:endParaRPr lang="en-US"/>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125467"/>
            <a:ext cx="3024336" cy="2981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552544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Disk Scheduling Algorithms</a:t>
            </a:r>
          </a:p>
        </p:txBody>
      </p:sp>
      <p:sp>
        <p:nvSpPr>
          <p:cNvPr id="3" name="Content Placeholder 2"/>
          <p:cNvSpPr>
            <a:spLocks noGrp="1"/>
          </p:cNvSpPr>
          <p:nvPr>
            <p:ph idx="1"/>
          </p:nvPr>
        </p:nvSpPr>
        <p:spPr/>
        <p:txBody>
          <a:bodyPr/>
          <a:lstStyle/>
          <a:p>
            <a:pPr marL="0" indent="0">
              <a:buNone/>
            </a:pPr>
            <a:r>
              <a:rPr lang="en-US" sz="2400" dirty="0"/>
              <a:t>There are many Disk Scheduling Algorithms-</a:t>
            </a:r>
          </a:p>
          <a:p>
            <a:r>
              <a:rPr lang="en-US" sz="2400" dirty="0"/>
              <a:t>FCFS</a:t>
            </a:r>
          </a:p>
          <a:p>
            <a:r>
              <a:rPr lang="en-US" sz="2400" dirty="0"/>
              <a:t>SSTF</a:t>
            </a:r>
          </a:p>
          <a:p>
            <a:r>
              <a:rPr lang="en-US" sz="2400" dirty="0"/>
              <a:t>SCAN</a:t>
            </a:r>
          </a:p>
          <a:p>
            <a:r>
              <a:rPr lang="en-US" sz="2400" dirty="0"/>
              <a:t>C-SCAN</a:t>
            </a:r>
          </a:p>
          <a:p>
            <a:r>
              <a:rPr lang="en-US" sz="2400" dirty="0"/>
              <a:t>LOOK</a:t>
            </a:r>
          </a:p>
          <a:p>
            <a:r>
              <a:rPr lang="en-US" sz="2400" dirty="0"/>
              <a:t>C-LOOK</a:t>
            </a:r>
          </a:p>
          <a:p>
            <a:endParaRPr lang="en-US" dirty="0"/>
          </a:p>
        </p:txBody>
      </p:sp>
      <p:sp>
        <p:nvSpPr>
          <p:cNvPr id="4" name="Date Placeholder 3"/>
          <p:cNvSpPr>
            <a:spLocks noGrp="1"/>
          </p:cNvSpPr>
          <p:nvPr>
            <p:ph type="dt" sz="half" idx="10"/>
          </p:nvPr>
        </p:nvSpPr>
        <p:spPr/>
        <p:txBody>
          <a:bodyPr/>
          <a:lstStyle/>
          <a:p>
            <a:fld id="{54BF77C4-2007-424C-B437-15E4A578B399}"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26</a:t>
            </a:fld>
            <a:endParaRPr lang="en-US"/>
          </a:p>
        </p:txBody>
      </p:sp>
    </p:spTree>
    <p:extLst>
      <p:ext uri="{BB962C8B-B14F-4D97-AF65-F5344CB8AC3E}">
        <p14:creationId xmlns:p14="http://schemas.microsoft.com/office/powerpoint/2010/main" val="2404223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a:t>Disk Scheduling (Cont.)</a:t>
            </a:r>
          </a:p>
        </p:txBody>
      </p:sp>
      <p:sp>
        <p:nvSpPr>
          <p:cNvPr id="21507" name="Rectangle 3"/>
          <p:cNvSpPr>
            <a:spLocks noGrp="1" noChangeArrowheads="1"/>
          </p:cNvSpPr>
          <p:nvPr>
            <p:ph type="body" idx="1"/>
          </p:nvPr>
        </p:nvSpPr>
        <p:spPr>
          <a:xfrm>
            <a:off x="874713" y="1023938"/>
            <a:ext cx="7286625" cy="4781550"/>
          </a:xfrm>
        </p:spPr>
        <p:txBody>
          <a:bodyPr>
            <a:noAutofit/>
          </a:bodyPr>
          <a:lstStyle/>
          <a:p>
            <a:pPr>
              <a:tabLst>
                <a:tab pos="1708150" algn="l"/>
              </a:tabLst>
            </a:pPr>
            <a:r>
              <a:rPr lang="en-US" altLang="en-US" sz="2400" dirty="0"/>
              <a:t>We illustrate scheduling algorithms with a request queue (0-199)</a:t>
            </a:r>
          </a:p>
          <a:p>
            <a:pPr>
              <a:tabLst>
                <a:tab pos="1708150" algn="l"/>
              </a:tabLst>
            </a:pPr>
            <a:r>
              <a:rPr lang="en-US" altLang="en-US" sz="2400" b="1" dirty="0">
                <a:solidFill>
                  <a:srgbClr val="0070C0"/>
                </a:solidFill>
              </a:rPr>
              <a:t>Disk Queue with requests for I/O to blocks on cylinders</a:t>
            </a:r>
          </a:p>
          <a:p>
            <a:pPr>
              <a:buFont typeface="Monotype Sorts" pitchFamily="-84" charset="2"/>
              <a:buNone/>
              <a:tabLst>
                <a:tab pos="1708150" algn="l"/>
              </a:tabLst>
            </a:pPr>
            <a:r>
              <a:rPr lang="en-US" altLang="en-US" sz="2400" dirty="0"/>
              <a:t>		</a:t>
            </a:r>
            <a:br>
              <a:rPr lang="en-US" altLang="en-US" sz="2400" dirty="0"/>
            </a:br>
            <a:r>
              <a:rPr lang="en-US" altLang="en-US" sz="2400" dirty="0"/>
              <a:t>	98, 183, 37, 122, 14, 124, 65, 67</a:t>
            </a:r>
          </a:p>
          <a:p>
            <a:pPr>
              <a:tabLst>
                <a:tab pos="1708150" algn="l"/>
              </a:tabLst>
            </a:pPr>
            <a:r>
              <a:rPr lang="en-US" altLang="en-US" sz="2400" b="1" dirty="0">
                <a:solidFill>
                  <a:srgbClr val="0070C0"/>
                </a:solidFill>
              </a:rPr>
              <a:t>Disk Head is initially at Cylinder 53	</a:t>
            </a:r>
          </a:p>
          <a:p>
            <a:pPr>
              <a:buFont typeface="Monotype Sorts" pitchFamily="-84" charset="2"/>
              <a:buNone/>
              <a:tabLst>
                <a:tab pos="1708150" algn="l"/>
              </a:tabLst>
            </a:pPr>
            <a:r>
              <a:rPr lang="en-US" altLang="en-US" sz="2400" dirty="0"/>
              <a:t>Head pointer 53</a:t>
            </a:r>
          </a:p>
        </p:txBody>
      </p:sp>
      <p:sp>
        <p:nvSpPr>
          <p:cNvPr id="2" name="Date Placeholder 1"/>
          <p:cNvSpPr>
            <a:spLocks noGrp="1"/>
          </p:cNvSpPr>
          <p:nvPr>
            <p:ph type="dt" sz="half" idx="10"/>
          </p:nvPr>
        </p:nvSpPr>
        <p:spPr/>
        <p:txBody>
          <a:bodyPr/>
          <a:lstStyle/>
          <a:p>
            <a:fld id="{9087269C-89F4-4271-8ED2-D39B0225D53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27</a:t>
            </a:fld>
            <a:endParaRPr lang="en-US"/>
          </a:p>
        </p:txBody>
      </p:sp>
    </p:spTree>
    <p:extLst>
      <p:ext uri="{BB962C8B-B14F-4D97-AF65-F5344CB8AC3E}">
        <p14:creationId xmlns:p14="http://schemas.microsoft.com/office/powerpoint/2010/main" val="3757588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1200" y="141288"/>
            <a:ext cx="7975600" cy="576262"/>
          </a:xfrm>
        </p:spPr>
        <p:txBody>
          <a:bodyPr>
            <a:normAutofit fontScale="90000"/>
          </a:bodyPr>
          <a:lstStyle/>
          <a:p>
            <a:pPr eaLnBrk="1" hangingPunct="1"/>
            <a:r>
              <a:rPr lang="en-US" altLang="en-US" dirty="0"/>
              <a:t>FCFS</a:t>
            </a:r>
          </a:p>
        </p:txBody>
      </p:sp>
      <p:sp>
        <p:nvSpPr>
          <p:cNvPr id="21507" name="Rectangle 3"/>
          <p:cNvSpPr>
            <a:spLocks noGrp="1" noChangeArrowheads="1"/>
          </p:cNvSpPr>
          <p:nvPr>
            <p:ph type="body" idx="1"/>
          </p:nvPr>
        </p:nvSpPr>
        <p:spPr>
          <a:xfrm>
            <a:off x="874713" y="1023938"/>
            <a:ext cx="7286625" cy="4781550"/>
          </a:xfrm>
        </p:spPr>
        <p:txBody>
          <a:bodyPr>
            <a:noAutofit/>
          </a:bodyPr>
          <a:lstStyle/>
          <a:p>
            <a:r>
              <a:rPr lang="en-US" sz="2400" dirty="0"/>
              <a:t>Simplest form of disk scheduling</a:t>
            </a:r>
          </a:p>
          <a:p>
            <a:r>
              <a:rPr lang="en-US" sz="2400" dirty="0"/>
              <a:t> First-come, first-served (FCFS) algorithm. </a:t>
            </a:r>
          </a:p>
          <a:p>
            <a:r>
              <a:rPr lang="en-US" sz="2400" dirty="0"/>
              <a:t>Intrinsically fair</a:t>
            </a:r>
          </a:p>
          <a:p>
            <a:r>
              <a:rPr lang="en-US" sz="2400" dirty="0"/>
              <a:t>Does not provide the fastest service</a:t>
            </a:r>
            <a:endParaRPr lang="en-US" altLang="en-US" sz="2400" dirty="0"/>
          </a:p>
        </p:txBody>
      </p:sp>
      <p:sp>
        <p:nvSpPr>
          <p:cNvPr id="2" name="Date Placeholder 1"/>
          <p:cNvSpPr>
            <a:spLocks noGrp="1"/>
          </p:cNvSpPr>
          <p:nvPr>
            <p:ph type="dt" sz="half" idx="10"/>
          </p:nvPr>
        </p:nvSpPr>
        <p:spPr/>
        <p:txBody>
          <a:bodyPr/>
          <a:lstStyle/>
          <a:p>
            <a:fld id="{95E3BCAD-661D-4CDA-9872-72786DB8358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28</a:t>
            </a:fld>
            <a:endParaRPr lang="en-US"/>
          </a:p>
        </p:txBody>
      </p:sp>
    </p:spTree>
    <p:extLst>
      <p:ext uri="{BB962C8B-B14F-4D97-AF65-F5344CB8AC3E}">
        <p14:creationId xmlns:p14="http://schemas.microsoft.com/office/powerpoint/2010/main" val="4912090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82663" y="155575"/>
            <a:ext cx="6950075" cy="576263"/>
          </a:xfrm>
        </p:spPr>
        <p:txBody>
          <a:bodyPr>
            <a:normAutofit fontScale="90000"/>
          </a:bodyPr>
          <a:lstStyle/>
          <a:p>
            <a:pPr eaLnBrk="1" hangingPunct="1"/>
            <a:r>
              <a:rPr lang="en-US" altLang="en-US"/>
              <a:t>FCFS</a:t>
            </a:r>
          </a:p>
        </p:txBody>
      </p:sp>
      <p:sp>
        <p:nvSpPr>
          <p:cNvPr id="22531" name="Text Box 4"/>
          <p:cNvSpPr txBox="1">
            <a:spLocks noChangeArrowheads="1"/>
          </p:cNvSpPr>
          <p:nvPr/>
        </p:nvSpPr>
        <p:spPr bwMode="auto">
          <a:xfrm>
            <a:off x="1143000" y="1103313"/>
            <a:ext cx="5851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pPr>
            <a:r>
              <a:rPr lang="en-US" altLang="en-US" dirty="0">
                <a:latin typeface="Helvetica" pitchFamily="-84" charset="0"/>
              </a:rPr>
              <a:t>Illustration shows total head movement of 640 cylinders</a:t>
            </a:r>
          </a:p>
        </p:txBody>
      </p:sp>
      <p:pic>
        <p:nvPicPr>
          <p:cNvPr id="2253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1633538"/>
            <a:ext cx="5840412" cy="423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FE99192B-94EA-48FB-BDBD-8A9AC059ED00}"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29</a:t>
            </a:fld>
            <a:endParaRPr lang="en-US"/>
          </a:p>
        </p:txBody>
      </p:sp>
    </p:spTree>
    <p:extLst>
      <p:ext uri="{BB962C8B-B14F-4D97-AF65-F5344CB8AC3E}">
        <p14:creationId xmlns:p14="http://schemas.microsoft.com/office/powerpoint/2010/main" val="3224774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82663" y="155575"/>
            <a:ext cx="6950075" cy="576263"/>
          </a:xfrm>
        </p:spPr>
        <p:txBody>
          <a:bodyPr>
            <a:normAutofit fontScale="90000"/>
          </a:bodyPr>
          <a:lstStyle/>
          <a:p>
            <a:pPr eaLnBrk="1" hangingPunct="1"/>
            <a:r>
              <a:rPr lang="en-US" altLang="en-US"/>
              <a:t>FCFS</a:t>
            </a:r>
          </a:p>
        </p:txBody>
      </p:sp>
      <p:sp>
        <p:nvSpPr>
          <p:cNvPr id="22531" name="Text Box 4"/>
          <p:cNvSpPr txBox="1">
            <a:spLocks noChangeArrowheads="1"/>
          </p:cNvSpPr>
          <p:nvPr/>
        </p:nvSpPr>
        <p:spPr bwMode="auto">
          <a:xfrm>
            <a:off x="685800" y="1008965"/>
            <a:ext cx="7508795" cy="1938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nchor="ct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marL="285750" indent="-285750">
              <a:buFont typeface="Arial" panose="020B0604020202020204" pitchFamily="34" charset="0"/>
              <a:buChar char="•"/>
            </a:pPr>
            <a:r>
              <a:rPr lang="en-US" sz="2000" dirty="0">
                <a:highlight>
                  <a:srgbClr val="FFFF00"/>
                </a:highlight>
                <a:latin typeface="+mn-lt"/>
              </a:rPr>
              <a:t>The wild swing from </a:t>
            </a:r>
            <a:r>
              <a:rPr lang="en-US" sz="2000" b="1" dirty="0">
                <a:solidFill>
                  <a:srgbClr val="0070C0"/>
                </a:solidFill>
                <a:highlight>
                  <a:srgbClr val="FFFF00"/>
                </a:highlight>
                <a:latin typeface="+mn-lt"/>
              </a:rPr>
              <a:t>122 to 14 and then back to 124 </a:t>
            </a:r>
            <a:r>
              <a:rPr lang="en-US" sz="2000" dirty="0">
                <a:highlight>
                  <a:srgbClr val="FFFF00"/>
                </a:highlight>
                <a:latin typeface="+mn-lt"/>
              </a:rPr>
              <a:t>illustrates the problem with this schedule. </a:t>
            </a:r>
          </a:p>
          <a:p>
            <a:pPr marL="285750" indent="-285750">
              <a:buFont typeface="Arial" panose="020B0604020202020204" pitchFamily="34" charset="0"/>
              <a:buChar char="•"/>
            </a:pPr>
            <a:r>
              <a:rPr lang="en-US" sz="2000" dirty="0">
                <a:highlight>
                  <a:srgbClr val="FFFF00"/>
                </a:highlight>
                <a:latin typeface="+mn-lt"/>
              </a:rPr>
              <a:t>If the requests for cylinders </a:t>
            </a:r>
            <a:r>
              <a:rPr lang="en-US" sz="2000" b="1" dirty="0">
                <a:solidFill>
                  <a:srgbClr val="0070C0"/>
                </a:solidFill>
                <a:highlight>
                  <a:srgbClr val="FFFF00"/>
                </a:highlight>
                <a:latin typeface="+mn-lt"/>
              </a:rPr>
              <a:t>37 and 14</a:t>
            </a:r>
            <a:r>
              <a:rPr lang="en-US" sz="2000" dirty="0">
                <a:highlight>
                  <a:srgbClr val="FFFF00"/>
                </a:highlight>
                <a:latin typeface="+mn-lt"/>
              </a:rPr>
              <a:t> could be serviced together, </a:t>
            </a:r>
            <a:r>
              <a:rPr lang="en-US" sz="2000" b="1" dirty="0">
                <a:solidFill>
                  <a:srgbClr val="0070C0"/>
                </a:solidFill>
                <a:highlight>
                  <a:srgbClr val="FFFF00"/>
                </a:highlight>
                <a:latin typeface="+mn-lt"/>
              </a:rPr>
              <a:t>before or after the requests for 122 and 124, </a:t>
            </a:r>
          </a:p>
          <a:p>
            <a:pPr marL="1028700" lvl="1">
              <a:buFont typeface="Arial" panose="020B0604020202020204" pitchFamily="34" charset="0"/>
              <a:buChar char="•"/>
            </a:pPr>
            <a:r>
              <a:rPr lang="en-US" sz="2000" dirty="0">
                <a:highlight>
                  <a:srgbClr val="FFFF00"/>
                </a:highlight>
                <a:latin typeface="+mn-lt"/>
              </a:rPr>
              <a:t>the total </a:t>
            </a:r>
            <a:r>
              <a:rPr lang="en-US" sz="2000" b="1" dirty="0">
                <a:solidFill>
                  <a:srgbClr val="0070C0"/>
                </a:solidFill>
                <a:highlight>
                  <a:srgbClr val="FFFF00"/>
                </a:highlight>
                <a:latin typeface="+mn-lt"/>
              </a:rPr>
              <a:t>head movement </a:t>
            </a:r>
            <a:r>
              <a:rPr lang="en-US" sz="2000" dirty="0">
                <a:highlight>
                  <a:srgbClr val="FFFF00"/>
                </a:highlight>
                <a:latin typeface="+mn-lt"/>
              </a:rPr>
              <a:t>could be </a:t>
            </a:r>
            <a:r>
              <a:rPr lang="en-US" sz="2000" b="1" dirty="0">
                <a:solidFill>
                  <a:srgbClr val="0070C0"/>
                </a:solidFill>
                <a:highlight>
                  <a:srgbClr val="FFFF00"/>
                </a:highlight>
                <a:latin typeface="+mn-lt"/>
              </a:rPr>
              <a:t>decreased substantially</a:t>
            </a:r>
            <a:r>
              <a:rPr lang="en-US" sz="2000" dirty="0">
                <a:highlight>
                  <a:srgbClr val="FFFF00"/>
                </a:highlight>
                <a:latin typeface="+mn-lt"/>
              </a:rPr>
              <a:t>, and performance could be thereby improved</a:t>
            </a:r>
            <a:r>
              <a:rPr lang="en-US" sz="2000" dirty="0">
                <a:latin typeface="+mn-lt"/>
              </a:rPr>
              <a:t>.</a:t>
            </a:r>
            <a:endParaRPr lang="en-US" altLang="en-US" sz="2000" dirty="0">
              <a:latin typeface="+mn-lt"/>
            </a:endParaRPr>
          </a:p>
        </p:txBody>
      </p:sp>
      <p:pic>
        <p:nvPicPr>
          <p:cNvPr id="2253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0788" y="3429000"/>
            <a:ext cx="5840412" cy="263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F70E9174-0CD2-4BEF-99D4-79D1549A2844}"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30</a:t>
            </a:fld>
            <a:endParaRPr lang="en-US"/>
          </a:p>
        </p:txBody>
      </p:sp>
      <p:sp>
        <p:nvSpPr>
          <p:cNvPr id="5" name="Oval 4"/>
          <p:cNvSpPr/>
          <p:nvPr/>
        </p:nvSpPr>
        <p:spPr>
          <a:xfrm>
            <a:off x="1220788" y="5112327"/>
            <a:ext cx="4343400" cy="762000"/>
          </a:xfrm>
          <a:prstGeom prst="ellipse">
            <a:avLst/>
          </a:prstGeom>
          <a:no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51026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FCFS</a:t>
            </a:r>
          </a:p>
        </p:txBody>
      </p:sp>
      <p:sp>
        <p:nvSpPr>
          <p:cNvPr id="4" name="Content Placeholder 3"/>
          <p:cNvSpPr>
            <a:spLocks noGrp="1"/>
          </p:cNvSpPr>
          <p:nvPr>
            <p:ph idx="1"/>
          </p:nvPr>
        </p:nvSpPr>
        <p:spPr/>
        <p:txBody>
          <a:bodyPr/>
          <a:lstStyle/>
          <a:p>
            <a:pPr fontAlgn="base"/>
            <a:r>
              <a:rPr lang="en-US" sz="2800" dirty="0"/>
              <a:t>Maintain Queue of Requests</a:t>
            </a:r>
          </a:p>
          <a:p>
            <a:pPr fontAlgn="base"/>
            <a:r>
              <a:rPr lang="en-US" sz="2800" dirty="0"/>
              <a:t>Implemented as FIFO Queue</a:t>
            </a:r>
            <a:endParaRPr lang="en-US" dirty="0"/>
          </a:p>
        </p:txBody>
      </p:sp>
      <p:sp>
        <p:nvSpPr>
          <p:cNvPr id="5" name="Date Placeholder 4"/>
          <p:cNvSpPr>
            <a:spLocks noGrp="1"/>
          </p:cNvSpPr>
          <p:nvPr>
            <p:ph type="dt" sz="half" idx="10"/>
          </p:nvPr>
        </p:nvSpPr>
        <p:spPr/>
        <p:txBody>
          <a:bodyPr/>
          <a:lstStyle/>
          <a:p>
            <a:fld id="{E8AF005C-D225-4D3B-958E-E794CFD94283}" type="datetime1">
              <a:rPr lang="en-US" smtClean="0"/>
              <a:t>5/7/2025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31</a:t>
            </a:fld>
            <a:endParaRPr lang="en-US"/>
          </a:p>
        </p:txBody>
      </p:sp>
    </p:spTree>
    <p:extLst>
      <p:ext uri="{BB962C8B-B14F-4D97-AF65-F5344CB8AC3E}">
        <p14:creationId xmlns:p14="http://schemas.microsoft.com/office/powerpoint/2010/main" val="27330289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FCFS</a:t>
            </a:r>
          </a:p>
        </p:txBody>
      </p:sp>
      <p:sp>
        <p:nvSpPr>
          <p:cNvPr id="4" name="Content Placeholder 3"/>
          <p:cNvSpPr>
            <a:spLocks noGrp="1"/>
          </p:cNvSpPr>
          <p:nvPr>
            <p:ph idx="1"/>
          </p:nvPr>
        </p:nvSpPr>
        <p:spPr/>
        <p:txBody>
          <a:bodyPr/>
          <a:lstStyle/>
          <a:p>
            <a:pPr marL="0" indent="0" fontAlgn="base">
              <a:buNone/>
            </a:pPr>
            <a:r>
              <a:rPr lang="en-US" sz="2400" dirty="0">
                <a:highlight>
                  <a:srgbClr val="FFFF00"/>
                </a:highlight>
              </a:rPr>
              <a:t>Advantages:</a:t>
            </a:r>
          </a:p>
          <a:p>
            <a:pPr fontAlgn="base"/>
            <a:r>
              <a:rPr lang="en-US" sz="2400" b="1" dirty="0">
                <a:solidFill>
                  <a:srgbClr val="0070C0"/>
                </a:solidFill>
                <a:highlight>
                  <a:srgbClr val="FFFF00"/>
                </a:highlight>
              </a:rPr>
              <a:t>Every request gets a fair chance</a:t>
            </a:r>
          </a:p>
          <a:p>
            <a:pPr fontAlgn="base"/>
            <a:r>
              <a:rPr lang="en-US" sz="2400" dirty="0">
                <a:highlight>
                  <a:srgbClr val="FFFF00"/>
                </a:highlight>
              </a:rPr>
              <a:t>No indefinite postponement</a:t>
            </a:r>
          </a:p>
          <a:p>
            <a:pPr marL="0" indent="0" fontAlgn="base">
              <a:buNone/>
            </a:pPr>
            <a:endParaRPr lang="en-US" sz="2400" dirty="0">
              <a:highlight>
                <a:srgbClr val="FFFF00"/>
              </a:highlight>
            </a:endParaRPr>
          </a:p>
          <a:p>
            <a:pPr marL="0" indent="0" fontAlgn="base">
              <a:buNone/>
            </a:pPr>
            <a:r>
              <a:rPr lang="en-US" sz="2400" dirty="0">
                <a:highlight>
                  <a:srgbClr val="FFFF00"/>
                </a:highlight>
              </a:rPr>
              <a:t>Disadvantages:</a:t>
            </a:r>
          </a:p>
          <a:p>
            <a:pPr fontAlgn="base"/>
            <a:r>
              <a:rPr lang="en-US" sz="2400" b="1" dirty="0">
                <a:solidFill>
                  <a:srgbClr val="0070C0"/>
                </a:solidFill>
                <a:highlight>
                  <a:srgbClr val="FFFF00"/>
                </a:highlight>
              </a:rPr>
              <a:t>Does not try to optimize seek time</a:t>
            </a:r>
          </a:p>
          <a:p>
            <a:pPr fontAlgn="base"/>
            <a:r>
              <a:rPr lang="en-US" sz="2400" dirty="0">
                <a:highlight>
                  <a:srgbClr val="FFFF00"/>
                </a:highlight>
              </a:rPr>
              <a:t>May not provide the best possible service</a:t>
            </a:r>
          </a:p>
          <a:p>
            <a:pPr fontAlgn="base"/>
            <a:r>
              <a:rPr lang="en-US" sz="2400" b="1" dirty="0">
                <a:solidFill>
                  <a:srgbClr val="0070C0"/>
                </a:solidFill>
                <a:highlight>
                  <a:srgbClr val="FFFF00"/>
                </a:highlight>
              </a:rPr>
              <a:t>Unacceptably High Response time</a:t>
            </a:r>
          </a:p>
          <a:p>
            <a:endParaRPr lang="en-US" dirty="0"/>
          </a:p>
        </p:txBody>
      </p:sp>
      <p:sp>
        <p:nvSpPr>
          <p:cNvPr id="5" name="Date Placeholder 4"/>
          <p:cNvSpPr>
            <a:spLocks noGrp="1"/>
          </p:cNvSpPr>
          <p:nvPr>
            <p:ph type="dt" sz="half" idx="10"/>
          </p:nvPr>
        </p:nvSpPr>
        <p:spPr/>
        <p:txBody>
          <a:bodyPr/>
          <a:lstStyle/>
          <a:p>
            <a:fld id="{443903C9-57C2-44F3-8A57-059298B0FA7D}" type="datetime1">
              <a:rPr lang="en-US" smtClean="0"/>
              <a:t>5/7/2025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32</a:t>
            </a:fld>
            <a:endParaRPr lang="en-US"/>
          </a:p>
        </p:txBody>
      </p:sp>
    </p:spTree>
    <p:extLst>
      <p:ext uri="{BB962C8B-B14F-4D97-AF65-F5344CB8AC3E}">
        <p14:creationId xmlns:p14="http://schemas.microsoft.com/office/powerpoint/2010/main" val="3994985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874713" y="1111250"/>
            <a:ext cx="7081837" cy="4530725"/>
          </a:xfrm>
        </p:spPr>
        <p:txBody>
          <a:bodyPr>
            <a:normAutofit/>
          </a:bodyPr>
          <a:lstStyle/>
          <a:p>
            <a:r>
              <a:rPr lang="en-US" sz="2400" dirty="0"/>
              <a:t>Service all the </a:t>
            </a:r>
            <a:r>
              <a:rPr lang="en-US" sz="2400" b="1" dirty="0">
                <a:solidFill>
                  <a:srgbClr val="0070C0"/>
                </a:solidFill>
              </a:rPr>
              <a:t>requests close to the current head position</a:t>
            </a:r>
            <a:r>
              <a:rPr lang="en-US" sz="2400" dirty="0"/>
              <a:t> before moving the head far to service other</a:t>
            </a:r>
          </a:p>
          <a:p>
            <a:endParaRPr lang="en-US" altLang="en-US" sz="2400" dirty="0"/>
          </a:p>
          <a:p>
            <a:r>
              <a:rPr lang="en-US" altLang="en-US" sz="2400" dirty="0">
                <a:highlight>
                  <a:srgbClr val="FFFF00"/>
                </a:highlight>
              </a:rPr>
              <a:t>Shortest Seek Time First selects the </a:t>
            </a:r>
            <a:r>
              <a:rPr lang="en-US" altLang="en-US" sz="2400" b="1" dirty="0">
                <a:solidFill>
                  <a:srgbClr val="0070C0"/>
                </a:solidFill>
                <a:highlight>
                  <a:srgbClr val="FFFF00"/>
                </a:highlight>
              </a:rPr>
              <a:t>request with the minimum seek time</a:t>
            </a:r>
            <a:r>
              <a:rPr lang="en-US" altLang="en-US" sz="2400" dirty="0">
                <a:highlight>
                  <a:srgbClr val="FFFF00"/>
                </a:highlight>
              </a:rPr>
              <a:t> from the current head position</a:t>
            </a:r>
          </a:p>
        </p:txBody>
      </p:sp>
      <p:sp>
        <p:nvSpPr>
          <p:cNvPr id="2" name="Date Placeholder 1"/>
          <p:cNvSpPr>
            <a:spLocks noGrp="1"/>
          </p:cNvSpPr>
          <p:nvPr>
            <p:ph type="dt" sz="half" idx="10"/>
          </p:nvPr>
        </p:nvSpPr>
        <p:spPr/>
        <p:txBody>
          <a:bodyPr/>
          <a:lstStyle/>
          <a:p>
            <a:fld id="{A65B6AA0-8E08-45D3-8829-02B0D8DCDD3F}"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33</a:t>
            </a:fld>
            <a:endParaRPr lang="en-US"/>
          </a:p>
        </p:txBody>
      </p:sp>
    </p:spTree>
    <p:extLst>
      <p:ext uri="{BB962C8B-B14F-4D97-AF65-F5344CB8AC3E}">
        <p14:creationId xmlns:p14="http://schemas.microsoft.com/office/powerpoint/2010/main" val="1665761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874713" y="1111250"/>
            <a:ext cx="7081837" cy="4530725"/>
          </a:xfrm>
        </p:spPr>
        <p:txBody>
          <a:bodyPr>
            <a:normAutofit/>
          </a:bodyPr>
          <a:lstStyle/>
          <a:p>
            <a:r>
              <a:rPr lang="en-US" altLang="en-US" sz="2000" dirty="0"/>
              <a:t>Illustration shows total head movement of 236 cylinders</a:t>
            </a:r>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1752600"/>
            <a:ext cx="6781799" cy="442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2DC2B5FD-46F7-4D51-923E-365727FB8F55}"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34</a:t>
            </a:fld>
            <a:endParaRPr lang="en-US"/>
          </a:p>
        </p:txBody>
      </p:sp>
    </p:spTree>
    <p:extLst>
      <p:ext uri="{BB962C8B-B14F-4D97-AF65-F5344CB8AC3E}">
        <p14:creationId xmlns:p14="http://schemas.microsoft.com/office/powerpoint/2010/main" val="27212589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rmAutofit/>
          </a:bodyPr>
          <a:lstStyle/>
          <a:p>
            <a:r>
              <a:rPr lang="en-US" sz="2400" dirty="0"/>
              <a:t>The closest request to the initial head position (53) is at cylinder 65. </a:t>
            </a:r>
          </a:p>
          <a:p>
            <a:r>
              <a:rPr lang="en-US" sz="2400" dirty="0"/>
              <a:t>At cylinder 65, the next closest is  cylinder 67. </a:t>
            </a:r>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9000"/>
            <a:ext cx="6781799"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B0F8D36D-8019-44BF-93FF-62FF0C971F2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35</a:t>
            </a:fld>
            <a:endParaRPr lang="en-US"/>
          </a:p>
        </p:txBody>
      </p:sp>
    </p:spTree>
    <p:extLst>
      <p:ext uri="{BB962C8B-B14F-4D97-AF65-F5344CB8AC3E}">
        <p14:creationId xmlns:p14="http://schemas.microsoft.com/office/powerpoint/2010/main" val="1692584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rmAutofit/>
          </a:bodyPr>
          <a:lstStyle/>
          <a:p>
            <a:r>
              <a:rPr lang="en-US" sz="2400" dirty="0"/>
              <a:t>From there, the request at cylinder 37 is closer than the one at 98, so 37 is served next. </a:t>
            </a:r>
          </a:p>
          <a:p>
            <a:pPr lvl="1"/>
            <a:r>
              <a:rPr lang="en-US" sz="2400" dirty="0"/>
              <a:t>67-37=30</a:t>
            </a:r>
          </a:p>
          <a:p>
            <a:pPr lvl="1"/>
            <a:r>
              <a:rPr lang="en-US" sz="2400" dirty="0"/>
              <a:t>98-67=31</a:t>
            </a:r>
          </a:p>
          <a:p>
            <a:r>
              <a:rPr lang="en-US" sz="2400" dirty="0"/>
              <a:t>Continuing, we service the request at cylinder 14, then 98, 122, 124, and finally 183 </a:t>
            </a:r>
          </a:p>
          <a:p>
            <a:endParaRPr lang="en-US" altLang="en-US" sz="2400" dirty="0"/>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429000"/>
            <a:ext cx="6781799"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B0F8D36D-8019-44BF-93FF-62FF0C971F2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36</a:t>
            </a:fld>
            <a:endParaRPr lang="en-US"/>
          </a:p>
        </p:txBody>
      </p:sp>
    </p:spTree>
    <p:extLst>
      <p:ext uri="{BB962C8B-B14F-4D97-AF65-F5344CB8AC3E}">
        <p14:creationId xmlns:p14="http://schemas.microsoft.com/office/powerpoint/2010/main" val="8950281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rmAutofit/>
          </a:bodyPr>
          <a:lstStyle/>
          <a:p>
            <a:r>
              <a:rPr lang="en-US" sz="2400" b="1" dirty="0"/>
              <a:t>A total head movement of </a:t>
            </a:r>
            <a:r>
              <a:rPr lang="en-US" sz="2400" b="1" dirty="0">
                <a:solidFill>
                  <a:srgbClr val="0070C0"/>
                </a:solidFill>
              </a:rPr>
              <a:t>only 236 cylinders-</a:t>
            </a:r>
          </a:p>
          <a:p>
            <a:r>
              <a:rPr lang="en-US" sz="2400" b="1" dirty="0">
                <a:solidFill>
                  <a:srgbClr val="0070C0"/>
                </a:solidFill>
              </a:rPr>
              <a:t>In FCFS, 640 cylinders, </a:t>
            </a:r>
          </a:p>
          <a:p>
            <a:r>
              <a:rPr lang="en-US" sz="2400" dirty="0">
                <a:highlight>
                  <a:srgbClr val="FFFF00"/>
                </a:highlight>
              </a:rPr>
              <a:t>SSTF-Little more than one-third of the distance needed for FCFS scheduling </a:t>
            </a:r>
          </a:p>
          <a:p>
            <a:r>
              <a:rPr lang="en-US" sz="2400" dirty="0">
                <a:highlight>
                  <a:srgbClr val="FFFF00"/>
                </a:highlight>
              </a:rPr>
              <a:t>This algorithm gives a substantial improvement in performance.</a:t>
            </a:r>
            <a:endParaRPr lang="en-US" altLang="en-US" sz="2400" dirty="0">
              <a:highlight>
                <a:srgbClr val="FFFF00"/>
              </a:highlight>
            </a:endParaRPr>
          </a:p>
        </p:txBody>
      </p:sp>
      <p:pic>
        <p:nvPicPr>
          <p:cNvPr id="23556"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608" y="3505200"/>
            <a:ext cx="6781799" cy="2628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2AA26E9-B66D-4C79-9E3D-9DA4961DC4DA}"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37</a:t>
            </a:fld>
            <a:endParaRPr lang="en-US"/>
          </a:p>
        </p:txBody>
      </p:sp>
    </p:spTree>
    <p:extLst>
      <p:ext uri="{BB962C8B-B14F-4D97-AF65-F5344CB8AC3E}">
        <p14:creationId xmlns:p14="http://schemas.microsoft.com/office/powerpoint/2010/main" val="12021963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Autofit/>
          </a:bodyPr>
          <a:lstStyle/>
          <a:p>
            <a:r>
              <a:rPr lang="en-US" altLang="en-US" sz="2400" dirty="0">
                <a:highlight>
                  <a:srgbClr val="FFFF00"/>
                </a:highlight>
              </a:rPr>
              <a:t>SSTF scheduling is a form of SJF scheduling; may </a:t>
            </a:r>
            <a:r>
              <a:rPr lang="en-US" altLang="en-US" sz="2400" b="1" dirty="0">
                <a:solidFill>
                  <a:srgbClr val="0070C0"/>
                </a:solidFill>
                <a:highlight>
                  <a:srgbClr val="FFFF00"/>
                </a:highlight>
              </a:rPr>
              <a:t>cause starvation </a:t>
            </a:r>
            <a:r>
              <a:rPr lang="en-US" altLang="en-US" sz="2400" dirty="0">
                <a:highlight>
                  <a:srgbClr val="FFFF00"/>
                </a:highlight>
              </a:rPr>
              <a:t>of some requests</a:t>
            </a:r>
          </a:p>
          <a:p>
            <a:endParaRPr lang="en-US" sz="2400" dirty="0"/>
          </a:p>
          <a:p>
            <a:endParaRPr lang="en-US" sz="2400" dirty="0"/>
          </a:p>
          <a:p>
            <a:r>
              <a:rPr lang="en-US" sz="2400" dirty="0"/>
              <a:t>How??</a:t>
            </a:r>
          </a:p>
          <a:p>
            <a:endParaRPr lang="en-US" altLang="en-US" sz="2400" b="1" dirty="0">
              <a:solidFill>
                <a:srgbClr val="0070C0"/>
              </a:solidFill>
            </a:endParaRPr>
          </a:p>
        </p:txBody>
      </p:sp>
      <p:sp>
        <p:nvSpPr>
          <p:cNvPr id="2" name="Date Placeholder 1"/>
          <p:cNvSpPr>
            <a:spLocks noGrp="1"/>
          </p:cNvSpPr>
          <p:nvPr>
            <p:ph type="dt" sz="half" idx="10"/>
          </p:nvPr>
        </p:nvSpPr>
        <p:spPr/>
        <p:txBody>
          <a:bodyPr/>
          <a:lstStyle/>
          <a:p>
            <a:fld id="{D510CF3A-131E-4465-B22A-4F59F6A7F067}"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38</a:t>
            </a:fld>
            <a:endParaRPr lang="en-US"/>
          </a:p>
        </p:txBody>
      </p:sp>
    </p:spTree>
    <p:extLst>
      <p:ext uri="{BB962C8B-B14F-4D97-AF65-F5344CB8AC3E}">
        <p14:creationId xmlns:p14="http://schemas.microsoft.com/office/powerpoint/2010/main" val="38822676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141288"/>
            <a:ext cx="8229600" cy="576262"/>
          </a:xfrm>
        </p:spPr>
        <p:txBody>
          <a:bodyPr>
            <a:normAutofit fontScale="90000"/>
          </a:bodyPr>
          <a:lstStyle/>
          <a:p>
            <a:pPr eaLnBrk="1" hangingPunct="1"/>
            <a:r>
              <a:rPr lang="en-US" altLang="en-US"/>
              <a:t>SSTF</a:t>
            </a:r>
          </a:p>
        </p:txBody>
      </p:sp>
      <p:sp>
        <p:nvSpPr>
          <p:cNvPr id="23555" name="Rectangle 3"/>
          <p:cNvSpPr>
            <a:spLocks noGrp="1" noChangeArrowheads="1"/>
          </p:cNvSpPr>
          <p:nvPr>
            <p:ph type="body" idx="1"/>
          </p:nvPr>
        </p:nvSpPr>
        <p:spPr>
          <a:xfrm>
            <a:off x="609600" y="762000"/>
            <a:ext cx="7924800" cy="4530725"/>
          </a:xfrm>
        </p:spPr>
        <p:txBody>
          <a:bodyPr>
            <a:noAutofit/>
          </a:bodyPr>
          <a:lstStyle/>
          <a:p>
            <a:r>
              <a:rPr lang="en-US" sz="2400" dirty="0">
                <a:highlight>
                  <a:srgbClr val="FFFF00"/>
                </a:highlight>
              </a:rPr>
              <a:t>If Requests are for cylinders 14 and 186?? </a:t>
            </a:r>
          </a:p>
          <a:p>
            <a:r>
              <a:rPr lang="en-US" sz="2400" dirty="0">
                <a:highlight>
                  <a:srgbClr val="FFFF00"/>
                </a:highlight>
              </a:rPr>
              <a:t>While the request from 14 is being  serviced, a new request near 14 arrives. </a:t>
            </a:r>
          </a:p>
          <a:p>
            <a:pPr lvl="1"/>
            <a:r>
              <a:rPr lang="en-US" sz="2400" dirty="0">
                <a:highlight>
                  <a:srgbClr val="FFFF00"/>
                </a:highlight>
              </a:rPr>
              <a:t>This new request will be serviced next, </a:t>
            </a:r>
            <a:r>
              <a:rPr lang="en-US" sz="2400" b="1" dirty="0">
                <a:solidFill>
                  <a:srgbClr val="0070C0"/>
                </a:solidFill>
                <a:highlight>
                  <a:srgbClr val="FFFF00"/>
                </a:highlight>
              </a:rPr>
              <a:t>making the request at 186 wait. </a:t>
            </a:r>
          </a:p>
          <a:p>
            <a:r>
              <a:rPr lang="en-US" sz="2400" dirty="0">
                <a:highlight>
                  <a:srgbClr val="FFFF00"/>
                </a:highlight>
              </a:rPr>
              <a:t>While this request is being serviced, another request close to 14 could arrive. </a:t>
            </a:r>
          </a:p>
          <a:p>
            <a:pPr lvl="1"/>
            <a:r>
              <a:rPr lang="en-US" sz="2400" dirty="0">
                <a:highlight>
                  <a:srgbClr val="FFFF00"/>
                </a:highlight>
              </a:rPr>
              <a:t>A continual stream of requests near one another could cause the request for </a:t>
            </a:r>
            <a:r>
              <a:rPr lang="en-US" sz="2400" b="1" dirty="0">
                <a:solidFill>
                  <a:srgbClr val="0070C0"/>
                </a:solidFill>
                <a:highlight>
                  <a:srgbClr val="FFFF00"/>
                </a:highlight>
              </a:rPr>
              <a:t>cylinder 186 to wait indefinitely.</a:t>
            </a:r>
            <a:endParaRPr lang="en-US" altLang="en-US" sz="2400" b="1" dirty="0">
              <a:solidFill>
                <a:srgbClr val="0070C0"/>
              </a:solidFill>
              <a:highlight>
                <a:srgbClr val="FFFF00"/>
              </a:highlight>
            </a:endParaRPr>
          </a:p>
        </p:txBody>
      </p:sp>
      <p:sp>
        <p:nvSpPr>
          <p:cNvPr id="2" name="Date Placeholder 1"/>
          <p:cNvSpPr>
            <a:spLocks noGrp="1"/>
          </p:cNvSpPr>
          <p:nvPr>
            <p:ph type="dt" sz="half" idx="10"/>
          </p:nvPr>
        </p:nvSpPr>
        <p:spPr/>
        <p:txBody>
          <a:bodyPr/>
          <a:lstStyle/>
          <a:p>
            <a:fld id="{D510CF3A-131E-4465-B22A-4F59F6A7F067}"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39</a:t>
            </a:fld>
            <a:endParaRPr lang="en-US"/>
          </a:p>
        </p:txBody>
      </p:sp>
    </p:spTree>
    <p:extLst>
      <p:ext uri="{BB962C8B-B14F-4D97-AF65-F5344CB8AC3E}">
        <p14:creationId xmlns:p14="http://schemas.microsoft.com/office/powerpoint/2010/main" val="99219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08707" y="-76200"/>
            <a:ext cx="8229600" cy="576262"/>
          </a:xfrm>
        </p:spPr>
        <p:txBody>
          <a:bodyPr>
            <a:normAutofit fontScale="90000"/>
          </a:bodyPr>
          <a:lstStyle/>
          <a:p>
            <a:pPr eaLnBrk="1" hangingPunct="1"/>
            <a:r>
              <a:rPr lang="en-US" altLang="en-US" dirty="0"/>
              <a:t>SSTF</a:t>
            </a:r>
          </a:p>
        </p:txBody>
      </p:sp>
      <p:sp>
        <p:nvSpPr>
          <p:cNvPr id="23555" name="Rectangle 3"/>
          <p:cNvSpPr>
            <a:spLocks noGrp="1" noChangeArrowheads="1"/>
          </p:cNvSpPr>
          <p:nvPr>
            <p:ph type="body" idx="1"/>
          </p:nvPr>
        </p:nvSpPr>
        <p:spPr>
          <a:xfrm>
            <a:off x="561107" y="381000"/>
            <a:ext cx="7924800" cy="4530725"/>
          </a:xfrm>
        </p:spPr>
        <p:txBody>
          <a:bodyPr>
            <a:noAutofit/>
          </a:bodyPr>
          <a:lstStyle/>
          <a:p>
            <a:r>
              <a:rPr lang="en-US" sz="2400" dirty="0"/>
              <a:t>Substantial improvement over the FCFS algorithm</a:t>
            </a:r>
          </a:p>
          <a:p>
            <a:r>
              <a:rPr lang="en-US" sz="2400" b="1" dirty="0">
                <a:solidFill>
                  <a:srgbClr val="0070C0"/>
                </a:solidFill>
              </a:rPr>
              <a:t>Not optimal</a:t>
            </a:r>
          </a:p>
          <a:p>
            <a:endParaRPr lang="en-US" sz="2400" dirty="0">
              <a:highlight>
                <a:srgbClr val="FFFF00"/>
              </a:highlight>
            </a:endParaRPr>
          </a:p>
          <a:p>
            <a:r>
              <a:rPr lang="en-US" sz="2400" dirty="0">
                <a:highlight>
                  <a:srgbClr val="FFFF00"/>
                </a:highlight>
              </a:rPr>
              <a:t>We can do better by moving the head </a:t>
            </a:r>
          </a:p>
          <a:p>
            <a:pPr lvl="1"/>
            <a:r>
              <a:rPr lang="en-US" sz="2400" dirty="0">
                <a:highlight>
                  <a:srgbClr val="FFFF00"/>
                </a:highlight>
              </a:rPr>
              <a:t>from 53 to 37, </a:t>
            </a:r>
            <a:r>
              <a:rPr lang="en-US" sz="2400" b="1" dirty="0">
                <a:solidFill>
                  <a:srgbClr val="0070C0"/>
                </a:solidFill>
                <a:highlight>
                  <a:srgbClr val="FFFF00"/>
                </a:highlight>
              </a:rPr>
              <a:t>even though the latter is not closest</a:t>
            </a:r>
            <a:r>
              <a:rPr lang="en-US" sz="2400" dirty="0">
                <a:highlight>
                  <a:srgbClr val="FFFF00"/>
                </a:highlight>
              </a:rPr>
              <a:t>, and </a:t>
            </a:r>
          </a:p>
          <a:p>
            <a:pPr lvl="1"/>
            <a:r>
              <a:rPr lang="en-US" sz="2400" dirty="0">
                <a:highlight>
                  <a:srgbClr val="FFFF00"/>
                </a:highlight>
              </a:rPr>
              <a:t>then to 14, before turning around to service 65, 67, 98, 122, 124, and 183. </a:t>
            </a:r>
          </a:p>
          <a:p>
            <a:pPr lvl="1"/>
            <a:r>
              <a:rPr lang="en-US" sz="2400" dirty="0">
                <a:highlight>
                  <a:srgbClr val="FFFF00"/>
                </a:highlight>
              </a:rPr>
              <a:t>This strategy </a:t>
            </a:r>
            <a:r>
              <a:rPr lang="en-US" sz="2400" b="1" dirty="0">
                <a:solidFill>
                  <a:srgbClr val="0070C0"/>
                </a:solidFill>
                <a:highlight>
                  <a:srgbClr val="FFFF00"/>
                </a:highlight>
              </a:rPr>
              <a:t>reduces the total </a:t>
            </a:r>
            <a:r>
              <a:rPr lang="en-US" sz="2400" dirty="0">
                <a:highlight>
                  <a:srgbClr val="FFFF00"/>
                </a:highlight>
              </a:rPr>
              <a:t>head movement to 208 cylinders.</a:t>
            </a:r>
            <a:endParaRPr lang="en-US" altLang="en-US" sz="2400" b="1" dirty="0">
              <a:solidFill>
                <a:srgbClr val="0070C0"/>
              </a:solidFill>
              <a:highlight>
                <a:srgbClr val="FFFF00"/>
              </a:highlight>
            </a:endParaRPr>
          </a:p>
        </p:txBody>
      </p:sp>
      <p:sp>
        <p:nvSpPr>
          <p:cNvPr id="2" name="Date Placeholder 1"/>
          <p:cNvSpPr>
            <a:spLocks noGrp="1"/>
          </p:cNvSpPr>
          <p:nvPr>
            <p:ph type="dt" sz="half" idx="10"/>
          </p:nvPr>
        </p:nvSpPr>
        <p:spPr/>
        <p:txBody>
          <a:bodyPr/>
          <a:lstStyle/>
          <a:p>
            <a:fld id="{6C239D70-E366-4BA8-8C54-6A5AA3901B50}"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40</a:t>
            </a:fld>
            <a:endParaRPr lang="en-US"/>
          </a:p>
        </p:txBody>
      </p:sp>
      <p:pic>
        <p:nvPicPr>
          <p:cNvPr id="7"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608" y="4191000"/>
            <a:ext cx="6781799"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0361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0"/>
            <a:ext cx="8229600" cy="1143000"/>
          </a:xfrm>
        </p:spPr>
        <p:txBody>
          <a:bodyPr/>
          <a:lstStyle/>
          <a:p>
            <a:r>
              <a:rPr lang="en-US" dirty="0"/>
              <a:t>SSTF</a:t>
            </a:r>
          </a:p>
        </p:txBody>
      </p:sp>
      <p:sp>
        <p:nvSpPr>
          <p:cNvPr id="4" name="Content Placeholder 3"/>
          <p:cNvSpPr>
            <a:spLocks noGrp="1"/>
          </p:cNvSpPr>
          <p:nvPr>
            <p:ph idx="1"/>
          </p:nvPr>
        </p:nvSpPr>
        <p:spPr>
          <a:xfrm>
            <a:off x="609600" y="762000"/>
            <a:ext cx="8229600" cy="4525963"/>
          </a:xfrm>
        </p:spPr>
        <p:txBody>
          <a:bodyPr>
            <a:noAutofit/>
          </a:bodyPr>
          <a:lstStyle/>
          <a:p>
            <a:pPr marL="0" indent="0" fontAlgn="base">
              <a:buNone/>
            </a:pPr>
            <a:r>
              <a:rPr lang="en-US" sz="2400" dirty="0">
                <a:highlight>
                  <a:srgbClr val="FFFF00"/>
                </a:highlight>
              </a:rPr>
              <a:t>Advantages:</a:t>
            </a:r>
          </a:p>
          <a:p>
            <a:pPr fontAlgn="base"/>
            <a:r>
              <a:rPr lang="en-US" sz="2400" dirty="0">
                <a:highlight>
                  <a:srgbClr val="FFFF00"/>
                </a:highlight>
              </a:rPr>
              <a:t>Average Response Time decreases</a:t>
            </a:r>
          </a:p>
          <a:p>
            <a:pPr lvl="1" fontAlgn="base"/>
            <a:r>
              <a:rPr lang="en-US" sz="2400" b="1" dirty="0">
                <a:solidFill>
                  <a:srgbClr val="0070C0"/>
                </a:solidFill>
                <a:highlight>
                  <a:srgbClr val="FFFF00"/>
                </a:highlight>
              </a:rPr>
              <a:t>Very Good Average Response time</a:t>
            </a:r>
          </a:p>
          <a:p>
            <a:pPr fontAlgn="base"/>
            <a:r>
              <a:rPr lang="en-US" sz="2400" dirty="0">
                <a:highlight>
                  <a:srgbClr val="FFFF00"/>
                </a:highlight>
              </a:rPr>
              <a:t>Throughput increases</a:t>
            </a:r>
          </a:p>
          <a:p>
            <a:pPr lvl="1" fontAlgn="base"/>
            <a:r>
              <a:rPr lang="en-US" sz="2400" b="1" dirty="0">
                <a:solidFill>
                  <a:srgbClr val="0070C0"/>
                </a:solidFill>
                <a:highlight>
                  <a:srgbClr val="FFFF00"/>
                </a:highlight>
              </a:rPr>
              <a:t>Excellent Throughput (More seeks are short)</a:t>
            </a:r>
          </a:p>
          <a:p>
            <a:pPr marL="0" indent="0" fontAlgn="base">
              <a:buNone/>
            </a:pPr>
            <a:endParaRPr lang="en-US" sz="2400" b="1" dirty="0">
              <a:solidFill>
                <a:srgbClr val="0070C0"/>
              </a:solidFill>
              <a:highlight>
                <a:srgbClr val="FFFF00"/>
              </a:highlight>
            </a:endParaRPr>
          </a:p>
          <a:p>
            <a:pPr marL="0" indent="0" fontAlgn="base">
              <a:buNone/>
            </a:pPr>
            <a:r>
              <a:rPr lang="en-US" sz="2400" dirty="0">
                <a:highlight>
                  <a:srgbClr val="FFFF00"/>
                </a:highlight>
              </a:rPr>
              <a:t>Disadvantages:</a:t>
            </a:r>
          </a:p>
          <a:p>
            <a:pPr fontAlgn="base"/>
            <a:r>
              <a:rPr lang="en-US" sz="2400" b="1" dirty="0">
                <a:solidFill>
                  <a:srgbClr val="0070C0"/>
                </a:solidFill>
                <a:highlight>
                  <a:srgbClr val="FFFF00"/>
                </a:highlight>
              </a:rPr>
              <a:t>Overhead </a:t>
            </a:r>
            <a:r>
              <a:rPr lang="en-US" sz="2400" dirty="0">
                <a:highlight>
                  <a:srgbClr val="FFFF00"/>
                </a:highlight>
              </a:rPr>
              <a:t>to calculate </a:t>
            </a:r>
            <a:r>
              <a:rPr lang="en-US" sz="2400" b="1" dirty="0">
                <a:solidFill>
                  <a:srgbClr val="0070C0"/>
                </a:solidFill>
                <a:highlight>
                  <a:srgbClr val="FFFF00"/>
                </a:highlight>
              </a:rPr>
              <a:t>seek time in advance</a:t>
            </a:r>
          </a:p>
          <a:p>
            <a:pPr fontAlgn="base"/>
            <a:r>
              <a:rPr lang="en-US" sz="2400" dirty="0">
                <a:highlight>
                  <a:srgbClr val="FFFF00"/>
                </a:highlight>
              </a:rPr>
              <a:t>Can </a:t>
            </a:r>
            <a:r>
              <a:rPr lang="en-US" sz="2400" b="1" dirty="0">
                <a:solidFill>
                  <a:srgbClr val="0070C0"/>
                </a:solidFill>
                <a:highlight>
                  <a:srgbClr val="FFFF00"/>
                </a:highlight>
              </a:rPr>
              <a:t>cause Starvation </a:t>
            </a:r>
            <a:r>
              <a:rPr lang="en-US" sz="2400" dirty="0">
                <a:highlight>
                  <a:srgbClr val="FFFF00"/>
                </a:highlight>
              </a:rPr>
              <a:t>for a request </a:t>
            </a:r>
          </a:p>
          <a:p>
            <a:pPr fontAlgn="base"/>
            <a:r>
              <a:rPr lang="en-US" sz="2400" dirty="0">
                <a:highlight>
                  <a:srgbClr val="FFFF00"/>
                </a:highlight>
              </a:rPr>
              <a:t>High variance of response time </a:t>
            </a:r>
          </a:p>
          <a:p>
            <a:pPr lvl="1" fontAlgn="base"/>
            <a:r>
              <a:rPr lang="en-US" sz="2400" b="1" dirty="0">
                <a:solidFill>
                  <a:srgbClr val="0070C0"/>
                </a:solidFill>
                <a:highlight>
                  <a:srgbClr val="FFFF00"/>
                </a:highlight>
              </a:rPr>
              <a:t>Intolerable Response time variance</a:t>
            </a:r>
          </a:p>
          <a:p>
            <a:pPr lvl="1" fontAlgn="base"/>
            <a:r>
              <a:rPr lang="en-US" sz="2400" dirty="0">
                <a:highlight>
                  <a:srgbClr val="FFFF00"/>
                </a:highlight>
              </a:rPr>
              <a:t>SSTF </a:t>
            </a:r>
            <a:r>
              <a:rPr lang="en-US" sz="2400" b="1" dirty="0">
                <a:solidFill>
                  <a:srgbClr val="0070C0"/>
                </a:solidFill>
                <a:highlight>
                  <a:srgbClr val="FFFF00"/>
                </a:highlight>
              </a:rPr>
              <a:t>favors only some requests</a:t>
            </a:r>
          </a:p>
          <a:p>
            <a:pPr lvl="1" fontAlgn="base"/>
            <a:endParaRPr lang="en-US" sz="2000" b="1" dirty="0">
              <a:solidFill>
                <a:srgbClr val="0070C0"/>
              </a:solidFill>
            </a:endParaRPr>
          </a:p>
          <a:p>
            <a:pPr fontAlgn="base"/>
            <a:endParaRPr lang="en-US" sz="2400" dirty="0"/>
          </a:p>
          <a:p>
            <a:pPr marL="0" indent="0" fontAlgn="base">
              <a:buNone/>
            </a:pPr>
            <a:endParaRPr lang="en-US" sz="2400" dirty="0"/>
          </a:p>
          <a:p>
            <a:pPr marL="0" indent="0">
              <a:buNone/>
            </a:pPr>
            <a:br>
              <a:rPr lang="en-US" sz="2400" dirty="0"/>
            </a:br>
            <a:endParaRPr lang="en-US" sz="2400" dirty="0"/>
          </a:p>
        </p:txBody>
      </p:sp>
      <p:sp>
        <p:nvSpPr>
          <p:cNvPr id="2" name="Date Placeholder 1"/>
          <p:cNvSpPr>
            <a:spLocks noGrp="1"/>
          </p:cNvSpPr>
          <p:nvPr>
            <p:ph type="dt" sz="half" idx="10"/>
          </p:nvPr>
        </p:nvSpPr>
        <p:spPr/>
        <p:txBody>
          <a:bodyPr/>
          <a:lstStyle/>
          <a:p>
            <a:fld id="{B23DC4FD-0216-492E-8D5E-10A1A91861F5}"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41</a:t>
            </a:fld>
            <a:endParaRPr lang="en-US"/>
          </a:p>
        </p:txBody>
      </p:sp>
    </p:spTree>
    <p:extLst>
      <p:ext uri="{BB962C8B-B14F-4D97-AF65-F5344CB8AC3E}">
        <p14:creationId xmlns:p14="http://schemas.microsoft.com/office/powerpoint/2010/main" val="28193356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400" dirty="0">
                <a:highlight>
                  <a:srgbClr val="FFFF00"/>
                </a:highlight>
              </a:rPr>
              <a:t>The disk arm starts at one end of the disk, and </a:t>
            </a:r>
            <a:r>
              <a:rPr lang="en-US" altLang="en-US" sz="2400" dirty="0">
                <a:solidFill>
                  <a:srgbClr val="0070C0"/>
                </a:solidFill>
                <a:highlight>
                  <a:srgbClr val="FFFF00"/>
                </a:highlight>
              </a:rPr>
              <a:t>moves toward the other end, servicing requests until it gets to the other end of the disk</a:t>
            </a:r>
          </a:p>
          <a:p>
            <a:endParaRPr lang="en-US" sz="2400" dirty="0">
              <a:solidFill>
                <a:srgbClr val="0070C0"/>
              </a:solidFill>
              <a:highlight>
                <a:srgbClr val="FFFF00"/>
              </a:highlight>
            </a:endParaRPr>
          </a:p>
          <a:p>
            <a:r>
              <a:rPr lang="en-US" sz="2400" dirty="0">
                <a:solidFill>
                  <a:srgbClr val="0070C0"/>
                </a:solidFill>
                <a:highlight>
                  <a:srgbClr val="FFFF00"/>
                </a:highlight>
              </a:rPr>
              <a:t>At the other end</a:t>
            </a:r>
            <a:r>
              <a:rPr lang="en-US" sz="2400" dirty="0">
                <a:highlight>
                  <a:srgbClr val="FFFF00"/>
                </a:highlight>
              </a:rPr>
              <a:t>, the </a:t>
            </a:r>
            <a:r>
              <a:rPr lang="en-US" sz="2400" dirty="0">
                <a:solidFill>
                  <a:srgbClr val="0070C0"/>
                </a:solidFill>
                <a:highlight>
                  <a:srgbClr val="FFFF00"/>
                </a:highlight>
              </a:rPr>
              <a:t>direction</a:t>
            </a:r>
            <a:r>
              <a:rPr lang="en-US" sz="2400" dirty="0">
                <a:highlight>
                  <a:srgbClr val="FFFF00"/>
                </a:highlight>
              </a:rPr>
              <a:t> of head movement is </a:t>
            </a:r>
            <a:r>
              <a:rPr lang="en-US" sz="2400" dirty="0">
                <a:solidFill>
                  <a:srgbClr val="0070C0"/>
                </a:solidFill>
                <a:highlight>
                  <a:srgbClr val="FFFF00"/>
                </a:highlight>
              </a:rPr>
              <a:t>reversed </a:t>
            </a:r>
            <a:r>
              <a:rPr lang="en-US" altLang="en-US" sz="2400" dirty="0">
                <a:solidFill>
                  <a:srgbClr val="0070C0"/>
                </a:solidFill>
                <a:highlight>
                  <a:srgbClr val="FFFF00"/>
                </a:highlight>
              </a:rPr>
              <a:t>and servicing continues.</a:t>
            </a:r>
          </a:p>
          <a:p>
            <a:endParaRPr lang="en-US" sz="2400" dirty="0"/>
          </a:p>
          <a:p>
            <a:r>
              <a:rPr lang="en-US" sz="2400" dirty="0"/>
              <a:t>The head continuously scans back and forth across the disk.</a:t>
            </a:r>
            <a:endParaRPr lang="en-US" altLang="en-US" sz="2400" dirty="0"/>
          </a:p>
        </p:txBody>
      </p:sp>
      <p:sp>
        <p:nvSpPr>
          <p:cNvPr id="2" name="Date Placeholder 1"/>
          <p:cNvSpPr>
            <a:spLocks noGrp="1"/>
          </p:cNvSpPr>
          <p:nvPr>
            <p:ph type="dt" sz="half" idx="10"/>
          </p:nvPr>
        </p:nvSpPr>
        <p:spPr/>
        <p:txBody>
          <a:bodyPr/>
          <a:lstStyle/>
          <a:p>
            <a:fld id="{D8AF988F-511D-42EF-A772-0A44D50F9E5A}"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42</a:t>
            </a:fld>
            <a:endParaRPr lang="en-US"/>
          </a:p>
        </p:txBody>
      </p:sp>
    </p:spTree>
    <p:extLst>
      <p:ext uri="{BB962C8B-B14F-4D97-AF65-F5344CB8AC3E}">
        <p14:creationId xmlns:p14="http://schemas.microsoft.com/office/powerpoint/2010/main" val="19100315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800" b="1" dirty="0">
                <a:solidFill>
                  <a:srgbClr val="3366FF"/>
                </a:solidFill>
                <a:highlight>
                  <a:srgbClr val="FFFF00"/>
                </a:highlight>
              </a:rPr>
              <a:t>SCAN algorithm</a:t>
            </a:r>
            <a:r>
              <a:rPr lang="en-US" altLang="en-US" sz="2800" dirty="0">
                <a:solidFill>
                  <a:srgbClr val="3366FF"/>
                </a:solidFill>
                <a:highlight>
                  <a:srgbClr val="FFFF00"/>
                </a:highlight>
              </a:rPr>
              <a:t> </a:t>
            </a:r>
            <a:r>
              <a:rPr lang="en-US" altLang="en-US" sz="2800" dirty="0">
                <a:highlight>
                  <a:srgbClr val="FFFF00"/>
                </a:highlight>
              </a:rPr>
              <a:t>Sometimes called the </a:t>
            </a:r>
            <a:r>
              <a:rPr lang="en-US" altLang="en-US" sz="2800" b="1" dirty="0">
                <a:solidFill>
                  <a:srgbClr val="3366FF"/>
                </a:solidFill>
                <a:highlight>
                  <a:srgbClr val="FFFF00"/>
                </a:highlight>
              </a:rPr>
              <a:t>elevator algorithm</a:t>
            </a:r>
          </a:p>
          <a:p>
            <a:r>
              <a:rPr lang="en-US" sz="2800" dirty="0"/>
              <a:t>Since the disk arm behaves just like an elevator in a building, </a:t>
            </a:r>
          </a:p>
          <a:p>
            <a:pPr lvl="1"/>
            <a:r>
              <a:rPr lang="en-US" dirty="0"/>
              <a:t>First servicing all the </a:t>
            </a:r>
            <a:r>
              <a:rPr lang="en-US" b="1" dirty="0">
                <a:solidFill>
                  <a:srgbClr val="0070C0"/>
                </a:solidFill>
              </a:rPr>
              <a:t>requests going up </a:t>
            </a:r>
            <a:r>
              <a:rPr lang="en-US" dirty="0"/>
              <a:t>and </a:t>
            </a:r>
          </a:p>
          <a:p>
            <a:pPr lvl="1"/>
            <a:r>
              <a:rPr lang="en-US" dirty="0"/>
              <a:t>then reversing to </a:t>
            </a:r>
            <a:r>
              <a:rPr lang="en-US" b="1" dirty="0">
                <a:solidFill>
                  <a:srgbClr val="0070C0"/>
                </a:solidFill>
              </a:rPr>
              <a:t>service requests the other way.</a:t>
            </a:r>
            <a:endParaRPr lang="en-US" altLang="en-US" b="1" dirty="0">
              <a:solidFill>
                <a:srgbClr val="0070C0"/>
              </a:solidFill>
            </a:endParaRPr>
          </a:p>
        </p:txBody>
      </p:sp>
      <p:sp>
        <p:nvSpPr>
          <p:cNvPr id="2" name="Date Placeholder 1"/>
          <p:cNvSpPr>
            <a:spLocks noGrp="1"/>
          </p:cNvSpPr>
          <p:nvPr>
            <p:ph type="dt" sz="half" idx="10"/>
          </p:nvPr>
        </p:nvSpPr>
        <p:spPr/>
        <p:txBody>
          <a:bodyPr/>
          <a:lstStyle/>
          <a:p>
            <a:fld id="{DF3EEF31-68D9-4E9E-BFE2-29B3655C139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43</a:t>
            </a:fld>
            <a:endParaRPr lang="en-US"/>
          </a:p>
        </p:txBody>
      </p:sp>
    </p:spTree>
    <p:extLst>
      <p:ext uri="{BB962C8B-B14F-4D97-AF65-F5344CB8AC3E}">
        <p14:creationId xmlns:p14="http://schemas.microsoft.com/office/powerpoint/2010/main" val="1246931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762000"/>
            <a:ext cx="8991600" cy="55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7BA6DD52-13FE-40A3-A748-4126B0FA23AC}"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44</a:t>
            </a:fld>
            <a:endParaRPr lang="en-US"/>
          </a:p>
        </p:txBody>
      </p:sp>
    </p:spTree>
    <p:extLst>
      <p:ext uri="{BB962C8B-B14F-4D97-AF65-F5344CB8AC3E}">
        <p14:creationId xmlns:p14="http://schemas.microsoft.com/office/powerpoint/2010/main" val="42769575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19100" y="76200"/>
            <a:ext cx="8229600" cy="414337"/>
          </a:xfrm>
        </p:spPr>
        <p:txBody>
          <a:bodyPr>
            <a:noAutofit/>
          </a:bodyPr>
          <a:lstStyle/>
          <a:p>
            <a:pPr eaLnBrk="1" hangingPunct="1"/>
            <a:r>
              <a:rPr lang="en-US" altLang="en-US" sz="3200" dirty="0"/>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3810001"/>
            <a:ext cx="59817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E3797C39-8C01-4FDB-8035-2DA9C869E532}"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45</a:t>
            </a:fld>
            <a:endParaRPr lang="en-US"/>
          </a:p>
        </p:txBody>
      </p:sp>
      <p:sp>
        <p:nvSpPr>
          <p:cNvPr id="5" name="Rectangle 4"/>
          <p:cNvSpPr/>
          <p:nvPr/>
        </p:nvSpPr>
        <p:spPr>
          <a:xfrm>
            <a:off x="671945" y="1828800"/>
            <a:ext cx="7696200" cy="830997"/>
          </a:xfrm>
          <a:prstGeom prst="rect">
            <a:avLst/>
          </a:prstGeom>
        </p:spPr>
        <p:txBody>
          <a:bodyPr wrap="square">
            <a:spAutoFit/>
          </a:bodyPr>
          <a:lstStyle/>
          <a:p>
            <a:pPr marL="342900" indent="-342900">
              <a:buFont typeface="Arial" panose="020B0604020202020204" pitchFamily="34" charset="0"/>
              <a:buChar char="•"/>
            </a:pPr>
            <a:r>
              <a:rPr lang="en-US" sz="2400" b="1" dirty="0">
                <a:solidFill>
                  <a:srgbClr val="0070C0"/>
                </a:solidFill>
              </a:rPr>
              <a:t>Need to know the direction of head movement in addition to the head's current position, In Advance</a:t>
            </a:r>
          </a:p>
        </p:txBody>
      </p:sp>
    </p:spTree>
    <p:extLst>
      <p:ext uri="{BB962C8B-B14F-4D97-AF65-F5344CB8AC3E}">
        <p14:creationId xmlns:p14="http://schemas.microsoft.com/office/powerpoint/2010/main" val="167357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19100" y="76200"/>
            <a:ext cx="8229600" cy="414337"/>
          </a:xfrm>
        </p:spPr>
        <p:txBody>
          <a:bodyPr>
            <a:noAutofit/>
          </a:bodyPr>
          <a:lstStyle/>
          <a:p>
            <a:pPr eaLnBrk="1" hangingPunct="1"/>
            <a:r>
              <a:rPr lang="en-US" altLang="en-US" sz="3200" dirty="0"/>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3048000"/>
            <a:ext cx="5981700" cy="3352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0573AFA-0989-47AF-B011-2A8353A5D5AC}"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46</a:t>
            </a:fld>
            <a:endParaRPr lang="en-US"/>
          </a:p>
        </p:txBody>
      </p:sp>
      <p:sp>
        <p:nvSpPr>
          <p:cNvPr id="5" name="Rectangle 4"/>
          <p:cNvSpPr/>
          <p:nvPr/>
        </p:nvSpPr>
        <p:spPr>
          <a:xfrm>
            <a:off x="692727" y="533400"/>
            <a:ext cx="7696200" cy="2308324"/>
          </a:xfrm>
          <a:prstGeom prst="rect">
            <a:avLst/>
          </a:prstGeom>
        </p:spPr>
        <p:txBody>
          <a:bodyPr wrap="square">
            <a:spAutoFit/>
          </a:bodyPr>
          <a:lstStyle/>
          <a:p>
            <a:pPr marL="342900" indent="-342900">
              <a:buFont typeface="Arial" panose="020B0604020202020204" pitchFamily="34" charset="0"/>
              <a:buChar char="•"/>
            </a:pPr>
            <a:r>
              <a:rPr lang="en-US" sz="2400" dirty="0"/>
              <a:t>Assuming that the disk arm is moving toward 0 and that the initial head  position is again 53, </a:t>
            </a:r>
          </a:p>
          <a:p>
            <a:pPr marL="342900" indent="-342900">
              <a:buFont typeface="Arial" panose="020B0604020202020204" pitchFamily="34" charset="0"/>
              <a:buChar char="•"/>
            </a:pPr>
            <a:r>
              <a:rPr lang="en-US" sz="2400" dirty="0"/>
              <a:t>The head will next service 37 and then 14. </a:t>
            </a:r>
          </a:p>
          <a:p>
            <a:pPr marL="342900" indent="-342900">
              <a:buFont typeface="Arial" panose="020B0604020202020204" pitchFamily="34" charset="0"/>
              <a:buChar char="•"/>
            </a:pPr>
            <a:r>
              <a:rPr lang="en-US" sz="2400" dirty="0"/>
              <a:t>At cylinder 0, the arm will reverse and will move toward the other end of the disk, servicing the requests at 65, 67, 98, 122, 124, and 183 </a:t>
            </a:r>
          </a:p>
        </p:txBody>
      </p:sp>
    </p:spTree>
    <p:extLst>
      <p:ext uri="{BB962C8B-B14F-4D97-AF65-F5344CB8AC3E}">
        <p14:creationId xmlns:p14="http://schemas.microsoft.com/office/powerpoint/2010/main" val="12515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a:t>SCAN (Cont.)</a:t>
            </a:r>
          </a:p>
        </p:txBody>
      </p:sp>
      <p:pic>
        <p:nvPicPr>
          <p:cNvPr id="2560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6250" y="3929062"/>
            <a:ext cx="59817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2AD0095-F003-4D03-A55C-CBED1C765CE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47</a:t>
            </a:fld>
            <a:endParaRPr lang="en-US"/>
          </a:p>
        </p:txBody>
      </p:sp>
      <p:sp>
        <p:nvSpPr>
          <p:cNvPr id="5" name="Rectangle 4"/>
          <p:cNvSpPr/>
          <p:nvPr/>
        </p:nvSpPr>
        <p:spPr>
          <a:xfrm>
            <a:off x="1143000" y="1028343"/>
            <a:ext cx="7239000" cy="2677656"/>
          </a:xfrm>
          <a:prstGeom prst="rect">
            <a:avLst/>
          </a:prstGeom>
        </p:spPr>
        <p:txBody>
          <a:bodyPr wrap="square">
            <a:spAutoFit/>
          </a:bodyPr>
          <a:lstStyle/>
          <a:p>
            <a:pPr marL="285750" indent="-285750">
              <a:buFont typeface="Arial" panose="020B0604020202020204" pitchFamily="34" charset="0"/>
              <a:buChar char="•"/>
            </a:pPr>
            <a:r>
              <a:rPr lang="en-US" sz="2400" dirty="0">
                <a:highlight>
                  <a:srgbClr val="FFFF00"/>
                </a:highlight>
              </a:rPr>
              <a:t>If a request arrives in the queue just </a:t>
            </a:r>
            <a:r>
              <a:rPr lang="en-US" sz="2400" b="1" dirty="0">
                <a:solidFill>
                  <a:srgbClr val="0070C0"/>
                </a:solidFill>
                <a:highlight>
                  <a:srgbClr val="FFFF00"/>
                </a:highlight>
              </a:rPr>
              <a:t>in front of the head</a:t>
            </a:r>
            <a:r>
              <a:rPr lang="en-US" sz="2400" dirty="0">
                <a:highlight>
                  <a:srgbClr val="FFFF00"/>
                </a:highlight>
              </a:rPr>
              <a:t>, </a:t>
            </a:r>
          </a:p>
          <a:p>
            <a:pPr marL="742950" lvl="1" indent="-285750">
              <a:buFont typeface="Arial" panose="020B0604020202020204" pitchFamily="34" charset="0"/>
              <a:buChar char="•"/>
            </a:pPr>
            <a:r>
              <a:rPr lang="en-US" sz="2400" dirty="0">
                <a:highlight>
                  <a:srgbClr val="FFFF00"/>
                </a:highlight>
              </a:rPr>
              <a:t>it will be </a:t>
            </a:r>
            <a:r>
              <a:rPr lang="en-US" sz="2400" b="1" dirty="0">
                <a:solidFill>
                  <a:srgbClr val="0070C0"/>
                </a:solidFill>
                <a:highlight>
                  <a:srgbClr val="FFFF00"/>
                </a:highlight>
              </a:rPr>
              <a:t>serviced almost immediately;</a:t>
            </a:r>
          </a:p>
          <a:p>
            <a:pPr marL="285750" indent="-285750">
              <a:buFont typeface="Arial" panose="020B0604020202020204" pitchFamily="34" charset="0"/>
              <a:buChar char="•"/>
            </a:pPr>
            <a:endParaRPr lang="en-US" sz="2400" dirty="0">
              <a:highlight>
                <a:srgbClr val="FFFF00"/>
              </a:highlight>
            </a:endParaRPr>
          </a:p>
          <a:p>
            <a:pPr marL="285750" indent="-285750">
              <a:buFont typeface="Arial" panose="020B0604020202020204" pitchFamily="34" charset="0"/>
              <a:buChar char="•"/>
            </a:pPr>
            <a:r>
              <a:rPr lang="en-US" sz="2400" dirty="0">
                <a:highlight>
                  <a:srgbClr val="FFFF00"/>
                </a:highlight>
              </a:rPr>
              <a:t>A request arriving just </a:t>
            </a:r>
            <a:r>
              <a:rPr lang="en-US" sz="2400" b="1" dirty="0">
                <a:solidFill>
                  <a:srgbClr val="0070C0"/>
                </a:solidFill>
                <a:highlight>
                  <a:srgbClr val="FFFF00"/>
                </a:highlight>
              </a:rPr>
              <a:t>behind the head </a:t>
            </a:r>
          </a:p>
          <a:p>
            <a:pPr marL="742950" lvl="1" indent="-285750">
              <a:buFont typeface="Arial" panose="020B0604020202020204" pitchFamily="34" charset="0"/>
              <a:buChar char="•"/>
            </a:pPr>
            <a:r>
              <a:rPr lang="en-US" sz="2400" dirty="0">
                <a:highlight>
                  <a:srgbClr val="FFFF00"/>
                </a:highlight>
              </a:rPr>
              <a:t>will have to </a:t>
            </a:r>
            <a:r>
              <a:rPr lang="en-US" sz="2400" b="1" dirty="0">
                <a:solidFill>
                  <a:srgbClr val="0070C0"/>
                </a:solidFill>
                <a:highlight>
                  <a:srgbClr val="FFFF00"/>
                </a:highlight>
              </a:rPr>
              <a:t>wait until the arm moves to the end of the disk, reverses direction</a:t>
            </a:r>
            <a:r>
              <a:rPr lang="en-US" sz="2400" dirty="0">
                <a:highlight>
                  <a:srgbClr val="FFFF00"/>
                </a:highlight>
              </a:rPr>
              <a:t>, and comes back.</a:t>
            </a:r>
          </a:p>
        </p:txBody>
      </p:sp>
    </p:spTree>
    <p:extLst>
      <p:ext uri="{BB962C8B-B14F-4D97-AF65-F5344CB8AC3E}">
        <p14:creationId xmlns:p14="http://schemas.microsoft.com/office/powerpoint/2010/main" val="839750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400" dirty="0"/>
              <a:t>Illustration shows total head movement of </a:t>
            </a:r>
            <a:r>
              <a:rPr lang="en-US" altLang="en-US" sz="2400" dirty="0">
                <a:solidFill>
                  <a:srgbClr val="0070C0"/>
                </a:solidFill>
              </a:rPr>
              <a:t>208 cylinders</a:t>
            </a:r>
          </a:p>
          <a:p>
            <a:r>
              <a:rPr lang="en-US" sz="2400" b="1" dirty="0">
                <a:solidFill>
                  <a:schemeClr val="accent1"/>
                </a:solidFill>
              </a:rPr>
              <a:t>SSTF, </a:t>
            </a:r>
            <a:r>
              <a:rPr lang="en-US" sz="2400" b="1" dirty="0">
                <a:solidFill>
                  <a:srgbClr val="0070C0"/>
                </a:solidFill>
              </a:rPr>
              <a:t>236 cylinders-</a:t>
            </a:r>
          </a:p>
          <a:p>
            <a:r>
              <a:rPr lang="en-US" sz="2400" b="1" dirty="0">
                <a:solidFill>
                  <a:srgbClr val="0070C0"/>
                </a:solidFill>
              </a:rPr>
              <a:t>FCFS, 640 cylinders</a:t>
            </a:r>
            <a:endParaRPr lang="en-US" altLang="en-US" sz="2400" dirty="0"/>
          </a:p>
          <a:p>
            <a:endParaRPr lang="en-US" altLang="en-US" sz="2400" dirty="0"/>
          </a:p>
        </p:txBody>
      </p:sp>
      <p:sp>
        <p:nvSpPr>
          <p:cNvPr id="2" name="Date Placeholder 1"/>
          <p:cNvSpPr>
            <a:spLocks noGrp="1"/>
          </p:cNvSpPr>
          <p:nvPr>
            <p:ph type="dt" sz="half" idx="10"/>
          </p:nvPr>
        </p:nvSpPr>
        <p:spPr/>
        <p:txBody>
          <a:bodyPr/>
          <a:lstStyle/>
          <a:p>
            <a:fld id="{2999AF44-909F-4092-8FCC-E95EB3C012DA}"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48</a:t>
            </a:fld>
            <a:endParaRPr lang="en-US"/>
          </a:p>
        </p:txBody>
      </p:sp>
    </p:spTree>
    <p:extLst>
      <p:ext uri="{BB962C8B-B14F-4D97-AF65-F5344CB8AC3E}">
        <p14:creationId xmlns:p14="http://schemas.microsoft.com/office/powerpoint/2010/main" val="193001968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860425" y="1150938"/>
            <a:ext cx="7205663" cy="4530725"/>
          </a:xfrm>
        </p:spPr>
        <p:txBody>
          <a:bodyPr>
            <a:normAutofit/>
          </a:bodyPr>
          <a:lstStyle/>
          <a:p>
            <a:r>
              <a:rPr lang="en-US" altLang="en-US" sz="2400" dirty="0"/>
              <a:t>But note that if requests are uniformly dense, largest density at other end of disk and those wait the longest</a:t>
            </a:r>
          </a:p>
          <a:p>
            <a:endParaRPr lang="en-US" altLang="en-US" sz="2400" dirty="0"/>
          </a:p>
          <a:p>
            <a:endParaRPr lang="en-US" altLang="en-US" sz="2400" dirty="0"/>
          </a:p>
          <a:p>
            <a:r>
              <a:rPr lang="en-US" altLang="en-US" sz="2400" dirty="0"/>
              <a:t>??</a:t>
            </a:r>
          </a:p>
          <a:p>
            <a:endParaRPr lang="en-US" altLang="en-US" sz="2400" dirty="0"/>
          </a:p>
        </p:txBody>
      </p:sp>
      <p:sp>
        <p:nvSpPr>
          <p:cNvPr id="2" name="Date Placeholder 1"/>
          <p:cNvSpPr>
            <a:spLocks noGrp="1"/>
          </p:cNvSpPr>
          <p:nvPr>
            <p:ph type="dt" sz="half" idx="10"/>
          </p:nvPr>
        </p:nvSpPr>
        <p:spPr/>
        <p:txBody>
          <a:bodyPr/>
          <a:lstStyle/>
          <a:p>
            <a:fld id="{2999AF44-909F-4092-8FCC-E95EB3C012DA}"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49</a:t>
            </a:fld>
            <a:endParaRPr lang="en-US"/>
          </a:p>
        </p:txBody>
      </p:sp>
    </p:spTree>
    <p:extLst>
      <p:ext uri="{BB962C8B-B14F-4D97-AF65-F5344CB8AC3E}">
        <p14:creationId xmlns:p14="http://schemas.microsoft.com/office/powerpoint/2010/main" val="11895391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155575"/>
            <a:ext cx="7840663" cy="576263"/>
          </a:xfrm>
        </p:spPr>
        <p:txBody>
          <a:bodyPr>
            <a:normAutofit fontScale="90000"/>
          </a:bodyPr>
          <a:lstStyle/>
          <a:p>
            <a:pPr eaLnBrk="1" hangingPunct="1"/>
            <a:r>
              <a:rPr lang="en-US" altLang="en-US"/>
              <a:t>SCAN</a:t>
            </a:r>
          </a:p>
        </p:txBody>
      </p:sp>
      <p:sp>
        <p:nvSpPr>
          <p:cNvPr id="24579" name="Rectangle 3"/>
          <p:cNvSpPr>
            <a:spLocks noGrp="1" noChangeArrowheads="1"/>
          </p:cNvSpPr>
          <p:nvPr>
            <p:ph type="body" idx="1"/>
          </p:nvPr>
        </p:nvSpPr>
        <p:spPr>
          <a:xfrm>
            <a:off x="533400" y="1219200"/>
            <a:ext cx="8283575" cy="4530725"/>
          </a:xfrm>
        </p:spPr>
        <p:txBody>
          <a:bodyPr>
            <a:normAutofit/>
          </a:bodyPr>
          <a:lstStyle/>
          <a:p>
            <a:r>
              <a:rPr lang="en-US" sz="2400" dirty="0">
                <a:highlight>
                  <a:srgbClr val="FFFF00"/>
                </a:highlight>
              </a:rPr>
              <a:t>Assuming a uniform distribution of requests for cylinders, </a:t>
            </a:r>
          </a:p>
          <a:p>
            <a:r>
              <a:rPr lang="en-US" sz="2400" dirty="0">
                <a:highlight>
                  <a:srgbClr val="FFFF00"/>
                </a:highlight>
              </a:rPr>
              <a:t>When the head reaches one end and reverses direction. </a:t>
            </a:r>
          </a:p>
          <a:p>
            <a:r>
              <a:rPr lang="en-US" sz="2400" dirty="0">
                <a:highlight>
                  <a:srgbClr val="FFFF00"/>
                </a:highlight>
              </a:rPr>
              <a:t>At this point, </a:t>
            </a:r>
            <a:r>
              <a:rPr lang="en-US" sz="2400" b="1" dirty="0">
                <a:solidFill>
                  <a:srgbClr val="0070C0"/>
                </a:solidFill>
                <a:highlight>
                  <a:srgbClr val="FFFF00"/>
                </a:highlight>
              </a:rPr>
              <a:t>relatively few requests are immediately in front of the head, since these cylinders have recently been serviced. </a:t>
            </a:r>
          </a:p>
          <a:p>
            <a:r>
              <a:rPr lang="en-US" sz="2400" dirty="0">
                <a:highlight>
                  <a:srgbClr val="FFFF00"/>
                </a:highlight>
              </a:rPr>
              <a:t>The </a:t>
            </a:r>
            <a:r>
              <a:rPr lang="en-US" sz="2400" b="1" dirty="0">
                <a:solidFill>
                  <a:srgbClr val="0070C0"/>
                </a:solidFill>
                <a:highlight>
                  <a:srgbClr val="FFFF00"/>
                </a:highlight>
              </a:rPr>
              <a:t>heaviest density </a:t>
            </a:r>
            <a:r>
              <a:rPr lang="en-US" sz="2400" dirty="0">
                <a:highlight>
                  <a:srgbClr val="FFFF00"/>
                </a:highlight>
              </a:rPr>
              <a:t>of requests is at the </a:t>
            </a:r>
            <a:r>
              <a:rPr lang="en-US" sz="2400" b="1" dirty="0">
                <a:solidFill>
                  <a:srgbClr val="0070C0"/>
                </a:solidFill>
                <a:highlight>
                  <a:srgbClr val="FFFF00"/>
                </a:highlight>
              </a:rPr>
              <a:t>other end of the disk </a:t>
            </a:r>
          </a:p>
          <a:p>
            <a:r>
              <a:rPr lang="en-US" sz="2400" b="1" dirty="0">
                <a:solidFill>
                  <a:srgbClr val="0070C0"/>
                </a:solidFill>
                <a:highlight>
                  <a:srgbClr val="FFFF00"/>
                </a:highlight>
              </a:rPr>
              <a:t>These requests have also waited the longest so why not go there first? </a:t>
            </a:r>
          </a:p>
          <a:p>
            <a:r>
              <a:rPr lang="en-US" sz="2400" dirty="0">
                <a:highlight>
                  <a:srgbClr val="FFFF00"/>
                </a:highlight>
              </a:rPr>
              <a:t>That is the idea of the next algorithm.</a:t>
            </a:r>
            <a:endParaRPr lang="en-US" altLang="en-US" sz="2400" dirty="0">
              <a:highlight>
                <a:srgbClr val="FFFF00"/>
              </a:highlight>
            </a:endParaRPr>
          </a:p>
        </p:txBody>
      </p:sp>
      <p:sp>
        <p:nvSpPr>
          <p:cNvPr id="2" name="Date Placeholder 1"/>
          <p:cNvSpPr>
            <a:spLocks noGrp="1"/>
          </p:cNvSpPr>
          <p:nvPr>
            <p:ph type="dt" sz="half" idx="10"/>
          </p:nvPr>
        </p:nvSpPr>
        <p:spPr/>
        <p:txBody>
          <a:bodyPr/>
          <a:lstStyle/>
          <a:p>
            <a:fld id="{067E9E11-6234-45E3-89AB-7D0C5CE6522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50</a:t>
            </a:fld>
            <a:endParaRPr lang="en-US"/>
          </a:p>
        </p:txBody>
      </p:sp>
    </p:spTree>
    <p:extLst>
      <p:ext uri="{BB962C8B-B14F-4D97-AF65-F5344CB8AC3E}">
        <p14:creationId xmlns:p14="http://schemas.microsoft.com/office/powerpoint/2010/main" val="31253518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SCAN</a:t>
            </a:r>
          </a:p>
        </p:txBody>
      </p:sp>
      <p:sp>
        <p:nvSpPr>
          <p:cNvPr id="4" name="Content Placeholder 3"/>
          <p:cNvSpPr>
            <a:spLocks noGrp="1"/>
          </p:cNvSpPr>
          <p:nvPr>
            <p:ph idx="1"/>
          </p:nvPr>
        </p:nvSpPr>
        <p:spPr/>
        <p:txBody>
          <a:bodyPr>
            <a:normAutofit/>
          </a:bodyPr>
          <a:lstStyle/>
          <a:p>
            <a:pPr marL="0" indent="0" fontAlgn="base">
              <a:buNone/>
            </a:pPr>
            <a:r>
              <a:rPr lang="en-US" sz="2800" dirty="0">
                <a:highlight>
                  <a:srgbClr val="FFFF00"/>
                </a:highlight>
              </a:rPr>
              <a:t>Advantages:</a:t>
            </a:r>
          </a:p>
          <a:p>
            <a:pPr fontAlgn="base"/>
            <a:r>
              <a:rPr lang="en-US" sz="2800" dirty="0">
                <a:highlight>
                  <a:srgbClr val="FFFF00"/>
                </a:highlight>
              </a:rPr>
              <a:t>High throughput</a:t>
            </a:r>
          </a:p>
          <a:p>
            <a:pPr fontAlgn="base"/>
            <a:r>
              <a:rPr lang="en-US" sz="2800" dirty="0">
                <a:highlight>
                  <a:srgbClr val="FFFF00"/>
                </a:highlight>
              </a:rPr>
              <a:t>Low variance of response time</a:t>
            </a:r>
          </a:p>
          <a:p>
            <a:pPr lvl="1" fontAlgn="base"/>
            <a:r>
              <a:rPr lang="en-US" sz="2400" b="1" dirty="0">
                <a:solidFill>
                  <a:srgbClr val="0070C0"/>
                </a:solidFill>
                <a:highlight>
                  <a:srgbClr val="FFFF00"/>
                </a:highlight>
              </a:rPr>
              <a:t>Response time variance better than SSTF</a:t>
            </a:r>
          </a:p>
          <a:p>
            <a:pPr fontAlgn="base"/>
            <a:r>
              <a:rPr lang="en-US" sz="2800" dirty="0">
                <a:highlight>
                  <a:srgbClr val="FFFF00"/>
                </a:highlight>
              </a:rPr>
              <a:t>Average response time</a:t>
            </a:r>
          </a:p>
          <a:p>
            <a:pPr lvl="1" fontAlgn="base"/>
            <a:r>
              <a:rPr lang="en-US" sz="2400" b="1" dirty="0">
                <a:solidFill>
                  <a:srgbClr val="0070C0"/>
                </a:solidFill>
                <a:highlight>
                  <a:srgbClr val="FFFF00"/>
                </a:highlight>
              </a:rPr>
              <a:t>Worse than SSTF, better than FCFS</a:t>
            </a:r>
          </a:p>
          <a:p>
            <a:pPr marL="0" indent="0" fontAlgn="base">
              <a:buNone/>
            </a:pPr>
            <a:r>
              <a:rPr lang="en-US" sz="2800" dirty="0">
                <a:highlight>
                  <a:srgbClr val="FFFF00"/>
                </a:highlight>
              </a:rPr>
              <a:t>Disadvantages:</a:t>
            </a:r>
          </a:p>
          <a:p>
            <a:pPr fontAlgn="base"/>
            <a:r>
              <a:rPr lang="en-US" sz="2800" dirty="0">
                <a:highlight>
                  <a:srgbClr val="FFFF00"/>
                </a:highlight>
              </a:rPr>
              <a:t>Long waiting time for requests for locations just visited by disk arm</a:t>
            </a:r>
          </a:p>
          <a:p>
            <a:pPr fontAlgn="base"/>
            <a:endParaRPr lang="en-US" sz="2800" dirty="0">
              <a:highlight>
                <a:srgbClr val="FFFF00"/>
              </a:highlight>
            </a:endParaRPr>
          </a:p>
        </p:txBody>
      </p:sp>
      <p:sp>
        <p:nvSpPr>
          <p:cNvPr id="2" name="Date Placeholder 1"/>
          <p:cNvSpPr>
            <a:spLocks noGrp="1"/>
          </p:cNvSpPr>
          <p:nvPr>
            <p:ph type="dt" sz="half" idx="10"/>
          </p:nvPr>
        </p:nvSpPr>
        <p:spPr/>
        <p:txBody>
          <a:bodyPr/>
          <a:lstStyle/>
          <a:p>
            <a:fld id="{D3057651-CFCF-4837-A089-EA1D6B98703F}"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51</a:t>
            </a:fld>
            <a:endParaRPr lang="en-US"/>
          </a:p>
        </p:txBody>
      </p:sp>
    </p:spTree>
    <p:extLst>
      <p:ext uri="{BB962C8B-B14F-4D97-AF65-F5344CB8AC3E}">
        <p14:creationId xmlns:p14="http://schemas.microsoft.com/office/powerpoint/2010/main" val="20962332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5575"/>
            <a:ext cx="7869238" cy="576263"/>
          </a:xfrm>
        </p:spPr>
        <p:txBody>
          <a:bodyPr>
            <a:normAutofit fontScale="90000"/>
          </a:bodyPr>
          <a:lstStyle/>
          <a:p>
            <a:pPr eaLnBrk="1" hangingPunct="1"/>
            <a:r>
              <a:rPr lang="en-US" altLang="en-US"/>
              <a:t>C-SCAN</a:t>
            </a:r>
          </a:p>
        </p:txBody>
      </p:sp>
      <p:sp>
        <p:nvSpPr>
          <p:cNvPr id="26627" name="Rectangle 3"/>
          <p:cNvSpPr>
            <a:spLocks noGrp="1" noChangeArrowheads="1"/>
          </p:cNvSpPr>
          <p:nvPr>
            <p:ph type="body" idx="1"/>
          </p:nvPr>
        </p:nvSpPr>
        <p:spPr>
          <a:xfrm>
            <a:off x="889000" y="1138238"/>
            <a:ext cx="7040563" cy="4530725"/>
          </a:xfrm>
        </p:spPr>
        <p:txBody>
          <a:bodyPr>
            <a:normAutofit/>
          </a:bodyPr>
          <a:lstStyle/>
          <a:p>
            <a:r>
              <a:rPr lang="en-US" altLang="en-US" dirty="0">
                <a:solidFill>
                  <a:srgbClr val="0070C0"/>
                </a:solidFill>
              </a:rPr>
              <a:t>Circular Scan</a:t>
            </a:r>
            <a:endParaRPr lang="en-US" altLang="en-US" b="1" dirty="0">
              <a:solidFill>
                <a:srgbClr val="0070C0"/>
              </a:solidFill>
            </a:endParaRPr>
          </a:p>
        </p:txBody>
      </p:sp>
      <p:sp>
        <p:nvSpPr>
          <p:cNvPr id="2" name="Date Placeholder 1"/>
          <p:cNvSpPr>
            <a:spLocks noGrp="1"/>
          </p:cNvSpPr>
          <p:nvPr>
            <p:ph type="dt" sz="half" idx="10"/>
          </p:nvPr>
        </p:nvSpPr>
        <p:spPr/>
        <p:txBody>
          <a:bodyPr/>
          <a:lstStyle/>
          <a:p>
            <a:fld id="{999486BD-3B3C-438A-B0DB-D5642FB4FC7F}"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52</a:t>
            </a:fld>
            <a:endParaRPr lang="en-US"/>
          </a:p>
        </p:txBody>
      </p:sp>
    </p:spTree>
    <p:extLst>
      <p:ext uri="{BB962C8B-B14F-4D97-AF65-F5344CB8AC3E}">
        <p14:creationId xmlns:p14="http://schemas.microsoft.com/office/powerpoint/2010/main" val="5725477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5575"/>
            <a:ext cx="7869238" cy="576263"/>
          </a:xfrm>
        </p:spPr>
        <p:txBody>
          <a:bodyPr>
            <a:normAutofit fontScale="90000"/>
          </a:bodyPr>
          <a:lstStyle/>
          <a:p>
            <a:pPr eaLnBrk="1" hangingPunct="1"/>
            <a:r>
              <a:rPr lang="en-US" altLang="en-US"/>
              <a:t>C-SCAN</a:t>
            </a:r>
          </a:p>
        </p:txBody>
      </p:sp>
      <p:sp>
        <p:nvSpPr>
          <p:cNvPr id="26627" name="Rectangle 3"/>
          <p:cNvSpPr>
            <a:spLocks noGrp="1" noChangeArrowheads="1"/>
          </p:cNvSpPr>
          <p:nvPr>
            <p:ph type="body" idx="1"/>
          </p:nvPr>
        </p:nvSpPr>
        <p:spPr>
          <a:xfrm>
            <a:off x="889000" y="1138238"/>
            <a:ext cx="7040563" cy="4530725"/>
          </a:xfrm>
        </p:spPr>
        <p:txBody>
          <a:bodyPr>
            <a:normAutofit/>
          </a:bodyPr>
          <a:lstStyle/>
          <a:p>
            <a:r>
              <a:rPr lang="en-US" altLang="en-US" dirty="0"/>
              <a:t>The head moves from </a:t>
            </a:r>
            <a:r>
              <a:rPr lang="en-US" altLang="en-US" b="1" dirty="0">
                <a:solidFill>
                  <a:srgbClr val="0070C0"/>
                </a:solidFill>
              </a:rPr>
              <a:t>one end of the disk to the other</a:t>
            </a:r>
            <a:r>
              <a:rPr lang="en-US" altLang="en-US" dirty="0"/>
              <a:t>, servicing requests as it goes</a:t>
            </a:r>
          </a:p>
          <a:p>
            <a:pPr lvl="1"/>
            <a:r>
              <a:rPr lang="en-US" altLang="en-US" dirty="0"/>
              <a:t>When it reaches the other end, however, it </a:t>
            </a:r>
            <a:r>
              <a:rPr lang="en-US" altLang="en-US" b="1" dirty="0">
                <a:solidFill>
                  <a:srgbClr val="0070C0"/>
                </a:solidFill>
              </a:rPr>
              <a:t>immediately returns to the beginning of the disk</a:t>
            </a:r>
            <a:r>
              <a:rPr lang="en-US" altLang="en-US" dirty="0"/>
              <a:t>, </a:t>
            </a:r>
            <a:r>
              <a:rPr lang="en-US" altLang="en-US" b="1" dirty="0">
                <a:solidFill>
                  <a:srgbClr val="0070C0"/>
                </a:solidFill>
              </a:rPr>
              <a:t>without servicing any requests on the return trip</a:t>
            </a:r>
          </a:p>
        </p:txBody>
      </p:sp>
      <p:sp>
        <p:nvSpPr>
          <p:cNvPr id="2" name="Date Placeholder 1"/>
          <p:cNvSpPr>
            <a:spLocks noGrp="1"/>
          </p:cNvSpPr>
          <p:nvPr>
            <p:ph type="dt" sz="half" idx="10"/>
          </p:nvPr>
        </p:nvSpPr>
        <p:spPr/>
        <p:txBody>
          <a:bodyPr/>
          <a:lstStyle/>
          <a:p>
            <a:fld id="{999486BD-3B3C-438A-B0DB-D5642FB4FC7F}"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53</a:t>
            </a:fld>
            <a:endParaRPr lang="en-US"/>
          </a:p>
        </p:txBody>
      </p:sp>
    </p:spTree>
    <p:extLst>
      <p:ext uri="{BB962C8B-B14F-4D97-AF65-F5344CB8AC3E}">
        <p14:creationId xmlns:p14="http://schemas.microsoft.com/office/powerpoint/2010/main" val="7830927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155575"/>
            <a:ext cx="7869238" cy="576263"/>
          </a:xfrm>
        </p:spPr>
        <p:txBody>
          <a:bodyPr>
            <a:normAutofit fontScale="90000"/>
          </a:bodyPr>
          <a:lstStyle/>
          <a:p>
            <a:pPr eaLnBrk="1" hangingPunct="1"/>
            <a:r>
              <a:rPr lang="en-US" altLang="en-US"/>
              <a:t>C-SCAN</a:t>
            </a:r>
          </a:p>
        </p:txBody>
      </p:sp>
      <p:sp>
        <p:nvSpPr>
          <p:cNvPr id="26627" name="Rectangle 3"/>
          <p:cNvSpPr>
            <a:spLocks noGrp="1" noChangeArrowheads="1"/>
          </p:cNvSpPr>
          <p:nvPr>
            <p:ph type="body" idx="1"/>
          </p:nvPr>
        </p:nvSpPr>
        <p:spPr>
          <a:xfrm>
            <a:off x="889000" y="1138238"/>
            <a:ext cx="7040563" cy="4530725"/>
          </a:xfrm>
        </p:spPr>
        <p:txBody>
          <a:bodyPr>
            <a:normAutofit/>
          </a:bodyPr>
          <a:lstStyle/>
          <a:p>
            <a:r>
              <a:rPr lang="en-US" altLang="en-US" dirty="0"/>
              <a:t>Provides a more uniform wait time than SCAN</a:t>
            </a:r>
          </a:p>
          <a:p>
            <a:r>
              <a:rPr lang="en-US" altLang="en-US" dirty="0"/>
              <a:t>Treats the cylinders as a </a:t>
            </a:r>
            <a:r>
              <a:rPr lang="en-US" altLang="en-US" b="1" dirty="0">
                <a:solidFill>
                  <a:srgbClr val="0070C0"/>
                </a:solidFill>
              </a:rPr>
              <a:t>circular list that wraps around from the last cylinder to the first one</a:t>
            </a:r>
          </a:p>
        </p:txBody>
      </p:sp>
      <p:sp>
        <p:nvSpPr>
          <p:cNvPr id="2" name="Date Placeholder 1"/>
          <p:cNvSpPr>
            <a:spLocks noGrp="1"/>
          </p:cNvSpPr>
          <p:nvPr>
            <p:ph type="dt" sz="half" idx="10"/>
          </p:nvPr>
        </p:nvSpPr>
        <p:spPr/>
        <p:txBody>
          <a:bodyPr/>
          <a:lstStyle/>
          <a:p>
            <a:fld id="{45E975E4-DB91-4872-B0D9-F4166692192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54</a:t>
            </a:fld>
            <a:endParaRPr lang="en-US"/>
          </a:p>
        </p:txBody>
      </p:sp>
    </p:spTree>
    <p:extLst>
      <p:ext uri="{BB962C8B-B14F-4D97-AF65-F5344CB8AC3E}">
        <p14:creationId xmlns:p14="http://schemas.microsoft.com/office/powerpoint/2010/main" val="39642377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182563"/>
            <a:ext cx="8229600" cy="576262"/>
          </a:xfrm>
        </p:spPr>
        <p:txBody>
          <a:bodyPr>
            <a:normAutofit fontScale="90000"/>
          </a:bodyPr>
          <a:lstStyle/>
          <a:p>
            <a:pPr eaLnBrk="1" hangingPunct="1"/>
            <a:r>
              <a:rPr lang="en-US" altLang="en-US"/>
              <a:t>C-SCAN (Cont.)</a:t>
            </a:r>
          </a:p>
        </p:txBody>
      </p:sp>
      <p:pic>
        <p:nvPicPr>
          <p:cNvPr id="27651" name="Picture 4"/>
          <p:cNvPicPr>
            <a:picLocks noChangeAspect="1" noChangeArrowheads="1"/>
          </p:cNvPicPr>
          <p:nvPr/>
        </p:nvPicPr>
        <p:blipFill>
          <a:blip r:embed="rId3">
            <a:extLst>
              <a:ext uri="{28A0092B-C50C-407E-A947-70E740481C1C}">
                <a14:useLocalDpi xmlns:a14="http://schemas.microsoft.com/office/drawing/2010/main" val="0"/>
              </a:ext>
            </a:extLst>
          </a:blip>
          <a:srcRect l="706" t="3731" r="925" b="3731"/>
          <a:stretch>
            <a:fillRect/>
          </a:stretch>
        </p:blipFill>
        <p:spPr bwMode="auto">
          <a:xfrm>
            <a:off x="1638300" y="1265238"/>
            <a:ext cx="5802313" cy="409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037FAC82-7C40-4AE6-A53C-08A2385557C3}"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55</a:t>
            </a:fld>
            <a:endParaRPr lang="en-US"/>
          </a:p>
        </p:txBody>
      </p:sp>
    </p:spTree>
    <p:extLst>
      <p:ext uri="{BB962C8B-B14F-4D97-AF65-F5344CB8AC3E}">
        <p14:creationId xmlns:p14="http://schemas.microsoft.com/office/powerpoint/2010/main" val="33444839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C-SCAN</a:t>
            </a:r>
          </a:p>
        </p:txBody>
      </p:sp>
      <p:sp>
        <p:nvSpPr>
          <p:cNvPr id="4" name="Content Placeholder 3"/>
          <p:cNvSpPr>
            <a:spLocks noGrp="1"/>
          </p:cNvSpPr>
          <p:nvPr>
            <p:ph idx="1"/>
          </p:nvPr>
        </p:nvSpPr>
        <p:spPr/>
        <p:txBody>
          <a:bodyPr>
            <a:normAutofit/>
          </a:bodyPr>
          <a:lstStyle/>
          <a:p>
            <a:pPr marL="0" indent="0" fontAlgn="base">
              <a:buNone/>
            </a:pPr>
            <a:r>
              <a:rPr lang="en-US" dirty="0"/>
              <a:t>Advantages:</a:t>
            </a:r>
          </a:p>
          <a:p>
            <a:pPr fontAlgn="base"/>
            <a:r>
              <a:rPr lang="en-US" dirty="0"/>
              <a:t>Provides more uniform wait time compared to SCAN</a:t>
            </a:r>
          </a:p>
          <a:p>
            <a:pPr marL="0" indent="0">
              <a:buNone/>
            </a:pPr>
            <a:br>
              <a:rPr lang="en-US" dirty="0"/>
            </a:br>
            <a:endParaRPr lang="en-US" dirty="0"/>
          </a:p>
        </p:txBody>
      </p:sp>
      <p:sp>
        <p:nvSpPr>
          <p:cNvPr id="2" name="Date Placeholder 1"/>
          <p:cNvSpPr>
            <a:spLocks noGrp="1"/>
          </p:cNvSpPr>
          <p:nvPr>
            <p:ph type="dt" sz="half" idx="10"/>
          </p:nvPr>
        </p:nvSpPr>
        <p:spPr/>
        <p:txBody>
          <a:bodyPr/>
          <a:lstStyle/>
          <a:p>
            <a:fld id="{803306CD-D0CD-431C-8AC5-7606BEA1B6E5}"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56</a:t>
            </a:fld>
            <a:endParaRPr lang="en-US"/>
          </a:p>
        </p:txBody>
      </p:sp>
    </p:spTree>
    <p:extLst>
      <p:ext uri="{BB962C8B-B14F-4D97-AF65-F5344CB8AC3E}">
        <p14:creationId xmlns:p14="http://schemas.microsoft.com/office/powerpoint/2010/main" val="160870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dirty="0"/>
              <a:t>SCAN , C-SCAN</a:t>
            </a:r>
          </a:p>
        </p:txBody>
      </p:sp>
      <p:sp>
        <p:nvSpPr>
          <p:cNvPr id="28675" name="Rectangle 3"/>
          <p:cNvSpPr>
            <a:spLocks noGrp="1" noChangeArrowheads="1"/>
          </p:cNvSpPr>
          <p:nvPr>
            <p:ph type="body" idx="1"/>
          </p:nvPr>
        </p:nvSpPr>
        <p:spPr>
          <a:xfrm>
            <a:off x="901700" y="1138238"/>
            <a:ext cx="6659563" cy="3257550"/>
          </a:xfrm>
        </p:spPr>
        <p:txBody>
          <a:bodyPr>
            <a:normAutofit/>
          </a:bodyPr>
          <a:lstStyle/>
          <a:p>
            <a:r>
              <a:rPr lang="en-US" sz="2800" dirty="0"/>
              <a:t>Both SCAN and C-SCAN move the disk arm across the </a:t>
            </a:r>
            <a:r>
              <a:rPr lang="en-US" sz="2800" b="1" dirty="0">
                <a:solidFill>
                  <a:srgbClr val="0070C0"/>
                </a:solidFill>
              </a:rPr>
              <a:t>full width of the disk</a:t>
            </a:r>
            <a:r>
              <a:rPr lang="en-US" sz="2800" dirty="0"/>
              <a:t>.</a:t>
            </a:r>
          </a:p>
          <a:p>
            <a:r>
              <a:rPr lang="en-US" sz="2800" dirty="0"/>
              <a:t>In practice </a:t>
            </a:r>
            <a:r>
              <a:rPr lang="en-US" sz="2800" b="1" dirty="0">
                <a:solidFill>
                  <a:srgbClr val="0070C0"/>
                </a:solidFill>
              </a:rPr>
              <a:t>neither algorithm is often implemented this way.</a:t>
            </a:r>
            <a:endParaRPr lang="en-US" altLang="en-US" sz="2800" b="1" dirty="0">
              <a:solidFill>
                <a:srgbClr val="0070C0"/>
              </a:solidFill>
            </a:endParaRPr>
          </a:p>
        </p:txBody>
      </p:sp>
      <p:sp>
        <p:nvSpPr>
          <p:cNvPr id="2" name="Date Placeholder 1"/>
          <p:cNvSpPr>
            <a:spLocks noGrp="1"/>
          </p:cNvSpPr>
          <p:nvPr>
            <p:ph type="dt" sz="half" idx="10"/>
          </p:nvPr>
        </p:nvSpPr>
        <p:spPr/>
        <p:txBody>
          <a:bodyPr/>
          <a:lstStyle/>
          <a:p>
            <a:fld id="{B3BFF909-844B-4FFF-8BB4-F9D553A19E0C}"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57</a:t>
            </a:fld>
            <a:endParaRPr lang="en-US"/>
          </a:p>
        </p:txBody>
      </p:sp>
    </p:spTree>
    <p:extLst>
      <p:ext uri="{BB962C8B-B14F-4D97-AF65-F5344CB8AC3E}">
        <p14:creationId xmlns:p14="http://schemas.microsoft.com/office/powerpoint/2010/main" val="40244508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dirty="0"/>
              <a:t>LOOK, C-LOOK</a:t>
            </a:r>
          </a:p>
        </p:txBody>
      </p:sp>
      <p:sp>
        <p:nvSpPr>
          <p:cNvPr id="28675" name="Rectangle 3"/>
          <p:cNvSpPr>
            <a:spLocks noGrp="1" noChangeArrowheads="1"/>
          </p:cNvSpPr>
          <p:nvPr>
            <p:ph type="body" idx="1"/>
          </p:nvPr>
        </p:nvSpPr>
        <p:spPr>
          <a:xfrm>
            <a:off x="901700" y="1138238"/>
            <a:ext cx="7251700" cy="4805362"/>
          </a:xfrm>
        </p:spPr>
        <p:txBody>
          <a:bodyPr>
            <a:normAutofit/>
          </a:bodyPr>
          <a:lstStyle/>
          <a:p>
            <a:r>
              <a:rPr lang="en-US" altLang="en-US" sz="2600" dirty="0"/>
              <a:t>LOOK a version of SCAN</a:t>
            </a:r>
          </a:p>
          <a:p>
            <a:r>
              <a:rPr lang="en-US" altLang="en-US" sz="2600" dirty="0"/>
              <a:t>C-LOOK a version of C-SCAN</a:t>
            </a:r>
          </a:p>
          <a:p>
            <a:r>
              <a:rPr lang="en-US" sz="2600" dirty="0"/>
              <a:t>They </a:t>
            </a:r>
            <a:r>
              <a:rPr lang="en-US" sz="2600" b="1" i="1" dirty="0">
                <a:solidFill>
                  <a:srgbClr val="0070C0"/>
                </a:solidFill>
              </a:rPr>
              <a:t>look </a:t>
            </a:r>
            <a:r>
              <a:rPr lang="en-US" sz="2600" b="1" dirty="0">
                <a:solidFill>
                  <a:srgbClr val="0070C0"/>
                </a:solidFill>
              </a:rPr>
              <a:t>for a request before continuing </a:t>
            </a:r>
            <a:r>
              <a:rPr lang="en-US" sz="2600" dirty="0"/>
              <a:t>to move in a given direction</a:t>
            </a:r>
            <a:endParaRPr lang="en-US" altLang="en-US" sz="2600" dirty="0"/>
          </a:p>
          <a:p>
            <a:r>
              <a:rPr lang="en-US" altLang="en-US" sz="2600" dirty="0"/>
              <a:t>Arm only goes </a:t>
            </a:r>
            <a:r>
              <a:rPr lang="en-US" altLang="en-US" sz="2600" b="1" dirty="0">
                <a:solidFill>
                  <a:srgbClr val="0070C0"/>
                </a:solidFill>
              </a:rPr>
              <a:t>as far as the last request in each direction</a:t>
            </a:r>
            <a:r>
              <a:rPr lang="en-US" altLang="en-US" sz="2600" dirty="0"/>
              <a:t>, then </a:t>
            </a:r>
            <a:r>
              <a:rPr lang="en-US" altLang="en-US" sz="2600" b="1" dirty="0">
                <a:solidFill>
                  <a:srgbClr val="0070C0"/>
                </a:solidFill>
              </a:rPr>
              <a:t>reverses direction immediately, instead of going all the way to the end of the disk </a:t>
            </a:r>
          </a:p>
        </p:txBody>
      </p:sp>
      <p:sp>
        <p:nvSpPr>
          <p:cNvPr id="2" name="Date Placeholder 1"/>
          <p:cNvSpPr>
            <a:spLocks noGrp="1"/>
          </p:cNvSpPr>
          <p:nvPr>
            <p:ph type="dt" sz="half" idx="10"/>
          </p:nvPr>
        </p:nvSpPr>
        <p:spPr/>
        <p:txBody>
          <a:bodyPr/>
          <a:lstStyle/>
          <a:p>
            <a:fld id="{0B7356D6-8D22-464A-8FA7-63B87A1AC5F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58</a:t>
            </a:fld>
            <a:endParaRPr lang="en-US"/>
          </a:p>
        </p:txBody>
      </p:sp>
    </p:spTree>
    <p:extLst>
      <p:ext uri="{BB962C8B-B14F-4D97-AF65-F5344CB8AC3E}">
        <p14:creationId xmlns:p14="http://schemas.microsoft.com/office/powerpoint/2010/main" val="41700019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629400"/>
          </a:xfrm>
        </p:spPr>
        <p:txBody>
          <a:bodyPr>
            <a:normAutofit/>
          </a:bodyPr>
          <a:lstStyle/>
          <a:p>
            <a:pPr marL="0" indent="0">
              <a:buNone/>
            </a:pPr>
            <a:r>
              <a:rPr lang="en-IN" sz="2400" dirty="0"/>
              <a:t>LOOK Algorithm</a:t>
            </a:r>
          </a:p>
          <a:p>
            <a:r>
              <a:rPr lang="en-IN" sz="2400" dirty="0"/>
              <a:t>Request sequence = {176, 79, 34, 60, 92, 11, 41, 114} </a:t>
            </a:r>
          </a:p>
          <a:p>
            <a:r>
              <a:rPr lang="en-IN" sz="2400" dirty="0"/>
              <a:t>Initial head position = 50 </a:t>
            </a:r>
          </a:p>
          <a:p>
            <a:r>
              <a:rPr lang="en-IN" sz="2400" dirty="0"/>
              <a:t>Direction = right (We are moving from left to right)</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Seek Sequence is 60 79 92 114 176 41 34 11</a:t>
            </a:r>
          </a:p>
          <a:p>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59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905000"/>
            <a:ext cx="8153400"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753244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629400"/>
          </a:xfrm>
        </p:spPr>
        <p:txBody>
          <a:bodyPr>
            <a:normAutofit fontScale="92500" lnSpcReduction="10000"/>
          </a:bodyPr>
          <a:lstStyle/>
          <a:p>
            <a:pPr marL="0" indent="0">
              <a:buNone/>
            </a:pPr>
            <a:r>
              <a:rPr lang="en-IN" sz="2400" dirty="0"/>
              <a:t>LOOK Algorithm</a:t>
            </a:r>
          </a:p>
          <a:p>
            <a:r>
              <a:rPr lang="en-IN" sz="2400" dirty="0"/>
              <a:t>Request sequence = {176, 79, 34, 60, 92, 11, 41, 114} </a:t>
            </a:r>
          </a:p>
          <a:p>
            <a:r>
              <a:rPr lang="en-IN" sz="2400" dirty="0"/>
              <a:t>Initial head position = 50 </a:t>
            </a:r>
          </a:p>
          <a:p>
            <a:r>
              <a:rPr lang="en-IN" sz="2400" dirty="0"/>
              <a:t>Direction = right (We are moving from left to right)</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Seek Sequence is 60 79 92 114 176 41 34 11</a:t>
            </a:r>
          </a:p>
          <a:p>
            <a:r>
              <a:rPr lang="en-IN" sz="2400" dirty="0"/>
              <a:t>Total seek count= (60-50)+(79-60)+(92-79)+(114-92)+(176-114)+(176-41)+(41-34)+(34-11)=291</a:t>
            </a:r>
          </a:p>
          <a:p>
            <a:r>
              <a:rPr lang="en-IN" sz="2400" dirty="0"/>
              <a:t>Total number of seek operations = 291 </a:t>
            </a:r>
          </a:p>
          <a:p>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60</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905000"/>
            <a:ext cx="7058025" cy="2657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9334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C-LOOK</a:t>
            </a:r>
          </a:p>
        </p:txBody>
      </p:sp>
      <p:sp>
        <p:nvSpPr>
          <p:cNvPr id="3" name="Content Placeholder 2"/>
          <p:cNvSpPr>
            <a:spLocks noGrp="1"/>
          </p:cNvSpPr>
          <p:nvPr>
            <p:ph idx="1"/>
          </p:nvPr>
        </p:nvSpPr>
        <p:spPr/>
        <p:txBody>
          <a:bodyPr/>
          <a:lstStyle/>
          <a:p>
            <a:r>
              <a:rPr lang="en-IN" dirty="0"/>
              <a:t>Circular Look</a:t>
            </a:r>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61</a:t>
            </a:fld>
            <a:endParaRPr lang="en-US"/>
          </a:p>
        </p:txBody>
      </p:sp>
    </p:spTree>
    <p:extLst>
      <p:ext uri="{BB962C8B-B14F-4D97-AF65-F5344CB8AC3E}">
        <p14:creationId xmlns:p14="http://schemas.microsoft.com/office/powerpoint/2010/main" val="227302002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798513" y="277813"/>
            <a:ext cx="7888287" cy="576262"/>
          </a:xfrm>
        </p:spPr>
        <p:txBody>
          <a:bodyPr>
            <a:normAutofit fontScale="90000"/>
          </a:bodyPr>
          <a:lstStyle/>
          <a:p>
            <a:pPr eaLnBrk="1" hangingPunct="1"/>
            <a:r>
              <a:rPr lang="en-US" altLang="en-US"/>
              <a:t>C-LOOK (Cont.)</a:t>
            </a:r>
          </a:p>
        </p:txBody>
      </p:sp>
      <p:pic>
        <p:nvPicPr>
          <p:cNvPr id="29699" name="Picture 4" descr="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838" y="1011238"/>
            <a:ext cx="7312025"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E72FEC5A-A080-4137-AF9F-20AEDD50AC1B}"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62</a:t>
            </a:fld>
            <a:endParaRPr lang="en-US"/>
          </a:p>
        </p:txBody>
      </p:sp>
    </p:spTree>
    <p:extLst>
      <p:ext uri="{BB962C8B-B14F-4D97-AF65-F5344CB8AC3E}">
        <p14:creationId xmlns:p14="http://schemas.microsoft.com/office/powerpoint/2010/main" val="16885178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2400"/>
            <a:ext cx="8229600" cy="6629400"/>
          </a:xfrm>
        </p:spPr>
        <p:txBody>
          <a:bodyPr>
            <a:normAutofit fontScale="92500" lnSpcReduction="10000"/>
          </a:bodyPr>
          <a:lstStyle/>
          <a:p>
            <a:pPr marL="0" indent="0">
              <a:buNone/>
            </a:pPr>
            <a:r>
              <a:rPr lang="en-IN" sz="2400" dirty="0"/>
              <a:t>C-LOOK Algorithm</a:t>
            </a:r>
          </a:p>
          <a:p>
            <a:pPr lvl="1"/>
            <a:r>
              <a:rPr lang="en-IN" sz="2000" dirty="0"/>
              <a:t>Request sequence = {176, 79, 34, 60, 92, 11, 41, 114} </a:t>
            </a:r>
          </a:p>
          <a:p>
            <a:r>
              <a:rPr lang="en-IN" sz="2400" dirty="0"/>
              <a:t>Initial head position = 50 </a:t>
            </a:r>
          </a:p>
          <a:p>
            <a:r>
              <a:rPr lang="en-IN" sz="2400" dirty="0"/>
              <a:t>Direction = right (We are moving from left to right)</a:t>
            </a:r>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endParaRPr lang="en-IN" sz="2400" dirty="0"/>
          </a:p>
          <a:p>
            <a:r>
              <a:rPr lang="en-IN" sz="2400" dirty="0"/>
              <a:t>Seek Sequence is 60 79 92 114 176 11 34 41 </a:t>
            </a:r>
          </a:p>
          <a:p>
            <a:r>
              <a:rPr lang="en-IN" sz="2400" dirty="0"/>
              <a:t>The total seek count = (60 – 50) + (79 – 60) + (92 – 79) + (114 – 92) + (176 – 114) + (176 – 11) + (34 – 11) + (41 – 34) = 321</a:t>
            </a:r>
          </a:p>
          <a:p>
            <a:r>
              <a:rPr lang="en-IN" sz="2400" dirty="0"/>
              <a:t>Total number of seek operations = 321</a:t>
            </a:r>
          </a:p>
          <a:p>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63</a:t>
            </a:fld>
            <a:endParaRPr lang="en-US"/>
          </a:p>
        </p:txBody>
      </p:sp>
      <p:pic>
        <p:nvPicPr>
          <p:cNvPr id="2050" name="Picture 2" descr="https://media.geeksforgeeks.org/wp-content/uploads/20190912194433/fcfs-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782" y="1676400"/>
            <a:ext cx="8513618" cy="31337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669649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195263"/>
            <a:ext cx="8229600" cy="576262"/>
          </a:xfrm>
        </p:spPr>
        <p:txBody>
          <a:bodyPr>
            <a:normAutofit fontScale="90000"/>
          </a:bodyPr>
          <a:lstStyle/>
          <a:p>
            <a:pPr eaLnBrk="1" hangingPunct="1"/>
            <a:r>
              <a:rPr lang="en-US" altLang="en-US" dirty="0"/>
              <a:t>LOOK,C-LOOK</a:t>
            </a:r>
          </a:p>
        </p:txBody>
      </p:sp>
      <p:sp>
        <p:nvSpPr>
          <p:cNvPr id="28675" name="Rectangle 3"/>
          <p:cNvSpPr>
            <a:spLocks noGrp="1" noChangeArrowheads="1"/>
          </p:cNvSpPr>
          <p:nvPr>
            <p:ph type="body" idx="1"/>
          </p:nvPr>
        </p:nvSpPr>
        <p:spPr>
          <a:xfrm>
            <a:off x="901700" y="1138238"/>
            <a:ext cx="7251700" cy="4805362"/>
          </a:xfrm>
        </p:spPr>
        <p:txBody>
          <a:bodyPr>
            <a:normAutofit/>
          </a:bodyPr>
          <a:lstStyle/>
          <a:p>
            <a:pPr marL="0" indent="0">
              <a:buNone/>
            </a:pPr>
            <a:r>
              <a:rPr lang="en-US" altLang="en-US" sz="2600" dirty="0"/>
              <a:t>LOOK-</a:t>
            </a:r>
          </a:p>
          <a:p>
            <a:r>
              <a:rPr lang="en-US" altLang="en-US" sz="2600" dirty="0"/>
              <a:t>Improves Mean Response time and Variance</a:t>
            </a:r>
          </a:p>
          <a:p>
            <a:endParaRPr lang="en-US" altLang="en-US" sz="2600" dirty="0"/>
          </a:p>
          <a:p>
            <a:pPr marL="0" indent="0">
              <a:buNone/>
            </a:pPr>
            <a:r>
              <a:rPr lang="en-US" altLang="en-US" sz="2600" dirty="0"/>
              <a:t>C-LOOK-</a:t>
            </a:r>
          </a:p>
          <a:p>
            <a:r>
              <a:rPr lang="en-US" altLang="en-US" sz="2600" dirty="0"/>
              <a:t>Very popular</a:t>
            </a:r>
          </a:p>
        </p:txBody>
      </p:sp>
      <p:sp>
        <p:nvSpPr>
          <p:cNvPr id="2" name="Date Placeholder 1"/>
          <p:cNvSpPr>
            <a:spLocks noGrp="1"/>
          </p:cNvSpPr>
          <p:nvPr>
            <p:ph type="dt" sz="half" idx="10"/>
          </p:nvPr>
        </p:nvSpPr>
        <p:spPr/>
        <p:txBody>
          <a:bodyPr/>
          <a:lstStyle/>
          <a:p>
            <a:fld id="{ACCE6460-82F3-403C-A830-5F256DB35DE9}"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64</a:t>
            </a:fld>
            <a:endParaRPr lang="en-US"/>
          </a:p>
        </p:txBody>
      </p:sp>
    </p:spTree>
    <p:extLst>
      <p:ext uri="{BB962C8B-B14F-4D97-AF65-F5344CB8AC3E}">
        <p14:creationId xmlns:p14="http://schemas.microsoft.com/office/powerpoint/2010/main" val="16712942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276350" y="150813"/>
            <a:ext cx="7712075" cy="576262"/>
          </a:xfrm>
        </p:spPr>
        <p:txBody>
          <a:bodyPr/>
          <a:lstStyle/>
          <a:p>
            <a:pPr eaLnBrk="1" hangingPunct="1"/>
            <a:r>
              <a:rPr lang="en-US" altLang="en-US" sz="3000"/>
              <a:t>Selecting a Disk-Scheduling Algorithm</a:t>
            </a:r>
          </a:p>
        </p:txBody>
      </p:sp>
      <p:sp>
        <p:nvSpPr>
          <p:cNvPr id="30723" name="Rectangle 3"/>
          <p:cNvSpPr>
            <a:spLocks noGrp="1" noChangeArrowheads="1"/>
          </p:cNvSpPr>
          <p:nvPr>
            <p:ph type="body" idx="1"/>
          </p:nvPr>
        </p:nvSpPr>
        <p:spPr>
          <a:xfrm>
            <a:off x="844550" y="1081088"/>
            <a:ext cx="7092950" cy="4530725"/>
          </a:xfrm>
        </p:spPr>
        <p:txBody>
          <a:bodyPr>
            <a:normAutofit/>
          </a:bodyPr>
          <a:lstStyle/>
          <a:p>
            <a:r>
              <a:rPr lang="en-US" altLang="en-US" sz="2400" dirty="0"/>
              <a:t>SSTF is common and has a </a:t>
            </a:r>
            <a:r>
              <a:rPr lang="en-US" altLang="en-US" sz="2400" b="1" dirty="0">
                <a:solidFill>
                  <a:srgbClr val="0070C0"/>
                </a:solidFill>
              </a:rPr>
              <a:t>natural appeal</a:t>
            </a:r>
          </a:p>
          <a:p>
            <a:r>
              <a:rPr lang="en-US" altLang="en-US" sz="2400" dirty="0"/>
              <a:t>SCAN and C-SCAN perform better for systems that place a </a:t>
            </a:r>
            <a:r>
              <a:rPr lang="en-US" altLang="en-US" sz="2400" b="1" dirty="0">
                <a:solidFill>
                  <a:srgbClr val="0070C0"/>
                </a:solidFill>
              </a:rPr>
              <a:t>heavy load on the disk</a:t>
            </a:r>
          </a:p>
          <a:p>
            <a:pPr lvl="1"/>
            <a:r>
              <a:rPr lang="en-US" altLang="en-US" sz="2400" b="1" dirty="0">
                <a:solidFill>
                  <a:srgbClr val="0070C0"/>
                </a:solidFill>
              </a:rPr>
              <a:t>Less starvation</a:t>
            </a:r>
          </a:p>
          <a:p>
            <a:r>
              <a:rPr lang="en-US" altLang="en-US" sz="2400" dirty="0"/>
              <a:t>Performance depends on the number and types of requests</a:t>
            </a:r>
          </a:p>
          <a:p>
            <a:r>
              <a:rPr lang="en-US" altLang="en-US" sz="2400" dirty="0"/>
              <a:t>Requests for disk service can be </a:t>
            </a:r>
            <a:r>
              <a:rPr lang="en-US" altLang="en-US" sz="2400" b="1" dirty="0">
                <a:solidFill>
                  <a:srgbClr val="0070C0"/>
                </a:solidFill>
              </a:rPr>
              <a:t>influenced by the file-allocation method</a:t>
            </a:r>
          </a:p>
          <a:p>
            <a:pPr lvl="1"/>
            <a:r>
              <a:rPr lang="en-US" altLang="en-US" sz="2400" b="1" dirty="0">
                <a:solidFill>
                  <a:srgbClr val="0070C0"/>
                </a:solidFill>
              </a:rPr>
              <a:t>And metadata layout</a:t>
            </a:r>
          </a:p>
        </p:txBody>
      </p:sp>
      <p:sp>
        <p:nvSpPr>
          <p:cNvPr id="2" name="Date Placeholder 1"/>
          <p:cNvSpPr>
            <a:spLocks noGrp="1"/>
          </p:cNvSpPr>
          <p:nvPr>
            <p:ph type="dt" sz="half" idx="10"/>
          </p:nvPr>
        </p:nvSpPr>
        <p:spPr/>
        <p:txBody>
          <a:bodyPr/>
          <a:lstStyle/>
          <a:p>
            <a:fld id="{CC65AEA1-37AE-403F-855F-BBE36D3A404D}"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65</a:t>
            </a:fld>
            <a:endParaRPr lang="en-US"/>
          </a:p>
        </p:txBody>
      </p:sp>
    </p:spTree>
    <p:extLst>
      <p:ext uri="{BB962C8B-B14F-4D97-AF65-F5344CB8AC3E}">
        <p14:creationId xmlns:p14="http://schemas.microsoft.com/office/powerpoint/2010/main" val="36878050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276350" y="150813"/>
            <a:ext cx="7712075" cy="576262"/>
          </a:xfrm>
        </p:spPr>
        <p:txBody>
          <a:bodyPr/>
          <a:lstStyle/>
          <a:p>
            <a:pPr eaLnBrk="1" hangingPunct="1"/>
            <a:r>
              <a:rPr lang="en-US" altLang="en-US" sz="3000"/>
              <a:t>Selecting a Disk-Scheduling Algorithm</a:t>
            </a:r>
          </a:p>
        </p:txBody>
      </p:sp>
      <p:sp>
        <p:nvSpPr>
          <p:cNvPr id="30723" name="Rectangle 3"/>
          <p:cNvSpPr>
            <a:spLocks noGrp="1" noChangeArrowheads="1"/>
          </p:cNvSpPr>
          <p:nvPr>
            <p:ph type="body" idx="1"/>
          </p:nvPr>
        </p:nvSpPr>
        <p:spPr>
          <a:xfrm>
            <a:off x="844550" y="1081088"/>
            <a:ext cx="7092950" cy="4530725"/>
          </a:xfrm>
        </p:spPr>
        <p:txBody>
          <a:bodyPr>
            <a:normAutofit/>
          </a:bodyPr>
          <a:lstStyle/>
          <a:p>
            <a:r>
              <a:rPr lang="en-US" altLang="en-US" sz="2400" dirty="0">
                <a:highlight>
                  <a:srgbClr val="FFFF00"/>
                </a:highlight>
              </a:rPr>
              <a:t>The disk-scheduling algorithm should be written as a </a:t>
            </a:r>
            <a:r>
              <a:rPr lang="en-US" altLang="en-US" sz="2400" b="1" dirty="0">
                <a:highlight>
                  <a:srgbClr val="FFFF00"/>
                </a:highlight>
              </a:rPr>
              <a:t>separate module </a:t>
            </a:r>
            <a:r>
              <a:rPr lang="en-US" altLang="en-US" sz="2400" dirty="0">
                <a:highlight>
                  <a:srgbClr val="FFFF00"/>
                </a:highlight>
              </a:rPr>
              <a:t>of the operating system, </a:t>
            </a:r>
            <a:r>
              <a:rPr lang="en-US" altLang="en-US" sz="2400" b="1" dirty="0">
                <a:solidFill>
                  <a:srgbClr val="0070C0"/>
                </a:solidFill>
                <a:highlight>
                  <a:srgbClr val="FFFF00"/>
                </a:highlight>
              </a:rPr>
              <a:t>allowing it to be replaced with a different algorithm if necessary</a:t>
            </a:r>
          </a:p>
          <a:p>
            <a:r>
              <a:rPr lang="en-US" altLang="en-US" sz="2400" b="1" dirty="0">
                <a:solidFill>
                  <a:srgbClr val="0070C0"/>
                </a:solidFill>
                <a:highlight>
                  <a:srgbClr val="FFFF00"/>
                </a:highlight>
              </a:rPr>
              <a:t>Either SSTF or LOOK is a reasonable choice for the default algorithm</a:t>
            </a:r>
          </a:p>
          <a:p>
            <a:r>
              <a:rPr lang="en-US" altLang="en-US" sz="2400" dirty="0">
                <a:highlight>
                  <a:srgbClr val="FFFF00"/>
                </a:highlight>
              </a:rPr>
              <a:t>What about rotational latency?</a:t>
            </a:r>
          </a:p>
          <a:p>
            <a:pPr lvl="1"/>
            <a:r>
              <a:rPr lang="en-US" altLang="en-US" sz="2400" dirty="0">
                <a:highlight>
                  <a:srgbClr val="FFFF00"/>
                </a:highlight>
              </a:rPr>
              <a:t>Difficult for OS to calculate</a:t>
            </a:r>
          </a:p>
          <a:p>
            <a:r>
              <a:rPr lang="en-US" altLang="en-US" sz="2400" dirty="0">
                <a:highlight>
                  <a:srgbClr val="FFFF00"/>
                </a:highlight>
              </a:rPr>
              <a:t>How does disk-based queueing effect OS queue ordering efforts?</a:t>
            </a:r>
          </a:p>
        </p:txBody>
      </p:sp>
      <p:sp>
        <p:nvSpPr>
          <p:cNvPr id="2" name="Date Placeholder 1"/>
          <p:cNvSpPr>
            <a:spLocks noGrp="1"/>
          </p:cNvSpPr>
          <p:nvPr>
            <p:ph type="dt" sz="half" idx="10"/>
          </p:nvPr>
        </p:nvSpPr>
        <p:spPr/>
        <p:txBody>
          <a:bodyPr/>
          <a:lstStyle/>
          <a:p>
            <a:fld id="{B9A815EE-B0C4-4E06-B252-EBEF51197334}"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66</a:t>
            </a:fld>
            <a:endParaRPr lang="en-US"/>
          </a:p>
        </p:txBody>
      </p:sp>
    </p:spTree>
    <p:extLst>
      <p:ext uri="{BB962C8B-B14F-4D97-AF65-F5344CB8AC3E}">
        <p14:creationId xmlns:p14="http://schemas.microsoft.com/office/powerpoint/2010/main" val="9611081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533400"/>
            <a:ext cx="8229600" cy="5592763"/>
          </a:xfrm>
        </p:spPr>
        <p:txBody>
          <a:bodyPr>
            <a:normAutofit/>
          </a:bodyPr>
          <a:lstStyle/>
          <a:p>
            <a:pPr marL="0" indent="0" fontAlgn="base">
              <a:buNone/>
            </a:pPr>
            <a:r>
              <a:rPr lang="en-US" sz="2400" b="1" dirty="0">
                <a:effectLst/>
              </a:rPr>
              <a:t>ISRO | ISRO CS 2018 | Question 68</a:t>
            </a:r>
          </a:p>
          <a:p>
            <a:pPr marL="0" indent="0" fontAlgn="base">
              <a:buNone/>
            </a:pPr>
            <a:r>
              <a:rPr lang="en-US" sz="2400" dirty="0"/>
              <a:t>Disk requests come to a disk driver for cylinders in the order 10, 22, 20, 2, 40, 6, and 38 at a time when the disk drive is reading from cylinder 20. The seek time is 6 </a:t>
            </a:r>
            <a:r>
              <a:rPr lang="en-US" sz="2400" dirty="0" err="1"/>
              <a:t>ms</a:t>
            </a:r>
            <a:r>
              <a:rPr lang="en-US" sz="2400" dirty="0"/>
              <a:t>/cylinder. The total seek time, if the disk arm scheduling algorithms is first-come-first-served is</a:t>
            </a:r>
            <a:br>
              <a:rPr lang="en-US" sz="2400" dirty="0"/>
            </a:br>
            <a:r>
              <a:rPr lang="en-US" sz="2400" b="1" dirty="0"/>
              <a:t>(A)</a:t>
            </a:r>
            <a:r>
              <a:rPr lang="en-US" sz="2400" dirty="0"/>
              <a:t> 360 </a:t>
            </a:r>
            <a:r>
              <a:rPr lang="en-US" sz="2400" dirty="0" err="1"/>
              <a:t>ms</a:t>
            </a:r>
            <a:br>
              <a:rPr lang="en-US" sz="2400" dirty="0"/>
            </a:br>
            <a:r>
              <a:rPr lang="en-US" sz="2400" b="1" dirty="0"/>
              <a:t>(B)</a:t>
            </a:r>
            <a:r>
              <a:rPr lang="en-US" sz="2400" dirty="0"/>
              <a:t> 850 </a:t>
            </a:r>
            <a:r>
              <a:rPr lang="en-US" sz="2400" dirty="0" err="1"/>
              <a:t>ms</a:t>
            </a:r>
            <a:br>
              <a:rPr lang="en-US" sz="2400" dirty="0"/>
            </a:br>
            <a:r>
              <a:rPr lang="en-US" sz="2400" b="1" dirty="0"/>
              <a:t>(C)</a:t>
            </a:r>
            <a:r>
              <a:rPr lang="en-US" sz="2400" dirty="0"/>
              <a:t> 900 </a:t>
            </a:r>
            <a:r>
              <a:rPr lang="en-US" sz="2400" dirty="0" err="1"/>
              <a:t>ms</a:t>
            </a:r>
            <a:br>
              <a:rPr lang="en-US" sz="2400" dirty="0"/>
            </a:br>
            <a:r>
              <a:rPr lang="en-US" sz="2400" b="1" dirty="0"/>
              <a:t>(D)</a:t>
            </a:r>
            <a:r>
              <a:rPr lang="en-US" sz="2400" dirty="0"/>
              <a:t> None of the above</a:t>
            </a:r>
            <a:br>
              <a:rPr lang="en-US" sz="2400" dirty="0"/>
            </a:br>
            <a:br>
              <a:rPr lang="en-US" sz="2400" dirty="0"/>
            </a:br>
            <a:br>
              <a:rPr lang="en-US" dirty="0"/>
            </a:br>
            <a:endParaRPr lang="en-US" dirty="0"/>
          </a:p>
        </p:txBody>
      </p:sp>
      <p:sp>
        <p:nvSpPr>
          <p:cNvPr id="5" name="Date Placeholder 4"/>
          <p:cNvSpPr>
            <a:spLocks noGrp="1"/>
          </p:cNvSpPr>
          <p:nvPr>
            <p:ph type="dt" sz="half" idx="10"/>
          </p:nvPr>
        </p:nvSpPr>
        <p:spPr/>
        <p:txBody>
          <a:bodyPr/>
          <a:lstStyle/>
          <a:p>
            <a:fld id="{7713B92B-BB04-4152-8061-991139BAD6AF}" type="datetime1">
              <a:rPr lang="en-US" smtClean="0"/>
              <a:t>5/7/2025</a:t>
            </a:fld>
            <a:endParaRPr lang="en-US"/>
          </a:p>
        </p:txBody>
      </p:sp>
      <p:sp>
        <p:nvSpPr>
          <p:cNvPr id="6" name="Footer Placeholder 5"/>
          <p:cNvSpPr>
            <a:spLocks noGrp="1"/>
          </p:cNvSpPr>
          <p:nvPr>
            <p:ph type="ftr" sz="quarter" idx="11"/>
          </p:nvPr>
        </p:nvSpPr>
        <p:spPr/>
        <p:txBody>
          <a:bodyPr/>
          <a:lstStyle/>
          <a:p>
            <a:r>
              <a:rPr lang="en-US"/>
              <a:t>Prof. Shweta Dhawan Chachra</a:t>
            </a:r>
          </a:p>
        </p:txBody>
      </p:sp>
      <p:sp>
        <p:nvSpPr>
          <p:cNvPr id="7" name="Slide Number Placeholder 6"/>
          <p:cNvSpPr>
            <a:spLocks noGrp="1"/>
          </p:cNvSpPr>
          <p:nvPr>
            <p:ph type="sldNum" sz="quarter" idx="12"/>
          </p:nvPr>
        </p:nvSpPr>
        <p:spPr/>
        <p:txBody>
          <a:bodyPr/>
          <a:lstStyle/>
          <a:p>
            <a:fld id="{8C271256-C92D-4BD6-BFB2-640936D6A0E9}" type="slidenum">
              <a:rPr lang="en-US" smtClean="0"/>
              <a:t>67</a:t>
            </a:fld>
            <a:endParaRPr lang="en-US"/>
          </a:p>
        </p:txBody>
      </p:sp>
    </p:spTree>
    <p:extLst>
      <p:ext uri="{BB962C8B-B14F-4D97-AF65-F5344CB8AC3E}">
        <p14:creationId xmlns:p14="http://schemas.microsoft.com/office/powerpoint/2010/main" val="5514189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457200" y="533400"/>
            <a:ext cx="8229600" cy="5592763"/>
          </a:xfrm>
        </p:spPr>
        <p:txBody>
          <a:bodyPr>
            <a:normAutofit fontScale="70000" lnSpcReduction="20000"/>
          </a:bodyPr>
          <a:lstStyle/>
          <a:p>
            <a:pPr marL="0" indent="0" fontAlgn="base">
              <a:buNone/>
            </a:pPr>
            <a:r>
              <a:rPr lang="en-US" b="1" dirty="0">
                <a:effectLst/>
              </a:rPr>
              <a:t>ISRO | ISRO CS 2018 | Question 68</a:t>
            </a:r>
          </a:p>
          <a:p>
            <a:pPr marL="0" indent="0" fontAlgn="base">
              <a:buNone/>
            </a:pPr>
            <a:r>
              <a:rPr lang="en-US" dirty="0"/>
              <a:t>Disk requests come to a disk driver for cylinders in the order 10, 22, 20, 2, 40, 6, and 38 at a time when the disk drive is reading from cylinder 20. The seek time is 6 </a:t>
            </a:r>
            <a:r>
              <a:rPr lang="en-US" dirty="0" err="1"/>
              <a:t>ms</a:t>
            </a:r>
            <a:r>
              <a:rPr lang="en-US" dirty="0"/>
              <a:t>/cylinder. The total seek time, if the disk arm scheduling algorithms is first-come-first-served is</a:t>
            </a:r>
            <a:br>
              <a:rPr lang="en-US" dirty="0"/>
            </a:br>
            <a:r>
              <a:rPr lang="en-US" b="1" dirty="0"/>
              <a:t>(A)</a:t>
            </a:r>
            <a:r>
              <a:rPr lang="en-US" dirty="0"/>
              <a:t> 360 </a:t>
            </a:r>
            <a:r>
              <a:rPr lang="en-US" dirty="0" err="1"/>
              <a:t>ms</a:t>
            </a:r>
            <a:br>
              <a:rPr lang="en-US" dirty="0"/>
            </a:br>
            <a:r>
              <a:rPr lang="en-US" b="1" dirty="0"/>
              <a:t>(B)</a:t>
            </a:r>
            <a:r>
              <a:rPr lang="en-US" dirty="0"/>
              <a:t> 850 </a:t>
            </a:r>
            <a:r>
              <a:rPr lang="en-US" dirty="0" err="1"/>
              <a:t>ms</a:t>
            </a:r>
            <a:br>
              <a:rPr lang="en-US" dirty="0"/>
            </a:br>
            <a:r>
              <a:rPr lang="en-US" b="1" dirty="0"/>
              <a:t>(C)</a:t>
            </a:r>
            <a:r>
              <a:rPr lang="en-US" dirty="0"/>
              <a:t> 900 </a:t>
            </a:r>
            <a:r>
              <a:rPr lang="en-US" dirty="0" err="1"/>
              <a:t>ms</a:t>
            </a:r>
            <a:br>
              <a:rPr lang="en-US" dirty="0"/>
            </a:br>
            <a:r>
              <a:rPr lang="en-US" b="1" dirty="0"/>
              <a:t>(D)</a:t>
            </a:r>
            <a:r>
              <a:rPr lang="en-US" dirty="0"/>
              <a:t> None of the above</a:t>
            </a:r>
            <a:br>
              <a:rPr lang="en-US" dirty="0"/>
            </a:br>
            <a:br>
              <a:rPr lang="en-US" dirty="0"/>
            </a:br>
            <a:br>
              <a:rPr lang="en-US" dirty="0"/>
            </a:br>
            <a:r>
              <a:rPr lang="en-US" b="1" dirty="0"/>
              <a:t>Answer:</a:t>
            </a:r>
            <a:r>
              <a:rPr lang="en-US" dirty="0"/>
              <a:t> </a:t>
            </a:r>
            <a:r>
              <a:rPr lang="en-US" b="1" dirty="0"/>
              <a:t>(D)</a:t>
            </a:r>
            <a:br>
              <a:rPr lang="en-US" dirty="0"/>
            </a:br>
            <a:br>
              <a:rPr lang="en-US" dirty="0"/>
            </a:br>
            <a:r>
              <a:rPr lang="en-US" b="1" dirty="0"/>
              <a:t>Explanation:</a:t>
            </a:r>
            <a:r>
              <a:rPr lang="en-US" dirty="0"/>
              <a:t> FCFS</a:t>
            </a:r>
            <a:br>
              <a:rPr lang="en-US" dirty="0"/>
            </a:br>
            <a:r>
              <a:rPr lang="en-US" dirty="0"/>
              <a:t>Total seek time in FCFS Scheduling when the disk drive is reading from cylinder 20 for cylinders in the order 10, 22, 20, 2, 40, 6, and 38 :</a:t>
            </a:r>
          </a:p>
          <a:p>
            <a:pPr marL="0" indent="0" fontAlgn="base">
              <a:buNone/>
            </a:pPr>
            <a:r>
              <a:rPr lang="en-US" dirty="0"/>
              <a:t>= (10 + 12 + 2 + 18 + 38 + 34 + 32)*6 = 146*6 = 876 </a:t>
            </a:r>
            <a:r>
              <a:rPr lang="en-US" dirty="0" err="1"/>
              <a:t>ms</a:t>
            </a:r>
            <a:endParaRPr lang="en-US" dirty="0"/>
          </a:p>
          <a:p>
            <a:pPr marL="0" indent="0" fontAlgn="base">
              <a:buNone/>
            </a:pPr>
            <a:r>
              <a:rPr lang="en-US" dirty="0"/>
              <a:t>As no other option matches the answer, option (D) is correct.</a:t>
            </a:r>
            <a:br>
              <a:rPr lang="en-US" dirty="0"/>
            </a:br>
            <a:endParaRPr lang="en-US" dirty="0"/>
          </a:p>
          <a:p>
            <a:pPr marL="0" indent="0">
              <a:buNone/>
            </a:pPr>
            <a:endParaRPr lang="en-US" dirty="0"/>
          </a:p>
        </p:txBody>
      </p:sp>
      <p:sp>
        <p:nvSpPr>
          <p:cNvPr id="2" name="Date Placeholder 1"/>
          <p:cNvSpPr>
            <a:spLocks noGrp="1"/>
          </p:cNvSpPr>
          <p:nvPr>
            <p:ph type="dt" sz="half" idx="10"/>
          </p:nvPr>
        </p:nvSpPr>
        <p:spPr/>
        <p:txBody>
          <a:bodyPr/>
          <a:lstStyle/>
          <a:p>
            <a:fld id="{22D6DFBD-A87C-4203-A031-214FD689E843}"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5" name="Slide Number Placeholder 4"/>
          <p:cNvSpPr>
            <a:spLocks noGrp="1"/>
          </p:cNvSpPr>
          <p:nvPr>
            <p:ph type="sldNum" sz="quarter" idx="12"/>
          </p:nvPr>
        </p:nvSpPr>
        <p:spPr/>
        <p:txBody>
          <a:bodyPr/>
          <a:lstStyle/>
          <a:p>
            <a:fld id="{8C271256-C92D-4BD6-BFB2-640936D6A0E9}" type="slidenum">
              <a:rPr lang="en-US" smtClean="0"/>
              <a:t>68</a:t>
            </a:fld>
            <a:endParaRPr lang="en-US"/>
          </a:p>
        </p:txBody>
      </p:sp>
    </p:spTree>
    <p:extLst>
      <p:ext uri="{BB962C8B-B14F-4D97-AF65-F5344CB8AC3E}">
        <p14:creationId xmlns:p14="http://schemas.microsoft.com/office/powerpoint/2010/main" val="31955234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pPr marL="0" indent="0">
              <a:buNone/>
            </a:pPr>
            <a:r>
              <a:rPr lang="en-IN" sz="2400" b="1" dirty="0"/>
              <a:t>GATE | GATE-CS-2014-(Set-1) | Question 65</a:t>
            </a:r>
          </a:p>
          <a:p>
            <a:pPr marL="0" indent="0">
              <a:buNone/>
            </a:pPr>
            <a:r>
              <a:rPr lang="en-IN" sz="2400" dirty="0"/>
              <a:t>Suppose a disk has 201 cylinders, numbered from 0 to 200. At some time the disk arm is at cylinder 100, and there is a queue of disk access requests for cylinders 30, 85, 90, 100, 105, 110, 135 and 145. If Shortest-Seek Time First (SSTF) is being used for scheduling the disk access, the request for cylinder 90 is serviced after servicing ____________ number of requests.</a:t>
            </a:r>
            <a:br>
              <a:rPr lang="en-IN" sz="2400" dirty="0"/>
            </a:br>
            <a:r>
              <a:rPr lang="en-IN" sz="2400" b="1" dirty="0"/>
              <a:t>(A)</a:t>
            </a:r>
            <a:r>
              <a:rPr lang="en-IN" sz="2400" dirty="0"/>
              <a:t> 1</a:t>
            </a:r>
            <a:br>
              <a:rPr lang="en-IN" sz="2400" dirty="0"/>
            </a:br>
            <a:r>
              <a:rPr lang="en-IN" sz="2400" b="1" dirty="0"/>
              <a:t>(B)</a:t>
            </a:r>
            <a:r>
              <a:rPr lang="en-IN" sz="2400" dirty="0"/>
              <a:t> 2</a:t>
            </a:r>
            <a:br>
              <a:rPr lang="en-IN" sz="2400" dirty="0"/>
            </a:br>
            <a:r>
              <a:rPr lang="en-IN" sz="2400" b="1" dirty="0"/>
              <a:t>(C)</a:t>
            </a:r>
            <a:r>
              <a:rPr lang="en-IN" sz="2400" dirty="0"/>
              <a:t> 3</a:t>
            </a:r>
            <a:br>
              <a:rPr lang="en-IN" sz="2400" dirty="0"/>
            </a:br>
            <a:r>
              <a:rPr lang="en-IN" sz="2400" b="1" dirty="0"/>
              <a:t>(D)</a:t>
            </a:r>
            <a:r>
              <a:rPr lang="en-IN" sz="2400" dirty="0"/>
              <a:t> 4</a:t>
            </a:r>
            <a:br>
              <a:rPr lang="en-IN" sz="2400" dirty="0"/>
            </a:br>
            <a:br>
              <a:rPr lang="en-IN" sz="2400" dirty="0"/>
            </a:br>
            <a:br>
              <a:rPr lang="en-IN" sz="2400" dirty="0"/>
            </a:br>
            <a:endParaRPr lang="en-IN" sz="1000" dirty="0"/>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69</a:t>
            </a:fld>
            <a:endParaRPr lang="en-US"/>
          </a:p>
        </p:txBody>
      </p:sp>
    </p:spTree>
    <p:extLst>
      <p:ext uri="{BB962C8B-B14F-4D97-AF65-F5344CB8AC3E}">
        <p14:creationId xmlns:p14="http://schemas.microsoft.com/office/powerpoint/2010/main" val="411419793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5897563"/>
          </a:xfrm>
        </p:spPr>
        <p:txBody>
          <a:bodyPr>
            <a:noAutofit/>
          </a:bodyPr>
          <a:lstStyle/>
          <a:p>
            <a:pPr marL="0" indent="0">
              <a:buNone/>
            </a:pPr>
            <a:r>
              <a:rPr lang="en-IN" sz="2000" b="1" dirty="0"/>
              <a:t>GATE | GATE-CS-2014-(Set-1) | Question 65</a:t>
            </a:r>
          </a:p>
          <a:p>
            <a:pPr marL="0" indent="0">
              <a:buNone/>
            </a:pPr>
            <a:r>
              <a:rPr lang="en-IN" sz="2000" dirty="0"/>
              <a:t>Suppose a disk has 201 cylinders, numbered from 0 to 200. At some time the disk arm is at cylinder 100, and there is a queue of disk access requests for cylinders 30, 85, 90, 100, 105, 110, 135 and 145. If Shortest-Seek Time First (SSTF) is being used for scheduling the disk access, the request for cylinder 90 is serviced after servicing ____________ number of requests.</a:t>
            </a:r>
            <a:br>
              <a:rPr lang="en-IN" sz="2000" dirty="0"/>
            </a:br>
            <a:r>
              <a:rPr lang="en-IN" sz="2000" b="1" dirty="0"/>
              <a:t>(A)</a:t>
            </a:r>
            <a:r>
              <a:rPr lang="en-IN" sz="2000" dirty="0"/>
              <a:t> 1</a:t>
            </a:r>
            <a:br>
              <a:rPr lang="en-IN" sz="2000" dirty="0"/>
            </a:br>
            <a:r>
              <a:rPr lang="en-IN" sz="2000" b="1" dirty="0"/>
              <a:t>(B)</a:t>
            </a:r>
            <a:r>
              <a:rPr lang="en-IN" sz="2000" dirty="0"/>
              <a:t> 2</a:t>
            </a:r>
            <a:br>
              <a:rPr lang="en-IN" sz="2000" dirty="0"/>
            </a:br>
            <a:r>
              <a:rPr lang="en-IN" sz="2000" b="1" dirty="0"/>
              <a:t>(C)</a:t>
            </a:r>
            <a:r>
              <a:rPr lang="en-IN" sz="2000" dirty="0"/>
              <a:t> 3</a:t>
            </a:r>
            <a:br>
              <a:rPr lang="en-IN" sz="2000" dirty="0"/>
            </a:br>
            <a:r>
              <a:rPr lang="en-IN" sz="2000" b="1" dirty="0"/>
              <a:t>(D)</a:t>
            </a:r>
            <a:r>
              <a:rPr lang="en-IN" sz="2000" dirty="0"/>
              <a:t> 4</a:t>
            </a:r>
            <a:br>
              <a:rPr lang="en-IN" sz="2000" dirty="0"/>
            </a:br>
            <a:br>
              <a:rPr lang="en-IN" sz="2000" dirty="0"/>
            </a:br>
            <a:br>
              <a:rPr lang="en-IN" sz="2000" dirty="0"/>
            </a:br>
            <a:r>
              <a:rPr lang="en-IN" sz="2000" b="1" dirty="0"/>
              <a:t>Answer:</a:t>
            </a:r>
            <a:r>
              <a:rPr lang="en-IN" sz="2000" dirty="0"/>
              <a:t> </a:t>
            </a:r>
            <a:r>
              <a:rPr lang="en-IN" sz="2000" b="1" dirty="0"/>
              <a:t>(C)</a:t>
            </a:r>
            <a:br>
              <a:rPr lang="en-IN" sz="2000" dirty="0"/>
            </a:br>
            <a:r>
              <a:rPr lang="en-IN" sz="2000" b="1" dirty="0"/>
              <a:t>Explanation:</a:t>
            </a:r>
            <a:r>
              <a:rPr lang="en-IN" sz="2000" dirty="0"/>
              <a:t> The disk will service that request first whose cylinder number is closest to its arm. Hence 1st serviced request is for cylinder no 100 ( as the arm is itself pointing to it ), then 105, then 110, and then the arm comes to service request for cylinder 90. Hence before servicing request for cylinder 90, the disk would had serviced 3 requests.</a:t>
            </a:r>
          </a:p>
          <a:p>
            <a:pPr marL="0" indent="0">
              <a:buNone/>
            </a:pPr>
            <a:r>
              <a:rPr lang="en-IN" sz="2000" dirty="0"/>
              <a:t>Hence option C.</a:t>
            </a:r>
            <a:br>
              <a:rPr lang="en-IN" sz="2000" dirty="0"/>
            </a:br>
            <a:endParaRPr lang="en-IN" sz="2000" dirty="0"/>
          </a:p>
          <a:p>
            <a:endParaRPr lang="en-IN" sz="900" dirty="0"/>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70</a:t>
            </a:fld>
            <a:endParaRPr lang="en-US"/>
          </a:p>
        </p:txBody>
      </p:sp>
    </p:spTree>
    <p:extLst>
      <p:ext uri="{BB962C8B-B14F-4D97-AF65-F5344CB8AC3E}">
        <p14:creationId xmlns:p14="http://schemas.microsoft.com/office/powerpoint/2010/main" val="134824017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buNone/>
            </a:pPr>
            <a:r>
              <a:rPr lang="en-US" sz="2400" b="1" dirty="0"/>
              <a:t>For I/O Operations</a:t>
            </a:r>
          </a:p>
          <a:p>
            <a:r>
              <a:rPr lang="en-US" sz="2400" b="1" dirty="0"/>
              <a:t>Unit of transfer: </a:t>
            </a:r>
          </a:p>
          <a:p>
            <a:r>
              <a:rPr lang="en-US" sz="2400" dirty="0"/>
              <a:t>Data may be transferred as a stream of bytes or characters(e.g., terminal I/O) or </a:t>
            </a:r>
            <a:r>
              <a:rPr lang="en-US" sz="2400" dirty="0">
                <a:solidFill>
                  <a:srgbClr val="0070C0"/>
                </a:solidFill>
              </a:rPr>
              <a:t>in larger blocks (e.g., disk I/O).</a:t>
            </a:r>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71</a:t>
            </a:fld>
            <a:endParaRPr lang="en-US"/>
          </a:p>
        </p:txBody>
      </p:sp>
    </p:spTree>
    <p:extLst>
      <p:ext uri="{BB962C8B-B14F-4D97-AF65-F5344CB8AC3E}">
        <p14:creationId xmlns:p14="http://schemas.microsoft.com/office/powerpoint/2010/main" val="31937557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r>
              <a:rPr lang="en-US" sz="2400" dirty="0"/>
              <a:t>The operating system is responsible for several other aspects of disk management like</a:t>
            </a:r>
          </a:p>
          <a:p>
            <a:pPr lvl="1"/>
            <a:r>
              <a:rPr lang="en-US" sz="2400" dirty="0"/>
              <a:t>disk initialization</a:t>
            </a:r>
          </a:p>
          <a:p>
            <a:pPr lvl="1"/>
            <a:r>
              <a:rPr lang="en-US" sz="2400" dirty="0"/>
              <a:t>disk formatting</a:t>
            </a:r>
          </a:p>
          <a:p>
            <a:pPr lvl="1"/>
            <a:r>
              <a:rPr lang="en-US" sz="2400" dirty="0"/>
              <a:t>booting from disk, and </a:t>
            </a:r>
          </a:p>
          <a:p>
            <a:pPr lvl="1"/>
            <a:r>
              <a:rPr lang="en-US" sz="2400" dirty="0"/>
              <a:t>bad-block recovery</a:t>
            </a:r>
            <a:endParaRPr lang="en-US" altLang="en-US" sz="2400" b="1" dirty="0">
              <a:solidFill>
                <a:srgbClr val="3366FF"/>
              </a:solidFill>
            </a:endParaRPr>
          </a:p>
        </p:txBody>
      </p:sp>
      <p:sp>
        <p:nvSpPr>
          <p:cNvPr id="2" name="Date Placeholder 1"/>
          <p:cNvSpPr>
            <a:spLocks noGrp="1"/>
          </p:cNvSpPr>
          <p:nvPr>
            <p:ph type="dt" sz="half" idx="10"/>
          </p:nvPr>
        </p:nvSpPr>
        <p:spPr/>
        <p:txBody>
          <a:bodyPr/>
          <a:lstStyle/>
          <a:p>
            <a:fld id="{5C912616-E332-465F-8EE7-11A3D35BF07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72</a:t>
            </a:fld>
            <a:endParaRPr lang="en-US"/>
          </a:p>
        </p:txBody>
      </p:sp>
    </p:spTree>
    <p:extLst>
      <p:ext uri="{BB962C8B-B14F-4D97-AF65-F5344CB8AC3E}">
        <p14:creationId xmlns:p14="http://schemas.microsoft.com/office/powerpoint/2010/main" val="29864757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r>
              <a:rPr lang="en-US" altLang="en-US" sz="2400" dirty="0"/>
              <a:t>Dividing a </a:t>
            </a:r>
            <a:r>
              <a:rPr lang="en-US" altLang="en-US" sz="2400" dirty="0">
                <a:solidFill>
                  <a:schemeClr val="accent1"/>
                </a:solidFill>
              </a:rPr>
              <a:t>disk into sectors </a:t>
            </a:r>
            <a:r>
              <a:rPr lang="en-US" altLang="en-US" sz="2400" dirty="0"/>
              <a:t>that the </a:t>
            </a:r>
            <a:r>
              <a:rPr lang="en-US" altLang="en-US" sz="2400" dirty="0">
                <a:solidFill>
                  <a:schemeClr val="accent1"/>
                </a:solidFill>
              </a:rPr>
              <a:t>disk controller can read and write</a:t>
            </a:r>
          </a:p>
        </p:txBody>
      </p:sp>
      <p:sp>
        <p:nvSpPr>
          <p:cNvPr id="2" name="Date Placeholder 1"/>
          <p:cNvSpPr>
            <a:spLocks noGrp="1"/>
          </p:cNvSpPr>
          <p:nvPr>
            <p:ph type="dt" sz="half" idx="10"/>
          </p:nvPr>
        </p:nvSpPr>
        <p:spPr/>
        <p:txBody>
          <a:bodyPr/>
          <a:lstStyle/>
          <a:p>
            <a:fld id="{5C912616-E332-465F-8EE7-11A3D35BF07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73</a:t>
            </a:fld>
            <a:endParaRPr lang="en-US"/>
          </a:p>
        </p:txBody>
      </p:sp>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438400"/>
            <a:ext cx="5334000" cy="3971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35454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pPr lvl="1"/>
            <a:r>
              <a:rPr lang="en-US" altLang="en-US" sz="2400" dirty="0"/>
              <a:t>Each </a:t>
            </a:r>
            <a:r>
              <a:rPr lang="en-US" altLang="en-US" sz="2400" u="sng" dirty="0"/>
              <a:t>sector can hold </a:t>
            </a:r>
          </a:p>
          <a:p>
            <a:pPr lvl="1"/>
            <a:r>
              <a:rPr lang="en-US" altLang="en-US" sz="2400" u="sng" dirty="0"/>
              <a:t>header information, </a:t>
            </a:r>
          </a:p>
          <a:p>
            <a:pPr lvl="1"/>
            <a:r>
              <a:rPr lang="en-US" altLang="en-US" sz="2400" u="sng" dirty="0"/>
              <a:t>plus data, </a:t>
            </a:r>
          </a:p>
          <a:p>
            <a:pPr lvl="1"/>
            <a:r>
              <a:rPr lang="en-US" altLang="en-US" sz="2400" u="sng" dirty="0"/>
              <a:t>plus error correction code </a:t>
            </a:r>
            <a:r>
              <a:rPr lang="en-US" altLang="en-US" sz="2400" dirty="0"/>
              <a:t>(</a:t>
            </a:r>
            <a:r>
              <a:rPr lang="en-US" altLang="en-US" sz="2400" b="1" dirty="0">
                <a:solidFill>
                  <a:srgbClr val="3366FF"/>
                </a:solidFill>
              </a:rPr>
              <a:t>ECC</a:t>
            </a:r>
            <a:r>
              <a:rPr lang="en-US" altLang="en-US" sz="2400" dirty="0"/>
              <a:t>)</a:t>
            </a:r>
          </a:p>
        </p:txBody>
      </p:sp>
      <p:sp>
        <p:nvSpPr>
          <p:cNvPr id="2" name="Date Placeholder 1"/>
          <p:cNvSpPr>
            <a:spLocks noGrp="1"/>
          </p:cNvSpPr>
          <p:nvPr>
            <p:ph type="dt" sz="half" idx="10"/>
          </p:nvPr>
        </p:nvSpPr>
        <p:spPr/>
        <p:txBody>
          <a:bodyPr/>
          <a:lstStyle/>
          <a:p>
            <a:fld id="{5C912616-E332-465F-8EE7-11A3D35BF07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74</a:t>
            </a:fld>
            <a:endParaRPr lang="en-US"/>
          </a:p>
        </p:txBody>
      </p:sp>
    </p:spTree>
    <p:extLst>
      <p:ext uri="{BB962C8B-B14F-4D97-AF65-F5344CB8AC3E}">
        <p14:creationId xmlns:p14="http://schemas.microsoft.com/office/powerpoint/2010/main" val="37323834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pPr lvl="1"/>
            <a:r>
              <a:rPr lang="en-US" sz="2400" dirty="0"/>
              <a:t>Disk controller handles </a:t>
            </a:r>
            <a:r>
              <a:rPr lang="en-US" sz="2400" dirty="0">
                <a:solidFill>
                  <a:schemeClr val="accent1"/>
                </a:solidFill>
              </a:rPr>
              <a:t>h</a:t>
            </a:r>
            <a:r>
              <a:rPr lang="en-US" altLang="en-US" sz="2400" dirty="0">
                <a:solidFill>
                  <a:schemeClr val="accent1"/>
                </a:solidFill>
              </a:rPr>
              <a:t>ow many bytes of data space to leave between the header and trailer of all sectors. </a:t>
            </a:r>
          </a:p>
          <a:p>
            <a:pPr lvl="1"/>
            <a:r>
              <a:rPr lang="en-US" altLang="en-US" sz="2400" dirty="0"/>
              <a:t>It is usually possible to choose among a few sizes, such as 256,512, and 1,024 bytes.</a:t>
            </a:r>
          </a:p>
          <a:p>
            <a:pPr lvl="1"/>
            <a:r>
              <a:rPr lang="en-US" altLang="en-US" sz="2400" dirty="0"/>
              <a:t>Usually </a:t>
            </a:r>
            <a:r>
              <a:rPr lang="en-US" altLang="en-US" sz="2400" dirty="0">
                <a:solidFill>
                  <a:schemeClr val="accent1"/>
                </a:solidFill>
              </a:rPr>
              <a:t>512 bytes of data</a:t>
            </a:r>
          </a:p>
        </p:txBody>
      </p:sp>
      <p:sp>
        <p:nvSpPr>
          <p:cNvPr id="2" name="Date Placeholder 1"/>
          <p:cNvSpPr>
            <a:spLocks noGrp="1"/>
          </p:cNvSpPr>
          <p:nvPr>
            <p:ph type="dt" sz="half" idx="10"/>
          </p:nvPr>
        </p:nvSpPr>
        <p:spPr/>
        <p:txBody>
          <a:bodyPr/>
          <a:lstStyle/>
          <a:p>
            <a:fld id="{5C912616-E332-465F-8EE7-11A3D35BF07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75</a:t>
            </a:fld>
            <a:endParaRPr lang="en-US"/>
          </a:p>
        </p:txBody>
      </p:sp>
    </p:spTree>
    <p:extLst>
      <p:ext uri="{BB962C8B-B14F-4D97-AF65-F5344CB8AC3E}">
        <p14:creationId xmlns:p14="http://schemas.microsoft.com/office/powerpoint/2010/main" val="7664957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a:bodyPr>
          <a:lstStyle/>
          <a:p>
            <a:pPr marL="0" indent="0">
              <a:buNone/>
            </a:pPr>
            <a:r>
              <a:rPr lang="en-US" altLang="en-US" sz="2400" b="1" dirty="0">
                <a:solidFill>
                  <a:srgbClr val="3366FF"/>
                </a:solidFill>
              </a:rPr>
              <a:t>Low-level formatting</a:t>
            </a:r>
            <a:r>
              <a:rPr lang="en-US" altLang="en-US" sz="2400" dirty="0"/>
              <a:t>, or </a:t>
            </a:r>
            <a:r>
              <a:rPr lang="en-US" altLang="en-US" sz="2400" b="1" dirty="0">
                <a:solidFill>
                  <a:srgbClr val="3366FF"/>
                </a:solidFill>
              </a:rPr>
              <a:t>physical formatting</a:t>
            </a:r>
            <a:r>
              <a:rPr lang="en-US" altLang="en-US" sz="2400" dirty="0">
                <a:solidFill>
                  <a:srgbClr val="3366FF"/>
                </a:solidFill>
              </a:rPr>
              <a:t> </a:t>
            </a:r>
            <a:r>
              <a:rPr lang="en-US" altLang="en-US" sz="2400" dirty="0"/>
              <a:t>— </a:t>
            </a:r>
          </a:p>
          <a:p>
            <a:r>
              <a:rPr lang="en-US" sz="2400" dirty="0"/>
              <a:t>Enables the manufacturer to test the disk </a:t>
            </a:r>
          </a:p>
          <a:p>
            <a:endParaRPr lang="en-US" sz="2400" dirty="0"/>
          </a:p>
          <a:p>
            <a:r>
              <a:rPr lang="en-US" sz="2400" dirty="0"/>
              <a:t>To initialize the </a:t>
            </a:r>
            <a:r>
              <a:rPr lang="en-US" sz="2400" dirty="0">
                <a:solidFill>
                  <a:srgbClr val="0070C0"/>
                </a:solidFill>
              </a:rPr>
              <a:t>mapping from logical block numbers to defect-free sectors on the disk.</a:t>
            </a:r>
            <a:endParaRPr lang="en-US" altLang="en-US" sz="2400" dirty="0">
              <a:solidFill>
                <a:srgbClr val="0070C0"/>
              </a:solidFill>
            </a:endParaRPr>
          </a:p>
        </p:txBody>
      </p:sp>
      <p:sp>
        <p:nvSpPr>
          <p:cNvPr id="2" name="Date Placeholder 1"/>
          <p:cNvSpPr>
            <a:spLocks noGrp="1"/>
          </p:cNvSpPr>
          <p:nvPr>
            <p:ph type="dt" sz="half" idx="10"/>
          </p:nvPr>
        </p:nvSpPr>
        <p:spPr/>
        <p:txBody>
          <a:bodyPr/>
          <a:lstStyle/>
          <a:p>
            <a:fld id="{5C912616-E332-465F-8EE7-11A3D35BF07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76</a:t>
            </a:fld>
            <a:endParaRPr lang="en-US"/>
          </a:p>
        </p:txBody>
      </p:sp>
    </p:spTree>
    <p:extLst>
      <p:ext uri="{BB962C8B-B14F-4D97-AF65-F5344CB8AC3E}">
        <p14:creationId xmlns:p14="http://schemas.microsoft.com/office/powerpoint/2010/main" val="155775689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rmAutofit lnSpcReduction="10000"/>
          </a:bodyPr>
          <a:lstStyle/>
          <a:p>
            <a:pPr marL="0" indent="0">
              <a:buNone/>
            </a:pPr>
            <a:r>
              <a:rPr lang="en-US" altLang="en-US" sz="2400" b="1" dirty="0">
                <a:solidFill>
                  <a:srgbClr val="0070C0"/>
                </a:solidFill>
              </a:rPr>
              <a:t>Partitioning</a:t>
            </a:r>
          </a:p>
          <a:p>
            <a:r>
              <a:rPr lang="en-US" altLang="en-US" sz="2400" dirty="0"/>
              <a:t>To use a disk to hold files, the operating system still needs to </a:t>
            </a:r>
            <a:r>
              <a:rPr lang="en-US" altLang="en-US" sz="2400" dirty="0">
                <a:solidFill>
                  <a:schemeClr val="accent1"/>
                </a:solidFill>
              </a:rPr>
              <a:t>record its own data structures on the disk</a:t>
            </a:r>
          </a:p>
          <a:p>
            <a:pPr lvl="1"/>
            <a:r>
              <a:rPr lang="en-US" altLang="en-US" sz="2400" b="1" dirty="0">
                <a:solidFill>
                  <a:srgbClr val="3366FF"/>
                </a:solidFill>
              </a:rPr>
              <a:t>Partition</a:t>
            </a:r>
            <a:r>
              <a:rPr lang="en-US" altLang="en-US" sz="2400" dirty="0"/>
              <a:t> the disk into one or more groups of cylinders, each treated as a logical disk</a:t>
            </a:r>
          </a:p>
          <a:p>
            <a:endParaRPr lang="en-US" sz="2400" dirty="0"/>
          </a:p>
          <a:p>
            <a:r>
              <a:rPr lang="en-US" sz="2400" dirty="0"/>
              <a:t>The operating system can treat each partition as though it were a separate disk. </a:t>
            </a:r>
          </a:p>
          <a:p>
            <a:pPr lvl="1"/>
            <a:r>
              <a:rPr lang="en-US" sz="2400" dirty="0">
                <a:solidFill>
                  <a:schemeClr val="accent1"/>
                </a:solidFill>
              </a:rPr>
              <a:t>One partition can hold a copy of the operating system's </a:t>
            </a:r>
            <a:r>
              <a:rPr lang="en-US" sz="2400" dirty="0"/>
              <a:t>executable code</a:t>
            </a:r>
          </a:p>
          <a:p>
            <a:pPr lvl="1"/>
            <a:r>
              <a:rPr lang="en-US" sz="2400" dirty="0">
                <a:solidFill>
                  <a:schemeClr val="accent1"/>
                </a:solidFill>
              </a:rPr>
              <a:t>Another</a:t>
            </a:r>
            <a:r>
              <a:rPr lang="en-US" sz="2400" dirty="0"/>
              <a:t> holds </a:t>
            </a:r>
            <a:r>
              <a:rPr lang="en-US" sz="2400" dirty="0">
                <a:solidFill>
                  <a:schemeClr val="accent1"/>
                </a:solidFill>
              </a:rPr>
              <a:t>user files</a:t>
            </a:r>
            <a:endParaRPr lang="en-US" altLang="en-US" sz="2400" dirty="0">
              <a:solidFill>
                <a:schemeClr val="accent1"/>
              </a:solidFill>
            </a:endParaRPr>
          </a:p>
        </p:txBody>
      </p:sp>
      <p:sp>
        <p:nvSpPr>
          <p:cNvPr id="2" name="Date Placeholder 1"/>
          <p:cNvSpPr>
            <a:spLocks noGrp="1"/>
          </p:cNvSpPr>
          <p:nvPr>
            <p:ph type="dt" sz="half" idx="10"/>
          </p:nvPr>
        </p:nvSpPr>
        <p:spPr/>
        <p:txBody>
          <a:bodyPr/>
          <a:lstStyle/>
          <a:p>
            <a:fld id="{5C912616-E332-465F-8EE7-11A3D35BF07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77</a:t>
            </a:fld>
            <a:endParaRPr lang="en-US"/>
          </a:p>
        </p:txBody>
      </p:sp>
    </p:spTree>
    <p:extLst>
      <p:ext uri="{BB962C8B-B14F-4D97-AF65-F5344CB8AC3E}">
        <p14:creationId xmlns:p14="http://schemas.microsoft.com/office/powerpoint/2010/main" val="38981649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a:t>
            </a:r>
          </a:p>
        </p:txBody>
      </p:sp>
      <p:sp>
        <p:nvSpPr>
          <p:cNvPr id="31747" name="Rectangle 3"/>
          <p:cNvSpPr>
            <a:spLocks noGrp="1" noChangeArrowheads="1"/>
          </p:cNvSpPr>
          <p:nvPr>
            <p:ph type="body" idx="1"/>
          </p:nvPr>
        </p:nvSpPr>
        <p:spPr>
          <a:xfrm>
            <a:off x="844550" y="1157288"/>
            <a:ext cx="7245350" cy="4530725"/>
          </a:xfrm>
        </p:spPr>
        <p:txBody>
          <a:bodyPr>
            <a:noAutofit/>
          </a:bodyPr>
          <a:lstStyle/>
          <a:p>
            <a:pPr marL="0" indent="0">
              <a:buNone/>
            </a:pPr>
            <a:r>
              <a:rPr lang="en-US" altLang="en-US" sz="2400" b="1" dirty="0">
                <a:solidFill>
                  <a:srgbClr val="3366FF"/>
                </a:solidFill>
              </a:rPr>
              <a:t>Logical formatting</a:t>
            </a:r>
            <a:r>
              <a:rPr lang="en-US" altLang="en-US" sz="2400" dirty="0">
                <a:solidFill>
                  <a:srgbClr val="3366FF"/>
                </a:solidFill>
              </a:rPr>
              <a:t> </a:t>
            </a:r>
            <a:endParaRPr lang="en-US" altLang="en-US" sz="2400" dirty="0"/>
          </a:p>
          <a:p>
            <a:r>
              <a:rPr lang="ja-JP" altLang="en-US" sz="2400" dirty="0"/>
              <a:t>“</a:t>
            </a:r>
            <a:r>
              <a:rPr lang="en-US" altLang="ja-JP" sz="2400" dirty="0"/>
              <a:t>making a file system</a:t>
            </a:r>
            <a:r>
              <a:rPr lang="ja-JP" altLang="en-US" sz="2400" dirty="0"/>
              <a:t>”</a:t>
            </a:r>
            <a:endParaRPr lang="en-US" altLang="ja-JP" sz="2400" dirty="0"/>
          </a:p>
          <a:p>
            <a:r>
              <a:rPr lang="en-US" sz="2400" dirty="0"/>
              <a:t>“</a:t>
            </a:r>
            <a:r>
              <a:rPr lang="en-US" sz="2400" dirty="0">
                <a:solidFill>
                  <a:schemeClr val="accent1"/>
                </a:solidFill>
              </a:rPr>
              <a:t>creation of a file system“</a:t>
            </a:r>
          </a:p>
          <a:p>
            <a:r>
              <a:rPr lang="en-US" sz="2400" dirty="0"/>
              <a:t>The OS stores the </a:t>
            </a:r>
            <a:r>
              <a:rPr lang="en-US" sz="2400" dirty="0">
                <a:solidFill>
                  <a:srgbClr val="0070C0"/>
                </a:solidFill>
              </a:rPr>
              <a:t>initial file-system data structures </a:t>
            </a:r>
            <a:r>
              <a:rPr lang="en-US" sz="2400" dirty="0"/>
              <a:t>onto the disk. </a:t>
            </a:r>
          </a:p>
          <a:p>
            <a:r>
              <a:rPr lang="en-US" sz="2400" dirty="0"/>
              <a:t>These data structures may include </a:t>
            </a:r>
          </a:p>
          <a:p>
            <a:pPr lvl="1"/>
            <a:r>
              <a:rPr lang="en-US" sz="2400" dirty="0">
                <a:solidFill>
                  <a:schemeClr val="accent1"/>
                </a:solidFill>
              </a:rPr>
              <a:t>maps of free and allocated space</a:t>
            </a:r>
            <a:r>
              <a:rPr lang="en-US" sz="2400" dirty="0"/>
              <a:t> (a FAT or </a:t>
            </a:r>
            <a:r>
              <a:rPr lang="en-US" sz="2400" dirty="0" err="1"/>
              <a:t>inodes</a:t>
            </a:r>
            <a:r>
              <a:rPr lang="en-US" sz="2400" dirty="0"/>
              <a:t>) </a:t>
            </a:r>
          </a:p>
          <a:p>
            <a:pPr lvl="1"/>
            <a:r>
              <a:rPr lang="en-US" sz="2400" dirty="0">
                <a:solidFill>
                  <a:schemeClr val="accent1"/>
                </a:solidFill>
              </a:rPr>
              <a:t>an initial empty directory</a:t>
            </a:r>
            <a:endParaRPr lang="en-US" altLang="ja-JP" sz="2400" dirty="0">
              <a:solidFill>
                <a:schemeClr val="accent1"/>
              </a:solidFill>
            </a:endParaRPr>
          </a:p>
        </p:txBody>
      </p:sp>
      <p:sp>
        <p:nvSpPr>
          <p:cNvPr id="2" name="Date Placeholder 1"/>
          <p:cNvSpPr>
            <a:spLocks noGrp="1"/>
          </p:cNvSpPr>
          <p:nvPr>
            <p:ph type="dt" sz="half" idx="10"/>
          </p:nvPr>
        </p:nvSpPr>
        <p:spPr/>
        <p:txBody>
          <a:bodyPr/>
          <a:lstStyle/>
          <a:p>
            <a:fld id="{5C912616-E332-465F-8EE7-11A3D35BF07E}"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78</a:t>
            </a:fld>
            <a:endParaRPr lang="en-US"/>
          </a:p>
        </p:txBody>
      </p:sp>
    </p:spTree>
    <p:extLst>
      <p:ext uri="{BB962C8B-B14F-4D97-AF65-F5344CB8AC3E}">
        <p14:creationId xmlns:p14="http://schemas.microsoft.com/office/powerpoint/2010/main" val="31042127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1850" y="928688"/>
            <a:ext cx="7029450" cy="4530725"/>
          </a:xfrm>
        </p:spPr>
        <p:txBody>
          <a:bodyPr>
            <a:normAutofit/>
          </a:bodyPr>
          <a:lstStyle/>
          <a:p>
            <a:endParaRPr lang="en-US" altLang="en-US" sz="1400" dirty="0"/>
          </a:p>
          <a:p>
            <a:pPr marL="0" indent="0">
              <a:buNone/>
            </a:pPr>
            <a:r>
              <a:rPr lang="en-US" altLang="en-US" sz="2800" b="1" u="sng" dirty="0">
                <a:solidFill>
                  <a:schemeClr val="accent1"/>
                </a:solidFill>
              </a:rPr>
              <a:t>Bad Blocks</a:t>
            </a:r>
          </a:p>
          <a:p>
            <a:r>
              <a:rPr lang="en-US" altLang="en-US" sz="2400" dirty="0"/>
              <a:t>Methods such as </a:t>
            </a:r>
            <a:r>
              <a:rPr lang="en-US" altLang="en-US" sz="2400" b="1" dirty="0">
                <a:solidFill>
                  <a:srgbClr val="3366FF"/>
                </a:solidFill>
              </a:rPr>
              <a:t>sector sparing</a:t>
            </a:r>
            <a:r>
              <a:rPr lang="en-US" altLang="en-US" sz="2400" dirty="0">
                <a:solidFill>
                  <a:srgbClr val="3366FF"/>
                </a:solidFill>
              </a:rPr>
              <a:t> </a:t>
            </a:r>
            <a:r>
              <a:rPr lang="en-US" altLang="en-US" sz="2400" dirty="0"/>
              <a:t>used to handle bad blocks</a:t>
            </a:r>
          </a:p>
        </p:txBody>
      </p:sp>
      <p:sp>
        <p:nvSpPr>
          <p:cNvPr id="2" name="Date Placeholder 1"/>
          <p:cNvSpPr>
            <a:spLocks noGrp="1"/>
          </p:cNvSpPr>
          <p:nvPr>
            <p:ph type="dt" sz="half" idx="10"/>
          </p:nvPr>
        </p:nvSpPr>
        <p:spPr/>
        <p:txBody>
          <a:bodyPr/>
          <a:lstStyle/>
          <a:p>
            <a:fld id="{CEC80FBF-7BA3-4DE3-9C38-2AA5CB47F026}"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79</a:t>
            </a:fld>
            <a:endParaRPr lang="en-US"/>
          </a:p>
        </p:txBody>
      </p:sp>
    </p:spTree>
    <p:extLst>
      <p:ext uri="{BB962C8B-B14F-4D97-AF65-F5344CB8AC3E}">
        <p14:creationId xmlns:p14="http://schemas.microsoft.com/office/powerpoint/2010/main" val="3931477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1850" y="928688"/>
            <a:ext cx="7029450" cy="4530725"/>
          </a:xfrm>
        </p:spPr>
        <p:txBody>
          <a:bodyPr>
            <a:normAutofit lnSpcReduction="10000"/>
          </a:bodyPr>
          <a:lstStyle/>
          <a:p>
            <a:endParaRPr lang="en-US" altLang="en-US" sz="1400" dirty="0"/>
          </a:p>
          <a:p>
            <a:pPr marL="0" indent="0">
              <a:buNone/>
            </a:pPr>
            <a:r>
              <a:rPr lang="en-US" sz="2400" b="1" u="sng" dirty="0">
                <a:solidFill>
                  <a:schemeClr val="accent1"/>
                </a:solidFill>
              </a:rPr>
              <a:t>Bad Blocks</a:t>
            </a:r>
          </a:p>
          <a:p>
            <a:r>
              <a:rPr lang="en-US" sz="2400" dirty="0"/>
              <a:t>Because disks have </a:t>
            </a:r>
            <a:r>
              <a:rPr lang="en-US" sz="2400" dirty="0">
                <a:solidFill>
                  <a:schemeClr val="accent1"/>
                </a:solidFill>
              </a:rPr>
              <a:t>moving parts and small tolerances </a:t>
            </a:r>
          </a:p>
          <a:p>
            <a:r>
              <a:rPr lang="en-US" sz="2400" dirty="0"/>
              <a:t>As the disk head flies just above the disk surface, </a:t>
            </a:r>
          </a:p>
          <a:p>
            <a:r>
              <a:rPr lang="en-US" sz="2400" dirty="0"/>
              <a:t>They are </a:t>
            </a:r>
            <a:r>
              <a:rPr lang="en-US" sz="2400" dirty="0">
                <a:solidFill>
                  <a:schemeClr val="accent1"/>
                </a:solidFill>
              </a:rPr>
              <a:t>prone to failure</a:t>
            </a:r>
          </a:p>
          <a:p>
            <a:endParaRPr lang="en-US" sz="2400" dirty="0">
              <a:solidFill>
                <a:schemeClr val="accent1"/>
              </a:solidFill>
            </a:endParaRPr>
          </a:p>
          <a:p>
            <a:pPr marL="457200" indent="-457200">
              <a:buFont typeface="+mj-lt"/>
              <a:buAutoNum type="arabicParenR"/>
            </a:pPr>
            <a:r>
              <a:rPr lang="en-US" sz="2400" dirty="0"/>
              <a:t>If the </a:t>
            </a:r>
            <a:r>
              <a:rPr lang="en-US" sz="2400" dirty="0">
                <a:solidFill>
                  <a:schemeClr val="accent1"/>
                </a:solidFill>
              </a:rPr>
              <a:t>failure is complete</a:t>
            </a:r>
            <a:r>
              <a:rPr lang="en-US" sz="2400" dirty="0"/>
              <a:t>; </a:t>
            </a:r>
          </a:p>
          <a:p>
            <a:pPr lvl="1"/>
            <a:r>
              <a:rPr lang="en-US" sz="2400" dirty="0">
                <a:solidFill>
                  <a:schemeClr val="accent1"/>
                </a:solidFill>
              </a:rPr>
              <a:t>disk needs to be replaced </a:t>
            </a:r>
            <a:r>
              <a:rPr lang="en-US" sz="2400" dirty="0"/>
              <a:t>and its contents restored from backup media to the new disk. </a:t>
            </a:r>
          </a:p>
          <a:p>
            <a:pPr marL="457200" indent="-457200">
              <a:buFont typeface="+mj-lt"/>
              <a:buAutoNum type="arabicParenR"/>
            </a:pPr>
            <a:r>
              <a:rPr lang="en-US" sz="2400" dirty="0"/>
              <a:t>More frequently, </a:t>
            </a:r>
            <a:r>
              <a:rPr lang="en-US" sz="2400" dirty="0">
                <a:solidFill>
                  <a:schemeClr val="accent1"/>
                </a:solidFill>
              </a:rPr>
              <a:t>one or more sectors become defective.</a:t>
            </a:r>
            <a:endParaRPr lang="en-US" altLang="en-US" sz="2400" dirty="0">
              <a:solidFill>
                <a:schemeClr val="accent1"/>
              </a:solidFill>
            </a:endParaRPr>
          </a:p>
        </p:txBody>
      </p:sp>
      <p:sp>
        <p:nvSpPr>
          <p:cNvPr id="2" name="Date Placeholder 1"/>
          <p:cNvSpPr>
            <a:spLocks noGrp="1"/>
          </p:cNvSpPr>
          <p:nvPr>
            <p:ph type="dt" sz="half" idx="10"/>
          </p:nvPr>
        </p:nvSpPr>
        <p:spPr/>
        <p:txBody>
          <a:bodyPr/>
          <a:lstStyle/>
          <a:p>
            <a:fld id="{CEC80FBF-7BA3-4DE3-9C38-2AA5CB47F026}"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80</a:t>
            </a:fld>
            <a:endParaRPr lang="en-US"/>
          </a:p>
        </p:txBody>
      </p:sp>
    </p:spTree>
    <p:extLst>
      <p:ext uri="{BB962C8B-B14F-4D97-AF65-F5344CB8AC3E}">
        <p14:creationId xmlns:p14="http://schemas.microsoft.com/office/powerpoint/2010/main" val="26725396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1850" y="928688"/>
            <a:ext cx="7029450" cy="4530725"/>
          </a:xfrm>
        </p:spPr>
        <p:txBody>
          <a:bodyPr>
            <a:normAutofit/>
          </a:bodyPr>
          <a:lstStyle/>
          <a:p>
            <a:pPr marL="0" indent="0">
              <a:buNone/>
            </a:pPr>
            <a:r>
              <a:rPr lang="en-US" sz="2400" b="1" u="sng" dirty="0">
                <a:solidFill>
                  <a:schemeClr val="accent1"/>
                </a:solidFill>
              </a:rPr>
              <a:t>Bad Blocks</a:t>
            </a:r>
          </a:p>
          <a:p>
            <a:r>
              <a:rPr lang="en-US" sz="2400" dirty="0"/>
              <a:t>On simple disks, such as some disks with IDE controllers, </a:t>
            </a:r>
            <a:r>
              <a:rPr lang="en-US" sz="2400" dirty="0">
                <a:solidFill>
                  <a:schemeClr val="accent1"/>
                </a:solidFill>
              </a:rPr>
              <a:t>bad blocks are handled manually</a:t>
            </a:r>
            <a:r>
              <a:rPr lang="en-US" sz="2400" dirty="0"/>
              <a:t>.</a:t>
            </a:r>
          </a:p>
          <a:p>
            <a:endParaRPr lang="en-US" sz="2400" dirty="0"/>
          </a:p>
          <a:p>
            <a:r>
              <a:rPr lang="en-US" sz="2400" dirty="0"/>
              <a:t>More </a:t>
            </a:r>
            <a:r>
              <a:rPr lang="en-US" sz="2400" dirty="0">
                <a:solidFill>
                  <a:schemeClr val="accent1"/>
                </a:solidFill>
              </a:rPr>
              <a:t>sophisticated disks</a:t>
            </a:r>
            <a:r>
              <a:rPr lang="en-US" sz="2400" dirty="0"/>
              <a:t>, used in high-end PCs are smarter about bad-block recovery. </a:t>
            </a:r>
          </a:p>
          <a:p>
            <a:pPr lvl="1"/>
            <a:r>
              <a:rPr lang="en-US" sz="2400" dirty="0"/>
              <a:t>The controller maintains a </a:t>
            </a:r>
            <a:r>
              <a:rPr lang="en-US" sz="2400" dirty="0">
                <a:solidFill>
                  <a:schemeClr val="accent1"/>
                </a:solidFill>
              </a:rPr>
              <a:t>list of bad blocks </a:t>
            </a:r>
            <a:r>
              <a:rPr lang="en-US" sz="2400" dirty="0"/>
              <a:t>on the disk. </a:t>
            </a:r>
          </a:p>
          <a:p>
            <a:pPr lvl="1"/>
            <a:r>
              <a:rPr lang="en-US" sz="2400" dirty="0"/>
              <a:t>The list is </a:t>
            </a:r>
            <a:r>
              <a:rPr lang="en-US" sz="2400" dirty="0">
                <a:solidFill>
                  <a:schemeClr val="accent1"/>
                </a:solidFill>
              </a:rPr>
              <a:t>initialized during the low-level formatting </a:t>
            </a:r>
            <a:r>
              <a:rPr lang="en-US" sz="2400" dirty="0"/>
              <a:t>at the factory and is </a:t>
            </a:r>
            <a:r>
              <a:rPr lang="en-US" sz="2400" dirty="0">
                <a:solidFill>
                  <a:schemeClr val="accent1"/>
                </a:solidFill>
              </a:rPr>
              <a:t>updated over the life </a:t>
            </a:r>
            <a:r>
              <a:rPr lang="en-US" sz="2400" dirty="0"/>
              <a:t>of the disk.</a:t>
            </a:r>
          </a:p>
        </p:txBody>
      </p:sp>
      <p:sp>
        <p:nvSpPr>
          <p:cNvPr id="2" name="Date Placeholder 1"/>
          <p:cNvSpPr>
            <a:spLocks noGrp="1"/>
          </p:cNvSpPr>
          <p:nvPr>
            <p:ph type="dt" sz="half" idx="10"/>
          </p:nvPr>
        </p:nvSpPr>
        <p:spPr/>
        <p:txBody>
          <a:bodyPr/>
          <a:lstStyle/>
          <a:p>
            <a:fld id="{CEC80FBF-7BA3-4DE3-9C38-2AA5CB47F026}"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81</a:t>
            </a:fld>
            <a:endParaRPr lang="en-US"/>
          </a:p>
        </p:txBody>
      </p:sp>
    </p:spTree>
    <p:extLst>
      <p:ext uri="{BB962C8B-B14F-4D97-AF65-F5344CB8AC3E}">
        <p14:creationId xmlns:p14="http://schemas.microsoft.com/office/powerpoint/2010/main" val="40052087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690563" y="214313"/>
            <a:ext cx="7996237" cy="576262"/>
          </a:xfrm>
        </p:spPr>
        <p:txBody>
          <a:bodyPr>
            <a:normAutofit fontScale="90000"/>
          </a:bodyPr>
          <a:lstStyle/>
          <a:p>
            <a:pPr eaLnBrk="1" hangingPunct="1"/>
            <a:r>
              <a:rPr lang="en-US" altLang="en-US" dirty="0"/>
              <a:t>Disk Management (Cont.)</a:t>
            </a:r>
          </a:p>
        </p:txBody>
      </p:sp>
      <p:sp>
        <p:nvSpPr>
          <p:cNvPr id="32771" name="Rectangle 3"/>
          <p:cNvSpPr>
            <a:spLocks noGrp="1" noChangeArrowheads="1"/>
          </p:cNvSpPr>
          <p:nvPr>
            <p:ph type="body" idx="1"/>
          </p:nvPr>
        </p:nvSpPr>
        <p:spPr>
          <a:xfrm>
            <a:off x="831850" y="928688"/>
            <a:ext cx="7029450" cy="4530725"/>
          </a:xfrm>
        </p:spPr>
        <p:txBody>
          <a:bodyPr>
            <a:normAutofit/>
          </a:bodyPr>
          <a:lstStyle/>
          <a:p>
            <a:pPr marL="0" indent="0">
              <a:buNone/>
            </a:pPr>
            <a:r>
              <a:rPr lang="en-US" sz="2400" b="1" u="sng" dirty="0">
                <a:solidFill>
                  <a:schemeClr val="accent1"/>
                </a:solidFill>
              </a:rPr>
              <a:t>Bad Blocks</a:t>
            </a:r>
          </a:p>
          <a:p>
            <a:r>
              <a:rPr lang="en-US" sz="2400" dirty="0"/>
              <a:t>Low-level formatting also sets aside </a:t>
            </a:r>
            <a:r>
              <a:rPr lang="en-US" sz="2400" dirty="0">
                <a:solidFill>
                  <a:schemeClr val="accent1"/>
                </a:solidFill>
              </a:rPr>
              <a:t>spare sectors not visible to the operating system. </a:t>
            </a:r>
          </a:p>
          <a:p>
            <a:endParaRPr lang="en-US" sz="2400" dirty="0"/>
          </a:p>
          <a:p>
            <a:r>
              <a:rPr lang="en-US" sz="2400" dirty="0"/>
              <a:t>The controller can be told to </a:t>
            </a:r>
            <a:r>
              <a:rPr lang="en-US" sz="2400" dirty="0">
                <a:solidFill>
                  <a:schemeClr val="accent1"/>
                </a:solidFill>
              </a:rPr>
              <a:t>replace each bad sector logically with one of the spare sectors. </a:t>
            </a:r>
            <a:r>
              <a:rPr lang="en-US" sz="2400" dirty="0"/>
              <a:t>This scheme is known as </a:t>
            </a:r>
            <a:r>
              <a:rPr lang="en-US" sz="2400" dirty="0">
                <a:solidFill>
                  <a:schemeClr val="accent1"/>
                </a:solidFill>
              </a:rPr>
              <a:t>sector sparing or forwarding</a:t>
            </a:r>
            <a:endParaRPr lang="en-US" altLang="en-US" sz="2400" dirty="0">
              <a:solidFill>
                <a:schemeClr val="accent1"/>
              </a:solidFill>
            </a:endParaRPr>
          </a:p>
        </p:txBody>
      </p:sp>
      <p:sp>
        <p:nvSpPr>
          <p:cNvPr id="2" name="Date Placeholder 1"/>
          <p:cNvSpPr>
            <a:spLocks noGrp="1"/>
          </p:cNvSpPr>
          <p:nvPr>
            <p:ph type="dt" sz="half" idx="10"/>
          </p:nvPr>
        </p:nvSpPr>
        <p:spPr/>
        <p:txBody>
          <a:bodyPr/>
          <a:lstStyle/>
          <a:p>
            <a:fld id="{CEC80FBF-7BA3-4DE3-9C38-2AA5CB47F026}" type="datetime1">
              <a:rPr lang="en-US" smtClean="0"/>
              <a:t>5/7/2025</a:t>
            </a:fld>
            <a:endParaRPr lang="en-US"/>
          </a:p>
        </p:txBody>
      </p:sp>
      <p:sp>
        <p:nvSpPr>
          <p:cNvPr id="3" name="Footer Placeholder 2"/>
          <p:cNvSpPr>
            <a:spLocks noGrp="1"/>
          </p:cNvSpPr>
          <p:nvPr>
            <p:ph type="ftr" sz="quarter" idx="11"/>
          </p:nvPr>
        </p:nvSpPr>
        <p:spPr/>
        <p:txBody>
          <a:bodyPr/>
          <a:lstStyle/>
          <a:p>
            <a:r>
              <a:rPr lang="en-US"/>
              <a:t>Prof. Shweta Dhawan Chachra</a:t>
            </a:r>
          </a:p>
        </p:txBody>
      </p:sp>
      <p:sp>
        <p:nvSpPr>
          <p:cNvPr id="4" name="Slide Number Placeholder 3"/>
          <p:cNvSpPr>
            <a:spLocks noGrp="1"/>
          </p:cNvSpPr>
          <p:nvPr>
            <p:ph type="sldNum" sz="quarter" idx="12"/>
          </p:nvPr>
        </p:nvSpPr>
        <p:spPr/>
        <p:txBody>
          <a:bodyPr/>
          <a:lstStyle/>
          <a:p>
            <a:fld id="{8C271256-C92D-4BD6-BFB2-640936D6A0E9}" type="slidenum">
              <a:rPr lang="en-US" smtClean="0"/>
              <a:t>82</a:t>
            </a:fld>
            <a:endParaRPr lang="en-US"/>
          </a:p>
        </p:txBody>
      </p:sp>
    </p:spTree>
    <p:extLst>
      <p:ext uri="{BB962C8B-B14F-4D97-AF65-F5344CB8AC3E}">
        <p14:creationId xmlns:p14="http://schemas.microsoft.com/office/powerpoint/2010/main" val="45123674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229600" cy="4525963"/>
          </a:xfrm>
        </p:spPr>
        <p:txBody>
          <a:bodyPr>
            <a:noAutofit/>
          </a:bodyPr>
          <a:lstStyle/>
          <a:p>
            <a:pPr marL="0" indent="0">
              <a:buNone/>
            </a:pPr>
            <a:r>
              <a:rPr lang="en-IN" sz="2400" b="1" dirty="0"/>
              <a:t>GATE | GATE CS 2008 | Question 31</a:t>
            </a:r>
          </a:p>
          <a:p>
            <a:pPr marL="0" indent="0">
              <a:buNone/>
            </a:pPr>
            <a:r>
              <a:rPr lang="en-IN" sz="2400" dirty="0"/>
              <a:t>For a magnetic disk with concentric circular tracks, the seek latency is not linearly proportional to the seek distance due to</a:t>
            </a:r>
            <a:br>
              <a:rPr lang="en-IN" sz="2400" dirty="0"/>
            </a:br>
            <a:r>
              <a:rPr lang="en-IN" sz="2400" b="1" dirty="0"/>
              <a:t>(A)</a:t>
            </a:r>
            <a:r>
              <a:rPr lang="en-IN" sz="2400" dirty="0"/>
              <a:t> non-uniform distribution of requests</a:t>
            </a:r>
            <a:br>
              <a:rPr lang="en-IN" sz="2400" dirty="0"/>
            </a:br>
            <a:r>
              <a:rPr lang="en-IN" sz="2400" b="1" dirty="0"/>
              <a:t>(B)</a:t>
            </a:r>
            <a:r>
              <a:rPr lang="en-IN" sz="2400" dirty="0"/>
              <a:t> arm starting and stopping inertia</a:t>
            </a:r>
            <a:br>
              <a:rPr lang="en-IN" sz="2400" dirty="0"/>
            </a:br>
            <a:r>
              <a:rPr lang="en-IN" sz="2400" b="1" dirty="0"/>
              <a:t>(C)</a:t>
            </a:r>
            <a:r>
              <a:rPr lang="en-IN" sz="2400" dirty="0"/>
              <a:t> higher capacity of tracks on the periphery of the platter</a:t>
            </a:r>
            <a:br>
              <a:rPr lang="en-IN" sz="2400" dirty="0"/>
            </a:br>
            <a:r>
              <a:rPr lang="en-IN" sz="2400" b="1" dirty="0"/>
              <a:t>(D)</a:t>
            </a:r>
            <a:r>
              <a:rPr lang="en-IN" sz="2400" dirty="0"/>
              <a:t> use of unfair arm scheduling policies</a:t>
            </a:r>
            <a:br>
              <a:rPr lang="en-IN" sz="2400" dirty="0"/>
            </a:br>
            <a:br>
              <a:rPr lang="en-IN" sz="2400" dirty="0"/>
            </a:br>
            <a:br>
              <a:rPr lang="en-IN" sz="2400" dirty="0"/>
            </a:br>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83</a:t>
            </a:fld>
            <a:endParaRPr lang="en-US"/>
          </a:p>
        </p:txBody>
      </p:sp>
    </p:spTree>
    <p:extLst>
      <p:ext uri="{BB962C8B-B14F-4D97-AF65-F5344CB8AC3E}">
        <p14:creationId xmlns:p14="http://schemas.microsoft.com/office/powerpoint/2010/main" val="16209171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81000"/>
            <a:ext cx="8229600" cy="4525963"/>
          </a:xfrm>
        </p:spPr>
        <p:txBody>
          <a:bodyPr>
            <a:noAutofit/>
          </a:bodyPr>
          <a:lstStyle/>
          <a:p>
            <a:pPr marL="0" indent="0">
              <a:buNone/>
            </a:pPr>
            <a:r>
              <a:rPr lang="en-IN" sz="2400" b="1" dirty="0"/>
              <a:t>GATE | GATE CS 2008 | Question 31</a:t>
            </a:r>
          </a:p>
          <a:p>
            <a:pPr marL="0" indent="0">
              <a:buNone/>
            </a:pPr>
            <a:r>
              <a:rPr lang="en-IN" sz="2400" dirty="0"/>
              <a:t>For a magnetic disk with concentric circular tracks, the seek latency is not linearly proportional to the seek distance due to</a:t>
            </a:r>
            <a:br>
              <a:rPr lang="en-IN" sz="2400" dirty="0"/>
            </a:br>
            <a:r>
              <a:rPr lang="en-IN" sz="2400" b="1" dirty="0"/>
              <a:t>(A)</a:t>
            </a:r>
            <a:r>
              <a:rPr lang="en-IN" sz="2400" dirty="0"/>
              <a:t> non-uniform distribution of requests</a:t>
            </a:r>
            <a:br>
              <a:rPr lang="en-IN" sz="2400" dirty="0"/>
            </a:br>
            <a:r>
              <a:rPr lang="en-IN" sz="2400" b="1" dirty="0"/>
              <a:t>(B)</a:t>
            </a:r>
            <a:r>
              <a:rPr lang="en-IN" sz="2400" dirty="0"/>
              <a:t> arm starting and stopping inertia</a:t>
            </a:r>
            <a:br>
              <a:rPr lang="en-IN" sz="2400" dirty="0"/>
            </a:br>
            <a:r>
              <a:rPr lang="en-IN" sz="2400" b="1" dirty="0"/>
              <a:t>(C)</a:t>
            </a:r>
            <a:r>
              <a:rPr lang="en-IN" sz="2400" dirty="0"/>
              <a:t> higher capacity of tracks on the periphery of the platter</a:t>
            </a:r>
            <a:br>
              <a:rPr lang="en-IN" sz="2400" dirty="0"/>
            </a:br>
            <a:r>
              <a:rPr lang="en-IN" sz="2400" b="1" dirty="0"/>
              <a:t>(D)</a:t>
            </a:r>
            <a:r>
              <a:rPr lang="en-IN" sz="2400" dirty="0"/>
              <a:t> use of unfair arm scheduling policies</a:t>
            </a:r>
            <a:br>
              <a:rPr lang="en-IN" sz="2400" dirty="0"/>
            </a:br>
            <a:br>
              <a:rPr lang="en-IN" sz="2400" dirty="0"/>
            </a:br>
            <a:br>
              <a:rPr lang="en-IN" sz="2400" dirty="0"/>
            </a:br>
            <a:r>
              <a:rPr lang="en-IN" sz="2400" b="1" dirty="0"/>
              <a:t>Answer:</a:t>
            </a:r>
            <a:r>
              <a:rPr lang="en-IN" sz="2400" dirty="0"/>
              <a:t> </a:t>
            </a:r>
            <a:r>
              <a:rPr lang="en-IN" sz="2400" b="1" dirty="0"/>
              <a:t>(B)</a:t>
            </a:r>
            <a:br>
              <a:rPr lang="en-IN" sz="2400" dirty="0"/>
            </a:br>
            <a:r>
              <a:rPr lang="en-IN" sz="2400" b="1" dirty="0"/>
              <a:t>Explanation:</a:t>
            </a:r>
            <a:r>
              <a:rPr lang="en-IN" sz="2400" dirty="0"/>
              <a:t> Whenever head moves from one track to other then its speed and direction changes, which is noting but change in motion or the case of inertia. So answer B</a:t>
            </a:r>
          </a:p>
          <a:p>
            <a:pPr marL="0" indent="0">
              <a:buNone/>
            </a:pPr>
            <a:endParaRPr lang="en-IN" sz="2400" dirty="0"/>
          </a:p>
        </p:txBody>
      </p:sp>
      <p:sp>
        <p:nvSpPr>
          <p:cNvPr id="4" name="Date Placeholder 3"/>
          <p:cNvSpPr>
            <a:spLocks noGrp="1"/>
          </p:cNvSpPr>
          <p:nvPr>
            <p:ph type="dt" sz="half" idx="10"/>
          </p:nvPr>
        </p:nvSpPr>
        <p:spPr/>
        <p:txBody>
          <a:bodyPr/>
          <a:lstStyle/>
          <a:p>
            <a:fld id="{68ECC47D-1C46-4D89-B587-C509CE42C1A1}" type="datetime1">
              <a:rPr lang="en-US" smtClean="0"/>
              <a:t>5/7/2025</a:t>
            </a:fld>
            <a:endParaRPr lang="en-US"/>
          </a:p>
        </p:txBody>
      </p:sp>
      <p:sp>
        <p:nvSpPr>
          <p:cNvPr id="5" name="Footer Placeholder 4"/>
          <p:cNvSpPr>
            <a:spLocks noGrp="1"/>
          </p:cNvSpPr>
          <p:nvPr>
            <p:ph type="ftr" sz="quarter" idx="11"/>
          </p:nvPr>
        </p:nvSpPr>
        <p:spPr/>
        <p:txBody>
          <a:bodyPr/>
          <a:lstStyle/>
          <a:p>
            <a:r>
              <a:rPr lang="en-US"/>
              <a:t>Prof. Shweta Dhawan Chachra</a:t>
            </a:r>
          </a:p>
        </p:txBody>
      </p:sp>
      <p:sp>
        <p:nvSpPr>
          <p:cNvPr id="6" name="Slide Number Placeholder 5"/>
          <p:cNvSpPr>
            <a:spLocks noGrp="1"/>
          </p:cNvSpPr>
          <p:nvPr>
            <p:ph type="sldNum" sz="quarter" idx="12"/>
          </p:nvPr>
        </p:nvSpPr>
        <p:spPr/>
        <p:txBody>
          <a:bodyPr/>
          <a:lstStyle/>
          <a:p>
            <a:fld id="{8C271256-C92D-4BD6-BFB2-640936D6A0E9}" type="slidenum">
              <a:rPr lang="en-US" smtClean="0"/>
              <a:t>84</a:t>
            </a:fld>
            <a:endParaRPr lang="en-US"/>
          </a:p>
        </p:txBody>
      </p:sp>
    </p:spTree>
    <p:extLst>
      <p:ext uri="{BB962C8B-B14F-4D97-AF65-F5344CB8AC3E}">
        <p14:creationId xmlns:p14="http://schemas.microsoft.com/office/powerpoint/2010/main" val="39577358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2369</TotalTime>
  <Words>4150</Words>
  <Application>Microsoft Office PowerPoint</Application>
  <PresentationFormat>On-screen Show (4:3)</PresentationFormat>
  <Paragraphs>682</Paragraphs>
  <Slides>84</Slides>
  <Notes>47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84</vt:i4>
      </vt:variant>
    </vt:vector>
  </HeadingPairs>
  <TitlesOfParts>
    <vt:vector size="91" baseType="lpstr">
      <vt:lpstr>Arial</vt:lpstr>
      <vt:lpstr>Calibri</vt:lpstr>
      <vt:lpstr>Helvetica</vt:lpstr>
      <vt:lpstr>Monotype Sorts</vt:lpstr>
      <vt:lpstr>Symbol</vt:lpstr>
      <vt:lpstr>Times New Roman</vt:lpstr>
      <vt:lpstr>Office Theme</vt:lpstr>
      <vt:lpstr>Disk Scheduling</vt:lpstr>
      <vt:lpstr>Disk Scheduling</vt:lpstr>
      <vt:lpstr>Disk scheduling</vt:lpstr>
      <vt:lpstr>Hard Disk</vt:lpstr>
      <vt:lpstr>Important?</vt:lpstr>
      <vt:lpstr>Some important terms:</vt:lpstr>
      <vt:lpstr>Some important terms:</vt:lpstr>
      <vt:lpstr>Some important terms: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important terms:</vt:lpstr>
      <vt:lpstr>Disk Cylinder</vt:lpstr>
      <vt:lpstr>Disk Cylinder</vt:lpstr>
      <vt:lpstr>Some important terms:</vt:lpstr>
      <vt:lpstr>Disk Scheduling (Cont.)</vt:lpstr>
      <vt:lpstr>Disk Scheduling (Cont.)</vt:lpstr>
      <vt:lpstr>Disk Scheduling (Cont.)</vt:lpstr>
      <vt:lpstr>Disk Scheduling (Cont.)</vt:lpstr>
      <vt:lpstr>Disk Scheduling Algorithms</vt:lpstr>
      <vt:lpstr>Disk Scheduling (Cont.)</vt:lpstr>
      <vt:lpstr>FCFS</vt:lpstr>
      <vt:lpstr>FCFS</vt:lpstr>
      <vt:lpstr>FCFS</vt:lpstr>
      <vt:lpstr>FCFS</vt:lpstr>
      <vt:lpstr>FCFS</vt:lpstr>
      <vt:lpstr>SSTF</vt:lpstr>
      <vt:lpstr>SSTF</vt:lpstr>
      <vt:lpstr>SSTF</vt:lpstr>
      <vt:lpstr>SSTF</vt:lpstr>
      <vt:lpstr>SSTF</vt:lpstr>
      <vt:lpstr>SSTF</vt:lpstr>
      <vt:lpstr>SSTF</vt:lpstr>
      <vt:lpstr>SSTF</vt:lpstr>
      <vt:lpstr>SSTF</vt:lpstr>
      <vt:lpstr>SCAN</vt:lpstr>
      <vt:lpstr>SCAN</vt:lpstr>
      <vt:lpstr>SCAN (Cont.)</vt:lpstr>
      <vt:lpstr>SCAN (Cont.)</vt:lpstr>
      <vt:lpstr>SCAN (Cont.)</vt:lpstr>
      <vt:lpstr>SCAN (Cont.)</vt:lpstr>
      <vt:lpstr>SCAN</vt:lpstr>
      <vt:lpstr>SCAN</vt:lpstr>
      <vt:lpstr>SCAN</vt:lpstr>
      <vt:lpstr>SCAN</vt:lpstr>
      <vt:lpstr>C-SCAN</vt:lpstr>
      <vt:lpstr>C-SCAN</vt:lpstr>
      <vt:lpstr>C-SCAN</vt:lpstr>
      <vt:lpstr>C-SCAN (Cont.)</vt:lpstr>
      <vt:lpstr>C-SCAN</vt:lpstr>
      <vt:lpstr>SCAN , C-SCAN</vt:lpstr>
      <vt:lpstr>LOOK, C-LOOK</vt:lpstr>
      <vt:lpstr>PowerPoint Presentation</vt:lpstr>
      <vt:lpstr>PowerPoint Presentation</vt:lpstr>
      <vt:lpstr>C-LOOK</vt:lpstr>
      <vt:lpstr>C-LOOK (Cont.)</vt:lpstr>
      <vt:lpstr>PowerPoint Presentation</vt:lpstr>
      <vt:lpstr>LOOK,C-LOOK</vt:lpstr>
      <vt:lpstr>Selecting a Disk-Scheduling Algorithm</vt:lpstr>
      <vt:lpstr>Selecting a Disk-Scheduling Algorithm</vt:lpstr>
      <vt:lpstr>PowerPoint Presentation</vt:lpstr>
      <vt:lpstr>PowerPoint Presentation</vt:lpstr>
      <vt:lpstr>PowerPoint Presentation</vt:lpstr>
      <vt:lpstr>PowerPoint Presentation</vt:lpstr>
      <vt:lpstr>PowerPoint Presentation</vt:lpstr>
      <vt:lpstr>Disk Management</vt:lpstr>
      <vt:lpstr>Disk Management</vt:lpstr>
      <vt:lpstr>Disk Management</vt:lpstr>
      <vt:lpstr>Disk Management</vt:lpstr>
      <vt:lpstr>Disk Management</vt:lpstr>
      <vt:lpstr>Disk Management</vt:lpstr>
      <vt:lpstr>Disk Management</vt:lpstr>
      <vt:lpstr>Disk Management (Cont.)</vt:lpstr>
      <vt:lpstr>Disk Management (Cont.)</vt:lpstr>
      <vt:lpstr>Disk Management (Cont.)</vt:lpstr>
      <vt:lpstr>Disk Management (Cont.)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Om Thanage</cp:lastModifiedBy>
  <cp:revision>99</cp:revision>
  <dcterms:created xsi:type="dcterms:W3CDTF">2020-10-15T11:15:30Z</dcterms:created>
  <dcterms:modified xsi:type="dcterms:W3CDTF">2025-05-07T11:27:13Z</dcterms:modified>
</cp:coreProperties>
</file>