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ink/ink1.xml" ContentType="application/inkml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ink/ink2.xml" ContentType="application/inkml+xml"/>
  <Override PartName="/ppt/notesSlides/notesSlide35.xml" ContentType="application/vnd.openxmlformats-officedocument.presentationml.notesSlide+xml"/>
  <Override PartName="/ppt/ink/ink3.xml" ContentType="application/inkml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ink/ink4.xml" ContentType="application/inkml+xml"/>
  <Override PartName="/ppt/ink/ink5.xml" ContentType="application/inkml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0"/>
  </p:notesMasterIdLst>
  <p:sldIdLst>
    <p:sldId id="256" r:id="rId2"/>
    <p:sldId id="257" r:id="rId3"/>
    <p:sldId id="283" r:id="rId4"/>
    <p:sldId id="273" r:id="rId5"/>
    <p:sldId id="284" r:id="rId6"/>
    <p:sldId id="285" r:id="rId7"/>
    <p:sldId id="272" r:id="rId8"/>
    <p:sldId id="301" r:id="rId9"/>
    <p:sldId id="275" r:id="rId10"/>
    <p:sldId id="258" r:id="rId11"/>
    <p:sldId id="300" r:id="rId12"/>
    <p:sldId id="276" r:id="rId13"/>
    <p:sldId id="277" r:id="rId14"/>
    <p:sldId id="260" r:id="rId15"/>
    <p:sldId id="279" r:id="rId16"/>
    <p:sldId id="280" r:id="rId17"/>
    <p:sldId id="286" r:id="rId18"/>
    <p:sldId id="289" r:id="rId19"/>
    <p:sldId id="281" r:id="rId20"/>
    <p:sldId id="278" r:id="rId21"/>
    <p:sldId id="287" r:id="rId22"/>
    <p:sldId id="261" r:id="rId23"/>
    <p:sldId id="282" r:id="rId24"/>
    <p:sldId id="290" r:id="rId25"/>
    <p:sldId id="288" r:id="rId26"/>
    <p:sldId id="329" r:id="rId27"/>
    <p:sldId id="262" r:id="rId28"/>
    <p:sldId id="263" r:id="rId29"/>
    <p:sldId id="264" r:id="rId30"/>
    <p:sldId id="333" r:id="rId31"/>
    <p:sldId id="330" r:id="rId32"/>
    <p:sldId id="313" r:id="rId33"/>
    <p:sldId id="265" r:id="rId34"/>
    <p:sldId id="331" r:id="rId35"/>
    <p:sldId id="292" r:id="rId36"/>
    <p:sldId id="332" r:id="rId37"/>
    <p:sldId id="291" r:id="rId38"/>
    <p:sldId id="293" r:id="rId39"/>
    <p:sldId id="266" r:id="rId40"/>
    <p:sldId id="294" r:id="rId41"/>
    <p:sldId id="326" r:id="rId42"/>
    <p:sldId id="267" r:id="rId43"/>
    <p:sldId id="295" r:id="rId44"/>
    <p:sldId id="268" r:id="rId45"/>
    <p:sldId id="296" r:id="rId46"/>
    <p:sldId id="297" r:id="rId47"/>
    <p:sldId id="314" r:id="rId48"/>
    <p:sldId id="298" r:id="rId49"/>
    <p:sldId id="299" r:id="rId50"/>
    <p:sldId id="303" r:id="rId51"/>
    <p:sldId id="315" r:id="rId52"/>
    <p:sldId id="269" r:id="rId53"/>
    <p:sldId id="302" r:id="rId54"/>
    <p:sldId id="270" r:id="rId55"/>
    <p:sldId id="271" r:id="rId56"/>
    <p:sldId id="304" r:id="rId57"/>
    <p:sldId id="306" r:id="rId58"/>
    <p:sldId id="305" r:id="rId59"/>
    <p:sldId id="307" r:id="rId60"/>
    <p:sldId id="309" r:id="rId61"/>
    <p:sldId id="308" r:id="rId62"/>
    <p:sldId id="310" r:id="rId63"/>
    <p:sldId id="328" r:id="rId64"/>
    <p:sldId id="327" r:id="rId65"/>
    <p:sldId id="336" r:id="rId66"/>
    <p:sldId id="311" r:id="rId67"/>
    <p:sldId id="334" r:id="rId68"/>
    <p:sldId id="312" r:id="rId69"/>
    <p:sldId id="335" r:id="rId70"/>
    <p:sldId id="316" r:id="rId71"/>
    <p:sldId id="317" r:id="rId72"/>
    <p:sldId id="319" r:id="rId73"/>
    <p:sldId id="320" r:id="rId74"/>
    <p:sldId id="318" r:id="rId75"/>
    <p:sldId id="323" r:id="rId76"/>
    <p:sldId id="322" r:id="rId77"/>
    <p:sldId id="321" r:id="rId78"/>
    <p:sldId id="324" r:id="rId7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4" d="100"/>
          <a:sy n="74" d="100"/>
        </p:scale>
        <p:origin x="1714" y="67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tableStyles" Target="tableStyle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1024" units="cm"/>
          <inkml:channel name="Y" type="integer" max="768" units="cm"/>
        </inkml:traceFormat>
        <inkml:channelProperties>
          <inkml:channelProperty channel="X" name="resolution" value="44.32901" units="1/cm"/>
          <inkml:channelProperty channel="Y" name="resolution" value="44.39306" units="1/cm"/>
        </inkml:channelProperties>
      </inkml:inkSource>
      <inkml:timestamp xml:id="ts0" timeString="2022-10-17T08:27:44.105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5928 6276,'25'0,"0"0,0 0,0 24,-1-24,1 0,0 0,0 25,24-25,1 0,24 0,-24 0,24 0,-24 25,0-25,-1 0,1 0,-25 0,-1 0,1 25,25 0,-25-25,-1 0,51 24,-25-24,-26 25,51-25,-26 0,26 0,-1 0,25 25,-24-25,-1 0,1 0,-1 0,0 0,-24 0,0 0,-26 0,1 0,-50 0,25-50</inkml:trace>
  <inkml:trace contextRef="#ctx0" brushRef="#br0" timeOffset="1481.87">6325 7218,'25'0,"0"0,0 0,49 25,-24-25,24 25,25-25,0 0,75 25,-50-25,25 0,-50 0,0 24,-24-24,-26 25,1-25,0 0,-26 0,-24 25,25-25,0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ax="1024" units="cm"/>
          <inkml:channel name="Y" type="integer" max="768" units="cm"/>
        </inkml:traceFormat>
        <inkml:channelProperties>
          <inkml:channelProperty channel="X" name="resolution" value="44.32901" units="1/cm"/>
          <inkml:channelProperty channel="Y" name="resolution" value="44.39306" units="1/cm"/>
        </inkml:channelProperties>
      </inkml:inkSource>
      <inkml:timestamp xml:id="ts0" timeString="2022-10-17T08:28:39.87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13295 4589,'50'0,"-25"25,0-1,49 1,-24-25,24 25,0 0,1-25,24 25,-25-25,50 24,-49 26,24-50,0 0,1 0,-1 0,25 25,0 0,0 0,0-25,-25 0,50 0,-50 0,-24 0,24 0,-25 0,1 0,-26 0,26 0,-26 0,1 0,-1 0,1 0,-25 0,0 0,24 0,-24 0,0 0,0 0,49 0,-24 0,-1 0,1 0,0 0,24 0,0 0,1 0,-1-25,1 25,-1-25,0 25,1 0,24-25,-25 25,-24-25,24 25,-24-25,0 25,24 0,-24 0,-1-24,26 24,-26-25,1 0,0 25,-1 0,26-25,-1 0,-49 25,49-24,-49 24,25 0,-26 0,1 0,0 0</inkml:trace>
  <inkml:trace contextRef="#ctx0" brushRef="#br0" timeOffset="4783.46">8806 10294,'24'0,"1"0,0 0,0 0,24 0,1 0,0 25,24-25,25 0,-24 25,24-25,25 24,-50-24,1 0,-26 0,26 0,-26 0,26 0,-1 0,1 0,24 0,0 0,0 0,-24 0,24 0,-25 0,1 0,-1 0,1 0,24-24,0 24,-25 0,26 0,24 0,-50 0,25 0,-24 0,24 0,-25-25,1 25,-26 0,26 0,-26 0,26-25,-26 25,1 0,25 0,-51 0,51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ax="1024" units="cm"/>
          <inkml:channel name="Y" type="integer" max="768" units="cm"/>
        </inkml:traceFormat>
        <inkml:channelProperties>
          <inkml:channelProperty channel="X" name="resolution" value="44.32901" units="1/cm"/>
          <inkml:channelProperty channel="Y" name="resolution" value="44.39306" units="1/cm"/>
        </inkml:channelProperties>
      </inkml:inkSource>
      <inkml:timestamp xml:id="ts0" timeString="2022-10-17T08:29:00.719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4242 6598,'0'25,"0"24,0 26,24-1,-24-49,25 0,0-25,0 0,-25-25,25 0,-1-49,76-25,48-1,-24-24,25 25,25 0,-50 49,-50 1,-49 49,0 0</inkml:trace>
  <inkml:trace contextRef="#ctx0" brushRef="#br0" timeOffset="1250.3">4390 7689,'0'25,"0"0,0 49,25-49,0 25,-25-25,0-1,25 1,-25-50,0 1,49-26,-24 0,50-49,-1 25,50-25,0-1,-25 26,-24 24,-26 1,1 24,-25 25,-25-25</inkml:trace>
  <inkml:trace contextRef="#ctx0" brushRef="#br0" timeOffset="4032.18">2232 7243,'0'-25,"50"0,-50 1,50-1,-1-25,-24 25,49-24,-49-1,25 25,-25-24,-1 24,26-25,-25 50,25-49,-26 49,1-50,25 50,-25-50,24 26,1-1,-25 0,24 0,-24 0,0 1,24-1,-24 25,-25 25,-25-25,1 24,24 1,-25-25,0 0,25 25,-25-25,25 25,-25-25,25 25,-49-1,24 1,0 0,0 0,25 0,-24-25,24 24,-25-24,25 25,-25-25,25 25,-25 0,0-25,1 0,24 25,-25-25,0 25,0-25,25 24,-25 1,0-25,25 25,-24-25,-1 0,25 25,-25-25,0 0,25 25,0-1,-25-24,1 0,24 25,-25-25,0 25,0-25,0 25,1 0,24-1,-50 1,25 0,75-25,-25 0,24 0,26 50,-1-26,50 1,-49-25,-1 50,0-25,1-1,-26-24,-24 25,0 0,0 0</inkml:trace>
  <inkml:trace contextRef="#ctx0" brushRef="#br0" timeOffset="7313.88">2232 11286,'25'0,"0"-25,25 1,-26 24,26-25,0-25,-1 0,1 1,-25-1,-1 50,-24-25,25 25,-25-24,25 24,-25-25,50-25,-50 25,74-24,-49 49,0-50,24 50,-49-25,25 25,-50 0,1 0,-1 0,0 0,25 25,0 0,0 0,-25-25,25 25,-25-1,1 1,24 0,-25 0,25 0,-25-25,25 24,-25-24,25 25,-25-25,25 25,-25 0,1-25,-1 0,25 25,-25-25,25 24,-25-24,0 0,-24 25,-26 50,-24-1,-25 25,-49 1,24-26,99-24,1-50,73 0,1 0,0 0,25 0,24 24,50 1,0 0,50 0,-26 0,-24-1,1 1,-51-25,0 0,-24 25,-50 0,25-25,0 0,-1 0,1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ax="1024" units="cm"/>
          <inkml:channel name="Y" type="integer" max="768" units="cm"/>
        </inkml:traceFormat>
        <inkml:channelProperties>
          <inkml:channelProperty channel="X" name="resolution" value="44.32901" units="1/cm"/>
          <inkml:channelProperty channel="Y" name="resolution" value="44.39306" units="1/cm"/>
        </inkml:channelProperties>
      </inkml:inkSource>
      <inkml:timestamp xml:id="ts0" timeString="2022-10-17T08:37:22.61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4192 8012,'25'0,"0"0,-1 0,26 0,0 0,49 0,25 0,0 0,0 0,25 0,24 0,-49 0,-24 0,-1 0,0 0,-25 0,1 25,-1-25,-24 0,0 0,24 0,-24 0,24 25,0-25,-24 0,24 24,1-24,-1 0,1 0,24 0,25 25,-25-25,0 25,1-25,-1 0,25 0,0 25,-25-25,50 0,-25 0,25 0,-25 25,25-25,-50 0,0 0,-25 0,50 0,-24 0,24 0,0 0,-25 0,0 24,0-24,-24 0,24 0,0 0,-24 0,24 0,-25 0,50-24,-25 24,-24 0,-1-25,1 25,-1 0,1 0,-26 0,1 0,-25 0,-1 0,51 0,-26 0,26 0,-1 0,1 0,24 25,-25-25,25 24,50-24,-25 0,25 25,-25-25,25 0,25 25,-50-25,25 0,-25 0,0 0,24 0,26 0,-50 0,50 0,-50 0,25 0,-25 0,-25 0,74 0,-49 0,50 0,0 0,24 0,-24-25,-25 25,24 0,1 0,-1 0,-24 0,50 0,24-25,-25 1,1-1,-25 0,-1 0,-49 25,-25 0,50-25,-25 25,0-24,-25-1,-49 25,-25 0,0 0,-1 0</inkml:trace>
  <inkml:trace contextRef="#ctx0" brushRef="#br0" timeOffset="4169.54">4390 10244,'25'0,"0"0,25 0,24 0,50 0,50 0,123 0,100 0,149 0,49 0,-49 0,0 0,-174 0,-25 0,-49 0,-25 0,24 25,-74-25,1 25,24-25,-25 25,-25-25,1 0,49 0,-50-25,26 0,24-24,-25-1,50 50,0-25,24-49,-74 49,100-25,-25 25,-1 1,-49-26,100 25,-51-49,26 24,24 1,-25 24,1 0,24-25,-49 50,-1-49,-73-1,24 25,-25 1,-74-1,-25 0,-50 25,1 0,-51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ax="1024" units="cm"/>
          <inkml:channel name="Y" type="integer" max="768" units="cm"/>
        </inkml:traceFormat>
        <inkml:channelProperties>
          <inkml:channelProperty channel="X" name="resolution" value="44.32901" units="1/cm"/>
          <inkml:channelProperty channel="Y" name="resolution" value="44.39306" units="1/cm"/>
        </inkml:channelProperties>
      </inkml:inkSource>
      <inkml:timestamp xml:id="ts0" timeString="2022-10-17T08:38:51.463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6623 11757,'49'0,"1"0,24-24,26-1,49 25,-25-25,49 0,1 0,-1 1,26-1,-25 25,24-25,-24 25,-1-25,-24 25,0-25,25 25,-75 0,25 0,-25 0,25-24,-50 24,26 0,-26 0,0 0,26 0,-26 0,1 0,-1 0,25 0,-49 0,24 0,1 0,-1 0,0 0,-24 0,24 0,-24 0,0 0,24 0,-24 0,24 0,0 0,1 24,-25-24,-1 0,1 25,-1-25,1 25,24-25,-24 0,0 0,-1 25,26-25,-1 0,0 0,1 0,-1 0,25 0,1 0,-1 0,50 0,-50 0,25 25,25-25,24 0,-24 24,75 1,-26-25,-49 25,74-25,-25 0,1 0,-1 0,-74 0,-24 0,-1 0,-50 0,-24 0,0 0,49 0,1 0,49 0,50 0,24 0,75-50,0 50,24 0,1-49,24-1,1 1,24 24,-49 25,24 0,-24-25,-50 25,0 0,-50 0,1 0,-25 0,-26 0,26 0,0 0,-26 0,-24 0,0 0,-24 0,-1 0,25 0,-25 0,0 0,-24 0,-1 0,25 0,-24 0,-1 0,-24 0,-25 0,24 0,1 0,-50 25,25-25,0 25,-1-25,1 0,0 0,0 0,0 24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3756191-954F-4CAE-976B-C2C3B2E406EE}" type="datetimeFigureOut">
              <a:rPr lang="en-IN" smtClean="0"/>
              <a:t>23-04-2025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2E3161A-E532-44A8-81D2-F03ABCFC8EB2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03166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625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625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625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625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625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625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625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625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728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28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728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625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25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625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93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93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93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93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93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93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93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33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9933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035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035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035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035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35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035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7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137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0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240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342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342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2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342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445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445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445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445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445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45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445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547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547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47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547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98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6499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752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752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522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7523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854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854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854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 dirty="0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4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8547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70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09571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059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94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10595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>
              <a:latin typeface="Times New Roman" pitchFamily="18" charset="0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8CC5C3-C485-4FEC-9ABB-4E00E3F5A74F}" type="datetime1">
              <a:rPr lang="en-IN" smtClean="0"/>
              <a:t>23-04-2025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640345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4E822-3F60-4AF5-A2C7-5CC07F953596}" type="datetime1">
              <a:rPr lang="en-IN" smtClean="0"/>
              <a:t>23-04-2025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828242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07F75B-F604-4770-97EA-4FB9E363E92F}" type="datetime1">
              <a:rPr lang="en-IN" smtClean="0"/>
              <a:t>23-04-2025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38308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BEC78D-076C-4549-9599-0A841FAF557C}" type="datetime1">
              <a:rPr lang="en-IN" smtClean="0"/>
              <a:t>23-04-2025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738222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276CCF-8F4E-4D5E-80D3-F6B1FBCECFA8}" type="datetime1">
              <a:rPr lang="en-IN" smtClean="0"/>
              <a:t>23-04-2025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91214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3EBDCD-C353-464D-82BE-7ACA709EFAA1}" type="datetime1">
              <a:rPr lang="en-IN" smtClean="0"/>
              <a:t>23-04-2025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795929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6FA480-F1C4-4D98-A093-7342E3A9D14C}" type="datetime1">
              <a:rPr lang="en-IN" smtClean="0"/>
              <a:t>23-04-2025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132735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D840F-665C-4D62-B6F8-A82AC705A799}" type="datetime1">
              <a:rPr lang="en-IN" smtClean="0"/>
              <a:t>23-04-2025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833718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F207F4-C0BB-426F-BAC5-181399BF0C19}" type="datetime1">
              <a:rPr lang="en-IN" smtClean="0"/>
              <a:t>23-04-2025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791765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E05370-52BF-42C3-88D8-E982C96844BD}" type="datetime1">
              <a:rPr lang="en-IN" smtClean="0"/>
              <a:t>23-04-2025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887040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7189EF-A0DE-45E0-B9D0-850CDD6EACD1}" type="datetime1">
              <a:rPr lang="en-IN" smtClean="0"/>
              <a:t>23-04-2025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89251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310AE1-C54E-4167-9DEA-09DFF1386CF5}" type="datetime1">
              <a:rPr lang="en-IN" smtClean="0"/>
              <a:t>23-04-2025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IN"/>
              <a:t>Prof. Shweta Dhawan Chachra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8A52E6-026E-47BF-8202-76BE67A0583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487196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emf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emf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customXml" Target="../ink/ink3.xml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emf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customXml" Target="../ink/ink4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emf"/><Relationship Id="rId2" Type="http://schemas.openxmlformats.org/officeDocument/2006/relationships/customXml" Target="../ink/ink5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Module 3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IPC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AA00E1-0F93-4DCD-A175-135A473E9809}" type="datetime1">
              <a:rPr lang="en-IN" smtClean="0"/>
              <a:t>23-04-2025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181295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Title 1"/>
          <p:cNvSpPr>
            <a:spLocks noGrp="1"/>
          </p:cNvSpPr>
          <p:nvPr>
            <p:ph type="title"/>
          </p:nvPr>
        </p:nvSpPr>
        <p:spPr>
          <a:xfrm>
            <a:off x="982663" y="168275"/>
            <a:ext cx="7704137" cy="576263"/>
          </a:xfrm>
        </p:spPr>
        <p:txBody>
          <a:bodyPr>
            <a:normAutofit fontScale="90000"/>
          </a:bodyPr>
          <a:lstStyle/>
          <a:p>
            <a:r>
              <a:rPr lang="en-US" altLang="en-US"/>
              <a:t>Interprocess Communication</a:t>
            </a:r>
          </a:p>
        </p:txBody>
      </p:sp>
      <p:sp>
        <p:nvSpPr>
          <p:cNvPr id="31747" name="Content Placeholder 2"/>
          <p:cNvSpPr>
            <a:spLocks noGrp="1"/>
          </p:cNvSpPr>
          <p:nvPr>
            <p:ph idx="1"/>
          </p:nvPr>
        </p:nvSpPr>
        <p:spPr>
          <a:xfrm>
            <a:off x="885825" y="1154113"/>
            <a:ext cx="7485063" cy="4530725"/>
          </a:xfrm>
        </p:spPr>
        <p:txBody>
          <a:bodyPr>
            <a:normAutofit/>
          </a:bodyPr>
          <a:lstStyle/>
          <a:p>
            <a:r>
              <a:rPr lang="en-US" altLang="en-US" sz="2600" dirty="0"/>
              <a:t>Processes within a system may be </a:t>
            </a:r>
          </a:p>
          <a:p>
            <a:pPr lvl="1"/>
            <a:r>
              <a:rPr lang="en-US" altLang="en-US" sz="2200" b="1" i="1" dirty="0"/>
              <a:t>independent</a:t>
            </a:r>
            <a:r>
              <a:rPr lang="en-US" altLang="en-US" sz="2200" b="1" dirty="0"/>
              <a:t> </a:t>
            </a:r>
            <a:r>
              <a:rPr lang="en-US" altLang="en-US" sz="2200" dirty="0"/>
              <a:t>or </a:t>
            </a:r>
          </a:p>
          <a:p>
            <a:pPr lvl="1"/>
            <a:r>
              <a:rPr lang="en-US" altLang="en-US" sz="2200" b="1" i="1" dirty="0"/>
              <a:t>cooperating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333289-598B-4EBE-995C-1AE49FDDD900}" type="datetime1">
              <a:rPr lang="en-IN" smtClean="0"/>
              <a:t>23-04-2025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646914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Title 1"/>
          <p:cNvSpPr>
            <a:spLocks noGrp="1"/>
          </p:cNvSpPr>
          <p:nvPr>
            <p:ph type="title"/>
          </p:nvPr>
        </p:nvSpPr>
        <p:spPr>
          <a:xfrm>
            <a:off x="982663" y="168275"/>
            <a:ext cx="7704137" cy="576263"/>
          </a:xfrm>
        </p:spPr>
        <p:txBody>
          <a:bodyPr>
            <a:normAutofit fontScale="90000"/>
          </a:bodyPr>
          <a:lstStyle/>
          <a:p>
            <a:r>
              <a:rPr lang="en-US" altLang="en-US"/>
              <a:t>Interprocess Communication</a:t>
            </a:r>
          </a:p>
        </p:txBody>
      </p:sp>
      <p:sp>
        <p:nvSpPr>
          <p:cNvPr id="31747" name="Content Placeholder 2"/>
          <p:cNvSpPr>
            <a:spLocks noGrp="1"/>
          </p:cNvSpPr>
          <p:nvPr>
            <p:ph idx="1"/>
          </p:nvPr>
        </p:nvSpPr>
        <p:spPr>
          <a:xfrm>
            <a:off x="885825" y="1154113"/>
            <a:ext cx="7485063" cy="4530725"/>
          </a:xfrm>
        </p:spPr>
        <p:txBody>
          <a:bodyPr>
            <a:normAutofit/>
          </a:bodyPr>
          <a:lstStyle/>
          <a:p>
            <a:r>
              <a:rPr lang="en-US" altLang="en-US" sz="2600" b="1" i="1" dirty="0"/>
              <a:t>Independent Process- </a:t>
            </a:r>
          </a:p>
          <a:p>
            <a:pPr lvl="1"/>
            <a:r>
              <a:rPr lang="en-US" altLang="en-US" sz="2600" i="1" dirty="0"/>
              <a:t>If it </a:t>
            </a:r>
            <a:r>
              <a:rPr lang="en-US" altLang="en-US" sz="2600" i="1" dirty="0">
                <a:highlight>
                  <a:srgbClr val="FFFF00"/>
                </a:highlight>
              </a:rPr>
              <a:t>cannot affect or be affected by </a:t>
            </a:r>
            <a:r>
              <a:rPr lang="en-US" altLang="en-US" sz="2600" i="1" dirty="0"/>
              <a:t>other processes executing in the system</a:t>
            </a:r>
          </a:p>
          <a:p>
            <a:pPr lvl="1"/>
            <a:r>
              <a:rPr lang="en-US" altLang="en-US" sz="2600" i="1" dirty="0"/>
              <a:t>Any process that </a:t>
            </a:r>
            <a:r>
              <a:rPr lang="en-US" altLang="en-US" sz="2600" i="1" dirty="0">
                <a:highlight>
                  <a:srgbClr val="FFFF00"/>
                </a:highlight>
              </a:rPr>
              <a:t>does not share any data with any other process </a:t>
            </a:r>
          </a:p>
          <a:p>
            <a:endParaRPr lang="en-US" altLang="en-US" sz="2600" b="1" dirty="0"/>
          </a:p>
          <a:p>
            <a:r>
              <a:rPr lang="en-US" altLang="en-US" sz="2600" b="1" dirty="0"/>
              <a:t>Cooperating process-</a:t>
            </a:r>
          </a:p>
          <a:p>
            <a:pPr lvl="1"/>
            <a:r>
              <a:rPr lang="en-US" altLang="en-US" sz="2600" dirty="0">
                <a:highlight>
                  <a:srgbClr val="FFFF00"/>
                </a:highlight>
              </a:rPr>
              <a:t>can affect or be affected by other processes</a:t>
            </a:r>
            <a:r>
              <a:rPr lang="en-US" altLang="en-US" sz="2600" dirty="0"/>
              <a:t>, </a:t>
            </a:r>
          </a:p>
          <a:p>
            <a:pPr lvl="1"/>
            <a:r>
              <a:rPr lang="en-US" altLang="en-US" sz="2600" dirty="0"/>
              <a:t>Any process that  </a:t>
            </a:r>
            <a:r>
              <a:rPr lang="en-US" altLang="en-US" sz="2600" dirty="0">
                <a:highlight>
                  <a:srgbClr val="FFFF00"/>
                </a:highlight>
              </a:rPr>
              <a:t>shares data with other process</a:t>
            </a:r>
          </a:p>
          <a:p>
            <a:pPr lvl="1"/>
            <a:endParaRPr lang="en-US" alt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DCB8DE-17DF-45A4-98B9-426EA507EDA3}" type="datetime1">
              <a:rPr lang="en-IN" smtClean="0"/>
              <a:t>23-04-2025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573863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4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747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Title 1"/>
          <p:cNvSpPr>
            <a:spLocks noGrp="1"/>
          </p:cNvSpPr>
          <p:nvPr>
            <p:ph type="title"/>
          </p:nvPr>
        </p:nvSpPr>
        <p:spPr>
          <a:xfrm>
            <a:off x="982663" y="168275"/>
            <a:ext cx="7704137" cy="576263"/>
          </a:xfrm>
        </p:spPr>
        <p:txBody>
          <a:bodyPr>
            <a:normAutofit fontScale="90000"/>
          </a:bodyPr>
          <a:lstStyle/>
          <a:p>
            <a:r>
              <a:rPr lang="en-US" altLang="en-US"/>
              <a:t>Interprocess Communication</a:t>
            </a:r>
          </a:p>
        </p:txBody>
      </p:sp>
      <p:sp>
        <p:nvSpPr>
          <p:cNvPr id="31747" name="Content Placeholder 2"/>
          <p:cNvSpPr>
            <a:spLocks noGrp="1"/>
          </p:cNvSpPr>
          <p:nvPr>
            <p:ph idx="1"/>
          </p:nvPr>
        </p:nvSpPr>
        <p:spPr>
          <a:xfrm>
            <a:off x="885825" y="1154113"/>
            <a:ext cx="7485063" cy="4530725"/>
          </a:xfrm>
        </p:spPr>
        <p:txBody>
          <a:bodyPr>
            <a:normAutofit/>
          </a:bodyPr>
          <a:lstStyle/>
          <a:p>
            <a:r>
              <a:rPr lang="en-US" altLang="en-US" dirty="0"/>
              <a:t>Reasons for cooperating processes:</a:t>
            </a:r>
          </a:p>
          <a:p>
            <a:pPr lvl="1"/>
            <a:r>
              <a:rPr lang="en-US" altLang="en-US" dirty="0"/>
              <a:t>Information sharing</a:t>
            </a:r>
          </a:p>
          <a:p>
            <a:pPr lvl="2"/>
            <a:r>
              <a:rPr lang="en-IN" altLang="en-US" dirty="0"/>
              <a:t>Since several users may be interested in the same piece of information (for instance, a shared file), </a:t>
            </a:r>
          </a:p>
          <a:p>
            <a:pPr lvl="2"/>
            <a:endParaRPr lang="en-IN" altLang="en-US" dirty="0"/>
          </a:p>
          <a:p>
            <a:pPr lvl="2"/>
            <a:r>
              <a:rPr lang="en-IN" altLang="en-US" dirty="0"/>
              <a:t>we must provide an environment to allow concurrent access to such information.</a:t>
            </a:r>
            <a:endParaRPr lang="en-US" alt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F62302-9D39-480F-AF42-1FD7EA43336F}" type="datetime1">
              <a:rPr lang="en-IN" smtClean="0"/>
              <a:t>23-04-2025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242792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Title 1"/>
          <p:cNvSpPr>
            <a:spLocks noGrp="1"/>
          </p:cNvSpPr>
          <p:nvPr>
            <p:ph type="title"/>
          </p:nvPr>
        </p:nvSpPr>
        <p:spPr>
          <a:xfrm>
            <a:off x="982663" y="168275"/>
            <a:ext cx="7704137" cy="576263"/>
          </a:xfrm>
        </p:spPr>
        <p:txBody>
          <a:bodyPr>
            <a:normAutofit fontScale="90000"/>
          </a:bodyPr>
          <a:lstStyle/>
          <a:p>
            <a:r>
              <a:rPr lang="en-US" altLang="en-US"/>
              <a:t>Interprocess Communication</a:t>
            </a:r>
          </a:p>
        </p:txBody>
      </p:sp>
      <p:sp>
        <p:nvSpPr>
          <p:cNvPr id="31747" name="Content Placeholder 2"/>
          <p:cNvSpPr>
            <a:spLocks noGrp="1"/>
          </p:cNvSpPr>
          <p:nvPr>
            <p:ph idx="1"/>
          </p:nvPr>
        </p:nvSpPr>
        <p:spPr>
          <a:xfrm>
            <a:off x="885825" y="1154113"/>
            <a:ext cx="7485063" cy="4530725"/>
          </a:xfrm>
        </p:spPr>
        <p:txBody>
          <a:bodyPr>
            <a:normAutofit/>
          </a:bodyPr>
          <a:lstStyle/>
          <a:p>
            <a:r>
              <a:rPr lang="en-US" altLang="en-US" dirty="0"/>
              <a:t>Reasons for cooperating processes:</a:t>
            </a:r>
          </a:p>
          <a:p>
            <a:pPr lvl="1"/>
            <a:r>
              <a:rPr lang="en-US" altLang="en-US" dirty="0"/>
              <a:t>Computation speedup</a:t>
            </a:r>
          </a:p>
          <a:p>
            <a:pPr lvl="2"/>
            <a:r>
              <a:rPr lang="en-IN" altLang="en-US" dirty="0"/>
              <a:t>If we want a particular task to run faster, </a:t>
            </a:r>
          </a:p>
          <a:p>
            <a:pPr lvl="3"/>
            <a:r>
              <a:rPr lang="en-IN" altLang="en-US" dirty="0"/>
              <a:t>we must break it into subtasks, </a:t>
            </a:r>
          </a:p>
          <a:p>
            <a:pPr lvl="3"/>
            <a:r>
              <a:rPr lang="en-IN" altLang="en-US" dirty="0"/>
              <a:t>each of which will be executing in parallel with the others. </a:t>
            </a:r>
          </a:p>
          <a:p>
            <a:pPr lvl="3"/>
            <a:endParaRPr lang="en-IN" altLang="en-US" dirty="0"/>
          </a:p>
          <a:p>
            <a:pPr lvl="2"/>
            <a:r>
              <a:rPr lang="en-IN" altLang="en-US" dirty="0"/>
              <a:t>A speedup can be achieved only if </a:t>
            </a:r>
          </a:p>
          <a:p>
            <a:pPr lvl="3"/>
            <a:r>
              <a:rPr lang="en-IN" altLang="en-US" dirty="0"/>
              <a:t>the computer has multiple processing elements (such as CPUs or I/O channels).</a:t>
            </a:r>
            <a:endParaRPr lang="en-US" alt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80166B-C610-43EF-9C60-48B6816DEEA2}" type="datetime1">
              <a:rPr lang="en-IN" smtClean="0"/>
              <a:t>23-04-2025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074032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Title 1"/>
          <p:cNvSpPr>
            <a:spLocks noGrp="1"/>
          </p:cNvSpPr>
          <p:nvPr>
            <p:ph type="title"/>
          </p:nvPr>
        </p:nvSpPr>
        <p:spPr>
          <a:xfrm>
            <a:off x="982663" y="168275"/>
            <a:ext cx="7704137" cy="576263"/>
          </a:xfrm>
        </p:spPr>
        <p:txBody>
          <a:bodyPr>
            <a:normAutofit fontScale="90000"/>
          </a:bodyPr>
          <a:lstStyle/>
          <a:p>
            <a:r>
              <a:rPr lang="en-US" altLang="en-US"/>
              <a:t>Interprocess Communication</a:t>
            </a:r>
          </a:p>
        </p:txBody>
      </p:sp>
      <p:sp>
        <p:nvSpPr>
          <p:cNvPr id="31747" name="Content Placeholder 2"/>
          <p:cNvSpPr>
            <a:spLocks noGrp="1"/>
          </p:cNvSpPr>
          <p:nvPr>
            <p:ph idx="1"/>
          </p:nvPr>
        </p:nvSpPr>
        <p:spPr>
          <a:xfrm>
            <a:off x="885825" y="1154113"/>
            <a:ext cx="7485063" cy="4530725"/>
          </a:xfrm>
        </p:spPr>
        <p:txBody>
          <a:bodyPr>
            <a:normAutofit lnSpcReduction="10000"/>
          </a:bodyPr>
          <a:lstStyle/>
          <a:p>
            <a:r>
              <a:rPr lang="en-US" altLang="en-US" dirty="0"/>
              <a:t>Reasons for cooperating processes:</a:t>
            </a:r>
          </a:p>
          <a:p>
            <a:pPr lvl="1"/>
            <a:r>
              <a:rPr lang="en-US" altLang="en-US" dirty="0"/>
              <a:t>Modularity</a:t>
            </a:r>
          </a:p>
          <a:p>
            <a:pPr lvl="2"/>
            <a:r>
              <a:rPr lang="en-IN" altLang="en-US" dirty="0"/>
              <a:t>We may want to construct the system in a modular fashion, </a:t>
            </a:r>
          </a:p>
          <a:p>
            <a:pPr lvl="2"/>
            <a:r>
              <a:rPr lang="en-IN" altLang="en-US" dirty="0"/>
              <a:t>dividing the system functions into separate processes or threads,</a:t>
            </a:r>
            <a:endParaRPr lang="en-US" altLang="en-US" dirty="0"/>
          </a:p>
          <a:p>
            <a:pPr lvl="1"/>
            <a:r>
              <a:rPr lang="en-US" altLang="en-US" dirty="0"/>
              <a:t>Convenience</a:t>
            </a:r>
          </a:p>
          <a:p>
            <a:pPr lvl="2"/>
            <a:r>
              <a:rPr lang="en-IN" altLang="en-US" dirty="0"/>
              <a:t>Even an individual user may work on many tasks at the same time. </a:t>
            </a:r>
          </a:p>
          <a:p>
            <a:pPr lvl="2"/>
            <a:r>
              <a:rPr lang="en-IN" altLang="en-US" dirty="0"/>
              <a:t>For instance, a user may be editing, printing, and compiling in parallel.</a:t>
            </a:r>
            <a:endParaRPr lang="en-US" alt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59AB34-08ED-4D28-8722-EBB97347B7A9}" type="datetime1">
              <a:rPr lang="en-IN" smtClean="0"/>
              <a:t>23-04-2025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713188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Title 1"/>
          <p:cNvSpPr>
            <a:spLocks noGrp="1"/>
          </p:cNvSpPr>
          <p:nvPr>
            <p:ph type="title"/>
          </p:nvPr>
        </p:nvSpPr>
        <p:spPr>
          <a:xfrm>
            <a:off x="982663" y="168275"/>
            <a:ext cx="7704137" cy="576263"/>
          </a:xfrm>
        </p:spPr>
        <p:txBody>
          <a:bodyPr>
            <a:normAutofit fontScale="90000"/>
          </a:bodyPr>
          <a:lstStyle/>
          <a:p>
            <a:r>
              <a:rPr lang="en-US" altLang="en-US"/>
              <a:t>Interprocess Communication</a:t>
            </a:r>
          </a:p>
        </p:txBody>
      </p:sp>
      <p:sp>
        <p:nvSpPr>
          <p:cNvPr id="31747" name="Content Placeholder 2"/>
          <p:cNvSpPr>
            <a:spLocks noGrp="1"/>
          </p:cNvSpPr>
          <p:nvPr>
            <p:ph idx="1"/>
          </p:nvPr>
        </p:nvSpPr>
        <p:spPr>
          <a:xfrm>
            <a:off x="885825" y="1154113"/>
            <a:ext cx="7485063" cy="4530725"/>
          </a:xfrm>
        </p:spPr>
        <p:txBody>
          <a:bodyPr>
            <a:normAutofit/>
          </a:bodyPr>
          <a:lstStyle/>
          <a:p>
            <a:r>
              <a:rPr lang="en-US" altLang="en-US" sz="2800" dirty="0"/>
              <a:t>Cooperating processes need </a:t>
            </a:r>
            <a:r>
              <a:rPr lang="en-US" altLang="en-US" sz="2800" b="1" dirty="0" err="1">
                <a:solidFill>
                  <a:srgbClr val="3366FF"/>
                </a:solidFill>
              </a:rPr>
              <a:t>interprocess</a:t>
            </a:r>
            <a:r>
              <a:rPr lang="en-US" altLang="en-US" sz="2800" b="1" dirty="0">
                <a:solidFill>
                  <a:srgbClr val="3366FF"/>
                </a:solidFill>
              </a:rPr>
              <a:t> communication </a:t>
            </a:r>
            <a:r>
              <a:rPr lang="en-US" altLang="en-US" sz="2800" dirty="0"/>
              <a:t>(</a:t>
            </a:r>
            <a:r>
              <a:rPr lang="en-US" altLang="en-US" sz="2800" b="1" dirty="0">
                <a:solidFill>
                  <a:srgbClr val="3366FF"/>
                </a:solidFill>
              </a:rPr>
              <a:t>IPC</a:t>
            </a:r>
            <a:r>
              <a:rPr lang="en-US" altLang="en-US" sz="2800" dirty="0"/>
              <a:t>) mechanism to exchange data and information</a:t>
            </a:r>
          </a:p>
          <a:p>
            <a:endParaRPr lang="en-US" altLang="en-US" sz="2800" dirty="0"/>
          </a:p>
          <a:p>
            <a:pPr lvl="1"/>
            <a:endParaRPr lang="en-US" altLang="en-US" dirty="0"/>
          </a:p>
        </p:txBody>
      </p:sp>
      <p:pic>
        <p:nvPicPr>
          <p:cNvPr id="8194" name="Picture 2" descr="Interprocess Communication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9632" y="3789040"/>
            <a:ext cx="6924675" cy="1562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64C4DB-B726-406A-AFE1-A4B576FA0C24}" type="datetime1">
              <a:rPr lang="en-IN" smtClean="0"/>
              <a:t>23-04-2025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0838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Title 1"/>
          <p:cNvSpPr>
            <a:spLocks noGrp="1"/>
          </p:cNvSpPr>
          <p:nvPr>
            <p:ph type="title"/>
          </p:nvPr>
        </p:nvSpPr>
        <p:spPr>
          <a:xfrm>
            <a:off x="982663" y="168275"/>
            <a:ext cx="7704137" cy="576263"/>
          </a:xfrm>
        </p:spPr>
        <p:txBody>
          <a:bodyPr>
            <a:normAutofit fontScale="90000"/>
          </a:bodyPr>
          <a:lstStyle/>
          <a:p>
            <a:r>
              <a:rPr lang="en-US" altLang="en-US"/>
              <a:t>Interprocess Communication</a:t>
            </a:r>
          </a:p>
        </p:txBody>
      </p:sp>
      <p:sp>
        <p:nvSpPr>
          <p:cNvPr id="31747" name="Content Placeholder 2"/>
          <p:cNvSpPr>
            <a:spLocks noGrp="1"/>
          </p:cNvSpPr>
          <p:nvPr>
            <p:ph idx="1"/>
          </p:nvPr>
        </p:nvSpPr>
        <p:spPr>
          <a:xfrm>
            <a:off x="885825" y="1154113"/>
            <a:ext cx="7485063" cy="4530725"/>
          </a:xfrm>
        </p:spPr>
        <p:txBody>
          <a:bodyPr>
            <a:normAutofit/>
          </a:bodyPr>
          <a:lstStyle/>
          <a:p>
            <a:endParaRPr lang="en-US" altLang="en-US" sz="2800" dirty="0"/>
          </a:p>
          <a:p>
            <a:r>
              <a:rPr lang="en-US" altLang="en-US" sz="2800" dirty="0"/>
              <a:t>Two models of IPC</a:t>
            </a:r>
          </a:p>
          <a:p>
            <a:pPr lvl="1"/>
            <a:r>
              <a:rPr lang="en-US" altLang="en-US" sz="2400" b="1" dirty="0">
                <a:solidFill>
                  <a:srgbClr val="3366FF"/>
                </a:solidFill>
              </a:rPr>
              <a:t>Shared memory</a:t>
            </a:r>
          </a:p>
          <a:p>
            <a:pPr lvl="1"/>
            <a:r>
              <a:rPr lang="en-US" altLang="en-US" sz="2400" b="1" dirty="0">
                <a:solidFill>
                  <a:srgbClr val="3366FF"/>
                </a:solidFill>
              </a:rPr>
              <a:t>Message passing</a:t>
            </a:r>
          </a:p>
          <a:p>
            <a:pPr lvl="1"/>
            <a:endParaRPr lang="en-US" altLang="en-US" dirty="0"/>
          </a:p>
        </p:txBody>
      </p:sp>
      <p:sp>
        <p:nvSpPr>
          <p:cNvPr id="2" name="AutoShape 2" descr="Inter Process Communication in Operating System (OS) » PREP INSTA"/>
          <p:cNvSpPr>
            <a:spLocks noChangeAspect="1" noChangeArrowheads="1"/>
          </p:cNvSpPr>
          <p:nvPr/>
        </p:nvSpPr>
        <p:spPr bwMode="auto">
          <a:xfrm>
            <a:off x="155575" y="-830263"/>
            <a:ext cx="1733550" cy="1733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3" name="AutoShape 4" descr="Inter Process Communication in Operating System (OS) » PREP INSTA"/>
          <p:cNvSpPr>
            <a:spLocks noChangeAspect="1" noChangeArrowheads="1"/>
          </p:cNvSpPr>
          <p:nvPr/>
        </p:nvSpPr>
        <p:spPr bwMode="auto">
          <a:xfrm>
            <a:off x="307975" y="-677863"/>
            <a:ext cx="1733550" cy="1733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4" name="AutoShape 6" descr="Inter Process Communication in Operating System (OS) » PREP INSTA"/>
          <p:cNvSpPr>
            <a:spLocks noChangeAspect="1" noChangeArrowheads="1"/>
          </p:cNvSpPr>
          <p:nvPr/>
        </p:nvSpPr>
        <p:spPr bwMode="auto">
          <a:xfrm>
            <a:off x="460375" y="-525463"/>
            <a:ext cx="1733550" cy="1733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pic>
        <p:nvPicPr>
          <p:cNvPr id="9224" name="Picture 8" descr="Inter Process Communication in Operating System (OS) » PREP INSTA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304" b="21442"/>
          <a:stretch/>
        </p:blipFill>
        <p:spPr bwMode="auto">
          <a:xfrm>
            <a:off x="1825724" y="3573016"/>
            <a:ext cx="4762500" cy="22028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DCF21-CF67-444D-9FB5-D0E9A5DCE2A6}" type="datetime1">
              <a:rPr lang="en-IN" smtClean="0"/>
              <a:t>23-04-2025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388578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Title 1"/>
          <p:cNvSpPr>
            <a:spLocks noGrp="1"/>
          </p:cNvSpPr>
          <p:nvPr>
            <p:ph type="title"/>
          </p:nvPr>
        </p:nvSpPr>
        <p:spPr>
          <a:xfrm>
            <a:off x="982663" y="168275"/>
            <a:ext cx="7704137" cy="576263"/>
          </a:xfrm>
        </p:spPr>
        <p:txBody>
          <a:bodyPr>
            <a:normAutofit fontScale="90000"/>
          </a:bodyPr>
          <a:lstStyle/>
          <a:p>
            <a:r>
              <a:rPr lang="en-US" altLang="en-US"/>
              <a:t>Interprocess Communication</a:t>
            </a:r>
          </a:p>
        </p:txBody>
      </p:sp>
      <p:sp>
        <p:nvSpPr>
          <p:cNvPr id="31747" name="Content Placeholder 2"/>
          <p:cNvSpPr>
            <a:spLocks noGrp="1"/>
          </p:cNvSpPr>
          <p:nvPr>
            <p:ph idx="1"/>
          </p:nvPr>
        </p:nvSpPr>
        <p:spPr>
          <a:xfrm>
            <a:off x="395536" y="836712"/>
            <a:ext cx="8280920" cy="4530725"/>
          </a:xfrm>
        </p:spPr>
        <p:txBody>
          <a:bodyPr>
            <a:normAutofit/>
          </a:bodyPr>
          <a:lstStyle/>
          <a:p>
            <a:r>
              <a:rPr lang="en-IN" sz="2400" dirty="0"/>
              <a:t>In the shared-memory model, </a:t>
            </a:r>
          </a:p>
          <a:p>
            <a:pPr lvl="1"/>
            <a:r>
              <a:rPr lang="en-IN" sz="2400" dirty="0"/>
              <a:t>A region of memory that is shared by cooperating processes is established. </a:t>
            </a:r>
          </a:p>
          <a:p>
            <a:pPr lvl="1"/>
            <a:r>
              <a:rPr lang="en-IN" sz="2400" dirty="0"/>
              <a:t>Processes can then exchange information by reading and writing data to the shared region.</a:t>
            </a:r>
          </a:p>
          <a:p>
            <a:endParaRPr lang="en-IN" sz="2400" dirty="0"/>
          </a:p>
          <a:p>
            <a:r>
              <a:rPr lang="en-IN" sz="2400" dirty="0"/>
              <a:t>In the message passing model, </a:t>
            </a:r>
          </a:p>
          <a:p>
            <a:pPr lvl="1"/>
            <a:r>
              <a:rPr lang="en-IN" sz="2400" dirty="0"/>
              <a:t>communication takes place by means of messages exchanged between the cooperating processes.</a:t>
            </a:r>
            <a:endParaRPr lang="en-US" altLang="en-US" sz="2400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F3215B-AC67-47DB-A84A-418509634AB3}" type="datetime1">
              <a:rPr lang="en-IN" smtClean="0"/>
              <a:t>23-04-2025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123018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182563"/>
            <a:ext cx="8229600" cy="576262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/>
              <a:t>Communications Models </a:t>
            </a:r>
          </a:p>
        </p:txBody>
      </p:sp>
      <p:pic>
        <p:nvPicPr>
          <p:cNvPr id="32771" name="Picture 1" descr="3_12.pdf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4013" y="1725613"/>
            <a:ext cx="6100762" cy="4324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772" name="Rectangle 3"/>
          <p:cNvSpPr>
            <a:spLocks noChangeArrowheads="1"/>
          </p:cNvSpPr>
          <p:nvPr/>
        </p:nvSpPr>
        <p:spPr bwMode="auto">
          <a:xfrm>
            <a:off x="969963" y="1143000"/>
            <a:ext cx="6372225" cy="368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Verdana" pitchFamily="34" charset="0"/>
                <a:ea typeface="MS PGothic" pitchFamily="34" charset="-128"/>
              </a:defRPr>
            </a:lvl9pPr>
          </a:lstStyle>
          <a:p>
            <a:r>
              <a:rPr lang="en-US" altLang="en-US" b="1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en-US" altLang="en-US">
                <a:solidFill>
                  <a:srgbClr val="000000"/>
                </a:solidFill>
                <a:latin typeface="Courier New" pitchFamily="49" charset="0"/>
                <a:cs typeface="Courier New" pitchFamily="49" charset="0"/>
              </a:rPr>
              <a:t>a) Message passing.  (b) shared memory. </a:t>
            </a:r>
            <a:r>
              <a:rPr lang="en-US" altLang="en-US">
                <a:cs typeface="Courier New" pitchFamily="49" charset="0"/>
              </a:rPr>
              <a:t> 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1D7CF-510E-4908-A6B6-C010A878E3DD}" type="datetime1">
              <a:rPr lang="en-IN" smtClean="0"/>
              <a:t>23-04-2025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10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234669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182563"/>
            <a:ext cx="8229600" cy="576262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/>
              <a:t>Communications Models </a:t>
            </a:r>
          </a:p>
        </p:txBody>
      </p:sp>
      <p:pic>
        <p:nvPicPr>
          <p:cNvPr id="5124" name="Picture 4" descr="Interprocess Communication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1014" y="1133822"/>
            <a:ext cx="6924675" cy="4743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2FC8AA-C33C-49A7-B57E-853E51455A7C}" type="datetime1">
              <a:rPr lang="en-IN" smtClean="0"/>
              <a:t>23-04-2025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11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158603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Title 1"/>
          <p:cNvSpPr>
            <a:spLocks noGrp="1"/>
          </p:cNvSpPr>
          <p:nvPr>
            <p:ph type="title"/>
          </p:nvPr>
        </p:nvSpPr>
        <p:spPr>
          <a:xfrm>
            <a:off x="395536" y="288032"/>
            <a:ext cx="4176464" cy="548680"/>
          </a:xfrm>
        </p:spPr>
        <p:txBody>
          <a:bodyPr>
            <a:noAutofit/>
          </a:bodyPr>
          <a:lstStyle/>
          <a:p>
            <a:r>
              <a:rPr lang="en-US" altLang="en-US" sz="2400" dirty="0"/>
              <a:t>Message Passing</a:t>
            </a:r>
          </a:p>
        </p:txBody>
      </p:sp>
      <p:sp>
        <p:nvSpPr>
          <p:cNvPr id="31747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r>
              <a:rPr lang="en-IN" sz="2400" dirty="0"/>
              <a:t>Message passing is useful for</a:t>
            </a:r>
          </a:p>
          <a:p>
            <a:pPr lvl="1"/>
            <a:r>
              <a:rPr lang="en-IN" dirty="0"/>
              <a:t> </a:t>
            </a:r>
            <a:r>
              <a:rPr lang="en-IN" b="1" u="sng" dirty="0"/>
              <a:t>exchanging smaller </a:t>
            </a:r>
            <a:r>
              <a:rPr lang="en-IN" dirty="0"/>
              <a:t>amounts of data, </a:t>
            </a:r>
          </a:p>
          <a:p>
            <a:pPr lvl="1"/>
            <a:r>
              <a:rPr lang="en-IN" dirty="0"/>
              <a:t>because no conflicts need be avoided. </a:t>
            </a:r>
          </a:p>
          <a:p>
            <a:r>
              <a:rPr lang="en-IN" sz="2400" dirty="0"/>
              <a:t>Message passing is also easier to implement than </a:t>
            </a:r>
          </a:p>
          <a:p>
            <a:pPr lvl="1"/>
            <a:r>
              <a:rPr lang="en-IN" dirty="0"/>
              <a:t>shared memory for </a:t>
            </a:r>
            <a:r>
              <a:rPr lang="en-IN" dirty="0" err="1"/>
              <a:t>interprocess</a:t>
            </a:r>
            <a:r>
              <a:rPr lang="en-IN" dirty="0"/>
              <a:t> communication.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IN" sz="2400" dirty="0"/>
              <a:t>Shared memory allows </a:t>
            </a:r>
          </a:p>
          <a:p>
            <a:pPr lvl="1"/>
            <a:r>
              <a:rPr lang="en-IN" b="1" u="sng" dirty="0"/>
              <a:t>maximum speed </a:t>
            </a:r>
            <a:r>
              <a:rPr lang="en-IN" dirty="0"/>
              <a:t>and convenience of communication</a:t>
            </a:r>
          </a:p>
          <a:p>
            <a:r>
              <a:rPr lang="en-IN" sz="2400" b="1" u="sng" dirty="0"/>
              <a:t>Shared memory is faster </a:t>
            </a:r>
          </a:p>
          <a:p>
            <a:pPr lvl="1"/>
            <a:r>
              <a:rPr lang="en-IN" dirty="0"/>
              <a:t>than message passing.</a:t>
            </a:r>
          </a:p>
        </p:txBody>
      </p:sp>
      <p:sp>
        <p:nvSpPr>
          <p:cNvPr id="6" name="Title 1"/>
          <p:cNvSpPr txBox="1">
            <a:spLocks/>
          </p:cNvSpPr>
          <p:nvPr/>
        </p:nvSpPr>
        <p:spPr>
          <a:xfrm>
            <a:off x="4860032" y="288032"/>
            <a:ext cx="4176464" cy="54868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2400" dirty="0"/>
              <a:t>Shared memory</a:t>
            </a:r>
            <a:endParaRPr lang="en-US" altLang="en-US" sz="2400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5ED191-01CE-4C25-95AC-490644024D37}" type="datetime1">
              <a:rPr lang="en-IN" smtClean="0"/>
              <a:t>23-04-2025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12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407932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Title 1"/>
          <p:cNvSpPr>
            <a:spLocks noGrp="1"/>
          </p:cNvSpPr>
          <p:nvPr>
            <p:ph type="title"/>
          </p:nvPr>
        </p:nvSpPr>
        <p:spPr>
          <a:xfrm>
            <a:off x="395536" y="288032"/>
            <a:ext cx="4176464" cy="548680"/>
          </a:xfrm>
        </p:spPr>
        <p:txBody>
          <a:bodyPr>
            <a:noAutofit/>
          </a:bodyPr>
          <a:lstStyle/>
          <a:p>
            <a:r>
              <a:rPr lang="en-US" altLang="en-US" sz="2400" dirty="0"/>
              <a:t>Message Passing</a:t>
            </a:r>
          </a:p>
        </p:txBody>
      </p:sp>
      <p:sp>
        <p:nvSpPr>
          <p:cNvPr id="31747" name="Content Placeholder 2"/>
          <p:cNvSpPr>
            <a:spLocks noGrp="1"/>
          </p:cNvSpPr>
          <p:nvPr>
            <p:ph sz="half" idx="1"/>
          </p:nvPr>
        </p:nvSpPr>
        <p:spPr/>
        <p:txBody>
          <a:bodyPr>
            <a:noAutofit/>
          </a:bodyPr>
          <a:lstStyle/>
          <a:p>
            <a:r>
              <a:rPr lang="en-IN" sz="2400" b="1" u="sng" dirty="0"/>
              <a:t>Slower </a:t>
            </a:r>
            <a:r>
              <a:rPr lang="en-IN" sz="2400" dirty="0"/>
              <a:t>As message passing systems are typically implemented </a:t>
            </a:r>
          </a:p>
          <a:p>
            <a:pPr lvl="1"/>
            <a:r>
              <a:rPr lang="en-IN" b="1" dirty="0"/>
              <a:t>using system calls and </a:t>
            </a:r>
          </a:p>
          <a:p>
            <a:pPr lvl="1"/>
            <a:r>
              <a:rPr lang="en-IN" b="1" dirty="0"/>
              <a:t>thus require the more time-consuming task of kernel intervention.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IN" sz="2400" dirty="0"/>
              <a:t>Faster as In shared memory systems, </a:t>
            </a:r>
          </a:p>
          <a:p>
            <a:pPr lvl="1"/>
            <a:r>
              <a:rPr lang="en-IN" dirty="0"/>
              <a:t>system calls are required only to establish shared-memory regions. </a:t>
            </a:r>
          </a:p>
          <a:p>
            <a:pPr lvl="1"/>
            <a:r>
              <a:rPr lang="en-IN" b="1" u="sng" dirty="0"/>
              <a:t>Once shared memory is established</a:t>
            </a:r>
            <a:r>
              <a:rPr lang="en-IN" dirty="0"/>
              <a:t>, </a:t>
            </a:r>
            <a:r>
              <a:rPr lang="en-IN" b="1" dirty="0">
                <a:solidFill>
                  <a:srgbClr val="FF0000"/>
                </a:solidFill>
              </a:rPr>
              <a:t>all accesses are treated</a:t>
            </a:r>
            <a:r>
              <a:rPr lang="en-IN" dirty="0">
                <a:solidFill>
                  <a:srgbClr val="FF0000"/>
                </a:solidFill>
              </a:rPr>
              <a:t> </a:t>
            </a:r>
            <a:r>
              <a:rPr lang="en-IN" b="1" dirty="0">
                <a:solidFill>
                  <a:srgbClr val="FF0000"/>
                </a:solidFill>
              </a:rPr>
              <a:t>as routine memory accesses, </a:t>
            </a:r>
          </a:p>
          <a:p>
            <a:pPr lvl="1"/>
            <a:r>
              <a:rPr lang="en-IN" dirty="0"/>
              <a:t>and </a:t>
            </a:r>
            <a:r>
              <a:rPr lang="en-IN" b="1" u="sng" dirty="0"/>
              <a:t>no assistance from the kernel </a:t>
            </a:r>
            <a:r>
              <a:rPr lang="en-IN" dirty="0"/>
              <a:t>is required.</a:t>
            </a:r>
          </a:p>
        </p:txBody>
      </p:sp>
      <p:sp>
        <p:nvSpPr>
          <p:cNvPr id="6" name="Title 1"/>
          <p:cNvSpPr txBox="1">
            <a:spLocks/>
          </p:cNvSpPr>
          <p:nvPr/>
        </p:nvSpPr>
        <p:spPr>
          <a:xfrm>
            <a:off x="4860032" y="288032"/>
            <a:ext cx="4176464" cy="54868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IN" sz="2400" dirty="0"/>
              <a:t>Shared memory</a:t>
            </a:r>
            <a:endParaRPr lang="en-US" altLang="en-US" sz="2400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1DBC1D-025A-4D84-82B8-8EEB2C9043F6}" type="datetime1">
              <a:rPr lang="en-IN" smtClean="0"/>
              <a:t>23-04-2025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13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819128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ChangeArrowheads="1"/>
          </p:cNvSpPr>
          <p:nvPr>
            <p:ph type="title"/>
          </p:nvPr>
        </p:nvSpPr>
        <p:spPr>
          <a:xfrm>
            <a:off x="749300" y="247650"/>
            <a:ext cx="7937500" cy="57626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/>
              <a:t>Producer-Consumer Problem</a:t>
            </a:r>
          </a:p>
        </p:txBody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42963" y="1185863"/>
            <a:ext cx="6667500" cy="4498975"/>
          </a:xfrm>
        </p:spPr>
        <p:txBody>
          <a:bodyPr>
            <a:normAutofit/>
          </a:bodyPr>
          <a:lstStyle/>
          <a:p>
            <a:r>
              <a:rPr lang="en-US" altLang="en-US" dirty="0"/>
              <a:t>Paradigm for cooperating processes, </a:t>
            </a:r>
          </a:p>
          <a:p>
            <a:r>
              <a:rPr lang="en-US" altLang="en-US" dirty="0"/>
              <a:t>A </a:t>
            </a:r>
            <a:r>
              <a:rPr lang="en-US" altLang="en-US" i="1" dirty="0"/>
              <a:t>producer</a:t>
            </a:r>
            <a:r>
              <a:rPr lang="en-US" altLang="en-US" dirty="0"/>
              <a:t> process </a:t>
            </a:r>
          </a:p>
          <a:p>
            <a:pPr lvl="1"/>
            <a:r>
              <a:rPr lang="en-US" altLang="en-US" dirty="0"/>
              <a:t>produces information </a:t>
            </a:r>
          </a:p>
          <a:p>
            <a:pPr lvl="1"/>
            <a:r>
              <a:rPr lang="en-US" altLang="en-US" dirty="0"/>
              <a:t>that is consumed by a </a:t>
            </a:r>
            <a:r>
              <a:rPr lang="en-US" altLang="en-US" i="1" dirty="0"/>
              <a:t>consumer</a:t>
            </a:r>
            <a:r>
              <a:rPr lang="en-US" altLang="en-US" dirty="0"/>
              <a:t> process.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35528B-C9A8-4C35-B390-73F45810852B}" type="datetime1">
              <a:rPr lang="en-IN" smtClean="0"/>
              <a:t>23-04-2025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14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373481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ChangeArrowheads="1"/>
          </p:cNvSpPr>
          <p:nvPr>
            <p:ph type="title"/>
          </p:nvPr>
        </p:nvSpPr>
        <p:spPr>
          <a:xfrm>
            <a:off x="749300" y="247650"/>
            <a:ext cx="7937500" cy="57626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/>
              <a:t>Producer-Consumer Problem</a:t>
            </a:r>
          </a:p>
        </p:txBody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42963" y="1185863"/>
            <a:ext cx="6667500" cy="449897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IN" sz="2400" dirty="0"/>
              <a:t>For example, </a:t>
            </a:r>
          </a:p>
          <a:p>
            <a:pPr marL="514350" indent="-514350">
              <a:buFont typeface="+mj-lt"/>
              <a:buAutoNum type="arabicParenR"/>
            </a:pPr>
            <a:r>
              <a:rPr lang="en-IN" sz="2400" dirty="0"/>
              <a:t>A compiler may produce assembly code, </a:t>
            </a:r>
          </a:p>
          <a:p>
            <a:pPr marL="914400" lvl="1" indent="-514350"/>
            <a:r>
              <a:rPr lang="en-IN" sz="2400" dirty="0"/>
              <a:t>which is consumed by an assembler.  </a:t>
            </a:r>
          </a:p>
          <a:p>
            <a:pPr marL="857250" lvl="1" indent="-457200"/>
            <a:r>
              <a:rPr lang="en-IN" sz="2400" dirty="0"/>
              <a:t>The assembler, in turn, can produce object modules, </a:t>
            </a:r>
          </a:p>
          <a:p>
            <a:pPr marL="857250" lvl="1" indent="-457200"/>
            <a:r>
              <a:rPr lang="en-IN" sz="2400" dirty="0"/>
              <a:t>which are consumed by the loader.</a:t>
            </a:r>
          </a:p>
          <a:p>
            <a:pPr marL="514350" indent="-514350">
              <a:buFont typeface="+mj-lt"/>
              <a:buAutoNum type="arabicParenR"/>
            </a:pPr>
            <a:r>
              <a:rPr lang="en-IN" sz="2400" dirty="0"/>
              <a:t>Server as a producer and a client as   consumer. </a:t>
            </a:r>
          </a:p>
          <a:p>
            <a:pPr marL="914400" lvl="1" indent="-514350"/>
            <a:r>
              <a:rPr lang="en-IN" sz="2400" dirty="0"/>
              <a:t>For example, a Web server produces (that is, provides) HTML files and images, </a:t>
            </a:r>
          </a:p>
          <a:p>
            <a:pPr marL="914400" lvl="1" indent="-514350"/>
            <a:r>
              <a:rPr lang="en-IN" sz="2400" dirty="0"/>
              <a:t>which are consumed (that is, read) by the client Web browser requesting the resource.</a:t>
            </a:r>
            <a:endParaRPr lang="en-US" altLang="en-US" sz="2400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221A06-B693-4C3E-9F33-53709ED06230}" type="datetime1">
              <a:rPr lang="en-IN" smtClean="0"/>
              <a:t>23-04-2025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15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555081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ChangeArrowheads="1"/>
          </p:cNvSpPr>
          <p:nvPr>
            <p:ph type="title"/>
          </p:nvPr>
        </p:nvSpPr>
        <p:spPr>
          <a:xfrm>
            <a:off x="749300" y="247650"/>
            <a:ext cx="7937500" cy="57626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/>
              <a:t>Producer-Consumer Problem</a:t>
            </a:r>
          </a:p>
        </p:txBody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42963" y="1185863"/>
            <a:ext cx="6667500" cy="4498975"/>
          </a:xfrm>
        </p:spPr>
        <p:txBody>
          <a:bodyPr>
            <a:normAutofit/>
          </a:bodyPr>
          <a:lstStyle/>
          <a:p>
            <a:r>
              <a:rPr lang="en-IN" sz="2400" b="1" u="sng" dirty="0">
                <a:solidFill>
                  <a:schemeClr val="accent1"/>
                </a:solidFill>
              </a:rPr>
              <a:t>Solution= Shared memory. </a:t>
            </a:r>
          </a:p>
          <a:p>
            <a:endParaRPr lang="en-IN" sz="2400" dirty="0"/>
          </a:p>
          <a:p>
            <a:r>
              <a:rPr lang="en-IN" sz="2400" dirty="0"/>
              <a:t>To allow producer and consumer processes to run concurrently, 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943199-12AF-4496-8519-AA468441CF15}" type="datetime1">
              <a:rPr lang="en-IN" smtClean="0"/>
              <a:t>23-04-2025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16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237094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ChangeArrowheads="1"/>
          </p:cNvSpPr>
          <p:nvPr>
            <p:ph type="title"/>
          </p:nvPr>
        </p:nvSpPr>
        <p:spPr>
          <a:xfrm>
            <a:off x="749300" y="247650"/>
            <a:ext cx="7937500" cy="57626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/>
              <a:t>Producer-Consumer Problem</a:t>
            </a:r>
          </a:p>
        </p:txBody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42963" y="1185863"/>
            <a:ext cx="6667500" cy="4498975"/>
          </a:xfrm>
        </p:spPr>
        <p:txBody>
          <a:bodyPr>
            <a:normAutofit/>
          </a:bodyPr>
          <a:lstStyle/>
          <a:p>
            <a:endParaRPr lang="en-IN" sz="2400" dirty="0"/>
          </a:p>
          <a:p>
            <a:r>
              <a:rPr lang="en-IN" sz="2400" dirty="0"/>
              <a:t>An </a:t>
            </a:r>
            <a:r>
              <a:rPr lang="en-IN" sz="2400"/>
              <a:t>available  </a:t>
            </a:r>
            <a:r>
              <a:rPr lang="en-IN" sz="2400" dirty="0"/>
              <a:t>buffer of items that </a:t>
            </a:r>
          </a:p>
          <a:p>
            <a:pPr lvl="1"/>
            <a:r>
              <a:rPr lang="en-IN" sz="2400" b="1" u="sng" dirty="0">
                <a:solidFill>
                  <a:schemeClr val="accent1"/>
                </a:solidFill>
              </a:rPr>
              <a:t>can be filled by the producer and </a:t>
            </a:r>
          </a:p>
          <a:p>
            <a:pPr lvl="1"/>
            <a:r>
              <a:rPr lang="en-IN" sz="2400" b="1" u="sng" dirty="0">
                <a:solidFill>
                  <a:schemeClr val="accent1"/>
                </a:solidFill>
              </a:rPr>
              <a:t>emptied by the consumer. </a:t>
            </a:r>
          </a:p>
          <a:p>
            <a:endParaRPr lang="en-IN" sz="2400" dirty="0"/>
          </a:p>
          <a:p>
            <a:r>
              <a:rPr lang="en-IN" sz="2400" dirty="0"/>
              <a:t>This buffer will reside in a region of memory </a:t>
            </a:r>
          </a:p>
          <a:p>
            <a:pPr lvl="1"/>
            <a:r>
              <a:rPr lang="en-IN" sz="2400" dirty="0"/>
              <a:t>that is shared by the producer and consumer processes.</a:t>
            </a:r>
            <a:endParaRPr lang="en-US" altLang="en-US" sz="2400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20BFE9-FC7F-4BBD-8708-DCECF91F62F2}" type="datetime1">
              <a:rPr lang="en-IN" smtClean="0"/>
              <a:t>23-04-2025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17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23411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ChangeArrowheads="1"/>
          </p:cNvSpPr>
          <p:nvPr>
            <p:ph type="title"/>
          </p:nvPr>
        </p:nvSpPr>
        <p:spPr>
          <a:xfrm>
            <a:off x="749300" y="247650"/>
            <a:ext cx="7937500" cy="57626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/>
              <a:t>Producer-Consumer Problem</a:t>
            </a:r>
          </a:p>
        </p:txBody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42963" y="1185863"/>
            <a:ext cx="6667500" cy="4498975"/>
          </a:xfrm>
        </p:spPr>
        <p:txBody>
          <a:bodyPr>
            <a:normAutofit/>
          </a:bodyPr>
          <a:lstStyle/>
          <a:p>
            <a:r>
              <a:rPr lang="en-IN" sz="2800" dirty="0"/>
              <a:t>A producer can produce one item</a:t>
            </a:r>
          </a:p>
          <a:p>
            <a:r>
              <a:rPr lang="en-IN" sz="2800" dirty="0"/>
              <a:t>While the consumer is consuming another item. 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255" b="11455"/>
          <a:stretch/>
        </p:blipFill>
        <p:spPr bwMode="auto">
          <a:xfrm>
            <a:off x="2190750" y="2924944"/>
            <a:ext cx="4762500" cy="30618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0A70DC-AD5A-4C97-B7EF-214CDC0ED197}" type="datetime1">
              <a:rPr lang="en-IN" smtClean="0"/>
              <a:t>23-04-2025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18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4780993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ChangeArrowheads="1"/>
          </p:cNvSpPr>
          <p:nvPr>
            <p:ph type="title"/>
          </p:nvPr>
        </p:nvSpPr>
        <p:spPr>
          <a:xfrm>
            <a:off x="749300" y="247650"/>
            <a:ext cx="7937500" cy="57626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/>
              <a:t>Producer-Consumer Problem</a:t>
            </a:r>
          </a:p>
        </p:txBody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42963" y="1185863"/>
            <a:ext cx="6667500" cy="4498975"/>
          </a:xfrm>
        </p:spPr>
        <p:txBody>
          <a:bodyPr>
            <a:normAutofit/>
          </a:bodyPr>
          <a:lstStyle/>
          <a:p>
            <a:r>
              <a:rPr lang="en-IN" sz="2800" b="1" u="sng" dirty="0"/>
              <a:t>The producer and consumer must be synchronized, </a:t>
            </a:r>
          </a:p>
          <a:p>
            <a:pPr lvl="1"/>
            <a:r>
              <a:rPr lang="en-IN" sz="2400" dirty="0"/>
              <a:t>so that the consumer does not try to consume an item</a:t>
            </a:r>
          </a:p>
          <a:p>
            <a:pPr lvl="1"/>
            <a:r>
              <a:rPr lang="en-IN" sz="2400" dirty="0"/>
              <a:t>that has not yet been produced.</a:t>
            </a:r>
            <a:endParaRPr lang="en-US" altLang="en-US" sz="2400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1718F0-566D-4399-B384-A064FD7CD639}" type="datetime1">
              <a:rPr lang="en-IN" smtClean="0"/>
              <a:t>23-04-2025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19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814278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ChangeArrowheads="1"/>
          </p:cNvSpPr>
          <p:nvPr>
            <p:ph type="title"/>
          </p:nvPr>
        </p:nvSpPr>
        <p:spPr>
          <a:xfrm>
            <a:off x="749300" y="247650"/>
            <a:ext cx="7937500" cy="57626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/>
              <a:t>Producer-Consumer Problem</a:t>
            </a:r>
          </a:p>
        </p:txBody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42962" y="1185863"/>
            <a:ext cx="7473453" cy="449897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IN" sz="2400" dirty="0"/>
              <a:t>Two types of buffers can be used.</a:t>
            </a:r>
            <a:endParaRPr lang="en-US" altLang="en-US" sz="2400" dirty="0"/>
          </a:p>
          <a:p>
            <a:endParaRPr lang="en-US" altLang="en-US" sz="2400" b="1" dirty="0">
              <a:solidFill>
                <a:srgbClr val="3366FF"/>
              </a:solidFill>
            </a:endParaRPr>
          </a:p>
          <a:p>
            <a:r>
              <a:rPr lang="en-US" altLang="en-US" sz="2400" b="1" dirty="0">
                <a:solidFill>
                  <a:srgbClr val="3366FF"/>
                </a:solidFill>
              </a:rPr>
              <a:t>unbounded-buffer </a:t>
            </a:r>
          </a:p>
          <a:p>
            <a:r>
              <a:rPr lang="en-US" altLang="en-US" sz="2400" b="1" dirty="0">
                <a:solidFill>
                  <a:srgbClr val="3366FF"/>
                </a:solidFill>
              </a:rPr>
              <a:t>bounded-buffer</a:t>
            </a:r>
            <a:endParaRPr lang="en-US" altLang="en-US" sz="2400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A75676-8116-4155-A8FF-D9B134083539}" type="datetime1">
              <a:rPr lang="en-IN" smtClean="0"/>
              <a:t>23-04-2025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20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705358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ChangeArrowheads="1"/>
          </p:cNvSpPr>
          <p:nvPr>
            <p:ph type="title"/>
          </p:nvPr>
        </p:nvSpPr>
        <p:spPr>
          <a:xfrm>
            <a:off x="749300" y="247650"/>
            <a:ext cx="7937500" cy="57626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/>
              <a:t>Producer-Consumer Problem</a:t>
            </a:r>
          </a:p>
        </p:txBody>
      </p:sp>
      <p:sp>
        <p:nvSpPr>
          <p:cNvPr id="3481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42962" y="1185863"/>
            <a:ext cx="7473453" cy="449897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IN" sz="2400" dirty="0"/>
              <a:t>Two types of buffers can be used.</a:t>
            </a:r>
            <a:endParaRPr lang="en-US" altLang="en-US" sz="2400" dirty="0"/>
          </a:p>
          <a:p>
            <a:r>
              <a:rPr lang="en-US" altLang="en-US" sz="2400" b="1" dirty="0">
                <a:solidFill>
                  <a:srgbClr val="3366FF"/>
                </a:solidFill>
              </a:rPr>
              <a:t>unbounded-buffer </a:t>
            </a:r>
            <a:r>
              <a:rPr lang="en-US" altLang="en-US" sz="2400" dirty="0"/>
              <a:t>places no practical limit on the size of the buffer</a:t>
            </a:r>
          </a:p>
          <a:p>
            <a:pPr lvl="1"/>
            <a:r>
              <a:rPr lang="en-IN" sz="2400" dirty="0"/>
              <a:t>The consumer may have to wait for new items,</a:t>
            </a:r>
          </a:p>
          <a:p>
            <a:pPr lvl="1"/>
            <a:r>
              <a:rPr lang="en-IN" sz="2400" dirty="0"/>
              <a:t>but the producer can always produce new items.</a:t>
            </a:r>
            <a:endParaRPr lang="en-US" altLang="en-US" sz="2400" dirty="0"/>
          </a:p>
          <a:p>
            <a:endParaRPr lang="en-US" altLang="en-US" sz="2400" b="1" dirty="0">
              <a:solidFill>
                <a:srgbClr val="3366FF"/>
              </a:solidFill>
            </a:endParaRPr>
          </a:p>
          <a:p>
            <a:r>
              <a:rPr lang="en-US" altLang="en-US" sz="2400" b="1" dirty="0">
                <a:solidFill>
                  <a:srgbClr val="3366FF"/>
                </a:solidFill>
              </a:rPr>
              <a:t>bounded-buffer </a:t>
            </a:r>
            <a:r>
              <a:rPr lang="en-US" altLang="en-US" sz="2400" dirty="0"/>
              <a:t>assumes that there is a fixed buffer size</a:t>
            </a:r>
          </a:p>
          <a:p>
            <a:pPr lvl="1"/>
            <a:r>
              <a:rPr lang="en-IN" sz="2400" dirty="0"/>
              <a:t>The consumer must wait if the buffer is empty,</a:t>
            </a:r>
          </a:p>
          <a:p>
            <a:pPr lvl="1"/>
            <a:r>
              <a:rPr lang="en-IN" sz="2400" dirty="0"/>
              <a:t>and the producer must wait if the buffer is full.</a:t>
            </a:r>
            <a:endParaRPr lang="en-US" altLang="en-US" sz="2400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8B8884-B3B0-4559-9FB2-D50B094695F4}" type="datetime1">
              <a:rPr lang="en-IN" smtClean="0"/>
              <a:t>23-04-2025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21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49253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>
          <a:xfrm>
            <a:off x="1046163" y="300038"/>
            <a:ext cx="8074025" cy="4572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sz="2800"/>
              <a:t>Bounded-Buffer – Shared-Memory Solution</a:t>
            </a:r>
          </a:p>
        </p:txBody>
      </p:sp>
      <p:sp>
        <p:nvSpPr>
          <p:cNvPr id="3584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1195388" y="1203325"/>
            <a:ext cx="7131050" cy="4700588"/>
          </a:xfrm>
        </p:spPr>
        <p:txBody>
          <a:bodyPr/>
          <a:lstStyle/>
          <a:p>
            <a:pPr marL="0" indent="0">
              <a:buNone/>
            </a:pPr>
            <a:r>
              <a:rPr lang="en-US" altLang="en-US" sz="2400" dirty="0"/>
              <a:t>Shared data</a:t>
            </a:r>
          </a:p>
          <a:p>
            <a:r>
              <a:rPr lang="en-IN" sz="2400" dirty="0"/>
              <a:t>The following variables reside in a region of memory shared by the producer and consumer processes:</a:t>
            </a:r>
            <a:endParaRPr lang="en-US" altLang="en-US" sz="2400" dirty="0"/>
          </a:p>
          <a:p>
            <a:pPr marL="1598613" lvl="3">
              <a:buFontTx/>
              <a:buNone/>
            </a:pPr>
            <a:endParaRPr lang="en-US" altLang="en-US" sz="1600" dirty="0">
              <a:latin typeface="Courier New" pitchFamily="49" charset="0"/>
              <a:cs typeface="Courier New" pitchFamily="49" charset="0"/>
            </a:endParaRPr>
          </a:p>
          <a:p>
            <a:pPr marL="1598613" lvl="3">
              <a:buFontTx/>
              <a:buNone/>
            </a:pPr>
            <a:r>
              <a:rPr lang="en-US" altLang="en-US" sz="1600" dirty="0">
                <a:latin typeface="Courier New" pitchFamily="49" charset="0"/>
                <a:cs typeface="Courier New" pitchFamily="49" charset="0"/>
              </a:rPr>
              <a:t>#define BUFFER_SIZE 10</a:t>
            </a:r>
          </a:p>
          <a:p>
            <a:pPr marL="1598613" lvl="3">
              <a:buFontTx/>
              <a:buNone/>
            </a:pPr>
            <a:r>
              <a:rPr lang="en-US" altLang="en-US" sz="1600" dirty="0" err="1">
                <a:latin typeface="Courier New" pitchFamily="49" charset="0"/>
                <a:cs typeface="Courier New" pitchFamily="49" charset="0"/>
              </a:rPr>
              <a:t>typedef</a:t>
            </a:r>
            <a:r>
              <a:rPr lang="en-US" alt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altLang="en-US" sz="1600" dirty="0" err="1">
                <a:latin typeface="Courier New" pitchFamily="49" charset="0"/>
                <a:cs typeface="Courier New" pitchFamily="49" charset="0"/>
              </a:rPr>
              <a:t>struct</a:t>
            </a:r>
            <a:r>
              <a:rPr lang="en-US" alt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pPr marL="1598613" lvl="3">
              <a:buFontTx/>
              <a:buNone/>
            </a:pPr>
            <a:r>
              <a:rPr lang="en-US" altLang="en-US" sz="1600" dirty="0">
                <a:latin typeface="Courier New" pitchFamily="49" charset="0"/>
                <a:cs typeface="Courier New" pitchFamily="49" charset="0"/>
              </a:rPr>
              <a:t>	. . .</a:t>
            </a:r>
          </a:p>
          <a:p>
            <a:pPr marL="1598613" lvl="3">
              <a:buFontTx/>
              <a:buNone/>
            </a:pPr>
            <a:r>
              <a:rPr lang="en-US" altLang="en-US" sz="1600" dirty="0">
                <a:latin typeface="Courier New" pitchFamily="49" charset="0"/>
                <a:cs typeface="Courier New" pitchFamily="49" charset="0"/>
              </a:rPr>
              <a:t>} item;</a:t>
            </a:r>
          </a:p>
          <a:p>
            <a:pPr marL="1598613" lvl="3">
              <a:buFontTx/>
              <a:buNone/>
            </a:pPr>
            <a:endParaRPr lang="en-US" altLang="en-US" sz="1600" dirty="0">
              <a:latin typeface="Courier New" pitchFamily="49" charset="0"/>
              <a:cs typeface="Courier New" pitchFamily="49" charset="0"/>
            </a:endParaRPr>
          </a:p>
          <a:p>
            <a:pPr marL="1598613" lvl="3">
              <a:buFontTx/>
              <a:buNone/>
            </a:pPr>
            <a:r>
              <a:rPr lang="en-US" altLang="en-US" sz="1600" dirty="0">
                <a:latin typeface="Courier New" pitchFamily="49" charset="0"/>
                <a:cs typeface="Courier New" pitchFamily="49" charset="0"/>
              </a:rPr>
              <a:t>item buffer[BUFFER_SIZE];</a:t>
            </a:r>
          </a:p>
          <a:p>
            <a:pPr marL="1598613" lvl="3">
              <a:buFontTx/>
              <a:buNone/>
            </a:pPr>
            <a:r>
              <a:rPr lang="en-US" alt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altLang="en-US" sz="1600" dirty="0">
                <a:latin typeface="Courier New" pitchFamily="49" charset="0"/>
                <a:cs typeface="Courier New" pitchFamily="49" charset="0"/>
              </a:rPr>
              <a:t> in = 0;</a:t>
            </a:r>
          </a:p>
          <a:p>
            <a:pPr marL="1598613" lvl="3">
              <a:buFontTx/>
              <a:buNone/>
            </a:pPr>
            <a:r>
              <a:rPr lang="en-US" alt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altLang="en-US" sz="1600" dirty="0">
                <a:latin typeface="Courier New" pitchFamily="49" charset="0"/>
                <a:cs typeface="Courier New" pitchFamily="49" charset="0"/>
              </a:rPr>
              <a:t> out = 0;</a:t>
            </a:r>
          </a:p>
          <a:p>
            <a:pPr marL="1598613" lvl="3">
              <a:buFontTx/>
              <a:buNone/>
            </a:pPr>
            <a:endParaRPr lang="en-US" altLang="en-US" sz="1600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FE972E-1A56-432A-9871-F093BDCDB61B}" type="datetime1">
              <a:rPr lang="en-IN" smtClean="0"/>
              <a:t>23-04-2025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22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1611365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>
          <a:xfrm>
            <a:off x="1046163" y="300038"/>
            <a:ext cx="8074025" cy="4572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sz="2800"/>
              <a:t>Bounded-Buffer – Shared-Memory Solution</a:t>
            </a:r>
          </a:p>
        </p:txBody>
      </p:sp>
      <p:sp>
        <p:nvSpPr>
          <p:cNvPr id="3584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39552" y="1203324"/>
            <a:ext cx="8136904" cy="5033987"/>
          </a:xfrm>
        </p:spPr>
        <p:txBody>
          <a:bodyPr>
            <a:normAutofit/>
          </a:bodyPr>
          <a:lstStyle/>
          <a:p>
            <a:r>
              <a:rPr lang="en-IN" sz="2600" dirty="0"/>
              <a:t>The shared buffer is implemented as a circular array </a:t>
            </a:r>
          </a:p>
          <a:p>
            <a:pPr lvl="1"/>
            <a:r>
              <a:rPr lang="en-IN" sz="2600" dirty="0"/>
              <a:t>with two logical pointers: in and out. </a:t>
            </a:r>
          </a:p>
          <a:p>
            <a:pPr lvl="1"/>
            <a:endParaRPr lang="en-IN" sz="2600" dirty="0"/>
          </a:p>
          <a:p>
            <a:pPr marL="0" indent="0">
              <a:buNone/>
            </a:pPr>
            <a:r>
              <a:rPr lang="en-US" altLang="en-US" sz="1600" dirty="0">
                <a:latin typeface="Courier New" pitchFamily="49" charset="0"/>
                <a:cs typeface="Courier New" pitchFamily="49" charset="0"/>
              </a:rPr>
              <a:t>#define BUFFER_SIZE 10</a:t>
            </a:r>
          </a:p>
          <a:p>
            <a:pPr marL="1598613" lvl="3">
              <a:buFontTx/>
              <a:buNone/>
            </a:pPr>
            <a:r>
              <a:rPr lang="en-US" altLang="en-US" sz="1600" dirty="0" err="1">
                <a:latin typeface="Courier New" pitchFamily="49" charset="0"/>
                <a:cs typeface="Courier New" pitchFamily="49" charset="0"/>
              </a:rPr>
              <a:t>typedef</a:t>
            </a:r>
            <a:r>
              <a:rPr lang="en-US" altLang="en-US" sz="1600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altLang="en-US" sz="1600" dirty="0" err="1">
                <a:latin typeface="Courier New" pitchFamily="49" charset="0"/>
                <a:cs typeface="Courier New" pitchFamily="49" charset="0"/>
              </a:rPr>
              <a:t>struct</a:t>
            </a:r>
            <a:r>
              <a:rPr lang="en-US" altLang="en-US" sz="1600" dirty="0">
                <a:latin typeface="Courier New" pitchFamily="49" charset="0"/>
                <a:cs typeface="Courier New" pitchFamily="49" charset="0"/>
              </a:rPr>
              <a:t> {</a:t>
            </a:r>
          </a:p>
          <a:p>
            <a:pPr marL="1598613" lvl="3">
              <a:buFontTx/>
              <a:buNone/>
            </a:pPr>
            <a:r>
              <a:rPr lang="en-US" altLang="en-US" sz="1600" dirty="0">
                <a:latin typeface="Courier New" pitchFamily="49" charset="0"/>
                <a:cs typeface="Courier New" pitchFamily="49" charset="0"/>
              </a:rPr>
              <a:t>	. . .</a:t>
            </a:r>
          </a:p>
          <a:p>
            <a:pPr marL="1598613" lvl="3">
              <a:buFontTx/>
              <a:buNone/>
            </a:pPr>
            <a:r>
              <a:rPr lang="en-US" altLang="en-US" sz="1600" dirty="0">
                <a:latin typeface="Courier New" pitchFamily="49" charset="0"/>
                <a:cs typeface="Courier New" pitchFamily="49" charset="0"/>
              </a:rPr>
              <a:t>} item;</a:t>
            </a:r>
          </a:p>
          <a:p>
            <a:pPr marL="1598613" lvl="3">
              <a:buFontTx/>
              <a:buNone/>
            </a:pPr>
            <a:endParaRPr lang="en-US" altLang="en-US" sz="1600" dirty="0">
              <a:latin typeface="Courier New" pitchFamily="49" charset="0"/>
              <a:cs typeface="Courier New" pitchFamily="49" charset="0"/>
            </a:endParaRPr>
          </a:p>
          <a:p>
            <a:pPr marL="1598613" lvl="3">
              <a:buFontTx/>
              <a:buNone/>
            </a:pPr>
            <a:r>
              <a:rPr lang="en-US" altLang="en-US" sz="1600" dirty="0">
                <a:latin typeface="Courier New" pitchFamily="49" charset="0"/>
                <a:cs typeface="Courier New" pitchFamily="49" charset="0"/>
              </a:rPr>
              <a:t>item buffer[BUFFER_SIZE];</a:t>
            </a:r>
          </a:p>
          <a:p>
            <a:pPr marL="1598613" lvl="3">
              <a:buFontTx/>
              <a:buNone/>
            </a:pPr>
            <a:r>
              <a:rPr lang="en-US" alt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altLang="en-US" sz="1600" dirty="0">
                <a:latin typeface="Courier New" pitchFamily="49" charset="0"/>
                <a:cs typeface="Courier New" pitchFamily="49" charset="0"/>
              </a:rPr>
              <a:t> in = 0;</a:t>
            </a:r>
          </a:p>
          <a:p>
            <a:pPr marL="1598613" lvl="3">
              <a:buFontTx/>
              <a:buNone/>
            </a:pPr>
            <a:r>
              <a:rPr lang="en-US" altLang="en-US" sz="1600" dirty="0" err="1">
                <a:latin typeface="Courier New" pitchFamily="49" charset="0"/>
                <a:cs typeface="Courier New" pitchFamily="49" charset="0"/>
              </a:rPr>
              <a:t>int</a:t>
            </a:r>
            <a:r>
              <a:rPr lang="en-US" altLang="en-US" sz="1600" dirty="0">
                <a:latin typeface="Courier New" pitchFamily="49" charset="0"/>
                <a:cs typeface="Courier New" pitchFamily="49" charset="0"/>
              </a:rPr>
              <a:t> out = 0;</a:t>
            </a:r>
          </a:p>
          <a:p>
            <a:pPr marL="457200" lvl="1" indent="0">
              <a:buNone/>
            </a:pPr>
            <a:endParaRPr lang="en-IN" sz="2600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0C9BF5-1B6A-44AA-AF50-395A5ECF596A}" type="datetime1">
              <a:rPr lang="en-IN" smtClean="0"/>
              <a:t>23-04-2025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23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317870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>
          <a:xfrm>
            <a:off x="1046163" y="300038"/>
            <a:ext cx="8074025" cy="4572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sz="2800"/>
              <a:t>Bounded-Buffer – Shared-Memory Solution</a:t>
            </a:r>
          </a:p>
        </p:txBody>
      </p:sp>
      <p:sp>
        <p:nvSpPr>
          <p:cNvPr id="3584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39552" y="1203324"/>
            <a:ext cx="8136904" cy="5033987"/>
          </a:xfrm>
        </p:spPr>
        <p:txBody>
          <a:bodyPr>
            <a:normAutofit/>
          </a:bodyPr>
          <a:lstStyle/>
          <a:p>
            <a:pPr lvl="1"/>
            <a:r>
              <a:rPr lang="en-IN" sz="2600" dirty="0"/>
              <a:t>in points to the next free position in the buffer; </a:t>
            </a:r>
          </a:p>
          <a:p>
            <a:pPr lvl="1"/>
            <a:r>
              <a:rPr lang="en-IN" sz="2600" dirty="0"/>
              <a:t>out points to the first full position in the buffer. </a:t>
            </a:r>
          </a:p>
          <a:p>
            <a:endParaRPr lang="en-US" altLang="en-US" sz="1600" dirty="0">
              <a:latin typeface="Courier New" pitchFamily="49" charset="0"/>
              <a:cs typeface="Courier New" pitchFamily="49" charset="0"/>
            </a:endParaRPr>
          </a:p>
          <a:p>
            <a:endParaRPr lang="en-US" altLang="en-US" sz="1600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en-US" altLang="en-US" sz="1600" dirty="0">
                <a:latin typeface="Courier New" pitchFamily="49" charset="0"/>
                <a:cs typeface="Courier New" pitchFamily="49" charset="0"/>
              </a:rPr>
              <a:t>	</a:t>
            </a:r>
          </a:p>
        </p:txBody>
      </p:sp>
      <p:pic>
        <p:nvPicPr>
          <p:cNvPr id="4" name="Picture 2" descr="https://pages.mtu.edu/~shene/NSF-3/e-Book/SEMA/DIAGRAM-buffer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7704" y="2564904"/>
            <a:ext cx="4392488" cy="23762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4ED9D0-D2D9-48A6-A344-384A12D695B6}" type="datetime1">
              <a:rPr lang="en-IN" smtClean="0"/>
              <a:t>23-04-2025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24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585820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>
          <a:xfrm>
            <a:off x="1046163" y="300038"/>
            <a:ext cx="8074025" cy="4572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sz="2800"/>
              <a:t>Bounded-Buffer – Shared-Memory Solution</a:t>
            </a:r>
          </a:p>
        </p:txBody>
      </p:sp>
      <p:sp>
        <p:nvSpPr>
          <p:cNvPr id="3584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39552" y="1203324"/>
            <a:ext cx="8136904" cy="5033987"/>
          </a:xfrm>
        </p:spPr>
        <p:txBody>
          <a:bodyPr>
            <a:normAutofit/>
          </a:bodyPr>
          <a:lstStyle/>
          <a:p>
            <a:r>
              <a:rPr lang="en-IN" sz="2600" dirty="0"/>
              <a:t>The buffer is empty when in== out; 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DBB27-EA42-4451-8185-A44FBB305FC6}" type="datetime1">
              <a:rPr lang="en-IN" smtClean="0"/>
              <a:t>23-04-2025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25</a:t>
            </a:fld>
            <a:endParaRPr lang="en-IN"/>
          </a:p>
        </p:txBody>
      </p:sp>
      <p:pic>
        <p:nvPicPr>
          <p:cNvPr id="8" name="Picture 2" descr="https://pages.mtu.edu/~shene/NSF-3/e-Book/SEMA/DIAGRAM-buffer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7704" y="2564904"/>
            <a:ext cx="4392488" cy="23762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2773565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</p:nvPr>
        </p:nvSpPr>
        <p:spPr>
          <a:xfrm>
            <a:off x="1046163" y="300038"/>
            <a:ext cx="8074025" cy="457200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sz="2800"/>
              <a:t>Bounded-Buffer – Shared-Memory Solution</a:t>
            </a:r>
          </a:p>
        </p:txBody>
      </p:sp>
      <p:sp>
        <p:nvSpPr>
          <p:cNvPr id="3584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39552" y="1203324"/>
            <a:ext cx="8136904" cy="5033987"/>
          </a:xfrm>
        </p:spPr>
        <p:txBody>
          <a:bodyPr>
            <a:normAutofit/>
          </a:bodyPr>
          <a:lstStyle/>
          <a:p>
            <a:r>
              <a:rPr lang="en-IN" sz="2600" dirty="0"/>
              <a:t>The buffer is full when ((in+ 1)% BUFFER_SIZE) == out.</a:t>
            </a:r>
          </a:p>
          <a:p>
            <a:endParaRPr lang="en-US" altLang="en-US" sz="1600" dirty="0">
              <a:latin typeface="Courier New" pitchFamily="49" charset="0"/>
              <a:cs typeface="Courier New" pitchFamily="49" charset="0"/>
            </a:endParaRPr>
          </a:p>
          <a:p>
            <a:endParaRPr lang="en-US" altLang="en-US" sz="1600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None/>
            </a:pPr>
            <a:r>
              <a:rPr lang="en-US" altLang="en-US" sz="1600" dirty="0">
                <a:latin typeface="Courier New" pitchFamily="49" charset="0"/>
                <a:cs typeface="Courier New" pitchFamily="49" charset="0"/>
              </a:rPr>
              <a:t>	</a:t>
            </a: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8690"/>
          <a:stretch/>
        </p:blipFill>
        <p:spPr bwMode="auto">
          <a:xfrm>
            <a:off x="251520" y="2924944"/>
            <a:ext cx="8352928" cy="29666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ADBB27-EA42-4451-8185-A44FBB305FC6}" type="datetime1">
              <a:rPr lang="en-IN" smtClean="0"/>
              <a:t>23-04-2025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26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9497945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/>
          <p:cNvSpPr>
            <a:spLocks noGrp="1" noChangeArrowheads="1"/>
          </p:cNvSpPr>
          <p:nvPr>
            <p:ph type="title"/>
          </p:nvPr>
        </p:nvSpPr>
        <p:spPr>
          <a:xfrm>
            <a:off x="1117600" y="203200"/>
            <a:ext cx="7569200" cy="57626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/>
              <a:t>Bounded-Buffer – Producer</a:t>
            </a:r>
          </a:p>
        </p:txBody>
      </p:sp>
      <p:sp>
        <p:nvSpPr>
          <p:cNvPr id="3379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39552" y="1196752"/>
            <a:ext cx="8352928" cy="5184576"/>
          </a:xfrm>
        </p:spPr>
        <p:txBody>
          <a:bodyPr>
            <a:normAutofit fontScale="25000" lnSpcReduction="20000"/>
          </a:bodyPr>
          <a:lstStyle/>
          <a:p>
            <a:pPr>
              <a:buFont typeface="Monotype Sorts" charset="0"/>
              <a:buNone/>
              <a:defRPr/>
            </a:pPr>
            <a:endParaRPr lang="en-US" sz="1600" dirty="0">
              <a:latin typeface="Monaco" charset="0"/>
              <a:ea typeface="ＭＳ Ｐゴシック" charset="0"/>
              <a:cs typeface="ＭＳ Ｐゴシック" charset="0"/>
            </a:endParaRPr>
          </a:p>
          <a:p>
            <a:r>
              <a:rPr lang="en-IN" sz="9600" dirty="0">
                <a:cs typeface="Arial" panose="020B0604020202020204" pitchFamily="34" charset="0"/>
              </a:rPr>
              <a:t>The producer process has a local variable </a:t>
            </a:r>
            <a:r>
              <a:rPr lang="en-IN" sz="9600" dirty="0" err="1">
                <a:cs typeface="Arial" panose="020B0604020202020204" pitchFamily="34" charset="0"/>
              </a:rPr>
              <a:t>nextProduced</a:t>
            </a:r>
            <a:endParaRPr lang="en-IN" sz="9600" dirty="0">
              <a:cs typeface="Arial" panose="020B0604020202020204" pitchFamily="34" charset="0"/>
            </a:endParaRPr>
          </a:p>
          <a:p>
            <a:pPr lvl="1"/>
            <a:r>
              <a:rPr lang="en-IN" sz="9600" dirty="0">
                <a:cs typeface="Arial" panose="020B0604020202020204" pitchFamily="34" charset="0"/>
              </a:rPr>
              <a:t>in which the new item to be produced is stored. </a:t>
            </a:r>
          </a:p>
          <a:p>
            <a:pPr marL="0" indent="0">
              <a:buFont typeface="Monotype Sorts" pitchFamily="-84" charset="2"/>
              <a:buNone/>
              <a:defRPr/>
            </a:pPr>
            <a:endParaRPr lang="en-US" sz="9600" dirty="0">
              <a:cs typeface="Arial" panose="020B0604020202020204" pitchFamily="34" charset="0"/>
            </a:endParaRPr>
          </a:p>
          <a:p>
            <a:pPr marL="0" indent="0">
              <a:buFont typeface="Monotype Sorts" pitchFamily="-84" charset="2"/>
              <a:buNone/>
              <a:defRPr/>
            </a:pPr>
            <a:r>
              <a:rPr lang="en-US" sz="7200" dirty="0">
                <a:latin typeface="Courier New" panose="02070309020205020404" pitchFamily="49" charset="0"/>
                <a:cs typeface="Courier New" panose="02070309020205020404" pitchFamily="49" charset="0"/>
              </a:rPr>
              <a:t>item </a:t>
            </a:r>
            <a:r>
              <a:rPr lang="en-US" sz="72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next_produced</a:t>
            </a:r>
            <a:r>
              <a:rPr lang="en-US" sz="7200" dirty="0"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pPr marL="0" indent="0">
              <a:buFont typeface="Monotype Sorts" pitchFamily="-84" charset="2"/>
              <a:buNone/>
              <a:defRPr/>
            </a:pPr>
            <a:r>
              <a:rPr lang="en-US" sz="7200" dirty="0">
                <a:latin typeface="Courier New" panose="02070309020205020404" pitchFamily="49" charset="0"/>
                <a:cs typeface="Courier New" panose="02070309020205020404" pitchFamily="49" charset="0"/>
              </a:rPr>
              <a:t>while (true) { </a:t>
            </a:r>
          </a:p>
          <a:p>
            <a:pPr marL="0" indent="0">
              <a:buFont typeface="Monotype Sorts" pitchFamily="-84" charset="2"/>
              <a:buNone/>
              <a:defRPr/>
            </a:pPr>
            <a:r>
              <a:rPr lang="en-US" sz="7200" dirty="0">
                <a:latin typeface="Courier New" panose="02070309020205020404" pitchFamily="49" charset="0"/>
                <a:cs typeface="Courier New" panose="02070309020205020404" pitchFamily="49" charset="0"/>
              </a:rPr>
              <a:t>	/* produce an item in next produced */ </a:t>
            </a:r>
          </a:p>
          <a:p>
            <a:pPr marL="0" indent="0">
              <a:buFont typeface="Monotype Sorts" pitchFamily="-84" charset="2"/>
              <a:buNone/>
              <a:defRPr/>
            </a:pPr>
            <a:r>
              <a:rPr lang="en-US" sz="7200" dirty="0">
                <a:latin typeface="Courier New" panose="02070309020205020404" pitchFamily="49" charset="0"/>
                <a:cs typeface="Courier New" panose="02070309020205020404" pitchFamily="49" charset="0"/>
              </a:rPr>
              <a:t>while (((in + 1) % BUFFER_SIZE) == out); /* do nothing */ </a:t>
            </a:r>
          </a:p>
          <a:p>
            <a:pPr marL="0" indent="0">
              <a:buFont typeface="Monotype Sorts" pitchFamily="-84" charset="2"/>
              <a:buNone/>
              <a:defRPr/>
            </a:pPr>
            <a:r>
              <a:rPr lang="en-US" sz="72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72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buffer[in] = </a:t>
            </a:r>
            <a:r>
              <a:rPr lang="en-US" sz="7200" dirty="0" err="1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next_produced</a:t>
            </a:r>
            <a:r>
              <a:rPr lang="en-US" sz="72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; </a:t>
            </a:r>
          </a:p>
          <a:p>
            <a:pPr marL="0" indent="0">
              <a:buFont typeface="Monotype Sorts" pitchFamily="-84" charset="2"/>
              <a:buNone/>
              <a:defRPr/>
            </a:pPr>
            <a:r>
              <a:rPr lang="en-US" sz="72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7200" dirty="0">
                <a:solidFill>
                  <a:schemeClr val="accent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= (in + 1) % BUFFER_SIZE; </a:t>
            </a:r>
          </a:p>
          <a:p>
            <a:pPr marL="0" indent="0">
              <a:buFont typeface="Monotype Sorts" pitchFamily="-84" charset="2"/>
              <a:buNone/>
              <a:defRPr/>
            </a:pPr>
            <a:r>
              <a:rPr lang="en-US" sz="7200" dirty="0">
                <a:latin typeface="Courier New" panose="02070309020205020404" pitchFamily="49" charset="0"/>
                <a:cs typeface="Courier New" panose="02070309020205020404" pitchFamily="49" charset="0"/>
              </a:rPr>
              <a:t>} </a:t>
            </a:r>
          </a:p>
          <a:p>
            <a:pPr>
              <a:buFont typeface="Monotype Sorts" charset="0"/>
              <a:buNone/>
              <a:defRPr/>
            </a:pPr>
            <a:endParaRPr lang="en-US" sz="8000" dirty="0">
              <a:ea typeface="ＭＳ Ｐゴシック" charset="0"/>
              <a:cs typeface="Arial" panose="020B0604020202020204" pitchFamily="34" charset="0"/>
            </a:endParaRPr>
          </a:p>
          <a:p>
            <a:pPr>
              <a:buFont typeface="Monotype Sorts" charset="0"/>
              <a:buNone/>
              <a:defRPr/>
            </a:pPr>
            <a:endParaRPr lang="en-US" sz="2400" dirty="0">
              <a:latin typeface="Arial" panose="020B0604020202020204" pitchFamily="34" charset="0"/>
              <a:ea typeface="ＭＳ Ｐゴシック" charset="0"/>
              <a:cs typeface="Arial" panose="020B0604020202020204" pitchFamily="34" charset="0"/>
            </a:endParaRPr>
          </a:p>
          <a:p>
            <a:pPr>
              <a:buFont typeface="Monotype Sorts" charset="0"/>
              <a:buNone/>
              <a:defRPr/>
            </a:pPr>
            <a:r>
              <a:rPr lang="en-US" sz="1600" dirty="0">
                <a:latin typeface="Arial" panose="020B0604020202020204" pitchFamily="34" charset="0"/>
                <a:ea typeface="ＭＳ Ｐゴシック" charset="0"/>
                <a:cs typeface="Arial" panose="020B0604020202020204" pitchFamily="34" charset="0"/>
              </a:rPr>
              <a:t>	</a:t>
            </a:r>
          </a:p>
          <a:p>
            <a:pPr marL="7168674" lvl="4">
              <a:buFontTx/>
              <a:buNone/>
              <a:defRPr/>
            </a:pPr>
            <a:endParaRPr lang="en-US" sz="1200" dirty="0">
              <a:latin typeface="Arial" panose="020B0604020202020204" pitchFamily="34" charset="0"/>
              <a:ea typeface="ＭＳ Ｐゴシック" charset="0"/>
              <a:cs typeface="Arial" panose="020B0604020202020204" pitchFamily="34" charset="0"/>
            </a:endParaRPr>
          </a:p>
        </p:txBody>
      </p:sp>
      <p:pic>
        <p:nvPicPr>
          <p:cNvPr id="4" name="Picture 2" descr="https://pages.mtu.edu/~shene/NSF-3/e-Book/SEMA/DIAGRAM-buffer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9660" y="4345465"/>
            <a:ext cx="3630155" cy="19638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E26252-FD6E-437A-B250-F427EE38EA1A}" type="datetime1">
              <a:rPr lang="en-IN" smtClean="0"/>
              <a:t>23-04-2025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27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221152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203200"/>
            <a:ext cx="8229600" cy="57626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/>
              <a:t>Bounded Buffer – Consumer</a:t>
            </a:r>
          </a:p>
        </p:txBody>
      </p:sp>
      <p:sp>
        <p:nvSpPr>
          <p:cNvPr id="3789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11560" y="1219200"/>
            <a:ext cx="7932365" cy="5018112"/>
          </a:xfrm>
        </p:spPr>
        <p:txBody>
          <a:bodyPr>
            <a:normAutofit lnSpcReduction="10000"/>
          </a:bodyPr>
          <a:lstStyle/>
          <a:p>
            <a:r>
              <a:rPr lang="en-IN" altLang="en-US" sz="2400" dirty="0">
                <a:cs typeface="Courier New" pitchFamily="49" charset="0"/>
              </a:rPr>
              <a:t>The consumer process has a</a:t>
            </a:r>
          </a:p>
          <a:p>
            <a:pPr lvl="1"/>
            <a:r>
              <a:rPr lang="en-IN" altLang="en-US" sz="2400" dirty="0">
                <a:cs typeface="Courier New" pitchFamily="49" charset="0"/>
              </a:rPr>
              <a:t>local variable next Consumed in which the item to be consumed is stored.</a:t>
            </a:r>
          </a:p>
          <a:p>
            <a:pPr marL="0" indent="0">
              <a:buFont typeface="Monotype Sorts" pitchFamily="-84" charset="2"/>
              <a:buNone/>
            </a:pPr>
            <a:endParaRPr lang="en-US" altLang="en-US" sz="1600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Font typeface="Monotype Sorts" pitchFamily="-84" charset="2"/>
              <a:buNone/>
            </a:pPr>
            <a:endParaRPr lang="en-US" altLang="en-US" sz="1600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Font typeface="Monotype Sorts" pitchFamily="-84" charset="2"/>
              <a:buNone/>
            </a:pPr>
            <a:endParaRPr lang="en-US" altLang="en-US" sz="1600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Font typeface="Monotype Sorts" pitchFamily="-84" charset="2"/>
              <a:buNone/>
            </a:pPr>
            <a:endParaRPr lang="en-US" altLang="en-US" sz="1600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Font typeface="Monotype Sorts" pitchFamily="-84" charset="2"/>
              <a:buNone/>
            </a:pPr>
            <a:endParaRPr lang="en-US" altLang="en-US" sz="1600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Font typeface="Monotype Sorts" pitchFamily="-84" charset="2"/>
              <a:buNone/>
            </a:pPr>
            <a:r>
              <a:rPr lang="en-US" altLang="en-US" sz="1800" dirty="0">
                <a:latin typeface="Courier New" pitchFamily="49" charset="0"/>
                <a:cs typeface="Courier New" pitchFamily="49" charset="0"/>
              </a:rPr>
              <a:t>item </a:t>
            </a:r>
            <a:r>
              <a:rPr lang="en-US" altLang="en-US" sz="1800" dirty="0" err="1">
                <a:latin typeface="Courier New" pitchFamily="49" charset="0"/>
                <a:cs typeface="Courier New" pitchFamily="49" charset="0"/>
              </a:rPr>
              <a:t>next_consumed</a:t>
            </a:r>
            <a:r>
              <a:rPr lang="en-US" altLang="en-US" sz="1800" dirty="0">
                <a:latin typeface="Courier New" pitchFamily="49" charset="0"/>
                <a:cs typeface="Courier New" pitchFamily="49" charset="0"/>
              </a:rPr>
              <a:t>; </a:t>
            </a:r>
          </a:p>
          <a:p>
            <a:pPr marL="0" indent="0">
              <a:buFont typeface="Monotype Sorts" pitchFamily="-84" charset="2"/>
              <a:buNone/>
            </a:pPr>
            <a:r>
              <a:rPr lang="en-US" altLang="en-US" sz="1800" dirty="0">
                <a:latin typeface="Courier New" pitchFamily="49" charset="0"/>
                <a:cs typeface="Courier New" pitchFamily="49" charset="0"/>
              </a:rPr>
              <a:t>while (true) {</a:t>
            </a:r>
            <a:br>
              <a:rPr lang="en-US" altLang="en-US" sz="1800" dirty="0">
                <a:latin typeface="Courier New" pitchFamily="49" charset="0"/>
                <a:cs typeface="Courier New" pitchFamily="49" charset="0"/>
              </a:rPr>
            </a:br>
            <a:r>
              <a:rPr lang="en-US" altLang="en-US" sz="1800" dirty="0">
                <a:latin typeface="Courier New" pitchFamily="49" charset="0"/>
                <a:cs typeface="Courier New" pitchFamily="49" charset="0"/>
              </a:rPr>
              <a:t>	while (in == out) ; /* do nothing */</a:t>
            </a:r>
            <a:br>
              <a:rPr lang="en-US" altLang="en-US" sz="1800" dirty="0">
                <a:latin typeface="Courier New" pitchFamily="49" charset="0"/>
                <a:cs typeface="Courier New" pitchFamily="49" charset="0"/>
              </a:rPr>
            </a:br>
            <a:r>
              <a:rPr lang="en-US" altLang="en-US" sz="1800" dirty="0">
                <a:latin typeface="Courier New" pitchFamily="49" charset="0"/>
                <a:cs typeface="Courier New" pitchFamily="49" charset="0"/>
              </a:rPr>
              <a:t>	</a:t>
            </a:r>
            <a:r>
              <a:rPr lang="en-US" altLang="en-US" sz="1800" dirty="0" err="1">
                <a:latin typeface="Courier New" pitchFamily="49" charset="0"/>
                <a:cs typeface="Courier New" pitchFamily="49" charset="0"/>
              </a:rPr>
              <a:t>next_consumed</a:t>
            </a:r>
            <a:r>
              <a:rPr lang="en-US" altLang="en-US" sz="1800" dirty="0">
                <a:latin typeface="Courier New" pitchFamily="49" charset="0"/>
                <a:cs typeface="Courier New" pitchFamily="49" charset="0"/>
              </a:rPr>
              <a:t> = buffer[out]; </a:t>
            </a:r>
          </a:p>
          <a:p>
            <a:pPr marL="0" indent="0">
              <a:buFont typeface="Monotype Sorts" pitchFamily="-84" charset="2"/>
              <a:buNone/>
            </a:pPr>
            <a:r>
              <a:rPr lang="en-US" altLang="en-US" sz="1800" dirty="0">
                <a:latin typeface="Courier New" pitchFamily="49" charset="0"/>
                <a:cs typeface="Courier New" pitchFamily="49" charset="0"/>
              </a:rPr>
              <a:t>	out = (out + 1) % BUFFER_SIZE;</a:t>
            </a:r>
            <a:br>
              <a:rPr lang="en-US" altLang="en-US" sz="1800" dirty="0">
                <a:latin typeface="Courier New" pitchFamily="49" charset="0"/>
                <a:cs typeface="Courier New" pitchFamily="49" charset="0"/>
              </a:rPr>
            </a:br>
            <a:endParaRPr lang="en-US" altLang="en-US" sz="1800" dirty="0">
              <a:latin typeface="Courier New" pitchFamily="49" charset="0"/>
              <a:cs typeface="Courier New" pitchFamily="49" charset="0"/>
            </a:endParaRPr>
          </a:p>
          <a:p>
            <a:pPr marL="0" indent="0">
              <a:buFont typeface="Monotype Sorts" pitchFamily="-84" charset="2"/>
              <a:buNone/>
            </a:pPr>
            <a:r>
              <a:rPr lang="en-US" altLang="en-US" sz="1800" dirty="0">
                <a:latin typeface="Courier New" pitchFamily="49" charset="0"/>
                <a:cs typeface="Courier New" pitchFamily="49" charset="0"/>
              </a:rPr>
              <a:t>	/* consume the item in next consumed */ </a:t>
            </a:r>
          </a:p>
          <a:p>
            <a:pPr marL="0" indent="0">
              <a:buFont typeface="Monotype Sorts" pitchFamily="-84" charset="2"/>
              <a:buNone/>
            </a:pPr>
            <a:r>
              <a:rPr lang="en-US" altLang="en-US" sz="1800" dirty="0">
                <a:latin typeface="Courier New" pitchFamily="49" charset="0"/>
                <a:cs typeface="Courier New" pitchFamily="49" charset="0"/>
              </a:rPr>
              <a:t>}</a:t>
            </a:r>
            <a:r>
              <a:rPr lang="en-US" altLang="en-US" sz="1600" dirty="0">
                <a:latin typeface="Courier New" pitchFamily="49" charset="0"/>
                <a:cs typeface="Courier New" pitchFamily="49" charset="0"/>
              </a:rPr>
              <a:t> </a:t>
            </a:r>
          </a:p>
        </p:txBody>
      </p:sp>
      <p:pic>
        <p:nvPicPr>
          <p:cNvPr id="4" name="Picture 2" descr="https://pages.mtu.edu/~shene/NSF-3/e-Book/SEMA/DIAGRAM-buffer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24128" y="2060848"/>
            <a:ext cx="3000128" cy="16230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0E88F2-D3A8-4D30-A4A1-82A0C22BE5FE}" type="datetime1">
              <a:rPr lang="en-IN" smtClean="0"/>
              <a:t>23-04-2025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28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99048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>
          <a:xfrm>
            <a:off x="1057275" y="95250"/>
            <a:ext cx="8229600" cy="576263"/>
          </a:xfrm>
        </p:spPr>
        <p:txBody>
          <a:bodyPr/>
          <a:lstStyle/>
          <a:p>
            <a:pPr eaLnBrk="1" hangingPunct="1"/>
            <a:r>
              <a:rPr lang="en-US" altLang="en-US" sz="2500"/>
              <a:t>Interprocess Communication –  Shared Memory</a:t>
            </a:r>
          </a:p>
        </p:txBody>
      </p:sp>
      <p:sp>
        <p:nvSpPr>
          <p:cNvPr id="3891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98525" y="1233488"/>
            <a:ext cx="6621463" cy="4715792"/>
          </a:xfrm>
        </p:spPr>
        <p:txBody>
          <a:bodyPr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n-US" altLang="en-US" sz="2400" dirty="0"/>
              <a:t>What ?</a:t>
            </a:r>
          </a:p>
          <a:p>
            <a:pPr>
              <a:lnSpc>
                <a:spcPct val="90000"/>
              </a:lnSpc>
            </a:pPr>
            <a:endParaRPr lang="en-US" altLang="en-US" sz="2400" dirty="0"/>
          </a:p>
          <a:p>
            <a:pPr>
              <a:lnSpc>
                <a:spcPct val="90000"/>
              </a:lnSpc>
            </a:pPr>
            <a:r>
              <a:rPr lang="en-US" altLang="en-US" sz="2400" dirty="0"/>
              <a:t>An area of memory shared among the processes that wish to communicate</a:t>
            </a:r>
          </a:p>
          <a:p>
            <a:pPr>
              <a:lnSpc>
                <a:spcPct val="90000"/>
              </a:lnSpc>
            </a:pPr>
            <a:endParaRPr lang="en-US" altLang="en-US" sz="2400" dirty="0"/>
          </a:p>
          <a:p>
            <a:pPr>
              <a:lnSpc>
                <a:spcPct val="90000"/>
              </a:lnSpc>
            </a:pPr>
            <a:endParaRPr lang="en-US" altLang="en-US" sz="2400" dirty="0"/>
          </a:p>
          <a:p>
            <a:pPr lvl="1">
              <a:lnSpc>
                <a:spcPct val="90000"/>
              </a:lnSpc>
              <a:buFont typeface="Monotype Sorts" pitchFamily="-84" charset="2"/>
              <a:buNone/>
            </a:pPr>
            <a:endParaRPr lang="en-US" alt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891593-8B62-49CF-9684-4AB2AC0BF06A}" type="datetime1">
              <a:rPr lang="en-IN" smtClean="0"/>
              <a:t>23-04-2025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29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722708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>
          <a:xfrm>
            <a:off x="1057275" y="95250"/>
            <a:ext cx="8229600" cy="576263"/>
          </a:xfrm>
        </p:spPr>
        <p:txBody>
          <a:bodyPr/>
          <a:lstStyle/>
          <a:p>
            <a:pPr eaLnBrk="1" hangingPunct="1"/>
            <a:r>
              <a:rPr lang="en-US" altLang="en-US" sz="2500"/>
              <a:t>Interprocess Communication –  Shared Memory</a:t>
            </a:r>
          </a:p>
        </p:txBody>
      </p:sp>
      <p:sp>
        <p:nvSpPr>
          <p:cNvPr id="3891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98525" y="1233488"/>
            <a:ext cx="6621463" cy="4715792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altLang="en-US" sz="2400" dirty="0"/>
              <a:t>The communication is under the control of the </a:t>
            </a:r>
          </a:p>
          <a:p>
            <a:pPr lvl="1">
              <a:lnSpc>
                <a:spcPct val="90000"/>
              </a:lnSpc>
            </a:pPr>
            <a:r>
              <a:rPr lang="en-US" altLang="en-US" sz="2000" dirty="0"/>
              <a:t>users processes not the operating system.</a:t>
            </a:r>
          </a:p>
          <a:p>
            <a:endParaRPr lang="en-IN" sz="2400" dirty="0"/>
          </a:p>
          <a:p>
            <a:r>
              <a:rPr lang="en-IN" sz="2400" dirty="0"/>
              <a:t>The code for accessing and manipulating the shared memory be written </a:t>
            </a:r>
          </a:p>
          <a:p>
            <a:pPr lvl="1"/>
            <a:r>
              <a:rPr lang="en-IN" sz="2000" dirty="0"/>
              <a:t>explicitly by the application programmer.</a:t>
            </a:r>
            <a:endParaRPr lang="en-US" altLang="en-US" sz="2000" dirty="0"/>
          </a:p>
          <a:p>
            <a:pPr>
              <a:lnSpc>
                <a:spcPct val="90000"/>
              </a:lnSpc>
            </a:pPr>
            <a:endParaRPr lang="en-US" altLang="en-US" sz="2400" dirty="0"/>
          </a:p>
          <a:p>
            <a:pPr lvl="1">
              <a:lnSpc>
                <a:spcPct val="90000"/>
              </a:lnSpc>
              <a:buFont typeface="Monotype Sorts" pitchFamily="-84" charset="2"/>
              <a:buNone/>
            </a:pPr>
            <a:endParaRPr lang="en-US" alt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891593-8B62-49CF-9684-4AB2AC0BF06A}" type="datetime1">
              <a:rPr lang="en-IN" smtClean="0"/>
              <a:t>23-04-2025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30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203105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/>
          <p:cNvSpPr>
            <a:spLocks noGrp="1" noChangeArrowheads="1"/>
          </p:cNvSpPr>
          <p:nvPr>
            <p:ph type="title"/>
          </p:nvPr>
        </p:nvSpPr>
        <p:spPr>
          <a:xfrm>
            <a:off x="1057275" y="95250"/>
            <a:ext cx="8229600" cy="576263"/>
          </a:xfrm>
        </p:spPr>
        <p:txBody>
          <a:bodyPr/>
          <a:lstStyle/>
          <a:p>
            <a:pPr eaLnBrk="1" hangingPunct="1"/>
            <a:r>
              <a:rPr lang="en-US" altLang="en-US" sz="2500"/>
              <a:t>Interprocess Communication –  Shared Memory</a:t>
            </a:r>
          </a:p>
        </p:txBody>
      </p:sp>
      <p:sp>
        <p:nvSpPr>
          <p:cNvPr id="3891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98525" y="1233488"/>
            <a:ext cx="6621463" cy="4715792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en-US" altLang="en-US" sz="2400" dirty="0"/>
              <a:t>Major issues is to provide mechanism that will allow the user processes to </a:t>
            </a:r>
          </a:p>
          <a:p>
            <a:pPr lvl="1">
              <a:lnSpc>
                <a:spcPct val="90000"/>
              </a:lnSpc>
            </a:pPr>
            <a:r>
              <a:rPr lang="en-US" altLang="en-US" sz="2000" dirty="0"/>
              <a:t>synchronize their actions when they access shared memory. </a:t>
            </a:r>
          </a:p>
          <a:p>
            <a:pPr>
              <a:lnSpc>
                <a:spcPct val="90000"/>
              </a:lnSpc>
            </a:pPr>
            <a:endParaRPr lang="en-US" altLang="en-US" dirty="0"/>
          </a:p>
          <a:p>
            <a:pPr>
              <a:lnSpc>
                <a:spcPct val="90000"/>
              </a:lnSpc>
            </a:pPr>
            <a:endParaRPr lang="en-US" altLang="en-US" dirty="0"/>
          </a:p>
          <a:p>
            <a:pPr lvl="1">
              <a:lnSpc>
                <a:spcPct val="90000"/>
              </a:lnSpc>
              <a:buFont typeface="Monotype Sorts" pitchFamily="-84" charset="2"/>
              <a:buNone/>
            </a:pPr>
            <a:endParaRPr lang="en-US" alt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891593-8B62-49CF-9684-4AB2AC0BF06A}" type="datetime1">
              <a:rPr lang="en-IN" smtClean="0"/>
              <a:t>23-04-2025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31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5117828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5818658"/>
          </a:xfrm>
        </p:spPr>
        <p:txBody>
          <a:bodyPr>
            <a:normAutofit/>
          </a:bodyPr>
          <a:lstStyle/>
          <a:p>
            <a:r>
              <a:rPr lang="en-US" altLang="en-US" dirty="0" err="1"/>
              <a:t>Interprocess</a:t>
            </a:r>
            <a:r>
              <a:rPr lang="en-US" altLang="en-US" dirty="0"/>
              <a:t> Communication – Message Passing</a:t>
            </a:r>
            <a:endParaRPr lang="en-IN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EEAD4A-29D3-4F69-8AAC-C93B05492D82}" type="datetime1">
              <a:rPr lang="en-IN" smtClean="0"/>
              <a:t>23-04-2025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32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288394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/>
          <p:cNvSpPr>
            <a:spLocks noGrp="1" noChangeArrowheads="1"/>
          </p:cNvSpPr>
          <p:nvPr>
            <p:ph type="title"/>
          </p:nvPr>
        </p:nvSpPr>
        <p:spPr>
          <a:xfrm>
            <a:off x="1057275" y="127000"/>
            <a:ext cx="8229600" cy="576263"/>
          </a:xfrm>
        </p:spPr>
        <p:txBody>
          <a:bodyPr/>
          <a:lstStyle/>
          <a:p>
            <a:pPr eaLnBrk="1" hangingPunct="1"/>
            <a:r>
              <a:rPr lang="en-US" altLang="en-US" sz="2500" dirty="0" err="1"/>
              <a:t>Interprocess</a:t>
            </a:r>
            <a:r>
              <a:rPr lang="en-US" altLang="en-US" sz="2500" dirty="0"/>
              <a:t> Communication – Message Passing</a:t>
            </a:r>
          </a:p>
        </p:txBody>
      </p:sp>
      <p:sp>
        <p:nvSpPr>
          <p:cNvPr id="3993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85825" y="1201738"/>
            <a:ext cx="6934200" cy="4530725"/>
          </a:xfrm>
        </p:spPr>
        <p:txBody>
          <a:bodyPr>
            <a:normAutofit/>
          </a:bodyPr>
          <a:lstStyle/>
          <a:p>
            <a:r>
              <a:rPr lang="en-IN" sz="2800" dirty="0"/>
              <a:t>Another means for cooperating processes to communicate with each other </a:t>
            </a:r>
          </a:p>
          <a:p>
            <a:pPr lvl="1"/>
            <a:r>
              <a:rPr lang="en-IN" sz="2400" b="1" dirty="0"/>
              <a:t>via a message-passing facility.</a:t>
            </a:r>
          </a:p>
          <a:p>
            <a:endParaRPr lang="en-US" altLang="en-US" sz="2800" b="1" dirty="0"/>
          </a:p>
          <a:p>
            <a:pPr>
              <a:lnSpc>
                <a:spcPct val="90000"/>
              </a:lnSpc>
            </a:pPr>
            <a:endParaRPr lang="en-US" altLang="en-US" sz="700" dirty="0"/>
          </a:p>
          <a:p>
            <a:pPr>
              <a:lnSpc>
                <a:spcPct val="90000"/>
              </a:lnSpc>
            </a:pPr>
            <a:r>
              <a:rPr lang="en-US" altLang="en-US" sz="2800" dirty="0"/>
              <a:t>Processes communicate with each other </a:t>
            </a:r>
          </a:p>
          <a:p>
            <a:pPr lvl="1">
              <a:lnSpc>
                <a:spcPct val="90000"/>
              </a:lnSpc>
            </a:pPr>
            <a:r>
              <a:rPr lang="en-US" altLang="en-US" sz="2400" b="1" dirty="0"/>
              <a:t>without resorting to shared variables or shared address space</a:t>
            </a:r>
          </a:p>
          <a:p>
            <a:pPr>
              <a:lnSpc>
                <a:spcPct val="90000"/>
              </a:lnSpc>
            </a:pPr>
            <a:endParaRPr lang="en-US" altLang="en-US" sz="600" b="1" dirty="0"/>
          </a:p>
          <a:p>
            <a:pPr lvl="1">
              <a:lnSpc>
                <a:spcPct val="90000"/>
              </a:lnSpc>
              <a:buFont typeface="Monotype Sorts" pitchFamily="-84" charset="2"/>
              <a:buNone/>
            </a:pPr>
            <a:endParaRPr lang="en-US" altLang="en-US" sz="2000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96A8B-3014-404F-B534-C6A704C10646}" type="datetime1">
              <a:rPr lang="en-IN" smtClean="0"/>
              <a:t>23-04-2025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33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5754504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/>
          <p:cNvSpPr>
            <a:spLocks noGrp="1" noChangeArrowheads="1"/>
          </p:cNvSpPr>
          <p:nvPr>
            <p:ph type="title"/>
          </p:nvPr>
        </p:nvSpPr>
        <p:spPr>
          <a:xfrm>
            <a:off x="1057275" y="127000"/>
            <a:ext cx="8229600" cy="576263"/>
          </a:xfrm>
        </p:spPr>
        <p:txBody>
          <a:bodyPr/>
          <a:lstStyle/>
          <a:p>
            <a:pPr eaLnBrk="1" hangingPunct="1"/>
            <a:r>
              <a:rPr lang="en-US" altLang="en-US" sz="2500" dirty="0" err="1"/>
              <a:t>Interprocess</a:t>
            </a:r>
            <a:r>
              <a:rPr lang="en-US" altLang="en-US" sz="2500" dirty="0"/>
              <a:t> Communication – Message Passing</a:t>
            </a:r>
          </a:p>
        </p:txBody>
      </p:sp>
      <p:sp>
        <p:nvSpPr>
          <p:cNvPr id="3993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85825" y="1201738"/>
            <a:ext cx="6934200" cy="4530725"/>
          </a:xfrm>
        </p:spPr>
        <p:txBody>
          <a:bodyPr>
            <a:normAutofit/>
          </a:bodyPr>
          <a:lstStyle/>
          <a:p>
            <a:r>
              <a:rPr lang="en-US" altLang="en-US" sz="2800" dirty="0"/>
              <a:t>Mechanism needed for processes </a:t>
            </a:r>
          </a:p>
          <a:p>
            <a:pPr lvl="1"/>
            <a:r>
              <a:rPr lang="en-US" altLang="en-US" sz="2400" dirty="0"/>
              <a:t>to communicate and </a:t>
            </a:r>
          </a:p>
          <a:p>
            <a:pPr lvl="1"/>
            <a:r>
              <a:rPr lang="en-US" altLang="en-US" sz="2400" dirty="0"/>
              <a:t>to synchronize their actions</a:t>
            </a:r>
          </a:p>
          <a:p>
            <a:pPr>
              <a:lnSpc>
                <a:spcPct val="90000"/>
              </a:lnSpc>
            </a:pPr>
            <a:endParaRPr lang="en-US" altLang="en-US" sz="700" dirty="0"/>
          </a:p>
          <a:p>
            <a:pPr>
              <a:lnSpc>
                <a:spcPct val="90000"/>
              </a:lnSpc>
            </a:pPr>
            <a:endParaRPr lang="en-US" altLang="en-US" sz="700" dirty="0"/>
          </a:p>
          <a:p>
            <a:pPr>
              <a:lnSpc>
                <a:spcPct val="90000"/>
              </a:lnSpc>
            </a:pPr>
            <a:endParaRPr lang="en-US" altLang="en-US" sz="600" b="1" dirty="0"/>
          </a:p>
          <a:p>
            <a:pPr lvl="1">
              <a:lnSpc>
                <a:spcPct val="90000"/>
              </a:lnSpc>
              <a:buFont typeface="Monotype Sorts" pitchFamily="-84" charset="2"/>
              <a:buNone/>
            </a:pPr>
            <a:endParaRPr lang="en-US" altLang="en-US" sz="2000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196A8B-3014-404F-B534-C6A704C10646}" type="datetime1">
              <a:rPr lang="en-IN" smtClean="0"/>
              <a:t>23-04-2025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34</a:t>
            </a:fld>
            <a:endParaRPr lang="en-IN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Ink 4"/>
              <p14:cNvContentPartPr/>
              <p14:nvPr/>
            </p14:nvContentPartPr>
            <p14:xfrm>
              <a:off x="2134080" y="2259360"/>
              <a:ext cx="687960" cy="393120"/>
            </p14:xfrm>
          </p:contentPart>
        </mc:Choice>
        <mc:Fallback xmlns="">
          <p:pic>
            <p:nvPicPr>
              <p:cNvPr id="5" name="Ink 4"/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124720" y="2250000"/>
                <a:ext cx="706680" cy="411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41847705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/>
          <p:cNvSpPr>
            <a:spLocks noGrp="1" noChangeArrowheads="1"/>
          </p:cNvSpPr>
          <p:nvPr>
            <p:ph type="title"/>
          </p:nvPr>
        </p:nvSpPr>
        <p:spPr>
          <a:xfrm>
            <a:off x="1057275" y="127000"/>
            <a:ext cx="8229600" cy="576263"/>
          </a:xfrm>
        </p:spPr>
        <p:txBody>
          <a:bodyPr/>
          <a:lstStyle/>
          <a:p>
            <a:pPr eaLnBrk="1" hangingPunct="1"/>
            <a:r>
              <a:rPr lang="en-US" altLang="en-US" sz="2500"/>
              <a:t>Interprocess Communication – Message Passing</a:t>
            </a:r>
          </a:p>
        </p:txBody>
      </p:sp>
      <p:sp>
        <p:nvSpPr>
          <p:cNvPr id="3993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85825" y="1201738"/>
            <a:ext cx="6934200" cy="4530725"/>
          </a:xfrm>
        </p:spPr>
        <p:txBody>
          <a:bodyPr>
            <a:normAutofit/>
          </a:bodyPr>
          <a:lstStyle/>
          <a:p>
            <a:r>
              <a:rPr lang="en-IN" sz="2400" dirty="0"/>
              <a:t>Why?</a:t>
            </a:r>
            <a:endParaRPr lang="en-US" altLang="en-US" sz="2400" dirty="0"/>
          </a:p>
          <a:p>
            <a:pPr>
              <a:lnSpc>
                <a:spcPct val="90000"/>
              </a:lnSpc>
            </a:pPr>
            <a:endParaRPr lang="en-US" altLang="en-US" sz="2400" dirty="0"/>
          </a:p>
          <a:p>
            <a:pPr lvl="1">
              <a:lnSpc>
                <a:spcPct val="90000"/>
              </a:lnSpc>
              <a:buFont typeface="Monotype Sorts" pitchFamily="-84" charset="2"/>
              <a:buNone/>
            </a:pPr>
            <a:endParaRPr lang="en-US" altLang="en-US" sz="2400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82F27D-7C61-4CE1-95F3-B51C2A6EE7B1}" type="datetime1">
              <a:rPr lang="en-IN" smtClean="0"/>
              <a:t>23-04-2025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35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3645694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/>
          <p:cNvSpPr>
            <a:spLocks noGrp="1" noChangeArrowheads="1"/>
          </p:cNvSpPr>
          <p:nvPr>
            <p:ph type="title"/>
          </p:nvPr>
        </p:nvSpPr>
        <p:spPr>
          <a:xfrm>
            <a:off x="1057275" y="127000"/>
            <a:ext cx="8229600" cy="576263"/>
          </a:xfrm>
        </p:spPr>
        <p:txBody>
          <a:bodyPr/>
          <a:lstStyle/>
          <a:p>
            <a:pPr eaLnBrk="1" hangingPunct="1"/>
            <a:r>
              <a:rPr lang="en-US" altLang="en-US" sz="2500"/>
              <a:t>Interprocess Communication – Message Passing</a:t>
            </a:r>
          </a:p>
        </p:txBody>
      </p:sp>
      <p:sp>
        <p:nvSpPr>
          <p:cNvPr id="3993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85825" y="1201738"/>
            <a:ext cx="6934200" cy="4530725"/>
          </a:xfrm>
        </p:spPr>
        <p:txBody>
          <a:bodyPr>
            <a:normAutofit/>
          </a:bodyPr>
          <a:lstStyle/>
          <a:p>
            <a:r>
              <a:rPr lang="en-IN" sz="2400" dirty="0"/>
              <a:t>Particularly useful in a distributed environment, </a:t>
            </a:r>
          </a:p>
          <a:p>
            <a:pPr lvl="1"/>
            <a:r>
              <a:rPr lang="en-IN" sz="2400" dirty="0"/>
              <a:t>where the communicating processes may reside on different computers </a:t>
            </a:r>
          </a:p>
          <a:p>
            <a:pPr lvl="1"/>
            <a:r>
              <a:rPr lang="en-IN" sz="2400" dirty="0"/>
              <a:t>connected by a network. </a:t>
            </a:r>
          </a:p>
          <a:p>
            <a:endParaRPr lang="en-IN" sz="2400" dirty="0"/>
          </a:p>
          <a:p>
            <a:r>
              <a:rPr lang="en-IN" sz="2400" dirty="0"/>
              <a:t>For example, a </a:t>
            </a:r>
            <a:r>
              <a:rPr lang="en-IN" sz="2400" b="1" dirty="0"/>
              <a:t>chat </a:t>
            </a:r>
            <a:r>
              <a:rPr lang="en-IN" sz="2400" dirty="0"/>
              <a:t>program used on the World Wide Web could be designed so</a:t>
            </a:r>
          </a:p>
          <a:p>
            <a:pPr lvl="1"/>
            <a:r>
              <a:rPr lang="en-IN" sz="2400" dirty="0"/>
              <a:t>that chat participants communicate with one another by exchanging messages.</a:t>
            </a:r>
            <a:endParaRPr lang="en-US" altLang="en-US" sz="2400" dirty="0"/>
          </a:p>
          <a:p>
            <a:pPr>
              <a:lnSpc>
                <a:spcPct val="90000"/>
              </a:lnSpc>
            </a:pPr>
            <a:endParaRPr lang="en-US" altLang="en-US" sz="2400" dirty="0"/>
          </a:p>
          <a:p>
            <a:pPr lvl="1">
              <a:lnSpc>
                <a:spcPct val="90000"/>
              </a:lnSpc>
              <a:buFont typeface="Monotype Sorts" pitchFamily="-84" charset="2"/>
              <a:buNone/>
            </a:pPr>
            <a:endParaRPr lang="en-US" altLang="en-US" sz="2400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82F27D-7C61-4CE1-95F3-B51C2A6EE7B1}" type="datetime1">
              <a:rPr lang="en-IN" smtClean="0"/>
              <a:t>23-04-2025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36</a:t>
            </a:fld>
            <a:endParaRPr lang="en-IN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Ink 4"/>
              <p14:cNvContentPartPr/>
              <p14:nvPr/>
            </p14:nvContentPartPr>
            <p14:xfrm>
              <a:off x="3170160" y="1652040"/>
              <a:ext cx="3411360" cy="2080800"/>
            </p14:xfrm>
          </p:contentPart>
        </mc:Choice>
        <mc:Fallback xmlns="">
          <p:pic>
            <p:nvPicPr>
              <p:cNvPr id="5" name="Ink 4"/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160800" y="1642680"/>
                <a:ext cx="3430080" cy="20995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1206967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/>
          <p:cNvSpPr>
            <a:spLocks noGrp="1" noChangeArrowheads="1"/>
          </p:cNvSpPr>
          <p:nvPr>
            <p:ph type="title"/>
          </p:nvPr>
        </p:nvSpPr>
        <p:spPr>
          <a:xfrm>
            <a:off x="1057275" y="127000"/>
            <a:ext cx="8229600" cy="576263"/>
          </a:xfrm>
        </p:spPr>
        <p:txBody>
          <a:bodyPr/>
          <a:lstStyle/>
          <a:p>
            <a:pPr eaLnBrk="1" hangingPunct="1"/>
            <a:r>
              <a:rPr lang="en-US" altLang="en-US" sz="2500"/>
              <a:t>Interprocess Communication – Message Passing</a:t>
            </a:r>
          </a:p>
        </p:txBody>
      </p:sp>
      <p:sp>
        <p:nvSpPr>
          <p:cNvPr id="3993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85825" y="1201738"/>
            <a:ext cx="6934200" cy="4530725"/>
          </a:xfr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>
            <a:normAutofit/>
          </a:bodyPr>
          <a:lstStyle/>
          <a:p>
            <a:pPr>
              <a:lnSpc>
                <a:spcPct val="90000"/>
              </a:lnSpc>
            </a:pPr>
            <a:endParaRPr lang="en-US" altLang="en-US" sz="800" dirty="0"/>
          </a:p>
          <a:p>
            <a:pPr>
              <a:lnSpc>
                <a:spcPct val="90000"/>
              </a:lnSpc>
            </a:pPr>
            <a:r>
              <a:rPr lang="en-US" altLang="en-US" dirty="0"/>
              <a:t>IPC facility provides two operations:</a:t>
            </a:r>
          </a:p>
          <a:p>
            <a:pPr lvl="1">
              <a:lnSpc>
                <a:spcPct val="90000"/>
              </a:lnSpc>
            </a:pPr>
            <a:r>
              <a:rPr lang="en-US" altLang="en-US" b="1" dirty="0">
                <a:latin typeface="Courier New" pitchFamily="49" charset="0"/>
                <a:cs typeface="Courier New" pitchFamily="49" charset="0"/>
              </a:rPr>
              <a:t>send</a:t>
            </a:r>
            <a:r>
              <a:rPr lang="en-US" altLang="en-US" dirty="0"/>
              <a:t>(</a:t>
            </a:r>
            <a:r>
              <a:rPr lang="en-US" altLang="en-US" i="1" dirty="0"/>
              <a:t>message</a:t>
            </a:r>
            <a:r>
              <a:rPr lang="en-US" altLang="en-US" dirty="0"/>
              <a:t>)</a:t>
            </a:r>
          </a:p>
          <a:p>
            <a:pPr lvl="1">
              <a:lnSpc>
                <a:spcPct val="90000"/>
              </a:lnSpc>
            </a:pPr>
            <a:r>
              <a:rPr lang="en-US" altLang="en-US" b="1" dirty="0">
                <a:latin typeface="Courier New" pitchFamily="49" charset="0"/>
                <a:cs typeface="Courier New" pitchFamily="49" charset="0"/>
              </a:rPr>
              <a:t>receive</a:t>
            </a:r>
            <a:r>
              <a:rPr lang="en-US" altLang="en-US" dirty="0"/>
              <a:t>(</a:t>
            </a:r>
            <a:r>
              <a:rPr lang="en-US" altLang="en-US" i="1" dirty="0"/>
              <a:t>message</a:t>
            </a:r>
            <a:r>
              <a:rPr lang="en-US" altLang="en-US" dirty="0"/>
              <a:t>)</a:t>
            </a:r>
          </a:p>
          <a:p>
            <a:pPr lvl="1">
              <a:lnSpc>
                <a:spcPct val="90000"/>
              </a:lnSpc>
              <a:buFont typeface="Monotype Sorts" pitchFamily="-84" charset="2"/>
              <a:buNone/>
            </a:pPr>
            <a:endParaRPr lang="en-US" altLang="en-US" sz="800" dirty="0"/>
          </a:p>
          <a:p>
            <a:pPr>
              <a:lnSpc>
                <a:spcPct val="90000"/>
              </a:lnSpc>
            </a:pPr>
            <a:r>
              <a:rPr lang="en-US" altLang="en-US" dirty="0"/>
              <a:t>The</a:t>
            </a:r>
            <a:r>
              <a:rPr lang="en-US" altLang="en-US" i="1" dirty="0"/>
              <a:t> message</a:t>
            </a:r>
            <a:r>
              <a:rPr lang="en-US" altLang="en-US" dirty="0"/>
              <a:t> size is either </a:t>
            </a:r>
          </a:p>
          <a:p>
            <a:pPr lvl="1">
              <a:lnSpc>
                <a:spcPct val="90000"/>
              </a:lnSpc>
            </a:pPr>
            <a:r>
              <a:rPr lang="en-US" altLang="en-US" dirty="0"/>
              <a:t>fixed or </a:t>
            </a:r>
          </a:p>
          <a:p>
            <a:pPr lvl="1">
              <a:lnSpc>
                <a:spcPct val="90000"/>
              </a:lnSpc>
            </a:pPr>
            <a:r>
              <a:rPr lang="en-US" altLang="en-US" dirty="0"/>
              <a:t>variable</a:t>
            </a:r>
          </a:p>
          <a:p>
            <a:pPr lvl="1">
              <a:lnSpc>
                <a:spcPct val="90000"/>
              </a:lnSpc>
              <a:buFont typeface="Monotype Sorts" pitchFamily="-84" charset="2"/>
              <a:buNone/>
            </a:pPr>
            <a:endParaRPr lang="en-US" alt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4FC6DA-D1D8-4924-BDB5-205AE6AFE48A}" type="datetime1">
              <a:rPr lang="en-IN" smtClean="0"/>
              <a:t>23-04-2025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37</a:t>
            </a:fld>
            <a:endParaRPr lang="en-IN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Ink 4"/>
              <p14:cNvContentPartPr/>
              <p14:nvPr/>
            </p14:nvContentPartPr>
            <p14:xfrm>
              <a:off x="616320" y="2205720"/>
              <a:ext cx="1303920" cy="2054160"/>
            </p14:xfrm>
          </p:contentPart>
        </mc:Choice>
        <mc:Fallback xmlns="">
          <p:pic>
            <p:nvPicPr>
              <p:cNvPr id="5" name="Ink 4"/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06960" y="2196360"/>
                <a:ext cx="1322640" cy="20728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48273583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/>
          <p:cNvSpPr>
            <a:spLocks noGrp="1" noChangeArrowheads="1"/>
          </p:cNvSpPr>
          <p:nvPr>
            <p:ph type="title"/>
          </p:nvPr>
        </p:nvSpPr>
        <p:spPr>
          <a:xfrm>
            <a:off x="1057275" y="127000"/>
            <a:ext cx="8229600" cy="576263"/>
          </a:xfrm>
        </p:spPr>
        <p:txBody>
          <a:bodyPr/>
          <a:lstStyle/>
          <a:p>
            <a:pPr eaLnBrk="1" hangingPunct="1"/>
            <a:r>
              <a:rPr lang="en-US" altLang="en-US" sz="2500"/>
              <a:t>Interprocess Communication – Message Passing</a:t>
            </a:r>
          </a:p>
        </p:txBody>
      </p:sp>
      <p:sp>
        <p:nvSpPr>
          <p:cNvPr id="3993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85824" y="1201738"/>
            <a:ext cx="7790631" cy="4530725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endParaRPr lang="en-US" altLang="en-US" sz="800" dirty="0"/>
          </a:p>
          <a:p>
            <a:r>
              <a:rPr lang="en-IN" sz="2400" dirty="0"/>
              <a:t>If only fixed-sized messages can be sent, </a:t>
            </a:r>
          </a:p>
          <a:p>
            <a:pPr lvl="1"/>
            <a:r>
              <a:rPr lang="en-IN" sz="2400" dirty="0"/>
              <a:t>the system-level </a:t>
            </a:r>
            <a:r>
              <a:rPr lang="en-IN" sz="2400" b="1" dirty="0"/>
              <a:t>implementation is straightforward.</a:t>
            </a:r>
            <a:endParaRPr lang="en-US" altLang="en-US" sz="2400" b="1" dirty="0"/>
          </a:p>
          <a:p>
            <a:pPr lvl="1">
              <a:lnSpc>
                <a:spcPct val="90000"/>
              </a:lnSpc>
            </a:pPr>
            <a:r>
              <a:rPr lang="en-IN" sz="2400" dirty="0"/>
              <a:t>the task of programming more difficult. </a:t>
            </a:r>
          </a:p>
          <a:p>
            <a:pPr>
              <a:lnSpc>
                <a:spcPct val="90000"/>
              </a:lnSpc>
            </a:pPr>
            <a:endParaRPr lang="en-IN" sz="2400" dirty="0"/>
          </a:p>
          <a:p>
            <a:pPr>
              <a:lnSpc>
                <a:spcPct val="90000"/>
              </a:lnSpc>
            </a:pPr>
            <a:r>
              <a:rPr lang="en-IN" sz="2400" dirty="0"/>
              <a:t>Conversely, variable-sized messages require</a:t>
            </a:r>
          </a:p>
          <a:p>
            <a:pPr lvl="1"/>
            <a:r>
              <a:rPr lang="en-IN" sz="2400" dirty="0"/>
              <a:t>a more </a:t>
            </a:r>
            <a:r>
              <a:rPr lang="en-IN" sz="2400" b="1" dirty="0"/>
              <a:t>complex system-level implementation, </a:t>
            </a:r>
          </a:p>
          <a:p>
            <a:pPr lvl="1"/>
            <a:r>
              <a:rPr lang="en-IN" sz="2400" dirty="0"/>
              <a:t>but the programming task becomes simpler.</a:t>
            </a:r>
            <a:endParaRPr lang="en-US" altLang="en-US" sz="2400" dirty="0"/>
          </a:p>
          <a:p>
            <a:pPr lvl="1">
              <a:lnSpc>
                <a:spcPct val="90000"/>
              </a:lnSpc>
              <a:buFont typeface="Monotype Sorts" pitchFamily="-84" charset="2"/>
              <a:buNone/>
            </a:pPr>
            <a:endParaRPr lang="en-US" altLang="en-US" sz="2400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E86F3A-9529-4703-A27D-AD3DC4C63F82}" type="datetime1">
              <a:rPr lang="en-IN" smtClean="0"/>
              <a:t>23-04-2025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38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1475396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title"/>
          </p:nvPr>
        </p:nvSpPr>
        <p:spPr>
          <a:xfrm>
            <a:off x="996950" y="107950"/>
            <a:ext cx="8229600" cy="576263"/>
          </a:xfrm>
        </p:spPr>
        <p:txBody>
          <a:bodyPr/>
          <a:lstStyle/>
          <a:p>
            <a:pPr eaLnBrk="1" hangingPunct="1"/>
            <a:r>
              <a:rPr lang="en-US" altLang="en-US" sz="2500"/>
              <a:t>Message Passing (Cont.)</a:t>
            </a:r>
          </a:p>
        </p:txBody>
      </p:sp>
      <p:sp>
        <p:nvSpPr>
          <p:cNvPr id="4096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01700" y="1016000"/>
            <a:ext cx="7694613" cy="4530725"/>
          </a:xfrm>
        </p:spPr>
        <p:txBody>
          <a:bodyPr>
            <a:normAutofit/>
          </a:bodyPr>
          <a:lstStyle/>
          <a:p>
            <a:pPr lvl="1">
              <a:lnSpc>
                <a:spcPct val="90000"/>
              </a:lnSpc>
            </a:pPr>
            <a:endParaRPr lang="en-US" altLang="en-US" sz="800" dirty="0"/>
          </a:p>
          <a:p>
            <a:pPr>
              <a:lnSpc>
                <a:spcPct val="90000"/>
              </a:lnSpc>
            </a:pPr>
            <a:r>
              <a:rPr lang="en-US" altLang="en-US" sz="2400" dirty="0"/>
              <a:t>If processes </a:t>
            </a:r>
            <a:r>
              <a:rPr lang="en-US" altLang="en-US" sz="2400" i="1" dirty="0"/>
              <a:t>P</a:t>
            </a:r>
            <a:r>
              <a:rPr lang="en-US" altLang="en-US" sz="2400" dirty="0"/>
              <a:t> and </a:t>
            </a:r>
            <a:r>
              <a:rPr lang="en-US" altLang="en-US" sz="2400" i="1" dirty="0"/>
              <a:t>Q</a:t>
            </a:r>
            <a:r>
              <a:rPr lang="en-US" altLang="en-US" sz="2400" dirty="0"/>
              <a:t> wish to communicate, they need to:</a:t>
            </a:r>
          </a:p>
          <a:p>
            <a:pPr lvl="1">
              <a:lnSpc>
                <a:spcPct val="90000"/>
              </a:lnSpc>
            </a:pPr>
            <a:r>
              <a:rPr lang="en-US" altLang="en-US" sz="2400" dirty="0"/>
              <a:t>Establish a </a:t>
            </a:r>
            <a:r>
              <a:rPr lang="en-US" altLang="en-US" sz="2400" b="1" i="1" dirty="0"/>
              <a:t>communication</a:t>
            </a:r>
            <a:r>
              <a:rPr lang="en-US" altLang="en-US" sz="2400" b="1" dirty="0"/>
              <a:t> </a:t>
            </a:r>
            <a:r>
              <a:rPr lang="en-US" altLang="en-US" sz="2400" b="1" i="1" dirty="0"/>
              <a:t>link</a:t>
            </a:r>
            <a:r>
              <a:rPr lang="en-US" altLang="en-US" sz="2400" b="1" dirty="0"/>
              <a:t> </a:t>
            </a:r>
            <a:r>
              <a:rPr lang="en-US" altLang="en-US" sz="2400" dirty="0"/>
              <a:t>between them</a:t>
            </a:r>
          </a:p>
          <a:p>
            <a:pPr lvl="1">
              <a:lnSpc>
                <a:spcPct val="90000"/>
              </a:lnSpc>
            </a:pPr>
            <a:r>
              <a:rPr lang="en-US" altLang="en-US" sz="2400" dirty="0"/>
              <a:t>Exchange messages via send/receive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4D5291-04D1-4BB7-BE28-C1D99A1C5FF7}" type="datetime1">
              <a:rPr lang="en-IN" smtClean="0"/>
              <a:t>23-04-2025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39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0585678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title"/>
          </p:nvPr>
        </p:nvSpPr>
        <p:spPr>
          <a:xfrm>
            <a:off x="996950" y="107950"/>
            <a:ext cx="8229600" cy="576263"/>
          </a:xfrm>
        </p:spPr>
        <p:txBody>
          <a:bodyPr/>
          <a:lstStyle/>
          <a:p>
            <a:pPr eaLnBrk="1" hangingPunct="1"/>
            <a:r>
              <a:rPr lang="en-US" altLang="en-US" sz="2500"/>
              <a:t>Message Passing (Cont.)</a:t>
            </a:r>
          </a:p>
        </p:txBody>
      </p:sp>
      <p:sp>
        <p:nvSpPr>
          <p:cNvPr id="4096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01700" y="1016000"/>
            <a:ext cx="7694613" cy="4530725"/>
          </a:xfr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>
            <a:normAutofit fontScale="92500" lnSpcReduction="10000"/>
          </a:bodyPr>
          <a:lstStyle/>
          <a:p>
            <a:pPr lvl="1">
              <a:lnSpc>
                <a:spcPct val="90000"/>
              </a:lnSpc>
            </a:pPr>
            <a:endParaRPr lang="en-US" altLang="en-US" sz="800" dirty="0"/>
          </a:p>
          <a:p>
            <a:pPr>
              <a:lnSpc>
                <a:spcPct val="90000"/>
              </a:lnSpc>
            </a:pPr>
            <a:r>
              <a:rPr lang="en-US" altLang="en-US" dirty="0"/>
              <a:t>Implementation issues:</a:t>
            </a:r>
          </a:p>
          <a:p>
            <a:pPr lvl="1"/>
            <a:r>
              <a:rPr lang="en-US" altLang="en-US" dirty="0"/>
              <a:t>How are links established?</a:t>
            </a:r>
          </a:p>
          <a:p>
            <a:pPr lvl="1"/>
            <a:r>
              <a:rPr lang="en-US" altLang="en-US" dirty="0"/>
              <a:t>Can a link be associated with more than two processes?</a:t>
            </a:r>
          </a:p>
          <a:p>
            <a:pPr lvl="1"/>
            <a:r>
              <a:rPr lang="en-US" altLang="en-US" dirty="0"/>
              <a:t>How many links can there be between every pair of communicating processes?</a:t>
            </a:r>
          </a:p>
          <a:p>
            <a:pPr lvl="1"/>
            <a:r>
              <a:rPr lang="en-US" altLang="en-US" dirty="0"/>
              <a:t>What is the capacity of a link?</a:t>
            </a:r>
          </a:p>
          <a:p>
            <a:pPr lvl="1"/>
            <a:r>
              <a:rPr lang="en-US" altLang="en-US" dirty="0"/>
              <a:t>Is the size of a message that the link can accommodate fixed or variable?</a:t>
            </a:r>
          </a:p>
          <a:p>
            <a:pPr lvl="1"/>
            <a:r>
              <a:rPr lang="en-US" altLang="en-US" dirty="0"/>
              <a:t>Is a link unidirectional or bi-directional?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76473-7518-4807-8C70-4F9A05CEC616}" type="datetime1">
              <a:rPr lang="en-IN" smtClean="0"/>
              <a:t>23-04-2025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40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2138988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title"/>
          </p:nvPr>
        </p:nvSpPr>
        <p:spPr>
          <a:xfrm>
            <a:off x="996950" y="107950"/>
            <a:ext cx="8229600" cy="576263"/>
          </a:xfrm>
        </p:spPr>
        <p:txBody>
          <a:bodyPr/>
          <a:lstStyle/>
          <a:p>
            <a:pPr eaLnBrk="1" hangingPunct="1"/>
            <a:r>
              <a:rPr lang="en-US" altLang="en-US" sz="2500"/>
              <a:t>Message Passing (Cont.)</a:t>
            </a:r>
          </a:p>
        </p:txBody>
      </p:sp>
      <p:sp>
        <p:nvSpPr>
          <p:cNvPr id="4096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01700" y="1016000"/>
            <a:ext cx="7694613" cy="4530725"/>
          </a:xfr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>
            <a:normAutofit/>
          </a:bodyPr>
          <a:lstStyle/>
          <a:p>
            <a:pPr lvl="1">
              <a:lnSpc>
                <a:spcPct val="90000"/>
              </a:lnSpc>
            </a:pPr>
            <a:endParaRPr lang="en-US" altLang="en-US" sz="800" dirty="0"/>
          </a:p>
          <a:p>
            <a:pPr>
              <a:lnSpc>
                <a:spcPct val="90000"/>
              </a:lnSpc>
            </a:pPr>
            <a:r>
              <a:rPr lang="en-US" altLang="en-US" sz="2800" dirty="0"/>
              <a:t>Implementation issues:</a:t>
            </a:r>
          </a:p>
          <a:p>
            <a:pPr lvl="1"/>
            <a:r>
              <a:rPr lang="en-IN" sz="2400" dirty="0"/>
              <a:t>A link has some capacity that determines the number of messages that can reside in it temporarily </a:t>
            </a:r>
          </a:p>
          <a:p>
            <a:pPr lvl="1"/>
            <a:r>
              <a:rPr lang="en-IN" sz="2400" dirty="0"/>
              <a:t>for which every link has a queue associated with it</a:t>
            </a:r>
            <a:endParaRPr lang="en-US" altLang="en-US" sz="2400" dirty="0"/>
          </a:p>
          <a:p>
            <a:pPr>
              <a:lnSpc>
                <a:spcPct val="90000"/>
              </a:lnSpc>
              <a:buFont typeface="Monotype Sorts" pitchFamily="-84" charset="2"/>
              <a:buNone/>
            </a:pPr>
            <a:endParaRPr lang="en-US" altLang="en-US" sz="2800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76473-7518-4807-8C70-4F9A05CEC616}" type="datetime1">
              <a:rPr lang="en-IN" smtClean="0"/>
              <a:t>23-04-2025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41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1164396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2"/>
          <p:cNvSpPr>
            <a:spLocks noGrp="1" noChangeArrowheads="1"/>
          </p:cNvSpPr>
          <p:nvPr>
            <p:ph type="title"/>
          </p:nvPr>
        </p:nvSpPr>
        <p:spPr>
          <a:xfrm>
            <a:off x="933450" y="123825"/>
            <a:ext cx="8229600" cy="576263"/>
          </a:xfrm>
        </p:spPr>
        <p:txBody>
          <a:bodyPr/>
          <a:lstStyle/>
          <a:p>
            <a:pPr eaLnBrk="1" hangingPunct="1"/>
            <a:r>
              <a:rPr lang="en-US" altLang="en-US" sz="2500"/>
              <a:t>Message Passing (Cont.)</a:t>
            </a:r>
          </a:p>
        </p:txBody>
      </p:sp>
      <p:sp>
        <p:nvSpPr>
          <p:cNvPr id="41987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901700" y="785813"/>
            <a:ext cx="7694613" cy="4530725"/>
          </a:xfr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/>
          <a:lstStyle/>
          <a:p>
            <a:pPr lvl="1">
              <a:lnSpc>
                <a:spcPct val="90000"/>
              </a:lnSpc>
            </a:pPr>
            <a:endParaRPr lang="en-US" altLang="en-US" sz="800" dirty="0"/>
          </a:p>
          <a:p>
            <a:pPr lvl="1">
              <a:lnSpc>
                <a:spcPct val="90000"/>
              </a:lnSpc>
              <a:buFont typeface="Monotype Sorts" pitchFamily="-84" charset="2"/>
              <a:buNone/>
            </a:pPr>
            <a:endParaRPr lang="en-US" altLang="en-US" sz="800" dirty="0"/>
          </a:p>
          <a:p>
            <a:pPr>
              <a:lnSpc>
                <a:spcPct val="90000"/>
              </a:lnSpc>
            </a:pPr>
            <a:r>
              <a:rPr lang="en-US" altLang="en-US" dirty="0"/>
              <a:t>Implementation of communication link</a:t>
            </a:r>
          </a:p>
          <a:p>
            <a:pPr lvl="1">
              <a:lnSpc>
                <a:spcPct val="90000"/>
              </a:lnSpc>
            </a:pPr>
            <a:r>
              <a:rPr lang="en-US" altLang="en-US" dirty="0"/>
              <a:t>Physical:</a:t>
            </a:r>
          </a:p>
          <a:p>
            <a:pPr lvl="2">
              <a:lnSpc>
                <a:spcPct val="90000"/>
              </a:lnSpc>
            </a:pPr>
            <a:r>
              <a:rPr lang="en-US" altLang="en-US" dirty="0"/>
              <a:t>Shared memory</a:t>
            </a:r>
          </a:p>
          <a:p>
            <a:pPr lvl="2">
              <a:lnSpc>
                <a:spcPct val="90000"/>
              </a:lnSpc>
            </a:pPr>
            <a:r>
              <a:rPr lang="en-US" altLang="en-US" dirty="0"/>
              <a:t>Hardware bus</a:t>
            </a:r>
          </a:p>
          <a:p>
            <a:pPr lvl="2">
              <a:lnSpc>
                <a:spcPct val="90000"/>
              </a:lnSpc>
            </a:pPr>
            <a:r>
              <a:rPr lang="en-US" altLang="en-US" dirty="0"/>
              <a:t>Network</a:t>
            </a:r>
          </a:p>
          <a:p>
            <a:pPr lvl="1">
              <a:lnSpc>
                <a:spcPct val="90000"/>
              </a:lnSpc>
            </a:pPr>
            <a:r>
              <a:rPr lang="en-US" altLang="en-US" dirty="0"/>
              <a:t>Logical:</a:t>
            </a:r>
          </a:p>
          <a:p>
            <a:pPr lvl="2">
              <a:lnSpc>
                <a:spcPct val="90000"/>
              </a:lnSpc>
            </a:pPr>
            <a:r>
              <a:rPr lang="en-US" altLang="en-US" dirty="0"/>
              <a:t> Direct or indirect</a:t>
            </a:r>
          </a:p>
          <a:p>
            <a:pPr lvl="2">
              <a:lnSpc>
                <a:spcPct val="90000"/>
              </a:lnSpc>
            </a:pPr>
            <a:r>
              <a:rPr lang="en-US" altLang="en-US" dirty="0"/>
              <a:t> Synchronous or asynchronous</a:t>
            </a:r>
          </a:p>
          <a:p>
            <a:pPr lvl="2">
              <a:lnSpc>
                <a:spcPct val="90000"/>
              </a:lnSpc>
            </a:pPr>
            <a:r>
              <a:rPr lang="en-US" altLang="en-US" dirty="0"/>
              <a:t> Automatic or explicit buffering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85746-D569-48E3-A7F9-290A975DAD3C}" type="datetime1">
              <a:rPr lang="en-IN" smtClean="0"/>
              <a:t>23-04-2025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42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8887600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85825" y="1138238"/>
            <a:ext cx="7635875" cy="4530725"/>
          </a:xfr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>
            <a:normAutofit/>
          </a:bodyPr>
          <a:lstStyle/>
          <a:p>
            <a:r>
              <a:rPr lang="en-IN" sz="2400" dirty="0"/>
              <a:t>Processes that want to communicate must have a way to refer to each other.</a:t>
            </a:r>
          </a:p>
          <a:p>
            <a:r>
              <a:rPr lang="en-IN" sz="2400" dirty="0"/>
              <a:t>They can use either </a:t>
            </a:r>
          </a:p>
          <a:p>
            <a:pPr lvl="1"/>
            <a:r>
              <a:rPr lang="en-IN" sz="2400" dirty="0"/>
              <a:t>direct or </a:t>
            </a:r>
          </a:p>
          <a:p>
            <a:pPr lvl="1"/>
            <a:r>
              <a:rPr lang="en-IN" sz="2400" dirty="0"/>
              <a:t>indirect communication.</a:t>
            </a:r>
            <a:endParaRPr lang="en-US" altLang="en-US" sz="2400" dirty="0"/>
          </a:p>
        </p:txBody>
      </p:sp>
      <p:sp>
        <p:nvSpPr>
          <p:cNvPr id="4" name="Rectangle 2"/>
          <p:cNvSpPr txBox="1">
            <a:spLocks noChangeArrowheads="1"/>
          </p:cNvSpPr>
          <p:nvPr/>
        </p:nvSpPr>
        <p:spPr>
          <a:xfrm>
            <a:off x="914400" y="411956"/>
            <a:ext cx="8229600" cy="5762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en-US" sz="2500"/>
              <a:t>Message Passing (Cont.)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FA3012-901C-4696-9327-2A224F38544A}" type="datetime1">
              <a:rPr lang="en-IN" smtClean="0"/>
              <a:t>23-04-2025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43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648753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177800"/>
            <a:ext cx="8229600" cy="57626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/>
              <a:t>Direct Communication</a:t>
            </a:r>
          </a:p>
        </p:txBody>
      </p:sp>
      <p:sp>
        <p:nvSpPr>
          <p:cNvPr id="43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85825" y="1138238"/>
            <a:ext cx="7635875" cy="4530725"/>
          </a:xfrm>
        </p:spPr>
        <p:txBody>
          <a:bodyPr>
            <a:normAutofit/>
          </a:bodyPr>
          <a:lstStyle/>
          <a:p>
            <a:r>
              <a:rPr lang="en-US" altLang="en-US" sz="2800" dirty="0"/>
              <a:t>Processes must name each other explicitly:</a:t>
            </a:r>
          </a:p>
          <a:p>
            <a:pPr lvl="1"/>
            <a:r>
              <a:rPr lang="en-US" altLang="en-US" sz="2400" b="1" u="sng" dirty="0">
                <a:latin typeface="Courier New" pitchFamily="49" charset="0"/>
                <a:cs typeface="Courier New" pitchFamily="49" charset="0"/>
              </a:rPr>
              <a:t>send</a:t>
            </a:r>
            <a:r>
              <a:rPr lang="en-US" altLang="en-US" sz="2400" b="1" u="sng" dirty="0"/>
              <a:t> (</a:t>
            </a:r>
            <a:r>
              <a:rPr lang="en-US" altLang="en-US" sz="2400" b="1" i="1" u="sng" dirty="0"/>
              <a:t>P, message</a:t>
            </a:r>
            <a:r>
              <a:rPr lang="en-US" altLang="en-US" sz="2400" b="1" u="sng" dirty="0"/>
              <a:t>) – send a message to process P</a:t>
            </a:r>
          </a:p>
          <a:p>
            <a:pPr lvl="1"/>
            <a:r>
              <a:rPr lang="en-US" altLang="en-US" sz="2400" b="1" u="sng" dirty="0">
                <a:latin typeface="Courier New" pitchFamily="49" charset="0"/>
                <a:cs typeface="Courier New" pitchFamily="49" charset="0"/>
              </a:rPr>
              <a:t>receive</a:t>
            </a:r>
            <a:r>
              <a:rPr lang="en-US" altLang="en-US" sz="2400" u="sng" dirty="0"/>
              <a:t>(</a:t>
            </a:r>
            <a:r>
              <a:rPr lang="en-US" altLang="en-US" sz="2400" i="1" u="sng" dirty="0"/>
              <a:t>Q, message</a:t>
            </a:r>
            <a:r>
              <a:rPr lang="en-US" altLang="en-US" sz="2400" u="sng" dirty="0"/>
              <a:t>) – receive a message from process Q</a:t>
            </a:r>
          </a:p>
        </p:txBody>
      </p:sp>
      <p:pic>
        <p:nvPicPr>
          <p:cNvPr id="7170" name="Picture 2" descr="https://media.geeksforgeeks.org/wp-content/uploads/2-50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5617" y="3140968"/>
            <a:ext cx="6552728" cy="3096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76F75-DB15-439D-BF67-48B4A570DD43}" type="datetime1">
              <a:rPr lang="en-IN" smtClean="0"/>
              <a:t>23-04-2025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44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2171864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1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85825" y="1138238"/>
            <a:ext cx="7635875" cy="453072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altLang="en-US" sz="2400" dirty="0"/>
              <a:t>Properties of communication link</a:t>
            </a:r>
          </a:p>
          <a:p>
            <a:r>
              <a:rPr lang="en-US" altLang="en-US" sz="2400" dirty="0"/>
              <a:t>Links are established automatically </a:t>
            </a:r>
            <a:r>
              <a:rPr lang="en-IN" sz="2400" dirty="0"/>
              <a:t>between every pair of processes that want to communicate. </a:t>
            </a:r>
          </a:p>
          <a:p>
            <a:pPr lvl="1"/>
            <a:r>
              <a:rPr lang="en-IN" sz="2400" dirty="0"/>
              <a:t>The processes need to know </a:t>
            </a:r>
            <a:r>
              <a:rPr lang="en-IN" sz="2400" b="1" dirty="0"/>
              <a:t>only each other's identity to communicate.</a:t>
            </a:r>
            <a:endParaRPr lang="en-US" altLang="en-US" sz="2400" b="1" dirty="0"/>
          </a:p>
          <a:p>
            <a:pPr lvl="1"/>
            <a:r>
              <a:rPr lang="en-US" altLang="en-US" sz="2400" dirty="0"/>
              <a:t>A link is associated with </a:t>
            </a:r>
            <a:r>
              <a:rPr lang="en-US" altLang="en-US" sz="2400" b="1" dirty="0"/>
              <a:t>exactly one pair of communicating processes</a:t>
            </a:r>
          </a:p>
          <a:p>
            <a:pPr lvl="1"/>
            <a:r>
              <a:rPr lang="en-US" altLang="en-US" sz="2400" b="1" dirty="0">
                <a:solidFill>
                  <a:srgbClr val="FF0000"/>
                </a:solidFill>
              </a:rPr>
              <a:t>Between each pair there exists exactly one link</a:t>
            </a:r>
          </a:p>
          <a:p>
            <a:pPr lvl="1"/>
            <a:r>
              <a:rPr lang="en-US" altLang="en-US" sz="2400" dirty="0"/>
              <a:t>The link may be unidirectional, but is </a:t>
            </a:r>
            <a:r>
              <a:rPr lang="en-US" altLang="en-US" sz="2400" b="1" dirty="0"/>
              <a:t>usually bi-directional</a:t>
            </a:r>
          </a:p>
        </p:txBody>
      </p:sp>
      <p:sp>
        <p:nvSpPr>
          <p:cNvPr id="6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177800"/>
            <a:ext cx="8229600" cy="57626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Direct Communication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A34394-F5DF-44C0-A590-8B68A0118BB7}" type="datetime1">
              <a:rPr lang="en-IN" smtClean="0"/>
              <a:t>23-04-2025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45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8819926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IN" sz="2600" dirty="0"/>
              <a:t>This scheme </a:t>
            </a:r>
            <a:r>
              <a:rPr lang="en-IN" sz="2600" b="1" dirty="0"/>
              <a:t>exhibits symmetry in addressing</a:t>
            </a:r>
            <a:r>
              <a:rPr lang="en-IN" sz="2600" dirty="0"/>
              <a:t>; that is, </a:t>
            </a:r>
          </a:p>
          <a:p>
            <a:pPr lvl="1"/>
            <a:r>
              <a:rPr lang="en-IN" sz="2600" dirty="0"/>
              <a:t>both the sender process and the receiver process </a:t>
            </a:r>
            <a:r>
              <a:rPr lang="en-IN" sz="2600" b="1" dirty="0"/>
              <a:t>must name the other to communicate.</a:t>
            </a:r>
          </a:p>
          <a:p>
            <a:endParaRPr lang="en-IN" sz="2600" b="1" dirty="0"/>
          </a:p>
        </p:txBody>
      </p:sp>
      <p:sp>
        <p:nvSpPr>
          <p:cNvPr id="4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177800"/>
            <a:ext cx="8229600" cy="57626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Direct Communication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7A13D4-92A8-4D58-8283-998B11EEE295}" type="datetime1">
              <a:rPr lang="en-IN" smtClean="0"/>
              <a:t>23-04-2025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46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4116177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IN" sz="2600" dirty="0"/>
              <a:t>A variant of this scheme employs </a:t>
            </a:r>
            <a:r>
              <a:rPr lang="en-IN" sz="2600" i="1" dirty="0"/>
              <a:t>asymmetry </a:t>
            </a:r>
            <a:r>
              <a:rPr lang="en-IN" sz="2600" dirty="0"/>
              <a:t>in addressing. </a:t>
            </a:r>
          </a:p>
          <a:p>
            <a:pPr lvl="1"/>
            <a:r>
              <a:rPr lang="en-IN" sz="2600" dirty="0"/>
              <a:t>Only the sender names the recipient; </a:t>
            </a:r>
          </a:p>
          <a:p>
            <a:pPr lvl="1"/>
            <a:r>
              <a:rPr lang="en-IN" sz="2600" dirty="0"/>
              <a:t>the recipient is not required to name the sender. </a:t>
            </a:r>
          </a:p>
        </p:txBody>
      </p:sp>
      <p:sp>
        <p:nvSpPr>
          <p:cNvPr id="4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177800"/>
            <a:ext cx="8229600" cy="57626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Direct Communication- A variant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AFB48-11F0-4C4E-95B3-E8B86C06E352}" type="datetime1">
              <a:rPr lang="en-IN" smtClean="0"/>
              <a:t>23-04-2025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47</a:t>
            </a:fld>
            <a:endParaRPr lang="en-IN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7" name="Ink 6"/>
              <p14:cNvContentPartPr/>
              <p14:nvPr/>
            </p14:nvContentPartPr>
            <p14:xfrm>
              <a:off x="1509120" y="2884320"/>
              <a:ext cx="5009760" cy="830880"/>
            </p14:xfrm>
          </p:contentPart>
        </mc:Choice>
        <mc:Fallback xmlns="">
          <p:pic>
            <p:nvPicPr>
              <p:cNvPr id="7" name="Ink 6"/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499760" y="2874960"/>
                <a:ext cx="5028480" cy="8496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66037359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 variant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2800" dirty="0"/>
              <a:t>In this scheme, the send() and receive() primitives are defined as follows:</a:t>
            </a:r>
          </a:p>
          <a:p>
            <a:pPr lvl="1"/>
            <a:r>
              <a:rPr lang="en-IN" sz="2400" b="1" dirty="0"/>
              <a:t>send(P, message) -Send a message to process P.</a:t>
            </a:r>
          </a:p>
          <a:p>
            <a:pPr lvl="1"/>
            <a:r>
              <a:rPr lang="en-IN" sz="2400" b="1" dirty="0"/>
              <a:t>receive (id, message) -Receive a message from any process; </a:t>
            </a:r>
          </a:p>
          <a:p>
            <a:pPr lvl="1"/>
            <a:r>
              <a:rPr lang="en-IN" sz="2400" dirty="0"/>
              <a:t>the variable </a:t>
            </a:r>
            <a:r>
              <a:rPr lang="en-IN" sz="2400" i="1" dirty="0"/>
              <a:t>id </a:t>
            </a:r>
            <a:r>
              <a:rPr lang="en-IN" sz="2400" dirty="0"/>
              <a:t>is set to the name of the process with which communication has taken place.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4EA198-390D-46FB-B713-2DED430EFB21}" type="datetime1">
              <a:rPr lang="en-IN" smtClean="0"/>
              <a:t>23-04-2025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48</a:t>
            </a:fld>
            <a:endParaRPr lang="en-IN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7" name="Ink 6"/>
              <p14:cNvContentPartPr/>
              <p14:nvPr/>
            </p14:nvContentPartPr>
            <p14:xfrm>
              <a:off x="2384280" y="4116600"/>
              <a:ext cx="5501160" cy="116280"/>
            </p14:xfrm>
          </p:contentPart>
        </mc:Choice>
        <mc:Fallback xmlns="">
          <p:pic>
            <p:nvPicPr>
              <p:cNvPr id="7" name="Ink 6"/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374920" y="4107240"/>
                <a:ext cx="5519880" cy="135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94743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964488" cy="418058"/>
          </a:xfrm>
        </p:spPr>
        <p:txBody>
          <a:bodyPr>
            <a:normAutofit fontScale="90000"/>
          </a:bodyPr>
          <a:lstStyle/>
          <a:p>
            <a:r>
              <a:rPr lang="en-IN" sz="3600" dirty="0"/>
              <a:t>Disadvantage in symmetric and asymmetric schemes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>
            <a:normAutofit lnSpcReduction="10000"/>
          </a:bodyPr>
          <a:lstStyle/>
          <a:p>
            <a:r>
              <a:rPr lang="en-IN" sz="2400" dirty="0"/>
              <a:t>Limited modularity of the resulting process definitions. </a:t>
            </a:r>
          </a:p>
          <a:p>
            <a:endParaRPr lang="en-IN" sz="2400" dirty="0"/>
          </a:p>
          <a:p>
            <a:r>
              <a:rPr lang="en-IN" sz="2400" dirty="0"/>
              <a:t>Changing the identifier of a process may necessitate </a:t>
            </a:r>
            <a:r>
              <a:rPr lang="en-IN" sz="2400" b="1" u="sng" dirty="0"/>
              <a:t>examining all other process definitions.</a:t>
            </a:r>
          </a:p>
          <a:p>
            <a:endParaRPr lang="en-IN" sz="2400" b="1" u="sng" dirty="0"/>
          </a:p>
          <a:p>
            <a:r>
              <a:rPr lang="en-IN" sz="2400" dirty="0"/>
              <a:t>All references to the </a:t>
            </a:r>
            <a:r>
              <a:rPr lang="en-IN" sz="2400" b="1" u="sng" dirty="0"/>
              <a:t>old identifier must be found</a:t>
            </a:r>
            <a:r>
              <a:rPr lang="en-IN" sz="2400" dirty="0"/>
              <a:t>, so that they can be modified to the new identifier. </a:t>
            </a:r>
          </a:p>
          <a:p>
            <a:endParaRPr lang="en-IN" sz="2400" dirty="0"/>
          </a:p>
          <a:p>
            <a:r>
              <a:rPr lang="en-IN" sz="2400" dirty="0"/>
              <a:t>Any such </a:t>
            </a:r>
            <a:r>
              <a:rPr lang="en-IN" sz="2400" b="1" dirty="0"/>
              <a:t>hard-coding </a:t>
            </a:r>
            <a:r>
              <a:rPr lang="en-IN" sz="2400" dirty="0"/>
              <a:t>techniques, where identifiers must be explicitly stated, are </a:t>
            </a:r>
            <a:r>
              <a:rPr lang="en-IN" sz="2400" b="1" u="sng" dirty="0"/>
              <a:t>less desirable than techniques involving indirection.</a:t>
            </a:r>
          </a:p>
        </p:txBody>
      </p:sp>
      <p:sp>
        <p:nvSpPr>
          <p:cNvPr id="4" name="Curved Left Arrow 3"/>
          <p:cNvSpPr/>
          <p:nvPr/>
        </p:nvSpPr>
        <p:spPr>
          <a:xfrm>
            <a:off x="7380312" y="1988840"/>
            <a:ext cx="360040" cy="720080"/>
          </a:xfrm>
          <a:prstGeom prst="curved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tx1"/>
              </a:solidFill>
            </a:endParaRPr>
          </a:p>
        </p:txBody>
      </p:sp>
      <p:sp>
        <p:nvSpPr>
          <p:cNvPr id="5" name="Curved Left Arrow 4"/>
          <p:cNvSpPr/>
          <p:nvPr/>
        </p:nvSpPr>
        <p:spPr>
          <a:xfrm>
            <a:off x="7380312" y="2861320"/>
            <a:ext cx="360040" cy="720080"/>
          </a:xfrm>
          <a:prstGeom prst="curved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tx1"/>
              </a:solidFill>
            </a:endParaRPr>
          </a:p>
        </p:txBody>
      </p:sp>
      <p:sp>
        <p:nvSpPr>
          <p:cNvPr id="6" name="Curved Left Arrow 5"/>
          <p:cNvSpPr/>
          <p:nvPr/>
        </p:nvSpPr>
        <p:spPr>
          <a:xfrm>
            <a:off x="7486809" y="4005064"/>
            <a:ext cx="360040" cy="720080"/>
          </a:xfrm>
          <a:prstGeom prst="curvedLef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tx1"/>
              </a:solidFill>
            </a:endParaRP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3C32C4-CAE8-431A-B7A2-0ADBA7B9C82C}" type="datetime1">
              <a:rPr lang="en-IN" smtClean="0"/>
              <a:t>23-04-2025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49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8937846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152400"/>
            <a:ext cx="8229600" cy="57626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/>
              <a:t>Indirect Communication</a:t>
            </a:r>
          </a:p>
        </p:txBody>
      </p:sp>
      <p:sp>
        <p:nvSpPr>
          <p:cNvPr id="4403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54075" y="1166813"/>
            <a:ext cx="7391400" cy="4159250"/>
          </a:xfrm>
        </p:spPr>
        <p:txBody>
          <a:bodyPr>
            <a:normAutofit/>
          </a:bodyPr>
          <a:lstStyle/>
          <a:p>
            <a:r>
              <a:rPr lang="en-US" altLang="en-US" dirty="0"/>
              <a:t>Messages are directed and received from mailboxes (also referred to as ports)</a:t>
            </a:r>
          </a:p>
          <a:p>
            <a:pPr lvl="1"/>
            <a:r>
              <a:rPr lang="en-US" altLang="en-US" dirty="0"/>
              <a:t>Each mailbox has a unique id</a:t>
            </a:r>
          </a:p>
          <a:p>
            <a:pPr lvl="1"/>
            <a:r>
              <a:rPr lang="en-US" altLang="en-US" dirty="0"/>
              <a:t>Processes can communicate only if they share a mailbox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4F91F1-DE04-45E2-967C-5FC955AB69A6}" type="datetime1">
              <a:rPr lang="en-IN" smtClean="0"/>
              <a:t>23-04-2025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50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3665223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152400"/>
            <a:ext cx="8229600" cy="57626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/>
              <a:t>Indirect Communication</a:t>
            </a:r>
          </a:p>
        </p:txBody>
      </p:sp>
      <p:sp>
        <p:nvSpPr>
          <p:cNvPr id="4403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54075" y="1166813"/>
            <a:ext cx="7391400" cy="4159250"/>
          </a:xfrm>
        </p:spPr>
        <p:txBody>
          <a:bodyPr>
            <a:normAutofit/>
          </a:bodyPr>
          <a:lstStyle/>
          <a:p>
            <a:r>
              <a:rPr lang="en-IN" dirty="0"/>
              <a:t>A mailbox can be viewed abstractly as an </a:t>
            </a:r>
          </a:p>
          <a:p>
            <a:pPr lvl="1"/>
            <a:r>
              <a:rPr lang="en-IN" dirty="0"/>
              <a:t>object into which messages can be placed by processes and </a:t>
            </a:r>
          </a:p>
          <a:p>
            <a:pPr lvl="1"/>
            <a:r>
              <a:rPr lang="en-IN" dirty="0"/>
              <a:t>from which messages can be removed.</a:t>
            </a:r>
          </a:p>
          <a:p>
            <a:pPr lvl="1"/>
            <a:r>
              <a:rPr lang="en-IN" dirty="0"/>
              <a:t>Each mailbox has a unique identification</a:t>
            </a:r>
          </a:p>
        </p:txBody>
      </p:sp>
      <p:pic>
        <p:nvPicPr>
          <p:cNvPr id="2050" name="Picture 2" descr="Inter Process Communication In Operating System - Tutorialwi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9672" y="3645024"/>
            <a:ext cx="5943600" cy="19431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2F8D51-EB16-4636-BBFD-F87DF1D36A32}" type="datetime1">
              <a:rPr lang="en-IN" smtClean="0"/>
              <a:t>23-04-2025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51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8412825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152400"/>
            <a:ext cx="8229600" cy="57626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Indirect Communication-mailboxes</a:t>
            </a:r>
          </a:p>
        </p:txBody>
      </p:sp>
      <p:sp>
        <p:nvSpPr>
          <p:cNvPr id="4403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54075" y="1166813"/>
            <a:ext cx="7391400" cy="1902147"/>
          </a:xfr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>
            <a:normAutofit lnSpcReduction="10000"/>
          </a:bodyPr>
          <a:lstStyle/>
          <a:p>
            <a:r>
              <a:rPr lang="en-IN" sz="2400" b="1" dirty="0">
                <a:solidFill>
                  <a:srgbClr val="FF0000"/>
                </a:solidFill>
              </a:rPr>
              <a:t>A process can communicate with some other process </a:t>
            </a:r>
            <a:r>
              <a:rPr lang="en-IN" sz="2400" b="1" u="sng" dirty="0">
                <a:solidFill>
                  <a:srgbClr val="FF0000"/>
                </a:solidFill>
              </a:rPr>
              <a:t>via a number of different mailboxes.</a:t>
            </a:r>
          </a:p>
          <a:p>
            <a:endParaRPr lang="en-IN" sz="2400" b="1" u="sng" dirty="0"/>
          </a:p>
          <a:p>
            <a:r>
              <a:rPr lang="en-IN" sz="2400" dirty="0"/>
              <a:t>Two processes can communicate only if the processes have a shared mailbox,</a:t>
            </a:r>
          </a:p>
        </p:txBody>
      </p:sp>
      <p:pic>
        <p:nvPicPr>
          <p:cNvPr id="1026" name="Picture 2" descr="PPT - Interprocess Communication PowerPoint Presentation, free download -  ID:3010367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658" t="20624" r="8660" b="34193"/>
          <a:stretch/>
        </p:blipFill>
        <p:spPr bwMode="auto">
          <a:xfrm>
            <a:off x="827584" y="3442290"/>
            <a:ext cx="7488832" cy="1944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urved Right Arrow 1"/>
          <p:cNvSpPr/>
          <p:nvPr/>
        </p:nvSpPr>
        <p:spPr>
          <a:xfrm rot="406876">
            <a:off x="224279" y="1472139"/>
            <a:ext cx="720080" cy="4621960"/>
          </a:xfrm>
          <a:prstGeom prst="curved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tx1"/>
              </a:solidFill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11EE36-DD90-46A1-84BF-F9E55368155B}" type="datetime1">
              <a:rPr lang="en-IN" smtClean="0"/>
              <a:t>23-04-2025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52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599933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Rectangle 2"/>
          <p:cNvSpPr>
            <a:spLocks noGrp="1" noChangeArrowheads="1"/>
          </p:cNvSpPr>
          <p:nvPr>
            <p:ph type="title"/>
          </p:nvPr>
        </p:nvSpPr>
        <p:spPr>
          <a:xfrm>
            <a:off x="457200" y="152400"/>
            <a:ext cx="8229600" cy="576263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/>
              <a:t>Indirect Communication</a:t>
            </a:r>
          </a:p>
        </p:txBody>
      </p:sp>
      <p:sp>
        <p:nvSpPr>
          <p:cNvPr id="44035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854075" y="1166813"/>
            <a:ext cx="7391400" cy="4159250"/>
          </a:xfr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>
            <a:normAutofit fontScale="92500"/>
          </a:bodyPr>
          <a:lstStyle/>
          <a:p>
            <a:r>
              <a:rPr lang="en-US" altLang="en-US" dirty="0"/>
              <a:t>Properties of communication link</a:t>
            </a:r>
          </a:p>
          <a:p>
            <a:pPr lvl="1"/>
            <a:r>
              <a:rPr lang="en-US" altLang="en-US" b="1" dirty="0"/>
              <a:t>Link established only if processes share a common mailbox</a:t>
            </a:r>
          </a:p>
          <a:p>
            <a:pPr lvl="1"/>
            <a:r>
              <a:rPr lang="en-US" altLang="en-US" dirty="0"/>
              <a:t>A link may be associated with many processes</a:t>
            </a:r>
          </a:p>
          <a:p>
            <a:pPr lvl="1"/>
            <a:r>
              <a:rPr lang="en-US" altLang="en-US" b="1" dirty="0">
                <a:solidFill>
                  <a:srgbClr val="FF0000"/>
                </a:solidFill>
              </a:rPr>
              <a:t>Between Each pair of communicating processes, there may be a number of different links with each link corresponding to one mailbox</a:t>
            </a:r>
          </a:p>
          <a:p>
            <a:pPr lvl="1"/>
            <a:r>
              <a:rPr lang="en-US" altLang="en-US" dirty="0"/>
              <a:t>Link may be unidirectional or bi-directional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94CD26-51EE-4ED0-B976-39D4BFC25DB2}" type="datetime1">
              <a:rPr lang="en-IN" smtClean="0"/>
              <a:t>23-04-2025</a:t>
            </a:fld>
            <a:endParaRPr lang="en-IN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53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8815199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"/>
          <p:cNvSpPr>
            <a:spLocks noGrp="1" noChangeArrowheads="1"/>
          </p:cNvSpPr>
          <p:nvPr>
            <p:ph type="title"/>
          </p:nvPr>
        </p:nvSpPr>
        <p:spPr>
          <a:xfrm>
            <a:off x="882650" y="182563"/>
            <a:ext cx="8229600" cy="576262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/>
              <a:t>Indirect Communication</a:t>
            </a:r>
          </a:p>
        </p:txBody>
      </p:sp>
      <p:sp>
        <p:nvSpPr>
          <p:cNvPr id="45059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611560" y="1135063"/>
            <a:ext cx="7806953" cy="3821112"/>
          </a:xfrm>
        </p:spPr>
        <p:txBody>
          <a:bodyPr>
            <a:normAutofit/>
          </a:bodyPr>
          <a:lstStyle/>
          <a:p>
            <a:r>
              <a:rPr lang="en-US" altLang="en-US" dirty="0"/>
              <a:t>Primitives are defined as:</a:t>
            </a:r>
          </a:p>
          <a:p>
            <a:pPr>
              <a:buFont typeface="Monotype Sorts" pitchFamily="-84" charset="2"/>
              <a:buNone/>
            </a:pPr>
            <a:r>
              <a:rPr lang="en-US" altLang="en-US" dirty="0"/>
              <a:t>	</a:t>
            </a:r>
            <a:r>
              <a:rPr lang="en-US" altLang="en-US" sz="2800" b="1" dirty="0">
                <a:latin typeface="Courier New" pitchFamily="49" charset="0"/>
                <a:cs typeface="Courier New" pitchFamily="49" charset="0"/>
              </a:rPr>
              <a:t>send</a:t>
            </a:r>
            <a:r>
              <a:rPr lang="en-US" altLang="en-US" sz="2800" dirty="0"/>
              <a:t>(</a:t>
            </a:r>
            <a:r>
              <a:rPr lang="en-US" altLang="en-US" sz="2800" i="1" dirty="0"/>
              <a:t>A, message</a:t>
            </a:r>
            <a:r>
              <a:rPr lang="en-US" altLang="en-US" sz="2800" dirty="0"/>
              <a:t>) – send a message to mailbox A</a:t>
            </a:r>
          </a:p>
          <a:p>
            <a:pPr>
              <a:buFont typeface="Monotype Sorts" pitchFamily="-84" charset="2"/>
              <a:buNone/>
            </a:pPr>
            <a:r>
              <a:rPr lang="en-US" altLang="en-US" sz="2800" dirty="0"/>
              <a:t>	</a:t>
            </a:r>
            <a:r>
              <a:rPr lang="en-US" altLang="en-US" sz="2800" b="1" dirty="0">
                <a:latin typeface="Courier New" pitchFamily="49" charset="0"/>
                <a:cs typeface="Courier New" pitchFamily="49" charset="0"/>
              </a:rPr>
              <a:t>receive</a:t>
            </a:r>
            <a:r>
              <a:rPr lang="en-US" altLang="en-US" sz="2800" dirty="0"/>
              <a:t>(</a:t>
            </a:r>
            <a:r>
              <a:rPr lang="en-US" altLang="en-US" sz="2800" i="1" dirty="0"/>
              <a:t>A, message</a:t>
            </a:r>
            <a:r>
              <a:rPr lang="en-US" altLang="en-US" sz="2800" dirty="0"/>
              <a:t>) – receive a message from mailbox A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58BFB-2D56-4D75-9E1D-326EA25CF8A3}" type="datetime1">
              <a:rPr lang="en-IN" smtClean="0"/>
              <a:t>23-04-2025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54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7796535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2"/>
          <p:cNvSpPr>
            <a:spLocks noGrp="1" noChangeArrowheads="1"/>
          </p:cNvSpPr>
          <p:nvPr>
            <p:ph type="title"/>
          </p:nvPr>
        </p:nvSpPr>
        <p:spPr>
          <a:xfrm>
            <a:off x="876300" y="182563"/>
            <a:ext cx="7810500" cy="576262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/>
              <a:t>Indirect Communication</a:t>
            </a:r>
          </a:p>
        </p:txBody>
      </p:sp>
      <p:sp>
        <p:nvSpPr>
          <p:cNvPr id="4608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39552" y="1124744"/>
            <a:ext cx="8153846" cy="5398219"/>
          </a:xfr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>
            <a:normAutofit/>
          </a:bodyPr>
          <a:lstStyle/>
          <a:p>
            <a:r>
              <a:rPr lang="en-US" altLang="en-US" dirty="0"/>
              <a:t>Mailbox sharing</a:t>
            </a:r>
          </a:p>
          <a:p>
            <a:pPr lvl="1"/>
            <a:r>
              <a:rPr lang="en-US" altLang="en-US" i="1" dirty="0"/>
              <a:t>P</a:t>
            </a:r>
            <a:r>
              <a:rPr lang="en-US" altLang="en-US" i="1" baseline="-25000" dirty="0"/>
              <a:t>1</a:t>
            </a:r>
            <a:r>
              <a:rPr lang="en-US" altLang="en-US" i="1" dirty="0"/>
              <a:t>, P</a:t>
            </a:r>
            <a:r>
              <a:rPr lang="en-US" altLang="en-US" i="1" baseline="-25000" dirty="0"/>
              <a:t>2</a:t>
            </a:r>
            <a:r>
              <a:rPr lang="en-US" altLang="en-US" i="1" dirty="0"/>
              <a:t>,</a:t>
            </a:r>
            <a:r>
              <a:rPr lang="en-US" altLang="en-US" dirty="0"/>
              <a:t> and</a:t>
            </a:r>
            <a:r>
              <a:rPr lang="en-US" altLang="en-US" i="1" dirty="0"/>
              <a:t> P</a:t>
            </a:r>
            <a:r>
              <a:rPr lang="en-US" altLang="en-US" i="1" baseline="-25000" dirty="0"/>
              <a:t>3</a:t>
            </a:r>
            <a:r>
              <a:rPr lang="en-US" altLang="en-US" dirty="0"/>
              <a:t> share mailbox A</a:t>
            </a:r>
          </a:p>
          <a:p>
            <a:pPr lvl="1"/>
            <a:r>
              <a:rPr lang="en-US" altLang="en-US" i="1" dirty="0"/>
              <a:t>P</a:t>
            </a:r>
            <a:r>
              <a:rPr lang="en-US" altLang="en-US" i="1" baseline="-25000" dirty="0"/>
              <a:t>1</a:t>
            </a:r>
            <a:r>
              <a:rPr lang="en-US" altLang="en-US" dirty="0"/>
              <a:t>, sends message to A; </a:t>
            </a:r>
          </a:p>
          <a:p>
            <a:pPr lvl="1"/>
            <a:r>
              <a:rPr lang="en-US" altLang="en-US" i="1" dirty="0"/>
              <a:t>P</a:t>
            </a:r>
            <a:r>
              <a:rPr lang="en-US" altLang="en-US" i="1" baseline="-25000" dirty="0"/>
              <a:t>2</a:t>
            </a:r>
            <a:r>
              <a:rPr lang="en-US" altLang="en-US" i="1" dirty="0"/>
              <a:t> </a:t>
            </a:r>
            <a:r>
              <a:rPr lang="en-US" altLang="en-US" dirty="0"/>
              <a:t>and</a:t>
            </a:r>
            <a:r>
              <a:rPr lang="en-US" altLang="en-US" i="1" dirty="0"/>
              <a:t> P</a:t>
            </a:r>
            <a:r>
              <a:rPr lang="en-US" altLang="en-US" i="1" baseline="-25000" dirty="0"/>
              <a:t>3</a:t>
            </a:r>
            <a:r>
              <a:rPr lang="en-US" altLang="en-US" dirty="0"/>
              <a:t> execute receive from A</a:t>
            </a:r>
          </a:p>
          <a:p>
            <a:pPr lvl="1"/>
            <a:r>
              <a:rPr lang="en-US" altLang="en-US" dirty="0"/>
              <a:t>Who gets the message?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D12A74-924C-41E9-86A6-65F997BAF2AA}" type="datetime1">
              <a:rPr lang="en-IN" smtClean="0"/>
              <a:t>23-04-2025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55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671034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Rectangle 2"/>
          <p:cNvSpPr>
            <a:spLocks noGrp="1" noChangeArrowheads="1"/>
          </p:cNvSpPr>
          <p:nvPr>
            <p:ph type="title"/>
          </p:nvPr>
        </p:nvSpPr>
        <p:spPr>
          <a:xfrm>
            <a:off x="876300" y="182563"/>
            <a:ext cx="7810500" cy="576262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/>
              <a:t>Indirect Communication</a:t>
            </a:r>
          </a:p>
        </p:txBody>
      </p:sp>
      <p:sp>
        <p:nvSpPr>
          <p:cNvPr id="46083" name="Rectangle 3"/>
          <p:cNvSpPr>
            <a:spLocks noGrp="1" noChangeArrowheads="1"/>
          </p:cNvSpPr>
          <p:nvPr>
            <p:ph type="body" idx="1"/>
          </p:nvPr>
        </p:nvSpPr>
        <p:spPr>
          <a:xfrm>
            <a:off x="539552" y="1124744"/>
            <a:ext cx="8153846" cy="5398219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altLang="en-US" dirty="0"/>
              <a:t>Solutions</a:t>
            </a:r>
          </a:p>
          <a:p>
            <a:r>
              <a:rPr lang="en-IN" dirty="0"/>
              <a:t>The answer depends on which of the following methods we choose:</a:t>
            </a:r>
            <a:endParaRPr lang="en-US" altLang="en-US" dirty="0"/>
          </a:p>
          <a:p>
            <a:pPr lvl="1"/>
            <a:r>
              <a:rPr lang="en-IN" dirty="0"/>
              <a:t>This can be solved by either </a:t>
            </a:r>
          </a:p>
          <a:p>
            <a:pPr lvl="1"/>
            <a:r>
              <a:rPr lang="en-IN" b="1" dirty="0"/>
              <a:t>Enforcing that only two processes can share a single mailbox</a:t>
            </a:r>
          </a:p>
          <a:p>
            <a:pPr marL="457200" lvl="1" indent="0" algn="ctr">
              <a:buNone/>
            </a:pPr>
            <a:r>
              <a:rPr lang="en-IN" altLang="en-US" b="1" dirty="0"/>
              <a:t>or</a:t>
            </a:r>
            <a:endParaRPr lang="en-US" altLang="en-US" b="1" dirty="0"/>
          </a:p>
          <a:p>
            <a:pPr lvl="1"/>
            <a:r>
              <a:rPr lang="en-US" altLang="en-US" b="1" dirty="0"/>
              <a:t>Allow only one process at a time to execute a receive operation</a:t>
            </a:r>
          </a:p>
          <a:p>
            <a:pPr lvl="1"/>
            <a:r>
              <a:rPr lang="en-IN" dirty="0"/>
              <a:t>That is, either P2 or </a:t>
            </a:r>
            <a:r>
              <a:rPr lang="en-IN" i="1" dirty="0"/>
              <a:t>P3, </a:t>
            </a:r>
            <a:r>
              <a:rPr lang="en-IN" dirty="0"/>
              <a:t>but not both, will receive the message</a:t>
            </a:r>
          </a:p>
          <a:p>
            <a:pPr marL="457200" lvl="1" indent="0" algn="ctr">
              <a:buNone/>
            </a:pPr>
            <a:r>
              <a:rPr lang="en-IN" altLang="en-US" b="1" dirty="0"/>
              <a:t>or</a:t>
            </a:r>
            <a:endParaRPr lang="en-US" altLang="en-US" dirty="0"/>
          </a:p>
          <a:p>
            <a:pPr lvl="1"/>
            <a:r>
              <a:rPr lang="en-US" altLang="en-US" b="1" dirty="0"/>
              <a:t>Allow the system to select arbitrarily the receiver</a:t>
            </a:r>
          </a:p>
          <a:p>
            <a:pPr lvl="1"/>
            <a:r>
              <a:rPr lang="en-IN" dirty="0"/>
              <a:t>The system also may define an algorithm for selecting which process will receive the message </a:t>
            </a:r>
          </a:p>
          <a:p>
            <a:pPr lvl="2"/>
            <a:r>
              <a:rPr lang="en-IN" sz="2800" dirty="0"/>
              <a:t>that is, </a:t>
            </a:r>
            <a:r>
              <a:rPr lang="en-IN" sz="2800" i="1" dirty="0"/>
              <a:t>round robin, </a:t>
            </a:r>
            <a:r>
              <a:rPr lang="en-IN" sz="2800" dirty="0"/>
              <a:t>where processes take turns receiving messages</a:t>
            </a:r>
          </a:p>
          <a:p>
            <a:pPr lvl="1"/>
            <a:r>
              <a:rPr lang="en-US" altLang="en-US" dirty="0"/>
              <a:t>Sender is notified about the receiver.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D44098-A5A6-4504-8BA2-5C70D6758422}" type="datetime1">
              <a:rPr lang="en-IN" smtClean="0"/>
              <a:t>23-04-2025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56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5344048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/>
          <a:lstStyle/>
          <a:p>
            <a:r>
              <a:rPr lang="en-IN" dirty="0"/>
              <a:t>Who owns the Mailbox??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078750-6303-4448-B47D-8282ADDADEAB}" type="datetime1">
              <a:rPr lang="en-IN" smtClean="0"/>
              <a:t>23-04-2025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57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9333734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dirty="0"/>
              <a:t>A mailbox may be owned either </a:t>
            </a:r>
          </a:p>
          <a:p>
            <a:pPr lvl="1"/>
            <a:r>
              <a:rPr lang="en-IN" dirty="0"/>
              <a:t>by a process or </a:t>
            </a:r>
          </a:p>
          <a:p>
            <a:pPr lvl="1"/>
            <a:r>
              <a:rPr lang="en-IN" dirty="0"/>
              <a:t>by the operating system.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403CF9-6A8A-47DC-A4B1-748A9AB6D3B8}" type="datetime1">
              <a:rPr lang="en-IN" smtClean="0"/>
              <a:t>23-04-2025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58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4079515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>
            <a:normAutofit fontScale="90000"/>
          </a:bodyPr>
          <a:lstStyle/>
          <a:p>
            <a:r>
              <a:rPr lang="en-IN" dirty="0"/>
              <a:t>If the mailbox is owned by a process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2400" dirty="0"/>
              <a:t>Mailbox is part of the address space of the process</a:t>
            </a:r>
          </a:p>
          <a:p>
            <a:endParaRPr lang="en-IN" sz="2400" dirty="0"/>
          </a:p>
          <a:p>
            <a:r>
              <a:rPr lang="en-IN" sz="2400" b="1" dirty="0"/>
              <a:t>The owner can only receive messages through this mailbox</a:t>
            </a:r>
          </a:p>
          <a:p>
            <a:endParaRPr lang="en-IN" sz="2400" dirty="0"/>
          </a:p>
          <a:p>
            <a:r>
              <a:rPr lang="en-IN" sz="2400" b="1" dirty="0"/>
              <a:t>The user can only send messages to the mailbox </a:t>
            </a:r>
          </a:p>
          <a:p>
            <a:endParaRPr lang="en-IN" sz="2400" b="1" dirty="0"/>
          </a:p>
          <a:p>
            <a:r>
              <a:rPr lang="en-IN" sz="2400" dirty="0"/>
              <a:t>Since each mailbox has a unique owner, </a:t>
            </a:r>
          </a:p>
          <a:p>
            <a:pPr lvl="1"/>
            <a:r>
              <a:rPr lang="en-IN" sz="2400" dirty="0"/>
              <a:t>there can be no confusion about which process should receive a message sent to this mailbox. 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CAADA1-19F0-4A52-A10B-6473442E6BCC}" type="datetime1">
              <a:rPr lang="en-IN" smtClean="0"/>
              <a:t>23-04-2025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59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3247641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/>
          <a:lstStyle/>
          <a:p>
            <a:r>
              <a:rPr lang="en-IN" dirty="0"/>
              <a:t>What happens when the process that owns mailbox terminates??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D78C75-583F-4FA8-B172-3750A6D89D59}" type="datetime1">
              <a:rPr lang="en-IN" smtClean="0"/>
              <a:t>23-04-2025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60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0470564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IN" sz="2800" dirty="0"/>
              <a:t>What happens when the process that owns mailbox terminates??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2400" b="1" dirty="0"/>
              <a:t>When a process that owns a mailbox terminates, </a:t>
            </a:r>
          </a:p>
          <a:p>
            <a:pPr lvl="1"/>
            <a:r>
              <a:rPr lang="en-IN" sz="2400" b="1" dirty="0"/>
              <a:t>the mailbox disappears</a:t>
            </a:r>
          </a:p>
          <a:p>
            <a:endParaRPr lang="en-IN" sz="2400" dirty="0"/>
          </a:p>
          <a:p>
            <a:r>
              <a:rPr lang="en-IN" sz="2400" dirty="0"/>
              <a:t>Any process that subsequently sends a message to this mailbox </a:t>
            </a:r>
          </a:p>
          <a:p>
            <a:pPr lvl="1"/>
            <a:r>
              <a:rPr lang="en-IN" sz="2400" dirty="0"/>
              <a:t>must be notified that the mailbox no longer exists.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7F893D-25B4-496D-9964-4C540EEE3393}" type="datetime1">
              <a:rPr lang="en-IN" smtClean="0"/>
              <a:t>23-04-2025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61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16850184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>
            <a:normAutofit/>
          </a:bodyPr>
          <a:lstStyle/>
          <a:p>
            <a:r>
              <a:rPr lang="en-IN" dirty="0"/>
              <a:t>If the mailbox is owned by 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2400" dirty="0"/>
              <a:t>A mailbox that is owned by the operating system has an existence of its own. </a:t>
            </a:r>
          </a:p>
          <a:p>
            <a:endParaRPr lang="en-IN" sz="2400" dirty="0"/>
          </a:p>
          <a:p>
            <a:r>
              <a:rPr lang="en-IN" sz="2400" dirty="0"/>
              <a:t>It is independent and is not attached to any particular process. 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19F3F8-808E-459C-9D62-E11F4ECD8F63}" type="datetime1">
              <a:rPr lang="en-IN" smtClean="0"/>
              <a:t>23-04-2025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62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2604302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>
            <a:normAutofit/>
          </a:bodyPr>
          <a:lstStyle/>
          <a:p>
            <a:r>
              <a:rPr lang="en-IN" dirty="0"/>
              <a:t>If the mailbox is owned by 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2400" dirty="0"/>
              <a:t>If OS owns the mailbox, then:</a:t>
            </a:r>
          </a:p>
          <a:p>
            <a:endParaRPr lang="en-IN" sz="2400" dirty="0"/>
          </a:p>
          <a:p>
            <a:pPr lvl="1"/>
            <a:r>
              <a:rPr lang="en-IN" sz="2400" dirty="0"/>
              <a:t>    It is independent process, not attached to a process.</a:t>
            </a:r>
          </a:p>
          <a:p>
            <a:pPr lvl="1"/>
            <a:r>
              <a:rPr lang="en-IN" sz="2400" dirty="0"/>
              <a:t>    Then the OS must allow the process to:</a:t>
            </a:r>
          </a:p>
          <a:p>
            <a:endParaRPr lang="en-IN" sz="2400" dirty="0"/>
          </a:p>
          <a:p>
            <a:pPr marL="857250" lvl="1" indent="-457200">
              <a:buFont typeface="+mj-lt"/>
              <a:buAutoNum type="arabicParenR"/>
            </a:pPr>
            <a:r>
              <a:rPr lang="en-IN" sz="2400" dirty="0"/>
              <a:t>create a mailbox.</a:t>
            </a:r>
          </a:p>
          <a:p>
            <a:pPr marL="857250" lvl="1" indent="-457200">
              <a:buFont typeface="+mj-lt"/>
              <a:buAutoNum type="arabicParenR"/>
            </a:pPr>
            <a:r>
              <a:rPr lang="en-IN" sz="2400" dirty="0"/>
              <a:t>send and receive messages through mailbox.</a:t>
            </a:r>
          </a:p>
          <a:p>
            <a:pPr marL="857250" lvl="1" indent="-457200">
              <a:buFont typeface="+mj-lt"/>
              <a:buAutoNum type="arabicParenR"/>
            </a:pPr>
            <a:r>
              <a:rPr lang="en-IN" sz="2400" dirty="0"/>
              <a:t>delete the mailbox.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19F3F8-808E-459C-9D62-E11F4ECD8F63}" type="datetime1">
              <a:rPr lang="en-IN" smtClean="0"/>
              <a:t>23-04-2025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63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5652933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68760"/>
            <a:ext cx="8229600" cy="4857403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  <a:p>
            <a:pPr lvl="1"/>
            <a:r>
              <a:rPr lang="en-IN" sz="2400" dirty="0"/>
              <a:t> Process becomes the owner of new mailbox by default.</a:t>
            </a:r>
          </a:p>
          <a:p>
            <a:pPr lvl="1"/>
            <a:r>
              <a:rPr lang="en-IN" sz="2400" dirty="0"/>
              <a:t> Owner process can only receive messages through this mailbox.</a:t>
            </a:r>
          </a:p>
          <a:p>
            <a:pPr lvl="1"/>
            <a:r>
              <a:rPr lang="en-IN" sz="2400" dirty="0"/>
              <a:t> Ownership and receiving privileges can be passed using system calls to other processes. This will result in multiple receivers for each mailbox.</a:t>
            </a:r>
            <a:endParaRPr lang="en-IN" sz="3200" dirty="0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7273F-C5B7-4D40-8582-7006EB42B101}" type="datetime1">
              <a:rPr lang="en-IN" smtClean="0"/>
              <a:t>23-04-2025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64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0017597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Process Synchronization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C4E822-3F60-4AF5-A2C7-5CC07F953596}" type="datetime1">
              <a:rPr lang="en-IN" smtClean="0"/>
              <a:t>23-04-2025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65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2651023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Synchronization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2800" dirty="0"/>
              <a:t>IPC takes place via send() and receive () primitives. </a:t>
            </a:r>
          </a:p>
          <a:p>
            <a:endParaRPr lang="en-IN" sz="2800" dirty="0"/>
          </a:p>
          <a:p>
            <a:r>
              <a:rPr lang="en-IN" sz="2800" dirty="0"/>
              <a:t>There are different design options for implementing each primitive.</a:t>
            </a:r>
          </a:p>
          <a:p>
            <a:endParaRPr lang="en-IN" sz="2800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6686D-1695-46FD-B0F3-01F3E83F89C0}" type="datetime1">
              <a:rPr lang="en-IN" smtClean="0"/>
              <a:t>23-04-2025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66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21528285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Synchronization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2800" dirty="0"/>
              <a:t>Message passing may be either </a:t>
            </a:r>
          </a:p>
          <a:p>
            <a:pPr lvl="1"/>
            <a:r>
              <a:rPr lang="en-IN" sz="2400" dirty="0"/>
              <a:t>Blocking/synchronous or </a:t>
            </a:r>
          </a:p>
          <a:p>
            <a:pPr lvl="1"/>
            <a:r>
              <a:rPr lang="en-IN" sz="2400" dirty="0"/>
              <a:t>non blocking/ asynchronous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86686D-1695-46FD-B0F3-01F3E83F89C0}" type="datetime1">
              <a:rPr lang="en-IN" smtClean="0"/>
              <a:t>23-04-2025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67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93329542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Synchronization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>
            <a:normAutofit/>
          </a:bodyPr>
          <a:lstStyle/>
          <a:p>
            <a:r>
              <a:rPr lang="en-IN" sz="2800" dirty="0"/>
              <a:t>Blocking send</a:t>
            </a:r>
          </a:p>
          <a:p>
            <a:r>
              <a:rPr lang="en-IN" sz="2800" dirty="0"/>
              <a:t>Non blocking send</a:t>
            </a:r>
          </a:p>
          <a:p>
            <a:r>
              <a:rPr lang="en-IN" sz="2800" dirty="0"/>
              <a:t>Blocking receive</a:t>
            </a:r>
          </a:p>
          <a:p>
            <a:r>
              <a:rPr lang="en-IN" sz="2800" dirty="0"/>
              <a:t>Non blocking receive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20114-8050-4880-8A58-B417723C4FAE}" type="datetime1">
              <a:rPr lang="en-IN" smtClean="0"/>
              <a:t>23-04-2025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68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6017499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Synchronization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>
            <a:normAutofit lnSpcReduction="10000"/>
          </a:bodyPr>
          <a:lstStyle/>
          <a:p>
            <a:r>
              <a:rPr lang="en-IN" sz="2800" dirty="0"/>
              <a:t>Blocking send</a:t>
            </a:r>
          </a:p>
          <a:p>
            <a:pPr lvl="1"/>
            <a:r>
              <a:rPr lang="en-IN" sz="2400" dirty="0"/>
              <a:t>The sending process is blocked until the message is received by the receiving process or by the mailbox.</a:t>
            </a:r>
          </a:p>
          <a:p>
            <a:r>
              <a:rPr lang="en-IN" sz="2800" dirty="0"/>
              <a:t>Non blocking send</a:t>
            </a:r>
          </a:p>
          <a:p>
            <a:pPr lvl="1"/>
            <a:r>
              <a:rPr lang="en-IN" sz="2400" dirty="0"/>
              <a:t> The sending process sends the message and resumes operation.</a:t>
            </a:r>
          </a:p>
          <a:p>
            <a:r>
              <a:rPr lang="en-IN" sz="2800" dirty="0"/>
              <a:t>Blocking receive</a:t>
            </a:r>
          </a:p>
          <a:p>
            <a:pPr lvl="1"/>
            <a:r>
              <a:rPr lang="en-IN" sz="2400" dirty="0"/>
              <a:t> The receiver blocks until a message is available.</a:t>
            </a:r>
          </a:p>
          <a:p>
            <a:r>
              <a:rPr lang="en-IN" sz="2800" dirty="0"/>
              <a:t>Non blocking receive</a:t>
            </a:r>
          </a:p>
          <a:p>
            <a:pPr lvl="1"/>
            <a:r>
              <a:rPr lang="en-IN" sz="2400" dirty="0"/>
              <a:t> The receiver retrieves either a valid message or a null.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C20114-8050-4880-8A58-B417723C4FAE}" type="datetime1">
              <a:rPr lang="en-IN" smtClean="0"/>
              <a:t>23-04-2025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69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76459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Synchronization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2800" dirty="0"/>
              <a:t>When both send() and receive() are blocking, </a:t>
            </a:r>
          </a:p>
          <a:p>
            <a:pPr lvl="1"/>
            <a:r>
              <a:rPr lang="en-IN" dirty="0"/>
              <a:t>Rendezvous between the sender and the receiver. </a:t>
            </a:r>
          </a:p>
          <a:p>
            <a:endParaRPr lang="en-IN" sz="2800" dirty="0"/>
          </a:p>
          <a:p>
            <a:r>
              <a:rPr lang="en-IN" sz="2800" dirty="0"/>
              <a:t>The solution to the producer-consumer problem becomes trivial –</a:t>
            </a:r>
          </a:p>
          <a:p>
            <a:pPr lvl="1"/>
            <a:r>
              <a:rPr lang="en-IN" dirty="0"/>
              <a:t> use blocking send() and receive()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4D3DFC-B49D-432C-A8BC-D90695D5DFCD}" type="datetime1">
              <a:rPr lang="en-IN" smtClean="0"/>
              <a:t>23-04-2025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70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7156759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dirty="0"/>
              <a:t>Solution =Producer-consumer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>
            <a:normAutofit/>
          </a:bodyPr>
          <a:lstStyle/>
          <a:p>
            <a:r>
              <a:rPr lang="en-IN" dirty="0"/>
              <a:t>Producer invokes </a:t>
            </a:r>
          </a:p>
          <a:p>
            <a:pPr lvl="1"/>
            <a:r>
              <a:rPr lang="en-IN" dirty="0"/>
              <a:t>the blocking send() call and </a:t>
            </a:r>
          </a:p>
          <a:p>
            <a:pPr lvl="1"/>
            <a:r>
              <a:rPr lang="en-IN" dirty="0"/>
              <a:t>waits until the message is delivered to either the receiver or the mailbox. </a:t>
            </a:r>
          </a:p>
          <a:p>
            <a:endParaRPr lang="en-IN" dirty="0"/>
          </a:p>
          <a:p>
            <a:r>
              <a:rPr lang="en-IN" dirty="0"/>
              <a:t>Consumer invokes </a:t>
            </a:r>
          </a:p>
          <a:p>
            <a:pPr lvl="1"/>
            <a:r>
              <a:rPr lang="en-IN" dirty="0"/>
              <a:t>receive(), it blocks until a message is available.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07E54A-EA89-4112-A3DD-FAC379EA6F40}" type="datetime1">
              <a:rPr lang="en-IN" smtClean="0"/>
              <a:t>23-04-2025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71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6257402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Buffering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Whether communication is direct or indirect, </a:t>
            </a:r>
          </a:p>
          <a:p>
            <a:pPr lvl="1"/>
            <a:r>
              <a:rPr lang="en-IN" dirty="0"/>
              <a:t>messages exchanged by communicating processes </a:t>
            </a:r>
          </a:p>
          <a:p>
            <a:pPr lvl="1"/>
            <a:r>
              <a:rPr lang="en-IN" dirty="0"/>
              <a:t>reside in a temporary queue. </a:t>
            </a:r>
          </a:p>
          <a:p>
            <a:pPr lvl="1"/>
            <a:endParaRPr lang="en-IN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5C4CB3-50D1-4338-9000-8B1C4E6352AF}" type="datetime1">
              <a:rPr lang="en-IN" smtClean="0"/>
              <a:t>23-04-2025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72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7258000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Buffering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/>
          <a:lstStyle/>
          <a:p>
            <a:r>
              <a:rPr lang="en-IN" dirty="0"/>
              <a:t>Queues can be implemented in three ways:</a:t>
            </a:r>
          </a:p>
          <a:p>
            <a:pPr lvl="1"/>
            <a:r>
              <a:rPr lang="en-IN" dirty="0"/>
              <a:t>Zero capacity</a:t>
            </a:r>
          </a:p>
          <a:p>
            <a:pPr lvl="1"/>
            <a:r>
              <a:rPr lang="en-IN" dirty="0"/>
              <a:t>Bounded capacity</a:t>
            </a:r>
          </a:p>
          <a:p>
            <a:pPr lvl="1"/>
            <a:r>
              <a:rPr lang="en-IN" dirty="0"/>
              <a:t>Unbounded capacity. </a:t>
            </a:r>
          </a:p>
          <a:p>
            <a:endParaRPr lang="en-IN" dirty="0"/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F4913C-B43D-4EFC-A88E-F273CA9182C9}" type="datetime1">
              <a:rPr lang="en-IN" smtClean="0"/>
              <a:t>23-04-2025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73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9032360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Buffering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2800" dirty="0"/>
              <a:t>Zero capacity</a:t>
            </a:r>
          </a:p>
          <a:p>
            <a:pPr lvl="1"/>
            <a:r>
              <a:rPr lang="en-IN" dirty="0"/>
              <a:t>Maximum Queue Length=0</a:t>
            </a:r>
          </a:p>
          <a:p>
            <a:pPr lvl="1"/>
            <a:r>
              <a:rPr lang="en-IN" dirty="0"/>
              <a:t>The link cannot have any messages waiting in it. </a:t>
            </a:r>
          </a:p>
          <a:p>
            <a:pPr lvl="1"/>
            <a:r>
              <a:rPr lang="en-IN" dirty="0"/>
              <a:t>The sender must block until the recipient receives the message.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1DDF40-D7F4-4AF7-A2D0-95F253856ADF}" type="datetime1">
              <a:rPr lang="en-IN" smtClean="0"/>
              <a:t>23-04-2025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74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1542239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Buffering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536" y="1412776"/>
            <a:ext cx="8507288" cy="4525963"/>
          </a:xfrm>
        </p:spPr>
        <p:txBody>
          <a:bodyPr>
            <a:noAutofit/>
          </a:bodyPr>
          <a:lstStyle/>
          <a:p>
            <a:r>
              <a:rPr lang="en-IN" sz="2800" dirty="0"/>
              <a:t>Bounded capacity</a:t>
            </a:r>
          </a:p>
          <a:p>
            <a:pPr lvl="1"/>
            <a:r>
              <a:rPr lang="en-IN" dirty="0"/>
              <a:t>Queue has finite length </a:t>
            </a:r>
            <a:r>
              <a:rPr lang="en-IN" i="1" dirty="0"/>
              <a:t>n; </a:t>
            </a:r>
          </a:p>
          <a:p>
            <a:pPr lvl="1"/>
            <a:r>
              <a:rPr lang="en-IN" dirty="0"/>
              <a:t>At most </a:t>
            </a:r>
            <a:r>
              <a:rPr lang="en-IN" i="1" dirty="0"/>
              <a:t>n </a:t>
            </a:r>
            <a:r>
              <a:rPr lang="en-IN" dirty="0"/>
              <a:t>messages can reside in it. </a:t>
            </a:r>
          </a:p>
          <a:p>
            <a:pPr lvl="1"/>
            <a:r>
              <a:rPr lang="en-IN" dirty="0"/>
              <a:t>The link's capacity is finite.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08CDEB-7348-473B-AB12-98F4EA0543AB}" type="datetime1">
              <a:rPr lang="en-IN" smtClean="0"/>
              <a:t>23-04-2025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75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7551298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Buffering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5536" y="1412776"/>
            <a:ext cx="8507288" cy="4525963"/>
          </a:xfrm>
        </p:spPr>
        <p:txBody>
          <a:bodyPr>
            <a:noAutofit/>
          </a:bodyPr>
          <a:lstStyle/>
          <a:p>
            <a:r>
              <a:rPr lang="en-IN" sz="2400" dirty="0"/>
              <a:t>Bounded capacity</a:t>
            </a:r>
          </a:p>
          <a:p>
            <a:pPr lvl="1"/>
            <a:r>
              <a:rPr lang="en-IN" sz="2400" dirty="0"/>
              <a:t>If the queue is not full </a:t>
            </a:r>
          </a:p>
          <a:p>
            <a:pPr lvl="2"/>
            <a:r>
              <a:rPr lang="en-IN" dirty="0"/>
              <a:t>the message is placed in the queue </a:t>
            </a:r>
          </a:p>
          <a:p>
            <a:pPr lvl="2"/>
            <a:r>
              <a:rPr lang="en-IN" dirty="0"/>
              <a:t>either the message is copied or a pointer to the message is kept </a:t>
            </a:r>
          </a:p>
          <a:p>
            <a:pPr lvl="2"/>
            <a:r>
              <a:rPr lang="en-IN" dirty="0"/>
              <a:t>the sender can continue execution without waiting. </a:t>
            </a:r>
          </a:p>
          <a:p>
            <a:pPr lvl="1"/>
            <a:r>
              <a:rPr lang="en-IN" sz="2400" dirty="0"/>
              <a:t>If the link is full, </a:t>
            </a:r>
          </a:p>
          <a:p>
            <a:pPr lvl="2"/>
            <a:r>
              <a:rPr lang="en-IN" dirty="0"/>
              <a:t>the sender must block until space is available in the queue.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BE3E0D-3E00-4A98-B5A6-86893A0F9CB4}" type="datetime1">
              <a:rPr lang="en-IN" smtClean="0"/>
              <a:t>23-04-2025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76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8727535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Buffering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dirty="0"/>
              <a:t>Unbounded capacity. </a:t>
            </a:r>
          </a:p>
          <a:p>
            <a:pPr lvl="1"/>
            <a:r>
              <a:rPr lang="en-IN" dirty="0"/>
              <a:t>The queue's length is potentially infinite; </a:t>
            </a:r>
          </a:p>
          <a:p>
            <a:pPr lvl="1"/>
            <a:r>
              <a:rPr lang="en-IN" dirty="0"/>
              <a:t>Any number of messages can wait in it. </a:t>
            </a:r>
          </a:p>
          <a:p>
            <a:pPr lvl="1"/>
            <a:r>
              <a:rPr lang="en-IN" dirty="0"/>
              <a:t>The sender never blocks. 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EEA3EE-6504-4297-8E01-1150D0F8A315}" type="datetime1">
              <a:rPr lang="en-IN" smtClean="0"/>
              <a:t>23-04-2025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77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9297535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Buffering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sz="2800" dirty="0"/>
              <a:t>The zero-capacity = message system with no buffering; </a:t>
            </a:r>
          </a:p>
          <a:p>
            <a:r>
              <a:rPr lang="en-IN" sz="2800" dirty="0"/>
              <a:t>The other cases =systems with automatic buffering.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BF3A94-B339-4983-9E42-4CC83ED08C11}" type="datetime1">
              <a:rPr lang="en-IN" smtClean="0"/>
              <a:t>23-04-2025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IN"/>
              <a:t>Prof. Shweta Dhawan Chachra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8A52E6-026E-47BF-8202-76BE67A05837}" type="slidenum">
              <a:rPr lang="en-IN" smtClean="0"/>
              <a:t>78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499613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Verve</Template>
  <TotalTime>3244</TotalTime>
  <Words>3315</Words>
  <Application>Microsoft Office PowerPoint</Application>
  <PresentationFormat>On-screen Show (4:3)</PresentationFormat>
  <Paragraphs>694</Paragraphs>
  <Slides>78</Slides>
  <Notes>50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78</vt:i4>
      </vt:variant>
    </vt:vector>
  </HeadingPairs>
  <TitlesOfParts>
    <vt:vector size="86" baseType="lpstr">
      <vt:lpstr>ＭＳ Ｐゴシック</vt:lpstr>
      <vt:lpstr>Arial</vt:lpstr>
      <vt:lpstr>Calibri</vt:lpstr>
      <vt:lpstr>Courier New</vt:lpstr>
      <vt:lpstr>Monaco</vt:lpstr>
      <vt:lpstr>Monotype Sorts</vt:lpstr>
      <vt:lpstr>Times New Roman</vt:lpstr>
      <vt:lpstr>Office Theme</vt:lpstr>
      <vt:lpstr>Module 3</vt:lpstr>
      <vt:lpstr>Interprocess Communication</vt:lpstr>
      <vt:lpstr>Interprocess Communication</vt:lpstr>
      <vt:lpstr>Interprocess Communication</vt:lpstr>
      <vt:lpstr>Interprocess Communication</vt:lpstr>
      <vt:lpstr>Interprocess Communication</vt:lpstr>
      <vt:lpstr>Interprocess Communication</vt:lpstr>
      <vt:lpstr>Interprocess Communication</vt:lpstr>
      <vt:lpstr>Interprocess Communication</vt:lpstr>
      <vt:lpstr>Communications Models </vt:lpstr>
      <vt:lpstr>Communications Models </vt:lpstr>
      <vt:lpstr>Message Passing</vt:lpstr>
      <vt:lpstr>Message Passing</vt:lpstr>
      <vt:lpstr>Producer-Consumer Problem</vt:lpstr>
      <vt:lpstr>Producer-Consumer Problem</vt:lpstr>
      <vt:lpstr>Producer-Consumer Problem</vt:lpstr>
      <vt:lpstr>Producer-Consumer Problem</vt:lpstr>
      <vt:lpstr>Producer-Consumer Problem</vt:lpstr>
      <vt:lpstr>Producer-Consumer Problem</vt:lpstr>
      <vt:lpstr>Producer-Consumer Problem</vt:lpstr>
      <vt:lpstr>Producer-Consumer Problem</vt:lpstr>
      <vt:lpstr>Bounded-Buffer – Shared-Memory Solution</vt:lpstr>
      <vt:lpstr>Bounded-Buffer – Shared-Memory Solution</vt:lpstr>
      <vt:lpstr>Bounded-Buffer – Shared-Memory Solution</vt:lpstr>
      <vt:lpstr>Bounded-Buffer – Shared-Memory Solution</vt:lpstr>
      <vt:lpstr>Bounded-Buffer – Shared-Memory Solution</vt:lpstr>
      <vt:lpstr>Bounded-Buffer – Producer</vt:lpstr>
      <vt:lpstr>Bounded Buffer – Consumer</vt:lpstr>
      <vt:lpstr>Interprocess Communication –  Shared Memory</vt:lpstr>
      <vt:lpstr>Interprocess Communication –  Shared Memory</vt:lpstr>
      <vt:lpstr>Interprocess Communication –  Shared Memory</vt:lpstr>
      <vt:lpstr>Interprocess Communication – Message Passing</vt:lpstr>
      <vt:lpstr>Interprocess Communication – Message Passing</vt:lpstr>
      <vt:lpstr>Interprocess Communication – Message Passing</vt:lpstr>
      <vt:lpstr>Interprocess Communication – Message Passing</vt:lpstr>
      <vt:lpstr>Interprocess Communication – Message Passing</vt:lpstr>
      <vt:lpstr>Interprocess Communication – Message Passing</vt:lpstr>
      <vt:lpstr>Interprocess Communication – Message Passing</vt:lpstr>
      <vt:lpstr>Message Passing (Cont.)</vt:lpstr>
      <vt:lpstr>Message Passing (Cont.)</vt:lpstr>
      <vt:lpstr>Message Passing (Cont.)</vt:lpstr>
      <vt:lpstr>Message Passing (Cont.)</vt:lpstr>
      <vt:lpstr>PowerPoint Presentation</vt:lpstr>
      <vt:lpstr>Direct Communication</vt:lpstr>
      <vt:lpstr>Direct Communication</vt:lpstr>
      <vt:lpstr>Direct Communication</vt:lpstr>
      <vt:lpstr>Direct Communication- A variant</vt:lpstr>
      <vt:lpstr>A variant</vt:lpstr>
      <vt:lpstr>Disadvantage in symmetric and asymmetric schemes</vt:lpstr>
      <vt:lpstr>Indirect Communication</vt:lpstr>
      <vt:lpstr>Indirect Communication</vt:lpstr>
      <vt:lpstr>Indirect Communication-mailboxes</vt:lpstr>
      <vt:lpstr>Indirect Communication</vt:lpstr>
      <vt:lpstr>Indirect Communication</vt:lpstr>
      <vt:lpstr>Indirect Communication</vt:lpstr>
      <vt:lpstr>Indirect Communication</vt:lpstr>
      <vt:lpstr>PowerPoint Presentation</vt:lpstr>
      <vt:lpstr>PowerPoint Presentation</vt:lpstr>
      <vt:lpstr>If the mailbox is owned by a process</vt:lpstr>
      <vt:lpstr>PowerPoint Presentation</vt:lpstr>
      <vt:lpstr>What happens when the process that owns mailbox terminates??</vt:lpstr>
      <vt:lpstr>If the mailbox is owned by OS</vt:lpstr>
      <vt:lpstr>If the mailbox is owned by OS</vt:lpstr>
      <vt:lpstr>PowerPoint Presentation</vt:lpstr>
      <vt:lpstr>Process Synchronization</vt:lpstr>
      <vt:lpstr>Synchronization</vt:lpstr>
      <vt:lpstr>Synchronization</vt:lpstr>
      <vt:lpstr>Synchronization</vt:lpstr>
      <vt:lpstr>Synchronization</vt:lpstr>
      <vt:lpstr>Synchronization</vt:lpstr>
      <vt:lpstr>Solution =Producer-consumer problem</vt:lpstr>
      <vt:lpstr>Buffering</vt:lpstr>
      <vt:lpstr>Buffering</vt:lpstr>
      <vt:lpstr>Buffering</vt:lpstr>
      <vt:lpstr>Buffering</vt:lpstr>
      <vt:lpstr>Buffering</vt:lpstr>
      <vt:lpstr>Buffering</vt:lpstr>
      <vt:lpstr>Buffering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Om Thanage</cp:lastModifiedBy>
  <cp:revision>120</cp:revision>
  <dcterms:created xsi:type="dcterms:W3CDTF">2020-09-11T15:34:09Z</dcterms:created>
  <dcterms:modified xsi:type="dcterms:W3CDTF">2025-04-24T09:46:07Z</dcterms:modified>
</cp:coreProperties>
</file>