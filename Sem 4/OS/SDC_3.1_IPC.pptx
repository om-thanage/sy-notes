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ink/ink1.xml" ContentType="application/inkml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2.xml" ContentType="application/inkml+xml"/>
  <Override PartName="/ppt/notesSlides/notesSlide35.xml" ContentType="application/vnd.openxmlformats-officedocument.presentationml.notesSlide+xml"/>
  <Override PartName="/ppt/ink/ink3.xml" ContentType="application/inkml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sldIdLst>
    <p:sldId id="256" r:id="rId2"/>
    <p:sldId id="257" r:id="rId3"/>
    <p:sldId id="283" r:id="rId4"/>
    <p:sldId id="273" r:id="rId5"/>
    <p:sldId id="284" r:id="rId6"/>
    <p:sldId id="285" r:id="rId7"/>
    <p:sldId id="272" r:id="rId8"/>
    <p:sldId id="301" r:id="rId9"/>
    <p:sldId id="275" r:id="rId10"/>
    <p:sldId id="258" r:id="rId11"/>
    <p:sldId id="300" r:id="rId12"/>
    <p:sldId id="276" r:id="rId13"/>
    <p:sldId id="277" r:id="rId14"/>
    <p:sldId id="260" r:id="rId15"/>
    <p:sldId id="279" r:id="rId16"/>
    <p:sldId id="280" r:id="rId17"/>
    <p:sldId id="286" r:id="rId18"/>
    <p:sldId id="289" r:id="rId19"/>
    <p:sldId id="281" r:id="rId20"/>
    <p:sldId id="278" r:id="rId21"/>
    <p:sldId id="287" r:id="rId22"/>
    <p:sldId id="261" r:id="rId23"/>
    <p:sldId id="282" r:id="rId24"/>
    <p:sldId id="290" r:id="rId25"/>
    <p:sldId id="288" r:id="rId26"/>
    <p:sldId id="329" r:id="rId27"/>
    <p:sldId id="262" r:id="rId28"/>
    <p:sldId id="263" r:id="rId29"/>
    <p:sldId id="264" r:id="rId30"/>
    <p:sldId id="333" r:id="rId31"/>
    <p:sldId id="330" r:id="rId32"/>
    <p:sldId id="313" r:id="rId33"/>
    <p:sldId id="265" r:id="rId34"/>
    <p:sldId id="331" r:id="rId35"/>
    <p:sldId id="292" r:id="rId36"/>
    <p:sldId id="332" r:id="rId37"/>
    <p:sldId id="291" r:id="rId38"/>
    <p:sldId id="293" r:id="rId39"/>
    <p:sldId id="266" r:id="rId40"/>
    <p:sldId id="294" r:id="rId41"/>
    <p:sldId id="326" r:id="rId42"/>
    <p:sldId id="267" r:id="rId43"/>
    <p:sldId id="295" r:id="rId44"/>
    <p:sldId id="268" r:id="rId45"/>
    <p:sldId id="296" r:id="rId46"/>
    <p:sldId id="297" r:id="rId47"/>
    <p:sldId id="314" r:id="rId48"/>
    <p:sldId id="298" r:id="rId49"/>
    <p:sldId id="299" r:id="rId50"/>
    <p:sldId id="303" r:id="rId51"/>
    <p:sldId id="315" r:id="rId52"/>
    <p:sldId id="269" r:id="rId53"/>
    <p:sldId id="302" r:id="rId54"/>
    <p:sldId id="270" r:id="rId55"/>
    <p:sldId id="271" r:id="rId56"/>
    <p:sldId id="304" r:id="rId57"/>
    <p:sldId id="306" r:id="rId58"/>
    <p:sldId id="305" r:id="rId59"/>
    <p:sldId id="307" r:id="rId60"/>
    <p:sldId id="309" r:id="rId61"/>
    <p:sldId id="308" r:id="rId62"/>
    <p:sldId id="310" r:id="rId63"/>
    <p:sldId id="328" r:id="rId64"/>
    <p:sldId id="327" r:id="rId65"/>
    <p:sldId id="336" r:id="rId66"/>
    <p:sldId id="311" r:id="rId67"/>
    <p:sldId id="334" r:id="rId68"/>
    <p:sldId id="312" r:id="rId69"/>
    <p:sldId id="335" r:id="rId70"/>
    <p:sldId id="316" r:id="rId71"/>
    <p:sldId id="317" r:id="rId72"/>
    <p:sldId id="319" r:id="rId73"/>
    <p:sldId id="320" r:id="rId74"/>
    <p:sldId id="318" r:id="rId75"/>
    <p:sldId id="323" r:id="rId76"/>
    <p:sldId id="322" r:id="rId77"/>
    <p:sldId id="321" r:id="rId78"/>
    <p:sldId id="324" r:id="rId7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77" y="2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10-17T08:27:44.1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5928 6276,'25'0,"0"0,0 0,0 24,-1-24,1 0,0 0,0 25,24-25,1 0,24 0,-24 0,24 0,-24 25,0-25,-1 0,1 0,-25 0,-1 0,1 25,25 0,-25-25,-1 0,51 24,-25-24,-26 25,51-25,-26 0,26 0,-1 0,25 25,-24-25,-1 0,1 0,-1 0,0 0,-24 0,0 0,-26 0,1 0,-50 0,25-50</inkml:trace>
  <inkml:trace contextRef="#ctx0" brushRef="#br0" timeOffset="1481.87">6325 7218,'25'0,"0"0,0 0,49 25,-24-25,24 25,25-25,0 0,75 25,-50-25,25 0,-50 0,0 24,-24-24,-26 25,1-25,0 0,-26 0,-24 25,25-25,0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10-17T08:28:39.8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13295 4589,'50'0,"-25"25,0-1,49 1,-24-25,24 25,0 0,1-25,24 25,-25-25,50 24,-49 26,24-50,0 0,1 0,-1 0,25 25,0 0,0 0,0-25,-25 0,50 0,-50 0,-24 0,24 0,-25 0,1 0,-26 0,26 0,-26 0,1 0,-1 0,1 0,-25 0,0 0,24 0,-24 0,0 0,0 0,49 0,-24 0,-1 0,1 0,0 0,24 0,0 0,1 0,-1-25,1 25,-1-25,0 25,1 0,24-25,-25 25,-24-25,24 25,-24-25,0 25,24 0,-24 0,-1-24,26 24,-26-25,1 0,0 25,-1 0,26-25,-1 0,-49 25,49-24,-49 24,25 0,-26 0,1 0,0 0</inkml:trace>
  <inkml:trace contextRef="#ctx0" brushRef="#br0" timeOffset="4783.46">8806 10294,'24'0,"1"0,0 0,0 0,24 0,1 0,0 25,24-25,25 0,-24 25,24-25,25 24,-50-24,1 0,-26 0,26 0,-26 0,26 0,-1 0,1 0,24 0,0 0,0 0,-24 0,24 0,-25 0,1 0,-1 0,1 0,24-24,0 24,-25 0,26 0,24 0,-50 0,25 0,-24 0,24 0,-25-25,1 25,-26 0,26 0,-26 0,26-25,-26 25,1 0,25 0,-51 0,51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10-17T08:29:00.7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4242 6598,'0'25,"0"24,0 26,24-1,-24-49,25 0,0-25,0 0,-25-25,25 0,-1-49,76-25,48-1,-24-24,25 25,25 0,-50 49,-50 1,-49 49,0 0</inkml:trace>
  <inkml:trace contextRef="#ctx0" brushRef="#br0" timeOffset="1250.3">4390 7689,'0'25,"0"0,0 49,25-49,0 25,-25-25,0-1,25 1,-25-50,0 1,49-26,-24 0,50-49,-1 25,50-25,0-1,-25 26,-24 24,-26 1,1 24,-25 25,-25-25</inkml:trace>
  <inkml:trace contextRef="#ctx0" brushRef="#br0" timeOffset="4032.18">2232 7243,'0'-25,"50"0,-50 1,50-1,-1-25,-24 25,49-24,-49-1,25 25,-25-24,-1 24,26-25,-25 50,25-49,-26 49,1-50,25 50,-25-50,24 26,1-1,-25 0,24 0,-24 0,0 1,24-1,-24 25,-25 25,-25-25,1 24,24 1,-25-25,0 0,25 25,-25-25,25 25,-25-25,25 25,-49-1,24 1,0 0,0 0,25 0,-24-25,24 24,-25-24,25 25,-25-25,25 25,-25 0,0-25,1 0,24 25,-25-25,0 25,0-25,25 24,-25 1,0-25,25 25,-24-25,-1 0,25 25,-25-25,0 0,25 25,0-1,-25-24,1 0,24 25,-25-25,0 25,0-25,0 25,1 0,24-1,-50 1,25 0,75-25,-25 0,24 0,26 50,-1-26,50 1,-49-25,-1 50,0-25,1-1,-26-24,-24 25,0 0,0 0</inkml:trace>
  <inkml:trace contextRef="#ctx0" brushRef="#br0" timeOffset="7313.88">2232 11286,'25'0,"0"-25,25 1,-26 24,26-25,0-25,-1 0,1 1,-25-1,-1 50,-24-25,25 25,-25-24,25 24,-25-25,50-25,-50 25,74-24,-49 49,0-50,24 50,-49-25,25 25,-50 0,1 0,-1 0,0 0,25 25,0 0,0 0,-25-25,25 25,-25-1,1 1,24 0,-25 0,25 0,-25-25,25 24,-25-24,25 25,-25-25,25 25,-25 0,1-25,-1 0,25 25,-25-25,25 24,-25-24,0 0,-24 25,-26 50,-24-1,-25 25,-49 1,24-26,99-24,1-50,73 0,1 0,0 0,25 0,24 24,50 1,0 0,50 0,-26 0,-24-1,1 1,-51-25,0 0,-24 25,-50 0,25-25,0 0,-1 0,1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10-17T08:37:22.6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4192 8012,'25'0,"0"0,-1 0,26 0,0 0,49 0,25 0,0 0,0 0,25 0,24 0,-49 0,-24 0,-1 0,0 0,-25 0,1 25,-1-25,-24 0,0 0,24 0,-24 0,24 25,0-25,-24 0,24 24,1-24,-1 0,1 0,24 0,25 25,-25-25,0 25,1-25,-1 0,25 0,0 25,-25-25,50 0,-25 0,25 0,-25 25,25-25,-50 0,0 0,-25 0,50 0,-24 0,24 0,0 0,-25 0,0 24,0-24,-24 0,24 0,0 0,-24 0,24 0,-25 0,50-24,-25 24,-24 0,-1-25,1 25,-1 0,1 0,-26 0,1 0,-25 0,-1 0,51 0,-26 0,26 0,-1 0,1 0,24 25,-25-25,25 24,50-24,-25 0,25 25,-25-25,25 0,25 25,-50-25,25 0,-25 0,0 0,24 0,26 0,-50 0,50 0,-50 0,25 0,-25 0,-25 0,74 0,-49 0,50 0,0 0,24 0,-24-25,-25 25,24 0,1 0,-1 0,-24 0,50 0,24-25,-25 1,1-1,-25 0,-1 0,-49 25,-25 0,50-25,-25 25,0-24,-25-1,-49 25,-25 0,0 0,-1 0</inkml:trace>
  <inkml:trace contextRef="#ctx0" brushRef="#br0" timeOffset="4169.54">4390 10244,'25'0,"0"0,25 0,24 0,50 0,50 0,123 0,100 0,149 0,49 0,-49 0,0 0,-174 0,-25 0,-49 0,-25 0,24 25,-74-25,1 25,24-25,-25 25,-25-25,1 0,49 0,-50-25,26 0,24-24,-25-1,50 50,0-25,24-49,-74 49,100-25,-25 25,-1 1,-49-26,100 25,-51-49,26 24,24 1,-25 24,1 0,24-25,-49 50,-1-49,-73-1,24 25,-25 1,-74-1,-25 0,-50 25,1 0,-51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10-17T08:38:51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6623 11757,'49'0,"1"0,24-24,26-1,49 25,-25-25,49 0,1 0,-1 1,26-1,-25 25,24-25,-24 25,-1-25,-24 25,0-25,25 25,-75 0,25 0,-25 0,25-24,-50 24,26 0,-26 0,0 0,26 0,-26 0,1 0,-1 0,25 0,-49 0,24 0,1 0,-1 0,0 0,-24 0,24 0,-24 0,0 0,24 0,-24 0,24 0,0 0,1 24,-25-24,-1 0,1 25,-1-25,1 25,24-25,-24 0,0 0,-1 25,26-25,-1 0,0 0,1 0,-1 0,25 0,1 0,-1 0,50 0,-50 0,25 25,25-25,24 0,-24 24,75 1,-26-25,-49 25,74-25,-25 0,1 0,-1 0,-74 0,-24 0,-1 0,-50 0,-24 0,0 0,49 0,1 0,49 0,50 0,24 0,75-50,0 50,24 0,1-49,24-1,1 1,24 24,-49 25,24 0,-24-25,-50 25,0 0,-50 0,1 0,-25 0,-26 0,26 0,0 0,-26 0,-24 0,0 0,-24 0,-1 0,25 0,-25 0,0 0,-24 0,-1 0,25 0,-24 0,-1 0,-24 0,-25 0,24 0,1 0,-50 25,25-25,0 25,-1-25,1 0,0 0,0 0,0 24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56191-954F-4CAE-976B-C2C3B2E406EE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3161A-E532-44A8-81D2-F03ABCFC8E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16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CC5C3-C485-4FEC-9ABB-4E00E3F5A74F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03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E822-3F60-4AF5-A2C7-5CC07F953596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82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F75B-F604-4770-97EA-4FB9E363E92F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30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EC78D-076C-4549-9599-0A841FAF557C}" type="datetime1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822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6CCF-8F4E-4D5E-80D3-F6B1FBCECFA8}" type="datetime1">
              <a:rPr lang="en-IN" smtClean="0"/>
              <a:t>26-04-2025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214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BDCD-C353-464D-82BE-7ACA709EFAA1}" type="datetime1">
              <a:rPr lang="en-IN" smtClean="0"/>
              <a:t>26-04-2025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592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FA480-F1C4-4D98-A093-7342E3A9D14C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27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840F-665C-4D62-B6F8-A82AC705A799}" type="datetime1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37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207F4-C0BB-426F-BAC5-181399BF0C19}" type="datetime1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176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5370-52BF-42C3-88D8-E982C96844BD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704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89EF-A0DE-45E0-B9D0-850CDD6EACD1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25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10AE1-C54E-4167-9DEA-09DFF1386CF5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A52E6-026E-47BF-8202-76BE67A05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719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Module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IPC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00E1-0F93-4DCD-A175-135A473E9809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129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982663" y="168275"/>
            <a:ext cx="7704137" cy="5762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Interprocess Communication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85825" y="1154113"/>
            <a:ext cx="7485063" cy="4530725"/>
          </a:xfrm>
        </p:spPr>
        <p:txBody>
          <a:bodyPr>
            <a:normAutofit/>
          </a:bodyPr>
          <a:lstStyle/>
          <a:p>
            <a:r>
              <a:rPr lang="en-US" altLang="en-US" sz="2600" dirty="0"/>
              <a:t>Processes within a system may be </a:t>
            </a:r>
          </a:p>
          <a:p>
            <a:pPr lvl="1"/>
            <a:r>
              <a:rPr lang="en-US" altLang="en-US" sz="2200" b="1" i="1" dirty="0"/>
              <a:t>independent</a:t>
            </a:r>
            <a:r>
              <a:rPr lang="en-US" altLang="en-US" sz="2200" b="1" dirty="0"/>
              <a:t> </a:t>
            </a:r>
            <a:r>
              <a:rPr lang="en-US" altLang="en-US" sz="2200" dirty="0"/>
              <a:t>or </a:t>
            </a:r>
          </a:p>
          <a:p>
            <a:pPr lvl="1"/>
            <a:r>
              <a:rPr lang="en-US" altLang="en-US" sz="2200" b="1" i="1" dirty="0"/>
              <a:t>cooperating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3289-598B-4EBE-995C-1AE49FDDD900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691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982663" y="168275"/>
            <a:ext cx="7704137" cy="5762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Interprocess Communication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85825" y="1154113"/>
            <a:ext cx="7485063" cy="4530725"/>
          </a:xfrm>
        </p:spPr>
        <p:txBody>
          <a:bodyPr>
            <a:normAutofit/>
          </a:bodyPr>
          <a:lstStyle/>
          <a:p>
            <a:r>
              <a:rPr lang="en-US" altLang="en-US" sz="2600" b="1" i="1" dirty="0"/>
              <a:t>Independent Process- </a:t>
            </a:r>
          </a:p>
          <a:p>
            <a:pPr lvl="1"/>
            <a:r>
              <a:rPr lang="en-US" altLang="en-US" sz="2600" i="1" dirty="0"/>
              <a:t>If it </a:t>
            </a:r>
            <a:r>
              <a:rPr lang="en-US" altLang="en-US" sz="2600" i="1" dirty="0">
                <a:highlight>
                  <a:srgbClr val="FFFF00"/>
                </a:highlight>
              </a:rPr>
              <a:t>cannot affect or be affected by </a:t>
            </a:r>
            <a:r>
              <a:rPr lang="en-US" altLang="en-US" sz="2600" i="1" dirty="0"/>
              <a:t>other processes executing in the system</a:t>
            </a:r>
          </a:p>
          <a:p>
            <a:pPr lvl="1"/>
            <a:r>
              <a:rPr lang="en-US" altLang="en-US" sz="2600" i="1" dirty="0"/>
              <a:t>Any process that </a:t>
            </a:r>
            <a:r>
              <a:rPr lang="en-US" altLang="en-US" sz="2600" i="1" dirty="0">
                <a:highlight>
                  <a:srgbClr val="FFFF00"/>
                </a:highlight>
              </a:rPr>
              <a:t>does not share any data with any other process </a:t>
            </a:r>
          </a:p>
          <a:p>
            <a:endParaRPr lang="en-US" altLang="en-US" sz="2600" b="1" dirty="0"/>
          </a:p>
          <a:p>
            <a:r>
              <a:rPr lang="en-US" altLang="en-US" sz="2600" b="1" dirty="0"/>
              <a:t>Cooperating process-</a:t>
            </a:r>
          </a:p>
          <a:p>
            <a:pPr lvl="1"/>
            <a:r>
              <a:rPr lang="en-US" altLang="en-US" sz="2600" dirty="0">
                <a:highlight>
                  <a:srgbClr val="FFFF00"/>
                </a:highlight>
              </a:rPr>
              <a:t>can affect or be affected by other processes</a:t>
            </a:r>
            <a:r>
              <a:rPr lang="en-US" altLang="en-US" sz="2600" dirty="0"/>
              <a:t>, </a:t>
            </a:r>
          </a:p>
          <a:p>
            <a:pPr lvl="1"/>
            <a:r>
              <a:rPr lang="en-US" altLang="en-US" sz="2600" dirty="0"/>
              <a:t>Any process that  </a:t>
            </a:r>
            <a:r>
              <a:rPr lang="en-US" altLang="en-US" sz="2600" dirty="0">
                <a:highlight>
                  <a:srgbClr val="FFFF00"/>
                </a:highlight>
              </a:rPr>
              <a:t>shares data with other process</a:t>
            </a:r>
          </a:p>
          <a:p>
            <a:pPr lvl="1"/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B8DE-17DF-45A4-98B9-426EA507EDA3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38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982663" y="168275"/>
            <a:ext cx="7704137" cy="5762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Interprocess Communication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85825" y="1154113"/>
            <a:ext cx="7485063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Reasons for cooperating processes:</a:t>
            </a:r>
          </a:p>
          <a:p>
            <a:pPr lvl="1"/>
            <a:r>
              <a:rPr lang="en-US" altLang="en-US" dirty="0">
                <a:highlight>
                  <a:srgbClr val="FFFF00"/>
                </a:highlight>
              </a:rPr>
              <a:t>Information sharing</a:t>
            </a:r>
          </a:p>
          <a:p>
            <a:pPr lvl="2"/>
            <a:r>
              <a:rPr lang="en-IN" altLang="en-US" dirty="0"/>
              <a:t>Since several users may </a:t>
            </a:r>
            <a:r>
              <a:rPr lang="en-IN" altLang="en-US" dirty="0">
                <a:highlight>
                  <a:srgbClr val="FFFF00"/>
                </a:highlight>
              </a:rPr>
              <a:t>be interested in the same piece of information (for instance, a shared file), </a:t>
            </a:r>
          </a:p>
          <a:p>
            <a:pPr lvl="2"/>
            <a:endParaRPr lang="en-IN" altLang="en-US" dirty="0"/>
          </a:p>
          <a:p>
            <a:pPr lvl="2"/>
            <a:r>
              <a:rPr lang="en-IN" altLang="en-US" dirty="0"/>
              <a:t>we must provide an </a:t>
            </a:r>
            <a:r>
              <a:rPr lang="en-IN" altLang="en-US" dirty="0">
                <a:highlight>
                  <a:srgbClr val="FFFF00"/>
                </a:highlight>
              </a:rPr>
              <a:t>environment </a:t>
            </a:r>
            <a:r>
              <a:rPr lang="en-IN" altLang="en-US" dirty="0"/>
              <a:t>to allow concurrent access to such information.</a:t>
            </a: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62302-9D39-480F-AF42-1FD7EA43336F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279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982663" y="168275"/>
            <a:ext cx="7704137" cy="5762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Interprocess Communication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85825" y="1154113"/>
            <a:ext cx="7485063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Reasons for cooperating processes:</a:t>
            </a:r>
          </a:p>
          <a:p>
            <a:pPr lvl="1"/>
            <a:r>
              <a:rPr lang="en-US" altLang="en-US" dirty="0">
                <a:highlight>
                  <a:srgbClr val="FFFF00"/>
                </a:highlight>
              </a:rPr>
              <a:t>Computation speedup</a:t>
            </a:r>
          </a:p>
          <a:p>
            <a:pPr lvl="2"/>
            <a:r>
              <a:rPr lang="en-IN" altLang="en-US" dirty="0"/>
              <a:t>If we want a particular task to run faster, </a:t>
            </a:r>
          </a:p>
          <a:p>
            <a:pPr lvl="3"/>
            <a:r>
              <a:rPr lang="en-IN" altLang="en-US" dirty="0"/>
              <a:t>we must break it into subtasks, </a:t>
            </a:r>
          </a:p>
          <a:p>
            <a:pPr lvl="3"/>
            <a:r>
              <a:rPr lang="en-IN" altLang="en-US" dirty="0"/>
              <a:t>each of which will be executing in parallel with the others. </a:t>
            </a:r>
          </a:p>
          <a:p>
            <a:pPr lvl="3"/>
            <a:endParaRPr lang="en-IN" altLang="en-US" dirty="0"/>
          </a:p>
          <a:p>
            <a:pPr lvl="2"/>
            <a:r>
              <a:rPr lang="en-IN" altLang="en-US" dirty="0">
                <a:highlight>
                  <a:srgbClr val="FFFF00"/>
                </a:highlight>
              </a:rPr>
              <a:t>A speedup can be achieved only if </a:t>
            </a:r>
          </a:p>
          <a:p>
            <a:pPr lvl="3"/>
            <a:r>
              <a:rPr lang="en-IN" altLang="en-US" dirty="0">
                <a:highlight>
                  <a:srgbClr val="FFFF00"/>
                </a:highlight>
              </a:rPr>
              <a:t>the computer has multiple processing elements (such as CPUs or I/O channels).</a:t>
            </a:r>
            <a:endParaRPr lang="en-US" altLang="en-US" dirty="0">
              <a:highlight>
                <a:srgbClr val="FFFF00"/>
              </a:highlight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0166B-C610-43EF-9C60-48B6816DEEA2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403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982663" y="168275"/>
            <a:ext cx="7704137" cy="5762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Interprocess Communication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85825" y="1154113"/>
            <a:ext cx="7485063" cy="4530725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Reasons for cooperating processes:</a:t>
            </a:r>
          </a:p>
          <a:p>
            <a:pPr lvl="1"/>
            <a:r>
              <a:rPr lang="en-US" altLang="en-US" dirty="0">
                <a:highlight>
                  <a:srgbClr val="FFFF00"/>
                </a:highlight>
              </a:rPr>
              <a:t>Modularity</a:t>
            </a:r>
          </a:p>
          <a:p>
            <a:pPr lvl="2"/>
            <a:r>
              <a:rPr lang="en-IN" altLang="en-US" dirty="0"/>
              <a:t>We may want to construct the system in a modular fashion, </a:t>
            </a:r>
          </a:p>
          <a:p>
            <a:pPr lvl="2"/>
            <a:r>
              <a:rPr lang="en-IN" altLang="en-US" dirty="0"/>
              <a:t>dividing the system functions into separate processes or threads,</a:t>
            </a:r>
            <a:endParaRPr lang="en-US" altLang="en-US" dirty="0"/>
          </a:p>
          <a:p>
            <a:pPr lvl="1"/>
            <a:r>
              <a:rPr lang="en-US" altLang="en-US" dirty="0">
                <a:highlight>
                  <a:srgbClr val="FFFF00"/>
                </a:highlight>
              </a:rPr>
              <a:t>Convenience</a:t>
            </a:r>
          </a:p>
          <a:p>
            <a:pPr lvl="2"/>
            <a:r>
              <a:rPr lang="en-IN" altLang="en-US" dirty="0"/>
              <a:t>Even an individual user may work on many tasks at the same time. </a:t>
            </a:r>
          </a:p>
          <a:p>
            <a:pPr lvl="2"/>
            <a:r>
              <a:rPr lang="en-IN" altLang="en-US" dirty="0"/>
              <a:t>For instance, a user may be editing, printing, and compiling in parallel.</a:t>
            </a: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AB34-08ED-4D28-8722-EBB97347B7A9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318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982663" y="168275"/>
            <a:ext cx="7704137" cy="5762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Interprocess Communication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85825" y="1154113"/>
            <a:ext cx="7485063" cy="4530725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highlight>
                  <a:srgbClr val="FFFF00"/>
                </a:highlight>
              </a:rPr>
              <a:t>Cooperating processes need </a:t>
            </a:r>
            <a:r>
              <a:rPr lang="en-US" altLang="en-US" sz="2800" b="1" dirty="0" err="1">
                <a:solidFill>
                  <a:srgbClr val="3366FF"/>
                </a:solidFill>
                <a:highlight>
                  <a:srgbClr val="FFFF00"/>
                </a:highlight>
              </a:rPr>
              <a:t>interprocess</a:t>
            </a:r>
            <a:r>
              <a:rPr lang="en-US" altLang="en-US" sz="2800" b="1" dirty="0">
                <a:solidFill>
                  <a:srgbClr val="3366FF"/>
                </a:solidFill>
                <a:highlight>
                  <a:srgbClr val="FFFF00"/>
                </a:highlight>
              </a:rPr>
              <a:t> communication </a:t>
            </a:r>
            <a:r>
              <a:rPr lang="en-US" altLang="en-US" sz="2800" dirty="0">
                <a:highlight>
                  <a:srgbClr val="FFFF00"/>
                </a:highlight>
              </a:rPr>
              <a:t>(</a:t>
            </a:r>
            <a:r>
              <a:rPr lang="en-US" altLang="en-US" sz="2800" b="1" dirty="0">
                <a:solidFill>
                  <a:srgbClr val="3366FF"/>
                </a:solidFill>
                <a:highlight>
                  <a:srgbClr val="FFFF00"/>
                </a:highlight>
              </a:rPr>
              <a:t>IPC</a:t>
            </a:r>
            <a:r>
              <a:rPr lang="en-US" altLang="en-US" sz="2800" dirty="0">
                <a:highlight>
                  <a:srgbClr val="FFFF00"/>
                </a:highlight>
              </a:rPr>
              <a:t>) mechanism to exchange data and information</a:t>
            </a:r>
          </a:p>
          <a:p>
            <a:endParaRPr lang="en-US" altLang="en-US" sz="2800" dirty="0"/>
          </a:p>
          <a:p>
            <a:pPr lvl="1"/>
            <a:endParaRPr lang="en-US" altLang="en-US" dirty="0"/>
          </a:p>
        </p:txBody>
      </p:sp>
      <p:pic>
        <p:nvPicPr>
          <p:cNvPr id="8194" name="Picture 2" descr="Interprocess Communic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789040"/>
            <a:ext cx="6924675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4C4DB-B726-406A-AFE1-A4B576FA0C24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83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982663" y="168275"/>
            <a:ext cx="7704137" cy="5762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Interprocess Communication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85825" y="1154113"/>
            <a:ext cx="7485063" cy="4530725"/>
          </a:xfrm>
        </p:spPr>
        <p:txBody>
          <a:bodyPr>
            <a:normAutofit/>
          </a:bodyPr>
          <a:lstStyle/>
          <a:p>
            <a:endParaRPr lang="en-US" altLang="en-US" sz="2800" dirty="0"/>
          </a:p>
          <a:p>
            <a:r>
              <a:rPr lang="en-US" altLang="en-US" sz="2800" dirty="0"/>
              <a:t>Two models of IPC</a:t>
            </a:r>
          </a:p>
          <a:p>
            <a:pPr lvl="1"/>
            <a:r>
              <a:rPr lang="en-US" altLang="en-US" sz="2400" b="1" dirty="0">
                <a:solidFill>
                  <a:srgbClr val="3366FF"/>
                </a:solidFill>
              </a:rPr>
              <a:t>Shared memory</a:t>
            </a:r>
          </a:p>
          <a:p>
            <a:pPr lvl="1"/>
            <a:r>
              <a:rPr lang="en-US" altLang="en-US" sz="2400" b="1" dirty="0">
                <a:solidFill>
                  <a:srgbClr val="3366FF"/>
                </a:solidFill>
              </a:rPr>
              <a:t>Message passing</a:t>
            </a:r>
          </a:p>
          <a:p>
            <a:pPr lvl="1"/>
            <a:endParaRPr lang="en-US" altLang="en-US" dirty="0"/>
          </a:p>
        </p:txBody>
      </p:sp>
      <p:sp>
        <p:nvSpPr>
          <p:cNvPr id="2" name="AutoShape 2" descr="Inter Process Communication in Operating System (OS) » PREP INSTA"/>
          <p:cNvSpPr>
            <a:spLocks noChangeAspect="1" noChangeArrowheads="1"/>
          </p:cNvSpPr>
          <p:nvPr/>
        </p:nvSpPr>
        <p:spPr bwMode="auto">
          <a:xfrm>
            <a:off x="155575" y="-830263"/>
            <a:ext cx="1733550" cy="173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Inter Process Communication in Operating System (OS) » PREP INSTA"/>
          <p:cNvSpPr>
            <a:spLocks noChangeAspect="1" noChangeArrowheads="1"/>
          </p:cNvSpPr>
          <p:nvPr/>
        </p:nvSpPr>
        <p:spPr bwMode="auto">
          <a:xfrm>
            <a:off x="307975" y="-677863"/>
            <a:ext cx="1733550" cy="173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Inter Process Communication in Operating System (OS) » PREP INSTA"/>
          <p:cNvSpPr>
            <a:spLocks noChangeAspect="1" noChangeArrowheads="1"/>
          </p:cNvSpPr>
          <p:nvPr/>
        </p:nvSpPr>
        <p:spPr bwMode="auto">
          <a:xfrm>
            <a:off x="460375" y="-525463"/>
            <a:ext cx="1733550" cy="173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224" name="Picture 8" descr="Inter Process Communication in Operating System (OS) » PREP INST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04" b="21442"/>
          <a:stretch/>
        </p:blipFill>
        <p:spPr bwMode="auto">
          <a:xfrm>
            <a:off x="1825724" y="3573016"/>
            <a:ext cx="4762500" cy="2202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DCF21-CF67-444D-9FB5-D0E9A5DCE2A6}" type="datetime1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857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982663" y="168275"/>
            <a:ext cx="7704137" cy="5762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Interprocess Communication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395536" y="836712"/>
            <a:ext cx="8280920" cy="4530725"/>
          </a:xfrm>
        </p:spPr>
        <p:txBody>
          <a:bodyPr>
            <a:normAutofit/>
          </a:bodyPr>
          <a:lstStyle/>
          <a:p>
            <a:r>
              <a:rPr lang="en-IN" sz="2400" dirty="0"/>
              <a:t>In the shared-memory model, 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A region of memory that is shared by cooperating processes is established. 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Processes can then exchange information by reading and writing data to the shared region.</a:t>
            </a:r>
          </a:p>
          <a:p>
            <a:endParaRPr lang="en-IN" sz="2400" dirty="0"/>
          </a:p>
          <a:p>
            <a:r>
              <a:rPr lang="en-IN" sz="2400" dirty="0"/>
              <a:t>In the message passing model, 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communication takes place by means of messages exchanged between the cooperating processes.</a:t>
            </a:r>
            <a:endParaRPr lang="en-US" altLang="en-US" sz="2400" dirty="0">
              <a:highlight>
                <a:srgbClr val="FFFF00"/>
              </a:highlight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3215B-AC67-47DB-A84A-418509634AB3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301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pic>
        <p:nvPicPr>
          <p:cNvPr id="32771" name="Picture 1" descr="3_1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013" y="1725613"/>
            <a:ext cx="6100762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969963" y="1143000"/>
            <a:ext cx="6372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a) Message passing.  (b) shared memory. </a:t>
            </a:r>
            <a:r>
              <a:rPr lang="en-US" altLang="en-US">
                <a:cs typeface="Courier New" pitchFamily="49" charset="0"/>
              </a:rPr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1D7CF-510E-4908-A6B6-C010A878E3DD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466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pic>
        <p:nvPicPr>
          <p:cNvPr id="5124" name="Picture 4" descr="Interprocess Communic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14" y="1133822"/>
            <a:ext cx="6924675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C8AA-C33C-49A7-B57E-853E51455A7C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860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395536" y="288032"/>
            <a:ext cx="4176464" cy="548680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Message Passing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IN" sz="2400" dirty="0">
                <a:highlight>
                  <a:srgbClr val="FFFF00"/>
                </a:highlight>
              </a:rPr>
              <a:t>Message passing is useful for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 </a:t>
            </a:r>
            <a:r>
              <a:rPr lang="en-IN" b="1" u="sng" dirty="0">
                <a:highlight>
                  <a:srgbClr val="FFFF00"/>
                </a:highlight>
              </a:rPr>
              <a:t>exchanging smaller </a:t>
            </a:r>
            <a:r>
              <a:rPr lang="en-IN" dirty="0">
                <a:highlight>
                  <a:srgbClr val="FFFF00"/>
                </a:highlight>
              </a:rPr>
              <a:t>amounts of data, 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because no conflicts need be avoided. </a:t>
            </a:r>
          </a:p>
          <a:p>
            <a:r>
              <a:rPr lang="en-IN" sz="2400" dirty="0"/>
              <a:t>Message passing is also </a:t>
            </a:r>
            <a:r>
              <a:rPr lang="en-IN" sz="2400" dirty="0">
                <a:highlight>
                  <a:srgbClr val="FFFF00"/>
                </a:highlight>
              </a:rPr>
              <a:t>easier to implement </a:t>
            </a:r>
            <a:r>
              <a:rPr lang="en-IN" sz="2400" dirty="0"/>
              <a:t>than </a:t>
            </a:r>
          </a:p>
          <a:p>
            <a:pPr lvl="1"/>
            <a:r>
              <a:rPr lang="en-IN" dirty="0"/>
              <a:t>shared memory for </a:t>
            </a:r>
            <a:r>
              <a:rPr lang="en-IN" dirty="0" err="1"/>
              <a:t>interprocess</a:t>
            </a:r>
            <a:r>
              <a:rPr lang="en-IN" dirty="0"/>
              <a:t> communication.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Shared memory allows </a:t>
            </a:r>
          </a:p>
          <a:p>
            <a:pPr lvl="1"/>
            <a:r>
              <a:rPr lang="en-IN" b="1" u="sng" dirty="0">
                <a:highlight>
                  <a:srgbClr val="FFFF00"/>
                </a:highlight>
              </a:rPr>
              <a:t>maximum speed </a:t>
            </a:r>
            <a:r>
              <a:rPr lang="en-IN" dirty="0">
                <a:highlight>
                  <a:srgbClr val="FFFF00"/>
                </a:highlight>
              </a:rPr>
              <a:t>and convenience of communication</a:t>
            </a:r>
          </a:p>
          <a:p>
            <a:r>
              <a:rPr lang="en-IN" sz="2400" b="1" u="sng" dirty="0"/>
              <a:t>Shared memory is </a:t>
            </a:r>
            <a:r>
              <a:rPr lang="en-IN" sz="2400" b="1" u="sng" dirty="0">
                <a:highlight>
                  <a:srgbClr val="FFFF00"/>
                </a:highlight>
              </a:rPr>
              <a:t>faster </a:t>
            </a:r>
          </a:p>
          <a:p>
            <a:pPr lvl="1"/>
            <a:r>
              <a:rPr lang="en-IN" dirty="0"/>
              <a:t>than message passing.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860032" y="288032"/>
            <a:ext cx="417646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/>
              <a:t>Shared memory</a:t>
            </a: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ED191-01CE-4C25-95AC-490644024D37}" type="datetime1">
              <a:rPr lang="en-IN" smtClean="0"/>
              <a:t>26-04-2025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793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395536" y="288032"/>
            <a:ext cx="4176464" cy="548680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Message Passing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IN" sz="2400" b="1" u="sng" dirty="0"/>
              <a:t>Slower </a:t>
            </a:r>
            <a:r>
              <a:rPr lang="en-IN" sz="2400" dirty="0"/>
              <a:t>As message passing systems are typically implemented </a:t>
            </a:r>
          </a:p>
          <a:p>
            <a:pPr lvl="1"/>
            <a:r>
              <a:rPr lang="en-IN" b="1" dirty="0">
                <a:highlight>
                  <a:srgbClr val="FFFF00"/>
                </a:highlight>
              </a:rPr>
              <a:t>using system calls and </a:t>
            </a:r>
          </a:p>
          <a:p>
            <a:pPr lvl="1"/>
            <a:r>
              <a:rPr lang="en-IN" b="1" dirty="0">
                <a:highlight>
                  <a:srgbClr val="FFFF00"/>
                </a:highlight>
              </a:rPr>
              <a:t>thus require the more time-consuming task of kernel intervention.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Faster as In shared memory systems, </a:t>
            </a:r>
          </a:p>
          <a:p>
            <a:pPr lvl="1"/>
            <a:r>
              <a:rPr lang="en-IN" dirty="0"/>
              <a:t>system calls are required only to establish shared-memory regions. </a:t>
            </a:r>
          </a:p>
          <a:p>
            <a:pPr lvl="1"/>
            <a:r>
              <a:rPr lang="en-IN" b="1" u="sng" dirty="0">
                <a:highlight>
                  <a:srgbClr val="FFFF00"/>
                </a:highlight>
              </a:rPr>
              <a:t>Once shared memory is established</a:t>
            </a:r>
            <a:r>
              <a:rPr lang="en-IN" dirty="0">
                <a:highlight>
                  <a:srgbClr val="FFFF00"/>
                </a:highlight>
              </a:rPr>
              <a:t>, </a:t>
            </a:r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all accesses are treated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as routine memory accesses, 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and </a:t>
            </a:r>
            <a:r>
              <a:rPr lang="en-IN" b="1" u="sng" dirty="0">
                <a:highlight>
                  <a:srgbClr val="FFFF00"/>
                </a:highlight>
              </a:rPr>
              <a:t>no assistance from the kernel </a:t>
            </a:r>
            <a:r>
              <a:rPr lang="en-IN" dirty="0">
                <a:highlight>
                  <a:srgbClr val="FFFF00"/>
                </a:highlight>
              </a:rPr>
              <a:t>is required</a:t>
            </a:r>
            <a:r>
              <a:rPr lang="en-IN" dirty="0"/>
              <a:t>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860032" y="288032"/>
            <a:ext cx="417646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/>
              <a:t>Shared memory</a:t>
            </a: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DBC1D-025A-4D84-82B8-8EEB2C9043F6}" type="datetime1">
              <a:rPr lang="en-IN" smtClean="0"/>
              <a:t>26-04-2025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912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47650"/>
            <a:ext cx="79375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2963" y="1185863"/>
            <a:ext cx="6667500" cy="4498975"/>
          </a:xfrm>
        </p:spPr>
        <p:txBody>
          <a:bodyPr>
            <a:normAutofit/>
          </a:bodyPr>
          <a:lstStyle/>
          <a:p>
            <a:r>
              <a:rPr lang="en-US" altLang="en-US" dirty="0"/>
              <a:t>Paradigm for cooperating processes, </a:t>
            </a:r>
          </a:p>
          <a:p>
            <a:r>
              <a:rPr lang="en-US" altLang="en-US" dirty="0"/>
              <a:t>A </a:t>
            </a:r>
            <a:r>
              <a:rPr lang="en-US" altLang="en-US" i="1" dirty="0"/>
              <a:t>producer</a:t>
            </a:r>
            <a:r>
              <a:rPr lang="en-US" altLang="en-US" dirty="0"/>
              <a:t> process </a:t>
            </a:r>
          </a:p>
          <a:p>
            <a:pPr lvl="1"/>
            <a:r>
              <a:rPr lang="en-US" altLang="en-US" dirty="0"/>
              <a:t>produces information </a:t>
            </a:r>
          </a:p>
          <a:p>
            <a:pPr lvl="1"/>
            <a:r>
              <a:rPr lang="en-US" altLang="en-US" dirty="0"/>
              <a:t>that is consumed by a </a:t>
            </a:r>
            <a:r>
              <a:rPr lang="en-US" altLang="en-US" i="1" dirty="0"/>
              <a:t>consumer</a:t>
            </a:r>
            <a:r>
              <a:rPr lang="en-US" altLang="en-US" dirty="0"/>
              <a:t> process.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528B-C9A8-4C35-B390-73F45810852B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348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47650"/>
            <a:ext cx="79375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2963" y="1185863"/>
            <a:ext cx="6667500" cy="44989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>
                <a:highlight>
                  <a:srgbClr val="FFFF00"/>
                </a:highlight>
              </a:rPr>
              <a:t>For example, </a:t>
            </a:r>
          </a:p>
          <a:p>
            <a:pPr marL="514350" indent="-514350">
              <a:buFont typeface="+mj-lt"/>
              <a:buAutoNum type="arabicParenR"/>
            </a:pPr>
            <a:r>
              <a:rPr lang="en-IN" sz="2400" dirty="0">
                <a:highlight>
                  <a:srgbClr val="FFFF00"/>
                </a:highlight>
              </a:rPr>
              <a:t>A compiler may produce assembly code, </a:t>
            </a:r>
          </a:p>
          <a:p>
            <a:pPr marL="914400" lvl="1" indent="-514350"/>
            <a:r>
              <a:rPr lang="en-IN" sz="2400" dirty="0">
                <a:highlight>
                  <a:srgbClr val="FFFF00"/>
                </a:highlight>
              </a:rPr>
              <a:t>which is consumed by an assembler.  </a:t>
            </a:r>
          </a:p>
          <a:p>
            <a:pPr marL="857250" lvl="1" indent="-457200"/>
            <a:r>
              <a:rPr lang="en-IN" sz="2400" dirty="0">
                <a:highlight>
                  <a:srgbClr val="FFFF00"/>
                </a:highlight>
              </a:rPr>
              <a:t>The assembler, in turn, can produce object modules, </a:t>
            </a:r>
          </a:p>
          <a:p>
            <a:pPr marL="857250" lvl="1" indent="-457200"/>
            <a:r>
              <a:rPr lang="en-IN" sz="2400" dirty="0">
                <a:highlight>
                  <a:srgbClr val="FFFF00"/>
                </a:highlight>
              </a:rPr>
              <a:t>which are consumed by the loader.</a:t>
            </a:r>
          </a:p>
          <a:p>
            <a:pPr marL="514350" indent="-514350">
              <a:buFont typeface="+mj-lt"/>
              <a:buAutoNum type="arabicParenR"/>
            </a:pPr>
            <a:r>
              <a:rPr lang="en-IN" sz="2400" dirty="0">
                <a:highlight>
                  <a:srgbClr val="FFFF00"/>
                </a:highlight>
              </a:rPr>
              <a:t>Server as a producer and a client as   consumer. </a:t>
            </a:r>
          </a:p>
          <a:p>
            <a:pPr marL="914400" lvl="1" indent="-514350"/>
            <a:r>
              <a:rPr lang="en-IN" sz="2400" dirty="0">
                <a:highlight>
                  <a:srgbClr val="FFFF00"/>
                </a:highlight>
              </a:rPr>
              <a:t>For example, a Web server produces (that is, provides) HTML files and images, </a:t>
            </a:r>
          </a:p>
          <a:p>
            <a:pPr marL="914400" lvl="1" indent="-514350"/>
            <a:r>
              <a:rPr lang="en-IN" sz="2400" dirty="0">
                <a:highlight>
                  <a:srgbClr val="FFFF00"/>
                </a:highlight>
              </a:rPr>
              <a:t>which are consumed (that is, read) by the client Web browser requesting the resource.</a:t>
            </a:r>
            <a:endParaRPr lang="en-US" altLang="en-US" sz="2400" dirty="0">
              <a:highlight>
                <a:srgbClr val="FFFF00"/>
              </a:highlight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1A06-B693-4C3E-9F33-53709ED06230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508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47650"/>
            <a:ext cx="79375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2963" y="1185863"/>
            <a:ext cx="6667500" cy="4498975"/>
          </a:xfrm>
        </p:spPr>
        <p:txBody>
          <a:bodyPr>
            <a:normAutofit/>
          </a:bodyPr>
          <a:lstStyle/>
          <a:p>
            <a:r>
              <a:rPr lang="en-IN" sz="2400" b="1" u="sng" dirty="0">
                <a:solidFill>
                  <a:schemeClr val="accent1"/>
                </a:solidFill>
              </a:rPr>
              <a:t>Solution= Shared memory. </a:t>
            </a:r>
          </a:p>
          <a:p>
            <a:endParaRPr lang="en-IN" sz="2400" dirty="0"/>
          </a:p>
          <a:p>
            <a:r>
              <a:rPr lang="en-IN" sz="2400" dirty="0"/>
              <a:t>To allow producer and consumer processes to run concurrently,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43199-12AF-4496-8519-AA468441CF15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709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47650"/>
            <a:ext cx="79375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2963" y="1185863"/>
            <a:ext cx="6667500" cy="4498975"/>
          </a:xfrm>
        </p:spPr>
        <p:txBody>
          <a:bodyPr>
            <a:normAutofit/>
          </a:bodyPr>
          <a:lstStyle/>
          <a:p>
            <a:endParaRPr lang="en-IN" sz="2400" dirty="0"/>
          </a:p>
          <a:p>
            <a:r>
              <a:rPr lang="en-IN" sz="2400" dirty="0">
                <a:highlight>
                  <a:srgbClr val="FFFF00"/>
                </a:highlight>
              </a:rPr>
              <a:t>An available  buffer of items that </a:t>
            </a:r>
          </a:p>
          <a:p>
            <a:pPr lvl="1"/>
            <a:r>
              <a:rPr lang="en-IN" sz="2400" b="1" u="sng" dirty="0">
                <a:solidFill>
                  <a:schemeClr val="accent1"/>
                </a:solidFill>
                <a:highlight>
                  <a:srgbClr val="FFFF00"/>
                </a:highlight>
              </a:rPr>
              <a:t>can be filled by the producer and </a:t>
            </a:r>
          </a:p>
          <a:p>
            <a:pPr lvl="1"/>
            <a:r>
              <a:rPr lang="en-IN" sz="2400" b="1" u="sng" dirty="0">
                <a:solidFill>
                  <a:schemeClr val="accent1"/>
                </a:solidFill>
                <a:highlight>
                  <a:srgbClr val="FFFF00"/>
                </a:highlight>
              </a:rPr>
              <a:t>emptied by the consumer. </a:t>
            </a:r>
          </a:p>
          <a:p>
            <a:endParaRPr lang="en-IN" sz="2400" dirty="0">
              <a:highlight>
                <a:srgbClr val="FFFF00"/>
              </a:highlight>
            </a:endParaRPr>
          </a:p>
          <a:p>
            <a:r>
              <a:rPr lang="en-IN" sz="2400" dirty="0">
                <a:highlight>
                  <a:srgbClr val="FFFF00"/>
                </a:highlight>
              </a:rPr>
              <a:t>This buffer will reside in a region of memory 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that is shared by the producer and consumer processes.</a:t>
            </a:r>
            <a:endParaRPr lang="en-US" altLang="en-US" sz="2400" dirty="0">
              <a:highlight>
                <a:srgbClr val="FFFF00"/>
              </a:highlight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0BFE9-FC7F-4BBD-8708-DCECF91F62F2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341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47650"/>
            <a:ext cx="79375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2963" y="1185863"/>
            <a:ext cx="6667500" cy="4498975"/>
          </a:xfrm>
        </p:spPr>
        <p:txBody>
          <a:bodyPr>
            <a:normAutofit/>
          </a:bodyPr>
          <a:lstStyle/>
          <a:p>
            <a:r>
              <a:rPr lang="en-IN" sz="2800" dirty="0"/>
              <a:t>A producer can </a:t>
            </a:r>
            <a:r>
              <a:rPr lang="en-IN" sz="2800" dirty="0">
                <a:highlight>
                  <a:srgbClr val="FFFF00"/>
                </a:highlight>
              </a:rPr>
              <a:t>produce one item</a:t>
            </a:r>
          </a:p>
          <a:p>
            <a:r>
              <a:rPr lang="en-IN" sz="2800" dirty="0">
                <a:highlight>
                  <a:srgbClr val="FFFF00"/>
                </a:highlight>
              </a:rPr>
              <a:t>While the consumer is consuming another item.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55" b="11455"/>
          <a:stretch/>
        </p:blipFill>
        <p:spPr bwMode="auto">
          <a:xfrm>
            <a:off x="2190750" y="2924944"/>
            <a:ext cx="4762500" cy="3061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A70DC-AD5A-4C97-B7EF-214CDC0ED197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809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47650"/>
            <a:ext cx="79375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2963" y="1185863"/>
            <a:ext cx="6667500" cy="4498975"/>
          </a:xfrm>
        </p:spPr>
        <p:txBody>
          <a:bodyPr>
            <a:normAutofit/>
          </a:bodyPr>
          <a:lstStyle/>
          <a:p>
            <a:r>
              <a:rPr lang="en-IN" sz="2800" b="1" u="sng" dirty="0">
                <a:highlight>
                  <a:srgbClr val="FFFF00"/>
                </a:highlight>
              </a:rPr>
              <a:t>The producer and consumer must be synchronized, </a:t>
            </a:r>
          </a:p>
          <a:p>
            <a:pPr lvl="1"/>
            <a:r>
              <a:rPr lang="en-IN" sz="2400" dirty="0"/>
              <a:t>so that the consumer does not try to consume an item</a:t>
            </a:r>
          </a:p>
          <a:p>
            <a:pPr lvl="1"/>
            <a:r>
              <a:rPr lang="en-IN" sz="2400" dirty="0"/>
              <a:t>that has not yet been produced.</a:t>
            </a: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718F0-566D-4399-B384-A064FD7CD639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427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47650"/>
            <a:ext cx="79375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2962" y="1185863"/>
            <a:ext cx="7473453" cy="44989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Two types of buffers can be used.</a:t>
            </a:r>
            <a:endParaRPr lang="en-US" altLang="en-US" sz="2400" dirty="0"/>
          </a:p>
          <a:p>
            <a:endParaRPr lang="en-US" altLang="en-US" sz="2400" b="1" dirty="0">
              <a:solidFill>
                <a:srgbClr val="3366FF"/>
              </a:solidFill>
            </a:endParaRPr>
          </a:p>
          <a:p>
            <a:r>
              <a:rPr lang="en-US" altLang="en-US" sz="2400" b="1" dirty="0">
                <a:solidFill>
                  <a:srgbClr val="3366FF"/>
                </a:solidFill>
              </a:rPr>
              <a:t>unbounded-buffer </a:t>
            </a:r>
          </a:p>
          <a:p>
            <a:r>
              <a:rPr lang="en-US" altLang="en-US" sz="2400" b="1" dirty="0">
                <a:solidFill>
                  <a:srgbClr val="3366FF"/>
                </a:solidFill>
              </a:rPr>
              <a:t>bounded-buffer</a:t>
            </a: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75676-8116-4155-A8FF-D9B134083539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535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47650"/>
            <a:ext cx="79375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2962" y="1185863"/>
            <a:ext cx="7473453" cy="44989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Two types of buffers can be used.</a:t>
            </a:r>
            <a:endParaRPr lang="en-US" altLang="en-US" sz="2400" dirty="0"/>
          </a:p>
          <a:p>
            <a:r>
              <a:rPr lang="en-US" altLang="en-US" sz="2400" b="1" dirty="0">
                <a:solidFill>
                  <a:srgbClr val="3366FF"/>
                </a:solidFill>
              </a:rPr>
              <a:t>unbounded-buffer </a:t>
            </a:r>
            <a:r>
              <a:rPr lang="en-US" altLang="en-US" sz="2400" dirty="0"/>
              <a:t>places </a:t>
            </a:r>
            <a:r>
              <a:rPr lang="en-US" altLang="en-US" sz="2400" dirty="0">
                <a:highlight>
                  <a:srgbClr val="FFFF00"/>
                </a:highlight>
              </a:rPr>
              <a:t>no practical limit on the size of the buffer</a:t>
            </a:r>
          </a:p>
          <a:p>
            <a:pPr lvl="1"/>
            <a:r>
              <a:rPr lang="en-IN" sz="2400" dirty="0"/>
              <a:t>The </a:t>
            </a:r>
            <a:r>
              <a:rPr lang="en-IN" sz="2400" dirty="0">
                <a:highlight>
                  <a:srgbClr val="FFFF00"/>
                </a:highlight>
              </a:rPr>
              <a:t>consumer may have to wait for new items</a:t>
            </a:r>
            <a:r>
              <a:rPr lang="en-IN" sz="2400" dirty="0"/>
              <a:t>,</a:t>
            </a:r>
          </a:p>
          <a:p>
            <a:pPr lvl="1"/>
            <a:r>
              <a:rPr lang="en-IN" sz="2400" dirty="0"/>
              <a:t>but </a:t>
            </a:r>
            <a:r>
              <a:rPr lang="en-IN" sz="2400" dirty="0">
                <a:highlight>
                  <a:srgbClr val="FFFF00"/>
                </a:highlight>
              </a:rPr>
              <a:t>the producer can always produce new items</a:t>
            </a:r>
            <a:r>
              <a:rPr lang="en-IN" sz="2400" dirty="0"/>
              <a:t>.</a:t>
            </a:r>
            <a:endParaRPr lang="en-US" altLang="en-US" sz="2400" dirty="0"/>
          </a:p>
          <a:p>
            <a:endParaRPr lang="en-US" altLang="en-US" sz="2400" b="1" dirty="0">
              <a:solidFill>
                <a:srgbClr val="3366FF"/>
              </a:solidFill>
            </a:endParaRPr>
          </a:p>
          <a:p>
            <a:r>
              <a:rPr lang="en-US" altLang="en-US" sz="2400" b="1" dirty="0">
                <a:solidFill>
                  <a:srgbClr val="3366FF"/>
                </a:solidFill>
              </a:rPr>
              <a:t>bounded-buffer </a:t>
            </a:r>
            <a:r>
              <a:rPr lang="en-US" altLang="en-US" sz="2400" dirty="0"/>
              <a:t>assumes that there is a fixed buffer size</a:t>
            </a:r>
          </a:p>
          <a:p>
            <a:pPr lvl="1"/>
            <a:r>
              <a:rPr lang="en-IN" sz="2400" dirty="0"/>
              <a:t>The consumer </a:t>
            </a:r>
            <a:r>
              <a:rPr lang="en-IN" sz="2400" dirty="0">
                <a:highlight>
                  <a:srgbClr val="FFFF00"/>
                </a:highlight>
              </a:rPr>
              <a:t>must wait if the buffer is empty</a:t>
            </a:r>
            <a:r>
              <a:rPr lang="en-IN" sz="2400" dirty="0"/>
              <a:t>,</a:t>
            </a:r>
          </a:p>
          <a:p>
            <a:pPr lvl="1"/>
            <a:r>
              <a:rPr lang="en-IN" sz="2400" dirty="0"/>
              <a:t>and the producer </a:t>
            </a:r>
            <a:r>
              <a:rPr lang="en-IN" sz="2400" dirty="0">
                <a:highlight>
                  <a:srgbClr val="FFFF00"/>
                </a:highlight>
              </a:rPr>
              <a:t>must wait if the buffer is full</a:t>
            </a:r>
            <a:r>
              <a:rPr lang="en-IN" sz="2400" dirty="0"/>
              <a:t>.</a:t>
            </a: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B8884-B3B0-4559-9FB2-D50B094695F4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925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163" y="300038"/>
            <a:ext cx="8074025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/>
              <a:t>Bounded-Buffer – Shared-Memory Solution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5388" y="1203325"/>
            <a:ext cx="7131050" cy="4700588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/>
              <a:t>Shared data</a:t>
            </a:r>
          </a:p>
          <a:p>
            <a:r>
              <a:rPr lang="en-IN" sz="2400" dirty="0"/>
              <a:t>The following variables reside </a:t>
            </a:r>
            <a:r>
              <a:rPr lang="en-IN" sz="2400" dirty="0">
                <a:highlight>
                  <a:srgbClr val="FFFF00"/>
                </a:highlight>
              </a:rPr>
              <a:t>in a region of memory shared by the producer and consumer processes:</a:t>
            </a:r>
            <a:endParaRPr lang="en-US" altLang="en-US" sz="2400" dirty="0">
              <a:highlight>
                <a:srgbClr val="FFFF00"/>
              </a:highlight>
            </a:endParaRPr>
          </a:p>
          <a:p>
            <a:pPr marL="1598613" lvl="3">
              <a:buFontTx/>
              <a:buNone/>
            </a:pP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#define BUFFER_SIZE 10</a:t>
            </a:r>
          </a:p>
          <a:p>
            <a:pPr marL="1598613" lvl="3">
              <a:buFontTx/>
              <a:buNone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. . .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item;</a:t>
            </a:r>
          </a:p>
          <a:p>
            <a:pPr marL="1598613" lvl="3">
              <a:buFontTx/>
              <a:buNone/>
            </a:pP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buffer[BUFFER_SIZE];</a:t>
            </a:r>
          </a:p>
          <a:p>
            <a:pPr marL="1598613" lvl="3">
              <a:buFontTx/>
              <a:buNone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in = 0;</a:t>
            </a:r>
          </a:p>
          <a:p>
            <a:pPr marL="1598613" lvl="3">
              <a:buFontTx/>
              <a:buNone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out = 0;</a:t>
            </a:r>
          </a:p>
          <a:p>
            <a:pPr marL="1598613" lvl="3">
              <a:buFontTx/>
              <a:buNone/>
            </a:pPr>
            <a:endParaRPr lang="en-US" altLang="en-US" sz="16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972E-1A56-432A-9871-F093BDCDB61B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113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163" y="300038"/>
            <a:ext cx="8074025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/>
              <a:t>Bounded-Buffer – Shared-Memory Solution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203324"/>
            <a:ext cx="8136904" cy="5033987"/>
          </a:xfrm>
        </p:spPr>
        <p:txBody>
          <a:bodyPr>
            <a:normAutofit/>
          </a:bodyPr>
          <a:lstStyle/>
          <a:p>
            <a:r>
              <a:rPr lang="en-IN" sz="2600" dirty="0"/>
              <a:t>The shared buffer is implemented </a:t>
            </a:r>
            <a:r>
              <a:rPr lang="en-IN" sz="2600" dirty="0">
                <a:highlight>
                  <a:srgbClr val="FFFF00"/>
                </a:highlight>
              </a:rPr>
              <a:t>as a circular array </a:t>
            </a:r>
          </a:p>
          <a:p>
            <a:pPr lvl="1"/>
            <a:r>
              <a:rPr lang="en-IN" sz="2600" dirty="0">
                <a:highlight>
                  <a:srgbClr val="FFFF00"/>
                </a:highlight>
              </a:rPr>
              <a:t>with two logical pointers: in and out. </a:t>
            </a:r>
          </a:p>
          <a:p>
            <a:pPr lvl="1"/>
            <a:endParaRPr lang="en-IN" sz="2600" dirty="0"/>
          </a:p>
          <a:p>
            <a:pPr marL="0" indent="0"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#define BUFFER_SIZE 10</a:t>
            </a:r>
          </a:p>
          <a:p>
            <a:pPr marL="1598613" lvl="3">
              <a:buFontTx/>
              <a:buNone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. . .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item;</a:t>
            </a:r>
          </a:p>
          <a:p>
            <a:pPr marL="1598613" lvl="3">
              <a:buFontTx/>
              <a:buNone/>
            </a:pP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buffer[BUFFER_SIZE];</a:t>
            </a:r>
          </a:p>
          <a:p>
            <a:pPr marL="1598613" lvl="3">
              <a:buFontTx/>
              <a:buNone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in = 0;</a:t>
            </a:r>
          </a:p>
          <a:p>
            <a:pPr marL="1598613" lvl="3">
              <a:buFontTx/>
              <a:buNone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out = 0;</a:t>
            </a:r>
          </a:p>
          <a:p>
            <a:pPr marL="457200" lvl="1" indent="0">
              <a:buNone/>
            </a:pPr>
            <a:endParaRPr lang="en-IN" sz="26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9BF5-1B6A-44AA-AF50-395A5ECF596A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787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163" y="300038"/>
            <a:ext cx="8074025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/>
              <a:t>Bounded-Buffer – Shared-Memory Solution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203324"/>
            <a:ext cx="8136904" cy="5033987"/>
          </a:xfrm>
        </p:spPr>
        <p:txBody>
          <a:bodyPr>
            <a:normAutofit/>
          </a:bodyPr>
          <a:lstStyle/>
          <a:p>
            <a:pPr lvl="1"/>
            <a:r>
              <a:rPr lang="en-IN" sz="2600" dirty="0">
                <a:highlight>
                  <a:srgbClr val="FFFF00"/>
                </a:highlight>
              </a:rPr>
              <a:t>in points to the next free position in the buffer; </a:t>
            </a:r>
          </a:p>
          <a:p>
            <a:pPr lvl="1"/>
            <a:r>
              <a:rPr lang="en-IN" sz="2600" dirty="0">
                <a:highlight>
                  <a:srgbClr val="FFFF00"/>
                </a:highlight>
              </a:rPr>
              <a:t>out points to the first full position in the buffer. </a:t>
            </a:r>
          </a:p>
          <a:p>
            <a:endParaRPr lang="en-US" altLang="en-US" sz="1600" dirty="0">
              <a:highlight>
                <a:srgbClr val="FFFF00"/>
              </a:highlight>
              <a:latin typeface="Courier New" pitchFamily="49" charset="0"/>
              <a:cs typeface="Courier New" pitchFamily="49" charset="0"/>
            </a:endParaRPr>
          </a:p>
          <a:p>
            <a:endParaRPr lang="en-US" altLang="en-US" sz="1600" dirty="0">
              <a:highlight>
                <a:srgbClr val="FFFF00"/>
              </a:highlight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altLang="en-US" sz="16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	</a:t>
            </a:r>
          </a:p>
        </p:txBody>
      </p:sp>
      <p:pic>
        <p:nvPicPr>
          <p:cNvPr id="4" name="Picture 2" descr="https://pages.mtu.edu/~shene/NSF-3/e-Book/SEMA/DIAGRAM-buff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564904"/>
            <a:ext cx="4392488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ED9D0-D2D9-48A6-A344-384A12D695B6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82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163" y="300038"/>
            <a:ext cx="8074025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/>
              <a:t>Bounded-Buffer – Shared-Memory Solution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203324"/>
            <a:ext cx="8136904" cy="5033987"/>
          </a:xfrm>
        </p:spPr>
        <p:txBody>
          <a:bodyPr>
            <a:normAutofit/>
          </a:bodyPr>
          <a:lstStyle/>
          <a:p>
            <a:r>
              <a:rPr lang="en-IN" sz="2600" dirty="0">
                <a:highlight>
                  <a:srgbClr val="FFFF00"/>
                </a:highlight>
              </a:rPr>
              <a:t>The buffer is empty when in== out;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BB27-EA42-4451-8185-A44FBB305FC6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25</a:t>
            </a:fld>
            <a:endParaRPr lang="en-IN"/>
          </a:p>
        </p:txBody>
      </p:sp>
      <p:pic>
        <p:nvPicPr>
          <p:cNvPr id="8" name="Picture 2" descr="https://pages.mtu.edu/~shene/NSF-3/e-Book/SEMA/DIAGRAM-buff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564904"/>
            <a:ext cx="4392488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7735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163" y="300038"/>
            <a:ext cx="8074025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/>
              <a:t>Bounded-Buffer – Shared-Memory Solution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203324"/>
            <a:ext cx="8136904" cy="5033987"/>
          </a:xfrm>
        </p:spPr>
        <p:txBody>
          <a:bodyPr>
            <a:normAutofit/>
          </a:bodyPr>
          <a:lstStyle/>
          <a:p>
            <a:r>
              <a:rPr lang="en-IN" sz="2600" dirty="0">
                <a:highlight>
                  <a:srgbClr val="FFFF00"/>
                </a:highlight>
              </a:rPr>
              <a:t>The buffer is full when ((in+ 1)% BUFFER_SIZE) == out.</a:t>
            </a:r>
          </a:p>
          <a:p>
            <a:endParaRPr lang="en-US" altLang="en-US" sz="1600" dirty="0">
              <a:highlight>
                <a:srgbClr val="FFFF00"/>
              </a:highlight>
              <a:latin typeface="Courier New" pitchFamily="49" charset="0"/>
              <a:cs typeface="Courier New" pitchFamily="49" charset="0"/>
            </a:endParaRPr>
          </a:p>
          <a:p>
            <a:endParaRPr lang="en-US" altLang="en-US" sz="1600" dirty="0">
              <a:highlight>
                <a:srgbClr val="FFFF00"/>
              </a:highlight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altLang="en-US" sz="16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	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90"/>
          <a:stretch/>
        </p:blipFill>
        <p:spPr bwMode="auto">
          <a:xfrm>
            <a:off x="251520" y="2924944"/>
            <a:ext cx="8352928" cy="2966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BB27-EA42-4451-8185-A44FBB305FC6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9794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7600" y="203200"/>
            <a:ext cx="75692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Bounded-Buffer – Producer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196752"/>
            <a:ext cx="8352928" cy="5184576"/>
          </a:xfrm>
        </p:spPr>
        <p:txBody>
          <a:bodyPr>
            <a:normAutofit fontScale="25000" lnSpcReduction="20000"/>
          </a:bodyPr>
          <a:lstStyle/>
          <a:p>
            <a:pPr>
              <a:buFont typeface="Monotype Sorts" charset="0"/>
              <a:buNone/>
              <a:defRPr/>
            </a:pPr>
            <a:endParaRPr lang="en-US" sz="1600" dirty="0">
              <a:latin typeface="Monaco" charset="0"/>
              <a:ea typeface="ＭＳ Ｐゴシック" charset="0"/>
              <a:cs typeface="ＭＳ Ｐゴシック" charset="0"/>
            </a:endParaRPr>
          </a:p>
          <a:p>
            <a:r>
              <a:rPr lang="en-IN" sz="9600" dirty="0">
                <a:highlight>
                  <a:srgbClr val="FFFF00"/>
                </a:highlight>
                <a:cs typeface="Arial" panose="020B0604020202020204" pitchFamily="34" charset="0"/>
              </a:rPr>
              <a:t>The producer process has a local variable </a:t>
            </a:r>
            <a:r>
              <a:rPr lang="en-IN" sz="9600" dirty="0" err="1">
                <a:highlight>
                  <a:srgbClr val="FFFF00"/>
                </a:highlight>
                <a:cs typeface="Arial" panose="020B0604020202020204" pitchFamily="34" charset="0"/>
              </a:rPr>
              <a:t>nextProduced</a:t>
            </a:r>
            <a:endParaRPr lang="en-IN" sz="9600" dirty="0">
              <a:highlight>
                <a:srgbClr val="FFFF00"/>
              </a:highlight>
              <a:cs typeface="Arial" panose="020B0604020202020204" pitchFamily="34" charset="0"/>
            </a:endParaRPr>
          </a:p>
          <a:p>
            <a:pPr lvl="1"/>
            <a:r>
              <a:rPr lang="en-IN" sz="9600" dirty="0">
                <a:highlight>
                  <a:srgbClr val="FFFF00"/>
                </a:highlight>
                <a:cs typeface="Arial" panose="020B0604020202020204" pitchFamily="34" charset="0"/>
              </a:rPr>
              <a:t>in which the new item to be produced is stored. </a:t>
            </a:r>
          </a:p>
          <a:p>
            <a:pPr marL="0" indent="0">
              <a:buFont typeface="Monotype Sorts" pitchFamily="-84" charset="2"/>
              <a:buNone/>
              <a:defRPr/>
            </a:pPr>
            <a:endParaRPr lang="en-US" sz="9600" dirty="0">
              <a:highlight>
                <a:srgbClr val="FFFF00"/>
              </a:highlight>
              <a:cs typeface="Arial" panose="020B0604020202020204" pitchFamily="34" charset="0"/>
            </a:endParaRP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7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item </a:t>
            </a:r>
            <a:r>
              <a:rPr lang="en-US" sz="72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lang="en-US" sz="7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7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while (true) {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7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/* produce an item in next produced */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7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while (((in + 1) % BUFFER_SIZE) == out); /* do nothing */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7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7200" dirty="0">
                <a:solidFill>
                  <a:schemeClr val="accent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buffer[in] = </a:t>
            </a:r>
            <a:r>
              <a:rPr lang="en-US" sz="7200" dirty="0" err="1">
                <a:solidFill>
                  <a:schemeClr val="accent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lang="en-US" sz="7200" dirty="0">
                <a:solidFill>
                  <a:schemeClr val="accent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7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7200" dirty="0">
                <a:solidFill>
                  <a:schemeClr val="accent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 = (in + 1) % BUFFER_SIZE;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7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buFont typeface="Monotype Sorts" charset="0"/>
              <a:buNone/>
              <a:defRPr/>
            </a:pPr>
            <a:endParaRPr lang="en-US" sz="8000" dirty="0">
              <a:ea typeface="ＭＳ Ｐゴシック" charset="0"/>
              <a:cs typeface="Arial" panose="020B0604020202020204" pitchFamily="34" charset="0"/>
            </a:endParaRPr>
          </a:p>
          <a:p>
            <a:pPr>
              <a:buFont typeface="Monotype Sorts" charset="0"/>
              <a:buNone/>
              <a:defRPr/>
            </a:pPr>
            <a:endParaRPr lang="en-US" sz="2400" dirty="0"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  <a:p>
            <a:pPr>
              <a:buFont typeface="Monotype Sorts" charset="0"/>
              <a:buNone/>
              <a:defRPr/>
            </a:pPr>
            <a:r>
              <a:rPr lang="en-US" sz="1600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	</a:t>
            </a:r>
          </a:p>
          <a:p>
            <a:pPr marL="7168674" lvl="4">
              <a:buFontTx/>
              <a:buNone/>
              <a:defRPr/>
            </a:pPr>
            <a:endParaRPr lang="en-US" sz="1200" dirty="0"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pic>
        <p:nvPicPr>
          <p:cNvPr id="4" name="Picture 2" descr="https://pages.mtu.edu/~shene/NSF-3/e-Book/SEMA/DIAGRAM-buff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60" y="4345465"/>
            <a:ext cx="3630155" cy="1963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6252-FD6E-437A-B250-F427EE38EA1A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115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32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Bounded Buffer – Consumer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219200"/>
            <a:ext cx="7932365" cy="5018112"/>
          </a:xfrm>
        </p:spPr>
        <p:txBody>
          <a:bodyPr>
            <a:normAutofit lnSpcReduction="10000"/>
          </a:bodyPr>
          <a:lstStyle/>
          <a:p>
            <a:r>
              <a:rPr lang="en-IN" altLang="en-US" sz="2400" dirty="0">
                <a:highlight>
                  <a:srgbClr val="FFFF00"/>
                </a:highlight>
                <a:cs typeface="Courier New" pitchFamily="49" charset="0"/>
              </a:rPr>
              <a:t>The consumer process has a</a:t>
            </a:r>
          </a:p>
          <a:p>
            <a:pPr lvl="1"/>
            <a:r>
              <a:rPr lang="en-IN" altLang="en-US" sz="2400" dirty="0">
                <a:highlight>
                  <a:srgbClr val="FFFF00"/>
                </a:highlight>
                <a:cs typeface="Courier New" pitchFamily="49" charset="0"/>
              </a:rPr>
              <a:t>local variable next Consumed in which the item to be consumed is stored.</a:t>
            </a:r>
          </a:p>
          <a:p>
            <a:pPr marL="0" indent="0">
              <a:buFont typeface="Monotype Sorts" pitchFamily="-84" charset="2"/>
              <a:buNone/>
            </a:pPr>
            <a:endParaRPr lang="en-US" altLang="en-US" sz="1600" dirty="0">
              <a:highlight>
                <a:srgbClr val="FFFF00"/>
              </a:highlight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endParaRPr lang="en-US" altLang="en-US" sz="1600" dirty="0">
              <a:highlight>
                <a:srgbClr val="FFFF00"/>
              </a:highlight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endParaRPr lang="en-US" altLang="en-US" sz="1600" dirty="0">
              <a:highlight>
                <a:srgbClr val="FFFF00"/>
              </a:highlight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endParaRPr lang="en-US" altLang="en-US" sz="1600" dirty="0">
              <a:highlight>
                <a:srgbClr val="FFFF00"/>
              </a:highlight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endParaRPr lang="en-US" altLang="en-US" sz="1600" dirty="0">
              <a:highlight>
                <a:srgbClr val="FFFF00"/>
              </a:highlight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item </a:t>
            </a:r>
            <a:r>
              <a:rPr lang="en-US" altLang="en-US" sz="1800" dirty="0" err="1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next_consumed</a:t>
            </a:r>
            <a:r>
              <a:rPr lang="en-US" altLang="en-US" sz="18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while (true) {</a:t>
            </a:r>
            <a:br>
              <a:rPr lang="en-US" altLang="en-US" sz="18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</a:br>
            <a:r>
              <a:rPr lang="en-US" altLang="en-US" sz="18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	while (in == out) ; /* do nothing */</a:t>
            </a:r>
            <a:br>
              <a:rPr lang="en-US" altLang="en-US" sz="18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</a:br>
            <a:r>
              <a:rPr lang="en-US" altLang="en-US" sz="18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sz="1800" dirty="0" err="1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next_consumed</a:t>
            </a:r>
            <a:r>
              <a:rPr lang="en-US" altLang="en-US" sz="18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	out = (out + 1) % BUFFER_SIZE;</a:t>
            </a:r>
            <a:br>
              <a:rPr lang="en-US" altLang="en-US" sz="18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</a:br>
            <a:endParaRPr lang="en-US" altLang="en-US" sz="1800" dirty="0">
              <a:highlight>
                <a:srgbClr val="FFFF00"/>
              </a:highlight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}</a:t>
            </a:r>
            <a:r>
              <a:rPr lang="en-US" altLang="en-US" sz="1600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pic>
        <p:nvPicPr>
          <p:cNvPr id="4" name="Picture 2" descr="https://pages.mtu.edu/~shene/NSF-3/e-Book/SEMA/DIAGRAM-buff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060848"/>
            <a:ext cx="3000128" cy="1623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88F2-D3A8-4D30-A4A1-82A0C22BE5FE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04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95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Interprocess Communication –  Shared Memory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1233488"/>
            <a:ext cx="6621463" cy="471579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2400" dirty="0"/>
              <a:t>What ?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An area of memory shared among the processes that wish to communicate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1593-8B62-49CF-9684-4AB2AC0BF06A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2708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95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Interprocess Communication –  Shared Memory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1233488"/>
            <a:ext cx="6621463" cy="47157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highlight>
                  <a:srgbClr val="FFFF00"/>
                </a:highlight>
              </a:rPr>
              <a:t>The communication is under the control of the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highlight>
                  <a:srgbClr val="FFFF00"/>
                </a:highlight>
              </a:rPr>
              <a:t>users processes not the operating system.</a:t>
            </a:r>
          </a:p>
          <a:p>
            <a:endParaRPr lang="en-IN" sz="2400" dirty="0">
              <a:highlight>
                <a:srgbClr val="FFFF00"/>
              </a:highlight>
            </a:endParaRPr>
          </a:p>
          <a:p>
            <a:r>
              <a:rPr lang="en-IN" sz="2400" dirty="0">
                <a:highlight>
                  <a:srgbClr val="FFFF00"/>
                </a:highlight>
              </a:rPr>
              <a:t>The code for accessing and manipulating the shared memory be written </a:t>
            </a:r>
          </a:p>
          <a:p>
            <a:pPr lvl="1"/>
            <a:r>
              <a:rPr lang="en-IN" sz="2000" dirty="0">
                <a:highlight>
                  <a:srgbClr val="FFFF00"/>
                </a:highlight>
              </a:rPr>
              <a:t>explicitly by the application programmer.</a:t>
            </a:r>
            <a:endParaRPr lang="en-US" altLang="en-US" sz="2000" dirty="0">
              <a:highlight>
                <a:srgbClr val="FFFF00"/>
              </a:highlight>
            </a:endParaRPr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1593-8B62-49CF-9684-4AB2AC0BF06A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3105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95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Interprocess Communication –  Shared Memory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1233488"/>
            <a:ext cx="6621463" cy="47157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highlight>
                  <a:srgbClr val="FFFF00"/>
                </a:highlight>
              </a:rPr>
              <a:t>Major issues is to provide mechanism that will allow the user processes to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highlight>
                  <a:srgbClr val="FFFF00"/>
                </a:highlight>
              </a:rPr>
              <a:t>synchronize their actions when they access shared memory. 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1593-8B62-49CF-9684-4AB2AC0BF06A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1782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18658"/>
          </a:xfrm>
        </p:spPr>
        <p:txBody>
          <a:bodyPr>
            <a:normAutofit/>
          </a:bodyPr>
          <a:lstStyle/>
          <a:p>
            <a:r>
              <a:rPr lang="en-US" altLang="en-US" dirty="0" err="1"/>
              <a:t>Interprocess</a:t>
            </a:r>
            <a:r>
              <a:rPr lang="en-US" altLang="en-US" dirty="0"/>
              <a:t> Communication – Message Passing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EAD4A-29D3-4F69-8AAC-C93B05492D82}" type="datetime1">
              <a:rPr lang="en-IN" smtClean="0"/>
              <a:t>26-04-2025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83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1270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 dirty="0" err="1"/>
              <a:t>Interprocess</a:t>
            </a:r>
            <a:r>
              <a:rPr lang="en-US" altLang="en-US" sz="2500" dirty="0"/>
              <a:t> Communication – Message Passing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934200" cy="4530725"/>
          </a:xfrm>
        </p:spPr>
        <p:txBody>
          <a:bodyPr>
            <a:normAutofit/>
          </a:bodyPr>
          <a:lstStyle/>
          <a:p>
            <a:r>
              <a:rPr lang="en-IN" sz="2800" dirty="0"/>
              <a:t>Another means for cooperating processes to communicate with each other </a:t>
            </a:r>
          </a:p>
          <a:p>
            <a:pPr lvl="1"/>
            <a:r>
              <a:rPr lang="en-IN" sz="2400" b="1" dirty="0"/>
              <a:t>via a message-passing facility.</a:t>
            </a:r>
          </a:p>
          <a:p>
            <a:endParaRPr lang="en-US" altLang="en-US" sz="2800" b="1" dirty="0"/>
          </a:p>
          <a:p>
            <a:pPr>
              <a:lnSpc>
                <a:spcPct val="90000"/>
              </a:lnSpc>
            </a:pPr>
            <a:endParaRPr lang="en-US" altLang="en-US" sz="700" dirty="0"/>
          </a:p>
          <a:p>
            <a:pPr>
              <a:lnSpc>
                <a:spcPct val="90000"/>
              </a:lnSpc>
            </a:pPr>
            <a:r>
              <a:rPr lang="en-US" altLang="en-US" sz="2800" dirty="0">
                <a:highlight>
                  <a:srgbClr val="FFFF00"/>
                </a:highlight>
              </a:rPr>
              <a:t>Processes communicate with each other 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dirty="0">
                <a:highlight>
                  <a:srgbClr val="FFFF00"/>
                </a:highlight>
              </a:rPr>
              <a:t>without resorting to shared variables or shared address space</a:t>
            </a:r>
          </a:p>
          <a:p>
            <a:pPr>
              <a:lnSpc>
                <a:spcPct val="90000"/>
              </a:lnSpc>
            </a:pPr>
            <a:endParaRPr lang="en-US" altLang="en-US" sz="600" b="1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6A8B-3014-404F-B534-C6A704C10646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5450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1270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 dirty="0" err="1"/>
              <a:t>Interprocess</a:t>
            </a:r>
            <a:r>
              <a:rPr lang="en-US" altLang="en-US" sz="2500" dirty="0"/>
              <a:t> Communication – Message Passing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934200" cy="4530725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Mechanism needed for processes </a:t>
            </a:r>
          </a:p>
          <a:p>
            <a:pPr lvl="1"/>
            <a:r>
              <a:rPr lang="en-US" altLang="en-US" sz="2400" dirty="0">
                <a:highlight>
                  <a:srgbClr val="FFFF00"/>
                </a:highlight>
              </a:rPr>
              <a:t>to communicate and </a:t>
            </a:r>
          </a:p>
          <a:p>
            <a:pPr lvl="1"/>
            <a:r>
              <a:rPr lang="en-US" altLang="en-US" sz="2400" dirty="0">
                <a:highlight>
                  <a:srgbClr val="FFFF00"/>
                </a:highlight>
              </a:rPr>
              <a:t>to synchronize their actions</a:t>
            </a:r>
          </a:p>
          <a:p>
            <a:pPr>
              <a:lnSpc>
                <a:spcPct val="90000"/>
              </a:lnSpc>
            </a:pPr>
            <a:endParaRPr lang="en-US" altLang="en-US" sz="700" dirty="0"/>
          </a:p>
          <a:p>
            <a:pPr>
              <a:lnSpc>
                <a:spcPct val="90000"/>
              </a:lnSpc>
            </a:pPr>
            <a:endParaRPr lang="en-US" altLang="en-US" sz="700" dirty="0"/>
          </a:p>
          <a:p>
            <a:pPr>
              <a:lnSpc>
                <a:spcPct val="90000"/>
              </a:lnSpc>
            </a:pPr>
            <a:endParaRPr lang="en-US" altLang="en-US" sz="600" b="1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6A8B-3014-404F-B534-C6A704C10646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34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2134080" y="2259360"/>
              <a:ext cx="687960" cy="3931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4720" y="2250000"/>
                <a:ext cx="706680" cy="41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84770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1270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Interprocess Communication – Message Passing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934200" cy="4530725"/>
          </a:xfrm>
        </p:spPr>
        <p:txBody>
          <a:bodyPr>
            <a:normAutofit/>
          </a:bodyPr>
          <a:lstStyle/>
          <a:p>
            <a:r>
              <a:rPr lang="en-IN" sz="2400" dirty="0"/>
              <a:t>Why?</a:t>
            </a: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2F27D-7C61-4CE1-95F3-B51C2A6EE7B1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4569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1270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Interprocess Communication – Message Passing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934200" cy="4530725"/>
          </a:xfrm>
        </p:spPr>
        <p:txBody>
          <a:bodyPr>
            <a:normAutofit/>
          </a:bodyPr>
          <a:lstStyle/>
          <a:p>
            <a:r>
              <a:rPr lang="en-IN" sz="2400" dirty="0">
                <a:highlight>
                  <a:srgbClr val="FFFF00"/>
                </a:highlight>
              </a:rPr>
              <a:t>Particularly useful in a distributed environment, 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where the communicating processes may reside on different computers 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connected by a network. </a:t>
            </a:r>
          </a:p>
          <a:p>
            <a:endParaRPr lang="en-IN" sz="2400" dirty="0"/>
          </a:p>
          <a:p>
            <a:r>
              <a:rPr lang="en-IN" sz="2400" dirty="0">
                <a:highlight>
                  <a:srgbClr val="FFFF00"/>
                </a:highlight>
              </a:rPr>
              <a:t>For example, a </a:t>
            </a:r>
            <a:r>
              <a:rPr lang="en-IN" sz="2400" b="1" dirty="0">
                <a:highlight>
                  <a:srgbClr val="FFFF00"/>
                </a:highlight>
              </a:rPr>
              <a:t>chat </a:t>
            </a:r>
            <a:r>
              <a:rPr lang="en-IN" sz="2400" dirty="0">
                <a:highlight>
                  <a:srgbClr val="FFFF00"/>
                </a:highlight>
              </a:rPr>
              <a:t>program used on the World Wide Web could be designed so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that chat participants communicate with one another by exchanging messages.</a:t>
            </a:r>
            <a:endParaRPr lang="en-US" altLang="en-US" sz="2400" dirty="0">
              <a:highlight>
                <a:srgbClr val="FFFF00"/>
              </a:highlight>
            </a:endParaRPr>
          </a:p>
          <a:p>
            <a:pPr>
              <a:lnSpc>
                <a:spcPct val="90000"/>
              </a:lnSpc>
            </a:pPr>
            <a:endParaRPr lang="en-US" altLang="en-US" sz="24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2F27D-7C61-4CE1-95F3-B51C2A6EE7B1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36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3170160" y="1652040"/>
              <a:ext cx="3411360" cy="20808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60800" y="1642680"/>
                <a:ext cx="3430080" cy="209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20696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1270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Interprocess Communication – Message Passing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934200" cy="453072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dirty="0">
                <a:highlight>
                  <a:srgbClr val="FFFF00"/>
                </a:highlight>
              </a:rPr>
              <a:t>(</a:t>
            </a:r>
            <a:r>
              <a:rPr lang="en-US" altLang="en-US" i="1" dirty="0">
                <a:highlight>
                  <a:srgbClr val="FFFF00"/>
                </a:highlight>
              </a:rPr>
              <a:t>message</a:t>
            </a:r>
            <a:r>
              <a:rPr lang="en-US" altLang="en-US" dirty="0">
                <a:highlight>
                  <a:srgbClr val="FFFF00"/>
                </a:highlight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dirty="0">
                <a:highlight>
                  <a:srgbClr val="FFFF00"/>
                </a:highlight>
              </a:rPr>
              <a:t>(</a:t>
            </a:r>
            <a:r>
              <a:rPr lang="en-US" altLang="en-US" i="1" dirty="0">
                <a:highlight>
                  <a:srgbClr val="FFFF00"/>
                </a:highlight>
              </a:rPr>
              <a:t>message</a:t>
            </a:r>
            <a:r>
              <a:rPr lang="en-US" altLang="en-US" dirty="0">
                <a:highlight>
                  <a:srgbClr val="FFFF00"/>
                </a:highlight>
              </a:rPr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highlight>
                <a:srgbClr val="FFFF00"/>
              </a:highlight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highlight>
                  <a:srgbClr val="FFFF00"/>
                </a:highlight>
              </a:rPr>
              <a:t>The</a:t>
            </a:r>
            <a:r>
              <a:rPr lang="en-US" altLang="en-US" i="1" dirty="0">
                <a:highlight>
                  <a:srgbClr val="FFFF00"/>
                </a:highlight>
              </a:rPr>
              <a:t> message</a:t>
            </a:r>
            <a:r>
              <a:rPr lang="en-US" altLang="en-US" dirty="0">
                <a:highlight>
                  <a:srgbClr val="FFFF00"/>
                </a:highlight>
              </a:rPr>
              <a:t> size is either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highlight>
                  <a:srgbClr val="FFFF00"/>
                </a:highlight>
              </a:rPr>
              <a:t>fixed or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highlight>
                  <a:srgbClr val="FFFF00"/>
                </a:highlight>
              </a:rPr>
              <a:t>variable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C6DA-D1D8-4924-BDB5-205AE6AFE48A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37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616320" y="2205720"/>
              <a:ext cx="1303920" cy="20541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6960" y="2196360"/>
                <a:ext cx="1322640" cy="207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2735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1270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Interprocess Communication – Message Passing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4" y="1201738"/>
            <a:ext cx="7790631" cy="4530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altLang="en-US" sz="800" dirty="0"/>
          </a:p>
          <a:p>
            <a:r>
              <a:rPr lang="en-IN" sz="2400" dirty="0"/>
              <a:t>If only fixed-sized messages can be sent, </a:t>
            </a:r>
          </a:p>
          <a:p>
            <a:pPr lvl="1"/>
            <a:r>
              <a:rPr lang="en-IN" sz="2400" dirty="0"/>
              <a:t>the system-level </a:t>
            </a:r>
            <a:r>
              <a:rPr lang="en-IN" sz="2400" b="1" dirty="0">
                <a:highlight>
                  <a:srgbClr val="FFFF00"/>
                </a:highlight>
              </a:rPr>
              <a:t>implementation is straightforward.</a:t>
            </a:r>
            <a:endParaRPr lang="en-US" altLang="en-US" sz="2400" b="1" dirty="0">
              <a:highlight>
                <a:srgbClr val="FFFF00"/>
              </a:highlight>
            </a:endParaRPr>
          </a:p>
          <a:p>
            <a:pPr lvl="1">
              <a:lnSpc>
                <a:spcPct val="90000"/>
              </a:lnSpc>
            </a:pPr>
            <a:r>
              <a:rPr lang="en-IN" sz="2400" dirty="0">
                <a:highlight>
                  <a:srgbClr val="FFFF00"/>
                </a:highlight>
              </a:rPr>
              <a:t>the task of programming more difficult</a:t>
            </a:r>
            <a:r>
              <a:rPr lang="en-IN" sz="2400" dirty="0"/>
              <a:t>. </a:t>
            </a:r>
          </a:p>
          <a:p>
            <a:pPr>
              <a:lnSpc>
                <a:spcPct val="90000"/>
              </a:lnSpc>
            </a:pPr>
            <a:endParaRPr lang="en-IN" sz="2400" dirty="0"/>
          </a:p>
          <a:p>
            <a:pPr>
              <a:lnSpc>
                <a:spcPct val="90000"/>
              </a:lnSpc>
            </a:pPr>
            <a:r>
              <a:rPr lang="en-IN" sz="2400" dirty="0"/>
              <a:t>Conversely, variable-sized messages require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a more </a:t>
            </a:r>
            <a:r>
              <a:rPr lang="en-IN" sz="2400" b="1" dirty="0">
                <a:highlight>
                  <a:srgbClr val="FFFF00"/>
                </a:highlight>
              </a:rPr>
              <a:t>complex system-level implementation, 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but the programming task becomes simpler.</a:t>
            </a:r>
            <a:endParaRPr lang="en-US" altLang="en-US" sz="2400" dirty="0">
              <a:highlight>
                <a:srgbClr val="FFFF00"/>
              </a:highlight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86F3A-9529-4703-A27D-AD3DC4C63F82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7539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96950" y="1079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Message Passing (Cont.)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016000"/>
            <a:ext cx="7694613" cy="4530725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endParaRPr lang="en-US" altLang="en-US" sz="800" dirty="0">
              <a:highlight>
                <a:srgbClr val="FFFF00"/>
              </a:highlight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>
                <a:highlight>
                  <a:srgbClr val="FFFF00"/>
                </a:highlight>
              </a:rPr>
              <a:t>If processes </a:t>
            </a:r>
            <a:r>
              <a:rPr lang="en-US" altLang="en-US" sz="2400" i="1" dirty="0">
                <a:highlight>
                  <a:srgbClr val="FFFF00"/>
                </a:highlight>
              </a:rPr>
              <a:t>P</a:t>
            </a:r>
            <a:r>
              <a:rPr lang="en-US" altLang="en-US" sz="2400" dirty="0">
                <a:highlight>
                  <a:srgbClr val="FFFF00"/>
                </a:highlight>
              </a:rPr>
              <a:t> and </a:t>
            </a:r>
            <a:r>
              <a:rPr lang="en-US" altLang="en-US" sz="2400" i="1" dirty="0">
                <a:highlight>
                  <a:srgbClr val="FFFF00"/>
                </a:highlight>
              </a:rPr>
              <a:t>Q</a:t>
            </a:r>
            <a:r>
              <a:rPr lang="en-US" altLang="en-US" sz="2400" dirty="0">
                <a:highlight>
                  <a:srgbClr val="FFFF00"/>
                </a:highlight>
              </a:rPr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highlight>
                  <a:srgbClr val="FFFF00"/>
                </a:highlight>
              </a:rPr>
              <a:t>Establish a </a:t>
            </a:r>
            <a:r>
              <a:rPr lang="en-US" altLang="en-US" sz="2400" b="1" i="1" dirty="0">
                <a:highlight>
                  <a:srgbClr val="FFFF00"/>
                </a:highlight>
              </a:rPr>
              <a:t>communication</a:t>
            </a:r>
            <a:r>
              <a:rPr lang="en-US" altLang="en-US" sz="2400" b="1" dirty="0">
                <a:highlight>
                  <a:srgbClr val="FFFF00"/>
                </a:highlight>
              </a:rPr>
              <a:t> </a:t>
            </a:r>
            <a:r>
              <a:rPr lang="en-US" altLang="en-US" sz="2400" b="1" i="1" dirty="0">
                <a:highlight>
                  <a:srgbClr val="FFFF00"/>
                </a:highlight>
              </a:rPr>
              <a:t>link</a:t>
            </a:r>
            <a:r>
              <a:rPr lang="en-US" altLang="en-US" sz="2400" b="1" dirty="0">
                <a:highlight>
                  <a:srgbClr val="FFFF00"/>
                </a:highlight>
              </a:rPr>
              <a:t> </a:t>
            </a:r>
            <a:r>
              <a:rPr lang="en-US" altLang="en-US" sz="2400" dirty="0">
                <a:highlight>
                  <a:srgbClr val="FFFF00"/>
                </a:highlight>
              </a:rPr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highlight>
                  <a:srgbClr val="FFFF00"/>
                </a:highlight>
              </a:rPr>
              <a:t>Exchange messages via send/receive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D5291-04D1-4BB7-BE28-C1D99A1C5FF7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8567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96950" y="1079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Message Passing (Cont.)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016000"/>
            <a:ext cx="7694613" cy="453072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Implementation issues:</a:t>
            </a:r>
          </a:p>
          <a:p>
            <a:pPr lvl="1"/>
            <a:r>
              <a:rPr lang="en-US" altLang="en-US" dirty="0"/>
              <a:t>How are links established?</a:t>
            </a:r>
          </a:p>
          <a:p>
            <a:pPr lvl="1"/>
            <a:r>
              <a:rPr lang="en-US" altLang="en-US" dirty="0"/>
              <a:t>Can a link be associated with more than two processes?</a:t>
            </a:r>
          </a:p>
          <a:p>
            <a:pPr lvl="1"/>
            <a:r>
              <a:rPr lang="en-US" altLang="en-US" dirty="0"/>
              <a:t>How many links can there be between every pair of communicating processes?</a:t>
            </a:r>
          </a:p>
          <a:p>
            <a:pPr lvl="1"/>
            <a:r>
              <a:rPr lang="en-US" altLang="en-US" dirty="0"/>
              <a:t>What is the capacity of a link?</a:t>
            </a:r>
          </a:p>
          <a:p>
            <a:pPr lvl="1"/>
            <a:r>
              <a:rPr lang="en-US" altLang="en-US" dirty="0"/>
              <a:t>Is the size of a message that the link can accommodate fixed or variable?</a:t>
            </a:r>
          </a:p>
          <a:p>
            <a:pPr lvl="1"/>
            <a:r>
              <a:rPr lang="en-US" altLang="en-US" dirty="0"/>
              <a:t>Is a link unidirectional or bi-directional?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6473-7518-4807-8C70-4F9A05CEC616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3898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96950" y="1079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Message Passing (Cont.)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016000"/>
            <a:ext cx="7694613" cy="453072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endParaRPr lang="en-US" altLang="en-US" sz="800" dirty="0">
              <a:highlight>
                <a:srgbClr val="FFFF00"/>
              </a:highlight>
            </a:endParaRPr>
          </a:p>
          <a:p>
            <a:pPr>
              <a:lnSpc>
                <a:spcPct val="90000"/>
              </a:lnSpc>
            </a:pPr>
            <a:r>
              <a:rPr lang="en-US" altLang="en-US" sz="2800" dirty="0">
                <a:highlight>
                  <a:srgbClr val="FFFF00"/>
                </a:highlight>
              </a:rPr>
              <a:t>Implementation issues: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A link has some capacity that determines the number of messages that can reside in it temporarily 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for which every link has a queue associated with it</a:t>
            </a:r>
            <a:endParaRPr lang="en-US" altLang="en-US" sz="2400" dirty="0">
              <a:highlight>
                <a:srgbClr val="FFFF00"/>
              </a:highlight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800" dirty="0">
              <a:highlight>
                <a:srgbClr val="FFFF00"/>
              </a:highlight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76473-7518-4807-8C70-4F9A05CEC616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6439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933450" y="12382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Message Passing (Cont.)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785813"/>
            <a:ext cx="7694613" cy="453072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Implementation of communication link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highlight>
                  <a:srgbClr val="FFFF00"/>
                </a:highlight>
              </a:rPr>
              <a:t>Physical: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highlight>
                  <a:srgbClr val="FFFF00"/>
                </a:highlight>
              </a:rPr>
              <a:t>Shared memory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highlight>
                  <a:srgbClr val="FFFF00"/>
                </a:highlight>
              </a:rPr>
              <a:t>Hardware bus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highlight>
                  <a:srgbClr val="FFFF00"/>
                </a:highlight>
              </a:rPr>
              <a:t>Network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highlight>
                  <a:srgbClr val="FFFF00"/>
                </a:highlight>
              </a:rPr>
              <a:t>Logical: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highlight>
                  <a:srgbClr val="FFFF00"/>
                </a:highlight>
              </a:rPr>
              <a:t> Direct or indirect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highlight>
                  <a:srgbClr val="FFFF00"/>
                </a:highlight>
              </a:rPr>
              <a:t> Synchronous or asynchronous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highlight>
                  <a:srgbClr val="FFFF00"/>
                </a:highlight>
              </a:rPr>
              <a:t> Automatic or explicit buffering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85746-D569-48E3-A7F9-290A975DAD3C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8760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138238"/>
            <a:ext cx="7635875" cy="453072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2400" dirty="0"/>
              <a:t>Processes that want to communicate must have a way to refer to each other.</a:t>
            </a:r>
          </a:p>
          <a:p>
            <a:r>
              <a:rPr lang="en-IN" sz="2400" dirty="0"/>
              <a:t>They can use either </a:t>
            </a:r>
          </a:p>
          <a:p>
            <a:pPr lvl="1"/>
            <a:r>
              <a:rPr lang="en-IN" sz="2400" dirty="0"/>
              <a:t>direct or </a:t>
            </a:r>
          </a:p>
          <a:p>
            <a:pPr lvl="1"/>
            <a:r>
              <a:rPr lang="en-IN" sz="2400" dirty="0"/>
              <a:t>indirect communication.</a:t>
            </a:r>
            <a:endParaRPr lang="en-US" altLang="en-US" sz="24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914400" y="411956"/>
            <a:ext cx="8229600" cy="576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500"/>
              <a:t>Message Passing (Cont.)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3012-901C-4696-9327-2A224F38544A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4875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78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Direct Communication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138238"/>
            <a:ext cx="7635875" cy="4530725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highlight>
                  <a:srgbClr val="FFFF00"/>
                </a:highlight>
              </a:rPr>
              <a:t>Processes must name each other explicitly:</a:t>
            </a:r>
          </a:p>
          <a:p>
            <a:pPr lvl="1"/>
            <a:r>
              <a:rPr lang="en-US" altLang="en-US" sz="2400" b="1" u="sng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sz="2400" b="1" u="sng" dirty="0">
                <a:highlight>
                  <a:srgbClr val="FFFF00"/>
                </a:highlight>
              </a:rPr>
              <a:t> (</a:t>
            </a:r>
            <a:r>
              <a:rPr lang="en-US" altLang="en-US" sz="2400" b="1" i="1" u="sng" dirty="0">
                <a:highlight>
                  <a:srgbClr val="FFFF00"/>
                </a:highlight>
              </a:rPr>
              <a:t>P, message</a:t>
            </a:r>
            <a:r>
              <a:rPr lang="en-US" altLang="en-US" sz="2400" b="1" u="sng" dirty="0">
                <a:highlight>
                  <a:srgbClr val="FFFF00"/>
                </a:highlight>
              </a:rPr>
              <a:t>) – send a message to process P</a:t>
            </a:r>
          </a:p>
          <a:p>
            <a:pPr lvl="1"/>
            <a:r>
              <a:rPr lang="en-US" altLang="en-US" sz="2400" b="1" u="sng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sz="2400" u="sng" dirty="0">
                <a:highlight>
                  <a:srgbClr val="FFFF00"/>
                </a:highlight>
              </a:rPr>
              <a:t>(</a:t>
            </a:r>
            <a:r>
              <a:rPr lang="en-US" altLang="en-US" sz="2400" i="1" u="sng" dirty="0">
                <a:highlight>
                  <a:srgbClr val="FFFF00"/>
                </a:highlight>
              </a:rPr>
              <a:t>Q, message</a:t>
            </a:r>
            <a:r>
              <a:rPr lang="en-US" altLang="en-US" sz="2400" u="sng" dirty="0">
                <a:highlight>
                  <a:srgbClr val="FFFF00"/>
                </a:highlight>
              </a:rPr>
              <a:t>) – receive a message from process Q</a:t>
            </a:r>
          </a:p>
        </p:txBody>
      </p:sp>
      <p:pic>
        <p:nvPicPr>
          <p:cNvPr id="7170" name="Picture 2" descr="https://media.geeksforgeeks.org/wp-content/uploads/2-5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7" y="3140968"/>
            <a:ext cx="6552728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6F75-DB15-439D-BF67-48B4A570DD43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7186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138238"/>
            <a:ext cx="7635875" cy="45307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dirty="0">
                <a:highlight>
                  <a:srgbClr val="FFFF00"/>
                </a:highlight>
              </a:rPr>
              <a:t>Properties of communication link</a:t>
            </a:r>
          </a:p>
          <a:p>
            <a:r>
              <a:rPr lang="en-US" altLang="en-US" sz="2400" dirty="0">
                <a:highlight>
                  <a:srgbClr val="FFFF00"/>
                </a:highlight>
              </a:rPr>
              <a:t>Links are established automatically </a:t>
            </a:r>
            <a:r>
              <a:rPr lang="en-IN" sz="2400" dirty="0">
                <a:highlight>
                  <a:srgbClr val="FFFF00"/>
                </a:highlight>
              </a:rPr>
              <a:t>between every pair of processes that want to communicate. 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The processes need to know </a:t>
            </a:r>
            <a:r>
              <a:rPr lang="en-IN" sz="2400" b="1" dirty="0">
                <a:highlight>
                  <a:srgbClr val="FFFF00"/>
                </a:highlight>
              </a:rPr>
              <a:t>only each other's identity to communicate.</a:t>
            </a:r>
            <a:endParaRPr lang="en-US" altLang="en-US" sz="2400" b="1" dirty="0">
              <a:highlight>
                <a:srgbClr val="FFFF00"/>
              </a:highlight>
            </a:endParaRPr>
          </a:p>
          <a:p>
            <a:pPr lvl="1"/>
            <a:r>
              <a:rPr lang="en-US" altLang="en-US" sz="2400" dirty="0">
                <a:highlight>
                  <a:srgbClr val="FFFF00"/>
                </a:highlight>
              </a:rPr>
              <a:t>A link is associated with </a:t>
            </a:r>
            <a:r>
              <a:rPr lang="en-US" altLang="en-US" sz="2400" b="1" dirty="0">
                <a:highlight>
                  <a:srgbClr val="FFFF00"/>
                </a:highlight>
              </a:rPr>
              <a:t>exactly one pair of communicating processes</a:t>
            </a:r>
          </a:p>
          <a:p>
            <a:pPr lvl="1"/>
            <a:r>
              <a:rPr lang="en-US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Between each pair there exists exactly one link</a:t>
            </a:r>
          </a:p>
          <a:p>
            <a:pPr lvl="1"/>
            <a:r>
              <a:rPr lang="en-US" altLang="en-US" sz="2400" dirty="0">
                <a:highlight>
                  <a:srgbClr val="FFFF00"/>
                </a:highlight>
              </a:rPr>
              <a:t>The link may be unidirectional, but is </a:t>
            </a:r>
            <a:r>
              <a:rPr lang="en-US" altLang="en-US" sz="2400" b="1" dirty="0">
                <a:highlight>
                  <a:srgbClr val="FFFF00"/>
                </a:highlight>
              </a:rPr>
              <a:t>usually bi-directional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78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Direct Communication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34394-F5DF-44C0-A590-8B68A0118BB7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1992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600" dirty="0">
                <a:highlight>
                  <a:srgbClr val="FFFF00"/>
                </a:highlight>
              </a:rPr>
              <a:t>This scheme </a:t>
            </a:r>
            <a:r>
              <a:rPr lang="en-IN" sz="2600" b="1" dirty="0">
                <a:highlight>
                  <a:srgbClr val="FFFF00"/>
                </a:highlight>
              </a:rPr>
              <a:t>exhibits symmetry in addressing</a:t>
            </a:r>
            <a:r>
              <a:rPr lang="en-IN" sz="2600" dirty="0">
                <a:highlight>
                  <a:srgbClr val="FFFF00"/>
                </a:highlight>
              </a:rPr>
              <a:t>; that is, </a:t>
            </a:r>
          </a:p>
          <a:p>
            <a:pPr lvl="1"/>
            <a:r>
              <a:rPr lang="en-IN" sz="2600" dirty="0">
                <a:highlight>
                  <a:srgbClr val="FFFF00"/>
                </a:highlight>
              </a:rPr>
              <a:t>both the sender process and the receiver process </a:t>
            </a:r>
            <a:r>
              <a:rPr lang="en-IN" sz="2600" b="1" dirty="0">
                <a:highlight>
                  <a:srgbClr val="FFFF00"/>
                </a:highlight>
              </a:rPr>
              <a:t>must name the other to communicate.</a:t>
            </a:r>
          </a:p>
          <a:p>
            <a:endParaRPr lang="en-IN" sz="2600" b="1" dirty="0">
              <a:highlight>
                <a:srgbClr val="FFFF00"/>
              </a:highlight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78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Direct Communication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A13D4-92A8-4D58-8283-998B11EEE295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1617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600" dirty="0"/>
              <a:t>A variant of this scheme employs </a:t>
            </a:r>
            <a:r>
              <a:rPr lang="en-IN" sz="2600" i="1" dirty="0"/>
              <a:t>asymmetry </a:t>
            </a:r>
            <a:r>
              <a:rPr lang="en-IN" sz="2600" dirty="0"/>
              <a:t>in addressing. </a:t>
            </a:r>
          </a:p>
          <a:p>
            <a:pPr lvl="1"/>
            <a:r>
              <a:rPr lang="en-IN" sz="2600" dirty="0">
                <a:highlight>
                  <a:srgbClr val="FFFF00"/>
                </a:highlight>
              </a:rPr>
              <a:t>Only the sender names the recipient; </a:t>
            </a:r>
          </a:p>
          <a:p>
            <a:pPr lvl="1"/>
            <a:r>
              <a:rPr lang="en-IN" sz="2600" dirty="0">
                <a:highlight>
                  <a:srgbClr val="FFFF00"/>
                </a:highlight>
              </a:rPr>
              <a:t>the recipient is not required to name the sender</a:t>
            </a:r>
            <a:r>
              <a:rPr lang="en-IN" sz="2600" dirty="0"/>
              <a:t>. 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78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Direct Communication- A variant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AFB48-11F0-4C4E-95B3-E8B86C06E352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47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1509120" y="2884320"/>
              <a:ext cx="5009760" cy="83088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9760" y="2874960"/>
                <a:ext cx="5028480" cy="84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03735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variant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In this scheme, the send() and receive() primitives are defined as follows:</a:t>
            </a:r>
          </a:p>
          <a:p>
            <a:pPr lvl="1"/>
            <a:r>
              <a:rPr lang="en-IN" sz="2400" b="1" dirty="0">
                <a:highlight>
                  <a:srgbClr val="FFFF00"/>
                </a:highlight>
              </a:rPr>
              <a:t>send(P, message) -Send a message to process P.</a:t>
            </a:r>
          </a:p>
          <a:p>
            <a:pPr lvl="1"/>
            <a:r>
              <a:rPr lang="en-IN" sz="2400" b="1" dirty="0">
                <a:highlight>
                  <a:srgbClr val="FFFF00"/>
                </a:highlight>
              </a:rPr>
              <a:t>receive (id, message) -Receive a message from any process; 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the variable </a:t>
            </a:r>
            <a:r>
              <a:rPr lang="en-IN" sz="2400" i="1" dirty="0">
                <a:highlight>
                  <a:srgbClr val="FFFF00"/>
                </a:highlight>
              </a:rPr>
              <a:t>id </a:t>
            </a:r>
            <a:r>
              <a:rPr lang="en-IN" sz="2400" dirty="0">
                <a:highlight>
                  <a:srgbClr val="FFFF00"/>
                </a:highlight>
              </a:rPr>
              <a:t>is set to the name of the process with which communication has taken place.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EA198-390D-46FB-B713-2DED430EFB21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48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1821420" y="4077072"/>
              <a:ext cx="5501160" cy="116280"/>
            </p14:xfrm>
          </p:contentPart>
        </mc:Choice>
        <mc:Fallback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2060" y="4067712"/>
                <a:ext cx="5519880" cy="13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74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964488" cy="418058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Disadvantage in symmetric and asymmetric schemes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IN" sz="2400" dirty="0">
                <a:highlight>
                  <a:srgbClr val="FFFF00"/>
                </a:highlight>
              </a:rPr>
              <a:t>Limited modularity of the resulting process definitions. </a:t>
            </a:r>
          </a:p>
          <a:p>
            <a:endParaRPr lang="en-IN" sz="2400" dirty="0">
              <a:highlight>
                <a:srgbClr val="FFFF00"/>
              </a:highlight>
            </a:endParaRPr>
          </a:p>
          <a:p>
            <a:r>
              <a:rPr lang="en-IN" sz="2400" dirty="0">
                <a:highlight>
                  <a:srgbClr val="FFFF00"/>
                </a:highlight>
              </a:rPr>
              <a:t>Changing the identifier of a process may necessitate </a:t>
            </a:r>
            <a:r>
              <a:rPr lang="en-IN" sz="2400" b="1" u="sng" dirty="0">
                <a:highlight>
                  <a:srgbClr val="FFFF00"/>
                </a:highlight>
              </a:rPr>
              <a:t>examining all other process definitions.</a:t>
            </a:r>
          </a:p>
          <a:p>
            <a:endParaRPr lang="en-IN" sz="2400" b="1" u="sng" dirty="0">
              <a:highlight>
                <a:srgbClr val="FFFF00"/>
              </a:highlight>
            </a:endParaRPr>
          </a:p>
          <a:p>
            <a:r>
              <a:rPr lang="en-IN" sz="2400" dirty="0">
                <a:highlight>
                  <a:srgbClr val="FFFF00"/>
                </a:highlight>
              </a:rPr>
              <a:t>All references to the </a:t>
            </a:r>
            <a:r>
              <a:rPr lang="en-IN" sz="2400" b="1" u="sng" dirty="0">
                <a:highlight>
                  <a:srgbClr val="FFFF00"/>
                </a:highlight>
              </a:rPr>
              <a:t>old identifier must be found</a:t>
            </a:r>
            <a:r>
              <a:rPr lang="en-IN" sz="2400" dirty="0">
                <a:highlight>
                  <a:srgbClr val="FFFF00"/>
                </a:highlight>
              </a:rPr>
              <a:t>, so that they can be modified to the new identifier. </a:t>
            </a:r>
          </a:p>
          <a:p>
            <a:endParaRPr lang="en-IN" sz="2400" dirty="0">
              <a:highlight>
                <a:srgbClr val="FFFF00"/>
              </a:highlight>
            </a:endParaRPr>
          </a:p>
          <a:p>
            <a:r>
              <a:rPr lang="en-IN" sz="2400" dirty="0">
                <a:highlight>
                  <a:srgbClr val="FFFF00"/>
                </a:highlight>
              </a:rPr>
              <a:t>Any such </a:t>
            </a:r>
            <a:r>
              <a:rPr lang="en-IN" sz="2400" b="1" dirty="0">
                <a:highlight>
                  <a:srgbClr val="FFFF00"/>
                </a:highlight>
              </a:rPr>
              <a:t>hard-coding </a:t>
            </a:r>
            <a:r>
              <a:rPr lang="en-IN" sz="2400" dirty="0">
                <a:highlight>
                  <a:srgbClr val="FFFF00"/>
                </a:highlight>
              </a:rPr>
              <a:t>techniques, where identifiers must be explicitly stated, are </a:t>
            </a:r>
            <a:r>
              <a:rPr lang="en-IN" sz="2400" b="1" u="sng" dirty="0">
                <a:highlight>
                  <a:srgbClr val="FFFF00"/>
                </a:highlight>
              </a:rPr>
              <a:t>less desirable than techniques involving indirection.</a:t>
            </a:r>
          </a:p>
        </p:txBody>
      </p:sp>
      <p:sp>
        <p:nvSpPr>
          <p:cNvPr id="4" name="Curved Left Arrow 3"/>
          <p:cNvSpPr/>
          <p:nvPr/>
        </p:nvSpPr>
        <p:spPr>
          <a:xfrm>
            <a:off x="7380312" y="1988840"/>
            <a:ext cx="360040" cy="72008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Curved Left Arrow 4"/>
          <p:cNvSpPr/>
          <p:nvPr/>
        </p:nvSpPr>
        <p:spPr>
          <a:xfrm>
            <a:off x="7380312" y="2861320"/>
            <a:ext cx="360040" cy="72008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Curved Left Arrow 5"/>
          <p:cNvSpPr/>
          <p:nvPr/>
        </p:nvSpPr>
        <p:spPr>
          <a:xfrm>
            <a:off x="7486809" y="4005064"/>
            <a:ext cx="360040" cy="72008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C32C4-CAE8-431A-B7A2-0ADBA7B9C82C}" type="datetime1">
              <a:rPr lang="en-IN" smtClean="0"/>
              <a:t>26-04-2025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3784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1166813"/>
            <a:ext cx="7391400" cy="4159250"/>
          </a:xfrm>
        </p:spPr>
        <p:txBody>
          <a:bodyPr>
            <a:normAutofit/>
          </a:bodyPr>
          <a:lstStyle/>
          <a:p>
            <a:r>
              <a:rPr lang="en-US" altLang="en-US" dirty="0">
                <a:highlight>
                  <a:srgbClr val="FFFF00"/>
                </a:highlight>
              </a:rPr>
              <a:t>Messages are directed and received from mailboxes (also referred to as ports)</a:t>
            </a:r>
          </a:p>
          <a:p>
            <a:pPr lvl="1"/>
            <a:r>
              <a:rPr lang="en-US" altLang="en-US" dirty="0"/>
              <a:t>Each mailbox has a unique id</a:t>
            </a:r>
          </a:p>
          <a:p>
            <a:pPr lvl="1"/>
            <a:r>
              <a:rPr lang="en-US" altLang="en-US" dirty="0">
                <a:highlight>
                  <a:srgbClr val="FFFF00"/>
                </a:highlight>
              </a:rPr>
              <a:t>Processes can communicate only if they share a mailbox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91F1-DE04-45E2-967C-5FC955AB69A6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6522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1166813"/>
            <a:ext cx="7391400" cy="4159250"/>
          </a:xfrm>
        </p:spPr>
        <p:txBody>
          <a:bodyPr>
            <a:normAutofit/>
          </a:bodyPr>
          <a:lstStyle/>
          <a:p>
            <a:r>
              <a:rPr lang="en-IN" dirty="0"/>
              <a:t>A mailbox can be viewed abstractly as an </a:t>
            </a:r>
          </a:p>
          <a:p>
            <a:pPr lvl="1"/>
            <a:r>
              <a:rPr lang="en-IN" dirty="0"/>
              <a:t>object into which messages can be placed by processes and </a:t>
            </a:r>
          </a:p>
          <a:p>
            <a:pPr lvl="1"/>
            <a:r>
              <a:rPr lang="en-IN" dirty="0"/>
              <a:t>from which messages can be removed.</a:t>
            </a:r>
          </a:p>
          <a:p>
            <a:pPr lvl="1"/>
            <a:r>
              <a:rPr lang="en-IN" dirty="0"/>
              <a:t>Each </a:t>
            </a:r>
            <a:r>
              <a:rPr lang="en-IN" dirty="0">
                <a:highlight>
                  <a:srgbClr val="FFFF00"/>
                </a:highlight>
              </a:rPr>
              <a:t>mailbox</a:t>
            </a:r>
            <a:r>
              <a:rPr lang="en-IN" dirty="0"/>
              <a:t> has a </a:t>
            </a:r>
            <a:r>
              <a:rPr lang="en-IN" dirty="0">
                <a:highlight>
                  <a:srgbClr val="FFFF00"/>
                </a:highlight>
              </a:rPr>
              <a:t>unique identification</a:t>
            </a:r>
          </a:p>
        </p:txBody>
      </p:sp>
      <p:pic>
        <p:nvPicPr>
          <p:cNvPr id="2050" name="Picture 2" descr="Inter Process Communication In Operating System - Tutorialw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645024"/>
            <a:ext cx="5943600" cy="1943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8D51-EB16-4636-BBFD-F87DF1D36A32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1282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Indirect Communication-mailboxes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1166813"/>
            <a:ext cx="7391400" cy="1902147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IN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A process can communicate with some other process </a:t>
            </a:r>
            <a:r>
              <a:rPr lang="en-IN" sz="2400" b="1" u="sng" dirty="0">
                <a:solidFill>
                  <a:srgbClr val="FF0000"/>
                </a:solidFill>
                <a:highlight>
                  <a:srgbClr val="FFFF00"/>
                </a:highlight>
              </a:rPr>
              <a:t>via a number of different mailboxes.</a:t>
            </a:r>
          </a:p>
          <a:p>
            <a:endParaRPr lang="en-IN" sz="2400" b="1" u="sng" dirty="0">
              <a:highlight>
                <a:srgbClr val="FFFF00"/>
              </a:highlight>
            </a:endParaRPr>
          </a:p>
          <a:p>
            <a:r>
              <a:rPr lang="en-IN" sz="2400" dirty="0">
                <a:highlight>
                  <a:srgbClr val="FFFF00"/>
                </a:highlight>
              </a:rPr>
              <a:t>Two processes can communicate only if the processes have a shared mailbox,</a:t>
            </a:r>
          </a:p>
        </p:txBody>
      </p:sp>
      <p:pic>
        <p:nvPicPr>
          <p:cNvPr id="1026" name="Picture 2" descr="PPT - Interprocess Communication PowerPoint Presentation, free download -  ID:301036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8" t="20624" r="8660" b="34193"/>
          <a:stretch/>
        </p:blipFill>
        <p:spPr bwMode="auto">
          <a:xfrm>
            <a:off x="827584" y="3442290"/>
            <a:ext cx="7488832" cy="194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rved Right Arrow 1"/>
          <p:cNvSpPr/>
          <p:nvPr/>
        </p:nvSpPr>
        <p:spPr>
          <a:xfrm rot="406876">
            <a:off x="224279" y="1472139"/>
            <a:ext cx="720080" cy="462196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1EE36-DD90-46A1-84BF-F9E55368155B}" type="datetime1">
              <a:rPr lang="en-IN" smtClean="0"/>
              <a:t>26-04-2025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993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1166813"/>
            <a:ext cx="7391400" cy="415925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en-US" altLang="en-US" dirty="0"/>
              <a:t>Properties of communication link</a:t>
            </a:r>
          </a:p>
          <a:p>
            <a:pPr lvl="1"/>
            <a:r>
              <a:rPr lang="en-US" altLang="en-US" b="1" dirty="0">
                <a:highlight>
                  <a:srgbClr val="FFFF00"/>
                </a:highlight>
              </a:rPr>
              <a:t>Link established only if processes share a common mailbox</a:t>
            </a:r>
          </a:p>
          <a:p>
            <a:pPr lvl="1"/>
            <a:r>
              <a:rPr lang="en-US" altLang="en-US" dirty="0"/>
              <a:t>A link may be associated with many processes</a:t>
            </a:r>
          </a:p>
          <a:p>
            <a:pPr lvl="1"/>
            <a:r>
              <a:rPr lang="en-US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Between Each pair of communicating processes, there may be a number of different links with each link corresponding to one mailbox</a:t>
            </a:r>
          </a:p>
          <a:p>
            <a:pPr lvl="1"/>
            <a:r>
              <a:rPr lang="en-US" altLang="en-US" dirty="0"/>
              <a:t>Link may be unidirectional or bi-directional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CD26-51EE-4ED0-B976-39D4BFC25DB2}" type="datetime1">
              <a:rPr lang="en-IN" smtClean="0"/>
              <a:t>26-04-2025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1519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88265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135063"/>
            <a:ext cx="7806953" cy="3821112"/>
          </a:xfrm>
        </p:spPr>
        <p:txBody>
          <a:bodyPr>
            <a:normAutofit/>
          </a:bodyPr>
          <a:lstStyle/>
          <a:p>
            <a:r>
              <a:rPr lang="en-US" altLang="en-US" dirty="0"/>
              <a:t>Primitives are defined as: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</a:t>
            </a:r>
            <a:r>
              <a:rPr lang="en-US" altLang="en-US" sz="2800" b="1" dirty="0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sz="2800" dirty="0"/>
              <a:t>(</a:t>
            </a:r>
            <a:r>
              <a:rPr lang="en-US" altLang="en-US" sz="2800" i="1" dirty="0"/>
              <a:t>A, message</a:t>
            </a:r>
            <a:r>
              <a:rPr lang="en-US" altLang="en-US" sz="2800" dirty="0"/>
              <a:t>) – send a message to mailbox A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800" dirty="0"/>
              <a:t>	</a:t>
            </a:r>
            <a:r>
              <a:rPr lang="en-US" altLang="en-US" sz="2800" b="1" dirty="0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sz="2800" dirty="0"/>
              <a:t>(</a:t>
            </a:r>
            <a:r>
              <a:rPr lang="en-US" altLang="en-US" sz="2800" i="1" dirty="0"/>
              <a:t>A, message</a:t>
            </a:r>
            <a:r>
              <a:rPr lang="en-US" altLang="en-US" sz="2800" dirty="0"/>
              <a:t>) – receive a message from mailbox 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8BFB-2D56-4D75-9E1D-326EA25CF8A3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9653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76300" y="182563"/>
            <a:ext cx="7810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124744"/>
            <a:ext cx="8153846" cy="5398219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US" dirty="0"/>
              <a:t>Mailbox sharing</a:t>
            </a:r>
          </a:p>
          <a:p>
            <a:pPr lvl="1"/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</a:t>
            </a:r>
            <a:r>
              <a:rPr lang="en-US" altLang="en-US" dirty="0"/>
              <a:t> and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3</a:t>
            </a:r>
            <a:r>
              <a:rPr lang="en-US" altLang="en-US" dirty="0"/>
              <a:t> share mailbox A</a:t>
            </a:r>
          </a:p>
          <a:p>
            <a:pPr lvl="1"/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, sends message to A; </a:t>
            </a:r>
          </a:p>
          <a:p>
            <a:pPr lvl="1"/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 </a:t>
            </a:r>
            <a:r>
              <a:rPr lang="en-US" altLang="en-US" dirty="0"/>
              <a:t>and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3</a:t>
            </a:r>
            <a:r>
              <a:rPr lang="en-US" altLang="en-US" dirty="0"/>
              <a:t> execute receive from A</a:t>
            </a:r>
          </a:p>
          <a:p>
            <a:pPr lvl="1"/>
            <a:r>
              <a:rPr lang="en-US" altLang="en-US" dirty="0"/>
              <a:t>Who gets the message?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12A74-924C-41E9-86A6-65F997BAF2AA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103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76300" y="182563"/>
            <a:ext cx="7810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124744"/>
            <a:ext cx="8153846" cy="539821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en-US" dirty="0">
                <a:highlight>
                  <a:srgbClr val="FFFF00"/>
                </a:highlight>
              </a:rPr>
              <a:t>Solutions</a:t>
            </a:r>
          </a:p>
          <a:p>
            <a:r>
              <a:rPr lang="en-IN" dirty="0">
                <a:highlight>
                  <a:srgbClr val="FFFF00"/>
                </a:highlight>
              </a:rPr>
              <a:t>The answer depends on which of the following methods we choose:</a:t>
            </a:r>
            <a:endParaRPr lang="en-US" altLang="en-US" dirty="0">
              <a:highlight>
                <a:srgbClr val="FFFF00"/>
              </a:highlight>
            </a:endParaRPr>
          </a:p>
          <a:p>
            <a:pPr lvl="1"/>
            <a:r>
              <a:rPr lang="en-IN" dirty="0">
                <a:highlight>
                  <a:srgbClr val="FFFF00"/>
                </a:highlight>
              </a:rPr>
              <a:t>This can be solved by either </a:t>
            </a:r>
          </a:p>
          <a:p>
            <a:pPr lvl="1"/>
            <a:r>
              <a:rPr lang="en-IN" b="1" dirty="0">
                <a:highlight>
                  <a:srgbClr val="FFFF00"/>
                </a:highlight>
              </a:rPr>
              <a:t>Enforcing that only two processes can share a single mailbox</a:t>
            </a:r>
          </a:p>
          <a:p>
            <a:pPr marL="457200" lvl="1" indent="0" algn="ctr">
              <a:buNone/>
            </a:pPr>
            <a:r>
              <a:rPr lang="en-IN" altLang="en-US" b="1" dirty="0">
                <a:highlight>
                  <a:srgbClr val="FFFF00"/>
                </a:highlight>
              </a:rPr>
              <a:t>or</a:t>
            </a:r>
            <a:endParaRPr lang="en-US" altLang="en-US" b="1" dirty="0">
              <a:highlight>
                <a:srgbClr val="FFFF00"/>
              </a:highlight>
            </a:endParaRPr>
          </a:p>
          <a:p>
            <a:pPr lvl="1"/>
            <a:r>
              <a:rPr lang="en-US" altLang="en-US" b="1" dirty="0">
                <a:highlight>
                  <a:srgbClr val="FFFF00"/>
                </a:highlight>
              </a:rPr>
              <a:t>Allow only one process at a time to execute a receive operation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That is, either P2 or </a:t>
            </a:r>
            <a:r>
              <a:rPr lang="en-IN" i="1" dirty="0">
                <a:highlight>
                  <a:srgbClr val="FFFF00"/>
                </a:highlight>
              </a:rPr>
              <a:t>P3, </a:t>
            </a:r>
            <a:r>
              <a:rPr lang="en-IN" dirty="0">
                <a:highlight>
                  <a:srgbClr val="FFFF00"/>
                </a:highlight>
              </a:rPr>
              <a:t>but not both, will receive the message</a:t>
            </a:r>
          </a:p>
          <a:p>
            <a:pPr marL="457200" lvl="1" indent="0" algn="ctr">
              <a:buNone/>
            </a:pPr>
            <a:r>
              <a:rPr lang="en-IN" altLang="en-US" b="1" dirty="0">
                <a:highlight>
                  <a:srgbClr val="FFFF00"/>
                </a:highlight>
              </a:rPr>
              <a:t>or</a:t>
            </a:r>
            <a:endParaRPr lang="en-US" altLang="en-US" dirty="0">
              <a:highlight>
                <a:srgbClr val="FFFF00"/>
              </a:highlight>
            </a:endParaRPr>
          </a:p>
          <a:p>
            <a:pPr lvl="1"/>
            <a:r>
              <a:rPr lang="en-US" altLang="en-US" b="1" dirty="0">
                <a:highlight>
                  <a:srgbClr val="FFFF00"/>
                </a:highlight>
              </a:rPr>
              <a:t>Allow the system to select arbitrarily the receiver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The system also may define an algorithm for selecting which process will receive the message </a:t>
            </a:r>
          </a:p>
          <a:p>
            <a:pPr lvl="2"/>
            <a:r>
              <a:rPr lang="en-IN" sz="2800" dirty="0">
                <a:highlight>
                  <a:srgbClr val="FFFF00"/>
                </a:highlight>
              </a:rPr>
              <a:t>that is, </a:t>
            </a:r>
            <a:r>
              <a:rPr lang="en-IN" sz="2800" i="1" dirty="0">
                <a:highlight>
                  <a:srgbClr val="FFFF00"/>
                </a:highlight>
              </a:rPr>
              <a:t>round robin, </a:t>
            </a:r>
            <a:r>
              <a:rPr lang="en-IN" sz="2800" dirty="0">
                <a:highlight>
                  <a:srgbClr val="FFFF00"/>
                </a:highlight>
              </a:rPr>
              <a:t>where processes take turns receiving messages</a:t>
            </a:r>
          </a:p>
          <a:p>
            <a:pPr lvl="1"/>
            <a:r>
              <a:rPr lang="en-US" altLang="en-US" dirty="0">
                <a:highlight>
                  <a:srgbClr val="FFFF00"/>
                </a:highlight>
              </a:rPr>
              <a:t>Sender is notified about the receiver.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44098-A5A6-4504-8BA2-5C70D6758422}" type="datetime1">
              <a:rPr lang="en-IN" smtClean="0"/>
              <a:t>26-04-2025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4404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Who owns the Mailbox??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78750-6303-4448-B47D-8282ADDADEAB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3373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A mailbox may be owned either 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by a process or 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by the operating system.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3CF9-6A8A-47DC-A4B1-748A9AB6D3B8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7951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IN" dirty="0"/>
              <a:t>If the mailbox is owned by a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highlight>
                  <a:srgbClr val="FFFF00"/>
                </a:highlight>
              </a:rPr>
              <a:t>Mailbox is part of the address space of the process</a:t>
            </a:r>
          </a:p>
          <a:p>
            <a:endParaRPr lang="en-IN" sz="2400" dirty="0">
              <a:highlight>
                <a:srgbClr val="FFFF00"/>
              </a:highlight>
            </a:endParaRPr>
          </a:p>
          <a:p>
            <a:r>
              <a:rPr lang="en-IN" sz="2400" b="1" dirty="0">
                <a:highlight>
                  <a:srgbClr val="FFFF00"/>
                </a:highlight>
              </a:rPr>
              <a:t>The owner can only receive messages through this mailbox</a:t>
            </a:r>
          </a:p>
          <a:p>
            <a:endParaRPr lang="en-IN" sz="2400" dirty="0">
              <a:highlight>
                <a:srgbClr val="FFFF00"/>
              </a:highlight>
            </a:endParaRPr>
          </a:p>
          <a:p>
            <a:r>
              <a:rPr lang="en-IN" sz="2400" b="1" dirty="0">
                <a:highlight>
                  <a:srgbClr val="FFFF00"/>
                </a:highlight>
              </a:rPr>
              <a:t>The user can only send messages to the mailbox </a:t>
            </a:r>
          </a:p>
          <a:p>
            <a:endParaRPr lang="en-IN" sz="2400" b="1" dirty="0">
              <a:highlight>
                <a:srgbClr val="FFFF00"/>
              </a:highlight>
            </a:endParaRPr>
          </a:p>
          <a:p>
            <a:r>
              <a:rPr lang="en-IN" sz="2400" dirty="0">
                <a:highlight>
                  <a:srgbClr val="FFFF00"/>
                </a:highlight>
              </a:rPr>
              <a:t>Since each mailbox has a unique owner, 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there can be no confusion about which process should receive a message sent to this mailbox.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AADA1-19F0-4A52-A10B-6473442E6BCC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4764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What happens when the process that owns mailbox terminates??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78C75-583F-4FA8-B172-3750A6D89D59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7056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800" dirty="0"/>
              <a:t>What happens when the process that owns mailbox terminates??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highlight>
                  <a:srgbClr val="FFFF00"/>
                </a:highlight>
              </a:rPr>
              <a:t>When a process that owns a mailbox terminates, </a:t>
            </a:r>
          </a:p>
          <a:p>
            <a:pPr lvl="1"/>
            <a:r>
              <a:rPr lang="en-IN" sz="2400" b="1" dirty="0">
                <a:highlight>
                  <a:srgbClr val="FFFF00"/>
                </a:highlight>
              </a:rPr>
              <a:t>the mailbox disappears</a:t>
            </a:r>
          </a:p>
          <a:p>
            <a:endParaRPr lang="en-IN" sz="2400" dirty="0">
              <a:highlight>
                <a:srgbClr val="FFFF00"/>
              </a:highlight>
            </a:endParaRPr>
          </a:p>
          <a:p>
            <a:r>
              <a:rPr lang="en-IN" sz="2400" dirty="0">
                <a:highlight>
                  <a:srgbClr val="FFFF00"/>
                </a:highlight>
              </a:rPr>
              <a:t>Any process that subsequently sends a message to this mailbox 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must be notified that the mailbox no longer exists.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F893D-25B4-496D-9964-4C540EEE3393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8501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dirty="0"/>
              <a:t>If the mailbox is owned by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highlight>
                  <a:srgbClr val="FFFF00"/>
                </a:highlight>
              </a:rPr>
              <a:t>A mailbox that is owned by the operating system has an existence of its own. </a:t>
            </a:r>
          </a:p>
          <a:p>
            <a:endParaRPr lang="en-IN" sz="2400" dirty="0">
              <a:highlight>
                <a:srgbClr val="FFFF00"/>
              </a:highlight>
            </a:endParaRPr>
          </a:p>
          <a:p>
            <a:r>
              <a:rPr lang="en-IN" sz="2400" dirty="0">
                <a:highlight>
                  <a:srgbClr val="FFFF00"/>
                </a:highlight>
              </a:rPr>
              <a:t>It is independent and is not attached to any particular process.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9F3F8-808E-459C-9D62-E11F4ECD8F63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0430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dirty="0"/>
              <a:t>If the mailbox is owned by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highlight>
                  <a:srgbClr val="FFFF00"/>
                </a:highlight>
              </a:rPr>
              <a:t>If OS owns the mailbox, then:</a:t>
            </a:r>
          </a:p>
          <a:p>
            <a:endParaRPr lang="en-IN" sz="2400" dirty="0">
              <a:highlight>
                <a:srgbClr val="FFFF00"/>
              </a:highlight>
            </a:endParaRP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    It is independent process, not attached to a process.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    Then the OS must allow the process to:</a:t>
            </a:r>
          </a:p>
          <a:p>
            <a:endParaRPr lang="en-IN" sz="2400" dirty="0">
              <a:highlight>
                <a:srgbClr val="FFFF00"/>
              </a:highlight>
            </a:endParaRPr>
          </a:p>
          <a:p>
            <a:pPr marL="857250" lvl="1" indent="-457200">
              <a:buFont typeface="+mj-lt"/>
              <a:buAutoNum type="arabicParenR"/>
            </a:pPr>
            <a:r>
              <a:rPr lang="en-IN" sz="2400" dirty="0">
                <a:highlight>
                  <a:srgbClr val="FFFF00"/>
                </a:highlight>
              </a:rPr>
              <a:t>create a mailbox.</a:t>
            </a:r>
          </a:p>
          <a:p>
            <a:pPr marL="857250" lvl="1" indent="-457200">
              <a:buFont typeface="+mj-lt"/>
              <a:buAutoNum type="arabicParenR"/>
            </a:pPr>
            <a:r>
              <a:rPr lang="en-IN" sz="2400" dirty="0">
                <a:highlight>
                  <a:srgbClr val="FFFF00"/>
                </a:highlight>
              </a:rPr>
              <a:t>send and receive messages through mailbox.</a:t>
            </a:r>
          </a:p>
          <a:p>
            <a:pPr marL="857250" lvl="1" indent="-457200">
              <a:buFont typeface="+mj-lt"/>
              <a:buAutoNum type="arabicParenR"/>
            </a:pPr>
            <a:r>
              <a:rPr lang="en-IN" sz="2400" dirty="0">
                <a:highlight>
                  <a:srgbClr val="FFFF00"/>
                </a:highlight>
              </a:rPr>
              <a:t>delete the mailbox.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9F3F8-808E-459C-9D62-E11F4ECD8F63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5293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>
              <a:highlight>
                <a:srgbClr val="FFFF00"/>
              </a:highlight>
            </a:endParaRP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 Process becomes the owner of new mailbox by default.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 Owner process can only receive messages through this mailbox.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 Ownership and receiving privileges can be passed using system calls to other processes. This will result in multiple receivers for each mailbox.</a:t>
            </a:r>
            <a:endParaRPr lang="en-IN" sz="3200" dirty="0">
              <a:highlight>
                <a:srgbClr val="FFFF00"/>
              </a:highlight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7273F-C5B7-4D40-8582-7006EB42B101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1759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4E822-3F60-4AF5-A2C7-5CC07F953596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5102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IPC takes place via send() and receive () primitives. </a:t>
            </a:r>
          </a:p>
          <a:p>
            <a:endParaRPr lang="en-IN" sz="2800" dirty="0"/>
          </a:p>
          <a:p>
            <a:r>
              <a:rPr lang="en-IN" sz="2800" dirty="0"/>
              <a:t>There are different design options for implementing each primitive.</a:t>
            </a:r>
          </a:p>
          <a:p>
            <a:endParaRPr lang="en-IN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6686D-1695-46FD-B0F3-01F3E83F89C0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5282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Message passing may be either 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Blocking/synchronous or 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non blocking/ asynchronous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6686D-1695-46FD-B0F3-01F3E83F89C0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3295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2800" dirty="0"/>
              <a:t>Blocking send</a:t>
            </a:r>
          </a:p>
          <a:p>
            <a:r>
              <a:rPr lang="en-IN" sz="2800" dirty="0"/>
              <a:t>Non blocking send</a:t>
            </a:r>
          </a:p>
          <a:p>
            <a:r>
              <a:rPr lang="en-IN" sz="2800" dirty="0"/>
              <a:t>Blocking receive</a:t>
            </a:r>
          </a:p>
          <a:p>
            <a:r>
              <a:rPr lang="en-IN" sz="2800" dirty="0"/>
              <a:t>Non blocking receive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20114-8050-4880-8A58-B417723C4FAE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1749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IN" sz="2800" dirty="0">
                <a:highlight>
                  <a:srgbClr val="FFFF00"/>
                </a:highlight>
              </a:rPr>
              <a:t>Blocking send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The sending process is blocked until the message is received by the receiving process or by the mailbox.</a:t>
            </a:r>
          </a:p>
          <a:p>
            <a:r>
              <a:rPr lang="en-IN" sz="2800" dirty="0">
                <a:highlight>
                  <a:srgbClr val="FFFF00"/>
                </a:highlight>
              </a:rPr>
              <a:t>Non blocking send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 The sending process sends the message and resumes operation.</a:t>
            </a:r>
          </a:p>
          <a:p>
            <a:r>
              <a:rPr lang="en-IN" sz="2800" dirty="0">
                <a:highlight>
                  <a:srgbClr val="FFFF00"/>
                </a:highlight>
              </a:rPr>
              <a:t>Blocking receive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 The receiver blocks until a message is available.</a:t>
            </a:r>
          </a:p>
          <a:p>
            <a:r>
              <a:rPr lang="en-IN" sz="2800" dirty="0">
                <a:highlight>
                  <a:srgbClr val="FFFF00"/>
                </a:highlight>
              </a:rPr>
              <a:t>Non blocking receive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 The receiver retrieves either a valid message or a null.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20114-8050-4880-8A58-B417723C4FAE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64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highlight>
                  <a:srgbClr val="FFFF00"/>
                </a:highlight>
              </a:rPr>
              <a:t>When both send() and receive() are blocking, 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Rendezvous between the sender and the receiver. </a:t>
            </a:r>
          </a:p>
          <a:p>
            <a:endParaRPr lang="en-IN" sz="2800" dirty="0">
              <a:highlight>
                <a:srgbClr val="FFFF00"/>
              </a:highlight>
            </a:endParaRPr>
          </a:p>
          <a:p>
            <a:r>
              <a:rPr lang="en-IN" sz="2800" dirty="0">
                <a:highlight>
                  <a:srgbClr val="FFFF00"/>
                </a:highlight>
              </a:rPr>
              <a:t>The solution to the producer-consumer problem becomes trivial –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 use blocking send() and receive()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D3DFC-B49D-432C-A8BC-D90695D5DFCD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5675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Solution =Producer-consumer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Producer invokes 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the blocking send() call and 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waits until the message is delivered to either the receiver or the mailbox. </a:t>
            </a:r>
          </a:p>
          <a:p>
            <a:endParaRPr lang="en-IN" dirty="0">
              <a:highlight>
                <a:srgbClr val="FFFF00"/>
              </a:highlight>
            </a:endParaRPr>
          </a:p>
          <a:p>
            <a:r>
              <a:rPr lang="en-IN" dirty="0">
                <a:highlight>
                  <a:srgbClr val="FFFF00"/>
                </a:highlight>
              </a:rPr>
              <a:t>Consumer invokes 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receive(), it blocks until a message is available.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7E54A-EA89-4112-A3DD-FAC379EA6F40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71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5740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Whether communication is direct or indirect, </a:t>
            </a:r>
          </a:p>
          <a:p>
            <a:pPr lvl="1"/>
            <a:r>
              <a:rPr lang="en-IN" dirty="0"/>
              <a:t>messages exchanged by communicating processes 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reside in a temporary queue. </a:t>
            </a:r>
          </a:p>
          <a:p>
            <a:pPr lvl="1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C4CB3-50D1-4338-9000-8B1C4E6352AF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72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5800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Queues can be implemented in three ways:</a:t>
            </a:r>
          </a:p>
          <a:p>
            <a:pPr lvl="1"/>
            <a:r>
              <a:rPr lang="en-IN" dirty="0"/>
              <a:t>Zero capacity</a:t>
            </a:r>
          </a:p>
          <a:p>
            <a:pPr lvl="1"/>
            <a:r>
              <a:rPr lang="en-IN" dirty="0"/>
              <a:t>Bounded capacity</a:t>
            </a:r>
          </a:p>
          <a:p>
            <a:pPr lvl="1"/>
            <a:r>
              <a:rPr lang="en-IN" dirty="0"/>
              <a:t>Unbounded capacity.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4913C-B43D-4EFC-A88E-F273CA9182C9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73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3236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highlight>
                  <a:srgbClr val="FFFF00"/>
                </a:highlight>
              </a:rPr>
              <a:t>Zero capacity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Maximum Queue Length=0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The link cannot have any messages waiting in it. 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The sender must block until the recipient receives the message.</a:t>
            </a:r>
          </a:p>
          <a:p>
            <a:endParaRPr lang="en-IN" dirty="0">
              <a:highlight>
                <a:srgbClr val="FFFF00"/>
              </a:highlight>
            </a:endParaRPr>
          </a:p>
          <a:p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DF40-D7F4-4AF7-A2D0-95F253856ADF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74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4223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12776"/>
            <a:ext cx="8507288" cy="4525963"/>
          </a:xfrm>
        </p:spPr>
        <p:txBody>
          <a:bodyPr>
            <a:noAutofit/>
          </a:bodyPr>
          <a:lstStyle/>
          <a:p>
            <a:r>
              <a:rPr lang="en-IN" sz="2800" dirty="0">
                <a:highlight>
                  <a:srgbClr val="FFFF00"/>
                </a:highlight>
              </a:rPr>
              <a:t>Bounded capacity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Queue has finite length </a:t>
            </a:r>
            <a:r>
              <a:rPr lang="en-IN" i="1" dirty="0">
                <a:highlight>
                  <a:srgbClr val="FFFF00"/>
                </a:highlight>
              </a:rPr>
              <a:t>n; 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At most </a:t>
            </a:r>
            <a:r>
              <a:rPr lang="en-IN" i="1" dirty="0">
                <a:highlight>
                  <a:srgbClr val="FFFF00"/>
                </a:highlight>
              </a:rPr>
              <a:t>n </a:t>
            </a:r>
            <a:r>
              <a:rPr lang="en-IN" dirty="0">
                <a:highlight>
                  <a:srgbClr val="FFFF00"/>
                </a:highlight>
              </a:rPr>
              <a:t>messages can reside in it. 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The link's capacity is finite.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CDEB-7348-473B-AB12-98F4EA0543AB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75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51298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12776"/>
            <a:ext cx="8507288" cy="4525963"/>
          </a:xfrm>
        </p:spPr>
        <p:txBody>
          <a:bodyPr>
            <a:noAutofit/>
          </a:bodyPr>
          <a:lstStyle/>
          <a:p>
            <a:r>
              <a:rPr lang="en-IN" sz="2400" dirty="0">
                <a:highlight>
                  <a:srgbClr val="FFFF00"/>
                </a:highlight>
              </a:rPr>
              <a:t>Bounded capacity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If the queue is not full </a:t>
            </a:r>
          </a:p>
          <a:p>
            <a:pPr lvl="2"/>
            <a:r>
              <a:rPr lang="en-IN" dirty="0">
                <a:highlight>
                  <a:srgbClr val="FFFF00"/>
                </a:highlight>
              </a:rPr>
              <a:t>the message is placed in the queue </a:t>
            </a:r>
          </a:p>
          <a:p>
            <a:pPr lvl="2"/>
            <a:r>
              <a:rPr lang="en-IN" dirty="0">
                <a:highlight>
                  <a:srgbClr val="FFFF00"/>
                </a:highlight>
              </a:rPr>
              <a:t>either the message is copied or a pointer to the message is kept </a:t>
            </a:r>
          </a:p>
          <a:p>
            <a:pPr lvl="2"/>
            <a:r>
              <a:rPr lang="en-IN" dirty="0">
                <a:highlight>
                  <a:srgbClr val="FFFF00"/>
                </a:highlight>
              </a:rPr>
              <a:t>the sender can continue execution without waiting. </a:t>
            </a:r>
          </a:p>
          <a:p>
            <a:pPr lvl="1"/>
            <a:r>
              <a:rPr lang="en-IN" sz="2400" dirty="0">
                <a:highlight>
                  <a:srgbClr val="FFFF00"/>
                </a:highlight>
              </a:rPr>
              <a:t>If the link is full, </a:t>
            </a:r>
          </a:p>
          <a:p>
            <a:pPr lvl="2"/>
            <a:r>
              <a:rPr lang="en-IN" dirty="0">
                <a:highlight>
                  <a:srgbClr val="FFFF00"/>
                </a:highlight>
              </a:rPr>
              <a:t>the sender must block until space is available in the queue.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3E0D-3E00-4A98-B5A6-86893A0F9CB4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76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2753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Unbounded capacity. 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The queue's length is potentially infinite; 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Any number of messages can wait in it. 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The sender never blocks.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EA3EE-6504-4297-8E01-1150D0F8A315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77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97535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The zero-capacity = message system with no buffering; </a:t>
            </a:r>
          </a:p>
          <a:p>
            <a:r>
              <a:rPr lang="en-IN" sz="2800" dirty="0">
                <a:highlight>
                  <a:srgbClr val="FFFF00"/>
                </a:highlight>
              </a:rPr>
              <a:t> </a:t>
            </a:r>
            <a:r>
              <a:rPr lang="en-IN" sz="2800">
                <a:highlight>
                  <a:srgbClr val="FFFF00"/>
                </a:highlight>
              </a:rPr>
              <a:t>kThe</a:t>
            </a:r>
            <a:r>
              <a:rPr lang="en-IN" sz="2800" dirty="0">
                <a:highlight>
                  <a:srgbClr val="FFFF00"/>
                </a:highlight>
              </a:rPr>
              <a:t> other cases =systems with automatic buffering</a:t>
            </a:r>
            <a:r>
              <a:rPr lang="en-IN" sz="28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3A94-B339-4983-9E42-4CC83ED08C11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A52E6-026E-47BF-8202-76BE67A05837}" type="slidenum">
              <a:rPr lang="en-IN" smtClean="0"/>
              <a:t>78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961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3327</TotalTime>
  <Words>3316</Words>
  <Application>Microsoft Office PowerPoint</Application>
  <PresentationFormat>On-screen Show (4:3)</PresentationFormat>
  <Paragraphs>694</Paragraphs>
  <Slides>78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6" baseType="lpstr">
      <vt:lpstr>ＭＳ Ｐゴシック</vt:lpstr>
      <vt:lpstr>Arial</vt:lpstr>
      <vt:lpstr>Calibri</vt:lpstr>
      <vt:lpstr>Courier New</vt:lpstr>
      <vt:lpstr>Monaco</vt:lpstr>
      <vt:lpstr>Monotype Sorts</vt:lpstr>
      <vt:lpstr>Times New Roman</vt:lpstr>
      <vt:lpstr>Office Theme</vt:lpstr>
      <vt:lpstr>Module 3</vt:lpstr>
      <vt:lpstr>Interprocess Communication</vt:lpstr>
      <vt:lpstr>Interprocess Communication</vt:lpstr>
      <vt:lpstr>Interprocess Communication</vt:lpstr>
      <vt:lpstr>Interprocess Communication</vt:lpstr>
      <vt:lpstr>Interprocess Communication</vt:lpstr>
      <vt:lpstr>Interprocess Communication</vt:lpstr>
      <vt:lpstr>Interprocess Communication</vt:lpstr>
      <vt:lpstr>Interprocess Communication</vt:lpstr>
      <vt:lpstr>Communications Models </vt:lpstr>
      <vt:lpstr>Communications Models </vt:lpstr>
      <vt:lpstr>Message Passing</vt:lpstr>
      <vt:lpstr>Message Passing</vt:lpstr>
      <vt:lpstr>Producer-Consumer Problem</vt:lpstr>
      <vt:lpstr>Producer-Consumer Problem</vt:lpstr>
      <vt:lpstr>Producer-Consumer Problem</vt:lpstr>
      <vt:lpstr>Producer-Consumer Problem</vt:lpstr>
      <vt:lpstr>Producer-Consumer Problem</vt:lpstr>
      <vt:lpstr>Producer-Consumer Problem</vt:lpstr>
      <vt:lpstr>Producer-Consumer Problem</vt:lpstr>
      <vt:lpstr>Producer-Consumer Problem</vt:lpstr>
      <vt:lpstr>Bounded-Buffer – Shared-Memory Solution</vt:lpstr>
      <vt:lpstr>Bounded-Buffer – Shared-Memory Solution</vt:lpstr>
      <vt:lpstr>Bounded-Buffer – Shared-Memory Solution</vt:lpstr>
      <vt:lpstr>Bounded-Buffer – Shared-Memory Solution</vt:lpstr>
      <vt:lpstr>Bounded-Buffer – Shared-Memory Solution</vt:lpstr>
      <vt:lpstr>Bounded-Buffer – Producer</vt:lpstr>
      <vt:lpstr>Bounded Buffer – Consumer</vt:lpstr>
      <vt:lpstr>Interprocess Communication –  Shared Memory</vt:lpstr>
      <vt:lpstr>Interprocess Communication –  Shared Memory</vt:lpstr>
      <vt:lpstr>Interprocess Communication –  Shared Memory</vt:lpstr>
      <vt:lpstr>Interprocess Communication – Message Passing</vt:lpstr>
      <vt:lpstr>Interprocess Communication – Message Passing</vt:lpstr>
      <vt:lpstr>Interprocess Communication – Message Passing</vt:lpstr>
      <vt:lpstr>Interprocess Communication – Message Passing</vt:lpstr>
      <vt:lpstr>Interprocess Communication – Message Passing</vt:lpstr>
      <vt:lpstr>Interprocess Communication – Message Passing</vt:lpstr>
      <vt:lpstr>Interprocess Communication – Message Passing</vt:lpstr>
      <vt:lpstr>Message Passing (Cont.)</vt:lpstr>
      <vt:lpstr>Message Passing (Cont.)</vt:lpstr>
      <vt:lpstr>Message Passing (Cont.)</vt:lpstr>
      <vt:lpstr>Message Passing (Cont.)</vt:lpstr>
      <vt:lpstr>PowerPoint Presentation</vt:lpstr>
      <vt:lpstr>Direct Communication</vt:lpstr>
      <vt:lpstr>Direct Communication</vt:lpstr>
      <vt:lpstr>Direct Communication</vt:lpstr>
      <vt:lpstr>Direct Communication- A variant</vt:lpstr>
      <vt:lpstr>A variant</vt:lpstr>
      <vt:lpstr>Disadvantage in symmetric and asymmetric schemes</vt:lpstr>
      <vt:lpstr>Indirect Communication</vt:lpstr>
      <vt:lpstr>Indirect Communication</vt:lpstr>
      <vt:lpstr>Indirect Communication-mailboxes</vt:lpstr>
      <vt:lpstr>Indirect Communication</vt:lpstr>
      <vt:lpstr>Indirect Communication</vt:lpstr>
      <vt:lpstr>Indirect Communication</vt:lpstr>
      <vt:lpstr>Indirect Communication</vt:lpstr>
      <vt:lpstr>PowerPoint Presentation</vt:lpstr>
      <vt:lpstr>PowerPoint Presentation</vt:lpstr>
      <vt:lpstr>If the mailbox is owned by a process</vt:lpstr>
      <vt:lpstr>PowerPoint Presentation</vt:lpstr>
      <vt:lpstr>What happens when the process that owns mailbox terminates??</vt:lpstr>
      <vt:lpstr>If the mailbox is owned by OS</vt:lpstr>
      <vt:lpstr>If the mailbox is owned by OS</vt:lpstr>
      <vt:lpstr>PowerPoint Presentation</vt:lpstr>
      <vt:lpstr>Process Synchronization</vt:lpstr>
      <vt:lpstr>Synchronization</vt:lpstr>
      <vt:lpstr>Synchronization</vt:lpstr>
      <vt:lpstr>Synchronization</vt:lpstr>
      <vt:lpstr>Synchronization</vt:lpstr>
      <vt:lpstr>Synchronization</vt:lpstr>
      <vt:lpstr>Solution =Producer-consumer problem</vt:lpstr>
      <vt:lpstr>Buffering</vt:lpstr>
      <vt:lpstr>Buffering</vt:lpstr>
      <vt:lpstr>Buffering</vt:lpstr>
      <vt:lpstr>Buffering</vt:lpstr>
      <vt:lpstr>Buffering</vt:lpstr>
      <vt:lpstr>Buffering</vt:lpstr>
      <vt:lpstr>Buffering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Om Thanage</cp:lastModifiedBy>
  <cp:revision>123</cp:revision>
  <dcterms:created xsi:type="dcterms:W3CDTF">2020-09-11T15:34:09Z</dcterms:created>
  <dcterms:modified xsi:type="dcterms:W3CDTF">2025-04-26T13:12:05Z</dcterms:modified>
</cp:coreProperties>
</file>